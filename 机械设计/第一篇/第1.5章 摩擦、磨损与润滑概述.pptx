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3"/>
    <p:sldId id="268" r:id="rId4"/>
    <p:sldId id="278" r:id="rId5"/>
    <p:sldId id="289" r:id="rId6"/>
    <p:sldId id="282" r:id="rId7"/>
    <p:sldId id="280" r:id="rId8"/>
    <p:sldId id="283" r:id="rId9"/>
    <p:sldId id="271" r:id="rId10"/>
    <p:sldId id="279" r:id="rId11"/>
    <p:sldId id="284" r:id="rId12"/>
    <p:sldId id="272" r:id="rId14"/>
    <p:sldId id="273" r:id="rId15"/>
    <p:sldId id="274" r:id="rId16"/>
    <p:sldId id="286" r:id="rId17"/>
    <p:sldId id="302" r:id="rId18"/>
    <p:sldId id="287" r:id="rId19"/>
    <p:sldId id="288" r:id="rId20"/>
  </p:sldIdLst>
  <p:sldSz cx="9144000" cy="6858000" type="screen4x3"/>
  <p:notesSz cx="6858000" cy="9144000"/>
  <p:custDataLst>
    <p:tags r:id="rId24"/>
  </p:custDataLst>
  <p:defaultTextStyle>
    <a:defPPr>
      <a:defRPr lang="zh-CN"/>
    </a:defPPr>
    <a:lvl1pPr algn="l" rtl="0" fontAlgn="base">
      <a:spcBef>
        <a:spcPct val="0"/>
      </a:spcBef>
      <a:spcAft>
        <a:spcPct val="0"/>
      </a:spcAft>
      <a:defRPr kumimoji="1" sz="2200" kern="1200">
        <a:solidFill>
          <a:schemeClr val="tx1"/>
        </a:solidFill>
        <a:latin typeface="Tahoma" panose="020B0604030504040204" pitchFamily="34" charset="0"/>
        <a:ea typeface="华文中宋" panose="02010600040101010101" pitchFamily="2" charset="-122"/>
        <a:cs typeface="+mn-cs"/>
      </a:defRPr>
    </a:lvl1pPr>
    <a:lvl2pPr marL="457200" algn="l" rtl="0" fontAlgn="base">
      <a:spcBef>
        <a:spcPct val="0"/>
      </a:spcBef>
      <a:spcAft>
        <a:spcPct val="0"/>
      </a:spcAft>
      <a:defRPr kumimoji="1" sz="2200" kern="1200">
        <a:solidFill>
          <a:schemeClr val="tx1"/>
        </a:solidFill>
        <a:latin typeface="Tahoma" panose="020B0604030504040204" pitchFamily="34" charset="0"/>
        <a:ea typeface="华文中宋" panose="02010600040101010101" pitchFamily="2" charset="-122"/>
        <a:cs typeface="+mn-cs"/>
      </a:defRPr>
    </a:lvl2pPr>
    <a:lvl3pPr marL="914400" algn="l" rtl="0" fontAlgn="base">
      <a:spcBef>
        <a:spcPct val="0"/>
      </a:spcBef>
      <a:spcAft>
        <a:spcPct val="0"/>
      </a:spcAft>
      <a:defRPr kumimoji="1" sz="2200" kern="1200">
        <a:solidFill>
          <a:schemeClr val="tx1"/>
        </a:solidFill>
        <a:latin typeface="Tahoma" panose="020B0604030504040204" pitchFamily="34" charset="0"/>
        <a:ea typeface="华文中宋" panose="02010600040101010101" pitchFamily="2" charset="-122"/>
        <a:cs typeface="+mn-cs"/>
      </a:defRPr>
    </a:lvl3pPr>
    <a:lvl4pPr marL="1371600" algn="l" rtl="0" fontAlgn="base">
      <a:spcBef>
        <a:spcPct val="0"/>
      </a:spcBef>
      <a:spcAft>
        <a:spcPct val="0"/>
      </a:spcAft>
      <a:defRPr kumimoji="1" sz="2200" kern="1200">
        <a:solidFill>
          <a:schemeClr val="tx1"/>
        </a:solidFill>
        <a:latin typeface="Tahoma" panose="020B0604030504040204" pitchFamily="34" charset="0"/>
        <a:ea typeface="华文中宋" panose="02010600040101010101" pitchFamily="2" charset="-122"/>
        <a:cs typeface="+mn-cs"/>
      </a:defRPr>
    </a:lvl4pPr>
    <a:lvl5pPr marL="1828800" algn="l" rtl="0" fontAlgn="base">
      <a:spcBef>
        <a:spcPct val="0"/>
      </a:spcBef>
      <a:spcAft>
        <a:spcPct val="0"/>
      </a:spcAft>
      <a:defRPr kumimoji="1" sz="2200" kern="1200">
        <a:solidFill>
          <a:schemeClr val="tx1"/>
        </a:solidFill>
        <a:latin typeface="Tahoma" panose="020B0604030504040204" pitchFamily="34" charset="0"/>
        <a:ea typeface="华文中宋" panose="02010600040101010101" pitchFamily="2" charset="-122"/>
        <a:cs typeface="+mn-cs"/>
      </a:defRPr>
    </a:lvl5pPr>
    <a:lvl6pPr marL="2286000" algn="l" defTabSz="914400" rtl="0" eaLnBrk="1" latinLnBrk="0" hangingPunct="1">
      <a:defRPr kumimoji="1" sz="2200" kern="1200">
        <a:solidFill>
          <a:schemeClr val="tx1"/>
        </a:solidFill>
        <a:latin typeface="Tahoma" panose="020B0604030504040204" pitchFamily="34" charset="0"/>
        <a:ea typeface="华文中宋" panose="02010600040101010101" pitchFamily="2" charset="-122"/>
        <a:cs typeface="+mn-cs"/>
      </a:defRPr>
    </a:lvl6pPr>
    <a:lvl7pPr marL="2743200" algn="l" defTabSz="914400" rtl="0" eaLnBrk="1" latinLnBrk="0" hangingPunct="1">
      <a:defRPr kumimoji="1" sz="2200" kern="1200">
        <a:solidFill>
          <a:schemeClr val="tx1"/>
        </a:solidFill>
        <a:latin typeface="Tahoma" panose="020B0604030504040204" pitchFamily="34" charset="0"/>
        <a:ea typeface="华文中宋" panose="02010600040101010101" pitchFamily="2" charset="-122"/>
        <a:cs typeface="+mn-cs"/>
      </a:defRPr>
    </a:lvl7pPr>
    <a:lvl8pPr marL="3200400" algn="l" defTabSz="914400" rtl="0" eaLnBrk="1" latinLnBrk="0" hangingPunct="1">
      <a:defRPr kumimoji="1" sz="2200" kern="1200">
        <a:solidFill>
          <a:schemeClr val="tx1"/>
        </a:solidFill>
        <a:latin typeface="Tahoma" panose="020B0604030504040204" pitchFamily="34" charset="0"/>
        <a:ea typeface="华文中宋" panose="02010600040101010101" pitchFamily="2" charset="-122"/>
        <a:cs typeface="+mn-cs"/>
      </a:defRPr>
    </a:lvl8pPr>
    <a:lvl9pPr marL="3657600" algn="l" defTabSz="914400" rtl="0" eaLnBrk="1" latinLnBrk="0" hangingPunct="1">
      <a:defRPr kumimoji="1" sz="2200" kern="1200">
        <a:solidFill>
          <a:schemeClr val="tx1"/>
        </a:solidFill>
        <a:latin typeface="Tahoma" panose="020B0604030504040204" pitchFamily="34" charset="0"/>
        <a:ea typeface="华文中宋" panose="02010600040101010101" pitchFamily="2" charset="-122"/>
        <a:cs typeface="+mn-cs"/>
      </a:defRPr>
    </a:lvl9pPr>
  </p:defaultTextStyle>
  <p:extLst>
    <p:ext uri="{EFAFB233-063F-42B5-8137-9DF3F51BA10A}">
      <p15:sldGuideLst xmlns:p15="http://schemas.microsoft.com/office/powerpoint/2012/main">
        <p15:guide id="1" orient="horz" pos="2121"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EB6623"/>
    <a:srgbClr val="CC3300"/>
    <a:srgbClr val="003399"/>
    <a:srgbClr val="000099"/>
    <a:srgbClr val="A50021"/>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60" autoAdjust="0"/>
  </p:normalViewPr>
  <p:slideViewPr>
    <p:cSldViewPr snapToGrid="0" showGuides="1">
      <p:cViewPr varScale="1">
        <p:scale>
          <a:sx n="62" d="100"/>
          <a:sy n="62" d="100"/>
        </p:scale>
        <p:origin x="1400" y="44"/>
      </p:cViewPr>
      <p:guideLst>
        <p:guide orient="horz" pos="2121"/>
        <p:guide pos="2880"/>
      </p:guideLst>
    </p:cSldViewPr>
  </p:slideViewPr>
  <p:outlineViewPr>
    <p:cViewPr>
      <p:scale>
        <a:sx n="25" d="100"/>
        <a:sy n="25"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gs" Target="tags/tag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notesMaster" Target="notesMasters/notesMaster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vl1pPr>
          </a:lstStyle>
          <a:p>
            <a:pPr>
              <a:defRPr/>
            </a:pPr>
            <a:endParaRPr lang="en-US" altLang="zh-CN"/>
          </a:p>
        </p:txBody>
      </p:sp>
      <p:sp>
        <p:nvSpPr>
          <p:cNvPr id="35843"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vl1pPr>
          </a:lstStyle>
          <a:p>
            <a:pPr>
              <a:defRPr/>
            </a:pPr>
            <a:endParaRPr lang="en-US" altLang="zh-CN"/>
          </a:p>
        </p:txBody>
      </p:sp>
      <p:sp>
        <p:nvSpPr>
          <p:cNvPr id="1946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5"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35846"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vl1pPr>
          </a:lstStyle>
          <a:p>
            <a:pPr>
              <a:defRPr/>
            </a:pPr>
            <a:endParaRPr lang="en-US" altLang="zh-CN"/>
          </a:p>
        </p:txBody>
      </p:sp>
      <p:sp>
        <p:nvSpPr>
          <p:cNvPr id="35847"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lvl1pPr>
          </a:lstStyle>
          <a:p>
            <a:fld id="{85CFEE9D-5CD6-41CE-B687-BD9BFED46111}"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p:cNvSpPr>
            <a:spLocks noGrp="1" noRot="1" noChangeAspect="1" noTextEdit="1"/>
          </p:cNvSpPr>
          <p:nvPr>
            <p:ph type="sldImg"/>
          </p:nvPr>
        </p:nvSpPr>
        <p:spPr/>
      </p:sp>
      <p:sp>
        <p:nvSpPr>
          <p:cNvPr id="2048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2048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fld id="{5E04458D-C30B-4B8F-A628-1D254EC3B27B}" type="slidenum">
              <a:rPr lang="en-US" altLang="zh-CN" sz="1200"/>
            </a:fld>
            <a:endParaRPr lang="en-US" altLang="zh-CN"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lang="zh-CN" altLang="en-US"/>
              </a:p>
            </p:txBody>
          </p:sp>
          <p:sp>
            <p:nvSpPr>
              <p:cNvPr id="14" name="Arc 62"/>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lang="zh-CN" altLang="en-US"/>
              </a:p>
            </p:txBody>
          </p:sp>
          <p:sp>
            <p:nvSpPr>
              <p:cNvPr id="10" name="Arc 66"/>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a:t>单击此处编辑母版标题样式</a:t>
            </a:r>
            <a:endParaRPr lang="zh-CN" altLang="en-US"/>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ea typeface="宋体" panose="02010600030101010101" pitchFamily="2" charset="-122"/>
              </a:defRPr>
            </a:lvl1pPr>
          </a:lstStyle>
          <a:p>
            <a:fld id="{F1653503-5882-458E-8B93-5A8E84A312DB}" type="slidenum">
              <a:rPr lang="en-US" altLang="zh-CN"/>
            </a:fld>
            <a:endParaRPr lang="en-US" altLang="zh-CN"/>
          </a:p>
        </p:txBody>
      </p:sp>
    </p:spTree>
  </p:cSld>
  <p:clrMapOvr>
    <a:masterClrMapping/>
  </p:clrMapOvr>
  <p:transition>
    <p:strips dir="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trips dir="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transition>
    <p:strips dir="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trips dir="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trips dir="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transition>
    <p:strips dir="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trips dir="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strips dir="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strips dir="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trips dir="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trips dir="rd"/>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strips dir="rd"/>
  </p:transition>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slide" Target="slide11.xml"/><Relationship Id="rId3" Type="http://schemas.openxmlformats.org/officeDocument/2006/relationships/slide" Target="slide8.xml"/><Relationship Id="rId2" Type="http://schemas.openxmlformats.org/officeDocument/2006/relationships/slide" Target="slide3.xml"/><Relationship Id="rId1" Type="http://schemas.openxmlformats.org/officeDocument/2006/relationships/slide" Target="slide2.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 Target="slide1.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 Target="slide1.xml"/></Relationships>
</file>

<file path=ppt/slides/_rels/slide4.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5.wmf"/><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7" Type="http://schemas.openxmlformats.org/officeDocument/2006/relationships/vmlDrawing" Target="../drawings/vmlDrawing2.vml"/><Relationship Id="rId6" Type="http://schemas.openxmlformats.org/officeDocument/2006/relationships/slideLayout" Target="../slideLayouts/slideLayout2.xml"/><Relationship Id="rId5" Type="http://schemas.openxmlformats.org/officeDocument/2006/relationships/image" Target="../media/image7.wmf"/><Relationship Id="rId4" Type="http://schemas.openxmlformats.org/officeDocument/2006/relationships/oleObject" Target="../embeddings/oleObject2.bin"/><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 Target="slide1.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 Target="slide1.xml"/></Relationships>
</file>

<file path=ppt/slides/_rels/slide7.xml.rels><?xml version="1.0" encoding="UTF-8" standalone="yes"?>
<Relationships xmlns="http://schemas.openxmlformats.org/package/2006/relationships"><Relationship Id="rId7" Type="http://schemas.openxmlformats.org/officeDocument/2006/relationships/vmlDrawing" Target="../drawings/vmlDrawing3.vml"/><Relationship Id="rId6" Type="http://schemas.openxmlformats.org/officeDocument/2006/relationships/slideLayout" Target="../slideLayouts/slideLayout2.xml"/><Relationship Id="rId5" Type="http://schemas.openxmlformats.org/officeDocument/2006/relationships/image" Target="../media/image9.wmf"/><Relationship Id="rId4" Type="http://schemas.openxmlformats.org/officeDocument/2006/relationships/oleObject" Target="../embeddings/oleObject3.bin"/><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 Target="slide1.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 Target="slide1.xml"/></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 Target="slid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image" Target="../media/image4.png"/><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 Target="slide1.xml"/></Relationships>
</file>

<file path=ppt/slides/_rels/slide13.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9.png"/><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 Target="slide1.xml"/></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 Target="slide1.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16.xml.rels><?xml version="1.0" encoding="UTF-8" standalone="yes"?>
<Relationships xmlns="http://schemas.openxmlformats.org/package/2006/relationships"><Relationship Id="rId9" Type="http://schemas.openxmlformats.org/officeDocument/2006/relationships/image" Target="../media/image25.png"/><Relationship Id="rId8" Type="http://schemas.openxmlformats.org/officeDocument/2006/relationships/image" Target="../media/image24.wmf"/><Relationship Id="rId7" Type="http://schemas.openxmlformats.org/officeDocument/2006/relationships/oleObject" Target="../embeddings/oleObject5.bin"/><Relationship Id="rId6" Type="http://schemas.openxmlformats.org/officeDocument/2006/relationships/slide" Target="slide17.xml"/><Relationship Id="rId5" Type="http://schemas.openxmlformats.org/officeDocument/2006/relationships/image" Target="../media/image23.wmf"/><Relationship Id="rId4" Type="http://schemas.openxmlformats.org/officeDocument/2006/relationships/oleObject" Target="../embeddings/oleObject4.bin"/><Relationship Id="rId3" Type="http://schemas.openxmlformats.org/officeDocument/2006/relationships/image" Target="../media/image8.png"/><Relationship Id="rId2" Type="http://schemas.openxmlformats.org/officeDocument/2006/relationships/image" Target="../media/image3.png"/><Relationship Id="rId11" Type="http://schemas.openxmlformats.org/officeDocument/2006/relationships/vmlDrawing" Target="../drawings/vmlDrawing4.vml"/><Relationship Id="rId10" Type="http://schemas.openxmlformats.org/officeDocument/2006/relationships/slideLayout" Target="../slideLayouts/slideLayout2.xml"/><Relationship Id="rId1" Type="http://schemas.openxmlformats.org/officeDocument/2006/relationships/slide" Target="slide1.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16.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bwMode="auto">
          <a:xfrm>
            <a:off x="1036833" y="542817"/>
            <a:ext cx="7038654" cy="78254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3600" dirty="0" smtClean="0">
                <a:solidFill>
                  <a:srgbClr val="A50021"/>
                </a:solidFill>
                <a:latin typeface="黑体" panose="02010609060101010101" pitchFamily="49" charset="-122"/>
                <a:ea typeface="黑体" panose="02010609060101010101" pitchFamily="49" charset="-122"/>
              </a:rPr>
              <a:t>第</a:t>
            </a:r>
            <a:r>
              <a:rPr lang="en-US" altLang="zh-CN" sz="3600" dirty="0" smtClean="0">
                <a:solidFill>
                  <a:srgbClr val="A50021"/>
                </a:solidFill>
                <a:latin typeface="黑体" panose="02010609060101010101" pitchFamily="49" charset="-122"/>
                <a:ea typeface="黑体" panose="02010609060101010101" pitchFamily="49" charset="-122"/>
              </a:rPr>
              <a:t>1.5</a:t>
            </a:r>
            <a:r>
              <a:rPr lang="zh-CN" altLang="en-US" sz="3600" dirty="0" smtClean="0">
                <a:solidFill>
                  <a:srgbClr val="A50021"/>
                </a:solidFill>
                <a:latin typeface="黑体" panose="02010609060101010101" pitchFamily="49" charset="-122"/>
                <a:ea typeface="黑体" panose="02010609060101010101" pitchFamily="49" charset="-122"/>
              </a:rPr>
              <a:t>章 摩擦、磨损与润滑概述</a:t>
            </a:r>
            <a:endParaRPr lang="zh-CN" altLang="en-US" sz="3600" dirty="0" smtClean="0">
              <a:solidFill>
                <a:srgbClr val="A50021"/>
              </a:solidFill>
              <a:latin typeface="黑体" panose="02010609060101010101" pitchFamily="49" charset="-122"/>
              <a:ea typeface="黑体" panose="02010609060101010101" pitchFamily="49" charset="-122"/>
            </a:endParaRPr>
          </a:p>
        </p:txBody>
      </p:sp>
      <p:sp>
        <p:nvSpPr>
          <p:cNvPr id="5123" name="Text Box 3">
            <a:hlinkClick r:id="rId1" action="ppaction://hlinksldjump"/>
          </p:cNvPr>
          <p:cNvSpPr txBox="1">
            <a:spLocks noChangeArrowheads="1"/>
          </p:cNvSpPr>
          <p:nvPr/>
        </p:nvSpPr>
        <p:spPr bwMode="auto">
          <a:xfrm>
            <a:off x="1932940" y="2316480"/>
            <a:ext cx="580707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spcBef>
                <a:spcPct val="50000"/>
              </a:spcBef>
            </a:pPr>
            <a:r>
              <a:rPr lang="en-US" altLang="zh-CN" sz="2800" dirty="0" smtClean="0">
                <a:solidFill>
                  <a:srgbClr val="000099"/>
                </a:solidFill>
                <a:latin typeface="黑体" panose="02010609060101010101" pitchFamily="49" charset="-122"/>
                <a:ea typeface="黑体" panose="02010609060101010101" pitchFamily="49" charset="-122"/>
              </a:rPr>
              <a:t>1.5-1 </a:t>
            </a:r>
            <a:r>
              <a:rPr lang="zh-CN" altLang="en-US" sz="2800" dirty="0">
                <a:solidFill>
                  <a:srgbClr val="000099"/>
                </a:solidFill>
                <a:latin typeface="黑体" panose="02010609060101010101" pitchFamily="49" charset="-122"/>
                <a:ea typeface="黑体" panose="02010609060101010101" pitchFamily="49" charset="-122"/>
                <a:hlinkClick r:id="rId2" tooltip="摩　擦" action="ppaction://hlinksldjump"/>
              </a:rPr>
              <a:t>摩擦的种类及其基本性质</a:t>
            </a:r>
            <a:endParaRPr lang="zh-CN" altLang="en-US" sz="2800" dirty="0">
              <a:solidFill>
                <a:srgbClr val="000099"/>
              </a:solidFill>
              <a:latin typeface="黑体" panose="02010609060101010101" pitchFamily="49" charset="-122"/>
              <a:ea typeface="黑体" panose="02010609060101010101" pitchFamily="49" charset="-122"/>
            </a:endParaRPr>
          </a:p>
        </p:txBody>
      </p:sp>
      <p:sp>
        <p:nvSpPr>
          <p:cNvPr id="5124" name="Text Box 4">
            <a:hlinkClick r:id="" action="ppaction://noaction" highlightClick="1"/>
          </p:cNvPr>
          <p:cNvSpPr txBox="1">
            <a:spLocks noChangeArrowheads="1"/>
          </p:cNvSpPr>
          <p:nvPr/>
        </p:nvSpPr>
        <p:spPr bwMode="auto">
          <a:xfrm>
            <a:off x="1932990" y="3167830"/>
            <a:ext cx="231648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800" dirty="0" smtClean="0">
                <a:solidFill>
                  <a:srgbClr val="000099"/>
                </a:solidFill>
                <a:latin typeface="黑体" panose="02010609060101010101" pitchFamily="49" charset="-122"/>
                <a:ea typeface="黑体" panose="02010609060101010101" pitchFamily="49" charset="-122"/>
              </a:rPr>
              <a:t>1.5-2 </a:t>
            </a:r>
            <a:r>
              <a:rPr lang="zh-CN" altLang="en-US" sz="2800" dirty="0">
                <a:solidFill>
                  <a:srgbClr val="000099"/>
                </a:solidFill>
                <a:latin typeface="黑体" panose="02010609060101010101" pitchFamily="49" charset="-122"/>
                <a:ea typeface="黑体" panose="02010609060101010101" pitchFamily="49" charset="-122"/>
                <a:hlinkClick r:id="rId3" action="ppaction://hlinksldjump"/>
              </a:rPr>
              <a:t>磨　损</a:t>
            </a:r>
            <a:endParaRPr lang="zh-CN" altLang="en-US" sz="2800" dirty="0">
              <a:solidFill>
                <a:srgbClr val="000099"/>
              </a:solidFill>
              <a:latin typeface="黑体" panose="02010609060101010101" pitchFamily="49" charset="-122"/>
              <a:ea typeface="黑体" panose="02010609060101010101" pitchFamily="49" charset="-122"/>
            </a:endParaRPr>
          </a:p>
        </p:txBody>
      </p:sp>
      <p:sp>
        <p:nvSpPr>
          <p:cNvPr id="5125" name="Text Box 5">
            <a:hlinkClick r:id="rId3" action="ppaction://hlinksldjump"/>
          </p:cNvPr>
          <p:cNvSpPr txBox="1">
            <a:spLocks noChangeArrowheads="1"/>
          </p:cNvSpPr>
          <p:nvPr/>
        </p:nvSpPr>
        <p:spPr bwMode="auto">
          <a:xfrm>
            <a:off x="1932990" y="3863372"/>
            <a:ext cx="551688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800" dirty="0" smtClean="0">
                <a:solidFill>
                  <a:srgbClr val="000099"/>
                </a:solidFill>
                <a:latin typeface="黑体" panose="02010609060101010101" pitchFamily="49" charset="-122"/>
                <a:ea typeface="黑体" panose="02010609060101010101" pitchFamily="49" charset="-122"/>
              </a:rPr>
              <a:t>1.5-3 </a:t>
            </a:r>
            <a:r>
              <a:rPr lang="zh-CN" altLang="en-US" sz="2800" dirty="0">
                <a:solidFill>
                  <a:srgbClr val="000099"/>
                </a:solidFill>
                <a:latin typeface="黑体" panose="02010609060101010101" pitchFamily="49" charset="-122"/>
                <a:ea typeface="黑体" panose="02010609060101010101" pitchFamily="49" charset="-122"/>
                <a:hlinkClick r:id="rId4" action="ppaction://hlinksldjump"/>
              </a:rPr>
              <a:t>润滑剂、添加剂和润滑方法</a:t>
            </a:r>
            <a:endParaRPr lang="zh-CN" altLang="en-US" sz="2800" dirty="0">
              <a:solidFill>
                <a:srgbClr val="000099"/>
              </a:solidFill>
              <a:latin typeface="黑体" panose="02010609060101010101" pitchFamily="49" charset="-122"/>
              <a:ea typeface="黑体" panose="02010609060101010101" pitchFamily="49" charset="-122"/>
            </a:endParaRPr>
          </a:p>
        </p:txBody>
      </p:sp>
      <p:sp>
        <p:nvSpPr>
          <p:cNvPr id="5131" name="直接连接符 6"/>
          <p:cNvSpPr>
            <a:spLocks noChangeShapeType="1"/>
          </p:cNvSpPr>
          <p:nvPr/>
        </p:nvSpPr>
        <p:spPr bwMode="auto">
          <a:xfrm>
            <a:off x="0" y="1422721"/>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grpSp>
        <p:nvGrpSpPr>
          <p:cNvPr id="12" name="组合 1"/>
          <p:cNvGrpSpPr/>
          <p:nvPr/>
        </p:nvGrpSpPr>
        <p:grpSpPr>
          <a:xfrm>
            <a:off x="6351320" y="5867417"/>
            <a:ext cx="2630487" cy="827087"/>
            <a:chOff x="10088" y="9497"/>
            <a:chExt cx="4141" cy="1302"/>
          </a:xfrm>
        </p:grpSpPr>
        <p:sp>
          <p:nvSpPr>
            <p:cNvPr id="13" name="文本框 1073742869"/>
            <p:cNvSpPr txBox="1">
              <a:spLocks noChangeAspect="1"/>
            </p:cNvSpPr>
            <p:nvPr/>
          </p:nvSpPr>
          <p:spPr>
            <a:xfrm>
              <a:off x="11247" y="9745"/>
              <a:ext cx="2983" cy="479"/>
            </a:xfrm>
            <a:prstGeom prst="rect">
              <a:avLst/>
            </a:prstGeom>
            <a:noFill/>
            <a:ln w="9525">
              <a:noFill/>
            </a:ln>
          </p:spPr>
          <p:txBody>
            <a:bodyPr wrap="square" anchor="t"/>
            <a:lstStyle/>
            <a:p>
              <a:pPr algn="ctr"/>
              <a:r>
                <a:rPr lang="zh-CN" altLang="en-US" sz="1200" dirty="0">
                  <a:latin typeface="Times New Roman" panose="02020603050405020304" pitchFamily="18" charset="0"/>
                </a:rPr>
                <a:t>China University of Mining &amp; Technology-Beijing</a:t>
              </a:r>
              <a:endParaRPr lang="zh-CN" altLang="en-US" sz="1200" dirty="0">
                <a:latin typeface="Times New Roman" panose="02020603050405020304" pitchFamily="18" charset="0"/>
              </a:endParaRPr>
            </a:p>
            <a:p>
              <a:endParaRPr lang="zh-CN" altLang="en-US" sz="1200" dirty="0">
                <a:latin typeface="Times New Roman" panose="02020603050405020304" pitchFamily="18" charset="0"/>
              </a:endParaRPr>
            </a:p>
          </p:txBody>
        </p:sp>
        <p:pic>
          <p:nvPicPr>
            <p:cNvPr id="14" name="图片 1073742872" descr="44303071dc0a1f9688d599dbc999570副本"/>
            <p:cNvPicPr>
              <a:picLocks noChangeAspect="1"/>
            </p:cNvPicPr>
            <p:nvPr/>
          </p:nvPicPr>
          <p:blipFill>
            <a:blip r:embed="rId5"/>
            <a:stretch>
              <a:fillRect/>
            </a:stretch>
          </p:blipFill>
          <p:spPr>
            <a:xfrm>
              <a:off x="10088" y="9497"/>
              <a:ext cx="1435" cy="1303"/>
            </a:xfrm>
            <a:prstGeom prst="rect">
              <a:avLst/>
            </a:prstGeom>
            <a:noFill/>
            <a:ln w="9525">
              <a:noFill/>
            </a:ln>
          </p:spPr>
        </p:pic>
      </p:grpSp>
    </p:spTree>
  </p:cSld>
  <p:clrMapOvr>
    <a:masterClrMapping/>
  </p:clrMapOvr>
  <mc:AlternateContent xmlns:mc="http://schemas.openxmlformats.org/markup-compatibility/2006">
    <mc:Choice xmlns:p14="http://schemas.microsoft.com/office/powerpoint/2010/main" Requires="p14">
      <p:transition spd="slow" p14:dur="999" advClick="0"/>
    </mc:Choice>
    <mc:Fallback>
      <p:transition spd="slow" advClick="0"/>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5" name="Text Box 5"/>
          <p:cNvSpPr txBox="1">
            <a:spLocks noChangeArrowheads="1"/>
          </p:cNvSpPr>
          <p:nvPr/>
        </p:nvSpPr>
        <p:spPr bwMode="auto">
          <a:xfrm>
            <a:off x="555655" y="1154476"/>
            <a:ext cx="8064363"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spcBef>
                <a:spcPct val="50000"/>
              </a:spcBef>
              <a:buClr>
                <a:srgbClr val="CC3300"/>
              </a:buClr>
              <a:buSzPct val="70000"/>
              <a:buFont typeface="Wingdings" panose="05000000000000000000" pitchFamily="2" charset="2"/>
              <a:buChar char="q"/>
            </a:pPr>
            <a:r>
              <a:rPr lang="en-US" altLang="zh-CN" sz="2000" dirty="0">
                <a:solidFill>
                  <a:srgbClr val="000099"/>
                </a:solidFill>
                <a:latin typeface="华文中宋" panose="02010600040101010101" pitchFamily="2" charset="-122"/>
              </a:rPr>
              <a:t> </a:t>
            </a:r>
            <a:r>
              <a:rPr lang="zh-CN" altLang="en-US" dirty="0">
                <a:solidFill>
                  <a:srgbClr val="FF0000"/>
                </a:solidFill>
                <a:latin typeface="黑体" panose="02010609060101010101" pitchFamily="49" charset="-122"/>
                <a:ea typeface="黑体" panose="02010609060101010101" pitchFamily="49" charset="-122"/>
              </a:rPr>
              <a:t>摩擦</a:t>
            </a:r>
            <a:r>
              <a:rPr lang="zh-CN" altLang="en-US" sz="2000" dirty="0">
                <a:solidFill>
                  <a:srgbClr val="000099"/>
                </a:solidFill>
                <a:latin typeface="华文中宋" panose="02010600040101010101" pitchFamily="2" charset="-122"/>
              </a:rPr>
              <a:t>　</a:t>
            </a:r>
            <a:r>
              <a:rPr lang="zh-CN" altLang="en-US" dirty="0">
                <a:solidFill>
                  <a:srgbClr val="000099"/>
                </a:solidFill>
                <a:latin typeface="黑体" panose="02010609060101010101" pitchFamily="49" charset="-122"/>
                <a:ea typeface="黑体" panose="02010609060101010101" pitchFamily="49" charset="-122"/>
              </a:rPr>
              <a:t>是抵抗两物体接触表面在外力作用下发生切向</a:t>
            </a:r>
            <a:r>
              <a:rPr lang="zh-CN" altLang="en-US" dirty="0" smtClean="0">
                <a:solidFill>
                  <a:srgbClr val="000099"/>
                </a:solidFill>
                <a:latin typeface="黑体" panose="02010609060101010101" pitchFamily="49" charset="-122"/>
                <a:ea typeface="黑体" panose="02010609060101010101" pitchFamily="49" charset="-122"/>
              </a:rPr>
              <a:t>相对运动</a:t>
            </a:r>
            <a:r>
              <a:rPr lang="en-US" altLang="zh-CN" dirty="0" smtClean="0">
                <a:solidFill>
                  <a:srgbClr val="000099"/>
                </a:solidFill>
                <a:latin typeface="黑体" panose="02010609060101010101" pitchFamily="49" charset="-122"/>
                <a:ea typeface="黑体" panose="02010609060101010101" pitchFamily="49" charset="-122"/>
              </a:rPr>
              <a:t>	</a:t>
            </a:r>
            <a:r>
              <a:rPr lang="zh-CN" altLang="en-US" dirty="0" smtClean="0">
                <a:solidFill>
                  <a:srgbClr val="000099"/>
                </a:solidFill>
                <a:latin typeface="黑体" panose="02010609060101010101" pitchFamily="49" charset="-122"/>
                <a:ea typeface="黑体" panose="02010609060101010101" pitchFamily="49" charset="-122"/>
              </a:rPr>
              <a:t>的</a:t>
            </a:r>
            <a:r>
              <a:rPr lang="zh-CN" altLang="en-US" dirty="0">
                <a:solidFill>
                  <a:srgbClr val="000099"/>
                </a:solidFill>
                <a:latin typeface="黑体" panose="02010609060101010101" pitchFamily="49" charset="-122"/>
                <a:ea typeface="黑体" panose="02010609060101010101" pitchFamily="49" charset="-122"/>
              </a:rPr>
              <a:t>现象</a:t>
            </a:r>
            <a:r>
              <a:rPr lang="zh-CN" altLang="en-US" sz="2000" dirty="0">
                <a:solidFill>
                  <a:srgbClr val="000099"/>
                </a:solidFill>
                <a:latin typeface="华文中宋" panose="02010600040101010101" pitchFamily="2" charset="-122"/>
              </a:rPr>
              <a:t>；</a:t>
            </a:r>
            <a:endParaRPr lang="zh-CN" altLang="en-US" sz="2000" dirty="0">
              <a:solidFill>
                <a:srgbClr val="000099"/>
              </a:solidFill>
              <a:latin typeface="华文中宋" panose="02010600040101010101" pitchFamily="2" charset="-122"/>
            </a:endParaRPr>
          </a:p>
        </p:txBody>
      </p:sp>
      <p:sp>
        <p:nvSpPr>
          <p:cNvPr id="20486" name="Text Box 6"/>
          <p:cNvSpPr txBox="1">
            <a:spLocks noChangeArrowheads="1"/>
          </p:cNvSpPr>
          <p:nvPr/>
        </p:nvSpPr>
        <p:spPr bwMode="auto">
          <a:xfrm>
            <a:off x="538110" y="2171624"/>
            <a:ext cx="747993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spcBef>
                <a:spcPct val="50000"/>
              </a:spcBef>
              <a:buClr>
                <a:srgbClr val="CC3300"/>
              </a:buClr>
              <a:buSzPct val="70000"/>
              <a:buFont typeface="Wingdings" panose="05000000000000000000" pitchFamily="2" charset="2"/>
              <a:buChar char="q"/>
            </a:pPr>
            <a:r>
              <a:rPr lang="en-US" altLang="zh-CN" sz="2000" dirty="0">
                <a:solidFill>
                  <a:srgbClr val="000099"/>
                </a:solidFill>
                <a:latin typeface="华文中宋" panose="02010600040101010101" pitchFamily="2" charset="-122"/>
              </a:rPr>
              <a:t> </a:t>
            </a:r>
            <a:r>
              <a:rPr lang="zh-CN" altLang="en-US" dirty="0">
                <a:solidFill>
                  <a:srgbClr val="FF0000"/>
                </a:solidFill>
                <a:latin typeface="黑体" panose="02010609060101010101" pitchFamily="49" charset="-122"/>
                <a:ea typeface="黑体" panose="02010609060101010101" pitchFamily="49" charset="-122"/>
              </a:rPr>
              <a:t>磨损</a:t>
            </a:r>
            <a:r>
              <a:rPr lang="zh-CN" altLang="en-US" dirty="0">
                <a:solidFill>
                  <a:srgbClr val="000099"/>
                </a:solidFill>
                <a:latin typeface="黑体" panose="02010609060101010101" pitchFamily="49" charset="-122"/>
                <a:ea typeface="黑体" panose="02010609060101010101" pitchFamily="49" charset="-122"/>
              </a:rPr>
              <a:t>　是由于摩擦而造成的物体表面材料的损失或转移；</a:t>
            </a:r>
            <a:endParaRPr lang="zh-CN" altLang="en-US" dirty="0">
              <a:solidFill>
                <a:srgbClr val="000099"/>
              </a:solidFill>
              <a:latin typeface="黑体" panose="02010609060101010101" pitchFamily="49" charset="-122"/>
              <a:ea typeface="黑体" panose="02010609060101010101" pitchFamily="49" charset="-122"/>
            </a:endParaRPr>
          </a:p>
        </p:txBody>
      </p:sp>
      <p:sp>
        <p:nvSpPr>
          <p:cNvPr id="20487" name="Text Box 7"/>
          <p:cNvSpPr txBox="1">
            <a:spLocks noChangeArrowheads="1"/>
          </p:cNvSpPr>
          <p:nvPr/>
        </p:nvSpPr>
        <p:spPr bwMode="auto">
          <a:xfrm>
            <a:off x="537760" y="2968715"/>
            <a:ext cx="8339112"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spcBef>
                <a:spcPct val="50000"/>
              </a:spcBef>
              <a:buClr>
                <a:srgbClr val="CC3300"/>
              </a:buClr>
              <a:buSzPct val="70000"/>
              <a:buFont typeface="Wingdings" panose="05000000000000000000" pitchFamily="2" charset="2"/>
              <a:buChar char="q"/>
            </a:pPr>
            <a:r>
              <a:rPr lang="en-US" altLang="zh-CN" sz="2000" dirty="0">
                <a:solidFill>
                  <a:srgbClr val="000099"/>
                </a:solidFill>
                <a:latin typeface="华文中宋" panose="02010600040101010101" pitchFamily="2" charset="-122"/>
              </a:rPr>
              <a:t> </a:t>
            </a:r>
            <a:r>
              <a:rPr lang="zh-CN" altLang="en-US" dirty="0">
                <a:solidFill>
                  <a:srgbClr val="FF0000"/>
                </a:solidFill>
                <a:latin typeface="黑体" panose="02010609060101010101" pitchFamily="49" charset="-122"/>
                <a:ea typeface="黑体" panose="02010609060101010101" pitchFamily="49" charset="-122"/>
              </a:rPr>
              <a:t>润滑</a:t>
            </a:r>
            <a:r>
              <a:rPr lang="zh-CN" altLang="en-US" dirty="0">
                <a:solidFill>
                  <a:srgbClr val="000099"/>
                </a:solidFill>
                <a:latin typeface="黑体" panose="02010609060101010101" pitchFamily="49" charset="-122"/>
                <a:ea typeface="黑体" panose="02010609060101010101" pitchFamily="49" charset="-122"/>
              </a:rPr>
              <a:t>　</a:t>
            </a:r>
            <a:r>
              <a:rPr lang="zh-CN" altLang="en-US" dirty="0">
                <a:solidFill>
                  <a:srgbClr val="002060"/>
                </a:solidFill>
                <a:latin typeface="黑体" panose="02010609060101010101" pitchFamily="49" charset="-122"/>
                <a:ea typeface="黑体" panose="02010609060101010101" pitchFamily="49" charset="-122"/>
              </a:rPr>
              <a:t>人们为了控制零件在摩擦中损坏，在摩擦面间加入</a:t>
            </a:r>
            <a:r>
              <a:rPr lang="zh-CN" altLang="en-US" dirty="0" smtClean="0">
                <a:solidFill>
                  <a:srgbClr val="002060"/>
                </a:solidFill>
                <a:latin typeface="黑体" panose="02010609060101010101" pitchFamily="49" charset="-122"/>
                <a:ea typeface="黑体" panose="02010609060101010101" pitchFamily="49" charset="-122"/>
              </a:rPr>
              <a:t>润滑剂</a:t>
            </a:r>
            <a:r>
              <a:rPr lang="en-US" altLang="zh-CN" dirty="0" smtClean="0">
                <a:solidFill>
                  <a:srgbClr val="002060"/>
                </a:solidFill>
                <a:latin typeface="黑体" panose="02010609060101010101" pitchFamily="49" charset="-122"/>
                <a:ea typeface="黑体" panose="02010609060101010101" pitchFamily="49" charset="-122"/>
              </a:rPr>
              <a:t>	</a:t>
            </a:r>
            <a:r>
              <a:rPr lang="zh-CN" altLang="en-US" dirty="0" smtClean="0">
                <a:solidFill>
                  <a:srgbClr val="002060"/>
                </a:solidFill>
                <a:latin typeface="黑体" panose="02010609060101010101" pitchFamily="49" charset="-122"/>
                <a:ea typeface="黑体" panose="02010609060101010101" pitchFamily="49" charset="-122"/>
              </a:rPr>
              <a:t>来</a:t>
            </a:r>
            <a:r>
              <a:rPr lang="zh-CN" altLang="en-US" dirty="0">
                <a:solidFill>
                  <a:srgbClr val="002060"/>
                </a:solidFill>
                <a:latin typeface="黑体" panose="02010609060101010101" pitchFamily="49" charset="-122"/>
                <a:ea typeface="黑体" panose="02010609060101010101" pitchFamily="49" charset="-122"/>
              </a:rPr>
              <a:t>降低摩擦，减小磨损的</a:t>
            </a:r>
            <a:r>
              <a:rPr lang="zh-CN" altLang="en-US" dirty="0" smtClean="0">
                <a:solidFill>
                  <a:srgbClr val="002060"/>
                </a:solidFill>
                <a:latin typeface="黑体" panose="02010609060101010101" pitchFamily="49" charset="-122"/>
                <a:ea typeface="黑体" panose="02010609060101010101" pitchFamily="49" charset="-122"/>
              </a:rPr>
              <a:t>产生。</a:t>
            </a:r>
            <a:endParaRPr lang="zh-CN" altLang="en-US" dirty="0">
              <a:solidFill>
                <a:srgbClr val="002060"/>
              </a:solidFill>
              <a:latin typeface="黑体" panose="02010609060101010101" pitchFamily="49" charset="-122"/>
              <a:ea typeface="黑体" panose="02010609060101010101" pitchFamily="49" charset="-122"/>
            </a:endParaRPr>
          </a:p>
        </p:txBody>
      </p:sp>
      <p:sp>
        <p:nvSpPr>
          <p:cNvPr id="20488" name="Text Box 8"/>
          <p:cNvSpPr txBox="1">
            <a:spLocks noChangeArrowheads="1"/>
          </p:cNvSpPr>
          <p:nvPr/>
        </p:nvSpPr>
        <p:spPr bwMode="auto">
          <a:xfrm>
            <a:off x="929803" y="4009109"/>
            <a:ext cx="73152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spcBef>
                <a:spcPct val="50000"/>
              </a:spcBef>
            </a:pPr>
            <a:r>
              <a:rPr lang="zh-CN" altLang="en-US" dirty="0">
                <a:solidFill>
                  <a:srgbClr val="000099"/>
                </a:solidFill>
                <a:latin typeface="黑体" panose="02010609060101010101" pitchFamily="49" charset="-122"/>
                <a:ea typeface="黑体" panose="02010609060101010101" pitchFamily="49" charset="-122"/>
              </a:rPr>
              <a:t>关于摩擦、磨损与润滑的学科构成了</a:t>
            </a:r>
            <a:r>
              <a:rPr lang="zh-CN" altLang="en-US" dirty="0">
                <a:solidFill>
                  <a:srgbClr val="FF0000"/>
                </a:solidFill>
                <a:latin typeface="黑体" panose="02010609060101010101" pitchFamily="49" charset="-122"/>
                <a:ea typeface="黑体" panose="02010609060101010101" pitchFamily="49" charset="-122"/>
              </a:rPr>
              <a:t>摩擦学</a:t>
            </a:r>
            <a:r>
              <a:rPr lang="en-US" altLang="zh-CN" dirty="0">
                <a:solidFill>
                  <a:srgbClr val="000099"/>
                </a:solidFill>
                <a:latin typeface="黑体" panose="02010609060101010101" pitchFamily="49" charset="-122"/>
                <a:ea typeface="黑体" panose="02010609060101010101" pitchFamily="49" charset="-122"/>
              </a:rPr>
              <a:t>(Tribology)</a:t>
            </a:r>
            <a:r>
              <a:rPr lang="zh-CN" altLang="en-US" dirty="0">
                <a:solidFill>
                  <a:srgbClr val="000099"/>
                </a:solidFill>
                <a:latin typeface="黑体" panose="02010609060101010101" pitchFamily="49" charset="-122"/>
                <a:ea typeface="黑体" panose="02010609060101010101" pitchFamily="49" charset="-122"/>
              </a:rPr>
              <a:t>。</a:t>
            </a:r>
            <a:endParaRPr lang="zh-CN" altLang="en-US" dirty="0">
              <a:solidFill>
                <a:srgbClr val="000099"/>
              </a:solidFill>
              <a:latin typeface="黑体" panose="02010609060101010101" pitchFamily="49" charset="-122"/>
              <a:ea typeface="黑体" panose="02010609060101010101" pitchFamily="49" charset="-122"/>
            </a:endParaRPr>
          </a:p>
        </p:txBody>
      </p:sp>
      <p:sp>
        <p:nvSpPr>
          <p:cNvPr id="6150" name="Rectangle 14"/>
          <p:cNvSpPr>
            <a:spLocks noGrp="1" noChangeArrowheads="1"/>
          </p:cNvSpPr>
          <p:nvPr>
            <p:ph type="title"/>
          </p:nvPr>
        </p:nvSpPr>
        <p:spPr bwMode="auto">
          <a:xfrm>
            <a:off x="8001000" y="762000"/>
            <a:ext cx="990600" cy="152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摩擦学</a:t>
            </a:r>
            <a:endParaRPr lang="zh-CN" altLang="en-US" sz="800" smtClean="0">
              <a:solidFill>
                <a:schemeClr val="bg1"/>
              </a:solidFill>
              <a:latin typeface="华文中宋" panose="02010600040101010101" pitchFamily="2" charset="-122"/>
              <a:ea typeface="华文中宋" panose="02010600040101010101" pitchFamily="2" charset="-122"/>
            </a:endParaRPr>
          </a:p>
        </p:txBody>
      </p:sp>
      <p:pic>
        <p:nvPicPr>
          <p:cNvPr id="20495" name="Picture 15"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75700" y="65103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01" name="Rectangle 21"/>
          <p:cNvSpPr>
            <a:spLocks noChangeArrowheads="1"/>
          </p:cNvSpPr>
          <p:nvPr/>
        </p:nvSpPr>
        <p:spPr bwMode="auto">
          <a:xfrm>
            <a:off x="381035" y="4698666"/>
            <a:ext cx="8610600" cy="853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a:lnSpc>
                <a:spcPct val="120000"/>
              </a:lnSpc>
            </a:pPr>
            <a:r>
              <a:rPr lang="en-US" altLang="zh-CN" sz="2000" dirty="0">
                <a:solidFill>
                  <a:srgbClr val="000099"/>
                </a:solidFill>
                <a:latin typeface="Times New Roman" panose="02020603050405020304" pitchFamily="18" charset="0"/>
              </a:rPr>
              <a:t> </a:t>
            </a:r>
            <a:r>
              <a:rPr lang="zh-CN" altLang="en-US" sz="2000" dirty="0">
                <a:solidFill>
                  <a:srgbClr val="000099"/>
                </a:solidFill>
                <a:latin typeface="Times New Roman" panose="02020603050405020304" pitchFamily="18" charset="0"/>
              </a:rPr>
              <a:t>　　</a:t>
            </a:r>
            <a:r>
              <a:rPr lang="zh-CN" altLang="en-US" dirty="0">
                <a:solidFill>
                  <a:srgbClr val="000099"/>
                </a:solidFill>
                <a:latin typeface="黑体" panose="02010609060101010101" pitchFamily="49" charset="-122"/>
                <a:ea typeface="黑体" panose="02010609060101010101" pitchFamily="49" charset="-122"/>
              </a:rPr>
              <a:t>世界上使用的能源大约有 </a:t>
            </a:r>
            <a:r>
              <a:rPr lang="en-US" altLang="zh-CN" dirty="0">
                <a:solidFill>
                  <a:srgbClr val="000099"/>
                </a:solidFill>
                <a:latin typeface="黑体" panose="02010609060101010101" pitchFamily="49" charset="-122"/>
                <a:ea typeface="黑体" panose="02010609060101010101" pitchFamily="49" charset="-122"/>
              </a:rPr>
              <a:t>1/3~1/2 </a:t>
            </a:r>
            <a:r>
              <a:rPr lang="zh-CN" altLang="en-US" dirty="0">
                <a:solidFill>
                  <a:srgbClr val="000099"/>
                </a:solidFill>
                <a:latin typeface="黑体" panose="02010609060101010101" pitchFamily="49" charset="-122"/>
                <a:ea typeface="黑体" panose="02010609060101010101" pitchFamily="49" charset="-122"/>
              </a:rPr>
              <a:t>消耗于摩擦。如果能够尽力减少无用的摩擦消耗，便可大量节省能源。</a:t>
            </a:r>
            <a:endParaRPr lang="zh-CN" altLang="en-US" dirty="0">
              <a:solidFill>
                <a:srgbClr val="000099"/>
              </a:solidFill>
              <a:latin typeface="黑体" panose="02010609060101010101" pitchFamily="49" charset="-122"/>
              <a:ea typeface="黑体" panose="02010609060101010101" pitchFamily="49" charset="-122"/>
            </a:endParaRPr>
          </a:p>
        </p:txBody>
      </p:sp>
      <p:sp>
        <p:nvSpPr>
          <p:cNvPr id="6155" name="Text Box 22"/>
          <p:cNvSpPr txBox="1">
            <a:spLocks noChangeArrowheads="1"/>
          </p:cNvSpPr>
          <p:nvPr/>
        </p:nvSpPr>
        <p:spPr bwMode="auto">
          <a:xfrm>
            <a:off x="6627813" y="195263"/>
            <a:ext cx="13271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3000">
                <a:solidFill>
                  <a:srgbClr val="CC3300"/>
                </a:solidFill>
                <a:latin typeface="黑体" panose="02010609060101010101" pitchFamily="49" charset="-122"/>
                <a:ea typeface="黑体" panose="02010609060101010101" pitchFamily="49" charset="-122"/>
              </a:rPr>
              <a:t>概　述</a:t>
            </a:r>
            <a:endParaRPr lang="zh-CN" altLang="en-US" sz="3000">
              <a:solidFill>
                <a:srgbClr val="CC3300"/>
              </a:solidFill>
              <a:latin typeface="黑体" panose="02010609060101010101" pitchFamily="49" charset="-122"/>
              <a:ea typeface="黑体" panose="02010609060101010101" pitchFamily="49" charset="-122"/>
            </a:endParaRPr>
          </a:p>
        </p:txBody>
      </p:sp>
      <p:sp>
        <p:nvSpPr>
          <p:cNvPr id="20503" name="Text Box 23"/>
          <p:cNvSpPr txBox="1">
            <a:spLocks noChangeArrowheads="1"/>
          </p:cNvSpPr>
          <p:nvPr/>
        </p:nvSpPr>
        <p:spPr bwMode="auto">
          <a:xfrm>
            <a:off x="6629400" y="6273800"/>
            <a:ext cx="4191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spcBef>
                <a:spcPct val="50000"/>
              </a:spcBef>
            </a:pPr>
            <a:r>
              <a:rPr lang="en-US" altLang="zh-CN"/>
              <a:t> </a:t>
            </a:r>
            <a:endParaRPr lang="en-US" altLang="zh-CN"/>
          </a:p>
        </p:txBody>
      </p:sp>
      <p:sp>
        <p:nvSpPr>
          <p:cNvPr id="6157"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grpSp>
        <p:nvGrpSpPr>
          <p:cNvPr id="14" name="组合 1"/>
          <p:cNvGrpSpPr/>
          <p:nvPr/>
        </p:nvGrpSpPr>
        <p:grpSpPr>
          <a:xfrm>
            <a:off x="6380197" y="6030913"/>
            <a:ext cx="2630487" cy="827087"/>
            <a:chOff x="10088" y="9497"/>
            <a:chExt cx="4141" cy="1302"/>
          </a:xfrm>
        </p:grpSpPr>
        <p:sp>
          <p:nvSpPr>
            <p:cNvPr id="15" name="文本框 1073742869"/>
            <p:cNvSpPr txBox="1">
              <a:spLocks noChangeAspect="1"/>
            </p:cNvSpPr>
            <p:nvPr/>
          </p:nvSpPr>
          <p:spPr>
            <a:xfrm>
              <a:off x="11247" y="9745"/>
              <a:ext cx="2983" cy="479"/>
            </a:xfrm>
            <a:prstGeom prst="rect">
              <a:avLst/>
            </a:prstGeom>
            <a:noFill/>
            <a:ln w="9525">
              <a:noFill/>
            </a:ln>
          </p:spPr>
          <p:txBody>
            <a:bodyPr wrap="square" anchor="t"/>
            <a:lstStyle/>
            <a:p>
              <a:pPr algn="ctr"/>
              <a:r>
                <a:rPr lang="zh-CN" altLang="en-US" sz="1200" dirty="0">
                  <a:latin typeface="Times New Roman" panose="02020603050405020304" pitchFamily="18" charset="0"/>
                </a:rPr>
                <a:t>China University of Mining &amp; Technology-Beijing</a:t>
              </a:r>
              <a:endParaRPr lang="zh-CN" altLang="en-US" sz="1200" dirty="0">
                <a:latin typeface="Times New Roman" panose="02020603050405020304" pitchFamily="18" charset="0"/>
              </a:endParaRPr>
            </a:p>
            <a:p>
              <a:endParaRPr lang="zh-CN" altLang="en-US" sz="1200" dirty="0">
                <a:latin typeface="Times New Roman" panose="02020603050405020304" pitchFamily="18" charset="0"/>
              </a:endParaRPr>
            </a:p>
          </p:txBody>
        </p:sp>
        <p:pic>
          <p:nvPicPr>
            <p:cNvPr id="16" name="图片 1073742872" descr="44303071dc0a1f9688d599dbc999570副本"/>
            <p:cNvPicPr>
              <a:picLocks noChangeAspect="1"/>
            </p:cNvPicPr>
            <p:nvPr/>
          </p:nvPicPr>
          <p:blipFill>
            <a:blip r:embed="rId3"/>
            <a:stretch>
              <a:fillRect/>
            </a:stretch>
          </p:blipFill>
          <p:spPr>
            <a:xfrm>
              <a:off x="10088" y="9497"/>
              <a:ext cx="1435" cy="1303"/>
            </a:xfrm>
            <a:prstGeom prst="rect">
              <a:avLst/>
            </a:prstGeom>
            <a:noFill/>
            <a:ln w="9525">
              <a:noFill/>
            </a:ln>
          </p:spPr>
        </p:pic>
      </p:gr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20485"/>
                                        </p:tgtEl>
                                        <p:attrNameLst>
                                          <p:attrName>style.visibility</p:attrName>
                                        </p:attrNameLst>
                                      </p:cBhvr>
                                      <p:to>
                                        <p:strVal val="visible"/>
                                      </p:to>
                                    </p:set>
                                    <p:animEffect transition="in" filter="barn(outVertical)">
                                      <p:cBhvr>
                                        <p:cTn id="7" dur="500"/>
                                        <p:tgtEl>
                                          <p:spTgt spid="2048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20486"/>
                                        </p:tgtEl>
                                        <p:attrNameLst>
                                          <p:attrName>style.visibility</p:attrName>
                                        </p:attrNameLst>
                                      </p:cBhvr>
                                      <p:to>
                                        <p:strVal val="visible"/>
                                      </p:to>
                                    </p:set>
                                    <p:animEffect transition="in" filter="barn(outVertical)">
                                      <p:cBhvr>
                                        <p:cTn id="12" dur="500"/>
                                        <p:tgtEl>
                                          <p:spTgt spid="2048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grpId="0" nodeType="clickEffect">
                                  <p:stCondLst>
                                    <p:cond delay="0"/>
                                  </p:stCondLst>
                                  <p:childTnLst>
                                    <p:set>
                                      <p:cBhvr>
                                        <p:cTn id="16" dur="1" fill="hold">
                                          <p:stCondLst>
                                            <p:cond delay="0"/>
                                          </p:stCondLst>
                                        </p:cTn>
                                        <p:tgtEl>
                                          <p:spTgt spid="20487"/>
                                        </p:tgtEl>
                                        <p:attrNameLst>
                                          <p:attrName>style.visibility</p:attrName>
                                        </p:attrNameLst>
                                      </p:cBhvr>
                                      <p:to>
                                        <p:strVal val="visible"/>
                                      </p:to>
                                    </p:set>
                                    <p:animEffect transition="in" filter="barn(outVertical)">
                                      <p:cBhvr>
                                        <p:cTn id="17" dur="500"/>
                                        <p:tgtEl>
                                          <p:spTgt spid="2048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488"/>
                                        </p:tgtEl>
                                        <p:attrNameLst>
                                          <p:attrName>style.visibility</p:attrName>
                                        </p:attrNameLst>
                                      </p:cBhvr>
                                      <p:to>
                                        <p:strVal val="visible"/>
                                      </p:to>
                                    </p:set>
                                    <p:animEffect transition="in" filter="wipe(left)">
                                      <p:cBhvr>
                                        <p:cTn id="22" dur="500"/>
                                        <p:tgtEl>
                                          <p:spTgt spid="2048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0501"/>
                                        </p:tgtEl>
                                        <p:attrNameLst>
                                          <p:attrName>style.visibility</p:attrName>
                                        </p:attrNameLst>
                                      </p:cBhvr>
                                      <p:to>
                                        <p:strVal val="visible"/>
                                      </p:to>
                                    </p:set>
                                    <p:animEffect transition="in" filter="wipe(left)">
                                      <p:cBhvr>
                                        <p:cTn id="27" dur="500"/>
                                        <p:tgtEl>
                                          <p:spTgt spid="20501"/>
                                        </p:tgtEl>
                                      </p:cBhvr>
                                    </p:animEffect>
                                  </p:childTnLst>
                                </p:cTn>
                              </p:par>
                            </p:childTnLst>
                          </p:cTn>
                        </p:par>
                        <p:par>
                          <p:cTn id="28" fill="hold">
                            <p:stCondLst>
                              <p:cond delay="500"/>
                            </p:stCondLst>
                            <p:childTnLst>
                              <p:par>
                                <p:cTn id="29" presetID="2" presetClass="entr" presetSubtype="8" fill="hold" nodeType="afterEffect">
                                  <p:stCondLst>
                                    <p:cond delay="0"/>
                                  </p:stCondLst>
                                  <p:childTnLst>
                                    <p:set>
                                      <p:cBhvr>
                                        <p:cTn id="30" dur="1" fill="hold">
                                          <p:stCondLst>
                                            <p:cond delay="0"/>
                                          </p:stCondLst>
                                        </p:cTn>
                                        <p:tgtEl>
                                          <p:spTgt spid="20495"/>
                                        </p:tgtEl>
                                        <p:attrNameLst>
                                          <p:attrName>style.visibility</p:attrName>
                                        </p:attrNameLst>
                                      </p:cBhvr>
                                      <p:to>
                                        <p:strVal val="visible"/>
                                      </p:to>
                                    </p:set>
                                    <p:anim calcmode="lin" valueType="num">
                                      <p:cBhvr additive="base">
                                        <p:cTn id="31" dur="500" fill="hold"/>
                                        <p:tgtEl>
                                          <p:spTgt spid="20495"/>
                                        </p:tgtEl>
                                        <p:attrNameLst>
                                          <p:attrName>ppt_x</p:attrName>
                                        </p:attrNameLst>
                                      </p:cBhvr>
                                      <p:tavLst>
                                        <p:tav tm="0">
                                          <p:val>
                                            <p:strVal val="0-#ppt_w/2"/>
                                          </p:val>
                                        </p:tav>
                                        <p:tav tm="100000">
                                          <p:val>
                                            <p:strVal val="#ppt_x"/>
                                          </p:val>
                                        </p:tav>
                                      </p:tavLst>
                                    </p:anim>
                                    <p:anim calcmode="lin" valueType="num">
                                      <p:cBhvr additive="base">
                                        <p:cTn id="32" dur="500" fill="hold"/>
                                        <p:tgtEl>
                                          <p:spTgt spid="20495"/>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0503"/>
                                        </p:tgtEl>
                                        <p:attrNameLst>
                                          <p:attrName>style.visibility</p:attrName>
                                        </p:attrNameLst>
                                      </p:cBhvr>
                                      <p:to>
                                        <p:strVal val="visible"/>
                                      </p:to>
                                    </p:set>
                                    <p:anim calcmode="lin" valueType="num">
                                      <p:cBhvr additive="base">
                                        <p:cTn id="37" dur="500" fill="hold"/>
                                        <p:tgtEl>
                                          <p:spTgt spid="20503"/>
                                        </p:tgtEl>
                                        <p:attrNameLst>
                                          <p:attrName>ppt_x</p:attrName>
                                        </p:attrNameLst>
                                      </p:cBhvr>
                                      <p:tavLst>
                                        <p:tav tm="0">
                                          <p:val>
                                            <p:strVal val="0-#ppt_w/2"/>
                                          </p:val>
                                        </p:tav>
                                        <p:tav tm="100000">
                                          <p:val>
                                            <p:strVal val="#ppt_x"/>
                                          </p:val>
                                        </p:tav>
                                      </p:tavLst>
                                    </p:anim>
                                    <p:anim calcmode="lin" valueType="num">
                                      <p:cBhvr additive="base">
                                        <p:cTn id="38" dur="500" fill="hold"/>
                                        <p:tgtEl>
                                          <p:spTgt spid="2050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5" grpId="0" autoUpdateAnimBg="0"/>
      <p:bldP spid="20486" grpId="0" autoUpdateAnimBg="0"/>
      <p:bldP spid="20487" grpId="0" autoUpdateAnimBg="0"/>
      <p:bldP spid="20488" grpId="0" autoUpdateAnimBg="0"/>
      <p:bldP spid="20501" grpId="0" autoUpdateAnimBg="0"/>
      <p:bldP spid="20503"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ChangeArrowheads="1"/>
          </p:cNvSpPr>
          <p:nvPr/>
        </p:nvSpPr>
        <p:spPr bwMode="auto">
          <a:xfrm>
            <a:off x="3276600" y="254000"/>
            <a:ext cx="551688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1.5-1 </a:t>
            </a:r>
            <a:r>
              <a:rPr lang="zh-CN" altLang="en-US" sz="3000" dirty="0">
                <a:solidFill>
                  <a:srgbClr val="CC3300"/>
                </a:solidFill>
                <a:latin typeface="黑体" panose="02010609060101010101" pitchFamily="49" charset="-122"/>
                <a:ea typeface="黑体" panose="02010609060101010101" pitchFamily="49" charset="-122"/>
              </a:rPr>
              <a:t>摩擦的种类及其基本性质</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7171" name="Rectangle 5"/>
          <p:cNvSpPr>
            <a:spLocks noGrp="1" noChangeArrowheads="1"/>
          </p:cNvSpPr>
          <p:nvPr>
            <p:ph type="title"/>
          </p:nvPr>
        </p:nvSpPr>
        <p:spPr bwMode="auto">
          <a:xfrm>
            <a:off x="5867400" y="762000"/>
            <a:ext cx="13716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摩   擦</a:t>
            </a:r>
            <a:r>
              <a:rPr lang="en-US" altLang="zh-CN" sz="800" smtClean="0">
                <a:solidFill>
                  <a:schemeClr val="bg1"/>
                </a:solidFill>
                <a:latin typeface="华文中宋" panose="02010600040101010101" pitchFamily="2" charset="-122"/>
                <a:ea typeface="华文中宋" panose="02010600040101010101" pitchFamily="2" charset="-122"/>
              </a:rPr>
              <a:t>1</a:t>
            </a:r>
            <a:endParaRPr lang="en-US" altLang="zh-CN" sz="800" smtClean="0">
              <a:solidFill>
                <a:schemeClr val="bg1"/>
              </a:solidFill>
              <a:latin typeface="华文中宋" panose="02010600040101010101" pitchFamily="2" charset="-122"/>
              <a:ea typeface="华文中宋" panose="02010600040101010101" pitchFamily="2" charset="-122"/>
            </a:endParaRPr>
          </a:p>
        </p:txBody>
      </p:sp>
      <p:sp>
        <p:nvSpPr>
          <p:cNvPr id="30726" name="Text Box 6"/>
          <p:cNvSpPr txBox="1">
            <a:spLocks noChangeArrowheads="1"/>
          </p:cNvSpPr>
          <p:nvPr/>
        </p:nvSpPr>
        <p:spPr bwMode="auto">
          <a:xfrm>
            <a:off x="186690" y="990283"/>
            <a:ext cx="2336194"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400" dirty="0">
                <a:solidFill>
                  <a:srgbClr val="0000FF"/>
                </a:solidFill>
                <a:latin typeface="黑体" panose="02010609060101010101" pitchFamily="49" charset="-122"/>
                <a:ea typeface="黑体" panose="02010609060101010101" pitchFamily="49" charset="-122"/>
              </a:rPr>
              <a:t>一、摩擦的分类</a:t>
            </a:r>
            <a:endParaRPr lang="zh-CN" altLang="en-US" sz="2400" dirty="0">
              <a:solidFill>
                <a:srgbClr val="0000FF"/>
              </a:solidFill>
              <a:latin typeface="黑体" panose="02010609060101010101" pitchFamily="49" charset="-122"/>
              <a:ea typeface="黑体" panose="02010609060101010101" pitchFamily="49" charset="-122"/>
            </a:endParaRPr>
          </a:p>
        </p:txBody>
      </p:sp>
      <p:sp>
        <p:nvSpPr>
          <p:cNvPr id="30727" name="Text Box 7"/>
          <p:cNvSpPr txBox="1">
            <a:spLocks noChangeArrowheads="1"/>
          </p:cNvSpPr>
          <p:nvPr/>
        </p:nvSpPr>
        <p:spPr bwMode="auto">
          <a:xfrm>
            <a:off x="684313" y="1636161"/>
            <a:ext cx="8081356" cy="43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dirty="0">
                <a:solidFill>
                  <a:srgbClr val="C00000"/>
                </a:solidFill>
                <a:latin typeface="黑体" panose="02010609060101010101" pitchFamily="49" charset="-122"/>
                <a:ea typeface="黑体" panose="02010609060101010101" pitchFamily="49" charset="-122"/>
              </a:rPr>
              <a:t>内 摩 擦</a:t>
            </a:r>
            <a:r>
              <a:rPr lang="zh-CN" altLang="en-US" dirty="0">
                <a:solidFill>
                  <a:srgbClr val="000099"/>
                </a:solidFill>
                <a:latin typeface="黑体" panose="02010609060101010101" pitchFamily="49" charset="-122"/>
                <a:ea typeface="黑体" panose="02010609060101010101" pitchFamily="49" charset="-122"/>
              </a:rPr>
              <a:t>：在物质的内部发生的阻碍分子之间相对运动的现象。</a:t>
            </a:r>
            <a:endParaRPr lang="zh-CN" altLang="en-US" dirty="0">
              <a:solidFill>
                <a:srgbClr val="000099"/>
              </a:solidFill>
              <a:latin typeface="黑体" panose="02010609060101010101" pitchFamily="49" charset="-122"/>
              <a:ea typeface="黑体" panose="02010609060101010101" pitchFamily="49" charset="-122"/>
            </a:endParaRPr>
          </a:p>
        </p:txBody>
      </p:sp>
      <p:sp>
        <p:nvSpPr>
          <p:cNvPr id="30728" name="Text Box 8"/>
          <p:cNvSpPr txBox="1">
            <a:spLocks noChangeArrowheads="1"/>
          </p:cNvSpPr>
          <p:nvPr/>
        </p:nvSpPr>
        <p:spPr bwMode="auto">
          <a:xfrm>
            <a:off x="648887" y="2220278"/>
            <a:ext cx="8081356" cy="43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dirty="0">
                <a:solidFill>
                  <a:srgbClr val="C00000"/>
                </a:solidFill>
                <a:latin typeface="黑体" panose="02010609060101010101" pitchFamily="49" charset="-122"/>
                <a:ea typeface="黑体" panose="02010609060101010101" pitchFamily="49" charset="-122"/>
              </a:rPr>
              <a:t>外 摩 擦</a:t>
            </a:r>
            <a:r>
              <a:rPr lang="zh-CN" altLang="en-US" dirty="0">
                <a:solidFill>
                  <a:srgbClr val="000099"/>
                </a:solidFill>
                <a:latin typeface="黑体" panose="02010609060101010101" pitchFamily="49" charset="-122"/>
                <a:ea typeface="黑体" panose="02010609060101010101" pitchFamily="49" charset="-122"/>
              </a:rPr>
              <a:t>：在相对运动的物体表面间发生的相互阻碍作用现象。</a:t>
            </a:r>
            <a:endParaRPr lang="zh-CN" altLang="en-US" dirty="0">
              <a:solidFill>
                <a:srgbClr val="000099"/>
              </a:solidFill>
              <a:latin typeface="黑体" panose="02010609060101010101" pitchFamily="49" charset="-122"/>
              <a:ea typeface="黑体" panose="02010609060101010101" pitchFamily="49" charset="-122"/>
            </a:endParaRPr>
          </a:p>
        </p:txBody>
      </p:sp>
      <p:sp>
        <p:nvSpPr>
          <p:cNvPr id="30730" name="Text Box 10"/>
          <p:cNvSpPr txBox="1">
            <a:spLocks noChangeArrowheads="1"/>
          </p:cNvSpPr>
          <p:nvPr/>
        </p:nvSpPr>
        <p:spPr bwMode="auto">
          <a:xfrm>
            <a:off x="661587" y="2835258"/>
            <a:ext cx="5260071" cy="43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dirty="0">
                <a:solidFill>
                  <a:srgbClr val="C00000"/>
                </a:solidFill>
                <a:latin typeface="黑体" panose="02010609060101010101" pitchFamily="49" charset="-122"/>
                <a:ea typeface="黑体" panose="02010609060101010101" pitchFamily="49" charset="-122"/>
              </a:rPr>
              <a:t>静 摩 擦</a:t>
            </a:r>
            <a:r>
              <a:rPr lang="zh-CN" altLang="en-US" dirty="0">
                <a:solidFill>
                  <a:srgbClr val="000099"/>
                </a:solidFill>
                <a:latin typeface="黑体" panose="02010609060101010101" pitchFamily="49" charset="-122"/>
                <a:ea typeface="黑体" panose="02010609060101010101" pitchFamily="49" charset="-122"/>
              </a:rPr>
              <a:t>：仅有相对运动趋势时的摩擦。</a:t>
            </a:r>
            <a:endParaRPr lang="zh-CN" altLang="en-US" dirty="0">
              <a:solidFill>
                <a:srgbClr val="000099"/>
              </a:solidFill>
              <a:latin typeface="黑体" panose="02010609060101010101" pitchFamily="49" charset="-122"/>
              <a:ea typeface="黑体" panose="02010609060101010101" pitchFamily="49" charset="-122"/>
            </a:endParaRPr>
          </a:p>
        </p:txBody>
      </p:sp>
      <p:sp>
        <p:nvSpPr>
          <p:cNvPr id="30731" name="Text Box 11"/>
          <p:cNvSpPr txBox="1">
            <a:spLocks noChangeArrowheads="1"/>
          </p:cNvSpPr>
          <p:nvPr/>
        </p:nvSpPr>
        <p:spPr bwMode="auto">
          <a:xfrm>
            <a:off x="645812" y="3353586"/>
            <a:ext cx="4977943" cy="43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dirty="0">
                <a:solidFill>
                  <a:srgbClr val="C00000"/>
                </a:solidFill>
                <a:latin typeface="黑体" panose="02010609060101010101" pitchFamily="49" charset="-122"/>
                <a:ea typeface="黑体" panose="02010609060101010101" pitchFamily="49" charset="-122"/>
              </a:rPr>
              <a:t>动 摩 擦</a:t>
            </a:r>
            <a:r>
              <a:rPr lang="zh-CN" altLang="en-US" dirty="0">
                <a:solidFill>
                  <a:srgbClr val="000099"/>
                </a:solidFill>
                <a:latin typeface="黑体" panose="02010609060101010101" pitchFamily="49" charset="-122"/>
                <a:ea typeface="黑体" panose="02010609060101010101" pitchFamily="49" charset="-122"/>
              </a:rPr>
              <a:t>：在相对运动进行中的摩擦。</a:t>
            </a:r>
            <a:endParaRPr lang="zh-CN" altLang="en-US" dirty="0">
              <a:solidFill>
                <a:srgbClr val="000099"/>
              </a:solidFill>
              <a:latin typeface="黑体" panose="02010609060101010101" pitchFamily="49" charset="-122"/>
              <a:ea typeface="黑体" panose="02010609060101010101" pitchFamily="49" charset="-122"/>
            </a:endParaRPr>
          </a:p>
        </p:txBody>
      </p:sp>
      <p:sp>
        <p:nvSpPr>
          <p:cNvPr id="30732" name="Text Box 12"/>
          <p:cNvSpPr txBox="1">
            <a:spLocks noChangeArrowheads="1"/>
          </p:cNvSpPr>
          <p:nvPr/>
        </p:nvSpPr>
        <p:spPr bwMode="auto">
          <a:xfrm>
            <a:off x="636187" y="3863975"/>
            <a:ext cx="6080809" cy="43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dirty="0">
                <a:solidFill>
                  <a:srgbClr val="C00000"/>
                </a:solidFill>
                <a:latin typeface="黑体" panose="02010609060101010101" pitchFamily="49" charset="-122"/>
                <a:ea typeface="黑体" panose="02010609060101010101" pitchFamily="49" charset="-122"/>
              </a:rPr>
              <a:t>滑动摩擦</a:t>
            </a:r>
            <a:r>
              <a:rPr lang="zh-CN" altLang="en-US" dirty="0">
                <a:solidFill>
                  <a:srgbClr val="000099"/>
                </a:solidFill>
                <a:latin typeface="黑体" panose="02010609060101010101" pitchFamily="49" charset="-122"/>
                <a:ea typeface="黑体" panose="02010609060101010101" pitchFamily="49" charset="-122"/>
              </a:rPr>
              <a:t>：物体表面间的运动形式是相对滑动</a:t>
            </a:r>
            <a:r>
              <a:rPr lang="zh-CN" altLang="en-US" sz="2000" dirty="0">
                <a:solidFill>
                  <a:srgbClr val="000099"/>
                </a:solidFill>
              </a:rPr>
              <a:t>。</a:t>
            </a:r>
            <a:endParaRPr lang="zh-CN" altLang="en-US" sz="2000" dirty="0">
              <a:solidFill>
                <a:srgbClr val="000099"/>
              </a:solidFill>
            </a:endParaRPr>
          </a:p>
        </p:txBody>
      </p:sp>
      <p:sp>
        <p:nvSpPr>
          <p:cNvPr id="30733" name="Text Box 13"/>
          <p:cNvSpPr txBox="1">
            <a:spLocks noChangeArrowheads="1"/>
          </p:cNvSpPr>
          <p:nvPr/>
        </p:nvSpPr>
        <p:spPr bwMode="auto">
          <a:xfrm>
            <a:off x="616937" y="4411178"/>
            <a:ext cx="6106457" cy="43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dirty="0">
                <a:solidFill>
                  <a:srgbClr val="C00000"/>
                </a:solidFill>
                <a:latin typeface="黑体" panose="02010609060101010101" pitchFamily="49" charset="-122"/>
                <a:ea typeface="黑体" panose="02010609060101010101" pitchFamily="49" charset="-122"/>
              </a:rPr>
              <a:t>滚动摩擦</a:t>
            </a:r>
            <a:r>
              <a:rPr lang="zh-CN" altLang="en-US" dirty="0">
                <a:solidFill>
                  <a:srgbClr val="000099"/>
                </a:solidFill>
                <a:latin typeface="黑体" panose="02010609060101010101" pitchFamily="49" charset="-122"/>
                <a:ea typeface="黑体" panose="02010609060101010101" pitchFamily="49" charset="-122"/>
              </a:rPr>
              <a:t>：物体表面间的运动形式是相对滚动。</a:t>
            </a:r>
            <a:endParaRPr lang="zh-CN" altLang="en-US" dirty="0">
              <a:solidFill>
                <a:srgbClr val="000099"/>
              </a:solidFill>
              <a:latin typeface="黑体" panose="02010609060101010101" pitchFamily="49" charset="-122"/>
              <a:ea typeface="黑体" panose="02010609060101010101" pitchFamily="49" charset="-122"/>
            </a:endParaRPr>
          </a:p>
        </p:txBody>
      </p:sp>
      <p:pic>
        <p:nvPicPr>
          <p:cNvPr id="30736" name="Picture 16"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20100"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38" name="Picture 18" descr="NEXT1">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5666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3" name="Text Box 23"/>
          <p:cNvSpPr txBox="1">
            <a:spLocks noChangeArrowheads="1"/>
          </p:cNvSpPr>
          <p:nvPr/>
        </p:nvSpPr>
        <p:spPr bwMode="auto">
          <a:xfrm>
            <a:off x="6488113" y="6208713"/>
            <a:ext cx="2682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7188"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grpSp>
        <p:nvGrpSpPr>
          <p:cNvPr id="21" name="组合 1"/>
          <p:cNvGrpSpPr/>
          <p:nvPr/>
        </p:nvGrpSpPr>
        <p:grpSpPr>
          <a:xfrm>
            <a:off x="6091438" y="5944420"/>
            <a:ext cx="2630487" cy="827087"/>
            <a:chOff x="10088" y="9497"/>
            <a:chExt cx="4141" cy="1302"/>
          </a:xfrm>
        </p:grpSpPr>
        <p:sp>
          <p:nvSpPr>
            <p:cNvPr id="22" name="文本框 1073742869"/>
            <p:cNvSpPr txBox="1">
              <a:spLocks noChangeAspect="1"/>
            </p:cNvSpPr>
            <p:nvPr/>
          </p:nvSpPr>
          <p:spPr>
            <a:xfrm>
              <a:off x="11247" y="9745"/>
              <a:ext cx="2983" cy="479"/>
            </a:xfrm>
            <a:prstGeom prst="rect">
              <a:avLst/>
            </a:prstGeom>
            <a:noFill/>
            <a:ln w="9525">
              <a:noFill/>
            </a:ln>
          </p:spPr>
          <p:txBody>
            <a:bodyPr wrap="square" anchor="t"/>
            <a:lstStyle/>
            <a:p>
              <a:pPr algn="ctr"/>
              <a:r>
                <a:rPr lang="zh-CN" altLang="en-US" sz="1200" dirty="0">
                  <a:latin typeface="Times New Roman" panose="02020603050405020304" pitchFamily="18" charset="0"/>
                </a:rPr>
                <a:t>China University of Mining &amp; Technology-Beijing</a:t>
              </a:r>
              <a:endParaRPr lang="zh-CN" altLang="en-US" sz="1200" dirty="0">
                <a:latin typeface="Times New Roman" panose="02020603050405020304" pitchFamily="18" charset="0"/>
              </a:endParaRPr>
            </a:p>
            <a:p>
              <a:endParaRPr lang="zh-CN" altLang="en-US" sz="1200" dirty="0">
                <a:latin typeface="Times New Roman" panose="02020603050405020304" pitchFamily="18" charset="0"/>
              </a:endParaRPr>
            </a:p>
          </p:txBody>
        </p:sp>
        <p:pic>
          <p:nvPicPr>
            <p:cNvPr id="23" name="图片 1073742872" descr="44303071dc0a1f9688d599dbc999570副本"/>
            <p:cNvPicPr>
              <a:picLocks noChangeAspect="1"/>
            </p:cNvPicPr>
            <p:nvPr/>
          </p:nvPicPr>
          <p:blipFill>
            <a:blip r:embed="rId4"/>
            <a:stretch>
              <a:fillRect/>
            </a:stretch>
          </p:blipFill>
          <p:spPr>
            <a:xfrm>
              <a:off x="10088" y="9497"/>
              <a:ext cx="1435" cy="1303"/>
            </a:xfrm>
            <a:prstGeom prst="rect">
              <a:avLst/>
            </a:prstGeom>
            <a:noFill/>
            <a:ln w="9525">
              <a:noFill/>
            </a:ln>
          </p:spPr>
        </p:pic>
      </p:gr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726"/>
                                        </p:tgtEl>
                                        <p:attrNameLst>
                                          <p:attrName>style.visibility</p:attrName>
                                        </p:attrNameLst>
                                      </p:cBhvr>
                                      <p:to>
                                        <p:strVal val="visible"/>
                                      </p:to>
                                    </p:set>
                                    <p:animEffect transition="in" filter="wipe(left)">
                                      <p:cBhvr>
                                        <p:cTn id="7" dur="500"/>
                                        <p:tgtEl>
                                          <p:spTgt spid="3072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727"/>
                                        </p:tgtEl>
                                        <p:attrNameLst>
                                          <p:attrName>style.visibility</p:attrName>
                                        </p:attrNameLst>
                                      </p:cBhvr>
                                      <p:to>
                                        <p:strVal val="visible"/>
                                      </p:to>
                                    </p:set>
                                    <p:animEffect transition="in" filter="wipe(left)">
                                      <p:cBhvr>
                                        <p:cTn id="11" dur="500"/>
                                        <p:tgtEl>
                                          <p:spTgt spid="3072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0728"/>
                                        </p:tgtEl>
                                        <p:attrNameLst>
                                          <p:attrName>style.visibility</p:attrName>
                                        </p:attrNameLst>
                                      </p:cBhvr>
                                      <p:to>
                                        <p:strVal val="visible"/>
                                      </p:to>
                                    </p:set>
                                    <p:animEffect transition="in" filter="wipe(left)">
                                      <p:cBhvr>
                                        <p:cTn id="16" dur="500"/>
                                        <p:tgtEl>
                                          <p:spTgt spid="30728"/>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37" fill="hold" grpId="0" nodeType="clickEffect">
                                  <p:stCondLst>
                                    <p:cond delay="0"/>
                                  </p:stCondLst>
                                  <p:childTnLst>
                                    <p:set>
                                      <p:cBhvr>
                                        <p:cTn id="20" dur="1" fill="hold">
                                          <p:stCondLst>
                                            <p:cond delay="0"/>
                                          </p:stCondLst>
                                        </p:cTn>
                                        <p:tgtEl>
                                          <p:spTgt spid="30730"/>
                                        </p:tgtEl>
                                        <p:attrNameLst>
                                          <p:attrName>style.visibility</p:attrName>
                                        </p:attrNameLst>
                                      </p:cBhvr>
                                      <p:to>
                                        <p:strVal val="visible"/>
                                      </p:to>
                                    </p:set>
                                    <p:animEffect transition="in" filter="barn(outVertical)">
                                      <p:cBhvr>
                                        <p:cTn id="21" dur="500"/>
                                        <p:tgtEl>
                                          <p:spTgt spid="30730"/>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37" fill="hold" grpId="0" nodeType="clickEffect">
                                  <p:stCondLst>
                                    <p:cond delay="0"/>
                                  </p:stCondLst>
                                  <p:childTnLst>
                                    <p:set>
                                      <p:cBhvr>
                                        <p:cTn id="25" dur="1" fill="hold">
                                          <p:stCondLst>
                                            <p:cond delay="0"/>
                                          </p:stCondLst>
                                        </p:cTn>
                                        <p:tgtEl>
                                          <p:spTgt spid="30731"/>
                                        </p:tgtEl>
                                        <p:attrNameLst>
                                          <p:attrName>style.visibility</p:attrName>
                                        </p:attrNameLst>
                                      </p:cBhvr>
                                      <p:to>
                                        <p:strVal val="visible"/>
                                      </p:to>
                                    </p:set>
                                    <p:animEffect transition="in" filter="barn(outVertical)">
                                      <p:cBhvr>
                                        <p:cTn id="26" dur="500"/>
                                        <p:tgtEl>
                                          <p:spTgt spid="3073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0732"/>
                                        </p:tgtEl>
                                        <p:attrNameLst>
                                          <p:attrName>style.visibility</p:attrName>
                                        </p:attrNameLst>
                                      </p:cBhvr>
                                      <p:to>
                                        <p:strVal val="visible"/>
                                      </p:to>
                                    </p:set>
                                    <p:animEffect transition="in" filter="wipe(left)">
                                      <p:cBhvr>
                                        <p:cTn id="31" dur="500"/>
                                        <p:tgtEl>
                                          <p:spTgt spid="3073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30733"/>
                                        </p:tgtEl>
                                        <p:attrNameLst>
                                          <p:attrName>style.visibility</p:attrName>
                                        </p:attrNameLst>
                                      </p:cBhvr>
                                      <p:to>
                                        <p:strVal val="visible"/>
                                      </p:to>
                                    </p:set>
                                    <p:animEffect transition="in" filter="wipe(left)">
                                      <p:cBhvr>
                                        <p:cTn id="36" dur="500"/>
                                        <p:tgtEl>
                                          <p:spTgt spid="30733"/>
                                        </p:tgtEl>
                                      </p:cBhvr>
                                    </p:animEffect>
                                  </p:childTnLst>
                                </p:cTn>
                              </p:par>
                            </p:childTnLst>
                          </p:cTn>
                        </p:par>
                        <p:par>
                          <p:cTn id="37" fill="hold">
                            <p:stCondLst>
                              <p:cond delay="500"/>
                            </p:stCondLst>
                            <p:childTnLst>
                              <p:par>
                                <p:cTn id="38" presetID="1" presetClass="entr" presetSubtype="0" fill="hold" nodeType="afterEffect">
                                  <p:stCondLst>
                                    <p:cond delay="0"/>
                                  </p:stCondLst>
                                  <p:childTnLst>
                                    <p:set>
                                      <p:cBhvr>
                                        <p:cTn id="39" dur="1" fill="hold">
                                          <p:stCondLst>
                                            <p:cond delay="499"/>
                                          </p:stCondLst>
                                        </p:cTn>
                                        <p:tgtEl>
                                          <p:spTgt spid="30738"/>
                                        </p:tgtEl>
                                        <p:attrNameLst>
                                          <p:attrName>style.visibility</p:attrName>
                                        </p:attrNameLst>
                                      </p:cBhvr>
                                      <p:to>
                                        <p:strVal val="visible"/>
                                      </p:to>
                                    </p:set>
                                  </p:childTnLst>
                                </p:cTn>
                              </p:par>
                            </p:childTnLst>
                          </p:cTn>
                        </p:par>
                        <p:par>
                          <p:cTn id="40" fill="hold">
                            <p:stCondLst>
                              <p:cond delay="1000"/>
                            </p:stCondLst>
                            <p:childTnLst>
                              <p:par>
                                <p:cTn id="41" presetID="2" presetClass="entr" presetSubtype="8" fill="hold" nodeType="afterEffect">
                                  <p:stCondLst>
                                    <p:cond delay="0"/>
                                  </p:stCondLst>
                                  <p:childTnLst>
                                    <p:set>
                                      <p:cBhvr>
                                        <p:cTn id="42" dur="1" fill="hold">
                                          <p:stCondLst>
                                            <p:cond delay="0"/>
                                          </p:stCondLst>
                                        </p:cTn>
                                        <p:tgtEl>
                                          <p:spTgt spid="30736"/>
                                        </p:tgtEl>
                                        <p:attrNameLst>
                                          <p:attrName>style.visibility</p:attrName>
                                        </p:attrNameLst>
                                      </p:cBhvr>
                                      <p:to>
                                        <p:strVal val="visible"/>
                                      </p:to>
                                    </p:set>
                                    <p:anim calcmode="lin" valueType="num">
                                      <p:cBhvr additive="base">
                                        <p:cTn id="43" dur="500" fill="hold"/>
                                        <p:tgtEl>
                                          <p:spTgt spid="30736"/>
                                        </p:tgtEl>
                                        <p:attrNameLst>
                                          <p:attrName>ppt_x</p:attrName>
                                        </p:attrNameLst>
                                      </p:cBhvr>
                                      <p:tavLst>
                                        <p:tav tm="0">
                                          <p:val>
                                            <p:strVal val="0-#ppt_w/2"/>
                                          </p:val>
                                        </p:tav>
                                        <p:tav tm="100000">
                                          <p:val>
                                            <p:strVal val="#ppt_x"/>
                                          </p:val>
                                        </p:tav>
                                      </p:tavLst>
                                    </p:anim>
                                    <p:anim calcmode="lin" valueType="num">
                                      <p:cBhvr additive="base">
                                        <p:cTn id="44" dur="500" fill="hold"/>
                                        <p:tgtEl>
                                          <p:spTgt spid="30736"/>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30743"/>
                                        </p:tgtEl>
                                        <p:attrNameLst>
                                          <p:attrName>style.visibility</p:attrName>
                                        </p:attrNameLst>
                                      </p:cBhvr>
                                      <p:to>
                                        <p:strVal val="visible"/>
                                      </p:to>
                                    </p:set>
                                    <p:anim calcmode="lin" valueType="num">
                                      <p:cBhvr additive="base">
                                        <p:cTn id="49" dur="500" fill="hold"/>
                                        <p:tgtEl>
                                          <p:spTgt spid="30743"/>
                                        </p:tgtEl>
                                        <p:attrNameLst>
                                          <p:attrName>ppt_x</p:attrName>
                                        </p:attrNameLst>
                                      </p:cBhvr>
                                      <p:tavLst>
                                        <p:tav tm="0">
                                          <p:val>
                                            <p:strVal val="0-#ppt_w/2"/>
                                          </p:val>
                                        </p:tav>
                                        <p:tav tm="100000">
                                          <p:val>
                                            <p:strVal val="#ppt_x"/>
                                          </p:val>
                                        </p:tav>
                                      </p:tavLst>
                                    </p:anim>
                                    <p:anim calcmode="lin" valueType="num">
                                      <p:cBhvr additive="base">
                                        <p:cTn id="50" dur="500" fill="hold"/>
                                        <p:tgtEl>
                                          <p:spTgt spid="3074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6" grpId="0" autoUpdateAnimBg="0"/>
      <p:bldP spid="30727" grpId="0" autoUpdateAnimBg="0"/>
      <p:bldP spid="30728" grpId="0" autoUpdateAnimBg="0"/>
      <p:bldP spid="30730" grpId="0" autoUpdateAnimBg="0"/>
      <p:bldP spid="30731" grpId="0" autoUpdateAnimBg="0"/>
      <p:bldP spid="30732" grpId="0" autoUpdateAnimBg="0"/>
      <p:bldP spid="30733" grpId="0" autoUpdateAnimBg="0"/>
      <p:bldP spid="30743"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9874" name="Rectangle 3"/>
          <p:cNvSpPr>
            <a:spLocks noGrp="1" noChangeArrowheads="1"/>
          </p:cNvSpPr>
          <p:nvPr>
            <p:ph type="body" idx="4294967295"/>
          </p:nvPr>
        </p:nvSpPr>
        <p:spPr>
          <a:xfrm>
            <a:off x="656924" y="1160646"/>
            <a:ext cx="7772400" cy="2641333"/>
          </a:xfrm>
          <a:prstGeom prst="rect">
            <a:avLst/>
          </a:prstGeom>
        </p:spPr>
        <p:txBody>
          <a:bodyPr/>
          <a:lstStyle/>
          <a:p>
            <a:pPr eaLnBrk="1" hangingPunct="1">
              <a:buFontTx/>
              <a:buNone/>
            </a:pPr>
            <a:r>
              <a:rPr lang="zh-CN" altLang="en-US" sz="2400" dirty="0">
                <a:solidFill>
                  <a:srgbClr val="0000FF"/>
                </a:solidFill>
                <a:latin typeface="黑体" panose="02010609060101010101" pitchFamily="49" charset="-122"/>
                <a:ea typeface="黑体" panose="02010609060101010101" pitchFamily="49" charset="-122"/>
              </a:rPr>
              <a:t>二</a:t>
            </a:r>
            <a:r>
              <a:rPr lang="zh-CN" altLang="en-US" sz="2400" dirty="0" smtClean="0">
                <a:solidFill>
                  <a:srgbClr val="0000FF"/>
                </a:solidFill>
                <a:latin typeface="黑体" panose="02010609060101010101" pitchFamily="49" charset="-122"/>
                <a:ea typeface="黑体" panose="02010609060101010101" pitchFamily="49" charset="-122"/>
              </a:rPr>
              <a:t>、滑动摩擦</a:t>
            </a:r>
            <a:r>
              <a:rPr lang="zh-CN" altLang="en-US" sz="2400" dirty="0">
                <a:solidFill>
                  <a:srgbClr val="0000FF"/>
                </a:solidFill>
                <a:latin typeface="黑体" panose="02010609060101010101" pitchFamily="49" charset="-122"/>
                <a:ea typeface="黑体" panose="02010609060101010101" pitchFamily="49" charset="-122"/>
              </a:rPr>
              <a:t>的</a:t>
            </a:r>
            <a:r>
              <a:rPr lang="zh-CN" altLang="en-US" sz="2400" dirty="0" smtClean="0">
                <a:solidFill>
                  <a:srgbClr val="0000FF"/>
                </a:solidFill>
                <a:latin typeface="黑体" panose="02010609060101010101" pitchFamily="49" charset="-122"/>
                <a:ea typeface="黑体" panose="02010609060101010101" pitchFamily="49" charset="-122"/>
              </a:rPr>
              <a:t>种类</a:t>
            </a:r>
            <a:endParaRPr lang="zh-CN" altLang="en-US" b="1" dirty="0"/>
          </a:p>
          <a:p>
            <a:pPr eaLnBrk="1" hangingPunct="1">
              <a:buFontTx/>
              <a:buNone/>
            </a:pPr>
            <a:endParaRPr lang="zh-CN" altLang="en-US" b="1" dirty="0"/>
          </a:p>
          <a:p>
            <a:pPr eaLnBrk="1" hangingPunct="1">
              <a:buFontTx/>
              <a:buNone/>
            </a:pPr>
            <a:endParaRPr lang="en-US" b="1" dirty="0"/>
          </a:p>
        </p:txBody>
      </p:sp>
      <p:graphicFrame>
        <p:nvGraphicFramePr>
          <p:cNvPr id="79875" name="Object 3" descr="蓝色砂纸"/>
          <p:cNvGraphicFramePr>
            <a:graphicFrameLocks noChangeAspect="1"/>
          </p:cNvGraphicFramePr>
          <p:nvPr/>
        </p:nvGraphicFramePr>
        <p:xfrm>
          <a:off x="635000" y="1818005"/>
          <a:ext cx="7963535" cy="1701165"/>
        </p:xfrm>
        <a:graphic>
          <a:graphicData uri="http://schemas.openxmlformats.org/presentationml/2006/ole">
            <mc:AlternateContent xmlns:mc="http://schemas.openxmlformats.org/markup-compatibility/2006">
              <mc:Choice xmlns:v="urn:schemas-microsoft-com:vml" Requires="v">
                <p:oleObj spid="_x0000_s4105" name="公式" r:id="rId1" imgW="4470400" imgH="939800" progId="Equation.3">
                  <p:embed/>
                </p:oleObj>
              </mc:Choice>
              <mc:Fallback>
                <p:oleObj name="公式" r:id="rId1" imgW="4470400" imgH="939800" progId="Equation.3">
                  <p:embed/>
                  <p:pic>
                    <p:nvPicPr>
                      <p:cNvPr id="0" name="图片 4104"/>
                      <p:cNvPicPr>
                        <a:picLocks noChangeAspect="1" noChangeArrowheads="1"/>
                      </p:cNvPicPr>
                      <p:nvPr/>
                    </p:nvPicPr>
                    <p:blipFill>
                      <a:blip r:embed="rId2"/>
                      <a:srcRect/>
                      <a:stretch>
                        <a:fillRect/>
                      </a:stretch>
                    </p:blipFill>
                    <p:spPr bwMode="auto">
                      <a:xfrm>
                        <a:off x="635000" y="1818005"/>
                        <a:ext cx="7963535" cy="1701165"/>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5400000" scaled="1"/>
                        <a:tileRect/>
                      </a:gradFill>
                      <a:ln>
                        <a:noFill/>
                      </a:ln>
                    </p:spPr>
                  </p:pic>
                </p:oleObj>
              </mc:Fallback>
            </mc:AlternateContent>
          </a:graphicData>
        </a:graphic>
      </p:graphicFrame>
      <p:pic>
        <p:nvPicPr>
          <p:cNvPr id="50" name="Picture 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667" y="4182344"/>
            <a:ext cx="8175625" cy="134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 name="矩形 21"/>
          <p:cNvSpPr>
            <a:spLocks noChangeArrowheads="1"/>
          </p:cNvSpPr>
          <p:nvPr/>
        </p:nvSpPr>
        <p:spPr bwMode="auto">
          <a:xfrm>
            <a:off x="747914" y="5573295"/>
            <a:ext cx="1031051"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dirty="0">
                <a:solidFill>
                  <a:srgbClr val="C00000"/>
                </a:solidFill>
                <a:latin typeface="黑体" panose="02010609060101010101" pitchFamily="49" charset="-122"/>
                <a:ea typeface="黑体" panose="02010609060101010101" pitchFamily="49" charset="-122"/>
              </a:rPr>
              <a:t>干摩擦</a:t>
            </a:r>
            <a:endParaRPr lang="zh-CN" altLang="en-US" dirty="0">
              <a:solidFill>
                <a:srgbClr val="C00000"/>
              </a:solidFill>
              <a:latin typeface="黑体" panose="02010609060101010101" pitchFamily="49" charset="-122"/>
              <a:ea typeface="黑体" panose="02010609060101010101" pitchFamily="49" charset="-122"/>
            </a:endParaRPr>
          </a:p>
        </p:txBody>
      </p:sp>
      <p:sp>
        <p:nvSpPr>
          <p:cNvPr id="53" name="矩形 22"/>
          <p:cNvSpPr>
            <a:spLocks noChangeArrowheads="1"/>
          </p:cNvSpPr>
          <p:nvPr/>
        </p:nvSpPr>
        <p:spPr bwMode="auto">
          <a:xfrm>
            <a:off x="2911876" y="5570220"/>
            <a:ext cx="131318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dirty="0">
                <a:solidFill>
                  <a:srgbClr val="C00000"/>
                </a:solidFill>
                <a:latin typeface="黑体" panose="02010609060101010101" pitchFamily="49" charset="-122"/>
                <a:ea typeface="黑体" panose="02010609060101010101" pitchFamily="49" charset="-122"/>
              </a:rPr>
              <a:t>边界摩擦</a:t>
            </a:r>
            <a:endParaRPr lang="zh-CN" altLang="en-US" dirty="0">
              <a:solidFill>
                <a:srgbClr val="C00000"/>
              </a:solidFill>
              <a:latin typeface="黑体" panose="02010609060101010101" pitchFamily="49" charset="-122"/>
              <a:ea typeface="黑体" panose="02010609060101010101" pitchFamily="49" charset="-122"/>
            </a:endParaRPr>
          </a:p>
        </p:txBody>
      </p:sp>
      <p:sp>
        <p:nvSpPr>
          <p:cNvPr id="54" name="矩形 23"/>
          <p:cNvSpPr>
            <a:spLocks noChangeArrowheads="1"/>
          </p:cNvSpPr>
          <p:nvPr/>
        </p:nvSpPr>
        <p:spPr bwMode="auto">
          <a:xfrm>
            <a:off x="5089726" y="5576771"/>
            <a:ext cx="131318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dirty="0">
                <a:solidFill>
                  <a:srgbClr val="C00000"/>
                </a:solidFill>
                <a:latin typeface="黑体" panose="02010609060101010101" pitchFamily="49" charset="-122"/>
                <a:ea typeface="黑体" panose="02010609060101010101" pitchFamily="49" charset="-122"/>
              </a:rPr>
              <a:t>流体摩擦</a:t>
            </a:r>
            <a:endParaRPr lang="zh-CN" altLang="en-US" dirty="0">
              <a:solidFill>
                <a:srgbClr val="C00000"/>
              </a:solidFill>
              <a:latin typeface="黑体" panose="02010609060101010101" pitchFamily="49" charset="-122"/>
              <a:ea typeface="黑体" panose="02010609060101010101" pitchFamily="49" charset="-122"/>
            </a:endParaRPr>
          </a:p>
        </p:txBody>
      </p:sp>
      <p:sp>
        <p:nvSpPr>
          <p:cNvPr id="55" name="矩形 24"/>
          <p:cNvSpPr>
            <a:spLocks noChangeArrowheads="1"/>
          </p:cNvSpPr>
          <p:nvPr/>
        </p:nvSpPr>
        <p:spPr bwMode="auto">
          <a:xfrm>
            <a:off x="7239100" y="5560996"/>
            <a:ext cx="131318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dirty="0">
                <a:solidFill>
                  <a:srgbClr val="C00000"/>
                </a:solidFill>
                <a:latin typeface="黑体" panose="02010609060101010101" pitchFamily="49" charset="-122"/>
                <a:ea typeface="黑体" panose="02010609060101010101" pitchFamily="49" charset="-122"/>
              </a:rPr>
              <a:t>混合摩擦</a:t>
            </a:r>
            <a:endParaRPr lang="zh-CN" altLang="en-US" dirty="0">
              <a:solidFill>
                <a:srgbClr val="C00000"/>
              </a:solidFill>
              <a:latin typeface="黑体" panose="02010609060101010101" pitchFamily="49" charset="-122"/>
              <a:ea typeface="黑体" panose="02010609060101010101" pitchFamily="49" charset="-122"/>
            </a:endParaRPr>
          </a:p>
        </p:txBody>
      </p:sp>
      <p:sp>
        <p:nvSpPr>
          <p:cNvPr id="56" name="Rectangle 4"/>
          <p:cNvSpPr>
            <a:spLocks noChangeArrowheads="1"/>
          </p:cNvSpPr>
          <p:nvPr/>
        </p:nvSpPr>
        <p:spPr bwMode="auto">
          <a:xfrm>
            <a:off x="3276600" y="254000"/>
            <a:ext cx="551688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1.5-1 </a:t>
            </a:r>
            <a:r>
              <a:rPr lang="zh-CN" altLang="en-US" sz="3000" dirty="0">
                <a:solidFill>
                  <a:srgbClr val="CC3300"/>
                </a:solidFill>
                <a:latin typeface="黑体" panose="02010609060101010101" pitchFamily="49" charset="-122"/>
                <a:ea typeface="黑体" panose="02010609060101010101" pitchFamily="49" charset="-122"/>
              </a:rPr>
              <a:t>摩擦的种类及其基本性质</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57"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 name="文本框 1"/>
          <p:cNvSpPr txBox="1"/>
          <p:nvPr/>
        </p:nvSpPr>
        <p:spPr>
          <a:xfrm>
            <a:off x="7477760" y="1748155"/>
            <a:ext cx="1372870" cy="429895"/>
          </a:xfrm>
          <a:prstGeom prst="rect">
            <a:avLst/>
          </a:prstGeom>
          <a:noFill/>
        </p:spPr>
        <p:txBody>
          <a:bodyPr wrap="square" rtlCol="0" anchor="t">
            <a:spAutoFit/>
          </a:bodyPr>
          <a:p>
            <a:pPr eaLnBrk="1" hangingPunct="1">
              <a:buFontTx/>
              <a:buNone/>
            </a:pPr>
            <a:r>
              <a:rPr lang="zh-CN" altLang="en-US" dirty="0">
                <a:solidFill>
                  <a:srgbClr val="FF0000"/>
                </a:solidFill>
                <a:latin typeface="华文中宋" panose="02010600040101010101" pitchFamily="2" charset="-122"/>
                <a:sym typeface="+mn-ea"/>
              </a:rPr>
              <a:t>膜厚比</a:t>
            </a:r>
            <a:endParaRPr lang="zh-CN" altLang="en-US" dirty="0">
              <a:solidFill>
                <a:srgbClr val="FF0000"/>
              </a:solidFill>
              <a:latin typeface="华文中宋" panose="02010600040101010101" pitchFamily="2" charset="-122"/>
              <a:sym typeface="+mn-ea"/>
            </a:endParaRP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9874">
                                            <p:txEl>
                                              <p:pRg st="0" end="0"/>
                                            </p:txEl>
                                          </p:spTgt>
                                        </p:tgtEl>
                                        <p:attrNameLst>
                                          <p:attrName>style.visibility</p:attrName>
                                        </p:attrNameLst>
                                      </p:cBhvr>
                                      <p:to>
                                        <p:strVal val="visible"/>
                                      </p:to>
                                    </p:set>
                                    <p:anim calcmode="lin" valueType="num">
                                      <p:cBhvr additive="base">
                                        <p:cTn id="7" dur="500" fill="hold"/>
                                        <p:tgtEl>
                                          <p:spTgt spid="79874">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987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79875"/>
                                        </p:tgtEl>
                                        <p:attrNameLst>
                                          <p:attrName>style.visibility</p:attrName>
                                        </p:attrNameLst>
                                      </p:cBhvr>
                                      <p:to>
                                        <p:strVal val="visible"/>
                                      </p:to>
                                    </p:set>
                                    <p:animEffect transition="in" filter="box(out)">
                                      <p:cBhvr>
                                        <p:cTn id="13" dur="500"/>
                                        <p:tgtEl>
                                          <p:spTgt spid="7987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2">
                                            <p:txEl>
                                              <p:pRg st="0" end="0"/>
                                            </p:txEl>
                                          </p:spTgt>
                                        </p:tgtEl>
                                        <p:attrNameLst>
                                          <p:attrName>style.visibility</p:attrName>
                                        </p:attrNameLst>
                                      </p:cBhvr>
                                      <p:to>
                                        <p:strVal val="visible"/>
                                      </p:to>
                                    </p:set>
                                    <p:animEffect transition="in" filter="wipe(down)">
                                      <p:cBhvr>
                                        <p:cTn id="18" dur="500"/>
                                        <p:tgtEl>
                                          <p:spTgt spid="2">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50"/>
                                        </p:tgtEl>
                                        <p:attrNameLst>
                                          <p:attrName>style.visibility</p:attrName>
                                        </p:attrNameLst>
                                      </p:cBhvr>
                                      <p:to>
                                        <p:strVal val="visible"/>
                                      </p:to>
                                    </p:set>
                                    <p:animEffect transition="in" filter="wipe(left)">
                                      <p:cBhvr>
                                        <p:cTn id="23" dur="500"/>
                                        <p:tgtEl>
                                          <p:spTgt spid="5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52"/>
                                        </p:tgtEl>
                                        <p:attrNameLst>
                                          <p:attrName>style.visibility</p:attrName>
                                        </p:attrNameLst>
                                      </p:cBhvr>
                                      <p:to>
                                        <p:strVal val="visible"/>
                                      </p:to>
                                    </p:set>
                                    <p:animEffect transition="in" filter="wipe(left)">
                                      <p:cBhvr>
                                        <p:cTn id="28" dur="500"/>
                                        <p:tgtEl>
                                          <p:spTgt spid="52"/>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53"/>
                                        </p:tgtEl>
                                        <p:attrNameLst>
                                          <p:attrName>style.visibility</p:attrName>
                                        </p:attrNameLst>
                                      </p:cBhvr>
                                      <p:to>
                                        <p:strVal val="visible"/>
                                      </p:to>
                                    </p:set>
                                    <p:animEffect transition="in" filter="wipe(left)">
                                      <p:cBhvr>
                                        <p:cTn id="31" dur="500"/>
                                        <p:tgtEl>
                                          <p:spTgt spid="53"/>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54"/>
                                        </p:tgtEl>
                                        <p:attrNameLst>
                                          <p:attrName>style.visibility</p:attrName>
                                        </p:attrNameLst>
                                      </p:cBhvr>
                                      <p:to>
                                        <p:strVal val="visible"/>
                                      </p:to>
                                    </p:set>
                                    <p:animEffect transition="in" filter="wipe(left)">
                                      <p:cBhvr>
                                        <p:cTn id="34" dur="500"/>
                                        <p:tgtEl>
                                          <p:spTgt spid="54"/>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55"/>
                                        </p:tgtEl>
                                        <p:attrNameLst>
                                          <p:attrName>style.visibility</p:attrName>
                                        </p:attrNameLst>
                                      </p:cBhvr>
                                      <p:to>
                                        <p:strVal val="visible"/>
                                      </p:to>
                                    </p:set>
                                    <p:animEffect transition="in" filter="wipe(left)">
                                      <p:cBhvr>
                                        <p:cTn id="37"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4" grpId="0" autoUpdateAnimBg="0" build="p"/>
      <p:bldP spid="52" grpId="0"/>
      <p:bldP spid="53" grpId="0"/>
      <p:bldP spid="54" grpId="0"/>
      <p:bldP spid="5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4"/>
          <p:cNvSpPr>
            <a:spLocks noChangeArrowheads="1"/>
          </p:cNvSpPr>
          <p:nvPr/>
        </p:nvSpPr>
        <p:spPr bwMode="auto">
          <a:xfrm>
            <a:off x="2933700" y="241300"/>
            <a:ext cx="581660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1.5-1 </a:t>
            </a:r>
            <a:r>
              <a:rPr lang="zh-CN" altLang="en-US" sz="3000" dirty="0">
                <a:solidFill>
                  <a:srgbClr val="CC3300"/>
                </a:solidFill>
                <a:latin typeface="黑体" panose="02010609060101010101" pitchFamily="49" charset="-122"/>
                <a:ea typeface="黑体" panose="02010609060101010101" pitchFamily="49" charset="-122"/>
              </a:rPr>
              <a:t>摩擦的种类及其基本性质</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1028" name="Rectangle 5"/>
          <p:cNvSpPr>
            <a:spLocks noGrp="1" noChangeArrowheads="1"/>
          </p:cNvSpPr>
          <p:nvPr>
            <p:ph type="title"/>
          </p:nvPr>
        </p:nvSpPr>
        <p:spPr bwMode="auto">
          <a:xfrm>
            <a:off x="5867400" y="762000"/>
            <a:ext cx="13716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摩   擦</a:t>
            </a:r>
            <a:r>
              <a:rPr lang="en-US" altLang="zh-CN" sz="800" smtClean="0">
                <a:solidFill>
                  <a:schemeClr val="bg1"/>
                </a:solidFill>
                <a:latin typeface="华文中宋" panose="02010600040101010101" pitchFamily="2" charset="-122"/>
                <a:ea typeface="华文中宋" panose="02010600040101010101" pitchFamily="2" charset="-122"/>
              </a:rPr>
              <a:t>1</a:t>
            </a:r>
            <a:endParaRPr lang="en-US" altLang="zh-CN" sz="800" smtClean="0">
              <a:solidFill>
                <a:schemeClr val="bg1"/>
              </a:solidFill>
              <a:latin typeface="华文中宋" panose="02010600040101010101" pitchFamily="2" charset="-122"/>
              <a:ea typeface="华文中宋" panose="02010600040101010101" pitchFamily="2" charset="-122"/>
            </a:endParaRPr>
          </a:p>
        </p:txBody>
      </p:sp>
      <p:sp>
        <p:nvSpPr>
          <p:cNvPr id="30726" name="Text Box 6"/>
          <p:cNvSpPr txBox="1">
            <a:spLocks noChangeArrowheads="1"/>
          </p:cNvSpPr>
          <p:nvPr/>
        </p:nvSpPr>
        <p:spPr bwMode="auto">
          <a:xfrm>
            <a:off x="158750" y="795338"/>
            <a:ext cx="322707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400" dirty="0">
                <a:solidFill>
                  <a:srgbClr val="0000FF"/>
                </a:solidFill>
                <a:latin typeface="黑体" panose="02010609060101010101" pitchFamily="49" charset="-122"/>
                <a:ea typeface="黑体" panose="02010609060101010101" pitchFamily="49" charset="-122"/>
                <a:cs typeface="黑体" panose="02010609060101010101" pitchFamily="49" charset="-122"/>
              </a:rPr>
              <a:t>三、</a:t>
            </a:r>
            <a:r>
              <a:rPr lang="en-US" altLang="zh-CN" sz="2400" dirty="0">
                <a:solidFill>
                  <a:srgbClr val="0000FF"/>
                </a:solidFill>
                <a:latin typeface="黑体" panose="02010609060101010101" pitchFamily="49" charset="-122"/>
                <a:ea typeface="黑体" panose="02010609060101010101" pitchFamily="49" charset="-122"/>
                <a:cs typeface="黑体" panose="02010609060101010101" pitchFamily="49" charset="-122"/>
              </a:rPr>
              <a:t> 4</a:t>
            </a:r>
            <a:r>
              <a:rPr lang="zh-CN" altLang="en-US" sz="2400" dirty="0">
                <a:solidFill>
                  <a:srgbClr val="0000FF"/>
                </a:solidFill>
                <a:latin typeface="黑体" panose="02010609060101010101" pitchFamily="49" charset="-122"/>
                <a:ea typeface="黑体" panose="02010609060101010101" pitchFamily="49" charset="-122"/>
                <a:cs typeface="黑体" panose="02010609060101010101" pitchFamily="49" charset="-122"/>
              </a:rPr>
              <a:t>种滑动摩擦状态</a:t>
            </a:r>
            <a:endParaRPr lang="zh-CN" altLang="en-US" sz="2400" dirty="0">
              <a:solidFill>
                <a:srgbClr val="0000FF"/>
              </a:solidFill>
              <a:latin typeface="黑体" panose="02010609060101010101" pitchFamily="49" charset="-122"/>
              <a:ea typeface="黑体" panose="02010609060101010101" pitchFamily="49" charset="-122"/>
              <a:cs typeface="黑体" panose="02010609060101010101" pitchFamily="49" charset="-122"/>
            </a:endParaRPr>
          </a:p>
        </p:txBody>
      </p:sp>
      <p:sp>
        <p:nvSpPr>
          <p:cNvPr id="30727" name="Text Box 7"/>
          <p:cNvSpPr txBox="1">
            <a:spLocks noChangeArrowheads="1"/>
          </p:cNvSpPr>
          <p:nvPr/>
        </p:nvSpPr>
        <p:spPr bwMode="auto">
          <a:xfrm>
            <a:off x="674688" y="1231900"/>
            <a:ext cx="8215312" cy="94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5000"/>
              </a:lnSpc>
            </a:pPr>
            <a:r>
              <a:rPr lang="en-US" altLang="zh-CN" dirty="0">
                <a:solidFill>
                  <a:srgbClr val="000099"/>
                </a:solidFill>
                <a:latin typeface="黑体" panose="02010609060101010101" pitchFamily="49" charset="-122"/>
                <a:ea typeface="黑体" panose="02010609060101010101" pitchFamily="49" charset="-122"/>
              </a:rPr>
              <a:t>1</a:t>
            </a:r>
            <a:r>
              <a:rPr lang="zh-CN" altLang="en-US" dirty="0">
                <a:solidFill>
                  <a:srgbClr val="000099"/>
                </a:solidFill>
                <a:latin typeface="黑体" panose="02010609060101010101" pitchFamily="49" charset="-122"/>
                <a:ea typeface="黑体" panose="02010609060101010101" pitchFamily="49" charset="-122"/>
              </a:rPr>
              <a:t> ．</a:t>
            </a:r>
            <a:r>
              <a:rPr lang="zh-CN" altLang="en-US" dirty="0">
                <a:solidFill>
                  <a:srgbClr val="FF0000"/>
                </a:solidFill>
                <a:latin typeface="黑体" panose="02010609060101010101" pitchFamily="49" charset="-122"/>
                <a:ea typeface="黑体" panose="02010609060101010101" pitchFamily="49" charset="-122"/>
              </a:rPr>
              <a:t>干摩擦</a:t>
            </a:r>
            <a:r>
              <a:rPr lang="zh-CN" altLang="en-US" dirty="0">
                <a:solidFill>
                  <a:srgbClr val="000099"/>
                </a:solidFill>
                <a:latin typeface="黑体" panose="02010609060101010101" pitchFamily="49" charset="-122"/>
                <a:ea typeface="黑体" panose="02010609060101010101" pitchFamily="49" charset="-122"/>
              </a:rPr>
              <a:t>是指在完全不存在其他介质的清洁表面间的摩擦。工程设计中，通常把未经人为润滑的摩擦状态当作“干”摩擦处理。</a:t>
            </a:r>
            <a:endParaRPr lang="zh-CN" altLang="en-US" dirty="0">
              <a:solidFill>
                <a:srgbClr val="000099"/>
              </a:solidFill>
              <a:latin typeface="黑体" panose="02010609060101010101" pitchFamily="49" charset="-122"/>
              <a:ea typeface="黑体" panose="02010609060101010101" pitchFamily="49" charset="-122"/>
            </a:endParaRPr>
          </a:p>
        </p:txBody>
      </p:sp>
      <p:sp>
        <p:nvSpPr>
          <p:cNvPr id="30732" name="Text Box 12"/>
          <p:cNvSpPr txBox="1">
            <a:spLocks noChangeArrowheads="1"/>
          </p:cNvSpPr>
          <p:nvPr/>
        </p:nvSpPr>
        <p:spPr bwMode="auto">
          <a:xfrm>
            <a:off x="1131888" y="2162175"/>
            <a:ext cx="5567362"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rPr>
              <a:t>修正后的粘附理论认为金属表面间的摩擦系数为</a:t>
            </a:r>
            <a:endParaRPr lang="zh-CN" altLang="en-US" sz="2000" dirty="0">
              <a:solidFill>
                <a:srgbClr val="000099"/>
              </a:solidFill>
            </a:endParaRPr>
          </a:p>
        </p:txBody>
      </p:sp>
      <p:pic>
        <p:nvPicPr>
          <p:cNvPr id="30736" name="Picture 16"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20100"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38" name="Picture 18" descr="NEXT1">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5666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3" name="Text Box 23"/>
          <p:cNvSpPr txBox="1">
            <a:spLocks noChangeArrowheads="1"/>
          </p:cNvSpPr>
          <p:nvPr/>
        </p:nvSpPr>
        <p:spPr bwMode="auto">
          <a:xfrm>
            <a:off x="6488113" y="6189663"/>
            <a:ext cx="2682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1035"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graphicFrame>
        <p:nvGraphicFramePr>
          <p:cNvPr id="1026" name="Object 1"/>
          <p:cNvGraphicFramePr>
            <a:graphicFrameLocks noChangeAspect="1"/>
          </p:cNvGraphicFramePr>
          <p:nvPr/>
        </p:nvGraphicFramePr>
        <p:xfrm>
          <a:off x="1889359" y="2654400"/>
          <a:ext cx="5041900" cy="690563"/>
        </p:xfrm>
        <a:graphic>
          <a:graphicData uri="http://schemas.openxmlformats.org/presentationml/2006/ole">
            <mc:AlternateContent xmlns:mc="http://schemas.openxmlformats.org/markup-compatibility/2006">
              <mc:Choice xmlns:v="urn:schemas-microsoft-com:vml" Requires="v">
                <p:oleObj spid="_x0000_s1053" name="公式" r:id="rId4" imgW="3060700" imgH="419100" progId="Equation.3">
                  <p:embed/>
                </p:oleObj>
              </mc:Choice>
              <mc:Fallback>
                <p:oleObj name="公式" r:id="rId4" imgW="3060700" imgH="419100"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89359" y="2654400"/>
                        <a:ext cx="5041900" cy="690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6" name="矩形 26"/>
          <p:cNvSpPr>
            <a:spLocks noChangeArrowheads="1"/>
          </p:cNvSpPr>
          <p:nvPr/>
        </p:nvSpPr>
        <p:spPr bwMode="auto">
          <a:xfrm>
            <a:off x="611683" y="3717047"/>
            <a:ext cx="8105775" cy="937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5000"/>
              </a:lnSpc>
            </a:pPr>
            <a:r>
              <a:rPr lang="en-US" altLang="zh-CN" dirty="0">
                <a:solidFill>
                  <a:srgbClr val="000099"/>
                </a:solidFill>
                <a:latin typeface="黑体" panose="02010609060101010101" pitchFamily="49" charset="-122"/>
                <a:ea typeface="黑体" panose="02010609060101010101" pitchFamily="49" charset="-122"/>
              </a:rPr>
              <a:t>2</a:t>
            </a:r>
            <a:r>
              <a:rPr lang="zh-CN" altLang="en-US" dirty="0">
                <a:solidFill>
                  <a:srgbClr val="000099"/>
                </a:solidFill>
                <a:latin typeface="黑体" panose="02010609060101010101" pitchFamily="49" charset="-122"/>
                <a:ea typeface="黑体" panose="02010609060101010101" pitchFamily="49" charset="-122"/>
              </a:rPr>
              <a:t> ．</a:t>
            </a:r>
            <a:r>
              <a:rPr lang="zh-CN" altLang="en-US" dirty="0">
                <a:solidFill>
                  <a:srgbClr val="FF0000"/>
                </a:solidFill>
                <a:latin typeface="黑体" panose="02010609060101010101" pitchFamily="49" charset="-122"/>
                <a:ea typeface="黑体" panose="02010609060101010101" pitchFamily="49" charset="-122"/>
              </a:rPr>
              <a:t>边界摩擦</a:t>
            </a:r>
            <a:r>
              <a:rPr lang="en-US" altLang="en-US" dirty="0">
                <a:solidFill>
                  <a:srgbClr val="FF0000"/>
                </a:solidFill>
                <a:latin typeface="黑体" panose="02010609060101010101" pitchFamily="49" charset="-122"/>
                <a:ea typeface="黑体" panose="02010609060101010101" pitchFamily="49" charset="-122"/>
              </a:rPr>
              <a:t>(</a:t>
            </a:r>
            <a:r>
              <a:rPr lang="zh-CN" altLang="en-US" dirty="0">
                <a:solidFill>
                  <a:srgbClr val="FF0000"/>
                </a:solidFill>
                <a:latin typeface="黑体" panose="02010609060101010101" pitchFamily="49" charset="-122"/>
                <a:ea typeface="黑体" panose="02010609060101010101" pitchFamily="49" charset="-122"/>
              </a:rPr>
              <a:t>边界润滑</a:t>
            </a:r>
            <a:r>
              <a:rPr lang="en-US" altLang="en-US" dirty="0">
                <a:solidFill>
                  <a:srgbClr val="FF0000"/>
                </a:solidFill>
                <a:latin typeface="黑体" panose="02010609060101010101" pitchFamily="49" charset="-122"/>
                <a:ea typeface="黑体" panose="02010609060101010101" pitchFamily="49" charset="-122"/>
              </a:rPr>
              <a:t>)</a:t>
            </a:r>
            <a:r>
              <a:rPr lang="zh-CN" altLang="en-US" dirty="0">
                <a:solidFill>
                  <a:srgbClr val="000099"/>
                </a:solidFill>
                <a:latin typeface="黑体" panose="02010609060101010101" pitchFamily="49" charset="-122"/>
                <a:ea typeface="黑体" panose="02010609060101010101" pitchFamily="49" charset="-122"/>
              </a:rPr>
              <a:t>运动副的摩擦表面被吸附在表面的边界膜隔开、摩擦性质取决于边界膜和表面吸附性能时的摩擦。</a:t>
            </a:r>
            <a:endParaRPr lang="zh-CN" altLang="en-US" dirty="0">
              <a:solidFill>
                <a:srgbClr val="000099"/>
              </a:solidFill>
              <a:latin typeface="黑体" panose="02010609060101010101" pitchFamily="49" charset="-122"/>
              <a:ea typeface="黑体" panose="02010609060101010101" pitchFamily="49" charset="-122"/>
            </a:endParaRPr>
          </a:p>
        </p:txBody>
      </p:sp>
      <p:sp>
        <p:nvSpPr>
          <p:cNvPr id="1037" name="Rectangle 54"/>
          <p:cNvSpPr>
            <a:spLocks noChangeArrowheads="1"/>
          </p:cNvSpPr>
          <p:nvPr/>
        </p:nvSpPr>
        <p:spPr bwMode="auto">
          <a:xfrm>
            <a:off x="756920" y="4892993"/>
            <a:ext cx="7581265" cy="861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indent="228600"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5000"/>
              </a:lnSpc>
            </a:pPr>
            <a:r>
              <a:rPr lang="zh-CN" altLang="en-US" sz="2000" dirty="0">
                <a:solidFill>
                  <a:srgbClr val="000099"/>
                </a:solidFill>
                <a:latin typeface="华文中宋" panose="02010600040101010101" pitchFamily="2" charset="-122"/>
              </a:rPr>
              <a:t>    合理选择摩擦副材料和润滑剂，降低表面粗糙度值，在润滑剂中加入适量的油性添加剂和极压添加剂，都能降低摩擦系数。</a:t>
            </a:r>
            <a:endParaRPr lang="zh-CN" altLang="en-US" sz="2000" dirty="0">
              <a:solidFill>
                <a:srgbClr val="000099"/>
              </a:solidFill>
              <a:latin typeface="华文中宋" panose="02010600040101010101" pitchFamily="2" charset="-122"/>
            </a:endParaRPr>
          </a:p>
        </p:txBody>
      </p:sp>
      <p:sp>
        <p:nvSpPr>
          <p:cNvPr id="1040"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726"/>
                                        </p:tgtEl>
                                        <p:attrNameLst>
                                          <p:attrName>style.visibility</p:attrName>
                                        </p:attrNameLst>
                                      </p:cBhvr>
                                      <p:to>
                                        <p:strVal val="visible"/>
                                      </p:to>
                                    </p:set>
                                    <p:animEffect transition="in" filter="wipe(left)">
                                      <p:cBhvr>
                                        <p:cTn id="7" dur="500"/>
                                        <p:tgtEl>
                                          <p:spTgt spid="3072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727"/>
                                        </p:tgtEl>
                                        <p:attrNameLst>
                                          <p:attrName>style.visibility</p:attrName>
                                        </p:attrNameLst>
                                      </p:cBhvr>
                                      <p:to>
                                        <p:strVal val="visible"/>
                                      </p:to>
                                    </p:set>
                                    <p:animEffect transition="in" filter="wipe(left)">
                                      <p:cBhvr>
                                        <p:cTn id="11" dur="500"/>
                                        <p:tgtEl>
                                          <p:spTgt spid="3072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0732"/>
                                        </p:tgtEl>
                                        <p:attrNameLst>
                                          <p:attrName>style.visibility</p:attrName>
                                        </p:attrNameLst>
                                      </p:cBhvr>
                                      <p:to>
                                        <p:strVal val="visible"/>
                                      </p:to>
                                    </p:set>
                                    <p:animEffect transition="in" filter="wipe(left)">
                                      <p:cBhvr>
                                        <p:cTn id="16" dur="500"/>
                                        <p:tgtEl>
                                          <p:spTgt spid="30732"/>
                                        </p:tgtEl>
                                      </p:cBhvr>
                                    </p:animEffect>
                                  </p:childTnLst>
                                </p:cTn>
                              </p:par>
                            </p:childTnLst>
                          </p:cTn>
                        </p:par>
                        <p:par>
                          <p:cTn id="17" fill="hold">
                            <p:stCondLst>
                              <p:cond delay="500"/>
                            </p:stCondLst>
                            <p:childTnLst>
                              <p:par>
                                <p:cTn id="18" presetID="1" presetClass="entr" presetSubtype="0" fill="hold" nodeType="afterEffect">
                                  <p:stCondLst>
                                    <p:cond delay="0"/>
                                  </p:stCondLst>
                                  <p:childTnLst>
                                    <p:set>
                                      <p:cBhvr>
                                        <p:cTn id="19" dur="1" fill="hold">
                                          <p:stCondLst>
                                            <p:cond delay="499"/>
                                          </p:stCondLst>
                                        </p:cTn>
                                        <p:tgtEl>
                                          <p:spTgt spid="3073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1026"/>
                                        </p:tgtEl>
                                        <p:attrNameLst>
                                          <p:attrName>style.visibility</p:attrName>
                                        </p:attrNameLst>
                                      </p:cBhvr>
                                      <p:to>
                                        <p:strVal val="visible"/>
                                      </p:to>
                                    </p:set>
                                    <p:animEffect transition="in" filter="wipe(left)">
                                      <p:cBhvr>
                                        <p:cTn id="24" dur="500"/>
                                        <p:tgtEl>
                                          <p:spTgt spid="1026"/>
                                        </p:tgtEl>
                                      </p:cBhvr>
                                    </p:animEffect>
                                  </p:childTnLst>
                                </p:cTn>
                              </p:par>
                            </p:childTnLst>
                          </p:cTn>
                        </p:par>
                        <p:par>
                          <p:cTn id="25" fill="hold">
                            <p:stCondLst>
                              <p:cond delay="500"/>
                            </p:stCondLst>
                            <p:childTnLst>
                              <p:par>
                                <p:cTn id="26" presetID="2" presetClass="entr" presetSubtype="8" fill="hold" nodeType="afterEffect">
                                  <p:stCondLst>
                                    <p:cond delay="0"/>
                                  </p:stCondLst>
                                  <p:childTnLst>
                                    <p:set>
                                      <p:cBhvr>
                                        <p:cTn id="27" dur="1" fill="hold">
                                          <p:stCondLst>
                                            <p:cond delay="0"/>
                                          </p:stCondLst>
                                        </p:cTn>
                                        <p:tgtEl>
                                          <p:spTgt spid="30736"/>
                                        </p:tgtEl>
                                        <p:attrNameLst>
                                          <p:attrName>style.visibility</p:attrName>
                                        </p:attrNameLst>
                                      </p:cBhvr>
                                      <p:to>
                                        <p:strVal val="visible"/>
                                      </p:to>
                                    </p:set>
                                    <p:anim calcmode="lin" valueType="num">
                                      <p:cBhvr additive="base">
                                        <p:cTn id="28" dur="500" fill="hold"/>
                                        <p:tgtEl>
                                          <p:spTgt spid="30736"/>
                                        </p:tgtEl>
                                        <p:attrNameLst>
                                          <p:attrName>ppt_x</p:attrName>
                                        </p:attrNameLst>
                                      </p:cBhvr>
                                      <p:tavLst>
                                        <p:tav tm="0">
                                          <p:val>
                                            <p:strVal val="0-#ppt_w/2"/>
                                          </p:val>
                                        </p:tav>
                                        <p:tav tm="100000">
                                          <p:val>
                                            <p:strVal val="#ppt_x"/>
                                          </p:val>
                                        </p:tav>
                                      </p:tavLst>
                                    </p:anim>
                                    <p:anim calcmode="lin" valueType="num">
                                      <p:cBhvr additive="base">
                                        <p:cTn id="29" dur="500" fill="hold"/>
                                        <p:tgtEl>
                                          <p:spTgt spid="30736"/>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30743"/>
                                        </p:tgtEl>
                                        <p:attrNameLst>
                                          <p:attrName>style.visibility</p:attrName>
                                        </p:attrNameLst>
                                      </p:cBhvr>
                                      <p:to>
                                        <p:strVal val="visible"/>
                                      </p:to>
                                    </p:set>
                                    <p:anim calcmode="lin" valueType="num">
                                      <p:cBhvr additive="base">
                                        <p:cTn id="34" dur="500" fill="hold"/>
                                        <p:tgtEl>
                                          <p:spTgt spid="30743"/>
                                        </p:tgtEl>
                                        <p:attrNameLst>
                                          <p:attrName>ppt_x</p:attrName>
                                        </p:attrNameLst>
                                      </p:cBhvr>
                                      <p:tavLst>
                                        <p:tav tm="0">
                                          <p:val>
                                            <p:strVal val="0-#ppt_w/2"/>
                                          </p:val>
                                        </p:tav>
                                        <p:tav tm="100000">
                                          <p:val>
                                            <p:strVal val="#ppt_x"/>
                                          </p:val>
                                        </p:tav>
                                      </p:tavLst>
                                    </p:anim>
                                    <p:anim calcmode="lin" valueType="num">
                                      <p:cBhvr additive="base">
                                        <p:cTn id="35" dur="500" fill="hold"/>
                                        <p:tgtEl>
                                          <p:spTgt spid="30743"/>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1036"/>
                                        </p:tgtEl>
                                        <p:attrNameLst>
                                          <p:attrName>style.visibility</p:attrName>
                                        </p:attrNameLst>
                                      </p:cBhvr>
                                      <p:to>
                                        <p:strVal val="visible"/>
                                      </p:to>
                                    </p:set>
                                    <p:animEffect transition="in" filter="wipe(up)">
                                      <p:cBhvr>
                                        <p:cTn id="40" dur="500"/>
                                        <p:tgtEl>
                                          <p:spTgt spid="1036"/>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grpId="0" nodeType="clickEffect">
                                  <p:stCondLst>
                                    <p:cond delay="0"/>
                                  </p:stCondLst>
                                  <p:childTnLst>
                                    <p:set>
                                      <p:cBhvr>
                                        <p:cTn id="44" dur="1" fill="hold">
                                          <p:stCondLst>
                                            <p:cond delay="0"/>
                                          </p:stCondLst>
                                        </p:cTn>
                                        <p:tgtEl>
                                          <p:spTgt spid="1037"/>
                                        </p:tgtEl>
                                        <p:attrNameLst>
                                          <p:attrName>style.visibility</p:attrName>
                                        </p:attrNameLst>
                                      </p:cBhvr>
                                      <p:to>
                                        <p:strVal val="visible"/>
                                      </p:to>
                                    </p:set>
                                    <p:animEffect transition="in" filter="wipe(up)">
                                      <p:cBhvr>
                                        <p:cTn id="45" dur="500"/>
                                        <p:tgtEl>
                                          <p:spTgt spid="10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6" grpId="0" autoUpdateAnimBg="0"/>
      <p:bldP spid="30727" grpId="0" autoUpdateAnimBg="0"/>
      <p:bldP spid="30732" grpId="0" autoUpdateAnimBg="0"/>
      <p:bldP spid="30743" grpId="0" autoUpdateAnimBg="0"/>
      <p:bldP spid="1036" grpId="0"/>
      <p:bldP spid="1037" grpId="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bwMode="auto">
          <a:xfrm>
            <a:off x="7467600" y="762000"/>
            <a:ext cx="9144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摩   擦</a:t>
            </a:r>
            <a:r>
              <a:rPr lang="en-US" altLang="zh-CN" sz="800" smtClean="0">
                <a:solidFill>
                  <a:schemeClr val="bg1"/>
                </a:solidFill>
                <a:latin typeface="华文中宋" panose="02010600040101010101" pitchFamily="2" charset="-122"/>
                <a:ea typeface="华文中宋" panose="02010600040101010101" pitchFamily="2" charset="-122"/>
              </a:rPr>
              <a:t>3</a:t>
            </a:r>
            <a:endParaRPr lang="en-US" altLang="zh-CN" sz="800" smtClean="0">
              <a:solidFill>
                <a:schemeClr val="bg1"/>
              </a:solidFill>
              <a:latin typeface="华文中宋" panose="02010600040101010101" pitchFamily="2" charset="-122"/>
              <a:ea typeface="华文中宋" panose="02010600040101010101" pitchFamily="2" charset="-122"/>
            </a:endParaRPr>
          </a:p>
        </p:txBody>
      </p:sp>
      <p:sp>
        <p:nvSpPr>
          <p:cNvPr id="32774" name="Rectangle 6"/>
          <p:cNvSpPr>
            <a:spLocks noChangeArrowheads="1"/>
          </p:cNvSpPr>
          <p:nvPr/>
        </p:nvSpPr>
        <p:spPr bwMode="auto">
          <a:xfrm>
            <a:off x="351790" y="2944278"/>
            <a:ext cx="8763000" cy="186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buClr>
                <a:srgbClr val="CC3300"/>
              </a:buClr>
              <a:buFont typeface="Wingdings" panose="05000000000000000000" pitchFamily="2" charset="2"/>
              <a:buNone/>
            </a:pPr>
            <a:r>
              <a:rPr lang="zh-CN" altLang="en-US" sz="2400" dirty="0">
                <a:solidFill>
                  <a:srgbClr val="000099"/>
                </a:solidFill>
                <a:latin typeface="黑体" panose="02010609060101010101" pitchFamily="49" charset="-122"/>
                <a:ea typeface="黑体" panose="02010609060101010101" pitchFamily="49" charset="-122"/>
              </a:rPr>
              <a:t>４．</a:t>
            </a:r>
            <a:r>
              <a:rPr lang="zh-CN" altLang="en-US" sz="2400" dirty="0">
                <a:solidFill>
                  <a:srgbClr val="FF0000"/>
                </a:solidFill>
                <a:latin typeface="黑体" panose="02010609060101010101" pitchFamily="49" charset="-122"/>
                <a:ea typeface="黑体" panose="02010609060101010101" pitchFamily="49" charset="-122"/>
              </a:rPr>
              <a:t>混合摩擦</a:t>
            </a:r>
            <a:r>
              <a:rPr lang="zh-CN" altLang="en-US" sz="2400" dirty="0">
                <a:solidFill>
                  <a:srgbClr val="000099"/>
                </a:solidFill>
                <a:latin typeface="黑体" panose="02010609060101010101" pitchFamily="49" charset="-122"/>
                <a:ea typeface="黑体" panose="02010609060101010101" pitchFamily="49" charset="-122"/>
              </a:rPr>
              <a:t>是指摩擦表面间处于边界摩擦和流体摩擦的混合状态。混合摩擦能有效降低摩擦阻力，其摩擦系数比边界摩擦时要小得多，但因表面间仍有轮廓峰的直接接触，所以不可避免地仍有磨损存在。</a:t>
            </a:r>
            <a:endParaRPr lang="zh-CN" altLang="en-US" sz="2400" dirty="0">
              <a:solidFill>
                <a:srgbClr val="000099"/>
              </a:solidFill>
              <a:latin typeface="黑体" panose="02010609060101010101" pitchFamily="49" charset="-122"/>
              <a:ea typeface="黑体" panose="02010609060101010101" pitchFamily="49" charset="-122"/>
            </a:endParaRPr>
          </a:p>
        </p:txBody>
      </p:sp>
      <p:sp>
        <p:nvSpPr>
          <p:cNvPr id="32775" name="Text Box 7"/>
          <p:cNvSpPr txBox="1">
            <a:spLocks noChangeArrowheads="1"/>
          </p:cNvSpPr>
          <p:nvPr/>
        </p:nvSpPr>
        <p:spPr bwMode="auto">
          <a:xfrm>
            <a:off x="365760" y="1048385"/>
            <a:ext cx="8763000" cy="1421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buClr>
                <a:srgbClr val="CC3300"/>
              </a:buClr>
              <a:buFont typeface="Wingdings" panose="05000000000000000000" pitchFamily="2" charset="2"/>
              <a:buNone/>
            </a:pPr>
            <a:r>
              <a:rPr lang="zh-CN" altLang="en-US" sz="2400" dirty="0">
                <a:solidFill>
                  <a:srgbClr val="000099"/>
                </a:solidFill>
                <a:latin typeface="黑体" panose="02010609060101010101" pitchFamily="49" charset="-122"/>
                <a:ea typeface="黑体" panose="02010609060101010101" pitchFamily="49" charset="-122"/>
              </a:rPr>
              <a:t>３．</a:t>
            </a:r>
            <a:r>
              <a:rPr lang="zh-CN" altLang="en-US" sz="2400" dirty="0">
                <a:solidFill>
                  <a:srgbClr val="FF0000"/>
                </a:solidFill>
                <a:latin typeface="黑体" panose="02010609060101010101" pitchFamily="49" charset="-122"/>
                <a:ea typeface="黑体" panose="02010609060101010101" pitchFamily="49" charset="-122"/>
              </a:rPr>
              <a:t>流体摩擦</a:t>
            </a:r>
            <a:r>
              <a:rPr lang="zh-CN" altLang="en-US" sz="2400" dirty="0">
                <a:solidFill>
                  <a:srgbClr val="000099"/>
                </a:solidFill>
                <a:latin typeface="黑体" panose="02010609060101010101" pitchFamily="49" charset="-122"/>
                <a:ea typeface="黑体" panose="02010609060101010101" pitchFamily="49" charset="-122"/>
              </a:rPr>
              <a:t>是指摩擦表面被流体膜隔开，摩擦性质取决于流体内部分子间粘性阻力的摩擦。流体摩擦时的摩擦系数极小</a:t>
            </a:r>
            <a:r>
              <a:rPr lang="en-US" altLang="en-US" sz="2400" dirty="0">
                <a:solidFill>
                  <a:srgbClr val="000099"/>
                </a:solidFill>
                <a:latin typeface="黑体" panose="02010609060101010101" pitchFamily="49" charset="-122"/>
                <a:ea typeface="黑体" panose="02010609060101010101" pitchFamily="49" charset="-122"/>
              </a:rPr>
              <a:t>(</a:t>
            </a:r>
            <a:r>
              <a:rPr lang="zh-CN" altLang="en-US" sz="2400" dirty="0">
                <a:solidFill>
                  <a:srgbClr val="000099"/>
                </a:solidFill>
                <a:latin typeface="黑体" panose="02010609060101010101" pitchFamily="49" charset="-122"/>
                <a:ea typeface="黑体" panose="02010609060101010101" pitchFamily="49" charset="-122"/>
              </a:rPr>
              <a:t>油润滑时约为</a:t>
            </a:r>
            <a:r>
              <a:rPr lang="en-US" altLang="en-US" sz="2400" dirty="0">
                <a:solidFill>
                  <a:srgbClr val="000099"/>
                </a:solidFill>
                <a:latin typeface="黑体" panose="02010609060101010101" pitchFamily="49" charset="-122"/>
                <a:ea typeface="黑体" panose="02010609060101010101" pitchFamily="49" charset="-122"/>
              </a:rPr>
              <a:t>0.001</a:t>
            </a:r>
            <a:r>
              <a:rPr lang="zh-CN" altLang="en-US" sz="2400" dirty="0">
                <a:solidFill>
                  <a:srgbClr val="000099"/>
                </a:solidFill>
                <a:latin typeface="黑体" panose="02010609060101010101" pitchFamily="49" charset="-122"/>
                <a:ea typeface="黑体" panose="02010609060101010101" pitchFamily="49" charset="-122"/>
              </a:rPr>
              <a:t>～</a:t>
            </a:r>
            <a:r>
              <a:rPr lang="en-US" altLang="en-US" sz="2400" dirty="0">
                <a:solidFill>
                  <a:srgbClr val="000099"/>
                </a:solidFill>
                <a:latin typeface="黑体" panose="02010609060101010101" pitchFamily="49" charset="-122"/>
                <a:ea typeface="黑体" panose="02010609060101010101" pitchFamily="49" charset="-122"/>
              </a:rPr>
              <a:t>0.008)</a:t>
            </a:r>
            <a:r>
              <a:rPr lang="zh-CN" altLang="en-US" sz="2400" dirty="0">
                <a:solidFill>
                  <a:srgbClr val="000099"/>
                </a:solidFill>
                <a:latin typeface="黑体" panose="02010609060101010101" pitchFamily="49" charset="-122"/>
                <a:ea typeface="黑体" panose="02010609060101010101" pitchFamily="49" charset="-122"/>
              </a:rPr>
              <a:t>，属内摩擦。</a:t>
            </a:r>
            <a:endParaRPr lang="zh-CN" altLang="en-US" sz="2400" dirty="0">
              <a:solidFill>
                <a:srgbClr val="000099"/>
              </a:solidFill>
              <a:latin typeface="黑体" panose="02010609060101010101" pitchFamily="49" charset="-122"/>
              <a:ea typeface="黑体" panose="02010609060101010101" pitchFamily="49" charset="-122"/>
            </a:endParaRPr>
          </a:p>
        </p:txBody>
      </p:sp>
      <p:sp>
        <p:nvSpPr>
          <p:cNvPr id="32780" name="Text Box 12"/>
          <p:cNvSpPr txBox="1">
            <a:spLocks noChangeArrowheads="1"/>
          </p:cNvSpPr>
          <p:nvPr/>
        </p:nvSpPr>
        <p:spPr bwMode="auto">
          <a:xfrm>
            <a:off x="462548" y="5044775"/>
            <a:ext cx="7911966" cy="980911"/>
          </a:xfrm>
          <a:prstGeom prst="rect">
            <a:avLst/>
          </a:prstGeom>
          <a:noFill/>
          <a:ln w="9525">
            <a:solidFill>
              <a:srgbClr val="002060"/>
            </a:solidFill>
            <a:miter lim="800000"/>
          </a:ln>
          <a:extLst>
            <a:ext uri="{909E8E84-426E-40DD-AFC4-6F175D3DCCD1}">
              <a14:hiddenFill xmlns:a14="http://schemas.microsoft.com/office/drawing/2010/main">
                <a:solidFill>
                  <a:srgbClr val="FFFFFF"/>
                </a:solidFill>
              </a14:hiddenFill>
            </a:ext>
          </a:extLst>
        </p:spPr>
        <p:txBody>
          <a:bodyPr wrap="squar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spcBef>
                <a:spcPct val="50000"/>
              </a:spcBef>
              <a:buClr>
                <a:schemeClr val="hlink"/>
              </a:buClr>
              <a:buSzPct val="110000"/>
              <a:buFont typeface="Wingdings" panose="05000000000000000000" pitchFamily="2" charset="2"/>
              <a:buNone/>
            </a:pPr>
            <a:r>
              <a:rPr lang="zh-CN" altLang="en-US" sz="2000" dirty="0">
                <a:solidFill>
                  <a:srgbClr val="000099"/>
                </a:solidFill>
                <a:latin typeface="华文中宋" panose="02010600040101010101" pitchFamily="2" charset="-122"/>
              </a:rPr>
              <a:t>　</a:t>
            </a:r>
            <a:r>
              <a:rPr lang="zh-CN" altLang="en-US" sz="2400" dirty="0">
                <a:solidFill>
                  <a:srgbClr val="000099"/>
                </a:solidFill>
                <a:latin typeface="黑体" panose="02010609060101010101" pitchFamily="49" charset="-122"/>
                <a:ea typeface="黑体" panose="02010609060101010101" pitchFamily="49" charset="-122"/>
              </a:rPr>
              <a:t>  边界摩擦和混合摩擦在工程实际中很难区分，常统称为</a:t>
            </a:r>
            <a:r>
              <a:rPr lang="zh-CN" altLang="en-US" sz="2400" dirty="0">
                <a:solidFill>
                  <a:srgbClr val="FF0000"/>
                </a:solidFill>
                <a:latin typeface="黑体" panose="02010609060101010101" pitchFamily="49" charset="-122"/>
                <a:ea typeface="黑体" panose="02010609060101010101" pitchFamily="49" charset="-122"/>
              </a:rPr>
              <a:t>不完全液体摩擦</a:t>
            </a:r>
            <a:r>
              <a:rPr lang="zh-CN" altLang="en-US" sz="2400" dirty="0">
                <a:solidFill>
                  <a:srgbClr val="000099"/>
                </a:solidFill>
                <a:latin typeface="黑体" panose="02010609060101010101" pitchFamily="49" charset="-122"/>
                <a:ea typeface="黑体" panose="02010609060101010101" pitchFamily="49" charset="-122"/>
              </a:rPr>
              <a:t>。</a:t>
            </a:r>
            <a:endParaRPr lang="zh-CN" altLang="en-US" sz="2400" dirty="0">
              <a:latin typeface="黑体" panose="02010609060101010101" pitchFamily="49" charset="-122"/>
              <a:ea typeface="黑体" panose="02010609060101010101" pitchFamily="49" charset="-122"/>
            </a:endParaRPr>
          </a:p>
        </p:txBody>
      </p:sp>
      <p:pic>
        <p:nvPicPr>
          <p:cNvPr id="32782" name="Picture 14"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72475"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83" name="Picture 15" descr="back1">
            <a:hlinkClick r:id="" action="ppaction://hlinkshowjump?jump=previous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8046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86" name="Text Box 18"/>
          <p:cNvSpPr txBox="1">
            <a:spLocks noChangeArrowheads="1"/>
          </p:cNvSpPr>
          <p:nvPr/>
        </p:nvSpPr>
        <p:spPr bwMode="auto">
          <a:xfrm>
            <a:off x="5281613" y="6183313"/>
            <a:ext cx="2682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8201" name="Rectangle 4"/>
          <p:cNvSpPr>
            <a:spLocks noChangeArrowheads="1"/>
          </p:cNvSpPr>
          <p:nvPr/>
        </p:nvSpPr>
        <p:spPr bwMode="auto">
          <a:xfrm>
            <a:off x="3441901" y="148055"/>
            <a:ext cx="570230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1.5-1 </a:t>
            </a:r>
            <a:r>
              <a:rPr lang="zh-CN" altLang="en-US" sz="3000" dirty="0">
                <a:solidFill>
                  <a:srgbClr val="CC3300"/>
                </a:solidFill>
                <a:latin typeface="黑体" panose="02010609060101010101" pitchFamily="49" charset="-122"/>
                <a:ea typeface="黑体" panose="02010609060101010101" pitchFamily="49" charset="-122"/>
              </a:rPr>
              <a:t>摩擦的种类及其基本性质</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10"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2775"/>
                                        </p:tgtEl>
                                        <p:attrNameLst>
                                          <p:attrName>style.visibility</p:attrName>
                                        </p:attrNameLst>
                                      </p:cBhvr>
                                      <p:to>
                                        <p:strVal val="visible"/>
                                      </p:to>
                                    </p:set>
                                    <p:animEffect transition="in" filter="wipe(left)">
                                      <p:cBhvr>
                                        <p:cTn id="7" dur="500"/>
                                        <p:tgtEl>
                                          <p:spTgt spid="3277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32774"/>
                                        </p:tgtEl>
                                        <p:attrNameLst>
                                          <p:attrName>style.visibility</p:attrName>
                                        </p:attrNameLst>
                                      </p:cBhvr>
                                      <p:to>
                                        <p:strVal val="visible"/>
                                      </p:to>
                                    </p:set>
                                    <p:animEffect transition="in" filter="barn(outVertical)">
                                      <p:cBhvr>
                                        <p:cTn id="12" dur="500"/>
                                        <p:tgtEl>
                                          <p:spTgt spid="3277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2780"/>
                                        </p:tgtEl>
                                        <p:attrNameLst>
                                          <p:attrName>style.visibility</p:attrName>
                                        </p:attrNameLst>
                                      </p:cBhvr>
                                      <p:to>
                                        <p:strVal val="visible"/>
                                      </p:to>
                                    </p:set>
                                    <p:animEffect transition="in" filter="wipe(left)">
                                      <p:cBhvr>
                                        <p:cTn id="17" dur="500"/>
                                        <p:tgtEl>
                                          <p:spTgt spid="32780"/>
                                        </p:tgtEl>
                                      </p:cBhvr>
                                    </p:animEffect>
                                  </p:childTnLst>
                                </p:cTn>
                              </p:par>
                            </p:childTnLst>
                          </p:cTn>
                        </p:par>
                        <p:par>
                          <p:cTn id="18" fill="hold">
                            <p:stCondLst>
                              <p:cond delay="500"/>
                            </p:stCondLst>
                            <p:childTnLst>
                              <p:par>
                                <p:cTn id="19" presetID="1" presetClass="entr" presetSubtype="0" fill="hold" nodeType="afterEffect">
                                  <p:stCondLst>
                                    <p:cond delay="0"/>
                                  </p:stCondLst>
                                  <p:childTnLst>
                                    <p:set>
                                      <p:cBhvr>
                                        <p:cTn id="20" dur="1" fill="hold">
                                          <p:stCondLst>
                                            <p:cond delay="499"/>
                                          </p:stCondLst>
                                        </p:cTn>
                                        <p:tgtEl>
                                          <p:spTgt spid="32783"/>
                                        </p:tgtEl>
                                        <p:attrNameLst>
                                          <p:attrName>style.visibility</p:attrName>
                                        </p:attrNameLst>
                                      </p:cBhvr>
                                      <p:to>
                                        <p:strVal val="visible"/>
                                      </p:to>
                                    </p:set>
                                  </p:childTnLst>
                                </p:cTn>
                              </p:par>
                            </p:childTnLst>
                          </p:cTn>
                        </p:par>
                        <p:par>
                          <p:cTn id="21" fill="hold">
                            <p:stCondLst>
                              <p:cond delay="1000"/>
                            </p:stCondLst>
                            <p:childTnLst>
                              <p:par>
                                <p:cTn id="22" presetID="2" presetClass="entr" presetSubtype="8" fill="hold" nodeType="afterEffect">
                                  <p:stCondLst>
                                    <p:cond delay="0"/>
                                  </p:stCondLst>
                                  <p:childTnLst>
                                    <p:set>
                                      <p:cBhvr>
                                        <p:cTn id="23" dur="1" fill="hold">
                                          <p:stCondLst>
                                            <p:cond delay="0"/>
                                          </p:stCondLst>
                                        </p:cTn>
                                        <p:tgtEl>
                                          <p:spTgt spid="32782"/>
                                        </p:tgtEl>
                                        <p:attrNameLst>
                                          <p:attrName>style.visibility</p:attrName>
                                        </p:attrNameLst>
                                      </p:cBhvr>
                                      <p:to>
                                        <p:strVal val="visible"/>
                                      </p:to>
                                    </p:set>
                                    <p:anim calcmode="lin" valueType="num">
                                      <p:cBhvr additive="base">
                                        <p:cTn id="24" dur="500" fill="hold"/>
                                        <p:tgtEl>
                                          <p:spTgt spid="32782"/>
                                        </p:tgtEl>
                                        <p:attrNameLst>
                                          <p:attrName>ppt_x</p:attrName>
                                        </p:attrNameLst>
                                      </p:cBhvr>
                                      <p:tavLst>
                                        <p:tav tm="0">
                                          <p:val>
                                            <p:strVal val="0-#ppt_w/2"/>
                                          </p:val>
                                        </p:tav>
                                        <p:tav tm="100000">
                                          <p:val>
                                            <p:strVal val="#ppt_x"/>
                                          </p:val>
                                        </p:tav>
                                      </p:tavLst>
                                    </p:anim>
                                    <p:anim calcmode="lin" valueType="num">
                                      <p:cBhvr additive="base">
                                        <p:cTn id="25" dur="500" fill="hold"/>
                                        <p:tgtEl>
                                          <p:spTgt spid="32782"/>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32786"/>
                                        </p:tgtEl>
                                        <p:attrNameLst>
                                          <p:attrName>style.visibility</p:attrName>
                                        </p:attrNameLst>
                                      </p:cBhvr>
                                      <p:to>
                                        <p:strVal val="visible"/>
                                      </p:to>
                                    </p:set>
                                    <p:anim calcmode="lin" valueType="num">
                                      <p:cBhvr additive="base">
                                        <p:cTn id="30" dur="500" fill="hold"/>
                                        <p:tgtEl>
                                          <p:spTgt spid="32786"/>
                                        </p:tgtEl>
                                        <p:attrNameLst>
                                          <p:attrName>ppt_x</p:attrName>
                                        </p:attrNameLst>
                                      </p:cBhvr>
                                      <p:tavLst>
                                        <p:tav tm="0">
                                          <p:val>
                                            <p:strVal val="0-#ppt_w/2"/>
                                          </p:val>
                                        </p:tav>
                                        <p:tav tm="100000">
                                          <p:val>
                                            <p:strVal val="#ppt_x"/>
                                          </p:val>
                                        </p:tav>
                                      </p:tavLst>
                                    </p:anim>
                                    <p:anim calcmode="lin" valueType="num">
                                      <p:cBhvr additive="base">
                                        <p:cTn id="31" dur="500" fill="hold"/>
                                        <p:tgtEl>
                                          <p:spTgt spid="3278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4" grpId="0" autoUpdateAnimBg="0"/>
      <p:bldP spid="32775" grpId="0" autoUpdateAnimBg="0"/>
      <p:bldP spid="32780" grpId="0" bldLvl="0" animBg="1" autoUpdateAnimBg="0"/>
      <p:bldP spid="32786"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bwMode="auto">
          <a:xfrm>
            <a:off x="7467600" y="762000"/>
            <a:ext cx="9144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摩   擦</a:t>
            </a:r>
            <a:r>
              <a:rPr lang="en-US" altLang="zh-CN" sz="800" smtClean="0">
                <a:solidFill>
                  <a:schemeClr val="bg1"/>
                </a:solidFill>
                <a:latin typeface="华文中宋" panose="02010600040101010101" pitchFamily="2" charset="-122"/>
                <a:ea typeface="华文中宋" panose="02010600040101010101" pitchFamily="2" charset="-122"/>
              </a:rPr>
              <a:t>3</a:t>
            </a:r>
            <a:endParaRPr lang="en-US" altLang="zh-CN" sz="800" smtClean="0">
              <a:solidFill>
                <a:schemeClr val="bg1"/>
              </a:solidFill>
              <a:latin typeface="华文中宋" panose="02010600040101010101" pitchFamily="2" charset="-122"/>
              <a:ea typeface="华文中宋" panose="02010600040101010101" pitchFamily="2" charset="-122"/>
            </a:endParaRPr>
          </a:p>
        </p:txBody>
      </p:sp>
      <p:pic>
        <p:nvPicPr>
          <p:cNvPr id="32782" name="Picture 14"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72475"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83" name="Picture 15" descr="back1">
            <a:hlinkClick r:id="" action="ppaction://hlinkshowjump?jump=previous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8046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85" name="Text Box 17"/>
          <p:cNvSpPr txBox="1">
            <a:spLocks noChangeArrowheads="1"/>
          </p:cNvSpPr>
          <p:nvPr/>
        </p:nvSpPr>
        <p:spPr bwMode="auto">
          <a:xfrm>
            <a:off x="285834" y="4776520"/>
            <a:ext cx="8713787" cy="1249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5000"/>
              </a:lnSpc>
            </a:pPr>
            <a:r>
              <a:rPr lang="zh-CN" altLang="en-US" sz="2000">
                <a:solidFill>
                  <a:srgbClr val="000099"/>
                </a:solidFill>
                <a:latin typeface="Times New Roman" panose="02020603050405020304" pitchFamily="18" charset="0"/>
              </a:rPr>
              <a:t>　　</a:t>
            </a:r>
            <a:r>
              <a:rPr lang="zh-CN" altLang="en-US" sz="2000">
                <a:solidFill>
                  <a:srgbClr val="000099"/>
                </a:solidFill>
                <a:latin typeface="华文中宋" panose="02010600040101010101" pitchFamily="2" charset="-122"/>
              </a:rPr>
              <a:t>通常认为：</a:t>
            </a:r>
            <a:r>
              <a:rPr lang="en-US" altLang="en-US" sz="2000" i="1">
                <a:solidFill>
                  <a:srgbClr val="000099"/>
                </a:solidFill>
                <a:latin typeface="Times New Roman" panose="02020603050405020304" pitchFamily="18" charset="0"/>
                <a:cs typeface="Times New Roman" panose="02020603050405020304" pitchFamily="18" charset="0"/>
              </a:rPr>
              <a:t>λ</a:t>
            </a:r>
            <a:r>
              <a:rPr lang="zh-CN" altLang="en-US" sz="2000">
                <a:solidFill>
                  <a:srgbClr val="000099"/>
                </a:solidFill>
                <a:latin typeface="华文中宋" panose="02010600040101010101" pitchFamily="2" charset="-122"/>
              </a:rPr>
              <a:t>≤</a:t>
            </a:r>
            <a:r>
              <a:rPr lang="en-US" altLang="en-US" sz="2000">
                <a:solidFill>
                  <a:srgbClr val="000099"/>
                </a:solidFill>
                <a:latin typeface="华文中宋" panose="02010600040101010101" pitchFamily="2" charset="-122"/>
              </a:rPr>
              <a:t>1</a:t>
            </a:r>
            <a:r>
              <a:rPr lang="zh-CN" altLang="en-US" sz="2000">
                <a:solidFill>
                  <a:srgbClr val="000099"/>
                </a:solidFill>
                <a:latin typeface="华文中宋" panose="02010600040101010101" pitchFamily="2" charset="-122"/>
              </a:rPr>
              <a:t>时呈边界润滑状态；</a:t>
            </a:r>
            <a:r>
              <a:rPr lang="en-US" altLang="en-US" sz="2000" i="1">
                <a:solidFill>
                  <a:srgbClr val="000099"/>
                </a:solidFill>
                <a:latin typeface="Times New Roman" panose="02020603050405020304" pitchFamily="18" charset="0"/>
                <a:cs typeface="Times New Roman" panose="02020603050405020304" pitchFamily="18" charset="0"/>
              </a:rPr>
              <a:t>λ</a:t>
            </a:r>
            <a:r>
              <a:rPr lang="zh-CN" altLang="en-US" sz="2000">
                <a:solidFill>
                  <a:srgbClr val="000099"/>
                </a:solidFill>
                <a:latin typeface="华文中宋" panose="02010600040101010101" pitchFamily="2" charset="-122"/>
              </a:rPr>
              <a:t>＞</a:t>
            </a:r>
            <a:r>
              <a:rPr lang="en-US" altLang="en-US" sz="2000">
                <a:solidFill>
                  <a:srgbClr val="000099"/>
                </a:solidFill>
                <a:latin typeface="华文中宋" panose="02010600040101010101" pitchFamily="2" charset="-122"/>
              </a:rPr>
              <a:t>3</a:t>
            </a:r>
            <a:r>
              <a:rPr lang="zh-CN" altLang="en-US" sz="2000">
                <a:solidFill>
                  <a:srgbClr val="000099"/>
                </a:solidFill>
                <a:latin typeface="华文中宋" panose="02010600040101010101" pitchFamily="2" charset="-122"/>
              </a:rPr>
              <a:t>时，呈完全弹性流体动力润滑或流体润滑状态；</a:t>
            </a:r>
            <a:r>
              <a:rPr lang="en-US" altLang="en-US" sz="2000">
                <a:solidFill>
                  <a:srgbClr val="000099"/>
                </a:solidFill>
                <a:latin typeface="华文中宋" panose="02010600040101010101" pitchFamily="2" charset="-122"/>
              </a:rPr>
              <a:t>1&lt;</a:t>
            </a:r>
            <a:r>
              <a:rPr lang="en-US" altLang="en-US" sz="2000" i="1">
                <a:solidFill>
                  <a:srgbClr val="000099"/>
                </a:solidFill>
                <a:latin typeface="Times New Roman" panose="02020603050405020304" pitchFamily="18" charset="0"/>
                <a:cs typeface="Times New Roman" panose="02020603050405020304" pitchFamily="18" charset="0"/>
              </a:rPr>
              <a:t>λ</a:t>
            </a:r>
            <a:r>
              <a:rPr lang="zh-CN" altLang="en-US" sz="2000">
                <a:solidFill>
                  <a:srgbClr val="000099"/>
                </a:solidFill>
                <a:latin typeface="华文中宋" panose="02010600040101010101" pitchFamily="2" charset="-122"/>
              </a:rPr>
              <a:t>≤</a:t>
            </a:r>
            <a:r>
              <a:rPr lang="en-US" altLang="en-US" sz="2000">
                <a:solidFill>
                  <a:srgbClr val="000099"/>
                </a:solidFill>
                <a:latin typeface="华文中宋" panose="02010600040101010101" pitchFamily="2" charset="-122"/>
              </a:rPr>
              <a:t>3</a:t>
            </a:r>
            <a:r>
              <a:rPr lang="zh-CN" altLang="en-US" sz="2000">
                <a:solidFill>
                  <a:srgbClr val="000099"/>
                </a:solidFill>
                <a:latin typeface="华文中宋" panose="02010600040101010101" pitchFamily="2" charset="-122"/>
              </a:rPr>
              <a:t>时，呈混合润滑状态。必须指出，润滑状态的转变是个过程，所以</a:t>
            </a:r>
            <a:r>
              <a:rPr lang="en-US" altLang="en-US" sz="2000">
                <a:solidFill>
                  <a:srgbClr val="000099"/>
                </a:solidFill>
                <a:latin typeface="华文中宋" panose="02010600040101010101" pitchFamily="2" charset="-122"/>
              </a:rPr>
              <a:t>1</a:t>
            </a:r>
            <a:r>
              <a:rPr lang="zh-CN" altLang="en-US" sz="2000">
                <a:solidFill>
                  <a:srgbClr val="000099"/>
                </a:solidFill>
                <a:latin typeface="华文中宋" panose="02010600040101010101" pitchFamily="2" charset="-122"/>
              </a:rPr>
              <a:t>、</a:t>
            </a:r>
            <a:r>
              <a:rPr lang="en-US" altLang="en-US" sz="2000">
                <a:solidFill>
                  <a:srgbClr val="000099"/>
                </a:solidFill>
                <a:latin typeface="华文中宋" panose="02010600040101010101" pitchFamily="2" charset="-122"/>
              </a:rPr>
              <a:t>3</a:t>
            </a:r>
            <a:r>
              <a:rPr lang="zh-CN" altLang="en-US" sz="2000">
                <a:solidFill>
                  <a:srgbClr val="000099"/>
                </a:solidFill>
                <a:latin typeface="华文中宋" panose="02010600040101010101" pitchFamily="2" charset="-122"/>
              </a:rPr>
              <a:t>都是大致值。</a:t>
            </a:r>
            <a:endParaRPr lang="zh-CN" altLang="en-US" sz="2000">
              <a:solidFill>
                <a:srgbClr val="000099"/>
              </a:solidFill>
              <a:latin typeface="华文中宋" panose="02010600040101010101" pitchFamily="2" charset="-122"/>
            </a:endParaRPr>
          </a:p>
        </p:txBody>
      </p:sp>
      <p:sp>
        <p:nvSpPr>
          <p:cNvPr id="32786" name="Text Box 18"/>
          <p:cNvSpPr txBox="1">
            <a:spLocks noChangeArrowheads="1"/>
          </p:cNvSpPr>
          <p:nvPr/>
        </p:nvSpPr>
        <p:spPr bwMode="auto">
          <a:xfrm>
            <a:off x="5281613" y="6183313"/>
            <a:ext cx="2682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2056" name="Rectangle 4"/>
          <p:cNvSpPr>
            <a:spLocks noChangeArrowheads="1"/>
          </p:cNvSpPr>
          <p:nvPr/>
        </p:nvSpPr>
        <p:spPr bwMode="auto">
          <a:xfrm>
            <a:off x="3112770" y="208915"/>
            <a:ext cx="5763895"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algn="l" eaLnBrk="1" hangingPunct="1"/>
            <a:r>
              <a:rPr lang="en-US" altLang="zh-CN" sz="3000" dirty="0" smtClean="0">
                <a:solidFill>
                  <a:srgbClr val="CC3300"/>
                </a:solidFill>
                <a:latin typeface="黑体" panose="02010609060101010101" pitchFamily="49" charset="-122"/>
                <a:ea typeface="黑体" panose="02010609060101010101" pitchFamily="49" charset="-122"/>
                <a:sym typeface="+mn-ea"/>
              </a:rPr>
              <a:t>1.5-1 </a:t>
            </a:r>
            <a:r>
              <a:rPr lang="zh-CN" altLang="en-US" sz="3000">
                <a:solidFill>
                  <a:srgbClr val="CC3300"/>
                </a:solidFill>
                <a:latin typeface="黑体" panose="02010609060101010101" pitchFamily="49" charset="-122"/>
                <a:ea typeface="黑体" panose="02010609060101010101" pitchFamily="49" charset="-122"/>
              </a:rPr>
              <a:t>摩擦的种类及其基本性质</a:t>
            </a:r>
            <a:endParaRPr lang="zh-CN" altLang="en-US" sz="3000">
              <a:solidFill>
                <a:srgbClr val="CC3300"/>
              </a:solidFill>
              <a:latin typeface="黑体" panose="02010609060101010101" pitchFamily="49" charset="-122"/>
              <a:ea typeface="黑体" panose="02010609060101010101" pitchFamily="49" charset="-122"/>
            </a:endParaRPr>
          </a:p>
        </p:txBody>
      </p:sp>
      <p:sp>
        <p:nvSpPr>
          <p:cNvPr id="2057" name="矩形 11"/>
          <p:cNvSpPr>
            <a:spLocks noChangeArrowheads="1"/>
          </p:cNvSpPr>
          <p:nvPr/>
        </p:nvSpPr>
        <p:spPr bwMode="auto">
          <a:xfrm>
            <a:off x="448444" y="920950"/>
            <a:ext cx="44500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400" dirty="0">
                <a:solidFill>
                  <a:srgbClr val="0000FF"/>
                </a:solidFill>
                <a:latin typeface="黑体" panose="02010609060101010101" pitchFamily="49" charset="-122"/>
                <a:ea typeface="黑体" panose="02010609060101010101" pitchFamily="49" charset="-122"/>
              </a:rPr>
              <a:t>四、膜厚比与摩擦（润滑）状态</a:t>
            </a:r>
            <a:endParaRPr lang="zh-CN" altLang="en-US" sz="2400" dirty="0">
              <a:solidFill>
                <a:srgbClr val="0000FF"/>
              </a:solidFill>
              <a:latin typeface="黑体" panose="02010609060101010101" pitchFamily="49" charset="-122"/>
              <a:ea typeface="黑体" panose="02010609060101010101" pitchFamily="49" charset="-122"/>
            </a:endParaRPr>
          </a:p>
        </p:txBody>
      </p:sp>
      <p:sp>
        <p:nvSpPr>
          <p:cNvPr id="2058" name="Rectangle 1"/>
          <p:cNvSpPr>
            <a:spLocks noChangeArrowheads="1"/>
          </p:cNvSpPr>
          <p:nvPr/>
        </p:nvSpPr>
        <p:spPr bwMode="auto">
          <a:xfrm>
            <a:off x="422275" y="1350010"/>
            <a:ext cx="8483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indent="304800"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5000"/>
              </a:lnSpc>
            </a:pPr>
            <a:r>
              <a:rPr lang="zh-CN" altLang="en-US" sz="2000" dirty="0">
                <a:solidFill>
                  <a:srgbClr val="000099"/>
                </a:solidFill>
                <a:latin typeface="华文中宋" panose="02010600040101010101" pitchFamily="2" charset="-122"/>
              </a:rPr>
              <a:t>膜厚比是大致估计两滑动表面所处的摩擦（润滑</a:t>
            </a:r>
            <a:r>
              <a:rPr lang="en-US" altLang="zh-CN" sz="2000" dirty="0">
                <a:solidFill>
                  <a:srgbClr val="000099"/>
                </a:solidFill>
                <a:latin typeface="华文中宋" panose="02010600040101010101" pitchFamily="2" charset="-122"/>
              </a:rPr>
              <a:t>)</a:t>
            </a:r>
            <a:r>
              <a:rPr lang="zh-CN" altLang="en-US" sz="2000" dirty="0">
                <a:solidFill>
                  <a:srgbClr val="000099"/>
                </a:solidFill>
                <a:latin typeface="华文中宋" panose="02010600040101010101" pitchFamily="2" charset="-122"/>
              </a:rPr>
              <a:t>状态的简单判剧，它是最小油膜厚度与表面粗糙度之比，常用</a:t>
            </a:r>
            <a:r>
              <a:rPr lang="en-US" altLang="zh-CN" sz="2000" i="1" dirty="0">
                <a:solidFill>
                  <a:srgbClr val="000099"/>
                </a:solidFill>
                <a:latin typeface="Times New Roman" panose="02020603050405020304" pitchFamily="18" charset="0"/>
                <a:cs typeface="Times New Roman" panose="02020603050405020304" pitchFamily="18" charset="0"/>
              </a:rPr>
              <a:t>λ</a:t>
            </a:r>
            <a:r>
              <a:rPr lang="zh-CN" altLang="en-US" sz="2000" dirty="0">
                <a:solidFill>
                  <a:srgbClr val="000099"/>
                </a:solidFill>
                <a:latin typeface="华文中宋" panose="02010600040101010101" pitchFamily="2" charset="-122"/>
              </a:rPr>
              <a:t>表示</a:t>
            </a:r>
            <a:endParaRPr lang="zh-CN" altLang="en-US" sz="2000" dirty="0">
              <a:solidFill>
                <a:srgbClr val="000099"/>
              </a:solidFill>
              <a:latin typeface="华文中宋" panose="02010600040101010101" pitchFamily="2" charset="-122"/>
            </a:endParaRPr>
          </a:p>
        </p:txBody>
      </p:sp>
      <p:sp>
        <p:nvSpPr>
          <p:cNvPr id="2059"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graphicFrame>
        <p:nvGraphicFramePr>
          <p:cNvPr id="2050" name="Object 2"/>
          <p:cNvGraphicFramePr>
            <a:graphicFrameLocks noChangeAspect="1"/>
          </p:cNvGraphicFramePr>
          <p:nvPr/>
        </p:nvGraphicFramePr>
        <p:xfrm>
          <a:off x="3208420" y="2219425"/>
          <a:ext cx="1901989" cy="985787"/>
        </p:xfrm>
        <a:graphic>
          <a:graphicData uri="http://schemas.openxmlformats.org/presentationml/2006/ole">
            <mc:AlternateContent xmlns:mc="http://schemas.openxmlformats.org/markup-compatibility/2006">
              <mc:Choice xmlns:v="urn:schemas-microsoft-com:vml" Requires="v">
                <p:oleObj spid="_x0000_s2075" name="公式" r:id="rId4" imgW="1066800" imgH="558800" progId="Equation.3">
                  <p:embed/>
                </p:oleObj>
              </mc:Choice>
              <mc:Fallback>
                <p:oleObj name="公式" r:id="rId4" imgW="1066800" imgH="5588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8420" y="2219425"/>
                        <a:ext cx="1901989" cy="985787"/>
                      </a:xfrm>
                      <a:prstGeom prst="rect">
                        <a:avLst/>
                      </a:prstGeom>
                      <a:solidFill>
                        <a:srgbClr val="FFFF00"/>
                      </a:solidFill>
                    </p:spPr>
                  </p:pic>
                </p:oleObj>
              </mc:Fallback>
            </mc:AlternateContent>
          </a:graphicData>
        </a:graphic>
      </p:graphicFrame>
      <p:sp>
        <p:nvSpPr>
          <p:cNvPr id="2060" name="矩形 14"/>
          <p:cNvSpPr>
            <a:spLocks noChangeArrowheads="1"/>
          </p:cNvSpPr>
          <p:nvPr/>
        </p:nvSpPr>
        <p:spPr bwMode="auto">
          <a:xfrm>
            <a:off x="684731" y="3362459"/>
            <a:ext cx="83693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en-US" sz="2000" i="1" dirty="0" err="1">
                <a:solidFill>
                  <a:srgbClr val="000099"/>
                </a:solidFill>
                <a:latin typeface="Times New Roman" panose="02020603050405020304" pitchFamily="18" charset="0"/>
                <a:cs typeface="Times New Roman" panose="02020603050405020304" pitchFamily="18" charset="0"/>
              </a:rPr>
              <a:t>h</a:t>
            </a:r>
            <a:r>
              <a:rPr lang="en-US" altLang="en-US" sz="2000" baseline="-25000" dirty="0" err="1">
                <a:solidFill>
                  <a:srgbClr val="000099"/>
                </a:solidFill>
                <a:latin typeface="Times New Roman" panose="02020603050405020304" pitchFamily="18" charset="0"/>
                <a:cs typeface="Times New Roman" panose="02020603050405020304" pitchFamily="18" charset="0"/>
              </a:rPr>
              <a:t>min</a:t>
            </a:r>
            <a:r>
              <a:rPr lang="zh-CN" altLang="en-US" sz="2000" dirty="0">
                <a:solidFill>
                  <a:srgbClr val="000099"/>
                </a:solidFill>
                <a:latin typeface="华文中宋" panose="02010600040101010101" pitchFamily="2" charset="-122"/>
              </a:rPr>
              <a:t>是两滑动粗糙表面间的最小公称油膜厚度，单位为</a:t>
            </a:r>
            <a:r>
              <a:rPr lang="en-US" altLang="en-US" sz="2000" dirty="0" err="1">
                <a:solidFill>
                  <a:srgbClr val="000099"/>
                </a:solidFill>
                <a:latin typeface="Times New Roman" panose="02020603050405020304" pitchFamily="18" charset="0"/>
                <a:cs typeface="Times New Roman" panose="02020603050405020304" pitchFamily="18" charset="0"/>
              </a:rPr>
              <a:t>μm</a:t>
            </a:r>
            <a:r>
              <a:rPr lang="zh-CN" altLang="en-US" sz="2000" dirty="0">
                <a:solidFill>
                  <a:srgbClr val="000099"/>
                </a:solidFill>
                <a:latin typeface="华文中宋" panose="02010600040101010101" pitchFamily="2" charset="-122"/>
              </a:rPr>
              <a:t>；</a:t>
            </a:r>
            <a:endParaRPr lang="zh-CN" altLang="en-US" sz="2000" dirty="0">
              <a:solidFill>
                <a:srgbClr val="000099"/>
              </a:solidFill>
              <a:latin typeface="华文中宋" panose="02010600040101010101" pitchFamily="2" charset="-122"/>
            </a:endParaRPr>
          </a:p>
        </p:txBody>
      </p:sp>
      <p:sp>
        <p:nvSpPr>
          <p:cNvPr id="2061" name="Rectangle 4"/>
          <p:cNvSpPr>
            <a:spLocks noChangeArrowheads="1"/>
          </p:cNvSpPr>
          <p:nvPr/>
        </p:nvSpPr>
        <p:spPr bwMode="auto">
          <a:xfrm>
            <a:off x="431399" y="3845160"/>
            <a:ext cx="84455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indent="304800"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5000"/>
              </a:lnSpc>
            </a:pPr>
            <a:r>
              <a:rPr lang="en-US" altLang="zh-CN" sz="2000" i="1" dirty="0">
                <a:solidFill>
                  <a:srgbClr val="000099"/>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2000" baseline="-30000" dirty="0">
                <a:solidFill>
                  <a:srgbClr val="000099"/>
                </a:solidFill>
                <a:latin typeface="Times New Roman" panose="02020603050405020304" pitchFamily="18" charset="0"/>
                <a:ea typeface="宋体" panose="02010600030101010101" pitchFamily="2" charset="-122"/>
                <a:cs typeface="Times New Roman" panose="02020603050405020304" pitchFamily="18" charset="0"/>
              </a:rPr>
              <a:t>q1</a:t>
            </a:r>
            <a:r>
              <a:rPr lang="zh-CN" altLang="en-US" sz="2000" dirty="0">
                <a:solidFill>
                  <a:srgbClr val="000099"/>
                </a:solidFill>
                <a:latin typeface="宋体" panose="02010600030101010101" pitchFamily="2" charset="-122"/>
                <a:ea typeface="宋体" panose="02010600030101010101" pitchFamily="2" charset="-122"/>
                <a:cs typeface="Calibri" panose="020F0502020204030204" pitchFamily="34" charset="0"/>
              </a:rPr>
              <a:t>、</a:t>
            </a:r>
            <a:r>
              <a:rPr lang="en-US" altLang="zh-CN" sz="2000" i="1" dirty="0">
                <a:solidFill>
                  <a:srgbClr val="000099"/>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2000" baseline="-30000" dirty="0">
                <a:solidFill>
                  <a:srgbClr val="000099"/>
                </a:solidFill>
                <a:latin typeface="Times New Roman" panose="02020603050405020304" pitchFamily="18" charset="0"/>
                <a:ea typeface="宋体" panose="02010600030101010101" pitchFamily="2" charset="-122"/>
                <a:cs typeface="Times New Roman" panose="02020603050405020304" pitchFamily="18" charset="0"/>
              </a:rPr>
              <a:t>q2</a:t>
            </a:r>
            <a:r>
              <a:rPr lang="zh-CN" altLang="en-US" sz="2000" dirty="0">
                <a:solidFill>
                  <a:srgbClr val="000099"/>
                </a:solidFill>
                <a:latin typeface="华文中宋" panose="02010600040101010101" pitchFamily="2" charset="-122"/>
              </a:rPr>
              <a:t>分别为两表面形貌轮廓的均方根偏差</a:t>
            </a:r>
            <a:r>
              <a:rPr lang="en-US" altLang="zh-CN" sz="2000" dirty="0">
                <a:solidFill>
                  <a:srgbClr val="000099"/>
                </a:solidFill>
                <a:latin typeface="华文中宋" panose="02010600040101010101" pitchFamily="2" charset="-122"/>
              </a:rPr>
              <a:t>(</a:t>
            </a:r>
            <a:r>
              <a:rPr lang="zh-CN" altLang="en-US" sz="2000" dirty="0">
                <a:solidFill>
                  <a:srgbClr val="000099"/>
                </a:solidFill>
                <a:latin typeface="华文中宋" panose="02010600040101010101" pitchFamily="2" charset="-122"/>
              </a:rPr>
              <a:t>约为平均偏差</a:t>
            </a:r>
            <a:r>
              <a:rPr lang="en-US" altLang="zh-CN" sz="2000" i="1" dirty="0">
                <a:solidFill>
                  <a:srgbClr val="000099"/>
                </a:solidFill>
                <a:latin typeface="Times New Roman" panose="02020603050405020304" pitchFamily="18" charset="0"/>
                <a:ea typeface="宋体" panose="02010600030101010101" pitchFamily="2" charset="-122"/>
              </a:rPr>
              <a:t>R</a:t>
            </a:r>
            <a:r>
              <a:rPr lang="en-US" altLang="zh-CN" sz="2000" baseline="-30000" dirty="0">
                <a:solidFill>
                  <a:srgbClr val="000099"/>
                </a:solidFill>
                <a:latin typeface="Times New Roman" panose="02020603050405020304" pitchFamily="18" charset="0"/>
                <a:ea typeface="宋体" panose="02010600030101010101" pitchFamily="2" charset="-122"/>
              </a:rPr>
              <a:t>a1</a:t>
            </a:r>
            <a:r>
              <a:rPr lang="zh-CN" altLang="en-US" sz="2000" dirty="0">
                <a:solidFill>
                  <a:srgbClr val="000099"/>
                </a:solidFill>
                <a:latin typeface="Times New Roman" panose="02020603050405020304" pitchFamily="18" charset="0"/>
                <a:ea typeface="宋体" panose="02010600030101010101" pitchFamily="2" charset="-122"/>
              </a:rPr>
              <a:t>、</a:t>
            </a:r>
            <a:r>
              <a:rPr lang="en-US" altLang="zh-CN" sz="2000" i="1" dirty="0">
                <a:solidFill>
                  <a:srgbClr val="000099"/>
                </a:solidFill>
                <a:latin typeface="Times New Roman" panose="02020603050405020304" pitchFamily="18" charset="0"/>
                <a:ea typeface="宋体" panose="02010600030101010101" pitchFamily="2" charset="-122"/>
              </a:rPr>
              <a:t>R</a:t>
            </a:r>
            <a:r>
              <a:rPr lang="en-US" altLang="zh-CN" sz="2000" baseline="-30000" dirty="0">
                <a:solidFill>
                  <a:srgbClr val="000099"/>
                </a:solidFill>
                <a:latin typeface="Times New Roman" panose="02020603050405020304" pitchFamily="18" charset="0"/>
                <a:ea typeface="宋体" panose="02010600030101010101" pitchFamily="2" charset="-122"/>
              </a:rPr>
              <a:t>a2</a:t>
            </a:r>
            <a:r>
              <a:rPr lang="zh-CN" altLang="en-US" sz="2000" dirty="0">
                <a:solidFill>
                  <a:srgbClr val="000099"/>
                </a:solidFill>
                <a:latin typeface="华文中宋" panose="02010600040101010101" pitchFamily="2" charset="-122"/>
              </a:rPr>
              <a:t>的</a:t>
            </a:r>
            <a:r>
              <a:rPr lang="en-US" altLang="zh-CN" sz="2000" dirty="0">
                <a:solidFill>
                  <a:srgbClr val="000099"/>
                </a:solidFill>
                <a:latin typeface="华文中宋" panose="02010600040101010101" pitchFamily="2" charset="-122"/>
              </a:rPr>
              <a:t>1.20</a:t>
            </a:r>
            <a:r>
              <a:rPr lang="zh-CN" altLang="en-US" sz="2000" dirty="0">
                <a:solidFill>
                  <a:srgbClr val="000099"/>
                </a:solidFill>
                <a:latin typeface="华文中宋" panose="02010600040101010101" pitchFamily="2" charset="-122"/>
              </a:rPr>
              <a:t>～</a:t>
            </a:r>
            <a:r>
              <a:rPr lang="en-US" altLang="zh-CN" sz="2000" dirty="0">
                <a:solidFill>
                  <a:srgbClr val="000099"/>
                </a:solidFill>
                <a:latin typeface="华文中宋" panose="02010600040101010101" pitchFamily="2" charset="-122"/>
              </a:rPr>
              <a:t>1.25</a:t>
            </a:r>
            <a:r>
              <a:rPr lang="zh-CN" altLang="en-US" sz="2000" dirty="0">
                <a:solidFill>
                  <a:srgbClr val="000099"/>
                </a:solidFill>
                <a:latin typeface="华文中宋" panose="02010600040101010101" pitchFamily="2" charset="-122"/>
              </a:rPr>
              <a:t>倍</a:t>
            </a:r>
            <a:r>
              <a:rPr lang="en-US" altLang="zh-CN" sz="2000" dirty="0">
                <a:solidFill>
                  <a:srgbClr val="000099"/>
                </a:solidFill>
                <a:latin typeface="华文中宋" panose="02010600040101010101" pitchFamily="2" charset="-122"/>
              </a:rPr>
              <a:t>)</a:t>
            </a:r>
            <a:r>
              <a:rPr lang="zh-CN" altLang="en-US" sz="2000" dirty="0">
                <a:solidFill>
                  <a:srgbClr val="000099"/>
                </a:solidFill>
                <a:latin typeface="华文中宋" panose="02010600040101010101" pitchFamily="2" charset="-122"/>
              </a:rPr>
              <a:t>，单位为</a:t>
            </a:r>
            <a:r>
              <a:rPr lang="en-US" altLang="zh-CN" sz="2000" dirty="0" err="1">
                <a:solidFill>
                  <a:srgbClr val="000099"/>
                </a:solidFill>
                <a:latin typeface="Times New Roman" panose="02020603050405020304" pitchFamily="18" charset="0"/>
                <a:cs typeface="Times New Roman" panose="02020603050405020304" pitchFamily="18" charset="0"/>
              </a:rPr>
              <a:t>μm</a:t>
            </a:r>
            <a:r>
              <a:rPr lang="zh-CN" altLang="en-US" sz="2000" dirty="0">
                <a:solidFill>
                  <a:srgbClr val="000099"/>
                </a:solidFill>
                <a:latin typeface="华文中宋" panose="02010600040101010101" pitchFamily="2" charset="-122"/>
              </a:rPr>
              <a:t>。</a:t>
            </a:r>
            <a:endParaRPr lang="zh-CN" altLang="en-US" sz="2000" dirty="0">
              <a:solidFill>
                <a:srgbClr val="000099"/>
              </a:solidFill>
              <a:latin typeface="华文中宋" panose="02010600040101010101" pitchFamily="2" charset="-122"/>
            </a:endParaRPr>
          </a:p>
        </p:txBody>
      </p:sp>
      <p:sp>
        <p:nvSpPr>
          <p:cNvPr id="2062"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2785"/>
                                        </p:tgtEl>
                                        <p:attrNameLst>
                                          <p:attrName>style.visibility</p:attrName>
                                        </p:attrNameLst>
                                      </p:cBhvr>
                                      <p:to>
                                        <p:strVal val="visible"/>
                                      </p:to>
                                    </p:set>
                                    <p:animEffect transition="in" filter="wipe(up)">
                                      <p:cBhvr>
                                        <p:cTn id="7" dur="500"/>
                                        <p:tgtEl>
                                          <p:spTgt spid="32785"/>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499"/>
                                          </p:stCondLst>
                                        </p:cTn>
                                        <p:tgtEl>
                                          <p:spTgt spid="32783"/>
                                        </p:tgtEl>
                                        <p:attrNameLst>
                                          <p:attrName>style.visibility</p:attrName>
                                        </p:attrNameLst>
                                      </p:cBhvr>
                                      <p:to>
                                        <p:strVal val="visible"/>
                                      </p:to>
                                    </p:set>
                                  </p:childTnLst>
                                </p:cTn>
                              </p:par>
                            </p:childTnLst>
                          </p:cTn>
                        </p:par>
                        <p:par>
                          <p:cTn id="11" fill="hold">
                            <p:stCondLst>
                              <p:cond delay="1000"/>
                            </p:stCondLst>
                            <p:childTnLst>
                              <p:par>
                                <p:cTn id="12" presetID="2" presetClass="entr" presetSubtype="8" fill="hold" nodeType="afterEffect">
                                  <p:stCondLst>
                                    <p:cond delay="0"/>
                                  </p:stCondLst>
                                  <p:childTnLst>
                                    <p:set>
                                      <p:cBhvr>
                                        <p:cTn id="13" dur="1" fill="hold">
                                          <p:stCondLst>
                                            <p:cond delay="0"/>
                                          </p:stCondLst>
                                        </p:cTn>
                                        <p:tgtEl>
                                          <p:spTgt spid="32782"/>
                                        </p:tgtEl>
                                        <p:attrNameLst>
                                          <p:attrName>style.visibility</p:attrName>
                                        </p:attrNameLst>
                                      </p:cBhvr>
                                      <p:to>
                                        <p:strVal val="visible"/>
                                      </p:to>
                                    </p:set>
                                    <p:anim calcmode="lin" valueType="num">
                                      <p:cBhvr additive="base">
                                        <p:cTn id="14" dur="500" fill="hold"/>
                                        <p:tgtEl>
                                          <p:spTgt spid="32782"/>
                                        </p:tgtEl>
                                        <p:attrNameLst>
                                          <p:attrName>ppt_x</p:attrName>
                                        </p:attrNameLst>
                                      </p:cBhvr>
                                      <p:tavLst>
                                        <p:tav tm="0">
                                          <p:val>
                                            <p:strVal val="0-#ppt_w/2"/>
                                          </p:val>
                                        </p:tav>
                                        <p:tav tm="100000">
                                          <p:val>
                                            <p:strVal val="#ppt_x"/>
                                          </p:val>
                                        </p:tav>
                                      </p:tavLst>
                                    </p:anim>
                                    <p:anim calcmode="lin" valueType="num">
                                      <p:cBhvr additive="base">
                                        <p:cTn id="15" dur="500" fill="hold"/>
                                        <p:tgtEl>
                                          <p:spTgt spid="32782"/>
                                        </p:tgtEl>
                                        <p:attrNameLst>
                                          <p:attrName>ppt_y</p:attrName>
                                        </p:attrNameLst>
                                      </p:cBhvr>
                                      <p:tavLst>
                                        <p:tav tm="0">
                                          <p:val>
                                            <p:strVal val="#ppt_y"/>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8" fill="hold" grpId="0" nodeType="clickEffect">
                                  <p:stCondLst>
                                    <p:cond delay="0"/>
                                  </p:stCondLst>
                                  <p:childTnLst>
                                    <p:set>
                                      <p:cBhvr>
                                        <p:cTn id="19" dur="1" fill="hold">
                                          <p:stCondLst>
                                            <p:cond delay="0"/>
                                          </p:stCondLst>
                                        </p:cTn>
                                        <p:tgtEl>
                                          <p:spTgt spid="32786"/>
                                        </p:tgtEl>
                                        <p:attrNameLst>
                                          <p:attrName>style.visibility</p:attrName>
                                        </p:attrNameLst>
                                      </p:cBhvr>
                                      <p:to>
                                        <p:strVal val="visible"/>
                                      </p:to>
                                    </p:set>
                                    <p:anim calcmode="lin" valueType="num">
                                      <p:cBhvr additive="base">
                                        <p:cTn id="20" dur="500" fill="hold"/>
                                        <p:tgtEl>
                                          <p:spTgt spid="32786"/>
                                        </p:tgtEl>
                                        <p:attrNameLst>
                                          <p:attrName>ppt_x</p:attrName>
                                        </p:attrNameLst>
                                      </p:cBhvr>
                                      <p:tavLst>
                                        <p:tav tm="0">
                                          <p:val>
                                            <p:strVal val="0-#ppt_w/2"/>
                                          </p:val>
                                        </p:tav>
                                        <p:tav tm="100000">
                                          <p:val>
                                            <p:strVal val="#ppt_x"/>
                                          </p:val>
                                        </p:tav>
                                      </p:tavLst>
                                    </p:anim>
                                    <p:anim calcmode="lin" valueType="num">
                                      <p:cBhvr additive="base">
                                        <p:cTn id="21" dur="500" fill="hold"/>
                                        <p:tgtEl>
                                          <p:spTgt spid="3278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85" grpId="0" autoUpdateAnimBg="0"/>
      <p:bldP spid="32786"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66" name="Text Box 14"/>
          <p:cNvSpPr txBox="1">
            <a:spLocks noChangeArrowheads="1"/>
          </p:cNvSpPr>
          <p:nvPr/>
        </p:nvSpPr>
        <p:spPr bwMode="auto">
          <a:xfrm>
            <a:off x="228600" y="825500"/>
            <a:ext cx="8915400" cy="891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30000"/>
              </a:lnSpc>
            </a:pPr>
            <a:r>
              <a:rPr lang="zh-CN" altLang="en-US" sz="2000" dirty="0">
                <a:solidFill>
                  <a:srgbClr val="000099"/>
                </a:solidFill>
                <a:latin typeface="华文中宋" panose="02010600040101010101" pitchFamily="2" charset="-122"/>
              </a:rPr>
              <a:t>　　磨损是运动副之间的摩擦所导致零件表面材料的逐渐丧失或迁移。磨损会影响机器的效率，降低工作的可靠性，甚至促使机器提前报废。</a:t>
            </a:r>
            <a:endParaRPr lang="zh-CN" altLang="en-US" sz="2000" dirty="0">
              <a:solidFill>
                <a:srgbClr val="000099"/>
              </a:solidFill>
              <a:latin typeface="华文中宋" panose="02010600040101010101" pitchFamily="2" charset="-122"/>
            </a:endParaRPr>
          </a:p>
        </p:txBody>
      </p:sp>
      <p:sp>
        <p:nvSpPr>
          <p:cNvPr id="9219" name="Rectangle 15"/>
          <p:cNvSpPr>
            <a:spLocks noGrp="1" noChangeArrowheads="1"/>
          </p:cNvSpPr>
          <p:nvPr>
            <p:ph type="title"/>
          </p:nvPr>
        </p:nvSpPr>
        <p:spPr bwMode="auto">
          <a:xfrm>
            <a:off x="6172200" y="1676400"/>
            <a:ext cx="9144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磨   损</a:t>
            </a:r>
            <a:r>
              <a:rPr lang="en-US" altLang="zh-CN" sz="800" smtClean="0">
                <a:solidFill>
                  <a:schemeClr val="bg1"/>
                </a:solidFill>
                <a:latin typeface="华文中宋" panose="02010600040101010101" pitchFamily="2" charset="-122"/>
                <a:ea typeface="华文中宋" panose="02010600040101010101" pitchFamily="2" charset="-122"/>
              </a:rPr>
              <a:t>1</a:t>
            </a:r>
            <a:endParaRPr lang="en-US" altLang="zh-CN" sz="800" smtClean="0">
              <a:solidFill>
                <a:schemeClr val="bg1"/>
              </a:solidFill>
              <a:latin typeface="华文中宋" panose="02010600040101010101" pitchFamily="2" charset="-122"/>
              <a:ea typeface="华文中宋" panose="02010600040101010101" pitchFamily="2" charset="-122"/>
            </a:endParaRPr>
          </a:p>
        </p:txBody>
      </p:sp>
      <p:sp>
        <p:nvSpPr>
          <p:cNvPr id="23569" name="Text Box 17"/>
          <p:cNvSpPr txBox="1">
            <a:spLocks noChangeArrowheads="1"/>
          </p:cNvSpPr>
          <p:nvPr/>
        </p:nvSpPr>
        <p:spPr bwMode="auto">
          <a:xfrm>
            <a:off x="151598" y="5684353"/>
            <a:ext cx="8915400"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30000"/>
              </a:lnSpc>
            </a:pPr>
            <a:r>
              <a:rPr lang="zh-CN" altLang="en-US" sz="2000" dirty="0">
                <a:solidFill>
                  <a:srgbClr val="000099"/>
                </a:solidFill>
                <a:latin typeface="华文中宋" panose="02010600040101010101" pitchFamily="2" charset="-122"/>
              </a:rPr>
              <a:t>　　在设计或使用机器时，应该力求缩短磨合期，延长稳定磨损期，推迟剧烈磨损的到来。为此就必须对形成磨损的机理有所了解。</a:t>
            </a:r>
            <a:endParaRPr lang="zh-CN" altLang="en-US" sz="2000" dirty="0">
              <a:solidFill>
                <a:srgbClr val="000099"/>
              </a:solidFill>
              <a:latin typeface="华文中宋" panose="02010600040101010101" pitchFamily="2" charset="-122"/>
            </a:endParaRPr>
          </a:p>
        </p:txBody>
      </p:sp>
      <p:sp>
        <p:nvSpPr>
          <p:cNvPr id="23573" name="Text Box 21"/>
          <p:cNvSpPr txBox="1">
            <a:spLocks noChangeArrowheads="1"/>
          </p:cNvSpPr>
          <p:nvPr/>
        </p:nvSpPr>
        <p:spPr bwMode="auto">
          <a:xfrm>
            <a:off x="228600" y="1689100"/>
            <a:ext cx="8915400" cy="1852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30000"/>
              </a:lnSpc>
            </a:pPr>
            <a:r>
              <a:rPr lang="zh-CN" altLang="en-US" sz="2000" dirty="0">
                <a:solidFill>
                  <a:srgbClr val="000099"/>
                </a:solidFill>
                <a:latin typeface="华文中宋" panose="02010600040101010101" pitchFamily="2" charset="-122"/>
              </a:rPr>
              <a:t>　　</a:t>
            </a:r>
            <a:r>
              <a:rPr lang="zh-CN" altLang="en-US" dirty="0">
                <a:solidFill>
                  <a:srgbClr val="000099"/>
                </a:solidFill>
                <a:latin typeface="黑体" panose="02010609060101010101" pitchFamily="49" charset="-122"/>
                <a:ea typeface="黑体" panose="02010609060101010101" pitchFamily="49" charset="-122"/>
              </a:rPr>
              <a:t>一个零件的磨损过程大致可分为三个阶段，即：</a:t>
            </a:r>
            <a:endParaRPr lang="zh-CN" altLang="en-US" dirty="0">
              <a:solidFill>
                <a:srgbClr val="000099"/>
              </a:solidFill>
              <a:latin typeface="黑体" panose="02010609060101010101" pitchFamily="49" charset="-122"/>
              <a:ea typeface="黑体" panose="02010609060101010101" pitchFamily="49" charset="-122"/>
            </a:endParaRPr>
          </a:p>
          <a:p>
            <a:pPr eaLnBrk="1" hangingPunct="1">
              <a:lnSpc>
                <a:spcPct val="130000"/>
              </a:lnSpc>
            </a:pPr>
            <a:r>
              <a:rPr lang="zh-CN" altLang="en-US" sz="2000" dirty="0">
                <a:solidFill>
                  <a:srgbClr val="CC3300"/>
                </a:solidFill>
                <a:latin typeface="华文中宋" panose="02010600040101010101" pitchFamily="2" charset="-122"/>
                <a:sym typeface="Wingdings" panose="05000000000000000000" pitchFamily="2" charset="2"/>
              </a:rPr>
              <a:t> </a:t>
            </a:r>
            <a:r>
              <a:rPr lang="zh-CN" altLang="en-US" dirty="0">
                <a:solidFill>
                  <a:srgbClr val="FF0000"/>
                </a:solidFill>
                <a:latin typeface="黑体" panose="02010609060101010101" pitchFamily="49" charset="-122"/>
                <a:ea typeface="黑体" panose="02010609060101010101" pitchFamily="49" charset="-122"/>
              </a:rPr>
              <a:t>磨合阶段</a:t>
            </a:r>
            <a:r>
              <a:rPr lang="zh-CN" altLang="en-US" dirty="0">
                <a:solidFill>
                  <a:srgbClr val="000099"/>
                </a:solidFill>
                <a:latin typeface="黑体" panose="02010609060101010101" pitchFamily="49" charset="-122"/>
                <a:ea typeface="黑体" panose="02010609060101010101" pitchFamily="49" charset="-122"/>
              </a:rPr>
              <a:t>　新的零件在开始使用时一般处于这一阶段，磨损率较高。</a:t>
            </a:r>
            <a:endParaRPr lang="zh-CN" altLang="en-US" dirty="0">
              <a:solidFill>
                <a:srgbClr val="000099"/>
              </a:solidFill>
              <a:latin typeface="黑体" panose="02010609060101010101" pitchFamily="49" charset="-122"/>
              <a:ea typeface="黑体" panose="02010609060101010101" pitchFamily="49" charset="-122"/>
            </a:endParaRPr>
          </a:p>
          <a:p>
            <a:pPr eaLnBrk="1" hangingPunct="1">
              <a:lnSpc>
                <a:spcPct val="130000"/>
              </a:lnSpc>
            </a:pPr>
            <a:r>
              <a:rPr lang="zh-CN" altLang="en-US" dirty="0">
                <a:solidFill>
                  <a:srgbClr val="FF0000"/>
                </a:solidFill>
                <a:latin typeface="黑体" panose="02010609060101010101" pitchFamily="49" charset="-122"/>
                <a:ea typeface="黑体" panose="02010609060101010101" pitchFamily="49" charset="-122"/>
                <a:sym typeface="Wingdings" panose="05000000000000000000" pitchFamily="2" charset="2"/>
              </a:rPr>
              <a:t> </a:t>
            </a:r>
            <a:r>
              <a:rPr lang="zh-CN" altLang="en-US" dirty="0">
                <a:solidFill>
                  <a:srgbClr val="FF0000"/>
                </a:solidFill>
                <a:latin typeface="黑体" panose="02010609060101010101" pitchFamily="49" charset="-122"/>
                <a:ea typeface="黑体" panose="02010609060101010101" pitchFamily="49" charset="-122"/>
              </a:rPr>
              <a:t>稳定磨损阶段</a:t>
            </a:r>
            <a:r>
              <a:rPr lang="zh-CN" altLang="en-US" dirty="0">
                <a:solidFill>
                  <a:srgbClr val="000099"/>
                </a:solidFill>
                <a:latin typeface="黑体" panose="02010609060101010101" pitchFamily="49" charset="-122"/>
                <a:ea typeface="黑体" panose="02010609060101010101" pitchFamily="49" charset="-122"/>
              </a:rPr>
              <a:t>　属于零件正常工作阶段，磨损率稳定且较低。</a:t>
            </a:r>
            <a:endParaRPr lang="zh-CN" altLang="en-US" dirty="0">
              <a:solidFill>
                <a:srgbClr val="000099"/>
              </a:solidFill>
              <a:latin typeface="黑体" panose="02010609060101010101" pitchFamily="49" charset="-122"/>
              <a:ea typeface="黑体" panose="02010609060101010101" pitchFamily="49" charset="-122"/>
            </a:endParaRPr>
          </a:p>
          <a:p>
            <a:pPr eaLnBrk="1" hangingPunct="1">
              <a:lnSpc>
                <a:spcPct val="130000"/>
              </a:lnSpc>
            </a:pPr>
            <a:r>
              <a:rPr lang="zh-CN" altLang="en-US" dirty="0">
                <a:solidFill>
                  <a:srgbClr val="FF0000"/>
                </a:solidFill>
                <a:latin typeface="黑体" panose="02010609060101010101" pitchFamily="49" charset="-122"/>
                <a:ea typeface="黑体" panose="02010609060101010101" pitchFamily="49" charset="-122"/>
                <a:sym typeface="Wingdings" panose="05000000000000000000" pitchFamily="2" charset="2"/>
              </a:rPr>
              <a:t> </a:t>
            </a:r>
            <a:r>
              <a:rPr lang="zh-CN" altLang="en-US" dirty="0">
                <a:solidFill>
                  <a:srgbClr val="FF0000"/>
                </a:solidFill>
                <a:latin typeface="黑体" panose="02010609060101010101" pitchFamily="49" charset="-122"/>
                <a:ea typeface="黑体" panose="02010609060101010101" pitchFamily="49" charset="-122"/>
              </a:rPr>
              <a:t>剧烈磨损阶段</a:t>
            </a:r>
            <a:r>
              <a:rPr lang="zh-CN" altLang="en-US" dirty="0">
                <a:solidFill>
                  <a:srgbClr val="000099"/>
                </a:solidFill>
                <a:latin typeface="黑体" panose="02010609060101010101" pitchFamily="49" charset="-122"/>
                <a:ea typeface="黑体" panose="02010609060101010101" pitchFamily="49" charset="-122"/>
              </a:rPr>
              <a:t>　属于零件即将报废的阶段，磨损率急剧升高。</a:t>
            </a:r>
            <a:endParaRPr lang="zh-CN" altLang="en-US" dirty="0">
              <a:solidFill>
                <a:srgbClr val="000099"/>
              </a:solidFill>
              <a:latin typeface="黑体" panose="02010609060101010101" pitchFamily="49" charset="-122"/>
              <a:ea typeface="黑体" panose="02010609060101010101" pitchFamily="49" charset="-122"/>
            </a:endParaRPr>
          </a:p>
        </p:txBody>
      </p:sp>
      <p:sp>
        <p:nvSpPr>
          <p:cNvPr id="9224" name="Rectangle 24"/>
          <p:cNvSpPr>
            <a:spLocks noChangeArrowheads="1"/>
          </p:cNvSpPr>
          <p:nvPr/>
        </p:nvSpPr>
        <p:spPr bwMode="auto">
          <a:xfrm>
            <a:off x="5867400" y="762000"/>
            <a:ext cx="1371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800">
                <a:solidFill>
                  <a:schemeClr val="bg1"/>
                </a:solidFill>
                <a:latin typeface="华文中宋" panose="02010600040101010101" pitchFamily="2" charset="-122"/>
              </a:rPr>
              <a:t>摩   擦</a:t>
            </a:r>
            <a:r>
              <a:rPr lang="en-US" altLang="zh-CN" sz="800">
                <a:solidFill>
                  <a:schemeClr val="bg1"/>
                </a:solidFill>
                <a:latin typeface="华文中宋" panose="02010600040101010101" pitchFamily="2" charset="-122"/>
              </a:rPr>
              <a:t>2</a:t>
            </a:r>
            <a:endParaRPr lang="en-US" altLang="zh-CN" sz="800">
              <a:solidFill>
                <a:schemeClr val="bg1"/>
              </a:solidFill>
              <a:latin typeface="华文中宋" panose="02010600040101010101" pitchFamily="2" charset="-122"/>
            </a:endParaRPr>
          </a:p>
        </p:txBody>
      </p:sp>
      <p:sp>
        <p:nvSpPr>
          <p:cNvPr id="9225" name="Rectangle 34"/>
          <p:cNvSpPr>
            <a:spLocks noChangeArrowheads="1"/>
          </p:cNvSpPr>
          <p:nvPr/>
        </p:nvSpPr>
        <p:spPr bwMode="auto">
          <a:xfrm>
            <a:off x="5448300" y="228600"/>
            <a:ext cx="280670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1.5-2 </a:t>
            </a:r>
            <a:r>
              <a:rPr lang="zh-CN" altLang="en-US" sz="3000" dirty="0">
                <a:solidFill>
                  <a:srgbClr val="CC3300"/>
                </a:solidFill>
                <a:latin typeface="黑体" panose="02010609060101010101" pitchFamily="49" charset="-122"/>
                <a:ea typeface="黑体" panose="02010609060101010101" pitchFamily="49" charset="-122"/>
              </a:rPr>
              <a:t>磨   损</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23587" name="Text Box 35"/>
          <p:cNvSpPr txBox="1">
            <a:spLocks noChangeArrowheads="1"/>
          </p:cNvSpPr>
          <p:nvPr/>
        </p:nvSpPr>
        <p:spPr bwMode="auto">
          <a:xfrm>
            <a:off x="5599113" y="6056313"/>
            <a:ext cx="2682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pic>
        <p:nvPicPr>
          <p:cNvPr id="9227" name="Picture 3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2211" y="3527442"/>
            <a:ext cx="3228975" cy="221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8" name="Picture 3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5825" y="3705225"/>
            <a:ext cx="3562350" cy="196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9"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566"/>
                                        </p:tgtEl>
                                        <p:attrNameLst>
                                          <p:attrName>style.visibility</p:attrName>
                                        </p:attrNameLst>
                                      </p:cBhvr>
                                      <p:to>
                                        <p:strVal val="visible"/>
                                      </p:to>
                                    </p:set>
                                    <p:animEffect transition="in" filter="wipe(left)">
                                      <p:cBhvr>
                                        <p:cTn id="7" dur="500"/>
                                        <p:tgtEl>
                                          <p:spTgt spid="235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3573"/>
                                        </p:tgtEl>
                                        <p:attrNameLst>
                                          <p:attrName>style.visibility</p:attrName>
                                        </p:attrNameLst>
                                      </p:cBhvr>
                                      <p:to>
                                        <p:strVal val="visible"/>
                                      </p:to>
                                    </p:set>
                                    <p:animEffect transition="in" filter="wipe(up)">
                                      <p:cBhvr>
                                        <p:cTn id="12" dur="500"/>
                                        <p:tgtEl>
                                          <p:spTgt spid="23573"/>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23569"/>
                                        </p:tgtEl>
                                        <p:attrNameLst>
                                          <p:attrName>style.visibility</p:attrName>
                                        </p:attrNameLst>
                                      </p:cBhvr>
                                      <p:to>
                                        <p:strVal val="visible"/>
                                      </p:to>
                                    </p:set>
                                    <p:animEffect transition="in" filter="slide(fromBottom)">
                                      <p:cBhvr>
                                        <p:cTn id="17" dur="500"/>
                                        <p:tgtEl>
                                          <p:spTgt spid="23569"/>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23587"/>
                                        </p:tgtEl>
                                        <p:attrNameLst>
                                          <p:attrName>style.visibility</p:attrName>
                                        </p:attrNameLst>
                                      </p:cBhvr>
                                      <p:to>
                                        <p:strVal val="visible"/>
                                      </p:to>
                                    </p:set>
                                    <p:anim calcmode="lin" valueType="num">
                                      <p:cBhvr additive="base">
                                        <p:cTn id="22" dur="500" fill="hold"/>
                                        <p:tgtEl>
                                          <p:spTgt spid="23587"/>
                                        </p:tgtEl>
                                        <p:attrNameLst>
                                          <p:attrName>ppt_x</p:attrName>
                                        </p:attrNameLst>
                                      </p:cBhvr>
                                      <p:tavLst>
                                        <p:tav tm="0">
                                          <p:val>
                                            <p:strVal val="0-#ppt_w/2"/>
                                          </p:val>
                                        </p:tav>
                                        <p:tav tm="100000">
                                          <p:val>
                                            <p:strVal val="#ppt_x"/>
                                          </p:val>
                                        </p:tav>
                                      </p:tavLst>
                                    </p:anim>
                                    <p:anim calcmode="lin" valueType="num">
                                      <p:cBhvr additive="base">
                                        <p:cTn id="23" dur="500" fill="hold"/>
                                        <p:tgtEl>
                                          <p:spTgt spid="2358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6" grpId="0" autoUpdateAnimBg="0"/>
      <p:bldP spid="23569" grpId="0" autoUpdateAnimBg="0"/>
      <p:bldP spid="23573" grpId="0" autoUpdateAnimBg="0"/>
      <p:bldP spid="23587"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bwMode="auto">
          <a:xfrm>
            <a:off x="7391400" y="914400"/>
            <a:ext cx="762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磨   损</a:t>
            </a:r>
            <a:r>
              <a:rPr lang="en-US" altLang="zh-CN" sz="800" smtClean="0">
                <a:solidFill>
                  <a:schemeClr val="bg1"/>
                </a:solidFill>
                <a:latin typeface="华文中宋" panose="02010600040101010101" pitchFamily="2" charset="-122"/>
                <a:ea typeface="华文中宋" panose="02010600040101010101" pitchFamily="2" charset="-122"/>
              </a:rPr>
              <a:t>2</a:t>
            </a:r>
            <a:endParaRPr lang="en-US" altLang="zh-CN" sz="800" smtClean="0">
              <a:solidFill>
                <a:schemeClr val="bg1"/>
              </a:solidFill>
              <a:latin typeface="华文中宋" panose="02010600040101010101" pitchFamily="2" charset="-122"/>
              <a:ea typeface="华文中宋" panose="02010600040101010101" pitchFamily="2" charset="-122"/>
            </a:endParaRPr>
          </a:p>
        </p:txBody>
      </p:sp>
      <p:sp>
        <p:nvSpPr>
          <p:cNvPr id="31766" name="Rectangle 22"/>
          <p:cNvSpPr>
            <a:spLocks noChangeArrowheads="1"/>
          </p:cNvSpPr>
          <p:nvPr/>
        </p:nvSpPr>
        <p:spPr bwMode="auto">
          <a:xfrm>
            <a:off x="254000" y="812800"/>
            <a:ext cx="8890000" cy="910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30000"/>
              </a:lnSpc>
            </a:pPr>
            <a:r>
              <a:rPr lang="zh-CN" altLang="en-US" dirty="0">
                <a:solidFill>
                  <a:srgbClr val="000099"/>
                </a:solidFill>
                <a:latin typeface="黑体" panose="02010609060101010101" pitchFamily="49" charset="-122"/>
                <a:ea typeface="黑体" panose="02010609060101010101" pitchFamily="49" charset="-122"/>
              </a:rPr>
              <a:t>       磨损按破坏机理来分有：黏着磨损、磨粒磨损、疲劳磨损、流体磨粒磨损、流体侵蚀磨损、机械化学磨损等。      </a:t>
            </a:r>
            <a:endParaRPr lang="zh-CN" altLang="en-US" dirty="0">
              <a:solidFill>
                <a:srgbClr val="000099"/>
              </a:solidFill>
              <a:latin typeface="黑体" panose="02010609060101010101" pitchFamily="49" charset="-122"/>
              <a:ea typeface="黑体" panose="02010609060101010101" pitchFamily="49" charset="-122"/>
            </a:endParaRPr>
          </a:p>
        </p:txBody>
      </p:sp>
      <p:pic>
        <p:nvPicPr>
          <p:cNvPr id="31771" name="Picture 27"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72475"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72" name="Picture 28" descr="back1">
            <a:hlinkClick r:id="" action="ppaction://hlinkshowjump?jump=previous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8046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77" name="Text Box 33"/>
          <p:cNvSpPr txBox="1">
            <a:spLocks noChangeArrowheads="1"/>
          </p:cNvSpPr>
          <p:nvPr/>
        </p:nvSpPr>
        <p:spPr bwMode="auto">
          <a:xfrm>
            <a:off x="7250113" y="6238875"/>
            <a:ext cx="46037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a:t>　</a:t>
            </a:r>
            <a:endParaRPr lang="zh-CN" altLang="en-US"/>
          </a:p>
        </p:txBody>
      </p:sp>
      <p:sp>
        <p:nvSpPr>
          <p:cNvPr id="10247" name="矩形 13"/>
          <p:cNvSpPr>
            <a:spLocks noChangeArrowheads="1"/>
          </p:cNvSpPr>
          <p:nvPr/>
        </p:nvSpPr>
        <p:spPr bwMode="auto">
          <a:xfrm>
            <a:off x="313623" y="1763730"/>
            <a:ext cx="5181600" cy="163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5000"/>
              </a:lnSpc>
            </a:pPr>
            <a:r>
              <a:rPr lang="en-US" altLang="zh-CN" sz="2000" dirty="0">
                <a:solidFill>
                  <a:srgbClr val="FF0000"/>
                </a:solidFill>
                <a:latin typeface="华文中宋" panose="02010600040101010101" pitchFamily="2" charset="-122"/>
              </a:rPr>
              <a:t>1</a:t>
            </a:r>
            <a:r>
              <a:rPr lang="zh-CN" altLang="en-US" sz="2000" dirty="0">
                <a:solidFill>
                  <a:srgbClr val="FF0000"/>
                </a:solidFill>
                <a:latin typeface="华文中宋" panose="02010600040101010101" pitchFamily="2" charset="-122"/>
              </a:rPr>
              <a:t>．黏着磨损  </a:t>
            </a:r>
            <a:r>
              <a:rPr lang="zh-CN" altLang="en-US" sz="2000" dirty="0">
                <a:solidFill>
                  <a:srgbClr val="000099"/>
                </a:solidFill>
                <a:latin typeface="华文中宋" panose="02010600040101010101" pitchFamily="2" charset="-122"/>
              </a:rPr>
              <a:t>当摩擦表面的轮廓峰在相互作用的各点处发生“焊结”现象，在相对滑动时，由于黏着作用使材料由一个表面转移到另一表面所引起的磨损，称为黏着磨损。</a:t>
            </a:r>
            <a:endParaRPr lang="zh-CN" altLang="en-US" sz="2000" dirty="0">
              <a:solidFill>
                <a:srgbClr val="000099"/>
              </a:solidFill>
              <a:latin typeface="华文中宋" panose="02010600040101010101" pitchFamily="2" charset="-122"/>
            </a:endParaRPr>
          </a:p>
        </p:txBody>
      </p:sp>
      <p:pic>
        <p:nvPicPr>
          <p:cNvPr id="10248" name="Picture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92900" y="1436688"/>
            <a:ext cx="2216150" cy="158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9" name="矩形 15"/>
          <p:cNvSpPr>
            <a:spLocks noChangeArrowheads="1"/>
          </p:cNvSpPr>
          <p:nvPr/>
        </p:nvSpPr>
        <p:spPr bwMode="auto">
          <a:xfrm>
            <a:off x="370573" y="3537284"/>
            <a:ext cx="45593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5000"/>
              </a:lnSpc>
            </a:pPr>
            <a:r>
              <a:rPr lang="en-US" altLang="zh-CN" sz="2000" dirty="0">
                <a:solidFill>
                  <a:srgbClr val="FF0000"/>
                </a:solidFill>
                <a:latin typeface="华文中宋" panose="02010600040101010101" pitchFamily="2" charset="-122"/>
              </a:rPr>
              <a:t>2</a:t>
            </a:r>
            <a:r>
              <a:rPr lang="zh-CN" altLang="en-US" sz="2000" dirty="0">
                <a:solidFill>
                  <a:srgbClr val="FF0000"/>
                </a:solidFill>
                <a:latin typeface="华文中宋" panose="02010600040101010101" pitchFamily="2" charset="-122"/>
              </a:rPr>
              <a:t>．磨粒磨损  </a:t>
            </a:r>
            <a:r>
              <a:rPr lang="zh-CN" altLang="en-US" sz="2000" dirty="0">
                <a:solidFill>
                  <a:srgbClr val="000099"/>
                </a:solidFill>
                <a:latin typeface="华文中宋" panose="02010600040101010101" pitchFamily="2" charset="-122"/>
              </a:rPr>
              <a:t>从外部进入摩擦表面间的游离硬质颗粒或摩擦表面上的硬质突出物，在摩擦过程中引起材料损失的现象，称为磨粒磨损。</a:t>
            </a:r>
            <a:endParaRPr lang="zh-CN" altLang="en-US" sz="2000" dirty="0">
              <a:solidFill>
                <a:srgbClr val="000099"/>
              </a:solidFill>
              <a:latin typeface="华文中宋" panose="02010600040101010101" pitchFamily="2" charset="-122"/>
            </a:endParaRPr>
          </a:p>
        </p:txBody>
      </p:sp>
      <p:pic>
        <p:nvPicPr>
          <p:cNvPr id="10250" name="Picture 3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2413" y="3276600"/>
            <a:ext cx="3811587" cy="1379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1" name="矩形 17"/>
          <p:cNvSpPr>
            <a:spLocks noChangeArrowheads="1"/>
          </p:cNvSpPr>
          <p:nvPr/>
        </p:nvSpPr>
        <p:spPr bwMode="auto">
          <a:xfrm>
            <a:off x="405598" y="5298123"/>
            <a:ext cx="4572000" cy="1246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5000"/>
              </a:lnSpc>
            </a:pPr>
            <a:r>
              <a:rPr lang="en-US" altLang="zh-CN" sz="2000" dirty="0">
                <a:solidFill>
                  <a:srgbClr val="FF0000"/>
                </a:solidFill>
                <a:latin typeface="华文中宋" panose="02010600040101010101" pitchFamily="2" charset="-122"/>
              </a:rPr>
              <a:t>3</a:t>
            </a:r>
            <a:r>
              <a:rPr lang="zh-CN" altLang="en-US" sz="2000" dirty="0">
                <a:solidFill>
                  <a:srgbClr val="FF0000"/>
                </a:solidFill>
                <a:latin typeface="华文中宋" panose="02010600040101010101" pitchFamily="2" charset="-122"/>
              </a:rPr>
              <a:t> ．疲劳磨损  </a:t>
            </a:r>
            <a:r>
              <a:rPr lang="zh-CN" altLang="en-US" sz="2000" dirty="0">
                <a:solidFill>
                  <a:srgbClr val="000099"/>
                </a:solidFill>
                <a:latin typeface="华文中宋" panose="02010600040101010101" pitchFamily="2" charset="-122"/>
              </a:rPr>
              <a:t>由于摩擦表面材料微体积在重复变形时因疲劳破坏而引起的机械磨损，称为磨粒磨损。</a:t>
            </a:r>
            <a:endParaRPr lang="zh-CN" altLang="en-US" sz="2000" dirty="0">
              <a:solidFill>
                <a:srgbClr val="000099"/>
              </a:solidFill>
              <a:latin typeface="华文中宋" panose="02010600040101010101" pitchFamily="2" charset="-122"/>
            </a:endParaRPr>
          </a:p>
        </p:txBody>
      </p:sp>
      <p:pic>
        <p:nvPicPr>
          <p:cNvPr id="10252" name="Picture 3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53000" y="4883150"/>
            <a:ext cx="3028950" cy="166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3" name="Rectangle 34"/>
          <p:cNvSpPr>
            <a:spLocks noChangeArrowheads="1"/>
          </p:cNvSpPr>
          <p:nvPr/>
        </p:nvSpPr>
        <p:spPr bwMode="auto">
          <a:xfrm>
            <a:off x="5448300" y="228600"/>
            <a:ext cx="280670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1.5-2 </a:t>
            </a:r>
            <a:r>
              <a:rPr lang="zh-CN" altLang="en-US" sz="3000" dirty="0">
                <a:solidFill>
                  <a:srgbClr val="CC3300"/>
                </a:solidFill>
                <a:latin typeface="黑体" panose="02010609060101010101" pitchFamily="49" charset="-122"/>
                <a:ea typeface="黑体" panose="02010609060101010101" pitchFamily="49" charset="-122"/>
              </a:rPr>
              <a:t>磨   损</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10254"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1766"/>
                                        </p:tgtEl>
                                        <p:attrNameLst>
                                          <p:attrName>style.visibility</p:attrName>
                                        </p:attrNameLst>
                                      </p:cBhvr>
                                      <p:to>
                                        <p:strVal val="visible"/>
                                      </p:to>
                                    </p:set>
                                    <p:animEffect transition="in" filter="wipe(left)">
                                      <p:cBhvr>
                                        <p:cTn id="7" dur="500"/>
                                        <p:tgtEl>
                                          <p:spTgt spid="31766"/>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499"/>
                                          </p:stCondLst>
                                        </p:cTn>
                                        <p:tgtEl>
                                          <p:spTgt spid="31772"/>
                                        </p:tgtEl>
                                        <p:attrNameLst>
                                          <p:attrName>style.visibility</p:attrName>
                                        </p:attrNameLst>
                                      </p:cBhvr>
                                      <p:to>
                                        <p:strVal val="visible"/>
                                      </p:to>
                                    </p:set>
                                  </p:childTnLst>
                                </p:cTn>
                              </p:par>
                            </p:childTnLst>
                          </p:cTn>
                        </p:par>
                        <p:par>
                          <p:cTn id="11" fill="hold">
                            <p:stCondLst>
                              <p:cond delay="1000"/>
                            </p:stCondLst>
                            <p:childTnLst>
                              <p:par>
                                <p:cTn id="12" presetID="2" presetClass="entr" presetSubtype="8" fill="hold" nodeType="afterEffect">
                                  <p:stCondLst>
                                    <p:cond delay="0"/>
                                  </p:stCondLst>
                                  <p:childTnLst>
                                    <p:set>
                                      <p:cBhvr>
                                        <p:cTn id="13" dur="1" fill="hold">
                                          <p:stCondLst>
                                            <p:cond delay="0"/>
                                          </p:stCondLst>
                                        </p:cTn>
                                        <p:tgtEl>
                                          <p:spTgt spid="31771"/>
                                        </p:tgtEl>
                                        <p:attrNameLst>
                                          <p:attrName>style.visibility</p:attrName>
                                        </p:attrNameLst>
                                      </p:cBhvr>
                                      <p:to>
                                        <p:strVal val="visible"/>
                                      </p:to>
                                    </p:set>
                                    <p:anim calcmode="lin" valueType="num">
                                      <p:cBhvr additive="base">
                                        <p:cTn id="14" dur="500" fill="hold"/>
                                        <p:tgtEl>
                                          <p:spTgt spid="31771"/>
                                        </p:tgtEl>
                                        <p:attrNameLst>
                                          <p:attrName>ppt_x</p:attrName>
                                        </p:attrNameLst>
                                      </p:cBhvr>
                                      <p:tavLst>
                                        <p:tav tm="0">
                                          <p:val>
                                            <p:strVal val="0-#ppt_w/2"/>
                                          </p:val>
                                        </p:tav>
                                        <p:tav tm="100000">
                                          <p:val>
                                            <p:strVal val="#ppt_x"/>
                                          </p:val>
                                        </p:tav>
                                      </p:tavLst>
                                    </p:anim>
                                    <p:anim calcmode="lin" valueType="num">
                                      <p:cBhvr additive="base">
                                        <p:cTn id="15" dur="500" fill="hold"/>
                                        <p:tgtEl>
                                          <p:spTgt spid="31771"/>
                                        </p:tgtEl>
                                        <p:attrNameLst>
                                          <p:attrName>ppt_y</p:attrName>
                                        </p:attrNameLst>
                                      </p:cBhvr>
                                      <p:tavLst>
                                        <p:tav tm="0">
                                          <p:val>
                                            <p:strVal val="#ppt_y"/>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8" fill="hold" grpId="0" nodeType="clickEffect">
                                  <p:stCondLst>
                                    <p:cond delay="0"/>
                                  </p:stCondLst>
                                  <p:childTnLst>
                                    <p:set>
                                      <p:cBhvr>
                                        <p:cTn id="19" dur="1" fill="hold">
                                          <p:stCondLst>
                                            <p:cond delay="0"/>
                                          </p:stCondLst>
                                        </p:cTn>
                                        <p:tgtEl>
                                          <p:spTgt spid="31777"/>
                                        </p:tgtEl>
                                        <p:attrNameLst>
                                          <p:attrName>style.visibility</p:attrName>
                                        </p:attrNameLst>
                                      </p:cBhvr>
                                      <p:to>
                                        <p:strVal val="visible"/>
                                      </p:to>
                                    </p:set>
                                    <p:anim calcmode="lin" valueType="num">
                                      <p:cBhvr additive="base">
                                        <p:cTn id="20" dur="500" fill="hold"/>
                                        <p:tgtEl>
                                          <p:spTgt spid="31777"/>
                                        </p:tgtEl>
                                        <p:attrNameLst>
                                          <p:attrName>ppt_x</p:attrName>
                                        </p:attrNameLst>
                                      </p:cBhvr>
                                      <p:tavLst>
                                        <p:tav tm="0">
                                          <p:val>
                                            <p:strVal val="0-#ppt_w/2"/>
                                          </p:val>
                                        </p:tav>
                                        <p:tav tm="100000">
                                          <p:val>
                                            <p:strVal val="#ppt_x"/>
                                          </p:val>
                                        </p:tav>
                                      </p:tavLst>
                                    </p:anim>
                                    <p:anim calcmode="lin" valueType="num">
                                      <p:cBhvr additive="base">
                                        <p:cTn id="21" dur="500" fill="hold"/>
                                        <p:tgtEl>
                                          <p:spTgt spid="3177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66" grpId="0" autoUpdateAnimBg="0"/>
      <p:bldP spid="31777"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bwMode="auto">
          <a:xfrm>
            <a:off x="7391400" y="914400"/>
            <a:ext cx="762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磨   损</a:t>
            </a:r>
            <a:r>
              <a:rPr lang="en-US" altLang="zh-CN" sz="800" smtClean="0">
                <a:solidFill>
                  <a:schemeClr val="bg1"/>
                </a:solidFill>
                <a:latin typeface="华文中宋" panose="02010600040101010101" pitchFamily="2" charset="-122"/>
                <a:ea typeface="华文中宋" panose="02010600040101010101" pitchFamily="2" charset="-122"/>
              </a:rPr>
              <a:t>2</a:t>
            </a:r>
            <a:endParaRPr lang="en-US" altLang="zh-CN" sz="800" smtClean="0">
              <a:solidFill>
                <a:schemeClr val="bg1"/>
              </a:solidFill>
              <a:latin typeface="华文中宋" panose="02010600040101010101" pitchFamily="2" charset="-122"/>
              <a:ea typeface="华文中宋" panose="02010600040101010101" pitchFamily="2" charset="-122"/>
            </a:endParaRPr>
          </a:p>
        </p:txBody>
      </p:sp>
      <p:pic>
        <p:nvPicPr>
          <p:cNvPr id="31771" name="Picture 27"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72475"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72" name="Picture 28" descr="back1">
            <a:hlinkClick r:id="" action="ppaction://hlinkshowjump?jump=previous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8046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77" name="Text Box 33"/>
          <p:cNvSpPr txBox="1">
            <a:spLocks noChangeArrowheads="1"/>
          </p:cNvSpPr>
          <p:nvPr/>
        </p:nvSpPr>
        <p:spPr bwMode="auto">
          <a:xfrm>
            <a:off x="7250113" y="6238875"/>
            <a:ext cx="46037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a:t>　</a:t>
            </a:r>
            <a:endParaRPr lang="zh-CN" altLang="en-US"/>
          </a:p>
        </p:txBody>
      </p:sp>
      <p:sp>
        <p:nvSpPr>
          <p:cNvPr id="11270" name="矩形 13"/>
          <p:cNvSpPr>
            <a:spLocks noChangeArrowheads="1"/>
          </p:cNvSpPr>
          <p:nvPr/>
        </p:nvSpPr>
        <p:spPr bwMode="auto">
          <a:xfrm>
            <a:off x="400251" y="1451442"/>
            <a:ext cx="8496300"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5000"/>
              </a:lnSpc>
            </a:pPr>
            <a:r>
              <a:rPr lang="en-US" altLang="en-US" dirty="0">
                <a:solidFill>
                  <a:srgbClr val="000099"/>
                </a:solidFill>
                <a:latin typeface="黑体" panose="02010609060101010101" pitchFamily="49" charset="-122"/>
                <a:ea typeface="黑体" panose="02010609060101010101" pitchFamily="49" charset="-122"/>
              </a:rPr>
              <a:t>4</a:t>
            </a:r>
            <a:r>
              <a:rPr lang="zh-CN" altLang="en-US" dirty="0">
                <a:solidFill>
                  <a:srgbClr val="000099"/>
                </a:solidFill>
                <a:latin typeface="黑体" panose="02010609060101010101" pitchFamily="49" charset="-122"/>
                <a:ea typeface="黑体" panose="02010609060101010101" pitchFamily="49" charset="-122"/>
              </a:rPr>
              <a:t>．</a:t>
            </a:r>
            <a:r>
              <a:rPr lang="zh-CN" altLang="en-US" dirty="0">
                <a:solidFill>
                  <a:srgbClr val="FF0000"/>
                </a:solidFill>
                <a:latin typeface="黑体" panose="02010609060101010101" pitchFamily="49" charset="-122"/>
                <a:ea typeface="黑体" panose="02010609060101010101" pitchFamily="49" charset="-122"/>
              </a:rPr>
              <a:t>流体侵蚀磨损</a:t>
            </a:r>
            <a:r>
              <a:rPr lang="zh-CN" altLang="en-US" dirty="0">
                <a:solidFill>
                  <a:srgbClr val="000099"/>
                </a:solidFill>
                <a:latin typeface="黑体" panose="02010609060101010101" pitchFamily="49" charset="-122"/>
                <a:ea typeface="黑体" panose="02010609060101010101" pitchFamily="49" charset="-122"/>
              </a:rPr>
              <a:t>（冲蚀磨损</a:t>
            </a:r>
            <a:r>
              <a:rPr lang="zh-CN" altLang="en-US" dirty="0" smtClean="0">
                <a:solidFill>
                  <a:srgbClr val="000099"/>
                </a:solidFill>
                <a:latin typeface="黑体" panose="02010609060101010101" pitchFamily="49" charset="-122"/>
                <a:ea typeface="黑体" panose="02010609060101010101" pitchFamily="49" charset="-122"/>
              </a:rPr>
              <a:t>）</a:t>
            </a:r>
            <a:r>
              <a:rPr lang="en-US" altLang="zh-CN" dirty="0" smtClean="0">
                <a:solidFill>
                  <a:srgbClr val="000099"/>
                </a:solidFill>
                <a:latin typeface="黑体" panose="02010609060101010101" pitchFamily="49" charset="-122"/>
                <a:ea typeface="黑体" panose="02010609060101010101" pitchFamily="49" charset="-122"/>
              </a:rPr>
              <a:t>:</a:t>
            </a:r>
            <a:r>
              <a:rPr lang="zh-CN" altLang="en-US" dirty="0" smtClean="0">
                <a:solidFill>
                  <a:srgbClr val="000099"/>
                </a:solidFill>
                <a:latin typeface="黑体" panose="02010609060101010101" pitchFamily="49" charset="-122"/>
                <a:ea typeface="黑体" panose="02010609060101010101" pitchFamily="49" charset="-122"/>
              </a:rPr>
              <a:t>是</a:t>
            </a:r>
            <a:r>
              <a:rPr lang="zh-CN" altLang="en-US" dirty="0">
                <a:solidFill>
                  <a:srgbClr val="000099"/>
                </a:solidFill>
                <a:latin typeface="黑体" panose="02010609060101010101" pitchFamily="49" charset="-122"/>
                <a:ea typeface="黑体" panose="02010609060101010101" pitchFamily="49" charset="-122"/>
              </a:rPr>
              <a:t>指由液流或气流的冲蚀作用引起的机械磨损。</a:t>
            </a:r>
            <a:endParaRPr lang="zh-CN" altLang="en-US" dirty="0">
              <a:solidFill>
                <a:srgbClr val="000099"/>
              </a:solidFill>
              <a:latin typeface="黑体" panose="02010609060101010101" pitchFamily="49" charset="-122"/>
              <a:ea typeface="黑体" panose="02010609060101010101" pitchFamily="49" charset="-122"/>
            </a:endParaRPr>
          </a:p>
        </p:txBody>
      </p:sp>
      <p:sp>
        <p:nvSpPr>
          <p:cNvPr id="11271" name="矩形 15"/>
          <p:cNvSpPr>
            <a:spLocks noChangeArrowheads="1"/>
          </p:cNvSpPr>
          <p:nvPr/>
        </p:nvSpPr>
        <p:spPr bwMode="auto">
          <a:xfrm>
            <a:off x="473778" y="2986772"/>
            <a:ext cx="8496300"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5000"/>
              </a:lnSpc>
            </a:pPr>
            <a:r>
              <a:rPr lang="en-US" altLang="zh-CN" dirty="0">
                <a:solidFill>
                  <a:srgbClr val="000099"/>
                </a:solidFill>
                <a:latin typeface="黑体" panose="02010609060101010101" pitchFamily="49" charset="-122"/>
                <a:ea typeface="黑体" panose="02010609060101010101" pitchFamily="49" charset="-122"/>
              </a:rPr>
              <a:t>5</a:t>
            </a:r>
            <a:r>
              <a:rPr lang="zh-CN" altLang="en-US" dirty="0">
                <a:solidFill>
                  <a:srgbClr val="FF0000"/>
                </a:solidFill>
                <a:latin typeface="黑体" panose="02010609060101010101" pitchFamily="49" charset="-122"/>
                <a:ea typeface="黑体" panose="02010609060101010101" pitchFamily="49" charset="-122"/>
              </a:rPr>
              <a:t>．机械化学磨损</a:t>
            </a:r>
            <a:r>
              <a:rPr lang="zh-CN" altLang="en-US" dirty="0">
                <a:solidFill>
                  <a:srgbClr val="000099"/>
                </a:solidFill>
                <a:latin typeface="黑体" panose="02010609060101010101" pitchFamily="49" charset="-122"/>
                <a:ea typeface="黑体" panose="02010609060101010101" pitchFamily="49" charset="-122"/>
              </a:rPr>
              <a:t>（腐蚀磨损</a:t>
            </a:r>
            <a:r>
              <a:rPr lang="zh-CN" altLang="en-US" dirty="0" smtClean="0">
                <a:solidFill>
                  <a:srgbClr val="000099"/>
                </a:solidFill>
                <a:latin typeface="黑体" panose="02010609060101010101" pitchFamily="49" charset="-122"/>
                <a:ea typeface="黑体" panose="02010609060101010101" pitchFamily="49" charset="-122"/>
              </a:rPr>
              <a:t>）</a:t>
            </a:r>
            <a:r>
              <a:rPr lang="en-US" altLang="zh-CN" dirty="0" smtClean="0">
                <a:solidFill>
                  <a:srgbClr val="000099"/>
                </a:solidFill>
                <a:latin typeface="黑体" panose="02010609060101010101" pitchFamily="49" charset="-122"/>
                <a:ea typeface="黑体" panose="02010609060101010101" pitchFamily="49" charset="-122"/>
              </a:rPr>
              <a:t>:</a:t>
            </a:r>
            <a:r>
              <a:rPr lang="zh-CN" altLang="en-US" dirty="0" smtClean="0">
                <a:solidFill>
                  <a:srgbClr val="000099"/>
                </a:solidFill>
                <a:latin typeface="黑体" panose="02010609060101010101" pitchFamily="49" charset="-122"/>
                <a:ea typeface="黑体" panose="02010609060101010101" pitchFamily="49" charset="-122"/>
              </a:rPr>
              <a:t>是指由机械作用及材料与环境的化学作用或电化学共同作用引起的磨损。</a:t>
            </a:r>
            <a:endParaRPr lang="zh-CN" altLang="en-US" dirty="0">
              <a:solidFill>
                <a:srgbClr val="000099"/>
              </a:solidFill>
              <a:latin typeface="黑体" panose="02010609060101010101" pitchFamily="49" charset="-122"/>
              <a:ea typeface="黑体" panose="02010609060101010101" pitchFamily="49" charset="-122"/>
            </a:endParaRPr>
          </a:p>
        </p:txBody>
      </p:sp>
      <p:sp>
        <p:nvSpPr>
          <p:cNvPr id="11272" name="矩形 17"/>
          <p:cNvSpPr>
            <a:spLocks noChangeArrowheads="1"/>
          </p:cNvSpPr>
          <p:nvPr/>
        </p:nvSpPr>
        <p:spPr bwMode="auto">
          <a:xfrm>
            <a:off x="531929" y="4517140"/>
            <a:ext cx="8394700"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5000"/>
              </a:lnSpc>
            </a:pPr>
            <a:r>
              <a:rPr lang="en-US" altLang="zh-CN" dirty="0">
                <a:solidFill>
                  <a:srgbClr val="000099"/>
                </a:solidFill>
                <a:latin typeface="黑体" panose="02010609060101010101" pitchFamily="49" charset="-122"/>
                <a:ea typeface="黑体" panose="02010609060101010101" pitchFamily="49" charset="-122"/>
              </a:rPr>
              <a:t>6</a:t>
            </a:r>
            <a:r>
              <a:rPr lang="zh-CN" altLang="en-US" dirty="0">
                <a:solidFill>
                  <a:srgbClr val="000099"/>
                </a:solidFill>
                <a:latin typeface="黑体" panose="02010609060101010101" pitchFamily="49" charset="-122"/>
                <a:ea typeface="黑体" panose="02010609060101010101" pitchFamily="49" charset="-122"/>
              </a:rPr>
              <a:t> ．</a:t>
            </a:r>
            <a:r>
              <a:rPr lang="zh-CN" altLang="en-US" dirty="0">
                <a:solidFill>
                  <a:srgbClr val="FF0000"/>
                </a:solidFill>
                <a:latin typeface="黑体" panose="02010609060101010101" pitchFamily="49" charset="-122"/>
                <a:ea typeface="黑体" panose="02010609060101010101" pitchFamily="49" charset="-122"/>
              </a:rPr>
              <a:t>微动磨损</a:t>
            </a:r>
            <a:r>
              <a:rPr lang="zh-CN" altLang="en-US" dirty="0">
                <a:solidFill>
                  <a:srgbClr val="000099"/>
                </a:solidFill>
                <a:latin typeface="黑体" panose="02010609060101010101" pitchFamily="49" charset="-122"/>
                <a:ea typeface="黑体" panose="02010609060101010101" pitchFamily="49" charset="-122"/>
              </a:rPr>
              <a:t>（微动损伤）两个表面间由于振幅很小的振动式的相对运动而产生的磨损现象称为微动磨损。</a:t>
            </a:r>
            <a:endParaRPr lang="zh-CN" altLang="en-US" dirty="0">
              <a:solidFill>
                <a:srgbClr val="000099"/>
              </a:solidFill>
              <a:latin typeface="黑体" panose="02010609060101010101" pitchFamily="49" charset="-122"/>
              <a:ea typeface="黑体" panose="02010609060101010101" pitchFamily="49" charset="-122"/>
            </a:endParaRPr>
          </a:p>
        </p:txBody>
      </p:sp>
      <p:sp>
        <p:nvSpPr>
          <p:cNvPr id="11273" name="Rectangle 34"/>
          <p:cNvSpPr>
            <a:spLocks noChangeArrowheads="1"/>
          </p:cNvSpPr>
          <p:nvPr/>
        </p:nvSpPr>
        <p:spPr bwMode="auto">
          <a:xfrm>
            <a:off x="5448300" y="228600"/>
            <a:ext cx="280670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a:solidFill>
                  <a:srgbClr val="CC3300"/>
                </a:solidFill>
                <a:latin typeface="黑体" panose="02010609060101010101" pitchFamily="49" charset="-122"/>
                <a:ea typeface="黑体" panose="02010609060101010101" pitchFamily="49" charset="-122"/>
              </a:rPr>
              <a:t>1.5-2 </a:t>
            </a:r>
            <a:r>
              <a:rPr lang="zh-CN" altLang="en-US" sz="3000">
                <a:solidFill>
                  <a:srgbClr val="CC3300"/>
                </a:solidFill>
                <a:latin typeface="黑体" panose="02010609060101010101" pitchFamily="49" charset="-122"/>
                <a:ea typeface="黑体" panose="02010609060101010101" pitchFamily="49" charset="-122"/>
              </a:rPr>
              <a:t>磨   损</a:t>
            </a:r>
            <a:endParaRPr lang="zh-CN" altLang="en-US" sz="3000">
              <a:solidFill>
                <a:srgbClr val="CC3300"/>
              </a:solidFill>
              <a:latin typeface="黑体" panose="02010609060101010101" pitchFamily="49" charset="-122"/>
              <a:ea typeface="黑体" panose="02010609060101010101" pitchFamily="49" charset="-122"/>
            </a:endParaRPr>
          </a:p>
        </p:txBody>
      </p:sp>
      <p:sp>
        <p:nvSpPr>
          <p:cNvPr id="11274"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31772"/>
                                        </p:tgtEl>
                                        <p:attrNameLst>
                                          <p:attrName>style.visibility</p:attrName>
                                        </p:attrNameLst>
                                      </p:cBhvr>
                                      <p:to>
                                        <p:strVal val="visible"/>
                                      </p:to>
                                    </p:set>
                                  </p:childTnLst>
                                </p:cTn>
                              </p:par>
                            </p:childTnLst>
                          </p:cTn>
                        </p:par>
                        <p:par>
                          <p:cTn id="7" fill="hold">
                            <p:stCondLst>
                              <p:cond delay="500"/>
                            </p:stCondLst>
                            <p:childTnLst>
                              <p:par>
                                <p:cTn id="8" presetID="2" presetClass="entr" presetSubtype="8" fill="hold" nodeType="afterEffect">
                                  <p:stCondLst>
                                    <p:cond delay="0"/>
                                  </p:stCondLst>
                                  <p:childTnLst>
                                    <p:set>
                                      <p:cBhvr>
                                        <p:cTn id="9" dur="1" fill="hold">
                                          <p:stCondLst>
                                            <p:cond delay="0"/>
                                          </p:stCondLst>
                                        </p:cTn>
                                        <p:tgtEl>
                                          <p:spTgt spid="31771"/>
                                        </p:tgtEl>
                                        <p:attrNameLst>
                                          <p:attrName>style.visibility</p:attrName>
                                        </p:attrNameLst>
                                      </p:cBhvr>
                                      <p:to>
                                        <p:strVal val="visible"/>
                                      </p:to>
                                    </p:set>
                                    <p:anim calcmode="lin" valueType="num">
                                      <p:cBhvr additive="base">
                                        <p:cTn id="10" dur="500" fill="hold"/>
                                        <p:tgtEl>
                                          <p:spTgt spid="31771"/>
                                        </p:tgtEl>
                                        <p:attrNameLst>
                                          <p:attrName>ppt_x</p:attrName>
                                        </p:attrNameLst>
                                      </p:cBhvr>
                                      <p:tavLst>
                                        <p:tav tm="0">
                                          <p:val>
                                            <p:strVal val="0-#ppt_w/2"/>
                                          </p:val>
                                        </p:tav>
                                        <p:tav tm="100000">
                                          <p:val>
                                            <p:strVal val="#ppt_x"/>
                                          </p:val>
                                        </p:tav>
                                      </p:tavLst>
                                    </p:anim>
                                    <p:anim calcmode="lin" valueType="num">
                                      <p:cBhvr additive="base">
                                        <p:cTn id="11" dur="500" fill="hold"/>
                                        <p:tgtEl>
                                          <p:spTgt spid="31771"/>
                                        </p:tgtEl>
                                        <p:attrNameLst>
                                          <p:attrName>ppt_y</p:attrName>
                                        </p:attrNameLst>
                                      </p:cBhvr>
                                      <p:tavLst>
                                        <p:tav tm="0">
                                          <p:val>
                                            <p:strVal val="#ppt_y"/>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2" presetClass="entr" presetSubtype="8" fill="hold" grpId="0" nodeType="clickEffect">
                                  <p:stCondLst>
                                    <p:cond delay="0"/>
                                  </p:stCondLst>
                                  <p:childTnLst>
                                    <p:set>
                                      <p:cBhvr>
                                        <p:cTn id="15" dur="1" fill="hold">
                                          <p:stCondLst>
                                            <p:cond delay="0"/>
                                          </p:stCondLst>
                                        </p:cTn>
                                        <p:tgtEl>
                                          <p:spTgt spid="31777"/>
                                        </p:tgtEl>
                                        <p:attrNameLst>
                                          <p:attrName>style.visibility</p:attrName>
                                        </p:attrNameLst>
                                      </p:cBhvr>
                                      <p:to>
                                        <p:strVal val="visible"/>
                                      </p:to>
                                    </p:set>
                                    <p:anim calcmode="lin" valueType="num">
                                      <p:cBhvr additive="base">
                                        <p:cTn id="16" dur="500" fill="hold"/>
                                        <p:tgtEl>
                                          <p:spTgt spid="31777"/>
                                        </p:tgtEl>
                                        <p:attrNameLst>
                                          <p:attrName>ppt_x</p:attrName>
                                        </p:attrNameLst>
                                      </p:cBhvr>
                                      <p:tavLst>
                                        <p:tav tm="0">
                                          <p:val>
                                            <p:strVal val="0-#ppt_w/2"/>
                                          </p:val>
                                        </p:tav>
                                        <p:tav tm="100000">
                                          <p:val>
                                            <p:strVal val="#ppt_x"/>
                                          </p:val>
                                        </p:tav>
                                      </p:tavLst>
                                    </p:anim>
                                    <p:anim calcmode="lin" valueType="num">
                                      <p:cBhvr additive="base">
                                        <p:cTn id="17" dur="500" fill="hold"/>
                                        <p:tgtEl>
                                          <p:spTgt spid="3177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77"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bwMode="auto">
          <a:xfrm>
            <a:off x="7543800" y="838200"/>
            <a:ext cx="13716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润滑剂、添加剂和润滑方法</a:t>
            </a:r>
            <a:endParaRPr lang="zh-CN" altLang="en-US" sz="800" smtClean="0">
              <a:solidFill>
                <a:schemeClr val="bg1"/>
              </a:solidFill>
              <a:latin typeface="华文中宋" panose="02010600040101010101" pitchFamily="2" charset="-122"/>
              <a:ea typeface="华文中宋" panose="02010600040101010101" pitchFamily="2" charset="-122"/>
            </a:endParaRPr>
          </a:p>
        </p:txBody>
      </p:sp>
      <p:sp>
        <p:nvSpPr>
          <p:cNvPr id="24579" name="Text Box 3"/>
          <p:cNvSpPr txBox="1">
            <a:spLocks noChangeArrowheads="1"/>
          </p:cNvSpPr>
          <p:nvPr/>
        </p:nvSpPr>
        <p:spPr bwMode="auto">
          <a:xfrm>
            <a:off x="252413" y="762000"/>
            <a:ext cx="2743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spcBef>
                <a:spcPct val="50000"/>
              </a:spcBef>
              <a:buClr>
                <a:schemeClr val="hlink"/>
              </a:buClr>
            </a:pPr>
            <a:r>
              <a:rPr lang="zh-CN" altLang="en-US" sz="2400" dirty="0">
                <a:solidFill>
                  <a:srgbClr val="0000FF"/>
                </a:solidFill>
                <a:latin typeface="黑体" panose="02010609060101010101" pitchFamily="49" charset="-122"/>
                <a:ea typeface="黑体" panose="02010609060101010101" pitchFamily="49" charset="-122"/>
              </a:rPr>
              <a:t>一、润滑剂</a:t>
            </a:r>
            <a:endParaRPr lang="zh-CN" altLang="en-US" sz="2400" dirty="0">
              <a:solidFill>
                <a:srgbClr val="0000FF"/>
              </a:solidFill>
              <a:latin typeface="黑体" panose="02010609060101010101" pitchFamily="49" charset="-122"/>
              <a:ea typeface="黑体" panose="02010609060101010101" pitchFamily="49" charset="-122"/>
            </a:endParaRPr>
          </a:p>
        </p:txBody>
      </p:sp>
      <p:sp>
        <p:nvSpPr>
          <p:cNvPr id="24580" name="Text Box 4"/>
          <p:cNvSpPr txBox="1">
            <a:spLocks noChangeArrowheads="1"/>
          </p:cNvSpPr>
          <p:nvPr/>
        </p:nvSpPr>
        <p:spPr bwMode="auto">
          <a:xfrm>
            <a:off x="287438" y="1886652"/>
            <a:ext cx="210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spcBef>
                <a:spcPct val="50000"/>
              </a:spcBef>
              <a:buClr>
                <a:srgbClr val="CC3300"/>
              </a:buClr>
              <a:buSzPct val="70000"/>
              <a:buFont typeface="Wingdings" panose="05000000000000000000" pitchFamily="2" charset="2"/>
              <a:buChar char="q"/>
            </a:pPr>
            <a:r>
              <a:rPr lang="en-US" altLang="zh-CN" sz="2000" dirty="0">
                <a:solidFill>
                  <a:srgbClr val="000099"/>
                </a:solidFill>
                <a:latin typeface="华文中宋" panose="02010600040101010101" pitchFamily="2" charset="-122"/>
              </a:rPr>
              <a:t> </a:t>
            </a:r>
            <a:r>
              <a:rPr lang="zh-CN" altLang="en-US" sz="2000" dirty="0">
                <a:solidFill>
                  <a:srgbClr val="FF0000"/>
                </a:solidFill>
                <a:latin typeface="华文中宋" panose="02010600040101010101" pitchFamily="2" charset="-122"/>
              </a:rPr>
              <a:t>润滑油</a:t>
            </a:r>
            <a:endParaRPr lang="zh-CN" altLang="en-US" sz="2000" dirty="0">
              <a:solidFill>
                <a:srgbClr val="FF0000"/>
              </a:solidFill>
              <a:latin typeface="华文中宋" panose="02010600040101010101" pitchFamily="2" charset="-122"/>
            </a:endParaRPr>
          </a:p>
        </p:txBody>
      </p:sp>
      <p:sp>
        <p:nvSpPr>
          <p:cNvPr id="24581" name="Text Box 5"/>
          <p:cNvSpPr txBox="1">
            <a:spLocks noChangeArrowheads="1"/>
          </p:cNvSpPr>
          <p:nvPr/>
        </p:nvSpPr>
        <p:spPr bwMode="auto">
          <a:xfrm>
            <a:off x="252413" y="4795553"/>
            <a:ext cx="1536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spcBef>
                <a:spcPct val="50000"/>
              </a:spcBef>
              <a:buClr>
                <a:srgbClr val="CC3300"/>
              </a:buClr>
              <a:buSzPct val="70000"/>
              <a:buFont typeface="Wingdings" panose="05000000000000000000" pitchFamily="2" charset="2"/>
              <a:buChar char="q"/>
            </a:pPr>
            <a:r>
              <a:rPr lang="en-US" altLang="zh-CN" sz="2000" dirty="0">
                <a:solidFill>
                  <a:srgbClr val="000099"/>
                </a:solidFill>
                <a:latin typeface="华文中宋" panose="02010600040101010101" pitchFamily="2" charset="-122"/>
              </a:rPr>
              <a:t> </a:t>
            </a:r>
            <a:r>
              <a:rPr lang="zh-CN" altLang="en-US" sz="2000" dirty="0">
                <a:solidFill>
                  <a:srgbClr val="FF0000"/>
                </a:solidFill>
                <a:latin typeface="华文中宋" panose="02010600040101010101" pitchFamily="2" charset="-122"/>
              </a:rPr>
              <a:t>润滑脂</a:t>
            </a:r>
            <a:endParaRPr lang="zh-CN" altLang="en-US" sz="2000" dirty="0">
              <a:solidFill>
                <a:srgbClr val="FF0000"/>
              </a:solidFill>
              <a:latin typeface="华文中宋" panose="02010600040101010101" pitchFamily="2" charset="-122"/>
            </a:endParaRPr>
          </a:p>
        </p:txBody>
      </p:sp>
      <p:sp>
        <p:nvSpPr>
          <p:cNvPr id="24582" name="Text Box 6"/>
          <p:cNvSpPr txBox="1">
            <a:spLocks noChangeArrowheads="1"/>
          </p:cNvSpPr>
          <p:nvPr/>
        </p:nvSpPr>
        <p:spPr bwMode="auto">
          <a:xfrm>
            <a:off x="290915" y="6066355"/>
            <a:ext cx="1993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spcBef>
                <a:spcPct val="50000"/>
              </a:spcBef>
              <a:buClr>
                <a:srgbClr val="CC3300"/>
              </a:buClr>
              <a:buSzPct val="70000"/>
              <a:buFont typeface="Wingdings" panose="05000000000000000000" pitchFamily="2" charset="2"/>
              <a:buChar char="q"/>
            </a:pPr>
            <a:r>
              <a:rPr lang="en-US" altLang="zh-CN" sz="2000" dirty="0">
                <a:solidFill>
                  <a:srgbClr val="000099"/>
                </a:solidFill>
                <a:latin typeface="华文中宋" panose="02010600040101010101" pitchFamily="2" charset="-122"/>
              </a:rPr>
              <a:t> </a:t>
            </a:r>
            <a:r>
              <a:rPr lang="zh-CN" altLang="en-US" sz="2000" dirty="0">
                <a:solidFill>
                  <a:srgbClr val="FF0000"/>
                </a:solidFill>
                <a:latin typeface="华文中宋" panose="02010600040101010101" pitchFamily="2" charset="-122"/>
              </a:rPr>
              <a:t>固体润滑剂</a:t>
            </a:r>
            <a:endParaRPr lang="zh-CN" altLang="en-US" sz="2000" dirty="0">
              <a:solidFill>
                <a:srgbClr val="FF0000"/>
              </a:solidFill>
              <a:latin typeface="华文中宋" panose="02010600040101010101" pitchFamily="2" charset="-122"/>
            </a:endParaRPr>
          </a:p>
        </p:txBody>
      </p:sp>
      <p:sp>
        <p:nvSpPr>
          <p:cNvPr id="24584" name="Text Box 8"/>
          <p:cNvSpPr txBox="1">
            <a:spLocks noChangeArrowheads="1"/>
          </p:cNvSpPr>
          <p:nvPr/>
        </p:nvSpPr>
        <p:spPr bwMode="auto">
          <a:xfrm>
            <a:off x="242787" y="5299894"/>
            <a:ext cx="7620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spcBef>
                <a:spcPct val="50000"/>
              </a:spcBef>
              <a:buClr>
                <a:schemeClr val="hlink"/>
              </a:buClr>
            </a:pPr>
            <a:r>
              <a:rPr lang="zh-CN" altLang="en-US" sz="2000" dirty="0">
                <a:solidFill>
                  <a:srgbClr val="000099"/>
                </a:solidFill>
                <a:latin typeface="华文中宋" panose="02010600040101010101" pitchFamily="2" charset="-122"/>
              </a:rPr>
              <a:t>　　润滑脂的主要质量指标是：锥入度，反映其稠度大小。</a:t>
            </a:r>
            <a:endParaRPr lang="zh-CN" altLang="en-US" sz="2000" dirty="0">
              <a:solidFill>
                <a:srgbClr val="000099"/>
              </a:solidFill>
              <a:latin typeface="华文中宋" panose="02010600040101010101" pitchFamily="2" charset="-122"/>
            </a:endParaRPr>
          </a:p>
        </p:txBody>
      </p:sp>
      <p:sp>
        <p:nvSpPr>
          <p:cNvPr id="24585" name="Rectangle 9"/>
          <p:cNvSpPr>
            <a:spLocks noChangeArrowheads="1"/>
          </p:cNvSpPr>
          <p:nvPr/>
        </p:nvSpPr>
        <p:spPr bwMode="auto">
          <a:xfrm>
            <a:off x="341313" y="2266950"/>
            <a:ext cx="822960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spcBef>
                <a:spcPct val="50000"/>
              </a:spcBef>
              <a:buClr>
                <a:schemeClr val="hlink"/>
              </a:buClr>
            </a:pPr>
            <a:r>
              <a:rPr lang="en-US" altLang="zh-CN" sz="2000" dirty="0">
                <a:solidFill>
                  <a:srgbClr val="000099"/>
                </a:solidFill>
                <a:latin typeface="华文中宋" panose="02010600040101010101" pitchFamily="2" charset="-122"/>
              </a:rPr>
              <a:t>      </a:t>
            </a:r>
            <a:r>
              <a:rPr lang="zh-CN" altLang="en-US" sz="2000" dirty="0">
                <a:solidFill>
                  <a:schemeClr val="tx2">
                    <a:lumMod val="60000"/>
                    <a:lumOff val="40000"/>
                  </a:schemeClr>
                </a:solidFill>
                <a:latin typeface="华文中宋" panose="02010600040101010101" pitchFamily="2" charset="-122"/>
              </a:rPr>
              <a:t>黏度</a:t>
            </a:r>
            <a:r>
              <a:rPr lang="en-US" altLang="zh-CN" sz="2000" dirty="0">
                <a:solidFill>
                  <a:schemeClr val="tx2">
                    <a:lumMod val="60000"/>
                    <a:lumOff val="40000"/>
                  </a:schemeClr>
                </a:solidFill>
                <a:latin typeface="华文中宋" panose="02010600040101010101" pitchFamily="2" charset="-122"/>
              </a:rPr>
              <a:t> </a:t>
            </a:r>
            <a:r>
              <a:rPr lang="zh-CN" altLang="en-US" sz="2000" dirty="0">
                <a:solidFill>
                  <a:srgbClr val="000099"/>
                </a:solidFill>
                <a:latin typeface="华文中宋" panose="02010600040101010101" pitchFamily="2" charset="-122"/>
              </a:rPr>
              <a:t>是润滑油的主要质量指标，黏度值越高，油越稠，反之越稀；</a:t>
            </a:r>
            <a:endParaRPr lang="zh-CN" altLang="en-US" sz="2000" dirty="0">
              <a:solidFill>
                <a:srgbClr val="000099"/>
              </a:solidFill>
              <a:latin typeface="华文中宋" panose="02010600040101010101" pitchFamily="2" charset="-122"/>
            </a:endParaRPr>
          </a:p>
        </p:txBody>
      </p:sp>
      <p:sp>
        <p:nvSpPr>
          <p:cNvPr id="24587" name="Text Box 11"/>
          <p:cNvSpPr txBox="1">
            <a:spLocks noChangeArrowheads="1"/>
          </p:cNvSpPr>
          <p:nvPr/>
        </p:nvSpPr>
        <p:spPr bwMode="auto">
          <a:xfrm>
            <a:off x="3822700" y="5639018"/>
            <a:ext cx="292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spcBef>
                <a:spcPct val="50000"/>
              </a:spcBef>
              <a:buClr>
                <a:schemeClr val="hlink"/>
              </a:buClr>
            </a:pPr>
            <a:r>
              <a:rPr lang="zh-CN" altLang="en-US" sz="2000" dirty="0">
                <a:solidFill>
                  <a:srgbClr val="000099"/>
                </a:solidFill>
                <a:latin typeface="华文中宋" panose="02010600040101010101" pitchFamily="2" charset="-122"/>
              </a:rPr>
              <a:t>滴点，决定工作温度。</a:t>
            </a:r>
            <a:endParaRPr lang="zh-CN" altLang="en-US" sz="2000" dirty="0">
              <a:solidFill>
                <a:srgbClr val="000099"/>
              </a:solidFill>
              <a:latin typeface="华文中宋" panose="02010600040101010101" pitchFamily="2" charset="-122"/>
            </a:endParaRPr>
          </a:p>
        </p:txBody>
      </p:sp>
      <p:sp>
        <p:nvSpPr>
          <p:cNvPr id="12300" name="Rectangle 24"/>
          <p:cNvSpPr>
            <a:spLocks noChangeArrowheads="1"/>
          </p:cNvSpPr>
          <p:nvPr/>
        </p:nvSpPr>
        <p:spPr bwMode="auto">
          <a:xfrm>
            <a:off x="2996565" y="68580"/>
            <a:ext cx="5964555"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1.5-3 </a:t>
            </a:r>
            <a:r>
              <a:rPr lang="zh-CN" altLang="en-US" sz="3000" dirty="0">
                <a:solidFill>
                  <a:srgbClr val="CC3300"/>
                </a:solidFill>
                <a:latin typeface="黑体" panose="02010609060101010101" pitchFamily="49" charset="-122"/>
                <a:ea typeface="黑体" panose="02010609060101010101" pitchFamily="49" charset="-122"/>
              </a:rPr>
              <a:t>润滑剂、添加剂和润滑方法</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24603" name="Text Box 27"/>
          <p:cNvSpPr txBox="1">
            <a:spLocks noChangeArrowheads="1"/>
          </p:cNvSpPr>
          <p:nvPr/>
        </p:nvSpPr>
        <p:spPr bwMode="auto">
          <a:xfrm>
            <a:off x="6526213" y="6188075"/>
            <a:ext cx="46037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a:t>　</a:t>
            </a:r>
            <a:endParaRPr lang="zh-CN" altLang="en-US"/>
          </a:p>
        </p:txBody>
      </p:sp>
      <p:sp>
        <p:nvSpPr>
          <p:cNvPr id="24604" name="Text Box 28"/>
          <p:cNvSpPr txBox="1">
            <a:spLocks noChangeArrowheads="1"/>
          </p:cNvSpPr>
          <p:nvPr/>
        </p:nvSpPr>
        <p:spPr bwMode="auto">
          <a:xfrm>
            <a:off x="1303438" y="1872365"/>
            <a:ext cx="37369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latin typeface="华文中宋" panose="02010600040101010101" pitchFamily="2" charset="-122"/>
              </a:rPr>
              <a:t>：动植物油、矿物油、合成油。</a:t>
            </a:r>
            <a:endParaRPr lang="zh-CN" altLang="en-US" sz="2000">
              <a:solidFill>
                <a:srgbClr val="000099"/>
              </a:solidFill>
              <a:latin typeface="华文中宋" panose="02010600040101010101" pitchFamily="2" charset="-122"/>
            </a:endParaRPr>
          </a:p>
        </p:txBody>
      </p:sp>
      <p:sp>
        <p:nvSpPr>
          <p:cNvPr id="24605" name="Text Box 29"/>
          <p:cNvSpPr txBox="1">
            <a:spLocks noChangeArrowheads="1"/>
          </p:cNvSpPr>
          <p:nvPr/>
        </p:nvSpPr>
        <p:spPr bwMode="auto">
          <a:xfrm>
            <a:off x="1281113" y="4826118"/>
            <a:ext cx="21113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spcBef>
                <a:spcPct val="50000"/>
              </a:spcBef>
              <a:buClr>
                <a:srgbClr val="CC3300"/>
              </a:buClr>
              <a:buSzPct val="70000"/>
              <a:buFont typeface="Wingdings" panose="05000000000000000000" pitchFamily="2" charset="2"/>
              <a:buNone/>
            </a:pPr>
            <a:r>
              <a:rPr lang="zh-CN" altLang="en-US" sz="2000" dirty="0">
                <a:solidFill>
                  <a:srgbClr val="000099"/>
                </a:solidFill>
                <a:latin typeface="华文中宋" panose="02010600040101010101" pitchFamily="2" charset="-122"/>
              </a:rPr>
              <a:t>：润滑油</a:t>
            </a:r>
            <a:r>
              <a:rPr lang="en-US" altLang="zh-CN" sz="2000" dirty="0">
                <a:solidFill>
                  <a:srgbClr val="000099"/>
                </a:solidFill>
                <a:latin typeface="华文中宋" panose="02010600040101010101" pitchFamily="2" charset="-122"/>
              </a:rPr>
              <a:t>+</a:t>
            </a:r>
            <a:r>
              <a:rPr lang="zh-CN" altLang="en-US" sz="2000" dirty="0">
                <a:solidFill>
                  <a:srgbClr val="000099"/>
                </a:solidFill>
                <a:latin typeface="华文中宋" panose="02010600040101010101" pitchFamily="2" charset="-122"/>
              </a:rPr>
              <a:t>稠化剂</a:t>
            </a:r>
            <a:endParaRPr lang="zh-CN" altLang="en-US" dirty="0"/>
          </a:p>
        </p:txBody>
      </p:sp>
      <p:sp>
        <p:nvSpPr>
          <p:cNvPr id="24606" name="Text Box 30"/>
          <p:cNvSpPr txBox="1">
            <a:spLocks noChangeArrowheads="1"/>
          </p:cNvSpPr>
          <p:nvPr/>
        </p:nvSpPr>
        <p:spPr bwMode="auto">
          <a:xfrm>
            <a:off x="1929682" y="6066038"/>
            <a:ext cx="42449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spcBef>
                <a:spcPct val="50000"/>
              </a:spcBef>
              <a:buClr>
                <a:srgbClr val="CC3300"/>
              </a:buClr>
              <a:buSzPct val="70000"/>
              <a:buFont typeface="Wingdings" panose="05000000000000000000" pitchFamily="2" charset="2"/>
              <a:buNone/>
            </a:pPr>
            <a:r>
              <a:rPr lang="zh-CN" altLang="en-US" sz="2000">
                <a:solidFill>
                  <a:srgbClr val="000099"/>
                </a:solidFill>
                <a:latin typeface="华文中宋" panose="02010600040101010101" pitchFamily="2" charset="-122"/>
              </a:rPr>
              <a:t>：石墨、二硫化钼、聚四氟乙烯等。</a:t>
            </a:r>
            <a:endParaRPr lang="zh-CN" altLang="en-US"/>
          </a:p>
        </p:txBody>
      </p:sp>
      <p:sp>
        <p:nvSpPr>
          <p:cNvPr id="12305" name="矩形 20"/>
          <p:cNvSpPr>
            <a:spLocks noChangeArrowheads="1"/>
          </p:cNvSpPr>
          <p:nvPr/>
        </p:nvSpPr>
        <p:spPr bwMode="auto">
          <a:xfrm>
            <a:off x="447976" y="1097364"/>
            <a:ext cx="84328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5000"/>
              </a:lnSpc>
            </a:pPr>
            <a:r>
              <a:rPr lang="zh-CN" altLang="en-US" sz="2000" dirty="0">
                <a:solidFill>
                  <a:srgbClr val="000099"/>
                </a:solidFill>
                <a:latin typeface="华文中宋" panose="02010600040101010101" pitchFamily="2" charset="-122"/>
              </a:rPr>
              <a:t>       润滑剂能减小摩擦和磨损，保护零件不遭锈蚀。采用循环润滑时还能起到散热降温的作用 。</a:t>
            </a:r>
            <a:endParaRPr lang="zh-CN" altLang="en-US" sz="2000" dirty="0">
              <a:solidFill>
                <a:srgbClr val="000099"/>
              </a:solidFill>
              <a:latin typeface="华文中宋" panose="02010600040101010101" pitchFamily="2" charset="-122"/>
            </a:endParaRPr>
          </a:p>
        </p:txBody>
      </p:sp>
      <p:sp>
        <p:nvSpPr>
          <p:cNvPr id="12306" name="矩形 21"/>
          <p:cNvSpPr>
            <a:spLocks noChangeArrowheads="1"/>
          </p:cNvSpPr>
          <p:nvPr/>
        </p:nvSpPr>
        <p:spPr bwMode="auto">
          <a:xfrm>
            <a:off x="800100" y="2671763"/>
            <a:ext cx="802640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5000"/>
              </a:lnSpc>
            </a:pPr>
            <a:r>
              <a:rPr lang="zh-CN" altLang="en-US" sz="2000" dirty="0">
                <a:solidFill>
                  <a:schemeClr val="tx2">
                    <a:lumMod val="60000"/>
                    <a:lumOff val="40000"/>
                  </a:schemeClr>
                </a:solidFill>
                <a:latin typeface="华文中宋" panose="02010600040101010101" pitchFamily="2" charset="-122"/>
              </a:rPr>
              <a:t>油性</a:t>
            </a:r>
            <a:r>
              <a:rPr lang="en-US" altLang="zh-CN" sz="2000" dirty="0">
                <a:solidFill>
                  <a:schemeClr val="tx2">
                    <a:lumMod val="60000"/>
                    <a:lumOff val="40000"/>
                  </a:schemeClr>
                </a:solidFill>
                <a:latin typeface="华文中宋" panose="02010600040101010101" pitchFamily="2" charset="-122"/>
              </a:rPr>
              <a:t> </a:t>
            </a:r>
            <a:r>
              <a:rPr lang="zh-CN" altLang="en-US" sz="2000" dirty="0">
                <a:solidFill>
                  <a:srgbClr val="000099"/>
                </a:solidFill>
                <a:latin typeface="华文中宋" panose="02010600040101010101" pitchFamily="2" charset="-122"/>
              </a:rPr>
              <a:t>是指润滑油中极性分子湿润或吸附于摩擦表面形成边界油膜，以减小摩擦和磨损的性能。</a:t>
            </a:r>
            <a:endParaRPr lang="zh-CN" altLang="en-US" sz="2000" dirty="0">
              <a:solidFill>
                <a:srgbClr val="000099"/>
              </a:solidFill>
              <a:latin typeface="华文中宋" panose="02010600040101010101" pitchFamily="2" charset="-122"/>
            </a:endParaRPr>
          </a:p>
        </p:txBody>
      </p:sp>
      <p:sp>
        <p:nvSpPr>
          <p:cNvPr id="12307" name="矩形 22"/>
          <p:cNvSpPr>
            <a:spLocks noChangeArrowheads="1"/>
          </p:cNvSpPr>
          <p:nvPr/>
        </p:nvSpPr>
        <p:spPr bwMode="auto">
          <a:xfrm>
            <a:off x="806249" y="3467501"/>
            <a:ext cx="7886700" cy="899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5000"/>
              </a:lnSpc>
            </a:pPr>
            <a:r>
              <a:rPr lang="zh-CN" altLang="en-US" sz="2000" dirty="0">
                <a:solidFill>
                  <a:schemeClr val="tx2">
                    <a:lumMod val="60000"/>
                    <a:lumOff val="40000"/>
                  </a:schemeClr>
                </a:solidFill>
                <a:latin typeface="华文中宋" panose="02010600040101010101" pitchFamily="2" charset="-122"/>
              </a:rPr>
              <a:t>极压性能</a:t>
            </a:r>
            <a:r>
              <a:rPr lang="zh-CN" altLang="en-US" sz="2000" dirty="0">
                <a:solidFill>
                  <a:srgbClr val="000099"/>
                </a:solidFill>
                <a:latin typeface="华文中宋" panose="02010600040101010101" pitchFamily="2" charset="-122"/>
              </a:rPr>
              <a:t>是润滑油中加入含硫、氯、磷的有机极性化合物后，油中极性分子在金属表面生成抗磨、耐高压的化学反应边界膜的性能</a:t>
            </a:r>
            <a:r>
              <a:rPr lang="zh-CN" altLang="en-US" dirty="0"/>
              <a:t>。</a:t>
            </a:r>
            <a:endParaRPr lang="zh-CN" altLang="en-US" dirty="0"/>
          </a:p>
        </p:txBody>
      </p:sp>
      <p:sp>
        <p:nvSpPr>
          <p:cNvPr id="24" name="Text Box 28"/>
          <p:cNvSpPr txBox="1">
            <a:spLocks noChangeArrowheads="1"/>
          </p:cNvSpPr>
          <p:nvPr/>
        </p:nvSpPr>
        <p:spPr bwMode="auto">
          <a:xfrm>
            <a:off x="907065" y="4368985"/>
            <a:ext cx="6080125"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latin typeface="华文中宋" panose="02010600040101010101" pitchFamily="2" charset="-122"/>
              </a:rPr>
              <a:t>除上述指标外，还有闪点、凝点和氧化稳定性指标。</a:t>
            </a:r>
            <a:endParaRPr lang="zh-CN" altLang="en-US" sz="2000" dirty="0">
              <a:solidFill>
                <a:srgbClr val="000099"/>
              </a:solidFill>
              <a:latin typeface="华文中宋" panose="02010600040101010101" pitchFamily="2" charset="-122"/>
            </a:endParaRPr>
          </a:p>
        </p:txBody>
      </p:sp>
      <p:sp>
        <p:nvSpPr>
          <p:cNvPr id="12309" name="直接连接符 6"/>
          <p:cNvSpPr>
            <a:spLocks noChangeShapeType="1"/>
          </p:cNvSpPr>
          <p:nvPr/>
        </p:nvSpPr>
        <p:spPr bwMode="auto">
          <a:xfrm>
            <a:off x="0" y="726674"/>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lt">
                                    <p:tmPct val="100000"/>
                                  </p:iterate>
                                  <p:childTnLst>
                                    <p:set>
                                      <p:cBhvr>
                                        <p:cTn id="6" dur="1" fill="hold">
                                          <p:stCondLst>
                                            <p:cond delay="0"/>
                                          </p:stCondLst>
                                        </p:cTn>
                                        <p:tgtEl>
                                          <p:spTgt spid="24579"/>
                                        </p:tgtEl>
                                        <p:attrNameLst>
                                          <p:attrName>style.visibility</p:attrName>
                                        </p:attrNameLst>
                                      </p:cBhvr>
                                      <p:to>
                                        <p:strVal val="visible"/>
                                      </p:to>
                                    </p:set>
                                    <p:animEffect transition="in" filter="wipe(left)">
                                      <p:cBhvr>
                                        <p:cTn id="7" dur="75"/>
                                        <p:tgtEl>
                                          <p:spTgt spid="2457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305"/>
                                        </p:tgtEl>
                                        <p:attrNameLst>
                                          <p:attrName>style.visibility</p:attrName>
                                        </p:attrNameLst>
                                      </p:cBhvr>
                                      <p:to>
                                        <p:strVal val="visible"/>
                                      </p:to>
                                    </p:set>
                                    <p:animEffect transition="in" filter="wipe(left)">
                                      <p:cBhvr>
                                        <p:cTn id="12" dur="500"/>
                                        <p:tgtEl>
                                          <p:spTgt spid="1230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4580"/>
                                        </p:tgtEl>
                                        <p:attrNameLst>
                                          <p:attrName>style.visibility</p:attrName>
                                        </p:attrNameLst>
                                      </p:cBhvr>
                                      <p:to>
                                        <p:strVal val="visible"/>
                                      </p:to>
                                    </p:set>
                                    <p:animEffect transition="in" filter="wipe(up)">
                                      <p:cBhvr>
                                        <p:cTn id="17" dur="500"/>
                                        <p:tgtEl>
                                          <p:spTgt spid="24580"/>
                                        </p:tgtEl>
                                      </p:cBhvr>
                                    </p:animEffect>
                                  </p:childTnLst>
                                </p:cTn>
                              </p:par>
                            </p:childTnLst>
                          </p:cTn>
                        </p:par>
                        <p:par>
                          <p:cTn id="18" fill="hold">
                            <p:stCondLst>
                              <p:cond delay="500"/>
                            </p:stCondLst>
                            <p:childTnLst>
                              <p:par>
                                <p:cTn id="19" presetID="22" presetClass="entr" presetSubtype="1" fill="hold" grpId="0" nodeType="afterEffect">
                                  <p:stCondLst>
                                    <p:cond delay="0"/>
                                  </p:stCondLst>
                                  <p:childTnLst>
                                    <p:set>
                                      <p:cBhvr>
                                        <p:cTn id="20" dur="1" fill="hold">
                                          <p:stCondLst>
                                            <p:cond delay="0"/>
                                          </p:stCondLst>
                                        </p:cTn>
                                        <p:tgtEl>
                                          <p:spTgt spid="24581"/>
                                        </p:tgtEl>
                                        <p:attrNameLst>
                                          <p:attrName>style.visibility</p:attrName>
                                        </p:attrNameLst>
                                      </p:cBhvr>
                                      <p:to>
                                        <p:strVal val="visible"/>
                                      </p:to>
                                    </p:set>
                                    <p:animEffect transition="in" filter="wipe(up)">
                                      <p:cBhvr>
                                        <p:cTn id="21" dur="500"/>
                                        <p:tgtEl>
                                          <p:spTgt spid="24581"/>
                                        </p:tgtEl>
                                      </p:cBhvr>
                                    </p:animEffect>
                                  </p:childTnLst>
                                </p:cTn>
                              </p:par>
                            </p:childTnLst>
                          </p:cTn>
                        </p:par>
                        <p:par>
                          <p:cTn id="22" fill="hold">
                            <p:stCondLst>
                              <p:cond delay="1000"/>
                            </p:stCondLst>
                            <p:childTnLst>
                              <p:par>
                                <p:cTn id="23" presetID="22" presetClass="entr" presetSubtype="1" fill="hold" grpId="0" nodeType="afterEffect">
                                  <p:stCondLst>
                                    <p:cond delay="0"/>
                                  </p:stCondLst>
                                  <p:childTnLst>
                                    <p:set>
                                      <p:cBhvr>
                                        <p:cTn id="24" dur="1" fill="hold">
                                          <p:stCondLst>
                                            <p:cond delay="0"/>
                                          </p:stCondLst>
                                        </p:cTn>
                                        <p:tgtEl>
                                          <p:spTgt spid="24582"/>
                                        </p:tgtEl>
                                        <p:attrNameLst>
                                          <p:attrName>style.visibility</p:attrName>
                                        </p:attrNameLst>
                                      </p:cBhvr>
                                      <p:to>
                                        <p:strVal val="visible"/>
                                      </p:to>
                                    </p:set>
                                    <p:animEffect transition="in" filter="wipe(up)">
                                      <p:cBhvr>
                                        <p:cTn id="25" dur="500"/>
                                        <p:tgtEl>
                                          <p:spTgt spid="2458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4604"/>
                                        </p:tgtEl>
                                        <p:attrNameLst>
                                          <p:attrName>style.visibility</p:attrName>
                                        </p:attrNameLst>
                                      </p:cBhvr>
                                      <p:to>
                                        <p:strVal val="visible"/>
                                      </p:to>
                                    </p:set>
                                    <p:animEffect transition="in" filter="wipe(left)">
                                      <p:cBhvr>
                                        <p:cTn id="30" dur="500"/>
                                        <p:tgtEl>
                                          <p:spTgt spid="2460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4585"/>
                                        </p:tgtEl>
                                        <p:attrNameLst>
                                          <p:attrName>style.visibility</p:attrName>
                                        </p:attrNameLst>
                                      </p:cBhvr>
                                      <p:to>
                                        <p:strVal val="visible"/>
                                      </p:to>
                                    </p:set>
                                    <p:animEffect transition="in" filter="wipe(left)">
                                      <p:cBhvr>
                                        <p:cTn id="35" dur="500"/>
                                        <p:tgtEl>
                                          <p:spTgt spid="24585"/>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12306"/>
                                        </p:tgtEl>
                                        <p:attrNameLst>
                                          <p:attrName>style.visibility</p:attrName>
                                        </p:attrNameLst>
                                      </p:cBhvr>
                                      <p:to>
                                        <p:strVal val="visible"/>
                                      </p:to>
                                    </p:set>
                                    <p:animEffect transition="in" filter="wipe(down)">
                                      <p:cBhvr>
                                        <p:cTn id="40" dur="500"/>
                                        <p:tgtEl>
                                          <p:spTgt spid="12306"/>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2307"/>
                                        </p:tgtEl>
                                        <p:attrNameLst>
                                          <p:attrName>style.visibility</p:attrName>
                                        </p:attrNameLst>
                                      </p:cBhvr>
                                      <p:to>
                                        <p:strVal val="visible"/>
                                      </p:to>
                                    </p:set>
                                    <p:animEffect transition="in" filter="wipe(left)">
                                      <p:cBhvr>
                                        <p:cTn id="45" dur="500"/>
                                        <p:tgtEl>
                                          <p:spTgt spid="12307"/>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wipe(left)">
                                      <p:cBhvr>
                                        <p:cTn id="50" dur="500"/>
                                        <p:tgtEl>
                                          <p:spTgt spid="24"/>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4605"/>
                                        </p:tgtEl>
                                        <p:attrNameLst>
                                          <p:attrName>style.visibility</p:attrName>
                                        </p:attrNameLst>
                                      </p:cBhvr>
                                      <p:to>
                                        <p:strVal val="visible"/>
                                      </p:to>
                                    </p:set>
                                    <p:animEffect transition="in" filter="wipe(left)">
                                      <p:cBhvr>
                                        <p:cTn id="55" dur="500"/>
                                        <p:tgtEl>
                                          <p:spTgt spid="24605"/>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24584"/>
                                        </p:tgtEl>
                                        <p:attrNameLst>
                                          <p:attrName>style.visibility</p:attrName>
                                        </p:attrNameLst>
                                      </p:cBhvr>
                                      <p:to>
                                        <p:strVal val="visible"/>
                                      </p:to>
                                    </p:set>
                                    <p:animEffect transition="in" filter="wipe(left)">
                                      <p:cBhvr>
                                        <p:cTn id="60" dur="500"/>
                                        <p:tgtEl>
                                          <p:spTgt spid="24584"/>
                                        </p:tgtEl>
                                      </p:cBhvr>
                                    </p:animEffect>
                                  </p:childTnLst>
                                </p:cTn>
                              </p:par>
                            </p:childTnLst>
                          </p:cTn>
                        </p:par>
                        <p:par>
                          <p:cTn id="61" fill="hold">
                            <p:stCondLst>
                              <p:cond delay="500"/>
                            </p:stCondLst>
                            <p:childTnLst>
                              <p:par>
                                <p:cTn id="62" presetID="12" presetClass="entr" presetSubtype="4" fill="hold" grpId="0" nodeType="afterEffect">
                                  <p:stCondLst>
                                    <p:cond delay="0"/>
                                  </p:stCondLst>
                                  <p:childTnLst>
                                    <p:set>
                                      <p:cBhvr>
                                        <p:cTn id="63" dur="1" fill="hold">
                                          <p:stCondLst>
                                            <p:cond delay="0"/>
                                          </p:stCondLst>
                                        </p:cTn>
                                        <p:tgtEl>
                                          <p:spTgt spid="24587"/>
                                        </p:tgtEl>
                                        <p:attrNameLst>
                                          <p:attrName>style.visibility</p:attrName>
                                        </p:attrNameLst>
                                      </p:cBhvr>
                                      <p:to>
                                        <p:strVal val="visible"/>
                                      </p:to>
                                    </p:set>
                                    <p:animEffect transition="in" filter="slide(fromBottom)">
                                      <p:cBhvr>
                                        <p:cTn id="64" dur="500"/>
                                        <p:tgtEl>
                                          <p:spTgt spid="24587"/>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24606"/>
                                        </p:tgtEl>
                                        <p:attrNameLst>
                                          <p:attrName>style.visibility</p:attrName>
                                        </p:attrNameLst>
                                      </p:cBhvr>
                                      <p:to>
                                        <p:strVal val="visible"/>
                                      </p:to>
                                    </p:set>
                                    <p:animEffect transition="in" filter="wipe(left)">
                                      <p:cBhvr>
                                        <p:cTn id="69" dur="500"/>
                                        <p:tgtEl>
                                          <p:spTgt spid="24606"/>
                                        </p:tgtEl>
                                      </p:cBhvr>
                                    </p:animEffect>
                                  </p:childTnLst>
                                </p:cTn>
                              </p:par>
                            </p:childTnLst>
                          </p:cTn>
                        </p:par>
                      </p:childTnLst>
                    </p:cTn>
                  </p:par>
                  <p:par>
                    <p:cTn id="70" fill="hold">
                      <p:stCondLst>
                        <p:cond delay="indefinite"/>
                      </p:stCondLst>
                      <p:childTnLst>
                        <p:par>
                          <p:cTn id="71" fill="hold">
                            <p:stCondLst>
                              <p:cond delay="0"/>
                            </p:stCondLst>
                            <p:childTnLst>
                              <p:par>
                                <p:cTn id="72" presetID="2" presetClass="entr" presetSubtype="8" fill="hold" grpId="0" nodeType="clickEffect">
                                  <p:stCondLst>
                                    <p:cond delay="0"/>
                                  </p:stCondLst>
                                  <p:childTnLst>
                                    <p:set>
                                      <p:cBhvr>
                                        <p:cTn id="73" dur="1" fill="hold">
                                          <p:stCondLst>
                                            <p:cond delay="0"/>
                                          </p:stCondLst>
                                        </p:cTn>
                                        <p:tgtEl>
                                          <p:spTgt spid="24603"/>
                                        </p:tgtEl>
                                        <p:attrNameLst>
                                          <p:attrName>style.visibility</p:attrName>
                                        </p:attrNameLst>
                                      </p:cBhvr>
                                      <p:to>
                                        <p:strVal val="visible"/>
                                      </p:to>
                                    </p:set>
                                    <p:anim calcmode="lin" valueType="num">
                                      <p:cBhvr additive="base">
                                        <p:cTn id="74" dur="500" fill="hold"/>
                                        <p:tgtEl>
                                          <p:spTgt spid="24603"/>
                                        </p:tgtEl>
                                        <p:attrNameLst>
                                          <p:attrName>ppt_x</p:attrName>
                                        </p:attrNameLst>
                                      </p:cBhvr>
                                      <p:tavLst>
                                        <p:tav tm="0">
                                          <p:val>
                                            <p:strVal val="0-#ppt_w/2"/>
                                          </p:val>
                                        </p:tav>
                                        <p:tav tm="100000">
                                          <p:val>
                                            <p:strVal val="#ppt_x"/>
                                          </p:val>
                                        </p:tav>
                                      </p:tavLst>
                                    </p:anim>
                                    <p:anim calcmode="lin" valueType="num">
                                      <p:cBhvr additive="base">
                                        <p:cTn id="75" dur="500" fill="hold"/>
                                        <p:tgtEl>
                                          <p:spTgt spid="2460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autoUpdateAnimBg="0"/>
      <p:bldP spid="24580" grpId="0" autoUpdateAnimBg="0"/>
      <p:bldP spid="24581" grpId="0" autoUpdateAnimBg="0"/>
      <p:bldP spid="24582" grpId="0" autoUpdateAnimBg="0"/>
      <p:bldP spid="24584" grpId="0" autoUpdateAnimBg="0"/>
      <p:bldP spid="24585" grpId="0" autoUpdateAnimBg="0"/>
      <p:bldP spid="24587" grpId="0" autoUpdateAnimBg="0"/>
      <p:bldP spid="24603" grpId="0" autoUpdateAnimBg="0"/>
      <p:bldP spid="24604" grpId="0" autoUpdateAnimBg="0"/>
      <p:bldP spid="24605" grpId="0" autoUpdateAnimBg="0"/>
      <p:bldP spid="24606" grpId="0" autoUpdateAnimBg="0"/>
      <p:bldP spid="12306" grpId="0"/>
      <p:bldP spid="12307" grpId="0"/>
      <p:bldP spid="12305" grpId="0"/>
      <p:bldP spid="2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bwMode="auto">
          <a:xfrm>
            <a:off x="6553200" y="914400"/>
            <a:ext cx="914400" cy="152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添加剂</a:t>
            </a:r>
            <a:endParaRPr lang="zh-CN" altLang="en-US" sz="800" smtClean="0">
              <a:solidFill>
                <a:schemeClr val="bg1"/>
              </a:solidFill>
              <a:latin typeface="华文中宋" panose="02010600040101010101" pitchFamily="2" charset="-122"/>
              <a:ea typeface="华文中宋" panose="02010600040101010101" pitchFamily="2" charset="-122"/>
            </a:endParaRPr>
          </a:p>
        </p:txBody>
      </p:sp>
      <p:grpSp>
        <p:nvGrpSpPr>
          <p:cNvPr id="2" name="Group 24"/>
          <p:cNvGrpSpPr/>
          <p:nvPr/>
        </p:nvGrpSpPr>
        <p:grpSpPr bwMode="auto">
          <a:xfrm>
            <a:off x="228600" y="2216150"/>
            <a:ext cx="4229100" cy="1073150"/>
            <a:chOff x="144" y="1396"/>
            <a:chExt cx="2664" cy="676"/>
          </a:xfrm>
        </p:grpSpPr>
        <p:sp>
          <p:nvSpPr>
            <p:cNvPr id="13328" name="AutoShape 4"/>
            <p:cNvSpPr/>
            <p:nvPr/>
          </p:nvSpPr>
          <p:spPr bwMode="auto">
            <a:xfrm>
              <a:off x="1248" y="1440"/>
              <a:ext cx="118" cy="614"/>
            </a:xfrm>
            <a:prstGeom prst="leftBrace">
              <a:avLst>
                <a:gd name="adj1" fmla="val 43362"/>
                <a:gd name="adj2" fmla="val 50000"/>
              </a:avLst>
            </a:prstGeom>
            <a:noFill/>
            <a:ln w="19050">
              <a:solidFill>
                <a:srgbClr val="000099"/>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sp>
          <p:nvSpPr>
            <p:cNvPr id="13329" name="Text Box 6"/>
            <p:cNvSpPr txBox="1">
              <a:spLocks noChangeArrowheads="1"/>
            </p:cNvSpPr>
            <p:nvPr/>
          </p:nvSpPr>
          <p:spPr bwMode="auto">
            <a:xfrm>
              <a:off x="1392" y="1396"/>
              <a:ext cx="1416" cy="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a:solidFill>
                    <a:srgbClr val="000099"/>
                  </a:solidFill>
                  <a:latin typeface="华文中宋" panose="02010600040101010101" pitchFamily="2" charset="-122"/>
                </a:rPr>
                <a:t>提高油性、极压性</a:t>
              </a:r>
              <a:endParaRPr lang="zh-CN" altLang="en-US" sz="2000">
                <a:solidFill>
                  <a:srgbClr val="000099"/>
                </a:solidFill>
                <a:latin typeface="华文中宋" panose="02010600040101010101" pitchFamily="2" charset="-122"/>
              </a:endParaRPr>
            </a:p>
            <a:p>
              <a:pPr eaLnBrk="1" hangingPunct="1">
                <a:lnSpc>
                  <a:spcPct val="120000"/>
                </a:lnSpc>
              </a:pPr>
              <a:r>
                <a:rPr lang="zh-CN" altLang="en-US" sz="2000">
                  <a:solidFill>
                    <a:srgbClr val="000099"/>
                  </a:solidFill>
                  <a:latin typeface="华文中宋" panose="02010600040101010101" pitchFamily="2" charset="-122"/>
                </a:rPr>
                <a:t>延长使用寿命</a:t>
              </a:r>
              <a:endParaRPr lang="zh-CN" altLang="en-US" sz="2000">
                <a:solidFill>
                  <a:srgbClr val="000099"/>
                </a:solidFill>
                <a:latin typeface="华文中宋" panose="02010600040101010101" pitchFamily="2" charset="-122"/>
              </a:endParaRPr>
            </a:p>
            <a:p>
              <a:pPr eaLnBrk="1" hangingPunct="1">
                <a:lnSpc>
                  <a:spcPct val="120000"/>
                </a:lnSpc>
              </a:pPr>
              <a:r>
                <a:rPr lang="zh-CN" altLang="en-US" sz="2000">
                  <a:solidFill>
                    <a:srgbClr val="000099"/>
                  </a:solidFill>
                  <a:latin typeface="华文中宋" panose="02010600040101010101" pitchFamily="2" charset="-122"/>
                </a:rPr>
                <a:t>改善物理性能</a:t>
              </a:r>
              <a:endParaRPr lang="zh-CN" altLang="en-US" sz="2000">
                <a:solidFill>
                  <a:srgbClr val="000099"/>
                </a:solidFill>
                <a:latin typeface="华文中宋" panose="02010600040101010101" pitchFamily="2" charset="-122"/>
              </a:endParaRPr>
            </a:p>
          </p:txBody>
        </p:sp>
        <p:sp>
          <p:nvSpPr>
            <p:cNvPr id="13330" name="Rectangle 10"/>
            <p:cNvSpPr>
              <a:spLocks noChangeArrowheads="1"/>
            </p:cNvSpPr>
            <p:nvPr/>
          </p:nvSpPr>
          <p:spPr bwMode="auto">
            <a:xfrm>
              <a:off x="144" y="1584"/>
              <a:ext cx="1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C00000"/>
                  </a:solidFill>
                  <a:latin typeface="华文中宋" panose="02010600040101010101" pitchFamily="2" charset="-122"/>
                </a:rPr>
                <a:t>添加剂的作用</a:t>
              </a:r>
              <a:endParaRPr lang="zh-CN" altLang="en-US" sz="2000">
                <a:solidFill>
                  <a:srgbClr val="C00000"/>
                </a:solidFill>
                <a:latin typeface="华文中宋" panose="02010600040101010101" pitchFamily="2" charset="-122"/>
              </a:endParaRPr>
            </a:p>
          </p:txBody>
        </p:sp>
      </p:grpSp>
      <p:grpSp>
        <p:nvGrpSpPr>
          <p:cNvPr id="3" name="Group 25"/>
          <p:cNvGrpSpPr/>
          <p:nvPr/>
        </p:nvGrpSpPr>
        <p:grpSpPr bwMode="auto">
          <a:xfrm>
            <a:off x="219075" y="3517900"/>
            <a:ext cx="4048125" cy="2711450"/>
            <a:chOff x="138" y="2216"/>
            <a:chExt cx="2550" cy="1708"/>
          </a:xfrm>
        </p:grpSpPr>
        <p:sp>
          <p:nvSpPr>
            <p:cNvPr id="13325" name="AutoShape 5"/>
            <p:cNvSpPr/>
            <p:nvPr/>
          </p:nvSpPr>
          <p:spPr bwMode="auto">
            <a:xfrm>
              <a:off x="1200" y="2352"/>
              <a:ext cx="189" cy="1488"/>
            </a:xfrm>
            <a:prstGeom prst="leftBrace">
              <a:avLst>
                <a:gd name="adj1" fmla="val 65608"/>
                <a:gd name="adj2" fmla="val 50000"/>
              </a:avLst>
            </a:prstGeom>
            <a:noFill/>
            <a:ln w="19050">
              <a:solidFill>
                <a:srgbClr val="000099"/>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sp>
          <p:nvSpPr>
            <p:cNvPr id="13326" name="Text Box 7"/>
            <p:cNvSpPr txBox="1">
              <a:spLocks noChangeArrowheads="1"/>
            </p:cNvSpPr>
            <p:nvPr/>
          </p:nvSpPr>
          <p:spPr bwMode="auto">
            <a:xfrm>
              <a:off x="1440" y="2216"/>
              <a:ext cx="1248" cy="1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30000"/>
                </a:lnSpc>
              </a:pPr>
              <a:r>
                <a:rPr lang="zh-CN" altLang="en-US" sz="2000" dirty="0">
                  <a:solidFill>
                    <a:srgbClr val="000099"/>
                  </a:solidFill>
                  <a:latin typeface="华文中宋" panose="02010600040101010101" pitchFamily="2" charset="-122"/>
                </a:rPr>
                <a:t>油性添加剂</a:t>
              </a:r>
              <a:endParaRPr lang="zh-CN" altLang="en-US" sz="2000" dirty="0">
                <a:solidFill>
                  <a:srgbClr val="000099"/>
                </a:solidFill>
                <a:latin typeface="华文中宋" panose="02010600040101010101" pitchFamily="2" charset="-122"/>
              </a:endParaRPr>
            </a:p>
            <a:p>
              <a:pPr eaLnBrk="1" hangingPunct="1">
                <a:lnSpc>
                  <a:spcPct val="130000"/>
                </a:lnSpc>
              </a:pPr>
              <a:r>
                <a:rPr lang="zh-CN" altLang="en-US" sz="2000" dirty="0">
                  <a:solidFill>
                    <a:srgbClr val="000099"/>
                  </a:solidFill>
                  <a:latin typeface="华文中宋" panose="02010600040101010101" pitchFamily="2" charset="-122"/>
                </a:rPr>
                <a:t>极压添加剂</a:t>
              </a:r>
              <a:endParaRPr lang="zh-CN" altLang="en-US" sz="2000" dirty="0">
                <a:solidFill>
                  <a:srgbClr val="000099"/>
                </a:solidFill>
                <a:latin typeface="华文中宋" panose="02010600040101010101" pitchFamily="2" charset="-122"/>
              </a:endParaRPr>
            </a:p>
            <a:p>
              <a:pPr eaLnBrk="1" hangingPunct="1">
                <a:lnSpc>
                  <a:spcPct val="130000"/>
                </a:lnSpc>
              </a:pPr>
              <a:r>
                <a:rPr lang="zh-CN" altLang="en-US" sz="2000" dirty="0">
                  <a:solidFill>
                    <a:srgbClr val="000099"/>
                  </a:solidFill>
                  <a:latin typeface="华文中宋" panose="02010600040101010101" pitchFamily="2" charset="-122"/>
                </a:rPr>
                <a:t>分散净化剂</a:t>
              </a:r>
              <a:endParaRPr lang="zh-CN" altLang="en-US" sz="2000" dirty="0">
                <a:solidFill>
                  <a:srgbClr val="000099"/>
                </a:solidFill>
                <a:latin typeface="华文中宋" panose="02010600040101010101" pitchFamily="2" charset="-122"/>
              </a:endParaRPr>
            </a:p>
            <a:p>
              <a:pPr eaLnBrk="1" hangingPunct="1">
                <a:lnSpc>
                  <a:spcPct val="130000"/>
                </a:lnSpc>
              </a:pPr>
              <a:r>
                <a:rPr lang="zh-CN" altLang="en-US" sz="2000" dirty="0">
                  <a:solidFill>
                    <a:srgbClr val="000099"/>
                  </a:solidFill>
                  <a:latin typeface="华文中宋" panose="02010600040101010101" pitchFamily="2" charset="-122"/>
                </a:rPr>
                <a:t>消泡添加剂</a:t>
              </a:r>
              <a:endParaRPr lang="zh-CN" altLang="en-US" sz="2000" dirty="0">
                <a:solidFill>
                  <a:srgbClr val="000099"/>
                </a:solidFill>
                <a:latin typeface="华文中宋" panose="02010600040101010101" pitchFamily="2" charset="-122"/>
              </a:endParaRPr>
            </a:p>
            <a:p>
              <a:pPr eaLnBrk="1" hangingPunct="1">
                <a:lnSpc>
                  <a:spcPct val="130000"/>
                </a:lnSpc>
              </a:pPr>
              <a:r>
                <a:rPr lang="zh-CN" altLang="en-US" sz="2000" dirty="0">
                  <a:solidFill>
                    <a:srgbClr val="000099"/>
                  </a:solidFill>
                  <a:latin typeface="华文中宋" panose="02010600040101010101" pitchFamily="2" charset="-122"/>
                </a:rPr>
                <a:t>抗氧化添加剂</a:t>
              </a:r>
              <a:endParaRPr lang="zh-CN" altLang="en-US" sz="2000" dirty="0">
                <a:solidFill>
                  <a:srgbClr val="000099"/>
                </a:solidFill>
                <a:latin typeface="华文中宋" panose="02010600040101010101" pitchFamily="2" charset="-122"/>
              </a:endParaRPr>
            </a:p>
            <a:p>
              <a:pPr eaLnBrk="1" hangingPunct="1">
                <a:lnSpc>
                  <a:spcPct val="130000"/>
                </a:lnSpc>
              </a:pPr>
              <a:r>
                <a:rPr lang="zh-CN" altLang="en-US" sz="2000" dirty="0">
                  <a:solidFill>
                    <a:srgbClr val="000099"/>
                  </a:solidFill>
                  <a:latin typeface="华文中宋" panose="02010600040101010101" pitchFamily="2" charset="-122"/>
                </a:rPr>
                <a:t>降凝剂</a:t>
              </a:r>
              <a:endParaRPr lang="zh-CN" altLang="en-US" sz="2000" dirty="0">
                <a:solidFill>
                  <a:srgbClr val="000099"/>
                </a:solidFill>
                <a:latin typeface="华文中宋" panose="02010600040101010101" pitchFamily="2" charset="-122"/>
              </a:endParaRPr>
            </a:p>
            <a:p>
              <a:pPr eaLnBrk="1" hangingPunct="1">
                <a:lnSpc>
                  <a:spcPct val="130000"/>
                </a:lnSpc>
              </a:pPr>
              <a:r>
                <a:rPr lang="zh-CN" altLang="en-US" sz="2000" dirty="0">
                  <a:solidFill>
                    <a:srgbClr val="000099"/>
                  </a:solidFill>
                  <a:latin typeface="华文中宋" panose="02010600040101010101" pitchFamily="2" charset="-122"/>
                </a:rPr>
                <a:t>增粘剂</a:t>
              </a:r>
              <a:endParaRPr lang="zh-CN" altLang="en-US" sz="2000" dirty="0">
                <a:solidFill>
                  <a:srgbClr val="000099"/>
                </a:solidFill>
                <a:latin typeface="华文中宋" panose="02010600040101010101" pitchFamily="2" charset="-122"/>
              </a:endParaRPr>
            </a:p>
          </p:txBody>
        </p:sp>
        <p:sp>
          <p:nvSpPr>
            <p:cNvPr id="13327" name="Rectangle 12"/>
            <p:cNvSpPr>
              <a:spLocks noChangeArrowheads="1"/>
            </p:cNvSpPr>
            <p:nvPr/>
          </p:nvSpPr>
          <p:spPr bwMode="auto">
            <a:xfrm>
              <a:off x="138" y="2958"/>
              <a:ext cx="11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nchor="ct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C00000"/>
                  </a:solidFill>
                  <a:latin typeface="华文中宋" panose="02010600040101010101" pitchFamily="2" charset="-122"/>
                </a:rPr>
                <a:t>添加剂的种类</a:t>
              </a:r>
              <a:endParaRPr lang="zh-CN" altLang="en-US" sz="2000" dirty="0">
                <a:solidFill>
                  <a:srgbClr val="C00000"/>
                </a:solidFill>
                <a:latin typeface="华文中宋" panose="02010600040101010101" pitchFamily="2" charset="-122"/>
              </a:endParaRPr>
            </a:p>
          </p:txBody>
        </p:sp>
      </p:grpSp>
      <p:pic>
        <p:nvPicPr>
          <p:cNvPr id="25613" name="Picture 13"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39100"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4" name="Picture 14" descr="back1">
            <a:hlinkClick r:id="" action="ppaction://hlinkshowjump?jump=previous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47088"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5" name="Picture 15" descr="NEXT1">
            <a:hlinkClick r:id="" action="ppaction://hlinkshowjump?jump=nextslide"/>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85666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0" name="Rectangle 16"/>
          <p:cNvSpPr>
            <a:spLocks noChangeArrowheads="1"/>
          </p:cNvSpPr>
          <p:nvPr/>
        </p:nvSpPr>
        <p:spPr bwMode="auto">
          <a:xfrm>
            <a:off x="2298700" y="190500"/>
            <a:ext cx="611505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1.5-3 </a:t>
            </a:r>
            <a:r>
              <a:rPr lang="zh-CN" altLang="en-US" sz="3000" dirty="0">
                <a:solidFill>
                  <a:srgbClr val="CC3300"/>
                </a:solidFill>
                <a:latin typeface="黑体" panose="02010609060101010101" pitchFamily="49" charset="-122"/>
                <a:ea typeface="黑体" panose="02010609060101010101" pitchFamily="49" charset="-122"/>
              </a:rPr>
              <a:t>润滑剂、添加剂和润滑方法</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25617" name="Text Box 17"/>
          <p:cNvSpPr txBox="1">
            <a:spLocks noChangeArrowheads="1"/>
          </p:cNvSpPr>
          <p:nvPr/>
        </p:nvSpPr>
        <p:spPr bwMode="auto">
          <a:xfrm>
            <a:off x="228600" y="1219200"/>
            <a:ext cx="8915400"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30000"/>
              </a:lnSpc>
            </a:pPr>
            <a:r>
              <a:rPr lang="en-US" altLang="zh-CN" sz="2000">
                <a:solidFill>
                  <a:srgbClr val="000099"/>
                </a:solidFill>
              </a:rPr>
              <a:t>       </a:t>
            </a:r>
            <a:r>
              <a:rPr lang="zh-CN" altLang="en-US" sz="2000">
                <a:solidFill>
                  <a:srgbClr val="000099"/>
                </a:solidFill>
              </a:rPr>
              <a:t>为了提高油的品质和性能，常在润滑油或润滑脂中加入一些分量虽小但对润滑剂性能改善起巨大作用的物质，这些物质叫添加剂。</a:t>
            </a:r>
            <a:endParaRPr lang="zh-CN" altLang="en-US" sz="2000">
              <a:solidFill>
                <a:srgbClr val="000099"/>
              </a:solidFill>
            </a:endParaRPr>
          </a:p>
        </p:txBody>
      </p:sp>
      <p:sp>
        <p:nvSpPr>
          <p:cNvPr id="25619" name="Text Box 19"/>
          <p:cNvSpPr txBox="1">
            <a:spLocks noChangeArrowheads="1"/>
          </p:cNvSpPr>
          <p:nvPr/>
        </p:nvSpPr>
        <p:spPr bwMode="auto">
          <a:xfrm>
            <a:off x="228600" y="762000"/>
            <a:ext cx="1720641"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400" dirty="0">
                <a:solidFill>
                  <a:srgbClr val="0000FF"/>
                </a:solidFill>
                <a:latin typeface="黑体" panose="02010609060101010101" pitchFamily="49" charset="-122"/>
                <a:ea typeface="黑体" panose="02010609060101010101" pitchFamily="49" charset="-122"/>
              </a:rPr>
              <a:t>二、添加剂</a:t>
            </a:r>
            <a:endParaRPr lang="zh-CN" altLang="en-US" sz="2400" dirty="0">
              <a:solidFill>
                <a:srgbClr val="0000FF"/>
              </a:solidFill>
              <a:latin typeface="黑体" panose="02010609060101010101" pitchFamily="49" charset="-122"/>
              <a:ea typeface="黑体" panose="02010609060101010101" pitchFamily="49" charset="-122"/>
            </a:endParaRPr>
          </a:p>
        </p:txBody>
      </p:sp>
      <p:pic>
        <p:nvPicPr>
          <p:cNvPr id="25622" name="Picture 22" descr="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84700" y="2260600"/>
            <a:ext cx="4406900" cy="375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23" name="Text Box 23"/>
          <p:cNvSpPr txBox="1">
            <a:spLocks noChangeArrowheads="1"/>
          </p:cNvSpPr>
          <p:nvPr/>
        </p:nvSpPr>
        <p:spPr bwMode="auto">
          <a:xfrm>
            <a:off x="5700713" y="6538913"/>
            <a:ext cx="2682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19"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5619"/>
                                        </p:tgtEl>
                                        <p:attrNameLst>
                                          <p:attrName>style.visibility</p:attrName>
                                        </p:attrNameLst>
                                      </p:cBhvr>
                                      <p:to>
                                        <p:strVal val="visible"/>
                                      </p:to>
                                    </p:set>
                                    <p:animEffect transition="in" filter="wipe(left)">
                                      <p:cBhvr>
                                        <p:cTn id="7" dur="500"/>
                                        <p:tgtEl>
                                          <p:spTgt spid="2561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5617"/>
                                        </p:tgtEl>
                                        <p:attrNameLst>
                                          <p:attrName>style.visibility</p:attrName>
                                        </p:attrNameLst>
                                      </p:cBhvr>
                                      <p:to>
                                        <p:strVal val="visible"/>
                                      </p:to>
                                    </p:set>
                                    <p:animEffect transition="in" filter="wipe(left)">
                                      <p:cBhvr>
                                        <p:cTn id="11" dur="500"/>
                                        <p:tgtEl>
                                          <p:spTgt spid="2561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par>
                          <p:cTn id="17" fill="hold">
                            <p:stCondLst>
                              <p:cond delay="500"/>
                            </p:stCondLst>
                            <p:childTnLst>
                              <p:par>
                                <p:cTn id="18" presetID="22" presetClass="entr" presetSubtype="1" fill="hold" nodeType="afterEffect">
                                  <p:stCondLst>
                                    <p:cond delay="0"/>
                                  </p:stCondLst>
                                  <p:childTnLst>
                                    <p:set>
                                      <p:cBhvr>
                                        <p:cTn id="19" dur="1" fill="hold">
                                          <p:stCondLst>
                                            <p:cond delay="0"/>
                                          </p:stCondLst>
                                        </p:cTn>
                                        <p:tgtEl>
                                          <p:spTgt spid="25622"/>
                                        </p:tgtEl>
                                        <p:attrNameLst>
                                          <p:attrName>style.visibility</p:attrName>
                                        </p:attrNameLst>
                                      </p:cBhvr>
                                      <p:to>
                                        <p:strVal val="visible"/>
                                      </p:to>
                                    </p:set>
                                    <p:animEffect transition="in" filter="wipe(up)">
                                      <p:cBhvr>
                                        <p:cTn id="20" dur="500"/>
                                        <p:tgtEl>
                                          <p:spTgt spid="2562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up)">
                                      <p:cBhvr>
                                        <p:cTn id="25" dur="500"/>
                                        <p:tgtEl>
                                          <p:spTgt spid="3"/>
                                        </p:tgtEl>
                                      </p:cBhvr>
                                    </p:animEffect>
                                  </p:childTnLst>
                                </p:cTn>
                              </p:par>
                            </p:childTnLst>
                          </p:cTn>
                        </p:par>
                        <p:par>
                          <p:cTn id="26" fill="hold">
                            <p:stCondLst>
                              <p:cond delay="500"/>
                            </p:stCondLst>
                            <p:childTnLst>
                              <p:par>
                                <p:cTn id="27" presetID="1" presetClass="entr" presetSubtype="0" fill="hold" nodeType="afterEffect">
                                  <p:stCondLst>
                                    <p:cond delay="0"/>
                                  </p:stCondLst>
                                  <p:childTnLst>
                                    <p:set>
                                      <p:cBhvr>
                                        <p:cTn id="28" dur="1" fill="hold">
                                          <p:stCondLst>
                                            <p:cond delay="499"/>
                                          </p:stCondLst>
                                        </p:cTn>
                                        <p:tgtEl>
                                          <p:spTgt spid="25614"/>
                                        </p:tgtEl>
                                        <p:attrNameLst>
                                          <p:attrName>style.visibility</p:attrName>
                                        </p:attrNameLst>
                                      </p:cBhvr>
                                      <p:to>
                                        <p:strVal val="visible"/>
                                      </p:to>
                                    </p:set>
                                  </p:childTnLst>
                                </p:cTn>
                              </p:par>
                            </p:childTnLst>
                          </p:cTn>
                        </p:par>
                        <p:par>
                          <p:cTn id="29" fill="hold">
                            <p:stCondLst>
                              <p:cond delay="1000"/>
                            </p:stCondLst>
                            <p:childTnLst>
                              <p:par>
                                <p:cTn id="30" presetID="1" presetClass="entr" presetSubtype="0" fill="hold" nodeType="afterEffect">
                                  <p:stCondLst>
                                    <p:cond delay="0"/>
                                  </p:stCondLst>
                                  <p:childTnLst>
                                    <p:set>
                                      <p:cBhvr>
                                        <p:cTn id="31" dur="1" fill="hold">
                                          <p:stCondLst>
                                            <p:cond delay="499"/>
                                          </p:stCondLst>
                                        </p:cTn>
                                        <p:tgtEl>
                                          <p:spTgt spid="25615"/>
                                        </p:tgtEl>
                                        <p:attrNameLst>
                                          <p:attrName>style.visibility</p:attrName>
                                        </p:attrNameLst>
                                      </p:cBhvr>
                                      <p:to>
                                        <p:strVal val="visible"/>
                                      </p:to>
                                    </p:set>
                                  </p:childTnLst>
                                </p:cTn>
                              </p:par>
                            </p:childTnLst>
                          </p:cTn>
                        </p:par>
                        <p:par>
                          <p:cTn id="32" fill="hold">
                            <p:stCondLst>
                              <p:cond delay="1500"/>
                            </p:stCondLst>
                            <p:childTnLst>
                              <p:par>
                                <p:cTn id="33" presetID="2" presetClass="entr" presetSubtype="8" fill="hold" nodeType="afterEffect">
                                  <p:stCondLst>
                                    <p:cond delay="0"/>
                                  </p:stCondLst>
                                  <p:childTnLst>
                                    <p:set>
                                      <p:cBhvr>
                                        <p:cTn id="34" dur="1" fill="hold">
                                          <p:stCondLst>
                                            <p:cond delay="0"/>
                                          </p:stCondLst>
                                        </p:cTn>
                                        <p:tgtEl>
                                          <p:spTgt spid="25613"/>
                                        </p:tgtEl>
                                        <p:attrNameLst>
                                          <p:attrName>style.visibility</p:attrName>
                                        </p:attrNameLst>
                                      </p:cBhvr>
                                      <p:to>
                                        <p:strVal val="visible"/>
                                      </p:to>
                                    </p:set>
                                    <p:anim calcmode="lin" valueType="num">
                                      <p:cBhvr additive="base">
                                        <p:cTn id="35" dur="500" fill="hold"/>
                                        <p:tgtEl>
                                          <p:spTgt spid="25613"/>
                                        </p:tgtEl>
                                        <p:attrNameLst>
                                          <p:attrName>ppt_x</p:attrName>
                                        </p:attrNameLst>
                                      </p:cBhvr>
                                      <p:tavLst>
                                        <p:tav tm="0">
                                          <p:val>
                                            <p:strVal val="0-#ppt_w/2"/>
                                          </p:val>
                                        </p:tav>
                                        <p:tav tm="100000">
                                          <p:val>
                                            <p:strVal val="#ppt_x"/>
                                          </p:val>
                                        </p:tav>
                                      </p:tavLst>
                                    </p:anim>
                                    <p:anim calcmode="lin" valueType="num">
                                      <p:cBhvr additive="base">
                                        <p:cTn id="36" dur="500" fill="hold"/>
                                        <p:tgtEl>
                                          <p:spTgt spid="25613"/>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25623"/>
                                        </p:tgtEl>
                                        <p:attrNameLst>
                                          <p:attrName>style.visibility</p:attrName>
                                        </p:attrNameLst>
                                      </p:cBhvr>
                                      <p:to>
                                        <p:strVal val="visible"/>
                                      </p:to>
                                    </p:set>
                                    <p:anim calcmode="lin" valueType="num">
                                      <p:cBhvr additive="base">
                                        <p:cTn id="41" dur="500" fill="hold"/>
                                        <p:tgtEl>
                                          <p:spTgt spid="25623"/>
                                        </p:tgtEl>
                                        <p:attrNameLst>
                                          <p:attrName>ppt_x</p:attrName>
                                        </p:attrNameLst>
                                      </p:cBhvr>
                                      <p:tavLst>
                                        <p:tav tm="0">
                                          <p:val>
                                            <p:strVal val="0-#ppt_w/2"/>
                                          </p:val>
                                        </p:tav>
                                        <p:tav tm="100000">
                                          <p:val>
                                            <p:strVal val="#ppt_x"/>
                                          </p:val>
                                        </p:tav>
                                      </p:tavLst>
                                    </p:anim>
                                    <p:anim calcmode="lin" valueType="num">
                                      <p:cBhvr additive="base">
                                        <p:cTn id="42" dur="500" fill="hold"/>
                                        <p:tgtEl>
                                          <p:spTgt spid="256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17" grpId="0" autoUpdateAnimBg="0"/>
      <p:bldP spid="25619" grpId="0" autoUpdateAnimBg="0"/>
      <p:bldP spid="25623"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bwMode="auto">
          <a:xfrm>
            <a:off x="7315200" y="838200"/>
            <a:ext cx="1143000" cy="152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润滑方法</a:t>
            </a:r>
            <a:endParaRPr lang="zh-CN" altLang="en-US" sz="800" smtClean="0">
              <a:solidFill>
                <a:schemeClr val="bg1"/>
              </a:solidFill>
              <a:latin typeface="华文中宋" panose="02010600040101010101" pitchFamily="2" charset="-122"/>
              <a:ea typeface="华文中宋" panose="02010600040101010101" pitchFamily="2" charset="-122"/>
            </a:endParaRPr>
          </a:p>
        </p:txBody>
      </p:sp>
      <p:sp>
        <p:nvSpPr>
          <p:cNvPr id="26627" name="Text Box 3"/>
          <p:cNvSpPr txBox="1">
            <a:spLocks noChangeArrowheads="1"/>
          </p:cNvSpPr>
          <p:nvPr/>
        </p:nvSpPr>
        <p:spPr bwMode="auto">
          <a:xfrm>
            <a:off x="685800" y="1279525"/>
            <a:ext cx="6629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spcBef>
                <a:spcPct val="50000"/>
              </a:spcBef>
              <a:buClr>
                <a:schemeClr val="hlink"/>
              </a:buClr>
              <a:buFont typeface="Wingdings" panose="05000000000000000000" pitchFamily="2" charset="2"/>
              <a:buNone/>
            </a:pPr>
            <a:r>
              <a:rPr lang="zh-CN" altLang="en-US" sz="2000">
                <a:solidFill>
                  <a:srgbClr val="000099"/>
                </a:solidFill>
                <a:latin typeface="华文中宋" panose="02010600040101010101" pitchFamily="2" charset="-122"/>
              </a:rPr>
              <a:t>润滑油润滑在工程中的应用最普遍，常用的供油方式有：</a:t>
            </a:r>
            <a:endParaRPr lang="zh-CN" altLang="en-US" sz="2000">
              <a:solidFill>
                <a:srgbClr val="000099"/>
              </a:solidFill>
              <a:latin typeface="华文中宋" panose="02010600040101010101" pitchFamily="2" charset="-122"/>
            </a:endParaRPr>
          </a:p>
        </p:txBody>
      </p:sp>
      <p:sp>
        <p:nvSpPr>
          <p:cNvPr id="26628" name="Text Box 4"/>
          <p:cNvSpPr txBox="1">
            <a:spLocks noChangeArrowheads="1"/>
          </p:cNvSpPr>
          <p:nvPr/>
        </p:nvSpPr>
        <p:spPr bwMode="auto">
          <a:xfrm>
            <a:off x="957580" y="1747520"/>
            <a:ext cx="716534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spcBef>
                <a:spcPct val="50000"/>
              </a:spcBef>
              <a:buClr>
                <a:schemeClr val="hlink"/>
              </a:buClr>
            </a:pPr>
            <a:r>
              <a:rPr lang="zh-CN" altLang="en-US" sz="2000" dirty="0">
                <a:solidFill>
                  <a:srgbClr val="C00000"/>
                </a:solidFill>
                <a:latin typeface="华文中宋" panose="02010600040101010101" pitchFamily="2" charset="-122"/>
              </a:rPr>
              <a:t>滴油润滑、油环润滑、飞溅润滑、喷油润滑、油雾润滑</a:t>
            </a:r>
            <a:r>
              <a:rPr lang="zh-CN" altLang="en-US" sz="2000" dirty="0">
                <a:solidFill>
                  <a:srgbClr val="000099"/>
                </a:solidFill>
                <a:latin typeface="华文中宋" panose="02010600040101010101" pitchFamily="2" charset="-122"/>
              </a:rPr>
              <a:t>等</a:t>
            </a:r>
            <a:endParaRPr lang="zh-CN" altLang="en-US" sz="2000" dirty="0">
              <a:solidFill>
                <a:srgbClr val="000099"/>
              </a:solidFill>
              <a:latin typeface="华文中宋" panose="02010600040101010101" pitchFamily="2" charset="-122"/>
            </a:endParaRPr>
          </a:p>
        </p:txBody>
      </p:sp>
      <p:grpSp>
        <p:nvGrpSpPr>
          <p:cNvPr id="2" name="Group 57"/>
          <p:cNvGrpSpPr/>
          <p:nvPr/>
        </p:nvGrpSpPr>
        <p:grpSpPr bwMode="auto">
          <a:xfrm>
            <a:off x="875665" y="2230187"/>
            <a:ext cx="7086600" cy="381000"/>
            <a:chOff x="384" y="1384"/>
            <a:chExt cx="4464" cy="240"/>
          </a:xfrm>
        </p:grpSpPr>
        <p:sp>
          <p:nvSpPr>
            <p:cNvPr id="14356" name="Line 6"/>
            <p:cNvSpPr>
              <a:spLocks noChangeShapeType="1"/>
            </p:cNvSpPr>
            <p:nvPr/>
          </p:nvSpPr>
          <p:spPr bwMode="auto">
            <a:xfrm>
              <a:off x="464" y="1384"/>
              <a:ext cx="4039" cy="0"/>
            </a:xfrm>
            <a:prstGeom prst="line">
              <a:avLst/>
            </a:prstGeom>
            <a:noFill/>
            <a:ln w="28575">
              <a:solidFill>
                <a:srgbClr val="CC3300"/>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57" name="Text Box 7"/>
            <p:cNvSpPr txBox="1">
              <a:spLocks noChangeArrowheads="1"/>
            </p:cNvSpPr>
            <p:nvPr/>
          </p:nvSpPr>
          <p:spPr bwMode="auto">
            <a:xfrm>
              <a:off x="384" y="1393"/>
              <a:ext cx="446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spcBef>
                  <a:spcPct val="50000"/>
                </a:spcBef>
              </a:pPr>
              <a:r>
                <a:rPr lang="en-US" altLang="zh-CN" sz="1800">
                  <a:solidFill>
                    <a:srgbClr val="000099"/>
                  </a:solidFill>
                  <a:latin typeface="华文中宋" panose="02010600040101010101" pitchFamily="2" charset="-122"/>
                </a:rPr>
                <a:t>     </a:t>
              </a:r>
              <a:r>
                <a:rPr lang="zh-CN" altLang="en-US" sz="1800">
                  <a:solidFill>
                    <a:srgbClr val="000099"/>
                  </a:solidFill>
                  <a:latin typeface="华文中宋" panose="02010600040101010101" pitchFamily="2" charset="-122"/>
                </a:rPr>
                <a:t>用于低速                                                      用于高速</a:t>
              </a:r>
              <a:endParaRPr lang="zh-CN" altLang="en-US" sz="1800">
                <a:solidFill>
                  <a:srgbClr val="000099"/>
                </a:solidFill>
                <a:latin typeface="华文中宋" panose="02010600040101010101" pitchFamily="2" charset="-122"/>
              </a:endParaRPr>
            </a:p>
          </p:txBody>
        </p:sp>
      </p:grpSp>
      <p:pic>
        <p:nvPicPr>
          <p:cNvPr id="26663" name="Picture 39"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07400"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64" name="Picture 40" descr="back1">
            <a:hlinkClick r:id="" action="ppaction://hlinkshowjump?jump=previous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15388"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4" name="Rectangle 42"/>
          <p:cNvSpPr>
            <a:spLocks noChangeArrowheads="1"/>
          </p:cNvSpPr>
          <p:nvPr/>
        </p:nvSpPr>
        <p:spPr bwMode="auto">
          <a:xfrm>
            <a:off x="2552700" y="228600"/>
            <a:ext cx="601980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1.5-3 </a:t>
            </a:r>
            <a:r>
              <a:rPr lang="zh-CN" altLang="en-US" sz="3000" dirty="0">
                <a:solidFill>
                  <a:srgbClr val="CC3300"/>
                </a:solidFill>
                <a:latin typeface="黑体" panose="02010609060101010101" pitchFamily="49" charset="-122"/>
                <a:ea typeface="黑体" panose="02010609060101010101" pitchFamily="49" charset="-122"/>
              </a:rPr>
              <a:t>润滑剂、添加剂和润滑方法</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26667" name="Text Box 43"/>
          <p:cNvSpPr txBox="1">
            <a:spLocks noChangeArrowheads="1"/>
          </p:cNvSpPr>
          <p:nvPr/>
        </p:nvSpPr>
        <p:spPr bwMode="auto">
          <a:xfrm>
            <a:off x="203200" y="808038"/>
            <a:ext cx="2028417"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400" dirty="0">
                <a:solidFill>
                  <a:srgbClr val="0000FF"/>
                </a:solidFill>
                <a:latin typeface="黑体" panose="02010609060101010101" pitchFamily="49" charset="-122"/>
                <a:ea typeface="黑体" panose="02010609060101010101" pitchFamily="49" charset="-122"/>
              </a:rPr>
              <a:t>三、润滑方法</a:t>
            </a:r>
            <a:endParaRPr lang="zh-CN" altLang="en-US" sz="2400" dirty="0">
              <a:solidFill>
                <a:srgbClr val="0000FF"/>
              </a:solidFill>
              <a:latin typeface="黑体" panose="02010609060101010101" pitchFamily="49" charset="-122"/>
              <a:ea typeface="黑体" panose="02010609060101010101" pitchFamily="49" charset="-122"/>
            </a:endParaRPr>
          </a:p>
        </p:txBody>
      </p:sp>
      <p:pic>
        <p:nvPicPr>
          <p:cNvPr id="14346" name="Picture 4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3200" y="3822700"/>
            <a:ext cx="1789113"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7" name="Picture 48"/>
          <p:cNvPicPr>
            <a:picLocks noChangeAspect="1" noChangeArrowheads="1"/>
          </p:cNvPicPr>
          <p:nvPr/>
        </p:nvPicPr>
        <p:blipFill>
          <a:blip r:embed="rId5" cstate="print">
            <a:extLst>
              <a:ext uri="{28A0092B-C50C-407E-A947-70E740481C1C}">
                <a14:useLocalDpi xmlns:a14="http://schemas.microsoft.com/office/drawing/2010/main" val="0"/>
              </a:ext>
            </a:extLst>
          </a:blip>
          <a:srcRect r="13039"/>
          <a:stretch>
            <a:fillRect/>
          </a:stretch>
        </p:blipFill>
        <p:spPr bwMode="auto">
          <a:xfrm>
            <a:off x="1949450" y="3721100"/>
            <a:ext cx="2549525" cy="218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8" name="Picture 49"/>
          <p:cNvPicPr>
            <a:picLocks noChangeAspect="1" noChangeArrowheads="1"/>
          </p:cNvPicPr>
          <p:nvPr/>
        </p:nvPicPr>
        <p:blipFill>
          <a:blip r:embed="rId6">
            <a:extLst>
              <a:ext uri="{28A0092B-C50C-407E-A947-70E740481C1C}">
                <a14:useLocalDpi xmlns:a14="http://schemas.microsoft.com/office/drawing/2010/main" val="0"/>
              </a:ext>
            </a:extLst>
          </a:blip>
          <a:srcRect r="10862"/>
          <a:stretch>
            <a:fillRect/>
          </a:stretch>
        </p:blipFill>
        <p:spPr bwMode="auto">
          <a:xfrm>
            <a:off x="4737100" y="3111500"/>
            <a:ext cx="2167890" cy="302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9" name="Picture 50"/>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314883" y="3164840"/>
            <a:ext cx="1471612" cy="283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50" name="矩形 50"/>
          <p:cNvSpPr>
            <a:spLocks noChangeArrowheads="1"/>
          </p:cNvSpPr>
          <p:nvPr/>
        </p:nvSpPr>
        <p:spPr bwMode="auto">
          <a:xfrm>
            <a:off x="203200" y="5905500"/>
            <a:ext cx="15700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1800">
                <a:solidFill>
                  <a:srgbClr val="000099"/>
                </a:solidFill>
                <a:latin typeface="华文中宋" panose="02010600040101010101" pitchFamily="2" charset="-122"/>
              </a:rPr>
              <a:t>压配式注油杯</a:t>
            </a:r>
            <a:endParaRPr lang="zh-CN" altLang="en-US" sz="1800">
              <a:solidFill>
                <a:srgbClr val="000099"/>
              </a:solidFill>
              <a:latin typeface="华文中宋" panose="02010600040101010101" pitchFamily="2" charset="-122"/>
            </a:endParaRPr>
          </a:p>
        </p:txBody>
      </p:sp>
      <p:sp>
        <p:nvSpPr>
          <p:cNvPr id="14351" name="矩形 51"/>
          <p:cNvSpPr>
            <a:spLocks noChangeArrowheads="1"/>
          </p:cNvSpPr>
          <p:nvPr/>
        </p:nvSpPr>
        <p:spPr bwMode="auto">
          <a:xfrm>
            <a:off x="2231073" y="5905500"/>
            <a:ext cx="15684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1800">
                <a:solidFill>
                  <a:srgbClr val="000099"/>
                </a:solidFill>
                <a:latin typeface="华文中宋" panose="02010600040101010101" pitchFamily="2" charset="-122"/>
              </a:rPr>
              <a:t>旋套式注油杯</a:t>
            </a:r>
            <a:endParaRPr lang="zh-CN" altLang="en-US" sz="1800">
              <a:solidFill>
                <a:srgbClr val="000099"/>
              </a:solidFill>
              <a:latin typeface="华文中宋" panose="02010600040101010101" pitchFamily="2" charset="-122"/>
            </a:endParaRPr>
          </a:p>
        </p:txBody>
      </p:sp>
      <p:sp>
        <p:nvSpPr>
          <p:cNvPr id="14352" name="矩形 52"/>
          <p:cNvSpPr>
            <a:spLocks noChangeArrowheads="1"/>
          </p:cNvSpPr>
          <p:nvPr/>
        </p:nvSpPr>
        <p:spPr bwMode="auto">
          <a:xfrm>
            <a:off x="5108575" y="6057900"/>
            <a:ext cx="11080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1800">
                <a:solidFill>
                  <a:srgbClr val="000099"/>
                </a:solidFill>
                <a:latin typeface="华文中宋" panose="02010600040101010101" pitchFamily="2" charset="-122"/>
              </a:rPr>
              <a:t>针阀油杯</a:t>
            </a:r>
            <a:endParaRPr lang="zh-CN" altLang="en-US" sz="1800">
              <a:solidFill>
                <a:srgbClr val="000099"/>
              </a:solidFill>
              <a:latin typeface="华文中宋" panose="02010600040101010101" pitchFamily="2" charset="-122"/>
            </a:endParaRPr>
          </a:p>
        </p:txBody>
      </p:sp>
      <p:sp>
        <p:nvSpPr>
          <p:cNvPr id="14353" name="矩形 53"/>
          <p:cNvSpPr>
            <a:spLocks noChangeArrowheads="1"/>
          </p:cNvSpPr>
          <p:nvPr/>
        </p:nvSpPr>
        <p:spPr bwMode="auto">
          <a:xfrm>
            <a:off x="7610475" y="6057900"/>
            <a:ext cx="11080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1800">
                <a:solidFill>
                  <a:srgbClr val="000099"/>
                </a:solidFill>
                <a:latin typeface="华文中宋" panose="02010600040101010101" pitchFamily="2" charset="-122"/>
              </a:rPr>
              <a:t>油芯油杯</a:t>
            </a:r>
            <a:endParaRPr lang="zh-CN" altLang="en-US" sz="1800">
              <a:solidFill>
                <a:srgbClr val="000099"/>
              </a:solidFill>
              <a:latin typeface="华文中宋" panose="02010600040101010101" pitchFamily="2" charset="-122"/>
            </a:endParaRPr>
          </a:p>
        </p:txBody>
      </p:sp>
      <p:sp>
        <p:nvSpPr>
          <p:cNvPr id="14354" name="矩形 54"/>
          <p:cNvSpPr>
            <a:spLocks noChangeArrowheads="1"/>
          </p:cNvSpPr>
          <p:nvPr/>
        </p:nvSpPr>
        <p:spPr bwMode="auto">
          <a:xfrm>
            <a:off x="433388" y="2997200"/>
            <a:ext cx="14509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en-US" sz="2000">
                <a:solidFill>
                  <a:srgbClr val="C00000"/>
                </a:solidFill>
                <a:latin typeface="华文中宋" panose="02010600040101010101" pitchFamily="2" charset="-122"/>
              </a:rPr>
              <a:t>1.</a:t>
            </a:r>
            <a:r>
              <a:rPr lang="zh-CN" altLang="en-US" sz="2000">
                <a:solidFill>
                  <a:srgbClr val="C00000"/>
                </a:solidFill>
                <a:latin typeface="华文中宋" panose="02010600040101010101" pitchFamily="2" charset="-122"/>
              </a:rPr>
              <a:t>滴油润滑</a:t>
            </a:r>
            <a:endParaRPr lang="zh-CN" altLang="en-US" sz="2000">
              <a:solidFill>
                <a:srgbClr val="C00000"/>
              </a:solidFill>
              <a:latin typeface="华文中宋" panose="02010600040101010101" pitchFamily="2" charset="-122"/>
            </a:endParaRPr>
          </a:p>
        </p:txBody>
      </p:sp>
      <p:sp>
        <p:nvSpPr>
          <p:cNvPr id="14355"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6667"/>
                                        </p:tgtEl>
                                        <p:attrNameLst>
                                          <p:attrName>style.visibility</p:attrName>
                                        </p:attrNameLst>
                                      </p:cBhvr>
                                      <p:to>
                                        <p:strVal val="visible"/>
                                      </p:to>
                                    </p:set>
                                    <p:animEffect transition="in" filter="wipe(left)">
                                      <p:cBhvr>
                                        <p:cTn id="7" dur="500"/>
                                        <p:tgtEl>
                                          <p:spTgt spid="26667"/>
                                        </p:tgtEl>
                                      </p:cBhvr>
                                    </p:animEffect>
                                  </p:childTnLst>
                                </p:cTn>
                              </p:par>
                            </p:childTnLst>
                          </p:cTn>
                        </p:par>
                        <p:par>
                          <p:cTn id="8" fill="hold">
                            <p:stCondLst>
                              <p:cond delay="500"/>
                            </p:stCondLst>
                            <p:childTnLst>
                              <p:par>
                                <p:cTn id="9" presetID="3" presetClass="entr" presetSubtype="5" fill="hold" grpId="0" nodeType="afterEffect">
                                  <p:stCondLst>
                                    <p:cond delay="1000"/>
                                  </p:stCondLst>
                                  <p:childTnLst>
                                    <p:set>
                                      <p:cBhvr>
                                        <p:cTn id="10" dur="1" fill="hold">
                                          <p:stCondLst>
                                            <p:cond delay="0"/>
                                          </p:stCondLst>
                                        </p:cTn>
                                        <p:tgtEl>
                                          <p:spTgt spid="26627"/>
                                        </p:tgtEl>
                                        <p:attrNameLst>
                                          <p:attrName>style.visibility</p:attrName>
                                        </p:attrNameLst>
                                      </p:cBhvr>
                                      <p:to>
                                        <p:strVal val="visible"/>
                                      </p:to>
                                    </p:set>
                                    <p:animEffect transition="in" filter="blinds(vertical)">
                                      <p:cBhvr>
                                        <p:cTn id="11" dur="500"/>
                                        <p:tgtEl>
                                          <p:spTgt spid="2662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6628"/>
                                        </p:tgtEl>
                                        <p:attrNameLst>
                                          <p:attrName>style.visibility</p:attrName>
                                        </p:attrNameLst>
                                      </p:cBhvr>
                                      <p:to>
                                        <p:strVal val="visible"/>
                                      </p:to>
                                    </p:set>
                                    <p:animEffect transition="in" filter="wipe(left)">
                                      <p:cBhvr>
                                        <p:cTn id="16" dur="500"/>
                                        <p:tgtEl>
                                          <p:spTgt spid="26628"/>
                                        </p:tgtEl>
                                      </p:cBhvr>
                                    </p:animEffect>
                                  </p:childTnLst>
                                </p:cTn>
                              </p:par>
                            </p:childTnLst>
                          </p:cTn>
                        </p:par>
                      </p:childTnLst>
                    </p:cTn>
                  </p:par>
                  <p:par>
                    <p:cTn id="17" fill="hold">
                      <p:stCondLst>
                        <p:cond delay="indefinite"/>
                      </p:stCondLst>
                      <p:childTnLst>
                        <p:par>
                          <p:cTn id="18" fill="hold">
                            <p:stCondLst>
                              <p:cond delay="0"/>
                            </p:stCondLst>
                            <p:childTnLst>
                              <p:par>
                                <p:cTn id="19" presetID="17" presetClass="entr" presetSubtype="1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p:cTn id="21" dur="500" fill="hold"/>
                                        <p:tgtEl>
                                          <p:spTgt spid="2"/>
                                        </p:tgtEl>
                                        <p:attrNameLst>
                                          <p:attrName>ppt_w</p:attrName>
                                        </p:attrNameLst>
                                      </p:cBhvr>
                                      <p:tavLst>
                                        <p:tav tm="0">
                                          <p:val>
                                            <p:fltVal val="0"/>
                                          </p:val>
                                        </p:tav>
                                        <p:tav tm="100000">
                                          <p:val>
                                            <p:strVal val="#ppt_w"/>
                                          </p:val>
                                        </p:tav>
                                      </p:tavLst>
                                    </p:anim>
                                    <p:anim calcmode="lin" valueType="num">
                                      <p:cBhvr>
                                        <p:cTn id="22" dur="500" fill="hold"/>
                                        <p:tgtEl>
                                          <p:spTgt spid="2"/>
                                        </p:tgtEl>
                                        <p:attrNameLst>
                                          <p:attrName>ppt_h</p:attrName>
                                        </p:attrNameLst>
                                      </p:cBhvr>
                                      <p:tavLst>
                                        <p:tav tm="0">
                                          <p:val>
                                            <p:strVal val="#ppt_h"/>
                                          </p:val>
                                        </p:tav>
                                        <p:tav tm="100000">
                                          <p:val>
                                            <p:strVal val="#ppt_h"/>
                                          </p:val>
                                        </p:tav>
                                      </p:tavLst>
                                    </p:anim>
                                  </p:childTnLst>
                                </p:cTn>
                              </p:par>
                            </p:childTnLst>
                          </p:cTn>
                        </p:par>
                        <p:par>
                          <p:cTn id="23" fill="hold">
                            <p:stCondLst>
                              <p:cond delay="500"/>
                            </p:stCondLst>
                            <p:childTnLst>
                              <p:par>
                                <p:cTn id="24" presetID="1" presetClass="entr" presetSubtype="0" fill="hold" nodeType="afterEffect">
                                  <p:stCondLst>
                                    <p:cond delay="0"/>
                                  </p:stCondLst>
                                  <p:childTnLst>
                                    <p:set>
                                      <p:cBhvr>
                                        <p:cTn id="25" dur="1" fill="hold">
                                          <p:stCondLst>
                                            <p:cond delay="499"/>
                                          </p:stCondLst>
                                        </p:cTn>
                                        <p:tgtEl>
                                          <p:spTgt spid="26664"/>
                                        </p:tgtEl>
                                        <p:attrNameLst>
                                          <p:attrName>style.visibility</p:attrName>
                                        </p:attrNameLst>
                                      </p:cBhvr>
                                      <p:to>
                                        <p:strVal val="visible"/>
                                      </p:to>
                                    </p:set>
                                  </p:childTnLst>
                                </p:cTn>
                              </p:par>
                            </p:childTnLst>
                          </p:cTn>
                        </p:par>
                        <p:par>
                          <p:cTn id="26" fill="hold">
                            <p:stCondLst>
                              <p:cond delay="1000"/>
                            </p:stCondLst>
                            <p:childTnLst>
                              <p:par>
                                <p:cTn id="27" presetID="2" presetClass="entr" presetSubtype="8" fill="hold" nodeType="afterEffect">
                                  <p:stCondLst>
                                    <p:cond delay="0"/>
                                  </p:stCondLst>
                                  <p:childTnLst>
                                    <p:set>
                                      <p:cBhvr>
                                        <p:cTn id="28" dur="1" fill="hold">
                                          <p:stCondLst>
                                            <p:cond delay="0"/>
                                          </p:stCondLst>
                                        </p:cTn>
                                        <p:tgtEl>
                                          <p:spTgt spid="26663"/>
                                        </p:tgtEl>
                                        <p:attrNameLst>
                                          <p:attrName>style.visibility</p:attrName>
                                        </p:attrNameLst>
                                      </p:cBhvr>
                                      <p:to>
                                        <p:strVal val="visible"/>
                                      </p:to>
                                    </p:set>
                                    <p:anim calcmode="lin" valueType="num">
                                      <p:cBhvr additive="base">
                                        <p:cTn id="29" dur="500" fill="hold"/>
                                        <p:tgtEl>
                                          <p:spTgt spid="26663"/>
                                        </p:tgtEl>
                                        <p:attrNameLst>
                                          <p:attrName>ppt_x</p:attrName>
                                        </p:attrNameLst>
                                      </p:cBhvr>
                                      <p:tavLst>
                                        <p:tav tm="0">
                                          <p:val>
                                            <p:strVal val="0-#ppt_w/2"/>
                                          </p:val>
                                        </p:tav>
                                        <p:tav tm="100000">
                                          <p:val>
                                            <p:strVal val="#ppt_x"/>
                                          </p:val>
                                        </p:tav>
                                      </p:tavLst>
                                    </p:anim>
                                    <p:anim calcmode="lin" valueType="num">
                                      <p:cBhvr additive="base">
                                        <p:cTn id="30" dur="500" fill="hold"/>
                                        <p:tgtEl>
                                          <p:spTgt spid="266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autoUpdateAnimBg="0"/>
      <p:bldP spid="26628" grpId="0" autoUpdateAnimBg="0"/>
      <p:bldP spid="26667"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bwMode="auto">
          <a:xfrm>
            <a:off x="7315200" y="838200"/>
            <a:ext cx="1143000" cy="152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润滑方法</a:t>
            </a:r>
            <a:endParaRPr lang="zh-CN" altLang="en-US" sz="800" smtClean="0">
              <a:solidFill>
                <a:schemeClr val="bg1"/>
              </a:solidFill>
              <a:latin typeface="华文中宋" panose="02010600040101010101" pitchFamily="2" charset="-122"/>
              <a:ea typeface="华文中宋" panose="02010600040101010101" pitchFamily="2" charset="-122"/>
            </a:endParaRPr>
          </a:p>
        </p:txBody>
      </p:sp>
      <p:pic>
        <p:nvPicPr>
          <p:cNvPr id="26663" name="Picture 39"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07400"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64" name="Picture 40" descr="back1">
            <a:hlinkClick r:id="" action="ppaction://hlinkshowjump?jump=previous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15388"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6" name="Rectangle 42"/>
          <p:cNvSpPr>
            <a:spLocks noChangeArrowheads="1"/>
          </p:cNvSpPr>
          <p:nvPr/>
        </p:nvSpPr>
        <p:spPr bwMode="auto">
          <a:xfrm>
            <a:off x="2286000" y="228600"/>
            <a:ext cx="612775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1.5-3 </a:t>
            </a:r>
            <a:r>
              <a:rPr lang="zh-CN" altLang="en-US" sz="3000" dirty="0">
                <a:solidFill>
                  <a:srgbClr val="CC3300"/>
                </a:solidFill>
                <a:latin typeface="黑体" panose="02010609060101010101" pitchFamily="49" charset="-122"/>
                <a:ea typeface="黑体" panose="02010609060101010101" pitchFamily="49" charset="-122"/>
              </a:rPr>
              <a:t>润滑剂、添加剂和润滑方法</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15367" name="Text Box 58"/>
          <p:cNvSpPr txBox="1">
            <a:spLocks noChangeArrowheads="1"/>
          </p:cNvSpPr>
          <p:nvPr/>
        </p:nvSpPr>
        <p:spPr bwMode="auto">
          <a:xfrm>
            <a:off x="6018213" y="6175375"/>
            <a:ext cx="18097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zh-CN"/>
          </a:p>
        </p:txBody>
      </p:sp>
      <p:sp>
        <p:nvSpPr>
          <p:cNvPr id="15368" name="矩形 17"/>
          <p:cNvSpPr>
            <a:spLocks noChangeArrowheads="1"/>
          </p:cNvSpPr>
          <p:nvPr/>
        </p:nvSpPr>
        <p:spPr bwMode="auto">
          <a:xfrm>
            <a:off x="560388" y="838200"/>
            <a:ext cx="14509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en-US" sz="2000">
                <a:solidFill>
                  <a:srgbClr val="C00000"/>
                </a:solidFill>
                <a:latin typeface="华文中宋" panose="02010600040101010101" pitchFamily="2" charset="-122"/>
              </a:rPr>
              <a:t>2.</a:t>
            </a:r>
            <a:r>
              <a:rPr lang="zh-CN" altLang="en-US" sz="2000">
                <a:solidFill>
                  <a:srgbClr val="C00000"/>
                </a:solidFill>
                <a:latin typeface="华文中宋" panose="02010600040101010101" pitchFamily="2" charset="-122"/>
              </a:rPr>
              <a:t>油环润滑</a:t>
            </a:r>
            <a:endParaRPr lang="zh-CN" altLang="en-US" sz="2000">
              <a:solidFill>
                <a:srgbClr val="C00000"/>
              </a:solidFill>
              <a:latin typeface="华文中宋" panose="02010600040101010101" pitchFamily="2" charset="-122"/>
            </a:endParaRPr>
          </a:p>
        </p:txBody>
      </p:sp>
      <p:pic>
        <p:nvPicPr>
          <p:cNvPr id="15369"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67000" y="1244600"/>
            <a:ext cx="3295650" cy="195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71"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grpSp>
        <p:nvGrpSpPr>
          <p:cNvPr id="4" name="Group 55"/>
          <p:cNvGrpSpPr/>
          <p:nvPr/>
        </p:nvGrpSpPr>
        <p:grpSpPr>
          <a:xfrm>
            <a:off x="1195388" y="4459288"/>
            <a:ext cx="2895600" cy="2009775"/>
            <a:chOff x="682" y="1911"/>
            <a:chExt cx="1824" cy="1266"/>
          </a:xfrm>
        </p:grpSpPr>
        <p:grpSp>
          <p:nvGrpSpPr>
            <p:cNvPr id="13345" name="Group 8"/>
            <p:cNvGrpSpPr/>
            <p:nvPr/>
          </p:nvGrpSpPr>
          <p:grpSpPr>
            <a:xfrm>
              <a:off x="682" y="1911"/>
              <a:ext cx="1824" cy="992"/>
              <a:chOff x="432" y="2352"/>
              <a:chExt cx="1296" cy="672"/>
            </a:xfrm>
          </p:grpSpPr>
          <p:sp>
            <p:nvSpPr>
              <p:cNvPr id="13347" name="Freeform 9" descr="横虚线"/>
              <p:cNvSpPr/>
              <p:nvPr/>
            </p:nvSpPr>
            <p:spPr>
              <a:xfrm>
                <a:off x="432" y="2784"/>
                <a:ext cx="1296" cy="240"/>
              </a:xfrm>
              <a:custGeom>
                <a:avLst/>
                <a:gdLst>
                  <a:gd name="txL" fmla="*/ 0 w 1296"/>
                  <a:gd name="txT" fmla="*/ 0 h 816"/>
                  <a:gd name="txR" fmla="*/ 1296 w 1296"/>
                  <a:gd name="txB" fmla="*/ 816 h 816"/>
                </a:gdLst>
                <a:ahLst/>
                <a:cxnLst>
                  <a:cxn ang="0">
                    <a:pos x="0" y="0"/>
                  </a:cxn>
                  <a:cxn ang="0">
                    <a:pos x="0" y="0"/>
                  </a:cxn>
                  <a:cxn ang="0">
                    <a:pos x="1296" y="0"/>
                  </a:cxn>
                  <a:cxn ang="0">
                    <a:pos x="1296" y="0"/>
                  </a:cxn>
                </a:cxnLst>
                <a:rect l="txL" t="txT" r="txR" b="txB"/>
                <a:pathLst>
                  <a:path w="1296" h="816">
                    <a:moveTo>
                      <a:pt x="0" y="0"/>
                    </a:moveTo>
                    <a:lnTo>
                      <a:pt x="0" y="816"/>
                    </a:lnTo>
                    <a:lnTo>
                      <a:pt x="1296" y="816"/>
                    </a:lnTo>
                    <a:lnTo>
                      <a:pt x="1296" y="0"/>
                    </a:lnTo>
                  </a:path>
                </a:pathLst>
              </a:custGeom>
              <a:blipFill rotWithShape="0">
                <a:blip r:embed="rId5"/>
              </a:blipFill>
              <a:ln w="12700" cap="flat" cmpd="sng">
                <a:solidFill>
                  <a:srgbClr val="000000">
                    <a:alpha val="100000"/>
                  </a:srgbClr>
                </a:solidFill>
                <a:prstDash val="solid"/>
                <a:round/>
                <a:headEnd type="none" w="med" len="med"/>
                <a:tailEnd type="none" w="med" len="med"/>
              </a:ln>
            </p:spPr>
            <p:txBody>
              <a:bodyPr/>
              <a:p>
                <a:endParaRPr lang="zh-CN" altLang="en-US"/>
              </a:p>
            </p:txBody>
          </p:sp>
          <p:sp>
            <p:nvSpPr>
              <p:cNvPr id="13348" name="Oval 10"/>
              <p:cNvSpPr/>
              <p:nvPr/>
            </p:nvSpPr>
            <p:spPr>
              <a:xfrm>
                <a:off x="672" y="2352"/>
                <a:ext cx="528" cy="480"/>
              </a:xfrm>
              <a:prstGeom prst="ellipse">
                <a:avLst/>
              </a:prstGeom>
              <a:noFill/>
              <a:ln w="12700" cap="flat" cmpd="sng">
                <a:solidFill>
                  <a:srgbClr val="000000"/>
                </a:solidFill>
                <a:prstDash val="solid"/>
                <a:headEnd type="none" w="med" len="med"/>
                <a:tailEnd type="none" w="med" len="med"/>
              </a:ln>
            </p:spPr>
            <p:txBody>
              <a:bodyPr wrap="none" anchor="ctr" anchorCtr="0"/>
              <a:p>
                <a:pPr eaLnBrk="1" hangingPunct="1"/>
                <a:endParaRPr lang="zh-CN" altLang="en-US" dirty="0">
                  <a:latin typeface="Tahoma" panose="020B0604030504040204" pitchFamily="34" charset="0"/>
                </a:endParaRPr>
              </a:p>
            </p:txBody>
          </p:sp>
          <p:sp>
            <p:nvSpPr>
              <p:cNvPr id="13349" name="Line 11"/>
              <p:cNvSpPr/>
              <p:nvPr/>
            </p:nvSpPr>
            <p:spPr>
              <a:xfrm flipV="1">
                <a:off x="432" y="2448"/>
                <a:ext cx="0" cy="336"/>
              </a:xfrm>
              <a:prstGeom prst="line">
                <a:avLst/>
              </a:prstGeom>
              <a:ln w="12700" cap="flat" cmpd="sng">
                <a:solidFill>
                  <a:srgbClr val="000000"/>
                </a:solidFill>
                <a:prstDash val="solid"/>
                <a:headEnd type="none" w="med" len="med"/>
                <a:tailEnd type="none" w="med" len="med"/>
              </a:ln>
            </p:spPr>
          </p:sp>
          <p:sp>
            <p:nvSpPr>
              <p:cNvPr id="13350" name="Line 12"/>
              <p:cNvSpPr/>
              <p:nvPr/>
            </p:nvSpPr>
            <p:spPr>
              <a:xfrm flipV="1">
                <a:off x="1728" y="2448"/>
                <a:ext cx="0" cy="336"/>
              </a:xfrm>
              <a:prstGeom prst="line">
                <a:avLst/>
              </a:prstGeom>
              <a:ln w="12700" cap="flat" cmpd="sng">
                <a:solidFill>
                  <a:srgbClr val="000000"/>
                </a:solidFill>
                <a:prstDash val="solid"/>
                <a:headEnd type="none" w="med" len="med"/>
                <a:tailEnd type="none" w="med" len="med"/>
              </a:ln>
            </p:spPr>
          </p:sp>
          <p:sp>
            <p:nvSpPr>
              <p:cNvPr id="13351" name="Oval 13"/>
              <p:cNvSpPr/>
              <p:nvPr/>
            </p:nvSpPr>
            <p:spPr>
              <a:xfrm>
                <a:off x="888" y="2544"/>
                <a:ext cx="96" cy="96"/>
              </a:xfrm>
              <a:prstGeom prst="ellipse">
                <a:avLst/>
              </a:prstGeom>
              <a:noFill/>
              <a:ln w="12700" cap="flat" cmpd="sng">
                <a:solidFill>
                  <a:srgbClr val="000000"/>
                </a:solidFill>
                <a:prstDash val="solid"/>
                <a:headEnd type="none" w="med" len="med"/>
                <a:tailEnd type="none" w="med" len="med"/>
              </a:ln>
            </p:spPr>
            <p:txBody>
              <a:bodyPr wrap="none" anchor="ctr" anchorCtr="0"/>
              <a:p>
                <a:pPr eaLnBrk="1" hangingPunct="1"/>
                <a:endParaRPr lang="zh-CN" altLang="en-US" dirty="0">
                  <a:latin typeface="Tahoma" panose="020B0604030504040204" pitchFamily="34" charset="0"/>
                </a:endParaRPr>
              </a:p>
            </p:txBody>
          </p:sp>
          <p:sp>
            <p:nvSpPr>
              <p:cNvPr id="13352" name="Oval 14"/>
              <p:cNvSpPr/>
              <p:nvPr/>
            </p:nvSpPr>
            <p:spPr>
              <a:xfrm>
                <a:off x="1200" y="2496"/>
                <a:ext cx="240" cy="240"/>
              </a:xfrm>
              <a:prstGeom prst="ellipse">
                <a:avLst/>
              </a:prstGeom>
              <a:noFill/>
              <a:ln w="12700" cap="flat" cmpd="sng">
                <a:solidFill>
                  <a:srgbClr val="000000"/>
                </a:solidFill>
                <a:prstDash val="solid"/>
                <a:headEnd type="none" w="med" len="med"/>
                <a:tailEnd type="none" w="med" len="med"/>
              </a:ln>
            </p:spPr>
            <p:txBody>
              <a:bodyPr wrap="none" anchor="ctr" anchorCtr="0"/>
              <a:p>
                <a:pPr eaLnBrk="1" hangingPunct="1"/>
                <a:endParaRPr lang="zh-CN" altLang="en-US" dirty="0">
                  <a:latin typeface="Tahoma" panose="020B0604030504040204" pitchFamily="34" charset="0"/>
                </a:endParaRPr>
              </a:p>
            </p:txBody>
          </p:sp>
          <p:sp>
            <p:nvSpPr>
              <p:cNvPr id="13353" name="Line 15"/>
              <p:cNvSpPr/>
              <p:nvPr/>
            </p:nvSpPr>
            <p:spPr>
              <a:xfrm rot="-3561724">
                <a:off x="1137" y="2746"/>
                <a:ext cx="48" cy="1"/>
              </a:xfrm>
              <a:prstGeom prst="line">
                <a:avLst/>
              </a:prstGeom>
              <a:ln w="9525" cap="flat" cmpd="sng">
                <a:solidFill>
                  <a:srgbClr val="000000"/>
                </a:solidFill>
                <a:prstDash val="solid"/>
                <a:headEnd type="none" w="med" len="med"/>
                <a:tailEnd type="none" w="med" len="med"/>
              </a:ln>
            </p:spPr>
          </p:sp>
          <p:sp>
            <p:nvSpPr>
              <p:cNvPr id="13354" name="Line 16"/>
              <p:cNvSpPr/>
              <p:nvPr/>
            </p:nvSpPr>
            <p:spPr>
              <a:xfrm rot="-883934">
                <a:off x="1181" y="2771"/>
                <a:ext cx="48" cy="1"/>
              </a:xfrm>
              <a:prstGeom prst="line">
                <a:avLst/>
              </a:prstGeom>
              <a:ln w="9525" cap="flat" cmpd="sng">
                <a:solidFill>
                  <a:srgbClr val="000000"/>
                </a:solidFill>
                <a:prstDash val="solid"/>
                <a:headEnd type="none" w="med" len="med"/>
                <a:tailEnd type="none" w="med" len="med"/>
              </a:ln>
            </p:spPr>
          </p:sp>
          <p:sp>
            <p:nvSpPr>
              <p:cNvPr id="13355" name="Line 17"/>
              <p:cNvSpPr/>
              <p:nvPr/>
            </p:nvSpPr>
            <p:spPr>
              <a:xfrm rot="7937293">
                <a:off x="1170" y="2745"/>
                <a:ext cx="48" cy="1"/>
              </a:xfrm>
              <a:prstGeom prst="line">
                <a:avLst/>
              </a:prstGeom>
              <a:ln w="9525" cap="flat" cmpd="sng">
                <a:solidFill>
                  <a:srgbClr val="000000"/>
                </a:solidFill>
                <a:prstDash val="solid"/>
                <a:headEnd type="none" w="med" len="med"/>
                <a:tailEnd type="none" w="med" len="med"/>
              </a:ln>
            </p:spPr>
          </p:sp>
          <p:sp>
            <p:nvSpPr>
              <p:cNvPr id="13356" name="AutoShape 18"/>
              <p:cNvSpPr/>
              <p:nvPr/>
            </p:nvSpPr>
            <p:spPr>
              <a:xfrm flipV="1">
                <a:off x="900" y="2582"/>
                <a:ext cx="161" cy="186"/>
              </a:xfrm>
              <a:custGeom>
                <a:avLst/>
                <a:gdLst>
                  <a:gd name="txL" fmla="*/ 3220 w 21600"/>
                  <a:gd name="txT" fmla="*/ 3135 h 21600"/>
                  <a:gd name="txR" fmla="*/ 18380 w 21600"/>
                  <a:gd name="txB" fmla="*/ 18465 h 21600"/>
                </a:gdLst>
                <a:ahLst/>
                <a:cxnLst>
                  <a:cxn ang="0">
                    <a:pos x="0" y="0"/>
                  </a:cxn>
                  <a:cxn ang="0">
                    <a:pos x="0" y="0"/>
                  </a:cxn>
                  <a:cxn ang="0">
                    <a:pos x="0" y="0"/>
                  </a:cxn>
                  <a:cxn ang="0">
                    <a:pos x="0" y="0"/>
                  </a:cxn>
                  <a:cxn ang="0">
                    <a:pos x="0" y="0"/>
                  </a:cxn>
                  <a:cxn ang="0">
                    <a:pos x="0" y="0"/>
                  </a:cxn>
                </a:cxnLst>
                <a:rect l="txL" t="txT" r="txR" b="txB"/>
                <a:pathLst>
                  <a:path w="21600" h="21600">
                    <a:moveTo>
                      <a:pt x="17976" y="9638"/>
                    </a:moveTo>
                    <a:cubicBezTo>
                      <a:pt x="17406" y="6117"/>
                      <a:pt x="14366" y="3530"/>
                      <a:pt x="10800" y="3530"/>
                    </a:cubicBezTo>
                    <a:cubicBezTo>
                      <a:pt x="8396" y="3529"/>
                      <a:pt x="6148" y="4717"/>
                      <a:pt x="4794" y="6703"/>
                    </a:cubicBezTo>
                    <a:lnTo>
                      <a:pt x="1877" y="4714"/>
                    </a:lnTo>
                    <a:cubicBezTo>
                      <a:pt x="3889" y="1764"/>
                      <a:pt x="7229" y="-1"/>
                      <a:pt x="10800" y="0"/>
                    </a:cubicBezTo>
                    <a:cubicBezTo>
                      <a:pt x="16098" y="0"/>
                      <a:pt x="20614" y="3843"/>
                      <a:pt x="21461" y="9073"/>
                    </a:cubicBezTo>
                    <a:lnTo>
                      <a:pt x="24126" y="8642"/>
                    </a:lnTo>
                    <a:lnTo>
                      <a:pt x="20432" y="13762"/>
                    </a:lnTo>
                    <a:lnTo>
                      <a:pt x="15311" y="10069"/>
                    </a:lnTo>
                    <a:lnTo>
                      <a:pt x="17976" y="9638"/>
                    </a:lnTo>
                    <a:close/>
                  </a:path>
                </a:pathLst>
              </a:custGeom>
              <a:solidFill>
                <a:srgbClr val="99CCFF">
                  <a:alpha val="100000"/>
                </a:srgbClr>
              </a:solidFill>
              <a:ln w="9525" cap="flat" cmpd="sng">
                <a:solidFill>
                  <a:srgbClr val="000000">
                    <a:alpha val="100000"/>
                  </a:srgbClr>
                </a:solidFill>
                <a:prstDash val="solid"/>
                <a:miter lim="800000"/>
                <a:headEnd type="none" w="med" len="med"/>
                <a:tailEnd type="none" w="med" len="med"/>
              </a:ln>
            </p:spPr>
            <p:txBody>
              <a:bodyPr/>
              <a:p>
                <a:endParaRPr lang="zh-CN" altLang="en-US"/>
              </a:p>
            </p:txBody>
          </p:sp>
          <p:sp>
            <p:nvSpPr>
              <p:cNvPr id="13357" name="Oval 19"/>
              <p:cNvSpPr/>
              <p:nvPr/>
            </p:nvSpPr>
            <p:spPr>
              <a:xfrm>
                <a:off x="1302" y="2595"/>
                <a:ext cx="47" cy="47"/>
              </a:xfrm>
              <a:prstGeom prst="ellipse">
                <a:avLst/>
              </a:prstGeom>
              <a:noFill/>
              <a:ln w="9525" cap="flat" cmpd="sng">
                <a:solidFill>
                  <a:srgbClr val="000000"/>
                </a:solidFill>
                <a:prstDash val="solid"/>
                <a:headEnd type="none" w="med" len="med"/>
                <a:tailEnd type="none" w="med" len="med"/>
              </a:ln>
            </p:spPr>
            <p:txBody>
              <a:bodyPr wrap="none" anchor="ctr" anchorCtr="0"/>
              <a:p>
                <a:pPr eaLnBrk="1" hangingPunct="1"/>
                <a:endParaRPr lang="zh-CN" altLang="en-US" dirty="0">
                  <a:latin typeface="Tahoma" panose="020B0604030504040204" pitchFamily="34" charset="0"/>
                </a:endParaRPr>
              </a:p>
            </p:txBody>
          </p:sp>
          <p:sp>
            <p:nvSpPr>
              <p:cNvPr id="13358" name="AutoShape 20"/>
              <p:cNvSpPr/>
              <p:nvPr/>
            </p:nvSpPr>
            <p:spPr>
              <a:xfrm>
                <a:off x="1251" y="2545"/>
                <a:ext cx="161" cy="119"/>
              </a:xfrm>
              <a:custGeom>
                <a:avLst/>
                <a:gdLst>
                  <a:gd name="txL" fmla="*/ 3220 w 21600"/>
                  <a:gd name="txT" fmla="*/ 3086 h 21600"/>
                  <a:gd name="txR" fmla="*/ 18380 w 21600"/>
                  <a:gd name="txB" fmla="*/ 18514 h 21600"/>
                </a:gdLst>
                <a:ahLst/>
                <a:cxnLst>
                  <a:cxn ang="0">
                    <a:pos x="0" y="0"/>
                  </a:cxn>
                  <a:cxn ang="0">
                    <a:pos x="0" y="0"/>
                  </a:cxn>
                  <a:cxn ang="0">
                    <a:pos x="0" y="0"/>
                  </a:cxn>
                  <a:cxn ang="0">
                    <a:pos x="0" y="0"/>
                  </a:cxn>
                  <a:cxn ang="0">
                    <a:pos x="0" y="0"/>
                  </a:cxn>
                  <a:cxn ang="0">
                    <a:pos x="0" y="0"/>
                  </a:cxn>
                </a:cxnLst>
                <a:rect l="txL" t="txT" r="txR" b="txB"/>
                <a:pathLst>
                  <a:path w="21600" h="21600">
                    <a:moveTo>
                      <a:pt x="17976" y="9638"/>
                    </a:moveTo>
                    <a:cubicBezTo>
                      <a:pt x="17406" y="6117"/>
                      <a:pt x="14366" y="3530"/>
                      <a:pt x="10800" y="3530"/>
                    </a:cubicBezTo>
                    <a:cubicBezTo>
                      <a:pt x="8396" y="3529"/>
                      <a:pt x="6148" y="4717"/>
                      <a:pt x="4794" y="6703"/>
                    </a:cubicBezTo>
                    <a:lnTo>
                      <a:pt x="1877" y="4714"/>
                    </a:lnTo>
                    <a:cubicBezTo>
                      <a:pt x="3889" y="1764"/>
                      <a:pt x="7229" y="-1"/>
                      <a:pt x="10800" y="0"/>
                    </a:cubicBezTo>
                    <a:cubicBezTo>
                      <a:pt x="16098" y="0"/>
                      <a:pt x="20614" y="3843"/>
                      <a:pt x="21461" y="9073"/>
                    </a:cubicBezTo>
                    <a:lnTo>
                      <a:pt x="24126" y="8642"/>
                    </a:lnTo>
                    <a:lnTo>
                      <a:pt x="20432" y="13762"/>
                    </a:lnTo>
                    <a:lnTo>
                      <a:pt x="15311" y="10069"/>
                    </a:lnTo>
                    <a:lnTo>
                      <a:pt x="17976" y="9638"/>
                    </a:lnTo>
                    <a:close/>
                  </a:path>
                </a:pathLst>
              </a:custGeom>
              <a:solidFill>
                <a:srgbClr val="99CCFF">
                  <a:alpha val="100000"/>
                </a:srgbClr>
              </a:solidFill>
              <a:ln w="9525" cap="flat" cmpd="sng">
                <a:solidFill>
                  <a:srgbClr val="000000">
                    <a:alpha val="100000"/>
                  </a:srgbClr>
                </a:solidFill>
                <a:prstDash val="solid"/>
                <a:miter lim="800000"/>
                <a:headEnd type="none" w="med" len="med"/>
                <a:tailEnd type="none" w="med" len="med"/>
              </a:ln>
            </p:spPr>
            <p:txBody>
              <a:bodyPr/>
              <a:p>
                <a:endParaRPr lang="zh-CN" altLang="en-US"/>
              </a:p>
            </p:txBody>
          </p:sp>
        </p:grpSp>
        <p:sp>
          <p:nvSpPr>
            <p:cNvPr id="13346" name="Text Box 53"/>
            <p:cNvSpPr txBox="1"/>
            <p:nvPr/>
          </p:nvSpPr>
          <p:spPr>
            <a:xfrm>
              <a:off x="950" y="2927"/>
              <a:ext cx="1234" cy="250"/>
            </a:xfrm>
            <a:prstGeom prst="rect">
              <a:avLst/>
            </a:prstGeom>
            <a:noFill/>
            <a:ln w="9525">
              <a:noFill/>
            </a:ln>
          </p:spPr>
          <p:txBody>
            <a:bodyPr wrap="none" lIns="90000" tIns="46800" rIns="90000" bIns="46800">
              <a:spAutoFit/>
            </a:bodyPr>
            <a:p>
              <a:pPr eaLnBrk="1" hangingPunct="1"/>
              <a:r>
                <a:rPr lang="zh-CN" altLang="en-US" sz="2000" dirty="0">
                  <a:solidFill>
                    <a:srgbClr val="333399"/>
                  </a:solidFill>
                  <a:latin typeface="Tahoma" panose="020B0604030504040204" pitchFamily="34" charset="0"/>
                </a:rPr>
                <a:t>浸油与飞溅润滑</a:t>
              </a:r>
              <a:endParaRPr lang="zh-CN" altLang="en-US" sz="2000" dirty="0">
                <a:solidFill>
                  <a:srgbClr val="333399"/>
                </a:solidFill>
                <a:latin typeface="Tahoma" panose="020B0604030504040204" pitchFamily="34" charset="0"/>
              </a:endParaRPr>
            </a:p>
          </p:txBody>
        </p:sp>
      </p:grpSp>
      <p:sp>
        <p:nvSpPr>
          <p:cNvPr id="2" name="矩形 17"/>
          <p:cNvSpPr>
            <a:spLocks noChangeArrowheads="1"/>
          </p:cNvSpPr>
          <p:nvPr/>
        </p:nvSpPr>
        <p:spPr bwMode="auto">
          <a:xfrm>
            <a:off x="432118" y="3336290"/>
            <a:ext cx="143764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en-US" sz="2000">
                <a:solidFill>
                  <a:srgbClr val="C00000"/>
                </a:solidFill>
                <a:latin typeface="华文中宋" panose="02010600040101010101" pitchFamily="2" charset="-122"/>
              </a:rPr>
              <a:t>3.</a:t>
            </a:r>
            <a:r>
              <a:rPr lang="zh-CN" altLang="en-US" sz="2000">
                <a:solidFill>
                  <a:srgbClr val="C00000"/>
                </a:solidFill>
                <a:latin typeface="华文中宋" panose="02010600040101010101" pitchFamily="2" charset="-122"/>
              </a:rPr>
              <a:t>飞溅润滑</a:t>
            </a:r>
            <a:endParaRPr lang="zh-CN" altLang="en-US" sz="2000">
              <a:solidFill>
                <a:srgbClr val="C00000"/>
              </a:solidFill>
              <a:latin typeface="华文中宋" panose="02010600040101010101" pitchFamily="2" charset="-122"/>
            </a:endParaRPr>
          </a:p>
        </p:txBody>
      </p:sp>
      <p:grpSp>
        <p:nvGrpSpPr>
          <p:cNvPr id="6" name="Group 56"/>
          <p:cNvGrpSpPr/>
          <p:nvPr/>
        </p:nvGrpSpPr>
        <p:grpSpPr>
          <a:xfrm>
            <a:off x="5245735" y="4194493"/>
            <a:ext cx="2743200" cy="2124075"/>
            <a:chOff x="3082" y="1785"/>
            <a:chExt cx="1728" cy="1338"/>
          </a:xfrm>
        </p:grpSpPr>
        <p:grpSp>
          <p:nvGrpSpPr>
            <p:cNvPr id="13329" name="Group 21"/>
            <p:cNvGrpSpPr/>
            <p:nvPr/>
          </p:nvGrpSpPr>
          <p:grpSpPr>
            <a:xfrm>
              <a:off x="3082" y="1785"/>
              <a:ext cx="1728" cy="1105"/>
              <a:chOff x="2344" y="2314"/>
              <a:chExt cx="1296" cy="793"/>
            </a:xfrm>
          </p:grpSpPr>
          <p:sp>
            <p:nvSpPr>
              <p:cNvPr id="13331" name="Freeform 22" descr="横虚线"/>
              <p:cNvSpPr/>
              <p:nvPr/>
            </p:nvSpPr>
            <p:spPr>
              <a:xfrm>
                <a:off x="2344" y="2952"/>
                <a:ext cx="1296" cy="155"/>
              </a:xfrm>
              <a:custGeom>
                <a:avLst/>
                <a:gdLst>
                  <a:gd name="txL" fmla="*/ 0 w 1296"/>
                  <a:gd name="txT" fmla="*/ 0 h 816"/>
                  <a:gd name="txR" fmla="*/ 1296 w 1296"/>
                  <a:gd name="txB" fmla="*/ 816 h 816"/>
                </a:gdLst>
                <a:ahLst/>
                <a:cxnLst>
                  <a:cxn ang="0">
                    <a:pos x="0" y="0"/>
                  </a:cxn>
                  <a:cxn ang="0">
                    <a:pos x="0" y="0"/>
                  </a:cxn>
                  <a:cxn ang="0">
                    <a:pos x="1296" y="0"/>
                  </a:cxn>
                  <a:cxn ang="0">
                    <a:pos x="1296" y="0"/>
                  </a:cxn>
                </a:cxnLst>
                <a:rect l="txL" t="txT" r="txR" b="txB"/>
                <a:pathLst>
                  <a:path w="1296" h="816">
                    <a:moveTo>
                      <a:pt x="0" y="0"/>
                    </a:moveTo>
                    <a:lnTo>
                      <a:pt x="0" y="816"/>
                    </a:lnTo>
                    <a:lnTo>
                      <a:pt x="1296" y="816"/>
                    </a:lnTo>
                    <a:lnTo>
                      <a:pt x="1296" y="0"/>
                    </a:lnTo>
                  </a:path>
                </a:pathLst>
              </a:custGeom>
              <a:blipFill rotWithShape="0">
                <a:blip r:embed="rId5"/>
              </a:blipFill>
              <a:ln w="12700" cap="flat" cmpd="sng">
                <a:solidFill>
                  <a:srgbClr val="000000">
                    <a:alpha val="100000"/>
                  </a:srgbClr>
                </a:solidFill>
                <a:prstDash val="solid"/>
                <a:round/>
                <a:headEnd type="none" w="med" len="med"/>
                <a:tailEnd type="none" w="med" len="med"/>
              </a:ln>
            </p:spPr>
            <p:txBody>
              <a:bodyPr/>
              <a:p>
                <a:endParaRPr lang="zh-CN" altLang="en-US"/>
              </a:p>
            </p:txBody>
          </p:sp>
          <p:sp>
            <p:nvSpPr>
              <p:cNvPr id="13332" name="Oval 23"/>
              <p:cNvSpPr/>
              <p:nvPr/>
            </p:nvSpPr>
            <p:spPr>
              <a:xfrm>
                <a:off x="2584" y="2435"/>
                <a:ext cx="528" cy="480"/>
              </a:xfrm>
              <a:prstGeom prst="ellipse">
                <a:avLst/>
              </a:prstGeom>
              <a:noFill/>
              <a:ln w="12700" cap="flat" cmpd="sng">
                <a:solidFill>
                  <a:srgbClr val="000000"/>
                </a:solidFill>
                <a:prstDash val="solid"/>
                <a:headEnd type="none" w="med" len="med"/>
                <a:tailEnd type="none" w="med" len="med"/>
              </a:ln>
            </p:spPr>
            <p:txBody>
              <a:bodyPr wrap="none" anchor="ctr" anchorCtr="0"/>
              <a:p>
                <a:pPr eaLnBrk="1" hangingPunct="1"/>
                <a:endParaRPr lang="zh-CN" altLang="en-US" dirty="0">
                  <a:latin typeface="Tahoma" panose="020B0604030504040204" pitchFamily="34" charset="0"/>
                </a:endParaRPr>
              </a:p>
            </p:txBody>
          </p:sp>
          <p:sp>
            <p:nvSpPr>
              <p:cNvPr id="13333" name="Line 24"/>
              <p:cNvSpPr/>
              <p:nvPr/>
            </p:nvSpPr>
            <p:spPr>
              <a:xfrm flipV="1">
                <a:off x="2344" y="2531"/>
                <a:ext cx="0" cy="423"/>
              </a:xfrm>
              <a:prstGeom prst="line">
                <a:avLst/>
              </a:prstGeom>
              <a:ln w="12700" cap="flat" cmpd="sng">
                <a:solidFill>
                  <a:srgbClr val="000000"/>
                </a:solidFill>
                <a:prstDash val="solid"/>
                <a:headEnd type="none" w="med" len="med"/>
                <a:tailEnd type="none" w="med" len="med"/>
              </a:ln>
            </p:spPr>
          </p:sp>
          <p:sp>
            <p:nvSpPr>
              <p:cNvPr id="13334" name="Line 25"/>
              <p:cNvSpPr/>
              <p:nvPr/>
            </p:nvSpPr>
            <p:spPr>
              <a:xfrm flipV="1">
                <a:off x="3640" y="2531"/>
                <a:ext cx="0" cy="422"/>
              </a:xfrm>
              <a:prstGeom prst="line">
                <a:avLst/>
              </a:prstGeom>
              <a:ln w="12700" cap="flat" cmpd="sng">
                <a:solidFill>
                  <a:srgbClr val="000000"/>
                </a:solidFill>
                <a:prstDash val="solid"/>
                <a:headEnd type="none" w="med" len="med"/>
                <a:tailEnd type="none" w="med" len="med"/>
              </a:ln>
            </p:spPr>
          </p:sp>
          <p:sp>
            <p:nvSpPr>
              <p:cNvPr id="13335" name="Oval 26"/>
              <p:cNvSpPr/>
              <p:nvPr/>
            </p:nvSpPr>
            <p:spPr>
              <a:xfrm>
                <a:off x="2800" y="2627"/>
                <a:ext cx="96" cy="96"/>
              </a:xfrm>
              <a:prstGeom prst="ellipse">
                <a:avLst/>
              </a:prstGeom>
              <a:noFill/>
              <a:ln w="12700" cap="flat" cmpd="sng">
                <a:solidFill>
                  <a:srgbClr val="000000"/>
                </a:solidFill>
                <a:prstDash val="solid"/>
                <a:headEnd type="none" w="med" len="med"/>
                <a:tailEnd type="none" w="med" len="med"/>
              </a:ln>
            </p:spPr>
            <p:txBody>
              <a:bodyPr wrap="none" anchor="ctr" anchorCtr="0"/>
              <a:p>
                <a:pPr eaLnBrk="1" hangingPunct="1"/>
                <a:endParaRPr lang="zh-CN" altLang="en-US" dirty="0">
                  <a:latin typeface="Tahoma" panose="020B0604030504040204" pitchFamily="34" charset="0"/>
                </a:endParaRPr>
              </a:p>
            </p:txBody>
          </p:sp>
          <p:sp>
            <p:nvSpPr>
              <p:cNvPr id="13336" name="Oval 27"/>
              <p:cNvSpPr/>
              <p:nvPr/>
            </p:nvSpPr>
            <p:spPr>
              <a:xfrm>
                <a:off x="3112" y="2579"/>
                <a:ext cx="240" cy="240"/>
              </a:xfrm>
              <a:prstGeom prst="ellipse">
                <a:avLst/>
              </a:prstGeom>
              <a:noFill/>
              <a:ln w="12700" cap="flat" cmpd="sng">
                <a:solidFill>
                  <a:srgbClr val="000000"/>
                </a:solidFill>
                <a:prstDash val="solid"/>
                <a:headEnd type="none" w="med" len="med"/>
                <a:tailEnd type="none" w="med" len="med"/>
              </a:ln>
            </p:spPr>
            <p:txBody>
              <a:bodyPr wrap="none" anchor="ctr" anchorCtr="0"/>
              <a:p>
                <a:pPr eaLnBrk="1" hangingPunct="1"/>
                <a:endParaRPr lang="zh-CN" altLang="en-US" dirty="0">
                  <a:latin typeface="Tahoma" panose="020B0604030504040204" pitchFamily="34" charset="0"/>
                </a:endParaRPr>
              </a:p>
            </p:txBody>
          </p:sp>
          <p:grpSp>
            <p:nvGrpSpPr>
              <p:cNvPr id="13337" name="Group 28"/>
              <p:cNvGrpSpPr/>
              <p:nvPr/>
            </p:nvGrpSpPr>
            <p:grpSpPr>
              <a:xfrm rot="7659543">
                <a:off x="3102" y="2527"/>
                <a:ext cx="68" cy="50"/>
                <a:chOff x="3073" y="2805"/>
                <a:chExt cx="68" cy="50"/>
              </a:xfrm>
            </p:grpSpPr>
            <p:sp>
              <p:nvSpPr>
                <p:cNvPr id="13342" name="Line 29"/>
                <p:cNvSpPr/>
                <p:nvPr/>
              </p:nvSpPr>
              <p:spPr>
                <a:xfrm rot="-3561724">
                  <a:off x="3049" y="2829"/>
                  <a:ext cx="48" cy="1"/>
                </a:xfrm>
                <a:prstGeom prst="line">
                  <a:avLst/>
                </a:prstGeom>
                <a:ln w="9525" cap="flat" cmpd="sng">
                  <a:solidFill>
                    <a:srgbClr val="000000"/>
                  </a:solidFill>
                  <a:prstDash val="solid"/>
                  <a:headEnd type="none" w="med" len="med"/>
                  <a:tailEnd type="none" w="med" len="med"/>
                </a:ln>
              </p:spPr>
            </p:sp>
            <p:sp>
              <p:nvSpPr>
                <p:cNvPr id="13343" name="Line 30"/>
                <p:cNvSpPr/>
                <p:nvPr/>
              </p:nvSpPr>
              <p:spPr>
                <a:xfrm rot="-883934">
                  <a:off x="3093" y="2854"/>
                  <a:ext cx="48" cy="1"/>
                </a:xfrm>
                <a:prstGeom prst="line">
                  <a:avLst/>
                </a:prstGeom>
                <a:ln w="9525" cap="flat" cmpd="sng">
                  <a:solidFill>
                    <a:srgbClr val="000000"/>
                  </a:solidFill>
                  <a:prstDash val="solid"/>
                  <a:headEnd type="none" w="med" len="med"/>
                  <a:tailEnd type="none" w="med" len="med"/>
                </a:ln>
              </p:spPr>
            </p:sp>
            <p:sp>
              <p:nvSpPr>
                <p:cNvPr id="13344" name="Line 31"/>
                <p:cNvSpPr/>
                <p:nvPr/>
              </p:nvSpPr>
              <p:spPr>
                <a:xfrm rot="7937293">
                  <a:off x="3082" y="2828"/>
                  <a:ext cx="48" cy="1"/>
                </a:xfrm>
                <a:prstGeom prst="line">
                  <a:avLst/>
                </a:prstGeom>
                <a:ln w="9525" cap="flat" cmpd="sng">
                  <a:solidFill>
                    <a:srgbClr val="000000"/>
                  </a:solidFill>
                  <a:prstDash val="solid"/>
                  <a:headEnd type="none" w="med" len="med"/>
                  <a:tailEnd type="none" w="med" len="med"/>
                </a:ln>
              </p:spPr>
            </p:sp>
          </p:grpSp>
          <p:sp>
            <p:nvSpPr>
              <p:cNvPr id="13338" name="AutoShape 32"/>
              <p:cNvSpPr/>
              <p:nvPr/>
            </p:nvSpPr>
            <p:spPr>
              <a:xfrm flipV="1">
                <a:off x="2812" y="2665"/>
                <a:ext cx="161" cy="186"/>
              </a:xfrm>
              <a:custGeom>
                <a:avLst/>
                <a:gdLst>
                  <a:gd name="txL" fmla="*/ 3220 w 21600"/>
                  <a:gd name="txT" fmla="*/ 3135 h 21600"/>
                  <a:gd name="txR" fmla="*/ 18380 w 21600"/>
                  <a:gd name="txB" fmla="*/ 18465 h 21600"/>
                </a:gdLst>
                <a:ahLst/>
                <a:cxnLst>
                  <a:cxn ang="0">
                    <a:pos x="0" y="0"/>
                  </a:cxn>
                  <a:cxn ang="0">
                    <a:pos x="0" y="0"/>
                  </a:cxn>
                  <a:cxn ang="0">
                    <a:pos x="0" y="0"/>
                  </a:cxn>
                  <a:cxn ang="0">
                    <a:pos x="0" y="0"/>
                  </a:cxn>
                  <a:cxn ang="0">
                    <a:pos x="0" y="0"/>
                  </a:cxn>
                  <a:cxn ang="0">
                    <a:pos x="0" y="0"/>
                  </a:cxn>
                </a:cxnLst>
                <a:rect l="txL" t="txT" r="txR" b="txB"/>
                <a:pathLst>
                  <a:path w="21600" h="21600">
                    <a:moveTo>
                      <a:pt x="17976" y="9638"/>
                    </a:moveTo>
                    <a:cubicBezTo>
                      <a:pt x="17406" y="6117"/>
                      <a:pt x="14366" y="3530"/>
                      <a:pt x="10800" y="3530"/>
                    </a:cubicBezTo>
                    <a:cubicBezTo>
                      <a:pt x="8396" y="3529"/>
                      <a:pt x="6148" y="4717"/>
                      <a:pt x="4794" y="6703"/>
                    </a:cubicBezTo>
                    <a:lnTo>
                      <a:pt x="1877" y="4714"/>
                    </a:lnTo>
                    <a:cubicBezTo>
                      <a:pt x="3889" y="1764"/>
                      <a:pt x="7229" y="-1"/>
                      <a:pt x="10800" y="0"/>
                    </a:cubicBezTo>
                    <a:cubicBezTo>
                      <a:pt x="16098" y="0"/>
                      <a:pt x="20614" y="3843"/>
                      <a:pt x="21461" y="9073"/>
                    </a:cubicBezTo>
                    <a:lnTo>
                      <a:pt x="24126" y="8642"/>
                    </a:lnTo>
                    <a:lnTo>
                      <a:pt x="20432" y="13762"/>
                    </a:lnTo>
                    <a:lnTo>
                      <a:pt x="15311" y="10069"/>
                    </a:lnTo>
                    <a:lnTo>
                      <a:pt x="17976" y="9638"/>
                    </a:lnTo>
                    <a:close/>
                  </a:path>
                </a:pathLst>
              </a:custGeom>
              <a:solidFill>
                <a:schemeClr val="accent1">
                  <a:alpha val="100000"/>
                </a:schemeClr>
              </a:solidFill>
              <a:ln w="9525" cap="flat" cmpd="sng">
                <a:solidFill>
                  <a:srgbClr val="000000">
                    <a:alpha val="100000"/>
                  </a:srgbClr>
                </a:solidFill>
                <a:prstDash val="solid"/>
                <a:miter lim="800000"/>
                <a:headEnd type="none" w="med" len="med"/>
                <a:tailEnd type="none" w="med" len="med"/>
              </a:ln>
            </p:spPr>
            <p:txBody>
              <a:bodyPr/>
              <a:p>
                <a:endParaRPr lang="zh-CN" altLang="en-US"/>
              </a:p>
            </p:txBody>
          </p:sp>
          <p:sp>
            <p:nvSpPr>
              <p:cNvPr id="13339" name="Oval 33"/>
              <p:cNvSpPr/>
              <p:nvPr/>
            </p:nvSpPr>
            <p:spPr>
              <a:xfrm>
                <a:off x="3214" y="2678"/>
                <a:ext cx="47" cy="47"/>
              </a:xfrm>
              <a:prstGeom prst="ellipse">
                <a:avLst/>
              </a:prstGeom>
              <a:noFill/>
              <a:ln w="9525" cap="flat" cmpd="sng">
                <a:solidFill>
                  <a:srgbClr val="000000"/>
                </a:solidFill>
                <a:prstDash val="solid"/>
                <a:headEnd type="none" w="med" len="med"/>
                <a:tailEnd type="none" w="med" len="med"/>
              </a:ln>
            </p:spPr>
            <p:txBody>
              <a:bodyPr wrap="none" anchor="ctr" anchorCtr="0"/>
              <a:p>
                <a:pPr eaLnBrk="1" hangingPunct="1"/>
                <a:endParaRPr lang="zh-CN" altLang="en-US" dirty="0">
                  <a:latin typeface="Tahoma" panose="020B0604030504040204" pitchFamily="34" charset="0"/>
                </a:endParaRPr>
              </a:p>
            </p:txBody>
          </p:sp>
          <p:sp>
            <p:nvSpPr>
              <p:cNvPr id="13340" name="AutoShape 34"/>
              <p:cNvSpPr/>
              <p:nvPr/>
            </p:nvSpPr>
            <p:spPr>
              <a:xfrm>
                <a:off x="3163" y="2628"/>
                <a:ext cx="161" cy="119"/>
              </a:xfrm>
              <a:custGeom>
                <a:avLst/>
                <a:gdLst>
                  <a:gd name="txL" fmla="*/ 3220 w 21600"/>
                  <a:gd name="txT" fmla="*/ 3086 h 21600"/>
                  <a:gd name="txR" fmla="*/ 18380 w 21600"/>
                  <a:gd name="txB" fmla="*/ 18514 h 21600"/>
                </a:gdLst>
                <a:ahLst/>
                <a:cxnLst>
                  <a:cxn ang="0">
                    <a:pos x="0" y="0"/>
                  </a:cxn>
                  <a:cxn ang="0">
                    <a:pos x="0" y="0"/>
                  </a:cxn>
                  <a:cxn ang="0">
                    <a:pos x="0" y="0"/>
                  </a:cxn>
                  <a:cxn ang="0">
                    <a:pos x="0" y="0"/>
                  </a:cxn>
                  <a:cxn ang="0">
                    <a:pos x="0" y="0"/>
                  </a:cxn>
                  <a:cxn ang="0">
                    <a:pos x="0" y="0"/>
                  </a:cxn>
                </a:cxnLst>
                <a:rect l="txL" t="txT" r="txR" b="txB"/>
                <a:pathLst>
                  <a:path w="21600" h="21600">
                    <a:moveTo>
                      <a:pt x="17976" y="9638"/>
                    </a:moveTo>
                    <a:cubicBezTo>
                      <a:pt x="17406" y="6117"/>
                      <a:pt x="14366" y="3530"/>
                      <a:pt x="10800" y="3530"/>
                    </a:cubicBezTo>
                    <a:cubicBezTo>
                      <a:pt x="8396" y="3529"/>
                      <a:pt x="6148" y="4717"/>
                      <a:pt x="4794" y="6703"/>
                    </a:cubicBezTo>
                    <a:lnTo>
                      <a:pt x="1877" y="4714"/>
                    </a:lnTo>
                    <a:cubicBezTo>
                      <a:pt x="3889" y="1764"/>
                      <a:pt x="7229" y="-1"/>
                      <a:pt x="10800" y="0"/>
                    </a:cubicBezTo>
                    <a:cubicBezTo>
                      <a:pt x="16098" y="0"/>
                      <a:pt x="20614" y="3843"/>
                      <a:pt x="21461" y="9073"/>
                    </a:cubicBezTo>
                    <a:lnTo>
                      <a:pt x="24126" y="8642"/>
                    </a:lnTo>
                    <a:lnTo>
                      <a:pt x="20432" y="13762"/>
                    </a:lnTo>
                    <a:lnTo>
                      <a:pt x="15311" y="10069"/>
                    </a:lnTo>
                    <a:lnTo>
                      <a:pt x="17976" y="9638"/>
                    </a:lnTo>
                    <a:close/>
                  </a:path>
                </a:pathLst>
              </a:custGeom>
              <a:solidFill>
                <a:schemeClr val="accent1">
                  <a:alpha val="100000"/>
                </a:schemeClr>
              </a:solidFill>
              <a:ln w="9525" cap="flat" cmpd="sng">
                <a:solidFill>
                  <a:srgbClr val="000000">
                    <a:alpha val="100000"/>
                  </a:srgbClr>
                </a:solidFill>
                <a:prstDash val="solid"/>
                <a:miter lim="800000"/>
                <a:headEnd type="none" w="med" len="med"/>
                <a:tailEnd type="none" w="med" len="med"/>
              </a:ln>
            </p:spPr>
            <p:txBody>
              <a:bodyPr/>
              <a:p>
                <a:endParaRPr lang="zh-CN" altLang="en-US"/>
              </a:p>
            </p:txBody>
          </p:sp>
          <p:sp>
            <p:nvSpPr>
              <p:cNvPr id="13341" name="Rectangle 35"/>
              <p:cNvSpPr/>
              <p:nvPr/>
            </p:nvSpPr>
            <p:spPr>
              <a:xfrm>
                <a:off x="3104" y="2314"/>
                <a:ext cx="47" cy="185"/>
              </a:xfrm>
              <a:prstGeom prst="rect">
                <a:avLst/>
              </a:prstGeom>
              <a:solidFill>
                <a:srgbClr val="CCECFF"/>
              </a:solidFill>
              <a:ln w="3175" cap="flat" cmpd="sng">
                <a:solidFill>
                  <a:srgbClr val="000000"/>
                </a:solidFill>
                <a:prstDash val="solid"/>
                <a:miter/>
                <a:headEnd type="none" w="med" len="med"/>
                <a:tailEnd type="none" w="med" len="med"/>
              </a:ln>
            </p:spPr>
            <p:txBody>
              <a:bodyPr wrap="none" anchor="ctr" anchorCtr="0"/>
              <a:p>
                <a:pPr eaLnBrk="1" hangingPunct="1"/>
                <a:endParaRPr lang="zh-CN" altLang="en-US" dirty="0">
                  <a:latin typeface="Tahoma" panose="020B0604030504040204" pitchFamily="34" charset="0"/>
                </a:endParaRPr>
              </a:p>
            </p:txBody>
          </p:sp>
        </p:grpSp>
        <p:sp>
          <p:nvSpPr>
            <p:cNvPr id="13330" name="Text Box 54"/>
            <p:cNvSpPr txBox="1"/>
            <p:nvPr/>
          </p:nvSpPr>
          <p:spPr>
            <a:xfrm>
              <a:off x="3623" y="2873"/>
              <a:ext cx="754" cy="250"/>
            </a:xfrm>
            <a:prstGeom prst="rect">
              <a:avLst/>
            </a:prstGeom>
            <a:noFill/>
            <a:ln w="9525">
              <a:noFill/>
            </a:ln>
          </p:spPr>
          <p:txBody>
            <a:bodyPr wrap="none" lIns="90000" tIns="46800" rIns="90000" bIns="46800">
              <a:spAutoFit/>
            </a:bodyPr>
            <a:p>
              <a:pPr eaLnBrk="1" hangingPunct="1"/>
              <a:r>
                <a:rPr lang="zh-CN" altLang="en-US" sz="2000" dirty="0">
                  <a:solidFill>
                    <a:srgbClr val="333399"/>
                  </a:solidFill>
                  <a:latin typeface="Tahoma" panose="020B0604030504040204" pitchFamily="34" charset="0"/>
                </a:rPr>
                <a:t>喷油润滑</a:t>
              </a:r>
              <a:endParaRPr lang="zh-CN" altLang="en-US" sz="2000" dirty="0">
                <a:solidFill>
                  <a:srgbClr val="333399"/>
                </a:solidFill>
                <a:latin typeface="Tahoma" panose="020B0604030504040204" pitchFamily="34" charset="0"/>
              </a:endParaRPr>
            </a:p>
          </p:txBody>
        </p:sp>
      </p:grpSp>
      <p:sp>
        <p:nvSpPr>
          <p:cNvPr id="3" name="矩形 17"/>
          <p:cNvSpPr>
            <a:spLocks noChangeArrowheads="1"/>
          </p:cNvSpPr>
          <p:nvPr/>
        </p:nvSpPr>
        <p:spPr bwMode="auto">
          <a:xfrm>
            <a:off x="5394643" y="3432175"/>
            <a:ext cx="143764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en-US" sz="2000">
                <a:solidFill>
                  <a:srgbClr val="C00000"/>
                </a:solidFill>
                <a:latin typeface="华文中宋" panose="02010600040101010101" pitchFamily="2" charset="-122"/>
              </a:rPr>
              <a:t>4.</a:t>
            </a:r>
            <a:r>
              <a:rPr lang="zh-CN" altLang="en-US" sz="2000">
                <a:solidFill>
                  <a:srgbClr val="C00000"/>
                </a:solidFill>
                <a:latin typeface="华文中宋" panose="02010600040101010101" pitchFamily="2" charset="-122"/>
              </a:rPr>
              <a:t>喷</a:t>
            </a:r>
            <a:r>
              <a:rPr lang="zh-CN" altLang="en-US" sz="2000">
                <a:solidFill>
                  <a:srgbClr val="C00000"/>
                </a:solidFill>
                <a:latin typeface="华文中宋" panose="02010600040101010101" pitchFamily="2" charset="-122"/>
              </a:rPr>
              <a:t>油润滑</a:t>
            </a:r>
            <a:endParaRPr lang="zh-CN" altLang="en-US" sz="2000">
              <a:solidFill>
                <a:srgbClr val="C00000"/>
              </a:solidFill>
              <a:latin typeface="华文中宋" panose="02010600040101010101" pitchFamily="2" charset="-122"/>
            </a:endParaRP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26664"/>
                                        </p:tgtEl>
                                        <p:attrNameLst>
                                          <p:attrName>style.visibility</p:attrName>
                                        </p:attrNameLst>
                                      </p:cBhvr>
                                      <p:to>
                                        <p:strVal val="visible"/>
                                      </p:to>
                                    </p:set>
                                  </p:childTnLst>
                                </p:cTn>
                              </p:par>
                            </p:childTnLst>
                          </p:cTn>
                        </p:par>
                        <p:par>
                          <p:cTn id="7" fill="hold">
                            <p:stCondLst>
                              <p:cond delay="500"/>
                            </p:stCondLst>
                            <p:childTnLst>
                              <p:par>
                                <p:cTn id="8" presetID="2" presetClass="entr" presetSubtype="8" fill="hold" nodeType="afterEffect">
                                  <p:stCondLst>
                                    <p:cond delay="0"/>
                                  </p:stCondLst>
                                  <p:childTnLst>
                                    <p:set>
                                      <p:cBhvr>
                                        <p:cTn id="9" dur="1" fill="hold">
                                          <p:stCondLst>
                                            <p:cond delay="0"/>
                                          </p:stCondLst>
                                        </p:cTn>
                                        <p:tgtEl>
                                          <p:spTgt spid="26663"/>
                                        </p:tgtEl>
                                        <p:attrNameLst>
                                          <p:attrName>style.visibility</p:attrName>
                                        </p:attrNameLst>
                                      </p:cBhvr>
                                      <p:to>
                                        <p:strVal val="visible"/>
                                      </p:to>
                                    </p:set>
                                    <p:anim calcmode="lin" valueType="num">
                                      <p:cBhvr additive="base">
                                        <p:cTn id="10" dur="500" fill="hold"/>
                                        <p:tgtEl>
                                          <p:spTgt spid="26663"/>
                                        </p:tgtEl>
                                        <p:attrNameLst>
                                          <p:attrName>ppt_x</p:attrName>
                                        </p:attrNameLst>
                                      </p:cBhvr>
                                      <p:tavLst>
                                        <p:tav tm="0">
                                          <p:val>
                                            <p:strVal val="0-#ppt_w/2"/>
                                          </p:val>
                                        </p:tav>
                                        <p:tav tm="100000">
                                          <p:val>
                                            <p:strVal val="#ppt_x"/>
                                          </p:val>
                                        </p:tav>
                                      </p:tavLst>
                                    </p:anim>
                                    <p:anim calcmode="lin" valueType="num">
                                      <p:cBhvr additive="base">
                                        <p:cTn id="11" dur="500" fill="hold"/>
                                        <p:tgtEl>
                                          <p:spTgt spid="26663"/>
                                        </p:tgtEl>
                                        <p:attrNameLst>
                                          <p:attrName>ppt_y</p:attrName>
                                        </p:attrNameLst>
                                      </p:cBhvr>
                                      <p:tavLst>
                                        <p:tav tm="0">
                                          <p:val>
                                            <p:strVal val="#ppt_y"/>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up)">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up)">
                                      <p:cBhvr>
                                        <p:cTn id="2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6" name="Rectangle 42"/>
          <p:cNvSpPr>
            <a:spLocks noChangeArrowheads="1"/>
          </p:cNvSpPr>
          <p:nvPr/>
        </p:nvSpPr>
        <p:spPr bwMode="auto">
          <a:xfrm>
            <a:off x="2286000" y="228600"/>
            <a:ext cx="612775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smtClean="0">
                <a:solidFill>
                  <a:srgbClr val="CC3300"/>
                </a:solidFill>
                <a:latin typeface="黑体" panose="02010609060101010101" pitchFamily="49" charset="-122"/>
                <a:ea typeface="黑体" panose="02010609060101010101" pitchFamily="49" charset="-122"/>
              </a:rPr>
              <a:t>1.5-3 </a:t>
            </a:r>
            <a:r>
              <a:rPr lang="zh-CN" altLang="en-US" sz="3000" dirty="0">
                <a:solidFill>
                  <a:srgbClr val="CC3300"/>
                </a:solidFill>
                <a:latin typeface="黑体" panose="02010609060101010101" pitchFamily="49" charset="-122"/>
                <a:ea typeface="黑体" panose="02010609060101010101" pitchFamily="49" charset="-122"/>
              </a:rPr>
              <a:t>润滑剂、添加剂和润滑方法</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15371"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6660" name="Text Box 36"/>
          <p:cNvSpPr txBox="1">
            <a:spLocks noChangeArrowheads="1"/>
          </p:cNvSpPr>
          <p:nvPr/>
        </p:nvSpPr>
        <p:spPr bwMode="auto">
          <a:xfrm>
            <a:off x="347345" y="1189673"/>
            <a:ext cx="8510588"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30000"/>
              </a:lnSpc>
              <a:spcBef>
                <a:spcPct val="50000"/>
              </a:spcBef>
              <a:buClr>
                <a:schemeClr val="hlink"/>
              </a:buClr>
              <a:buFont typeface="Wingdings" panose="05000000000000000000" pitchFamily="2" charset="2"/>
              <a:buNone/>
            </a:pPr>
            <a:r>
              <a:rPr lang="en-US" altLang="zh-CN" sz="2000">
                <a:solidFill>
                  <a:srgbClr val="000099"/>
                </a:solidFill>
                <a:latin typeface="华文中宋" panose="02010600040101010101" pitchFamily="2" charset="-122"/>
              </a:rPr>
              <a:t>       </a:t>
            </a:r>
            <a:r>
              <a:rPr lang="zh-CN" altLang="en-US" sz="2000">
                <a:solidFill>
                  <a:srgbClr val="C00000"/>
                </a:solidFill>
                <a:latin typeface="华文中宋" panose="02010600040101010101" pitchFamily="2" charset="-122"/>
              </a:rPr>
              <a:t>油脂润滑</a:t>
            </a:r>
            <a:r>
              <a:rPr lang="zh-CN" altLang="en-US" sz="2000">
                <a:solidFill>
                  <a:srgbClr val="000099"/>
                </a:solidFill>
                <a:latin typeface="华文中宋" panose="02010600040101010101" pitchFamily="2" charset="-122"/>
              </a:rPr>
              <a:t>常用于运转速度较低的场合，将润滑脂涂抹于需润滑的零件上。润滑脂还可以用于简单的密封。</a:t>
            </a:r>
            <a:endParaRPr lang="zh-CN" altLang="en-US" sz="2000">
              <a:solidFill>
                <a:srgbClr val="000099"/>
              </a:solidFill>
              <a:latin typeface="华文中宋" panose="02010600040101010101" pitchFamily="2" charset="-122"/>
            </a:endParaRPr>
          </a:p>
        </p:txBody>
      </p:sp>
      <p:pic>
        <p:nvPicPr>
          <p:cNvPr id="15370"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00225" y="2209165"/>
            <a:ext cx="4457700" cy="201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26660"/>
                                        </p:tgtEl>
                                        <p:attrNameLst>
                                          <p:attrName>style.visibility</p:attrName>
                                        </p:attrNameLst>
                                      </p:cBhvr>
                                      <p:to>
                                        <p:strVal val="visible"/>
                                      </p:to>
                                    </p:set>
                                    <p:animEffect transition="in" filter="blinds(vertical)">
                                      <p:cBhvr>
                                        <p:cTn id="7" dur="500"/>
                                        <p:tgtEl>
                                          <p:spTgt spid="266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60"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2"/>
          <p:cNvSpPr>
            <a:spLocks noGrp="1" noChangeArrowheads="1"/>
          </p:cNvSpPr>
          <p:nvPr>
            <p:ph type="title"/>
          </p:nvPr>
        </p:nvSpPr>
        <p:spPr bwMode="auto">
          <a:xfrm>
            <a:off x="7315200" y="838200"/>
            <a:ext cx="1143000" cy="152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润滑方法</a:t>
            </a:r>
            <a:endParaRPr lang="zh-CN" altLang="en-US" sz="800" smtClean="0">
              <a:solidFill>
                <a:schemeClr val="bg1"/>
              </a:solidFill>
              <a:latin typeface="华文中宋" panose="02010600040101010101" pitchFamily="2" charset="-122"/>
              <a:ea typeface="华文中宋" panose="02010600040101010101" pitchFamily="2" charset="-122"/>
            </a:endParaRPr>
          </a:p>
        </p:txBody>
      </p:sp>
      <p:pic>
        <p:nvPicPr>
          <p:cNvPr id="26663" name="Picture 39"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07400"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64" name="Picture 40" descr="back1">
            <a:hlinkClick r:id="" action="ppaction://hlinkshowjump?jump=previous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15388"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9" name="Rectangle 42"/>
          <p:cNvSpPr>
            <a:spLocks noChangeArrowheads="1"/>
          </p:cNvSpPr>
          <p:nvPr/>
        </p:nvSpPr>
        <p:spPr bwMode="auto">
          <a:xfrm>
            <a:off x="2917825" y="142875"/>
            <a:ext cx="589788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algn="l" eaLnBrk="1" hangingPunct="1"/>
            <a:r>
              <a:rPr lang="en-US" altLang="zh-CN" sz="3000" dirty="0" smtClean="0">
                <a:solidFill>
                  <a:srgbClr val="CC3300"/>
                </a:solidFill>
                <a:latin typeface="黑体" panose="02010609060101010101" pitchFamily="49" charset="-122"/>
                <a:ea typeface="黑体" panose="02010609060101010101" pitchFamily="49" charset="-122"/>
                <a:sym typeface="+mn-ea"/>
              </a:rPr>
              <a:t>1.5-3 </a:t>
            </a:r>
            <a:r>
              <a:rPr lang="zh-CN" altLang="en-US" sz="3000">
                <a:solidFill>
                  <a:srgbClr val="CC3300"/>
                </a:solidFill>
                <a:latin typeface="黑体" panose="02010609060101010101" pitchFamily="49" charset="-122"/>
                <a:ea typeface="黑体" panose="02010609060101010101" pitchFamily="49" charset="-122"/>
              </a:rPr>
              <a:t>润滑剂、添加剂和润滑方法</a:t>
            </a:r>
            <a:endParaRPr lang="zh-CN" altLang="en-US" sz="3000">
              <a:solidFill>
                <a:srgbClr val="CC3300"/>
              </a:solidFill>
              <a:latin typeface="黑体" panose="02010609060101010101" pitchFamily="49" charset="-122"/>
              <a:ea typeface="黑体" panose="02010609060101010101" pitchFamily="49" charset="-122"/>
            </a:endParaRPr>
          </a:p>
        </p:txBody>
      </p:sp>
      <p:sp>
        <p:nvSpPr>
          <p:cNvPr id="3080" name="Text Box 58"/>
          <p:cNvSpPr txBox="1">
            <a:spLocks noChangeArrowheads="1"/>
          </p:cNvSpPr>
          <p:nvPr/>
        </p:nvSpPr>
        <p:spPr bwMode="auto">
          <a:xfrm>
            <a:off x="6018213" y="6175375"/>
            <a:ext cx="18097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zh-CN"/>
          </a:p>
        </p:txBody>
      </p:sp>
      <p:sp>
        <p:nvSpPr>
          <p:cNvPr id="3081" name="矩形 17"/>
          <p:cNvSpPr>
            <a:spLocks noChangeArrowheads="1"/>
          </p:cNvSpPr>
          <p:nvPr/>
        </p:nvSpPr>
        <p:spPr bwMode="auto">
          <a:xfrm>
            <a:off x="281255" y="838200"/>
            <a:ext cx="23391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400" dirty="0">
                <a:solidFill>
                  <a:srgbClr val="0000FF"/>
                </a:solidFill>
                <a:latin typeface="黑体" panose="02010609060101010101" pitchFamily="49" charset="-122"/>
                <a:ea typeface="黑体" panose="02010609060101010101" pitchFamily="49" charset="-122"/>
              </a:rPr>
              <a:t>四、润滑油黏度</a:t>
            </a:r>
            <a:endParaRPr lang="zh-CN" altLang="en-US" sz="2400" dirty="0">
              <a:solidFill>
                <a:srgbClr val="0000FF"/>
              </a:solidFill>
              <a:latin typeface="黑体" panose="02010609060101010101" pitchFamily="49" charset="-122"/>
              <a:ea typeface="黑体" panose="02010609060101010101" pitchFamily="49" charset="-122"/>
            </a:endParaRPr>
          </a:p>
        </p:txBody>
      </p:sp>
      <p:sp>
        <p:nvSpPr>
          <p:cNvPr id="3082" name="矩形 10"/>
          <p:cNvSpPr>
            <a:spLocks noChangeArrowheads="1"/>
          </p:cNvSpPr>
          <p:nvPr/>
        </p:nvSpPr>
        <p:spPr bwMode="auto">
          <a:xfrm>
            <a:off x="495300" y="1279525"/>
            <a:ext cx="8305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latin typeface="华文中宋" panose="02010600040101010101" pitchFamily="2" charset="-122"/>
              </a:rPr>
              <a:t>润滑油的黏度分为动力黏度和运动黏度。</a:t>
            </a:r>
            <a:endParaRPr lang="zh-CN" altLang="en-US" sz="2000">
              <a:solidFill>
                <a:srgbClr val="000099"/>
              </a:solidFill>
              <a:latin typeface="华文中宋" panose="02010600040101010101" pitchFamily="2" charset="-122"/>
            </a:endParaRPr>
          </a:p>
        </p:txBody>
      </p:sp>
      <p:sp>
        <p:nvSpPr>
          <p:cNvPr id="3083" name="矩形 11"/>
          <p:cNvSpPr>
            <a:spLocks noChangeArrowheads="1"/>
          </p:cNvSpPr>
          <p:nvPr/>
        </p:nvSpPr>
        <p:spPr bwMode="auto">
          <a:xfrm>
            <a:off x="660400" y="1711325"/>
            <a:ext cx="81026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000" dirty="0">
                <a:solidFill>
                  <a:srgbClr val="FF0000"/>
                </a:solidFill>
                <a:latin typeface="华文中宋" panose="02010600040101010101" pitchFamily="2" charset="-122"/>
              </a:rPr>
              <a:t>1.</a:t>
            </a:r>
            <a:r>
              <a:rPr lang="zh-CN" altLang="en-US" sz="2000" dirty="0">
                <a:solidFill>
                  <a:srgbClr val="FF0000"/>
                </a:solidFill>
                <a:latin typeface="华文中宋" panose="02010600040101010101" pitchFamily="2" charset="-122"/>
              </a:rPr>
              <a:t>动力黏度   </a:t>
            </a:r>
            <a:r>
              <a:rPr lang="zh-CN" altLang="en-US" sz="2000" dirty="0">
                <a:solidFill>
                  <a:srgbClr val="000099"/>
                </a:solidFill>
                <a:latin typeface="华文中宋" panose="02010600040101010101" pitchFamily="2" charset="-122"/>
              </a:rPr>
              <a:t>牛顿在</a:t>
            </a:r>
            <a:r>
              <a:rPr lang="en-US" altLang="en-US" sz="2000" dirty="0">
                <a:solidFill>
                  <a:srgbClr val="000099"/>
                </a:solidFill>
                <a:latin typeface="华文中宋" panose="02010600040101010101" pitchFamily="2" charset="-122"/>
              </a:rPr>
              <a:t>1687</a:t>
            </a:r>
            <a:r>
              <a:rPr lang="zh-CN" altLang="en-US" sz="2000" dirty="0">
                <a:solidFill>
                  <a:srgbClr val="000099"/>
                </a:solidFill>
                <a:latin typeface="华文中宋" panose="02010600040101010101" pitchFamily="2" charset="-122"/>
              </a:rPr>
              <a:t>年提出了粘性液的摩擦定律</a:t>
            </a:r>
            <a:r>
              <a:rPr lang="en-US" altLang="en-US" sz="2000" dirty="0">
                <a:solidFill>
                  <a:srgbClr val="000099"/>
                </a:solidFill>
                <a:latin typeface="华文中宋" panose="02010600040101010101" pitchFamily="2" charset="-122"/>
              </a:rPr>
              <a:t>(</a:t>
            </a:r>
            <a:r>
              <a:rPr lang="zh-CN" altLang="en-US" sz="2000" dirty="0">
                <a:solidFill>
                  <a:srgbClr val="000099"/>
                </a:solidFill>
                <a:latin typeface="华文中宋" panose="02010600040101010101" pitchFamily="2" charset="-122"/>
              </a:rPr>
              <a:t>简称粘性定律</a:t>
            </a:r>
            <a:r>
              <a:rPr lang="en-US" altLang="en-US" sz="2000" dirty="0">
                <a:solidFill>
                  <a:srgbClr val="000099"/>
                </a:solidFill>
                <a:latin typeface="华文中宋" panose="02010600040101010101" pitchFamily="2" charset="-122"/>
              </a:rPr>
              <a:t>)</a:t>
            </a:r>
            <a:r>
              <a:rPr lang="zh-CN" altLang="en-US" sz="2000" dirty="0">
                <a:solidFill>
                  <a:srgbClr val="000099"/>
                </a:solidFill>
                <a:latin typeface="华文中宋" panose="02010600040101010101" pitchFamily="2" charset="-122"/>
              </a:rPr>
              <a:t>，流体内摩擦力与动力粘度的关系：</a:t>
            </a:r>
            <a:endParaRPr lang="zh-CN" altLang="en-US" sz="2000" dirty="0">
              <a:solidFill>
                <a:srgbClr val="000099"/>
              </a:solidFill>
              <a:latin typeface="华文中宋" panose="02010600040101010101" pitchFamily="2" charset="-122"/>
            </a:endParaRPr>
          </a:p>
        </p:txBody>
      </p:sp>
      <p:sp>
        <p:nvSpPr>
          <p:cNvPr id="3084"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graphicFrame>
        <p:nvGraphicFramePr>
          <p:cNvPr id="3074" name="Object 1"/>
          <p:cNvGraphicFramePr>
            <a:graphicFrameLocks noChangeAspect="1"/>
          </p:cNvGraphicFramePr>
          <p:nvPr/>
        </p:nvGraphicFramePr>
        <p:xfrm>
          <a:off x="2988844" y="2515737"/>
          <a:ext cx="1638300" cy="720725"/>
        </p:xfrm>
        <a:graphic>
          <a:graphicData uri="http://schemas.openxmlformats.org/presentationml/2006/ole">
            <mc:AlternateContent xmlns:mc="http://schemas.openxmlformats.org/markup-compatibility/2006">
              <mc:Choice xmlns:v="urn:schemas-microsoft-com:vml" Requires="v">
                <p:oleObj spid="_x0000_s3119" name="公式" r:id="rId4" imgW="951865" imgH="419100" progId="Equation.3">
                  <p:embed/>
                </p:oleObj>
              </mc:Choice>
              <mc:Fallback>
                <p:oleObj name="公式" r:id="rId4" imgW="951865" imgH="419100"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88844" y="2515737"/>
                        <a:ext cx="1638300" cy="720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85" name="矩形 14"/>
          <p:cNvSpPr>
            <a:spLocks noChangeArrowheads="1"/>
          </p:cNvSpPr>
          <p:nvPr/>
        </p:nvSpPr>
        <p:spPr bwMode="auto">
          <a:xfrm>
            <a:off x="753612" y="3259989"/>
            <a:ext cx="33877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latin typeface="华文中宋" panose="02010600040101010101" pitchFamily="2" charset="-122"/>
              </a:rPr>
              <a:t>比例常数</a:t>
            </a:r>
            <a:r>
              <a:rPr lang="en-US" altLang="en-US" sz="2000" i="1" dirty="0">
                <a:solidFill>
                  <a:srgbClr val="000099"/>
                </a:solidFill>
                <a:latin typeface="Times New Roman" panose="02020603050405020304" pitchFamily="18" charset="0"/>
                <a:cs typeface="Times New Roman" panose="02020603050405020304" pitchFamily="18" charset="0"/>
              </a:rPr>
              <a:t>η</a:t>
            </a:r>
            <a:r>
              <a:rPr lang="zh-CN" altLang="en-US" sz="2000" dirty="0">
                <a:solidFill>
                  <a:srgbClr val="000099"/>
                </a:solidFill>
                <a:latin typeface="华文中宋" panose="02010600040101010101" pitchFamily="2" charset="-122"/>
              </a:rPr>
              <a:t>即流体的动力黏度</a:t>
            </a:r>
            <a:endParaRPr lang="zh-CN" altLang="en-US" sz="2000" dirty="0">
              <a:solidFill>
                <a:srgbClr val="000099"/>
              </a:solidFill>
              <a:latin typeface="华文中宋" panose="02010600040101010101" pitchFamily="2" charset="-122"/>
            </a:endParaRPr>
          </a:p>
        </p:txBody>
      </p:sp>
      <p:sp>
        <p:nvSpPr>
          <p:cNvPr id="3086" name="矩形 15"/>
          <p:cNvSpPr>
            <a:spLocks noChangeArrowheads="1"/>
          </p:cNvSpPr>
          <p:nvPr/>
        </p:nvSpPr>
        <p:spPr bwMode="auto">
          <a:xfrm>
            <a:off x="748030" y="3730458"/>
            <a:ext cx="4775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latin typeface="华文中宋" panose="02010600040101010101" pitchFamily="2" charset="-122"/>
              </a:rPr>
              <a:t>国际单位制下的动力黏度单位为</a:t>
            </a:r>
            <a:r>
              <a:rPr lang="en-US" altLang="en-US" sz="2000" dirty="0">
                <a:solidFill>
                  <a:srgbClr val="000099"/>
                </a:solidFill>
                <a:latin typeface="华文中宋" panose="02010600040101010101" pitchFamily="2" charset="-122"/>
              </a:rPr>
              <a:t>1 </a:t>
            </a:r>
            <a:r>
              <a:rPr lang="en-US" altLang="en-US" sz="2000" dirty="0" err="1">
                <a:solidFill>
                  <a:srgbClr val="000099"/>
                </a:solidFill>
                <a:latin typeface="华文中宋" panose="02010600040101010101" pitchFamily="2" charset="-122"/>
              </a:rPr>
              <a:t>Pa·s</a:t>
            </a:r>
            <a:endParaRPr lang="zh-CN" altLang="en-US" sz="2000" dirty="0">
              <a:solidFill>
                <a:srgbClr val="000099"/>
              </a:solidFill>
              <a:latin typeface="华文中宋" panose="02010600040101010101" pitchFamily="2" charset="-122"/>
            </a:endParaRPr>
          </a:p>
        </p:txBody>
      </p:sp>
      <p:sp>
        <p:nvSpPr>
          <p:cNvPr id="3087" name="Rectangle 5"/>
          <p:cNvSpPr>
            <a:spLocks noChangeArrowheads="1"/>
          </p:cNvSpPr>
          <p:nvPr/>
        </p:nvSpPr>
        <p:spPr bwMode="auto">
          <a:xfrm>
            <a:off x="0" y="1428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r>
              <a:rPr lang="en-US" altLang="zh-CN" sz="1200">
                <a:latin typeface="宋体" panose="02010600030101010101" pitchFamily="2" charset="-122"/>
                <a:cs typeface="Times New Roman" panose="02020603050405020304" pitchFamily="18" charset="0"/>
              </a:rPr>
              <a:t> </a:t>
            </a:r>
            <a:r>
              <a:rPr lang="en-US" altLang="zh-CN" sz="800"/>
              <a:t> </a:t>
            </a:r>
            <a:endParaRPr lang="en-US" altLang="zh-CN"/>
          </a:p>
        </p:txBody>
      </p:sp>
      <p:sp>
        <p:nvSpPr>
          <p:cNvPr id="3088" name="Rectangle 7"/>
          <p:cNvSpPr>
            <a:spLocks noChangeArrowheads="1"/>
          </p:cNvSpPr>
          <p:nvPr/>
        </p:nvSpPr>
        <p:spPr bwMode="auto">
          <a:xfrm>
            <a:off x="660400" y="4259528"/>
            <a:ext cx="1841500" cy="443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a:lnSpc>
                <a:spcPct val="125000"/>
              </a:lnSpc>
            </a:pPr>
            <a:r>
              <a:rPr lang="en-US" altLang="zh-CN" sz="2000" dirty="0">
                <a:solidFill>
                  <a:srgbClr val="FF0000"/>
                </a:solidFill>
                <a:latin typeface="华文中宋" panose="02010600040101010101" pitchFamily="2" charset="-122"/>
              </a:rPr>
              <a:t>2.</a:t>
            </a:r>
            <a:r>
              <a:rPr lang="zh-CN" altLang="en-US" sz="2000" dirty="0">
                <a:solidFill>
                  <a:srgbClr val="FF0000"/>
                </a:solidFill>
                <a:latin typeface="华文中宋" panose="02010600040101010101" pitchFamily="2" charset="-122"/>
              </a:rPr>
              <a:t>运动黏度</a:t>
            </a:r>
            <a:endParaRPr lang="zh-CN" altLang="en-US" sz="2000" dirty="0">
              <a:solidFill>
                <a:srgbClr val="FF0000"/>
              </a:solidFill>
              <a:latin typeface="华文中宋" panose="02010600040101010101" pitchFamily="2" charset="-122"/>
            </a:endParaRPr>
          </a:p>
        </p:txBody>
      </p:sp>
      <p:sp>
        <p:nvSpPr>
          <p:cNvPr id="3089" name="Rectangle 8"/>
          <p:cNvSpPr>
            <a:spLocks noChangeArrowheads="1"/>
          </p:cNvSpPr>
          <p:nvPr/>
        </p:nvSpPr>
        <p:spPr bwMode="auto">
          <a:xfrm>
            <a:off x="-45720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r>
              <a:rPr lang="en-US" altLang="zh-CN" sz="1200">
                <a:latin typeface="宋体" panose="02010600030101010101" pitchFamily="2" charset="-122"/>
                <a:cs typeface="Times New Roman" panose="02020603050405020304" pitchFamily="18" charset="0"/>
              </a:rPr>
              <a:t> </a:t>
            </a:r>
            <a:r>
              <a:rPr lang="en-US" altLang="zh-CN" sz="800"/>
              <a:t> </a:t>
            </a:r>
            <a:endParaRPr lang="en-US" altLang="zh-CN"/>
          </a:p>
        </p:txBody>
      </p:sp>
      <p:sp>
        <p:nvSpPr>
          <p:cNvPr id="3090" name="矩形 22"/>
          <p:cNvSpPr>
            <a:spLocks noChangeArrowheads="1"/>
          </p:cNvSpPr>
          <p:nvPr/>
        </p:nvSpPr>
        <p:spPr bwMode="auto">
          <a:xfrm>
            <a:off x="885591" y="5356225"/>
            <a:ext cx="36750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latin typeface="华文中宋" panose="02010600040101010101" pitchFamily="2" charset="-122"/>
              </a:rPr>
              <a:t>运动黏度的常用单位是</a:t>
            </a:r>
            <a:r>
              <a:rPr lang="en-US" altLang="en-US" sz="2000" dirty="0">
                <a:solidFill>
                  <a:srgbClr val="000099"/>
                </a:solidFill>
                <a:latin typeface="华文中宋" panose="02010600040101010101" pitchFamily="2" charset="-122"/>
              </a:rPr>
              <a:t>mm</a:t>
            </a:r>
            <a:r>
              <a:rPr lang="en-US" altLang="en-US" sz="2000" baseline="30000" dirty="0">
                <a:solidFill>
                  <a:srgbClr val="000099"/>
                </a:solidFill>
                <a:latin typeface="华文中宋" panose="02010600040101010101" pitchFamily="2" charset="-122"/>
              </a:rPr>
              <a:t>2</a:t>
            </a:r>
            <a:r>
              <a:rPr lang="en-US" altLang="en-US" sz="2000" dirty="0">
                <a:solidFill>
                  <a:srgbClr val="000099"/>
                </a:solidFill>
                <a:latin typeface="华文中宋" panose="02010600040101010101" pitchFamily="2" charset="-122"/>
              </a:rPr>
              <a:t>/s</a:t>
            </a:r>
            <a:endParaRPr lang="zh-CN" altLang="en-US" sz="2000" dirty="0">
              <a:solidFill>
                <a:srgbClr val="000099"/>
              </a:solidFill>
              <a:latin typeface="华文中宋" panose="02010600040101010101" pitchFamily="2" charset="-122"/>
            </a:endParaRPr>
          </a:p>
        </p:txBody>
      </p:sp>
      <p:sp>
        <p:nvSpPr>
          <p:cNvPr id="3091" name="矩形 23"/>
          <p:cNvSpPr>
            <a:spLocks noChangeArrowheads="1"/>
          </p:cNvSpPr>
          <p:nvPr/>
        </p:nvSpPr>
        <p:spPr bwMode="auto">
          <a:xfrm>
            <a:off x="635000" y="5940425"/>
            <a:ext cx="805180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latin typeface="华文中宋" panose="02010600040101010101" pitchFamily="2" charset="-122"/>
                <a:hlinkClick r:id="rId6" action="ppaction://hlinksldjump"/>
              </a:rPr>
              <a:t>常用工业润滑油的黏度分类及相应的黏度值见表</a:t>
            </a:r>
            <a:r>
              <a:rPr lang="en-US" altLang="zh-CN" sz="2000" dirty="0">
                <a:solidFill>
                  <a:srgbClr val="000099"/>
                </a:solidFill>
                <a:latin typeface="华文中宋" panose="02010600040101010101" pitchFamily="2" charset="-122"/>
                <a:hlinkClick r:id="rId6" action="ppaction://hlinksldjump"/>
              </a:rPr>
              <a:t>1.5</a:t>
            </a:r>
            <a:r>
              <a:rPr lang="en-US" altLang="zh-CN" sz="2000" dirty="0">
                <a:solidFill>
                  <a:srgbClr val="000099"/>
                </a:solidFill>
                <a:latin typeface="华文中宋" panose="02010600040101010101" pitchFamily="2" charset="-122"/>
                <a:hlinkClick r:id="rId6" action="ppaction://hlinksldjump"/>
              </a:rPr>
              <a:t>-1</a:t>
            </a:r>
            <a:endParaRPr lang="zh-CN" altLang="en-US" sz="2000" dirty="0">
              <a:solidFill>
                <a:srgbClr val="000099"/>
              </a:solidFill>
              <a:latin typeface="华文中宋" panose="02010600040101010101" pitchFamily="2" charset="-122"/>
            </a:endParaRPr>
          </a:p>
        </p:txBody>
      </p:sp>
      <p:sp>
        <p:nvSpPr>
          <p:cNvPr id="3092" name="Rectangle 10"/>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graphicFrame>
        <p:nvGraphicFramePr>
          <p:cNvPr id="3075" name="Object 9"/>
          <p:cNvGraphicFramePr>
            <a:graphicFrameLocks noChangeAspect="1"/>
          </p:cNvGraphicFramePr>
          <p:nvPr/>
        </p:nvGraphicFramePr>
        <p:xfrm>
          <a:off x="3060700" y="4533900"/>
          <a:ext cx="698500" cy="698500"/>
        </p:xfrm>
        <a:graphic>
          <a:graphicData uri="http://schemas.openxmlformats.org/presentationml/2006/ole">
            <mc:AlternateContent xmlns:mc="http://schemas.openxmlformats.org/markup-compatibility/2006">
              <mc:Choice xmlns:v="urn:schemas-microsoft-com:vml" Requires="v">
                <p:oleObj spid="_x0000_s3120" name="公式" r:id="rId7" imgW="419100" imgH="419100" progId="Equation.3">
                  <p:embed/>
                </p:oleObj>
              </mc:Choice>
              <mc:Fallback>
                <p:oleObj name="公式" r:id="rId7" imgW="419100" imgH="4191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60700" y="4533900"/>
                        <a:ext cx="698500" cy="698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093" name="Picture 11"/>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892800" y="2197100"/>
            <a:ext cx="3251200" cy="281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94"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26664"/>
                                        </p:tgtEl>
                                        <p:attrNameLst>
                                          <p:attrName>style.visibility</p:attrName>
                                        </p:attrNameLst>
                                      </p:cBhvr>
                                      <p:to>
                                        <p:strVal val="visible"/>
                                      </p:to>
                                    </p:set>
                                  </p:childTnLst>
                                </p:cTn>
                              </p:par>
                            </p:childTnLst>
                          </p:cTn>
                        </p:par>
                        <p:par>
                          <p:cTn id="7" fill="hold">
                            <p:stCondLst>
                              <p:cond delay="500"/>
                            </p:stCondLst>
                            <p:childTnLst>
                              <p:par>
                                <p:cTn id="8" presetID="2" presetClass="entr" presetSubtype="8" fill="hold" nodeType="afterEffect">
                                  <p:stCondLst>
                                    <p:cond delay="0"/>
                                  </p:stCondLst>
                                  <p:childTnLst>
                                    <p:set>
                                      <p:cBhvr>
                                        <p:cTn id="9" dur="1" fill="hold">
                                          <p:stCondLst>
                                            <p:cond delay="0"/>
                                          </p:stCondLst>
                                        </p:cTn>
                                        <p:tgtEl>
                                          <p:spTgt spid="26663"/>
                                        </p:tgtEl>
                                        <p:attrNameLst>
                                          <p:attrName>style.visibility</p:attrName>
                                        </p:attrNameLst>
                                      </p:cBhvr>
                                      <p:to>
                                        <p:strVal val="visible"/>
                                      </p:to>
                                    </p:set>
                                    <p:anim calcmode="lin" valueType="num">
                                      <p:cBhvr additive="base">
                                        <p:cTn id="10" dur="500" fill="hold"/>
                                        <p:tgtEl>
                                          <p:spTgt spid="26663"/>
                                        </p:tgtEl>
                                        <p:attrNameLst>
                                          <p:attrName>ppt_x</p:attrName>
                                        </p:attrNameLst>
                                      </p:cBhvr>
                                      <p:tavLst>
                                        <p:tav tm="0">
                                          <p:val>
                                            <p:strVal val="0-#ppt_w/2"/>
                                          </p:val>
                                        </p:tav>
                                        <p:tav tm="100000">
                                          <p:val>
                                            <p:strVal val="#ppt_x"/>
                                          </p:val>
                                        </p:tav>
                                      </p:tavLst>
                                    </p:anim>
                                    <p:anim calcmode="lin" valueType="num">
                                      <p:cBhvr additive="base">
                                        <p:cTn id="11" dur="500" fill="hold"/>
                                        <p:tgtEl>
                                          <p:spTgt spid="266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bwMode="auto">
          <a:xfrm>
            <a:off x="7924800" y="762000"/>
            <a:ext cx="990600" cy="381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流体润滑２</a:t>
            </a:r>
            <a:endParaRPr lang="zh-CN" altLang="en-US" sz="800" smtClean="0">
              <a:solidFill>
                <a:schemeClr val="bg1"/>
              </a:solidFill>
            </a:endParaRPr>
          </a:p>
        </p:txBody>
      </p:sp>
      <p:sp>
        <p:nvSpPr>
          <p:cNvPr id="18435" name="Rectangle 4"/>
          <p:cNvSpPr>
            <a:spLocks noChangeArrowheads="1"/>
          </p:cNvSpPr>
          <p:nvPr/>
        </p:nvSpPr>
        <p:spPr bwMode="auto">
          <a:xfrm>
            <a:off x="1162050" y="190500"/>
            <a:ext cx="71932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400">
                <a:solidFill>
                  <a:srgbClr val="CC3300"/>
                </a:solidFill>
                <a:latin typeface="黑体" panose="02010609060101010101" pitchFamily="49" charset="-122"/>
                <a:ea typeface="黑体" panose="02010609060101010101" pitchFamily="49" charset="-122"/>
              </a:rPr>
              <a:t>表</a:t>
            </a:r>
            <a:r>
              <a:rPr lang="en-US" altLang="zh-CN" sz="2400">
                <a:solidFill>
                  <a:srgbClr val="CC3300"/>
                </a:solidFill>
                <a:latin typeface="黑体" panose="02010609060101010101" pitchFamily="49" charset="-122"/>
                <a:ea typeface="黑体" panose="02010609060101010101" pitchFamily="49" charset="-122"/>
              </a:rPr>
              <a:t>1.5</a:t>
            </a:r>
            <a:r>
              <a:rPr lang="en-US" altLang="zh-CN" sz="2400">
                <a:solidFill>
                  <a:srgbClr val="CC3300"/>
                </a:solidFill>
                <a:latin typeface="黑体" panose="02010609060101010101" pitchFamily="49" charset="-122"/>
                <a:ea typeface="黑体" panose="02010609060101010101" pitchFamily="49" charset="-122"/>
              </a:rPr>
              <a:t>-1 </a:t>
            </a:r>
            <a:r>
              <a:rPr lang="zh-CN" altLang="en-US" sz="2400">
                <a:solidFill>
                  <a:srgbClr val="CC3300"/>
                </a:solidFill>
                <a:latin typeface="黑体" panose="02010609060101010101" pitchFamily="49" charset="-122"/>
                <a:ea typeface="黑体" panose="02010609060101010101" pitchFamily="49" charset="-122"/>
              </a:rPr>
              <a:t>常用工业润滑油的黏度分类及相应的黏度值</a:t>
            </a:r>
            <a:endParaRPr lang="zh-CN" altLang="en-US" sz="2400">
              <a:solidFill>
                <a:srgbClr val="CC3300"/>
              </a:solidFill>
              <a:latin typeface="黑体" panose="02010609060101010101" pitchFamily="49" charset="-122"/>
              <a:ea typeface="黑体" panose="02010609060101010101" pitchFamily="49" charset="-122"/>
            </a:endParaRPr>
          </a:p>
        </p:txBody>
      </p:sp>
      <p:sp>
        <p:nvSpPr>
          <p:cNvPr id="34843" name="Text Box 27"/>
          <p:cNvSpPr txBox="1">
            <a:spLocks noChangeArrowheads="1"/>
          </p:cNvSpPr>
          <p:nvPr/>
        </p:nvSpPr>
        <p:spPr bwMode="auto">
          <a:xfrm>
            <a:off x="6107113" y="6183313"/>
            <a:ext cx="2682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graphicFrame>
        <p:nvGraphicFramePr>
          <p:cNvPr id="14" name="表格 13"/>
          <p:cNvGraphicFramePr>
            <a:graphicFrameLocks noGrp="1"/>
          </p:cNvGraphicFramePr>
          <p:nvPr/>
        </p:nvGraphicFramePr>
        <p:xfrm>
          <a:off x="457200" y="1282700"/>
          <a:ext cx="8166100" cy="4165600"/>
        </p:xfrm>
        <a:graphic>
          <a:graphicData uri="http://schemas.openxmlformats.org/drawingml/2006/table">
            <a:tbl>
              <a:tblPr/>
              <a:tblGrid>
                <a:gridCol w="1004888"/>
                <a:gridCol w="1473200"/>
                <a:gridCol w="1414462"/>
                <a:gridCol w="274638"/>
                <a:gridCol w="1071562"/>
                <a:gridCol w="1457325"/>
                <a:gridCol w="1470025"/>
              </a:tblGrid>
              <a:tr h="811213">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dirty="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黏度等级</a:t>
                      </a:r>
                      <a:endParaRPr kumimoji="0" lang="zh-CN" sz="1600" b="0" i="0" u="none" strike="noStrike" cap="none" normalizeH="0" baseline="0" dirty="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运动黏度范围</a:t>
                      </a:r>
                      <a:endParaRPr kumimoji="0" 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40</a:t>
                      </a:r>
                      <a:r>
                        <a:rPr kumimoji="0" lang="zh-CN" altLang="zh-CN" sz="1600" b="0" i="0" u="none" strike="noStrike" cap="none" normalizeH="0" baseline="0" smtClean="0">
                          <a:ln>
                            <a:noFill/>
                          </a:ln>
                          <a:solidFill>
                            <a:srgbClr val="003399"/>
                          </a:solidFill>
                          <a:effectLst/>
                          <a:latin typeface="华文中宋" panose="02010600040101010101" pitchFamily="2" charset="-122"/>
                          <a:ea typeface="宋体" panose="02010600030101010101" pitchFamily="2" charset="-122"/>
                        </a:rPr>
                        <a:t>℃</a:t>
                      </a:r>
                      <a:r>
                        <a:rPr kumimoji="0" 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mm</a:t>
                      </a:r>
                      <a:r>
                        <a:rPr kumimoji="0" lang="en-US" altLang="zh-CN" sz="1600" b="0" i="0" u="none" strike="noStrike" cap="none" normalizeH="0" baseline="3000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2</a:t>
                      </a: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/s</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中心点运动黏度（</a:t>
                      </a: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40</a:t>
                      </a:r>
                      <a:r>
                        <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mm</a:t>
                      </a:r>
                      <a:r>
                        <a:rPr kumimoji="0" lang="en-US" altLang="zh-CN" sz="1600" b="0" i="0" u="none" strike="noStrike" cap="none" normalizeH="0" baseline="3000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2</a:t>
                      </a: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/s</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just" defTabSz="914400" rtl="0" eaLnBrk="1" fontAlgn="base" latinLnBrk="0" hangingPunct="1">
                        <a:lnSpc>
                          <a:spcPct val="125000"/>
                        </a:lnSpc>
                        <a:spcBef>
                          <a:spcPct val="0"/>
                        </a:spcBef>
                        <a:spcAft>
                          <a:spcPct val="0"/>
                        </a:spcAft>
                        <a:buClrTx/>
                        <a:buSzTx/>
                        <a:buFontTx/>
                        <a:buNone/>
                      </a:pPr>
                      <a:endPar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黏度等级</a:t>
                      </a:r>
                      <a:endParaRPr kumimoji="0" 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运动黏度范围</a:t>
                      </a:r>
                      <a:endParaRPr kumimoji="0" 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40</a:t>
                      </a:r>
                      <a:r>
                        <a:rPr kumimoji="0" lang="zh-CN" altLang="zh-CN" sz="1600" b="0" i="0" u="none" strike="noStrike" cap="none" normalizeH="0" baseline="0" smtClean="0">
                          <a:ln>
                            <a:noFill/>
                          </a:ln>
                          <a:solidFill>
                            <a:srgbClr val="003399"/>
                          </a:solidFill>
                          <a:effectLst/>
                          <a:latin typeface="华文中宋" panose="02010600040101010101" pitchFamily="2" charset="-122"/>
                          <a:ea typeface="宋体" panose="02010600030101010101" pitchFamily="2" charset="-122"/>
                        </a:rPr>
                        <a:t>℃</a:t>
                      </a:r>
                      <a:r>
                        <a:rPr kumimoji="0" 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mm</a:t>
                      </a:r>
                      <a:r>
                        <a:rPr kumimoji="0" lang="en-US" altLang="zh-CN" sz="1600" b="0" i="0" u="none" strike="noStrike" cap="none" normalizeH="0" baseline="3000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2</a:t>
                      </a: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/s</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中心点运动黏度（</a:t>
                      </a: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40</a:t>
                      </a:r>
                      <a:r>
                        <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mm</a:t>
                      </a:r>
                      <a:r>
                        <a:rPr kumimoji="0" lang="en-US" altLang="zh-CN" sz="1600" b="0" i="0" u="none" strike="noStrike" cap="none" normalizeH="0" baseline="3000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2</a:t>
                      </a: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/s</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54387">
                <a:tc>
                  <a:txBody>
                    <a:bodyPr/>
                    <a:lstStyle/>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2</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3</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5</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7</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10</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15</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22</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32</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46</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68</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1.98~2.42</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2.88~3.52</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4.14~5.06</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6.12~7.48</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9.00~11.0</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13.5~16.5</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19.8~24.2</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28.8~35.2</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41.4~50.6</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61.2~74.8</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dirty="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2.2</a:t>
                      </a:r>
                      <a:endParaRPr kumimoji="0" lang="zh-CN" altLang="zh-CN" sz="1600" b="0" i="0" u="none" strike="noStrike" cap="none" normalizeH="0" baseline="0" dirty="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dirty="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3.2</a:t>
                      </a:r>
                      <a:endParaRPr kumimoji="0" lang="zh-CN" altLang="zh-CN" sz="1600" b="0" i="0" u="none" strike="noStrike" cap="none" normalizeH="0" baseline="0" dirty="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dirty="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4.6</a:t>
                      </a:r>
                      <a:endParaRPr kumimoji="0" lang="zh-CN" altLang="zh-CN" sz="1600" b="0" i="0" u="none" strike="noStrike" cap="none" normalizeH="0" baseline="0" dirty="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dirty="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6.8</a:t>
                      </a:r>
                      <a:endParaRPr kumimoji="0" lang="zh-CN" altLang="zh-CN" sz="1600" b="0" i="0" u="none" strike="noStrike" cap="none" normalizeH="0" baseline="0" dirty="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dirty="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10</a:t>
                      </a:r>
                      <a:endParaRPr kumimoji="0" lang="zh-CN" altLang="zh-CN" sz="1600" b="0" i="0" u="none" strike="noStrike" cap="none" normalizeH="0" baseline="0" dirty="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dirty="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15</a:t>
                      </a:r>
                      <a:endParaRPr kumimoji="0" lang="zh-CN" altLang="zh-CN" sz="1600" b="0" i="0" u="none" strike="noStrike" cap="none" normalizeH="0" baseline="0" dirty="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dirty="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22</a:t>
                      </a:r>
                      <a:endParaRPr kumimoji="0" lang="zh-CN" altLang="zh-CN" sz="1600" b="0" i="0" u="none" strike="noStrike" cap="none" normalizeH="0" baseline="0" dirty="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dirty="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32</a:t>
                      </a:r>
                      <a:endParaRPr kumimoji="0" lang="zh-CN" altLang="zh-CN" sz="1600" b="0" i="0" u="none" strike="noStrike" cap="none" normalizeH="0" baseline="0" dirty="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dirty="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46</a:t>
                      </a:r>
                      <a:endParaRPr kumimoji="0" lang="zh-CN" altLang="zh-CN" sz="1600" b="0" i="0" u="none" strike="noStrike" cap="none" normalizeH="0" baseline="0" dirty="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dirty="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68</a:t>
                      </a:r>
                      <a:endParaRPr kumimoji="0" lang="zh-CN" altLang="zh-CN" sz="1600" b="0" i="0" u="none" strike="noStrike" cap="none" normalizeH="0" baseline="0" dirty="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vMerge="1">
                  <a:tcPr/>
                </a:tc>
                <a:tc>
                  <a:txBody>
                    <a:bodyPr/>
                    <a:lstStyle/>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100</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150</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220</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320</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460</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680</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1000</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1500</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2200</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3200</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90.0~110</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135~165</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198~242</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288~352</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414~506</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612~748</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900~1100</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1350~1650</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1980~2420</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2880~3520</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100</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150</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220</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320</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460</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680</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1000</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1500</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2200</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25000"/>
                        </a:lnSpc>
                        <a:spcBef>
                          <a:spcPct val="0"/>
                        </a:spcBef>
                        <a:spcAft>
                          <a:spcPct val="0"/>
                        </a:spcAft>
                        <a:buClrTx/>
                        <a:buSzTx/>
                        <a:buFontTx/>
                        <a:buNone/>
                      </a:pPr>
                      <a:r>
                        <a:rPr kumimoji="0" lang="en-US"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rPr>
                        <a:t>3200</a:t>
                      </a:r>
                      <a:endParaRPr kumimoji="0" lang="zh-CN" altLang="zh-CN" sz="1600" b="0" i="0" u="none" strike="noStrike" cap="none" normalizeH="0" baseline="0" smtClean="0">
                        <a:ln>
                          <a:noFill/>
                        </a:ln>
                        <a:solidFill>
                          <a:srgbClr val="0033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8461"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8462" name="TextBox 7"/>
          <p:cNvSpPr txBox="1">
            <a:spLocks noChangeArrowheads="1"/>
          </p:cNvSpPr>
          <p:nvPr/>
        </p:nvSpPr>
        <p:spPr bwMode="auto">
          <a:xfrm>
            <a:off x="7327900" y="5969000"/>
            <a:ext cx="119380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a:hlinkClick r:id="rId1" action="ppaction://hlinksldjump"/>
              </a:rPr>
              <a:t>返回</a:t>
            </a:r>
            <a:endParaRPr lang="zh-CN" altLang="en-US"/>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4843"/>
                                        </p:tgtEl>
                                        <p:attrNameLst>
                                          <p:attrName>style.visibility</p:attrName>
                                        </p:attrNameLst>
                                      </p:cBhvr>
                                      <p:to>
                                        <p:strVal val="visible"/>
                                      </p:to>
                                    </p:set>
                                    <p:anim calcmode="lin" valueType="num">
                                      <p:cBhvr additive="base">
                                        <p:cTn id="7" dur="500" fill="hold"/>
                                        <p:tgtEl>
                                          <p:spTgt spid="34843"/>
                                        </p:tgtEl>
                                        <p:attrNameLst>
                                          <p:attrName>ppt_x</p:attrName>
                                        </p:attrNameLst>
                                      </p:cBhvr>
                                      <p:tavLst>
                                        <p:tav tm="0">
                                          <p:val>
                                            <p:strVal val="0-#ppt_w/2"/>
                                          </p:val>
                                        </p:tav>
                                        <p:tav tm="100000">
                                          <p:val>
                                            <p:strVal val="#ppt_x"/>
                                          </p:val>
                                        </p:tav>
                                      </p:tavLst>
                                    </p:anim>
                                    <p:anim calcmode="lin" valueType="num">
                                      <p:cBhvr additive="base">
                                        <p:cTn id="8" dur="500" fill="hold"/>
                                        <p:tgtEl>
                                          <p:spTgt spid="3484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43" grpId="0" autoUpdateAnimBg="0"/>
    </p:bldLst>
  </p:timing>
</p:sld>
</file>

<file path=ppt/tags/tag1.xml><?xml version="1.0" encoding="utf-8"?>
<p:tagLst xmlns:p="http://schemas.openxmlformats.org/presentationml/2006/main">
  <p:tag name="COMMONDATA" val="eyJoZGlkIjoiZmYwY2UxNzI0ODdjMTkzYTM2NmQ4OTdkNGYwMzJlYmMifQ=="/>
  <p:tag name="KSO_WPP_MARK_KEY" val="b993ba31-8f3e-4d69-bbed-6fc569830787"/>
</p:tagLst>
</file>

<file path=ppt/theme/theme1.xml><?xml version="1.0" encoding="utf-8"?>
<a:theme xmlns:a="http://schemas.openxmlformats.org/drawingml/2006/main" name="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Designs\Blueprint.pot</Template>
  <TotalTime>0</TotalTime>
  <Words>3340</Words>
  <Application>WPS 演示</Application>
  <PresentationFormat>全屏显示(4:3)</PresentationFormat>
  <Paragraphs>368</Paragraphs>
  <Slides>17</Slides>
  <Notes>1</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5</vt:i4>
      </vt:variant>
      <vt:variant>
        <vt:lpstr>幻灯片标题</vt:lpstr>
      </vt:variant>
      <vt:variant>
        <vt:i4>17</vt:i4>
      </vt:variant>
    </vt:vector>
  </HeadingPairs>
  <TitlesOfParts>
    <vt:vector size="33" baseType="lpstr">
      <vt:lpstr>Arial</vt:lpstr>
      <vt:lpstr>宋体</vt:lpstr>
      <vt:lpstr>Wingdings</vt:lpstr>
      <vt:lpstr>Tahoma</vt:lpstr>
      <vt:lpstr>华文中宋</vt:lpstr>
      <vt:lpstr>Times New Roman</vt:lpstr>
      <vt:lpstr>黑体</vt:lpstr>
      <vt:lpstr>Calibri</vt:lpstr>
      <vt:lpstr>微软雅黑</vt:lpstr>
      <vt:lpstr>Arial Unicode MS</vt:lpstr>
      <vt:lpstr>Blueprint</vt:lpstr>
      <vt:lpstr>Equation.3</vt:lpstr>
      <vt:lpstr>Equation.3</vt:lpstr>
      <vt:lpstr>Equation.3</vt:lpstr>
      <vt:lpstr>Equation.3</vt:lpstr>
      <vt:lpstr>Equation.3</vt:lpstr>
      <vt:lpstr>第1.5章 摩擦、磨损与润滑概述</vt:lpstr>
      <vt:lpstr>摩擦学</vt:lpstr>
      <vt:lpstr>摩   擦1</vt:lpstr>
      <vt:lpstr>PowerPoint 演示文稿</vt:lpstr>
      <vt:lpstr>摩   擦1</vt:lpstr>
      <vt:lpstr>摩   擦3</vt:lpstr>
      <vt:lpstr>摩   擦3</vt:lpstr>
      <vt:lpstr>磨   损1</vt:lpstr>
      <vt:lpstr>磨   损2</vt:lpstr>
      <vt:lpstr>磨   损2</vt:lpstr>
      <vt:lpstr>润滑剂、添加剂和润滑方法</vt:lpstr>
      <vt:lpstr>添加剂</vt:lpstr>
      <vt:lpstr>润滑方法</vt:lpstr>
      <vt:lpstr>润滑方法</vt:lpstr>
      <vt:lpstr>PowerPoint 演示文稿</vt:lpstr>
      <vt:lpstr>润滑方法</vt:lpstr>
      <vt:lpstr>流体润滑２</vt:lpstr>
    </vt:vector>
  </TitlesOfParts>
  <Company>nwpu209</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wuliyan</dc:creator>
  <cp:lastModifiedBy>DQH</cp:lastModifiedBy>
  <cp:revision>241</cp:revision>
  <dcterms:created xsi:type="dcterms:W3CDTF">2002-03-15T12:39:00Z</dcterms:created>
  <dcterms:modified xsi:type="dcterms:W3CDTF">2025-09-08T12:41:00Z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D6DEFF02203644C1A04EE96DC5EEFBE4</vt:lpwstr>
  </property>
</Properties>
</file>