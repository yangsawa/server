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 id="2147483700" r:id="rId6"/>
    <p:sldMasterId id="2147483713" r:id="rId7"/>
  </p:sldMasterIdLst>
  <p:notesMasterIdLst>
    <p:notesMasterId r:id="rId11"/>
  </p:notesMasterIdLst>
  <p:sldIdLst>
    <p:sldId id="336" r:id="rId8"/>
    <p:sldId id="256" r:id="rId9"/>
    <p:sldId id="337" r:id="rId10"/>
    <p:sldId id="338" r:id="rId12"/>
    <p:sldId id="702" r:id="rId13"/>
    <p:sldId id="703" r:id="rId14"/>
    <p:sldId id="473" r:id="rId15"/>
    <p:sldId id="342" r:id="rId16"/>
    <p:sldId id="704" r:id="rId17"/>
    <p:sldId id="474" r:id="rId18"/>
    <p:sldId id="623" r:id="rId19"/>
    <p:sldId id="409" r:id="rId20"/>
    <p:sldId id="410" r:id="rId21"/>
    <p:sldId id="322" r:id="rId22"/>
    <p:sldId id="413" r:id="rId23"/>
    <p:sldId id="551" r:id="rId24"/>
    <p:sldId id="415" r:id="rId25"/>
    <p:sldId id="414" r:id="rId26"/>
    <p:sldId id="416" r:id="rId27"/>
    <p:sldId id="515" r:id="rId28"/>
    <p:sldId id="271" r:id="rId29"/>
    <p:sldId id="323" r:id="rId30"/>
    <p:sldId id="590" r:id="rId31"/>
    <p:sldId id="324" r:id="rId32"/>
    <p:sldId id="426" r:id="rId33"/>
    <p:sldId id="427" r:id="rId34"/>
    <p:sldId id="425" r:id="rId35"/>
    <p:sldId id="668" r:id="rId36"/>
    <p:sldId id="312" r:id="rId37"/>
    <p:sldId id="313" r:id="rId38"/>
    <p:sldId id="705" r:id="rId39"/>
    <p:sldId id="706" r:id="rId40"/>
    <p:sldId id="315" r:id="rId41"/>
    <p:sldId id="325" r:id="rId42"/>
    <p:sldId id="326" r:id="rId43"/>
    <p:sldId id="449" r:id="rId44"/>
    <p:sldId id="450" r:id="rId45"/>
    <p:sldId id="518" r:id="rId46"/>
    <p:sldId id="553" r:id="rId47"/>
    <p:sldId id="424" r:id="rId48"/>
    <p:sldId id="519" r:id="rId49"/>
    <p:sldId id="520" r:id="rId50"/>
    <p:sldId id="521" r:id="rId51"/>
    <p:sldId id="522" r:id="rId52"/>
    <p:sldId id="422" r:id="rId53"/>
    <p:sldId id="304" r:id="rId54"/>
    <p:sldId id="333" r:id="rId55"/>
    <p:sldId id="524" r:id="rId56"/>
    <p:sldId id="525" r:id="rId57"/>
    <p:sldId id="526" r:id="rId58"/>
    <p:sldId id="327" r:id="rId59"/>
    <p:sldId id="411" r:id="rId60"/>
    <p:sldId id="406" r:id="rId61"/>
    <p:sldId id="412" r:id="rId62"/>
    <p:sldId id="527" r:id="rId63"/>
    <p:sldId id="394" r:id="rId64"/>
    <p:sldId id="672" r:id="rId65"/>
    <p:sldId id="671" r:id="rId66"/>
    <p:sldId id="674" r:id="rId67"/>
    <p:sldId id="673" r:id="rId68"/>
    <p:sldId id="675" r:id="rId69"/>
    <p:sldId id="395" r:id="rId70"/>
    <p:sldId id="335" r:id="rId71"/>
  </p:sldIdLst>
  <p:sldSz cx="9144000" cy="6858000" type="screen4x3"/>
  <p:notesSz cx="6858000" cy="9144000"/>
  <p:custDataLst>
    <p:tags r:id="rId76"/>
  </p:custDataLst>
  <p:defaultTextStyle>
    <a:defPPr>
      <a:defRPr lang="zh-CN"/>
    </a:defPPr>
    <a:lvl1pPr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1pPr>
    <a:lvl2pPr marL="4572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2pPr>
    <a:lvl3pPr marL="9144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3pPr>
    <a:lvl4pPr marL="13716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4pPr>
    <a:lvl5pPr marL="18288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5pPr>
    <a:lvl6pPr marL="22860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6pPr>
    <a:lvl7pPr marL="27432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7pPr>
    <a:lvl8pPr marL="32004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8pPr>
    <a:lvl9pPr marL="36576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07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qh"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0000"/>
    <a:srgbClr val="EB6623"/>
    <a:srgbClr val="FF00FF"/>
    <a:srgbClr val="FF3300"/>
    <a:srgbClr val="000099"/>
    <a:srgbClr val="003399"/>
    <a:srgbClr val="CC33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4" autoAdjust="0"/>
    <p:restoredTop sz="93959" autoAdjust="0"/>
  </p:normalViewPr>
  <p:slideViewPr>
    <p:cSldViewPr snapToGrid="0" showGuides="1">
      <p:cViewPr varScale="1">
        <p:scale>
          <a:sx n="81" d="100"/>
          <a:sy n="81" d="100"/>
        </p:scale>
        <p:origin x="1698" y="84"/>
      </p:cViewPr>
      <p:guideLst>
        <p:guide orient="horz" pos="207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75" d="100"/>
        <a:sy n="75" d="100"/>
      </p:scale>
      <p:origin x="0" y="0"/>
    </p:cViewPr>
  </p:sorterViewPr>
  <p:gridSpacing cx="36000" cy="36000"/>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slide" Target="slides/slide1.xml"/><Relationship Id="rId76" Type="http://schemas.openxmlformats.org/officeDocument/2006/relationships/tags" Target="tags/tag118.xml"/><Relationship Id="rId75" Type="http://schemas.openxmlformats.org/officeDocument/2006/relationships/commentAuthors" Target="commentAuthors.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slide" Target="slides/slide63.xml"/><Relationship Id="rId70" Type="http://schemas.openxmlformats.org/officeDocument/2006/relationships/slide" Target="slides/slide62.xml"/><Relationship Id="rId7" Type="http://schemas.openxmlformats.org/officeDocument/2006/relationships/slideMaster" Target="slideMasters/slideMaster6.xml"/><Relationship Id="rId69" Type="http://schemas.openxmlformats.org/officeDocument/2006/relationships/slide" Target="slides/slide61.xml"/><Relationship Id="rId68" Type="http://schemas.openxmlformats.org/officeDocument/2006/relationships/slide" Target="slides/slide60.xml"/><Relationship Id="rId67" Type="http://schemas.openxmlformats.org/officeDocument/2006/relationships/slide" Target="slides/slide59.xml"/><Relationship Id="rId66" Type="http://schemas.openxmlformats.org/officeDocument/2006/relationships/slide" Target="slides/slide58.xml"/><Relationship Id="rId65" Type="http://schemas.openxmlformats.org/officeDocument/2006/relationships/slide" Target="slides/slide57.xml"/><Relationship Id="rId64" Type="http://schemas.openxmlformats.org/officeDocument/2006/relationships/slide" Target="slides/slide56.xml"/><Relationship Id="rId63" Type="http://schemas.openxmlformats.org/officeDocument/2006/relationships/slide" Target="slides/slide55.xml"/><Relationship Id="rId62" Type="http://schemas.openxmlformats.org/officeDocument/2006/relationships/slide" Target="slides/slide54.xml"/><Relationship Id="rId61" Type="http://schemas.openxmlformats.org/officeDocument/2006/relationships/slide" Target="slides/slide53.xml"/><Relationship Id="rId60" Type="http://schemas.openxmlformats.org/officeDocument/2006/relationships/slide" Target="slides/slide52.xml"/><Relationship Id="rId6" Type="http://schemas.openxmlformats.org/officeDocument/2006/relationships/slideMaster" Target="slideMasters/slideMaster5.xml"/><Relationship Id="rId59" Type="http://schemas.openxmlformats.org/officeDocument/2006/relationships/slide" Target="slides/slide51.xml"/><Relationship Id="rId58" Type="http://schemas.openxmlformats.org/officeDocument/2006/relationships/slide" Target="slides/slide50.xml"/><Relationship Id="rId57" Type="http://schemas.openxmlformats.org/officeDocument/2006/relationships/slide" Target="slides/slide49.xml"/><Relationship Id="rId56" Type="http://schemas.openxmlformats.org/officeDocument/2006/relationships/slide" Target="slides/slide48.xml"/><Relationship Id="rId55" Type="http://schemas.openxmlformats.org/officeDocument/2006/relationships/slide" Target="slides/slide47.xml"/><Relationship Id="rId54" Type="http://schemas.openxmlformats.org/officeDocument/2006/relationships/slide" Target="slides/slide46.xml"/><Relationship Id="rId53" Type="http://schemas.openxmlformats.org/officeDocument/2006/relationships/slide" Target="slides/slide45.xml"/><Relationship Id="rId52" Type="http://schemas.openxmlformats.org/officeDocument/2006/relationships/slide" Target="slides/slide44.xml"/><Relationship Id="rId51" Type="http://schemas.openxmlformats.org/officeDocument/2006/relationships/slide" Target="slides/slide43.xml"/><Relationship Id="rId50" Type="http://schemas.openxmlformats.org/officeDocument/2006/relationships/slide" Target="slides/slide42.xml"/><Relationship Id="rId5" Type="http://schemas.openxmlformats.org/officeDocument/2006/relationships/slideMaster" Target="slideMasters/slideMaster4.xml"/><Relationship Id="rId49" Type="http://schemas.openxmlformats.org/officeDocument/2006/relationships/slide" Target="slides/slide41.xml"/><Relationship Id="rId48" Type="http://schemas.openxmlformats.org/officeDocument/2006/relationships/slide" Target="slides/slide40.xml"/><Relationship Id="rId47" Type="http://schemas.openxmlformats.org/officeDocument/2006/relationships/slide" Target="slides/slide39.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notesMaster" Target="notesMasters/notesMaster1.xml"/><Relationship Id="rId10" Type="http://schemas.openxmlformats.org/officeDocument/2006/relationships/slide" Target="slides/slide3.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3.wmf"/><Relationship Id="rId7" Type="http://schemas.openxmlformats.org/officeDocument/2006/relationships/image" Target="../media/image12.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image" Target="../media/image24.wmf"/><Relationship Id="rId7" Type="http://schemas.openxmlformats.org/officeDocument/2006/relationships/image" Target="../media/image20.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 Id="rId3" Type="http://schemas.openxmlformats.org/officeDocument/2006/relationships/image" Target="../media/image16.wmf"/><Relationship Id="rId2" Type="http://schemas.openxmlformats.org/officeDocument/2006/relationships/image" Target="../media/image15.wmf"/><Relationship Id="rId16" Type="http://schemas.openxmlformats.org/officeDocument/2006/relationships/image" Target="../media/image32.wmf"/><Relationship Id="rId15" Type="http://schemas.openxmlformats.org/officeDocument/2006/relationships/image" Target="../media/image31.wmf"/><Relationship Id="rId14" Type="http://schemas.openxmlformats.org/officeDocument/2006/relationships/image" Target="../media/image30.wmf"/><Relationship Id="rId13" Type="http://schemas.openxmlformats.org/officeDocument/2006/relationships/image" Target="../media/image29.wmf"/><Relationship Id="rId12" Type="http://schemas.openxmlformats.org/officeDocument/2006/relationships/image" Target="../media/image28.wmf"/><Relationship Id="rId11" Type="http://schemas.openxmlformats.org/officeDocument/2006/relationships/image" Target="../media/image27.wmf"/><Relationship Id="rId10" Type="http://schemas.openxmlformats.org/officeDocument/2006/relationships/image" Target="../media/image26.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7.vml.rels><?xml version="1.0" encoding="UTF-8" standalone="yes"?>
<Relationships xmlns="http://schemas.openxmlformats.org/package/2006/relationships"><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8.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3.emf"/></Relationships>
</file>

<file path=ppt/drawings/_rels/vmlDrawing11.vml.rels><?xml version="1.0" encoding="UTF-8" standalone="yes"?>
<Relationships xmlns="http://schemas.openxmlformats.org/package/2006/relationships"><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emf"/><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image" Target="../media/image6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13.vml.rels><?xml version="1.0" encoding="UTF-8" standalone="yes"?>
<Relationships xmlns="http://schemas.openxmlformats.org/package/2006/relationships"><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1.e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97.wmf"/><Relationship Id="rId3" Type="http://schemas.openxmlformats.org/officeDocument/2006/relationships/image" Target="../media/image96.wmf"/><Relationship Id="rId2" Type="http://schemas.openxmlformats.org/officeDocument/2006/relationships/image" Target="../media/image94.wmf"/><Relationship Id="rId1" Type="http://schemas.openxmlformats.org/officeDocument/2006/relationships/image" Target="../media/image93.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1.wmf"/><Relationship Id="rId1" Type="http://schemas.openxmlformats.org/officeDocument/2006/relationships/image" Target="../media/image10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7.wmf"/><Relationship Id="rId1" Type="http://schemas.openxmlformats.org/officeDocument/2006/relationships/image" Target="../media/image106.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image" Target="../media/image11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31.wmf"/><Relationship Id="rId1" Type="http://schemas.openxmlformats.org/officeDocument/2006/relationships/image" Target="../media/image13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33.emf"/></Relationships>
</file>

<file path=ppt/drawings/_rels/vmlDrawing26.vml.rels><?xml version="1.0" encoding="UTF-8" standalone="yes"?>
<Relationships xmlns="http://schemas.openxmlformats.org/package/2006/relationships"><Relationship Id="rId4" Type="http://schemas.openxmlformats.org/officeDocument/2006/relationships/image" Target="../media/image138.wmf"/><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s>
</file>

<file path=ppt/drawings/_rels/vmlDrawing27.vml.rels><?xml version="1.0" encoding="UTF-8" standalone="yes"?>
<Relationships xmlns="http://schemas.openxmlformats.org/package/2006/relationships"><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7.emf"/><Relationship Id="rId1" Type="http://schemas.openxmlformats.org/officeDocument/2006/relationships/image" Target="../media/image146.emf"/></Relationships>
</file>

<file path=ppt/drawings/_rels/vmlDrawing28.vml.rels><?xml version="1.0" encoding="UTF-8" standalone="yes"?>
<Relationships xmlns="http://schemas.openxmlformats.org/package/2006/relationships"><Relationship Id="rId4" Type="http://schemas.openxmlformats.org/officeDocument/2006/relationships/image" Target="../media/image156.wmf"/><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29.vml.rels><?xml version="1.0" encoding="UTF-8" standalone="yes"?>
<Relationships xmlns="http://schemas.openxmlformats.org/package/2006/relationships"><Relationship Id="rId7" Type="http://schemas.openxmlformats.org/officeDocument/2006/relationships/image" Target="../media/image167.wmf"/><Relationship Id="rId6" Type="http://schemas.openxmlformats.org/officeDocument/2006/relationships/image" Target="../media/image166.wmf"/><Relationship Id="rId5" Type="http://schemas.openxmlformats.org/officeDocument/2006/relationships/image" Target="../media/image165.wmf"/><Relationship Id="rId4" Type="http://schemas.openxmlformats.org/officeDocument/2006/relationships/image" Target="../media/image164.wmf"/><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1">
                <a:ea typeface="宋体" panose="02010600030101010101" pitchFamily="2" charset="-122"/>
              </a:defRPr>
            </a:lvl1pPr>
          </a:lstStyle>
          <a:p>
            <a:pPr>
              <a:defRPr/>
            </a:pPr>
            <a:endParaRPr lang="en-US" altLang="zh-CN"/>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1">
                <a:ea typeface="宋体" panose="02010600030101010101" pitchFamily="2" charset="-122"/>
              </a:defRPr>
            </a:lvl1pPr>
          </a:lstStyle>
          <a:p>
            <a:pPr>
              <a:defRPr/>
            </a:pPr>
            <a:endParaRPr lang="en-US" altLang="zh-CN"/>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1">
                <a:ea typeface="宋体" panose="02010600030101010101" pitchFamily="2" charset="-122"/>
              </a:defRPr>
            </a:lvl1pPr>
          </a:lstStyle>
          <a:p>
            <a:pPr>
              <a:defRPr/>
            </a:pPr>
            <a:endParaRPr lang="en-US" altLang="zh-CN"/>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1">
                <a:ea typeface="宋体" panose="02010600030101010101" pitchFamily="2" charset="-122"/>
              </a:defRPr>
            </a:lvl1pPr>
          </a:lstStyle>
          <a:p>
            <a:fld id="{6D07F714-B88E-4CFF-B5E1-B125256ADFC8}"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Book Antiqua" panose="02040602050305030304" pitchFamily="18" charset="0"/>
                <a:ea typeface="宋体" panose="02010600030101010101" pitchFamily="2" charset="-122"/>
              </a:defRPr>
            </a:lvl1pPr>
            <a:lvl2pPr marL="742950" indent="-285750">
              <a:spcBef>
                <a:spcPct val="30000"/>
              </a:spcBef>
              <a:defRPr kumimoji="1" sz="1200">
                <a:solidFill>
                  <a:schemeClr val="tx1"/>
                </a:solidFill>
                <a:latin typeface="Book Antiqua" panose="02040602050305030304" pitchFamily="18" charset="0"/>
                <a:ea typeface="宋体" panose="02010600030101010101" pitchFamily="2" charset="-122"/>
              </a:defRPr>
            </a:lvl2pPr>
            <a:lvl3pPr marL="1143000" indent="-228600">
              <a:spcBef>
                <a:spcPct val="30000"/>
              </a:spcBef>
              <a:defRPr kumimoji="1" sz="1200">
                <a:solidFill>
                  <a:schemeClr val="tx1"/>
                </a:solidFill>
                <a:latin typeface="Book Antiqua" panose="02040602050305030304" pitchFamily="18" charset="0"/>
                <a:ea typeface="宋体" panose="02010600030101010101" pitchFamily="2" charset="-122"/>
              </a:defRPr>
            </a:lvl3pPr>
            <a:lvl4pPr marL="1600200" indent="-228600">
              <a:spcBef>
                <a:spcPct val="30000"/>
              </a:spcBef>
              <a:defRPr kumimoji="1" sz="1200">
                <a:solidFill>
                  <a:schemeClr val="tx1"/>
                </a:solidFill>
                <a:latin typeface="Book Antiqua" panose="02040602050305030304" pitchFamily="18" charset="0"/>
                <a:ea typeface="宋体" panose="02010600030101010101" pitchFamily="2" charset="-122"/>
              </a:defRPr>
            </a:lvl4pPr>
            <a:lvl5pPr marL="2057400" indent="-228600">
              <a:spcBef>
                <a:spcPct val="30000"/>
              </a:spcBef>
              <a:defRPr kumimoji="1" sz="12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9pPr>
          </a:lstStyle>
          <a:p>
            <a:pPr>
              <a:spcBef>
                <a:spcPct val="0"/>
              </a:spcBef>
            </a:pPr>
            <a:fld id="{CADF1283-42F4-4B53-BDE8-DEA18CB3A0BF}" type="slidenum">
              <a:rPr lang="en-US" altLang="zh-CN" sz="1000">
                <a:latin typeface="Times New Roman" panose="02020603050405020304" pitchFamily="18" charset="0"/>
              </a:rPr>
            </a:fld>
            <a:endParaRPr lang="en-US" altLang="zh-CN" sz="1000">
              <a:latin typeface="Times New Roman" panose="02020603050405020304" pitchFamily="18" charset="0"/>
            </a:endParaRPr>
          </a:p>
        </p:txBody>
      </p:sp>
      <p:sp>
        <p:nvSpPr>
          <p:cNvPr id="32771"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
        <p:nvSpPr>
          <p:cNvPr id="32772" name="Rectangle 3"/>
          <p:cNvSpPr>
            <a:spLocks noGrp="1" noRot="1" noChangeAspect="1"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Book Antiqua" panose="02040602050305030304" pitchFamily="18" charset="0"/>
                <a:ea typeface="宋体" panose="02010600030101010101" pitchFamily="2" charset="-122"/>
              </a:defRPr>
            </a:lvl1pPr>
            <a:lvl2pPr marL="742950" indent="-285750">
              <a:spcBef>
                <a:spcPct val="30000"/>
              </a:spcBef>
              <a:defRPr kumimoji="1" sz="1200">
                <a:solidFill>
                  <a:schemeClr val="tx1"/>
                </a:solidFill>
                <a:latin typeface="Book Antiqua" panose="02040602050305030304" pitchFamily="18" charset="0"/>
                <a:ea typeface="宋体" panose="02010600030101010101" pitchFamily="2" charset="-122"/>
              </a:defRPr>
            </a:lvl2pPr>
            <a:lvl3pPr marL="1143000" indent="-228600">
              <a:spcBef>
                <a:spcPct val="30000"/>
              </a:spcBef>
              <a:defRPr kumimoji="1" sz="1200">
                <a:solidFill>
                  <a:schemeClr val="tx1"/>
                </a:solidFill>
                <a:latin typeface="Book Antiqua" panose="02040602050305030304" pitchFamily="18" charset="0"/>
                <a:ea typeface="宋体" panose="02010600030101010101" pitchFamily="2" charset="-122"/>
              </a:defRPr>
            </a:lvl3pPr>
            <a:lvl4pPr marL="1600200" indent="-228600">
              <a:spcBef>
                <a:spcPct val="30000"/>
              </a:spcBef>
              <a:defRPr kumimoji="1" sz="1200">
                <a:solidFill>
                  <a:schemeClr val="tx1"/>
                </a:solidFill>
                <a:latin typeface="Book Antiqua" panose="02040602050305030304" pitchFamily="18" charset="0"/>
                <a:ea typeface="宋体" panose="02010600030101010101" pitchFamily="2" charset="-122"/>
              </a:defRPr>
            </a:lvl4pPr>
            <a:lvl5pPr marL="2057400" indent="-228600">
              <a:spcBef>
                <a:spcPct val="30000"/>
              </a:spcBef>
              <a:defRPr kumimoji="1" sz="12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9pPr>
          </a:lstStyle>
          <a:p>
            <a:pPr>
              <a:spcBef>
                <a:spcPct val="0"/>
              </a:spcBef>
            </a:pPr>
            <a:fld id="{DC9DC1EA-C7F8-40ED-8B58-46C8C0B6A863}" type="slidenum">
              <a:rPr lang="en-US" altLang="zh-CN" sz="1000">
                <a:latin typeface="Times New Roman" panose="02020603050405020304" pitchFamily="18" charset="0"/>
              </a:rPr>
            </a:fld>
            <a:endParaRPr lang="en-US" altLang="zh-CN" sz="1000">
              <a:latin typeface="Times New Roman" panose="02020603050405020304" pitchFamily="18" charset="0"/>
            </a:endParaRPr>
          </a:p>
        </p:txBody>
      </p:sp>
      <p:sp>
        <p:nvSpPr>
          <p:cNvPr id="3481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
        <p:nvSpPr>
          <p:cNvPr id="34820" name="Rectangle 3"/>
          <p:cNvSpPr>
            <a:spLocks noGrp="1" noRot="1" noChangeAspect="1" noChangeArrowheads="1" noTextEdit="1"/>
          </p:cNvSpPr>
          <p:nvPr>
            <p:ph type="sldImg"/>
          </p:nvPr>
        </p:nvSpPr>
        <p:spPr>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Book Antiqua" panose="02040602050305030304" pitchFamily="18" charset="0"/>
                <a:ea typeface="宋体" panose="02010600030101010101" pitchFamily="2" charset="-122"/>
              </a:defRPr>
            </a:lvl1pPr>
            <a:lvl2pPr marL="742950" indent="-285750">
              <a:spcBef>
                <a:spcPct val="30000"/>
              </a:spcBef>
              <a:defRPr kumimoji="1" sz="1200">
                <a:solidFill>
                  <a:schemeClr val="tx1"/>
                </a:solidFill>
                <a:latin typeface="Book Antiqua" panose="02040602050305030304" pitchFamily="18" charset="0"/>
                <a:ea typeface="宋体" panose="02010600030101010101" pitchFamily="2" charset="-122"/>
              </a:defRPr>
            </a:lvl2pPr>
            <a:lvl3pPr marL="1143000" indent="-228600">
              <a:spcBef>
                <a:spcPct val="30000"/>
              </a:spcBef>
              <a:defRPr kumimoji="1" sz="1200">
                <a:solidFill>
                  <a:schemeClr val="tx1"/>
                </a:solidFill>
                <a:latin typeface="Book Antiqua" panose="02040602050305030304" pitchFamily="18" charset="0"/>
                <a:ea typeface="宋体" panose="02010600030101010101" pitchFamily="2" charset="-122"/>
              </a:defRPr>
            </a:lvl3pPr>
            <a:lvl4pPr marL="1600200" indent="-228600">
              <a:spcBef>
                <a:spcPct val="30000"/>
              </a:spcBef>
              <a:defRPr kumimoji="1" sz="1200">
                <a:solidFill>
                  <a:schemeClr val="tx1"/>
                </a:solidFill>
                <a:latin typeface="Book Antiqua" panose="02040602050305030304" pitchFamily="18" charset="0"/>
                <a:ea typeface="宋体" panose="02010600030101010101" pitchFamily="2" charset="-122"/>
              </a:defRPr>
            </a:lvl4pPr>
            <a:lvl5pPr marL="2057400" indent="-228600">
              <a:spcBef>
                <a:spcPct val="30000"/>
              </a:spcBef>
              <a:defRPr kumimoji="1" sz="12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9pPr>
          </a:lstStyle>
          <a:p>
            <a:pPr>
              <a:spcBef>
                <a:spcPct val="0"/>
              </a:spcBef>
            </a:pPr>
            <a:fld id="{36361BBA-70BA-458B-92AB-4C7702433003}" type="slidenum">
              <a:rPr lang="en-US" altLang="zh-CN" sz="1000">
                <a:latin typeface="Times New Roman" panose="02020603050405020304" pitchFamily="18" charset="0"/>
              </a:rPr>
            </a:fld>
            <a:endParaRPr lang="en-US" altLang="zh-CN" sz="1000">
              <a:latin typeface="Times New Roman" panose="02020603050405020304" pitchFamily="18" charset="0"/>
            </a:endParaRPr>
          </a:p>
        </p:txBody>
      </p:sp>
      <p:sp>
        <p:nvSpPr>
          <p:cNvPr id="38915"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
        <p:nvSpPr>
          <p:cNvPr id="38916" name="Rectangle 3"/>
          <p:cNvSpPr>
            <a:spLocks noGrp="1" noRot="1" noChangeAspect="1" noChangeArrowheads="1" noTextEdit="1"/>
          </p:cNvSpPr>
          <p:nvPr>
            <p:ph type="sldImg"/>
          </p:nvPr>
        </p:nvSpPr>
        <p:spPr>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Book Antiqua" panose="02040602050305030304" pitchFamily="18" charset="0"/>
                <a:ea typeface="宋体" panose="02010600030101010101" pitchFamily="2" charset="-122"/>
              </a:defRPr>
            </a:lvl1pPr>
            <a:lvl2pPr marL="742950" indent="-285750">
              <a:spcBef>
                <a:spcPct val="30000"/>
              </a:spcBef>
              <a:defRPr kumimoji="1" sz="1200">
                <a:solidFill>
                  <a:schemeClr val="tx1"/>
                </a:solidFill>
                <a:latin typeface="Book Antiqua" panose="02040602050305030304" pitchFamily="18" charset="0"/>
                <a:ea typeface="宋体" panose="02010600030101010101" pitchFamily="2" charset="-122"/>
              </a:defRPr>
            </a:lvl2pPr>
            <a:lvl3pPr marL="1143000" indent="-228600">
              <a:spcBef>
                <a:spcPct val="30000"/>
              </a:spcBef>
              <a:defRPr kumimoji="1" sz="1200">
                <a:solidFill>
                  <a:schemeClr val="tx1"/>
                </a:solidFill>
                <a:latin typeface="Book Antiqua" panose="02040602050305030304" pitchFamily="18" charset="0"/>
                <a:ea typeface="宋体" panose="02010600030101010101" pitchFamily="2" charset="-122"/>
              </a:defRPr>
            </a:lvl3pPr>
            <a:lvl4pPr marL="1600200" indent="-228600">
              <a:spcBef>
                <a:spcPct val="30000"/>
              </a:spcBef>
              <a:defRPr kumimoji="1" sz="1200">
                <a:solidFill>
                  <a:schemeClr val="tx1"/>
                </a:solidFill>
                <a:latin typeface="Book Antiqua" panose="02040602050305030304" pitchFamily="18" charset="0"/>
                <a:ea typeface="宋体" panose="02010600030101010101" pitchFamily="2" charset="-122"/>
              </a:defRPr>
            </a:lvl4pPr>
            <a:lvl5pPr marL="2057400" indent="-228600">
              <a:spcBef>
                <a:spcPct val="30000"/>
              </a:spcBef>
              <a:defRPr kumimoji="1" sz="12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9pPr>
          </a:lstStyle>
          <a:p>
            <a:pPr>
              <a:spcBef>
                <a:spcPct val="0"/>
              </a:spcBef>
            </a:pPr>
            <a:fld id="{91596E96-E91F-4144-ADA9-9B8DE380A8AF}" type="slidenum">
              <a:rPr lang="en-US" altLang="zh-CN" sz="1000">
                <a:latin typeface="Times New Roman" panose="02020603050405020304" pitchFamily="18" charset="0"/>
              </a:rPr>
            </a:fld>
            <a:endParaRPr lang="en-US" altLang="zh-CN" sz="1000">
              <a:latin typeface="Times New Roman" panose="02020603050405020304" pitchFamily="18" charset="0"/>
            </a:endParaRPr>
          </a:p>
        </p:txBody>
      </p:sp>
      <p:sp>
        <p:nvSpPr>
          <p:cNvPr id="40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
        <p:nvSpPr>
          <p:cNvPr id="40964" name="Rectangle 3"/>
          <p:cNvSpPr>
            <a:spLocks noGrp="1" noRot="1" noChangeAspect="1" noChangeArrowheads="1" noTextEdit="1"/>
          </p:cNvSpPr>
          <p:nvPr>
            <p:ph type="sldImg"/>
          </p:nvPr>
        </p:nvSpPr>
        <p:spPr>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p:cNvSpPr txBox="1">
            <a:spLocks noGrp="1"/>
          </p:cNvSpPr>
          <p:nvPr>
            <p:ph type="sldNum" sz="quarter"/>
          </p:nvPr>
        </p:nvSpPr>
        <p:spPr>
          <a:xfrm>
            <a:off x="3886200" y="9305925"/>
            <a:ext cx="2971800" cy="457200"/>
          </a:xfrm>
          <a:prstGeom prst="rect">
            <a:avLst/>
          </a:prstGeom>
          <a:noFill/>
          <a:ln w="9525">
            <a:noFill/>
          </a:ln>
        </p:spPr>
        <p:txBody>
          <a:bodyPr lIns="19050" tIns="0" rIns="19050" bIns="0" anchor="b" anchorCtr="0"/>
          <a:lstStyle/>
          <a:p>
            <a:pPr lvl="0" algn="r">
              <a:spcBef>
                <a:spcPct val="0"/>
              </a:spcBef>
            </a:pPr>
            <a:fld id="{9A0DB2DC-4C9A-4742-B13C-FB6460FD3503}" type="slidenum">
              <a:rPr lang="en-US" altLang="zh-CN" sz="1000" b="0" i="1" dirty="0">
                <a:solidFill>
                  <a:schemeClr val="tx1"/>
                </a:solidFill>
                <a:ea typeface="宋体" panose="02010600030101010101" pitchFamily="2" charset="-122"/>
              </a:rPr>
            </a:fld>
            <a:endParaRPr lang="en-US" altLang="zh-CN" sz="1000" b="0" i="1" dirty="0">
              <a:solidFill>
                <a:schemeClr val="tx1"/>
              </a:solidFill>
              <a:ea typeface="宋体" panose="02010600030101010101" pitchFamily="2" charset="-122"/>
            </a:endParaRPr>
          </a:p>
        </p:txBody>
      </p:sp>
      <p:sp>
        <p:nvSpPr>
          <p:cNvPr id="30723" name="Rectangle 2"/>
          <p:cNvSpPr>
            <a:spLocks noGrp="1"/>
          </p:cNvSpPr>
          <p:nvPr>
            <p:ph type="body" idx="1"/>
          </p:nvPr>
        </p:nvSpPr>
        <p:spPr/>
        <p:txBody>
          <a:bodyPr wrap="square" lIns="92075" tIns="46038" rIns="92075" bIns="46038" anchor="t" anchorCtr="0"/>
          <a:lstStyle/>
          <a:p>
            <a:pPr lvl="0"/>
            <a:endParaRPr lang="zh-CN" altLang="zh-CN" dirty="0"/>
          </a:p>
        </p:txBody>
      </p:sp>
      <p:sp>
        <p:nvSpPr>
          <p:cNvPr id="30724" name="Rectangle 3"/>
          <p:cNvSpPr>
            <a:spLocks noGrp="1" noRot="1" noChangeAspect="1" noTextEdit="1"/>
          </p:cNvSpPr>
          <p:nvPr>
            <p:ph type="sldImg"/>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Book Antiqua" panose="02040602050305030304" pitchFamily="18" charset="0"/>
                <a:ea typeface="宋体" panose="02010600030101010101" pitchFamily="2" charset="-122"/>
              </a:defRPr>
            </a:lvl1pPr>
            <a:lvl2pPr marL="742950" indent="-285750">
              <a:spcBef>
                <a:spcPct val="30000"/>
              </a:spcBef>
              <a:defRPr kumimoji="1" sz="1200">
                <a:solidFill>
                  <a:schemeClr val="tx1"/>
                </a:solidFill>
                <a:latin typeface="Book Antiqua" panose="02040602050305030304" pitchFamily="18" charset="0"/>
                <a:ea typeface="宋体" panose="02010600030101010101" pitchFamily="2" charset="-122"/>
              </a:defRPr>
            </a:lvl2pPr>
            <a:lvl3pPr marL="1143000" indent="-228600">
              <a:spcBef>
                <a:spcPct val="30000"/>
              </a:spcBef>
              <a:defRPr kumimoji="1" sz="1200">
                <a:solidFill>
                  <a:schemeClr val="tx1"/>
                </a:solidFill>
                <a:latin typeface="Book Antiqua" panose="02040602050305030304" pitchFamily="18" charset="0"/>
                <a:ea typeface="宋体" panose="02010600030101010101" pitchFamily="2" charset="-122"/>
              </a:defRPr>
            </a:lvl3pPr>
            <a:lvl4pPr marL="1600200" indent="-228600">
              <a:spcBef>
                <a:spcPct val="30000"/>
              </a:spcBef>
              <a:defRPr kumimoji="1" sz="1200">
                <a:solidFill>
                  <a:schemeClr val="tx1"/>
                </a:solidFill>
                <a:latin typeface="Book Antiqua" panose="02040602050305030304" pitchFamily="18" charset="0"/>
                <a:ea typeface="宋体" panose="02010600030101010101" pitchFamily="2" charset="-122"/>
              </a:defRPr>
            </a:lvl4pPr>
            <a:lvl5pPr marL="2057400" indent="-228600">
              <a:spcBef>
                <a:spcPct val="30000"/>
              </a:spcBef>
              <a:defRPr kumimoji="1" sz="12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Book Antiqua" panose="02040602050305030304" pitchFamily="18" charset="0"/>
                <a:ea typeface="宋体" panose="02010600030101010101" pitchFamily="2" charset="-122"/>
              </a:defRPr>
            </a:lvl9pPr>
          </a:lstStyle>
          <a:p>
            <a:pPr>
              <a:spcBef>
                <a:spcPct val="0"/>
              </a:spcBef>
            </a:pPr>
            <a:fld id="{AF707EB8-518F-4D48-BE16-18101A55BD30}" type="slidenum">
              <a:rPr lang="en-US" altLang="zh-CN" sz="1000">
                <a:latin typeface="Times New Roman" panose="02020603050405020304" pitchFamily="18" charset="0"/>
              </a:rPr>
            </a:fld>
            <a:endParaRPr lang="en-US" altLang="zh-CN" sz="1000">
              <a:latin typeface="Times New Roman" panose="02020603050405020304" pitchFamily="18" charset="0"/>
            </a:endParaRPr>
          </a:p>
        </p:txBody>
      </p:sp>
      <p:sp>
        <p:nvSpPr>
          <p:cNvPr id="43011"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
        <p:nvSpPr>
          <p:cNvPr id="43012" name="Rectangle 3"/>
          <p:cNvSpPr>
            <a:spLocks noGrp="1" noRot="1" noChangeAspect="1" noChangeArrowheads="1" noTextEdit="1"/>
          </p:cNvSpPr>
          <p:nvPr>
            <p:ph type="sldImg"/>
          </p:nvPr>
        </p:nvSpPr>
        <p:spPr>
          <a:ln cap="fla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Symbol" panose="05050102010706020507" pitchFamily="18" charset="2"/>
              </a:rPr>
              <a:t></a:t>
            </a:r>
            <a:r>
              <a:rPr lang="en-US" baseline="-25000">
                <a:sym typeface="+mn-ea"/>
              </a:rPr>
              <a:t>a </a:t>
            </a:r>
            <a:r>
              <a:rPr lang="en-US">
                <a:sym typeface="+mn-ea"/>
              </a:rPr>
              <a:t>= 80.6Mpa</a:t>
            </a:r>
            <a:r>
              <a:rPr lang="zh-CN" altLang="en-US">
                <a:sym typeface="+mn-ea"/>
              </a:rPr>
              <a:t>，</a:t>
            </a:r>
            <a:r>
              <a:rPr lang="zh-CN" altLang="en-US">
                <a:sym typeface="Symbol" panose="05050102010706020507" pitchFamily="18" charset="2"/>
              </a:rPr>
              <a:t></a:t>
            </a:r>
            <a:r>
              <a:rPr lang="en-US" baseline="-25000">
                <a:sym typeface="+mn-ea"/>
              </a:rPr>
              <a:t>m </a:t>
            </a:r>
            <a:r>
              <a:rPr lang="en-US">
                <a:sym typeface="+mn-ea"/>
              </a:rPr>
              <a:t>= -49.4Mpa</a:t>
            </a:r>
            <a:r>
              <a:rPr lang="zh-CN" altLang="en-US">
                <a:sym typeface="+mn-ea"/>
              </a:rPr>
              <a:t>；</a:t>
            </a:r>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fld id="{99818E03-DB05-4587-B0F5-2A7418EC814C}" type="slidenum">
              <a:rPr lang="en-US" altLang="zh-CN" sz="1000" b="0">
                <a:solidFill>
                  <a:schemeClr val="tx1"/>
                </a:solidFill>
                <a:ea typeface="宋体" panose="02010600030101010101" pitchFamily="2" charset="-122"/>
              </a:rPr>
            </a:fld>
            <a:endParaRPr lang="en-US" altLang="zh-CN" sz="1000" b="0">
              <a:solidFill>
                <a:schemeClr val="tx1"/>
              </a:solidFill>
              <a:ea typeface="宋体" panose="02010600030101010101" pitchFamily="2" charset="-122"/>
            </a:endParaRPr>
          </a:p>
        </p:txBody>
      </p:sp>
      <p:sp>
        <p:nvSpPr>
          <p:cNvPr id="31747"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
        <p:nvSpPr>
          <p:cNvPr id="31748" name="Rectangle 3"/>
          <p:cNvSpPr>
            <a:spLocks noGrp="1" noRot="1" noChangeAspect="1" noChangeArrowheads="1" noTextEdit="1"/>
          </p:cNvSpPr>
          <p:nvPr>
            <p:ph type="sldImg"/>
          </p:nvPr>
        </p:nvSpPr>
        <p:spPr>
          <a:ln cap="fla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fld id="{9E75605B-02CB-4262-8FC3-B761DB3B67D3}" type="slidenum">
              <a:rPr lang="en-US" altLang="zh-CN" sz="1000" b="0">
                <a:solidFill>
                  <a:schemeClr val="tx1"/>
                </a:solidFill>
                <a:ea typeface="宋体" panose="02010600030101010101" pitchFamily="2" charset="-122"/>
              </a:rPr>
            </a:fld>
            <a:endParaRPr lang="en-US" altLang="zh-CN" sz="1000" b="0">
              <a:solidFill>
                <a:schemeClr val="tx1"/>
              </a:solidFill>
              <a:ea typeface="宋体" panose="02010600030101010101" pitchFamily="2" charset="-122"/>
            </a:endParaRPr>
          </a:p>
        </p:txBody>
      </p:sp>
      <p:sp>
        <p:nvSpPr>
          <p:cNvPr id="32771"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
        <p:nvSpPr>
          <p:cNvPr id="32772" name="Rectangle 3"/>
          <p:cNvSpPr>
            <a:spLocks noGrp="1" noRot="1" noChangeAspect="1" noChangeArrowheads="1" noTextEdit="1"/>
          </p:cNvSpPr>
          <p:nvPr>
            <p:ph type="sldImg"/>
          </p:nvPr>
        </p:nvSpPr>
        <p:spPr>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latin typeface="Tahoma" panose="020B0604030504040204" pitchFamily="34" charset="0"/>
                <a:sym typeface="+mn-ea"/>
              </a:rPr>
              <a:t>极限应力线上的点称为</a:t>
            </a:r>
            <a:r>
              <a:rPr lang="zh-CN" altLang="en-US" dirty="0">
                <a:solidFill>
                  <a:srgbClr val="3333FF"/>
                </a:solidFill>
                <a:latin typeface="Tahoma" panose="020B0604030504040204" pitchFamily="34" charset="0"/>
                <a:sym typeface="+mn-ea"/>
              </a:rPr>
              <a:t>极限应力点</a:t>
            </a:r>
            <a:r>
              <a:rPr lang="zh-CN" altLang="en-US" dirty="0">
                <a:latin typeface="Tahoma" panose="020B0604030504040204" pitchFamily="34" charset="0"/>
                <a:sym typeface="+mn-ea"/>
              </a:rPr>
              <a:t>。</a:t>
            </a:r>
            <a:r>
              <a:rPr lang="zh-CN" altLang="en-US" dirty="0">
                <a:solidFill>
                  <a:srgbClr val="3333FF"/>
                </a:solidFill>
                <a:latin typeface="Tahoma" panose="020B0604030504040204" pitchFamily="34" charset="0"/>
                <a:sym typeface="+mn-ea"/>
              </a:rPr>
              <a:t>三个特殊点 </a:t>
            </a:r>
            <a:r>
              <a:rPr lang="en-US" altLang="zh-CN" i="1" dirty="0">
                <a:solidFill>
                  <a:srgbClr val="3333FF"/>
                </a:solidFill>
                <a:sym typeface="+mn-ea"/>
              </a:rPr>
              <a:t>A</a:t>
            </a:r>
            <a:r>
              <a:rPr lang="zh-CN" altLang="en-US" dirty="0">
                <a:solidFill>
                  <a:srgbClr val="3333FF"/>
                </a:solidFill>
                <a:sym typeface="+mn-ea"/>
              </a:rPr>
              <a:t>、</a:t>
            </a:r>
            <a:r>
              <a:rPr lang="en-US" altLang="zh-CN" i="1" dirty="0">
                <a:solidFill>
                  <a:srgbClr val="3333FF"/>
                </a:solidFill>
                <a:sym typeface="+mn-ea"/>
              </a:rPr>
              <a:t>D</a:t>
            </a:r>
            <a:r>
              <a:rPr lang="zh-CN" altLang="en-US" dirty="0">
                <a:solidFill>
                  <a:srgbClr val="3333FF"/>
                </a:solidFill>
                <a:sym typeface="+mn-ea"/>
              </a:rPr>
              <a:t>、</a:t>
            </a:r>
            <a:r>
              <a:rPr lang="en-US" altLang="zh-CN" i="1" dirty="0">
                <a:solidFill>
                  <a:srgbClr val="3333FF"/>
                </a:solidFill>
                <a:sym typeface="+mn-ea"/>
              </a:rPr>
              <a:t>C</a:t>
            </a:r>
            <a:r>
              <a:rPr lang="en-US" altLang="zh-CN" i="1" dirty="0">
                <a:sym typeface="+mn-ea"/>
              </a:rPr>
              <a:t> </a:t>
            </a:r>
            <a:r>
              <a:rPr lang="zh-CN" altLang="en-US" dirty="0">
                <a:latin typeface="Tahoma" panose="020B0604030504040204" pitchFamily="34" charset="0"/>
                <a:sym typeface="+mn-ea"/>
              </a:rPr>
              <a:t>分别为</a:t>
            </a:r>
            <a:r>
              <a:rPr lang="zh-CN" altLang="en-US" dirty="0">
                <a:solidFill>
                  <a:srgbClr val="3333FF"/>
                </a:solidFill>
                <a:sym typeface="+mn-ea"/>
              </a:rPr>
              <a:t>对称循环</a:t>
            </a:r>
            <a:r>
              <a:rPr lang="zh-CN" altLang="en-US" dirty="0">
                <a:sym typeface="+mn-ea"/>
              </a:rPr>
              <a:t>、</a:t>
            </a:r>
            <a:r>
              <a:rPr lang="zh-CN" altLang="en-US" dirty="0">
                <a:solidFill>
                  <a:srgbClr val="3333FF"/>
                </a:solidFill>
                <a:sym typeface="+mn-ea"/>
              </a:rPr>
              <a:t>脉动循环</a:t>
            </a:r>
            <a:r>
              <a:rPr lang="zh-CN" altLang="en-US" dirty="0">
                <a:sym typeface="+mn-ea"/>
              </a:rPr>
              <a:t>、以及</a:t>
            </a:r>
            <a:r>
              <a:rPr lang="zh-CN" altLang="en-US" dirty="0">
                <a:solidFill>
                  <a:srgbClr val="3333FF"/>
                </a:solidFill>
                <a:sym typeface="+mn-ea"/>
              </a:rPr>
              <a:t>静应力下</a:t>
            </a:r>
            <a:r>
              <a:rPr lang="zh-CN" altLang="en-US" dirty="0">
                <a:sym typeface="+mn-ea"/>
              </a:rPr>
              <a:t>的</a:t>
            </a:r>
            <a:r>
              <a:rPr lang="zh-CN" altLang="en-US" dirty="0">
                <a:solidFill>
                  <a:srgbClr val="3333FF"/>
                </a:solidFill>
                <a:sym typeface="+mn-ea"/>
              </a:rPr>
              <a:t>极限应力点</a:t>
            </a:r>
            <a:r>
              <a:rPr lang="zh-CN" altLang="en-US" dirty="0">
                <a:sym typeface="+mn-ea"/>
              </a:rPr>
              <a:t>。</a:t>
            </a:r>
            <a:r>
              <a:rPr lang="zh-CN" altLang="en-US" dirty="0">
                <a:latin typeface="Tahoma" panose="020B0604030504040204" pitchFamily="34" charset="0"/>
                <a:sym typeface="+mn-ea"/>
              </a:rPr>
              <a:t> </a:t>
            </a:r>
            <a:endParaRPr lang="zh-CN" altLang="en-US" b="0" dirty="0">
              <a:latin typeface="Tahoma" panose="020B0604030504040204" pitchFamily="34" charset="0"/>
            </a:endParaRPr>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作业</a:t>
            </a:r>
            <a:r>
              <a:rPr lang="en-US" altLang="zh-CN" dirty="0"/>
              <a:t>3-4</a:t>
            </a:r>
            <a:r>
              <a:rPr lang="zh-CN" altLang="en-US" dirty="0"/>
              <a:t>的数据为例</a:t>
            </a:r>
            <a:endParaRPr lang="zh-CN" altLang="en-US" dirty="0"/>
          </a:p>
        </p:txBody>
      </p:sp>
      <p:sp>
        <p:nvSpPr>
          <p:cNvPr id="4" name="灯片编号占位符 3"/>
          <p:cNvSpPr>
            <a:spLocks noGrp="1"/>
          </p:cNvSpPr>
          <p:nvPr>
            <p:ph type="sldNum" sz="quarter" idx="10"/>
          </p:nvPr>
        </p:nvSpPr>
        <p:spPr/>
        <p:txBody>
          <a:bodyPr/>
          <a:lstStyle/>
          <a:p>
            <a:fld id="{6D07F714-B88E-4CFF-B5E1-B125256ADFC8}"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noTextEdit="1"/>
          </p:cNvSpPr>
          <p:nvPr>
            <p:ph type="sldImg"/>
          </p:nvPr>
        </p:nvSpPr>
        <p:spPr/>
      </p:sp>
      <p:sp>
        <p:nvSpPr>
          <p:cNvPr id="35842" name="备注占位符 2"/>
          <p:cNvSpPr>
            <a:spLocks noGrp="1"/>
          </p:cNvSpPr>
          <p:nvPr>
            <p:ph type="body"/>
          </p:nvPr>
        </p:nvSpPr>
        <p:spPr/>
        <p:txBody>
          <a:bodyPr wrap="square" lIns="91440" tIns="45720" rIns="91440" bIns="45720" anchor="t"/>
          <a:lstStyle/>
          <a:p>
            <a:pPr lvl="0"/>
            <a:endParaRPr lang="zh-CN" altLang="en-US" dirty="0"/>
          </a:p>
        </p:txBody>
      </p:sp>
      <p:sp>
        <p:nvSpPr>
          <p:cNvPr id="3584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algn="r" eaLnBrk="1" hangingPunct="1"/>
            <a:fld id="{9A0DB2DC-4C9A-4742-B13C-FB6460FD3503}" type="slidenum">
              <a:rPr lang="en-US" altLang="zh-CN" sz="1200" b="1" dirty="0">
                <a:ea typeface="宋体" panose="02010600030101010101" pitchFamily="2" charset="-122"/>
              </a:rPr>
            </a:fld>
            <a:endParaRPr lang="en-US" altLang="zh-CN" sz="1200" b="1"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noTextEdit="1"/>
          </p:cNvSpPr>
          <p:nvPr>
            <p:ph type="sldImg"/>
          </p:nvPr>
        </p:nvSpPr>
        <p:spPr/>
      </p:sp>
      <p:sp>
        <p:nvSpPr>
          <p:cNvPr id="37890" name="备注占位符 2"/>
          <p:cNvSpPr>
            <a:spLocks noGrp="1"/>
          </p:cNvSpPr>
          <p:nvPr>
            <p:ph type="body"/>
          </p:nvPr>
        </p:nvSpPr>
        <p:spPr/>
        <p:txBody>
          <a:bodyPr wrap="square" lIns="91440" tIns="45720" rIns="91440" bIns="45720" anchor="t"/>
          <a:lstStyle/>
          <a:p>
            <a:pPr lvl="0"/>
            <a:endParaRPr lang="zh-CN" altLang="en-US" dirty="0"/>
          </a:p>
        </p:txBody>
      </p:sp>
      <p:sp>
        <p:nvSpPr>
          <p:cNvPr id="3789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algn="r" eaLnBrk="1" hangingPunct="1"/>
            <a:fld id="{9A0DB2DC-4C9A-4742-B13C-FB6460FD3503}" type="slidenum">
              <a:rPr lang="en-US" altLang="zh-CN" sz="1200" b="1" dirty="0">
                <a:ea typeface="宋体" panose="02010600030101010101" pitchFamily="2" charset="-122"/>
              </a:rPr>
            </a:fld>
            <a:endParaRPr lang="en-US" altLang="zh-CN" sz="1200" b="1"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83EC4BD3-0A1C-49D9-B6D7-19D6EB0E9B14}"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83EC4BD3-0A1C-49D9-B6D7-19D6EB0E9B14}"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83EC4BD3-0A1C-49D9-B6D7-19D6EB0E9B14}" type="slidenum">
              <a:rPr lang="en-US" altLang="zh-CN"/>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83EC4BD3-0A1C-49D9-B6D7-19D6EB0E9B14}" type="slidenum">
              <a:rPr lang="en-US" altLang="zh-CN"/>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83EC4BD3-0A1C-49D9-B6D7-19D6EB0E9B14}" type="slidenum">
              <a:rPr lang="en-US" altLang="zh-CN"/>
            </a:fld>
            <a:endParaRPr lang="en-US" altLang="zh-C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83EC4BD3-0A1C-49D9-B6D7-19D6EB0E9B14}" type="slidenum">
              <a:rPr lang="en-US" altLang="zh-CN"/>
            </a:fld>
            <a:endParaRPr lang="en-US" alt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pn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pn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5.xml"/><Relationship Id="rId13" Type="http://schemas.openxmlformats.org/officeDocument/2006/relationships/image" Target="../media/image1.pn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4" Type="http://schemas.openxmlformats.org/officeDocument/2006/relationships/theme" Target="../theme/theme6.xml"/><Relationship Id="rId13" Type="http://schemas.openxmlformats.org/officeDocument/2006/relationships/image" Target="../media/image1.png"/><Relationship Id="rId12" Type="http://schemas.openxmlformats.org/officeDocument/2006/relationships/slideLayout" Target="../slideLayouts/slideLayout72.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9.wmf"/><Relationship Id="rId7" Type="http://schemas.openxmlformats.org/officeDocument/2006/relationships/oleObject" Target="../embeddings/oleObject4.bin"/><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image" Target="../media/image6.wmf"/><Relationship Id="rId19" Type="http://schemas.openxmlformats.org/officeDocument/2006/relationships/notesSlide" Target="../notesSlides/notesSlide3.xml"/><Relationship Id="rId18" Type="http://schemas.openxmlformats.org/officeDocument/2006/relationships/vmlDrawing" Target="../drawings/vmlDrawing1.vml"/><Relationship Id="rId17" Type="http://schemas.openxmlformats.org/officeDocument/2006/relationships/slideLayout" Target="../slideLayouts/slideLayout2.xml"/><Relationship Id="rId16" Type="http://schemas.openxmlformats.org/officeDocument/2006/relationships/image" Target="../media/image13.wmf"/><Relationship Id="rId15" Type="http://schemas.openxmlformats.org/officeDocument/2006/relationships/oleObject" Target="../embeddings/oleObject8.bin"/><Relationship Id="rId14" Type="http://schemas.openxmlformats.org/officeDocument/2006/relationships/image" Target="../media/image12.wmf"/><Relationship Id="rId13" Type="http://schemas.openxmlformats.org/officeDocument/2006/relationships/oleObject" Target="../embeddings/oleObject7.bin"/><Relationship Id="rId12" Type="http://schemas.openxmlformats.org/officeDocument/2006/relationships/image" Target="../media/image11.wmf"/><Relationship Id="rId11" Type="http://schemas.openxmlformats.org/officeDocument/2006/relationships/oleObject" Target="../embeddings/oleObject6.bin"/><Relationship Id="rId10" Type="http://schemas.openxmlformats.org/officeDocument/2006/relationships/image" Target="../media/image10.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7.wmf"/><Relationship Id="rId7" Type="http://schemas.openxmlformats.org/officeDocument/2006/relationships/oleObject" Target="../embeddings/oleObject12.bin"/><Relationship Id="rId6" Type="http://schemas.openxmlformats.org/officeDocument/2006/relationships/image" Target="../media/image16.wmf"/><Relationship Id="rId5" Type="http://schemas.openxmlformats.org/officeDocument/2006/relationships/oleObject" Target="../embeddings/oleObject11.bin"/><Relationship Id="rId4" Type="http://schemas.openxmlformats.org/officeDocument/2006/relationships/image" Target="../media/image15.wmf"/><Relationship Id="rId39" Type="http://schemas.openxmlformats.org/officeDocument/2006/relationships/notesSlide" Target="../notesSlides/notesSlide4.xml"/><Relationship Id="rId38" Type="http://schemas.openxmlformats.org/officeDocument/2006/relationships/vmlDrawing" Target="../drawings/vmlDrawing2.vml"/><Relationship Id="rId37" Type="http://schemas.openxmlformats.org/officeDocument/2006/relationships/slideLayout" Target="../slideLayouts/slideLayout2.xml"/><Relationship Id="rId36" Type="http://schemas.openxmlformats.org/officeDocument/2006/relationships/image" Target="../media/image32.wmf"/><Relationship Id="rId35" Type="http://schemas.openxmlformats.org/officeDocument/2006/relationships/oleObject" Target="../embeddings/oleObject24.bin"/><Relationship Id="rId34" Type="http://schemas.openxmlformats.org/officeDocument/2006/relationships/image" Target="../media/image31.wmf"/><Relationship Id="rId33" Type="http://schemas.openxmlformats.org/officeDocument/2006/relationships/oleObject" Target="../embeddings/oleObject23.bin"/><Relationship Id="rId32" Type="http://schemas.openxmlformats.org/officeDocument/2006/relationships/image" Target="../media/image30.wmf"/><Relationship Id="rId31" Type="http://schemas.openxmlformats.org/officeDocument/2006/relationships/oleObject" Target="../embeddings/oleObject22.bin"/><Relationship Id="rId30" Type="http://schemas.openxmlformats.org/officeDocument/2006/relationships/image" Target="../media/image29.wmf"/><Relationship Id="rId3" Type="http://schemas.openxmlformats.org/officeDocument/2006/relationships/oleObject" Target="../embeddings/oleObject10.bin"/><Relationship Id="rId29" Type="http://schemas.openxmlformats.org/officeDocument/2006/relationships/oleObject" Target="../embeddings/oleObject21.bin"/><Relationship Id="rId28" Type="http://schemas.openxmlformats.org/officeDocument/2006/relationships/image" Target="../media/image28.wmf"/><Relationship Id="rId27" Type="http://schemas.openxmlformats.org/officeDocument/2006/relationships/oleObject" Target="../embeddings/oleObject20.bin"/><Relationship Id="rId26" Type="http://schemas.openxmlformats.org/officeDocument/2006/relationships/image" Target="../media/image27.wmf"/><Relationship Id="rId25" Type="http://schemas.openxmlformats.org/officeDocument/2006/relationships/oleObject" Target="../embeddings/oleObject19.bin"/><Relationship Id="rId24" Type="http://schemas.openxmlformats.org/officeDocument/2006/relationships/image" Target="../media/image26.wmf"/><Relationship Id="rId23" Type="http://schemas.openxmlformats.org/officeDocument/2006/relationships/oleObject" Target="../embeddings/oleObject18.bin"/><Relationship Id="rId22" Type="http://schemas.openxmlformats.org/officeDocument/2006/relationships/image" Target="../media/image25.wmf"/><Relationship Id="rId21" Type="http://schemas.openxmlformats.org/officeDocument/2006/relationships/oleObject" Target="../embeddings/oleObject17.bin"/><Relationship Id="rId20" Type="http://schemas.openxmlformats.org/officeDocument/2006/relationships/image" Target="../media/image24.wmf"/><Relationship Id="rId2" Type="http://schemas.openxmlformats.org/officeDocument/2006/relationships/image" Target="../media/image14.wmf"/><Relationship Id="rId19" Type="http://schemas.openxmlformats.org/officeDocument/2006/relationships/oleObject" Target="../embeddings/oleObject16.bin"/><Relationship Id="rId18" Type="http://schemas.openxmlformats.org/officeDocument/2006/relationships/image" Target="../media/image23.jpeg"/><Relationship Id="rId17" Type="http://schemas.openxmlformats.org/officeDocument/2006/relationships/image" Target="../media/image3.jpeg"/><Relationship Id="rId16" Type="http://schemas.openxmlformats.org/officeDocument/2006/relationships/image" Target="../media/image22.jpeg"/><Relationship Id="rId15" Type="http://schemas.openxmlformats.org/officeDocument/2006/relationships/image" Target="../media/image21.jpeg"/><Relationship Id="rId14" Type="http://schemas.openxmlformats.org/officeDocument/2006/relationships/image" Target="../media/image20.wmf"/><Relationship Id="rId13" Type="http://schemas.openxmlformats.org/officeDocument/2006/relationships/oleObject" Target="../embeddings/oleObject15.bin"/><Relationship Id="rId12" Type="http://schemas.openxmlformats.org/officeDocument/2006/relationships/image" Target="../media/image19.wmf"/><Relationship Id="rId11" Type="http://schemas.openxmlformats.org/officeDocument/2006/relationships/oleObject" Target="../embeddings/oleObject14.bin"/><Relationship Id="rId10" Type="http://schemas.openxmlformats.org/officeDocument/2006/relationships/image" Target="../media/image18.wmf"/><Relationship Id="rId1"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6.wmf"/><Relationship Id="rId7" Type="http://schemas.openxmlformats.org/officeDocument/2006/relationships/oleObject" Target="../embeddings/oleObject28.bin"/><Relationship Id="rId6" Type="http://schemas.openxmlformats.org/officeDocument/2006/relationships/image" Target="../media/image35.wmf"/><Relationship Id="rId5" Type="http://schemas.openxmlformats.org/officeDocument/2006/relationships/oleObject" Target="../embeddings/oleObject27.bin"/><Relationship Id="rId4" Type="http://schemas.openxmlformats.org/officeDocument/2006/relationships/image" Target="../media/image34.wmf"/><Relationship Id="rId3" Type="http://schemas.openxmlformats.org/officeDocument/2006/relationships/oleObject" Target="../embeddings/oleObject26.bin"/><Relationship Id="rId2" Type="http://schemas.openxmlformats.org/officeDocument/2006/relationships/image" Target="../media/image33.wmf"/><Relationship Id="rId11" Type="http://schemas.openxmlformats.org/officeDocument/2006/relationships/notesSlide" Target="../notesSlides/notesSlide6.xml"/><Relationship Id="rId10" Type="http://schemas.openxmlformats.org/officeDocument/2006/relationships/vmlDrawing" Target="../drawings/vmlDrawing3.vml"/><Relationship Id="rId1" Type="http://schemas.openxmlformats.org/officeDocument/2006/relationships/oleObject" Target="../embeddings/oleObject25.bin"/></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7.xml"/><Relationship Id="rId6" Type="http://schemas.openxmlformats.org/officeDocument/2006/relationships/image" Target="../media/image39.wmf"/><Relationship Id="rId5" Type="http://schemas.openxmlformats.org/officeDocument/2006/relationships/oleObject" Target="../embeddings/oleObject31.bin"/><Relationship Id="rId4" Type="http://schemas.openxmlformats.org/officeDocument/2006/relationships/image" Target="../media/image38.wmf"/><Relationship Id="rId3" Type="http://schemas.openxmlformats.org/officeDocument/2006/relationships/oleObject" Target="../embeddings/oleObject30.bin"/><Relationship Id="rId2" Type="http://schemas.openxmlformats.org/officeDocument/2006/relationships/image" Target="../media/image37.wmf"/><Relationship Id="rId1" Type="http://schemas.openxmlformats.org/officeDocument/2006/relationships/oleObject" Target="../embeddings/oleObject29.bin"/></Relationships>
</file>

<file path=ppt/slides/_rels/slide10.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slideLayout" Target="../slideLayouts/slideLayout7.xml"/><Relationship Id="rId18" Type="http://schemas.openxmlformats.org/officeDocument/2006/relationships/tags" Target="../tags/tag17.xml"/><Relationship Id="rId17" Type="http://schemas.openxmlformats.org/officeDocument/2006/relationships/image" Target="../media/image40.pn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0" Type="http://schemas.openxmlformats.org/officeDocument/2006/relationships/notesSlide" Target="../notesSlides/notesSlide7.xml"/><Relationship Id="rId2" Type="http://schemas.openxmlformats.org/officeDocument/2006/relationships/tags" Target="../tags/tag19.xml"/><Relationship Id="rId19" Type="http://schemas.openxmlformats.org/officeDocument/2006/relationships/slideLayout" Target="../slideLayouts/slideLayout55.xml"/><Relationship Id="rId18" Type="http://schemas.openxmlformats.org/officeDocument/2006/relationships/tags" Target="../tags/tag34.xml"/><Relationship Id="rId17" Type="http://schemas.openxmlformats.org/officeDocument/2006/relationships/image" Target="../media/image40.png"/><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41.wmf"/><Relationship Id="rId1" Type="http://schemas.openxmlformats.org/officeDocument/2006/relationships/oleObject" Target="../embeddings/oleObject32.bin"/></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35.bin"/><Relationship Id="rId4" Type="http://schemas.openxmlformats.org/officeDocument/2006/relationships/image" Target="../media/image43.wmf"/><Relationship Id="rId3" Type="http://schemas.openxmlformats.org/officeDocument/2006/relationships/oleObject" Target="../embeddings/oleObject34.bin"/><Relationship Id="rId2" Type="http://schemas.openxmlformats.org/officeDocument/2006/relationships/image" Target="../media/image42.wmf"/><Relationship Id="rId1" Type="http://schemas.openxmlformats.org/officeDocument/2006/relationships/oleObject" Target="../embeddings/oleObject33.bin"/></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 Target="slide2.xml"/></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38.bin"/><Relationship Id="rId8" Type="http://schemas.openxmlformats.org/officeDocument/2006/relationships/image" Target="../media/image50.wmf"/><Relationship Id="rId7" Type="http://schemas.openxmlformats.org/officeDocument/2006/relationships/oleObject" Target="../embeddings/oleObject37.bin"/><Relationship Id="rId6" Type="http://schemas.openxmlformats.org/officeDocument/2006/relationships/image" Target="../media/image49.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slide" Target="slide2.xml"/><Relationship Id="rId2" Type="http://schemas.openxmlformats.org/officeDocument/2006/relationships/image" Target="../media/image48.wmf"/><Relationship Id="rId18" Type="http://schemas.openxmlformats.org/officeDocument/2006/relationships/vmlDrawing" Target="../drawings/vmlDrawing7.vml"/><Relationship Id="rId17" Type="http://schemas.openxmlformats.org/officeDocument/2006/relationships/slideLayout" Target="../slideLayouts/slideLayout7.xml"/><Relationship Id="rId16" Type="http://schemas.openxmlformats.org/officeDocument/2006/relationships/image" Target="../media/image54.wmf"/><Relationship Id="rId15" Type="http://schemas.openxmlformats.org/officeDocument/2006/relationships/oleObject" Target="../embeddings/oleObject41.bin"/><Relationship Id="rId14" Type="http://schemas.openxmlformats.org/officeDocument/2006/relationships/image" Target="../media/image53.wmf"/><Relationship Id="rId13" Type="http://schemas.openxmlformats.org/officeDocument/2006/relationships/oleObject" Target="../embeddings/oleObject40.bin"/><Relationship Id="rId12" Type="http://schemas.openxmlformats.org/officeDocument/2006/relationships/image" Target="../media/image52.wmf"/><Relationship Id="rId11" Type="http://schemas.openxmlformats.org/officeDocument/2006/relationships/oleObject" Target="../embeddings/oleObject39.bin"/><Relationship Id="rId10" Type="http://schemas.openxmlformats.org/officeDocument/2006/relationships/image" Target="../media/image51.wmf"/><Relationship Id="rId1" Type="http://schemas.openxmlformats.org/officeDocument/2006/relationships/oleObject" Target="../embeddings/oleObject36.bin"/></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image" Target="../media/image59.png"/><Relationship Id="rId7" Type="http://schemas.openxmlformats.org/officeDocument/2006/relationships/image" Target="../media/image58.png"/><Relationship Id="rId6" Type="http://schemas.openxmlformats.org/officeDocument/2006/relationships/image" Target="../media/image57.wmf"/><Relationship Id="rId5" Type="http://schemas.openxmlformats.org/officeDocument/2006/relationships/oleObject" Target="../embeddings/oleObject43.bin"/><Relationship Id="rId4" Type="http://schemas.openxmlformats.org/officeDocument/2006/relationships/image" Target="../media/image56.png"/><Relationship Id="rId3" Type="http://schemas.openxmlformats.org/officeDocument/2006/relationships/tags" Target="../tags/tag35.xml"/><Relationship Id="rId2" Type="http://schemas.openxmlformats.org/officeDocument/2006/relationships/image" Target="../media/image55.emf"/><Relationship Id="rId10" Type="http://schemas.openxmlformats.org/officeDocument/2006/relationships/vmlDrawing" Target="../drawings/vmlDrawing8.vml"/><Relationship Id="rId1" Type="http://schemas.openxmlformats.org/officeDocument/2006/relationships/oleObject" Target="../embeddings/oleObject42.bin"/></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2.png"/><Relationship Id="rId7" Type="http://schemas.openxmlformats.org/officeDocument/2006/relationships/image" Target="../media/image46.png"/><Relationship Id="rId6" Type="http://schemas.openxmlformats.org/officeDocument/2006/relationships/image" Target="../media/image49.png"/><Relationship Id="rId5" Type="http://schemas.openxmlformats.org/officeDocument/2006/relationships/image" Target="../media/image45.png"/><Relationship Id="rId4" Type="http://schemas.openxmlformats.org/officeDocument/2006/relationships/slide" Target="slide2.xml"/><Relationship Id="rId3" Type="http://schemas.openxmlformats.org/officeDocument/2006/relationships/image" Target="../media/image61.wmf"/><Relationship Id="rId2" Type="http://schemas.openxmlformats.org/officeDocument/2006/relationships/oleObject" Target="../embeddings/oleObject44.bin"/><Relationship Id="rId10" Type="http://schemas.openxmlformats.org/officeDocument/2006/relationships/vmlDrawing" Target="../drawings/vmlDrawing9.vml"/><Relationship Id="rId1" Type="http://schemas.openxmlformats.org/officeDocument/2006/relationships/image" Target="../media/image60.png"/></Relationships>
</file>

<file path=ppt/slides/_rels/slide18.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tags" Target="../tags/tag36.xml"/><Relationship Id="rId7" Type="http://schemas.openxmlformats.org/officeDocument/2006/relationships/image" Target="../media/image63.emf"/><Relationship Id="rId6" Type="http://schemas.openxmlformats.org/officeDocument/2006/relationships/oleObject" Target="../embeddings/oleObject45.bin"/><Relationship Id="rId5" Type="http://schemas.openxmlformats.org/officeDocument/2006/relationships/image" Target="../media/image62.png"/><Relationship Id="rId4" Type="http://schemas.openxmlformats.org/officeDocument/2006/relationships/image" Target="../media/image46.png"/><Relationship Id="rId3" Type="http://schemas.openxmlformats.org/officeDocument/2006/relationships/image" Target="../media/image49.png"/><Relationship Id="rId2" Type="http://schemas.openxmlformats.org/officeDocument/2006/relationships/image" Target="../media/image45.png"/><Relationship Id="rId14" Type="http://schemas.openxmlformats.org/officeDocument/2006/relationships/vmlDrawing" Target="../drawings/vmlDrawing10.vml"/><Relationship Id="rId13" Type="http://schemas.openxmlformats.org/officeDocument/2006/relationships/slideLayout" Target="../slideLayouts/slideLayout7.xml"/><Relationship Id="rId12" Type="http://schemas.openxmlformats.org/officeDocument/2006/relationships/image" Target="../media/image61.wmf"/><Relationship Id="rId11" Type="http://schemas.openxmlformats.org/officeDocument/2006/relationships/oleObject" Target="../embeddings/oleObject46.bin"/><Relationship Id="rId10" Type="http://schemas.openxmlformats.org/officeDocument/2006/relationships/tags" Target="../tags/tag37.xml"/><Relationship Id="rId1" Type="http://schemas.openxmlformats.org/officeDocument/2006/relationships/slide" Target="slide2.xml"/></Relationships>
</file>

<file path=ppt/slides/_rels/slide19.xml.rels><?xml version="1.0" encoding="UTF-8" standalone="yes"?>
<Relationships xmlns="http://schemas.openxmlformats.org/package/2006/relationships"><Relationship Id="rId9" Type="http://schemas.openxmlformats.org/officeDocument/2006/relationships/image" Target="../media/image67.emf"/><Relationship Id="rId8" Type="http://schemas.openxmlformats.org/officeDocument/2006/relationships/oleObject" Target="../embeddings/oleObject50.bin"/><Relationship Id="rId7" Type="http://schemas.openxmlformats.org/officeDocument/2006/relationships/image" Target="../media/image66.emf"/><Relationship Id="rId6" Type="http://schemas.openxmlformats.org/officeDocument/2006/relationships/oleObject" Target="../embeddings/oleObject49.bin"/><Relationship Id="rId5" Type="http://schemas.openxmlformats.org/officeDocument/2006/relationships/image" Target="../media/image62.png"/><Relationship Id="rId4" Type="http://schemas.openxmlformats.org/officeDocument/2006/relationships/image" Target="../media/image65.emf"/><Relationship Id="rId3" Type="http://schemas.openxmlformats.org/officeDocument/2006/relationships/oleObject" Target="../embeddings/oleObject48.bin"/><Relationship Id="rId2" Type="http://schemas.openxmlformats.org/officeDocument/2006/relationships/image" Target="../media/image64.emf"/><Relationship Id="rId16" Type="http://schemas.openxmlformats.org/officeDocument/2006/relationships/notesSlide" Target="../notesSlides/notesSlide10.xml"/><Relationship Id="rId15" Type="http://schemas.openxmlformats.org/officeDocument/2006/relationships/vmlDrawing" Target="../drawings/vmlDrawing11.vml"/><Relationship Id="rId14" Type="http://schemas.openxmlformats.org/officeDocument/2006/relationships/slideLayout" Target="../slideLayouts/slideLayout7.xml"/><Relationship Id="rId13" Type="http://schemas.openxmlformats.org/officeDocument/2006/relationships/image" Target="../media/image69.wmf"/><Relationship Id="rId12" Type="http://schemas.openxmlformats.org/officeDocument/2006/relationships/oleObject" Target="../embeddings/oleObject52.bin"/><Relationship Id="rId11" Type="http://schemas.openxmlformats.org/officeDocument/2006/relationships/image" Target="../media/image68.wmf"/><Relationship Id="rId10" Type="http://schemas.openxmlformats.org/officeDocument/2006/relationships/oleObject" Target="../embeddings/oleObject51.bin"/><Relationship Id="rId1" Type="http://schemas.openxmlformats.org/officeDocument/2006/relationships/oleObject" Target="../embeddings/oleObject47.bin"/></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vmlDrawing" Target="../drawings/vmlDrawing12.vml"/><Relationship Id="rId4" Type="http://schemas.openxmlformats.org/officeDocument/2006/relationships/slideLayout" Target="../slideLayouts/slideLayout7.xml"/><Relationship Id="rId3" Type="http://schemas.openxmlformats.org/officeDocument/2006/relationships/image" Target="../media/image71.emf"/><Relationship Id="rId2" Type="http://schemas.openxmlformats.org/officeDocument/2006/relationships/oleObject" Target="../embeddings/oleObject53.bin"/><Relationship Id="rId1" Type="http://schemas.openxmlformats.org/officeDocument/2006/relationships/image" Target="../media/image70.jpeg"/></Relationships>
</file>

<file path=ppt/slides/_rels/slide21.xml.rels><?xml version="1.0" encoding="UTF-8" standalone="yes"?>
<Relationships xmlns="http://schemas.openxmlformats.org/package/2006/relationships"><Relationship Id="rId9" Type="http://schemas.openxmlformats.org/officeDocument/2006/relationships/image" Target="../media/image74.wmf"/><Relationship Id="rId8" Type="http://schemas.openxmlformats.org/officeDocument/2006/relationships/oleObject" Target="../embeddings/oleObject56.bin"/><Relationship Id="rId7" Type="http://schemas.openxmlformats.org/officeDocument/2006/relationships/image" Target="../media/image73.wmf"/><Relationship Id="rId6" Type="http://schemas.openxmlformats.org/officeDocument/2006/relationships/oleObject" Target="../embeddings/oleObject55.bin"/><Relationship Id="rId5" Type="http://schemas.openxmlformats.org/officeDocument/2006/relationships/image" Target="../media/image49.png"/><Relationship Id="rId4" Type="http://schemas.openxmlformats.org/officeDocument/2006/relationships/image" Target="../media/image45.png"/><Relationship Id="rId3" Type="http://schemas.openxmlformats.org/officeDocument/2006/relationships/slide" Target="slide2.xml"/><Relationship Id="rId2" Type="http://schemas.openxmlformats.org/officeDocument/2006/relationships/image" Target="../media/image72.wmf"/><Relationship Id="rId17" Type="http://schemas.openxmlformats.org/officeDocument/2006/relationships/vmlDrawing" Target="../drawings/vmlDrawing13.vml"/><Relationship Id="rId16" Type="http://schemas.openxmlformats.org/officeDocument/2006/relationships/slideLayout" Target="../slideLayouts/slideLayout2.xml"/><Relationship Id="rId15" Type="http://schemas.openxmlformats.org/officeDocument/2006/relationships/image" Target="../media/image77.wmf"/><Relationship Id="rId14" Type="http://schemas.openxmlformats.org/officeDocument/2006/relationships/oleObject" Target="../embeddings/oleObject59.bin"/><Relationship Id="rId13" Type="http://schemas.openxmlformats.org/officeDocument/2006/relationships/image" Target="../media/image76.wmf"/><Relationship Id="rId12" Type="http://schemas.openxmlformats.org/officeDocument/2006/relationships/oleObject" Target="../embeddings/oleObject58.bin"/><Relationship Id="rId11" Type="http://schemas.openxmlformats.org/officeDocument/2006/relationships/image" Target="../media/image75.wmf"/><Relationship Id="rId10" Type="http://schemas.openxmlformats.org/officeDocument/2006/relationships/oleObject" Target="../embeddings/oleObject57.bin"/><Relationship Id="rId1" Type="http://schemas.openxmlformats.org/officeDocument/2006/relationships/oleObject" Target="../embeddings/oleObject54.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78.wmf"/><Relationship Id="rId1" Type="http://schemas.openxmlformats.org/officeDocument/2006/relationships/oleObject" Target="../embeddings/oleObject60.bin"/></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38.xml"/><Relationship Id="rId4" Type="http://schemas.openxmlformats.org/officeDocument/2006/relationships/image" Target="../media/image79.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 Target="slide2.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80.wmf"/><Relationship Id="rId1" Type="http://schemas.openxmlformats.org/officeDocument/2006/relationships/oleObject" Target="../embeddings/oleObject61.bin"/></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82.png"/><Relationship Id="rId1" Type="http://schemas.openxmlformats.org/officeDocument/2006/relationships/image" Target="../media/image81.jpeg"/></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7.wmf"/><Relationship Id="rId7" Type="http://schemas.openxmlformats.org/officeDocument/2006/relationships/oleObject" Target="../embeddings/oleObject64.bin"/><Relationship Id="rId6" Type="http://schemas.openxmlformats.org/officeDocument/2006/relationships/image" Target="../media/image86.wmf"/><Relationship Id="rId5" Type="http://schemas.openxmlformats.org/officeDocument/2006/relationships/oleObject" Target="../embeddings/oleObject63.bin"/><Relationship Id="rId4" Type="http://schemas.openxmlformats.org/officeDocument/2006/relationships/image" Target="../media/image85.wmf"/><Relationship Id="rId3" Type="http://schemas.openxmlformats.org/officeDocument/2006/relationships/oleObject" Target="../embeddings/oleObject62.bin"/><Relationship Id="rId2" Type="http://schemas.openxmlformats.org/officeDocument/2006/relationships/image" Target="../media/image84.png"/><Relationship Id="rId10" Type="http://schemas.openxmlformats.org/officeDocument/2006/relationships/vmlDrawing" Target="../drawings/vmlDrawing16.vml"/><Relationship Id="rId1" Type="http://schemas.openxmlformats.org/officeDocument/2006/relationships/image" Target="../media/image83.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9.png"/><Relationship Id="rId1" Type="http://schemas.openxmlformats.org/officeDocument/2006/relationships/image" Target="../media/image88.jpeg"/></Relationships>
</file>

<file path=ppt/slides/_rels/slide28.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8" Type="http://schemas.openxmlformats.org/officeDocument/2006/relationships/slideLayout" Target="../slideLayouts/slideLayout7.xml"/><Relationship Id="rId17" Type="http://schemas.openxmlformats.org/officeDocument/2006/relationships/tags" Target="../tags/tag53.xml"/><Relationship Id="rId16" Type="http://schemas.openxmlformats.org/officeDocument/2006/relationships/image" Target="../media/image90.png"/><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38.xml"/></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vmlDrawing" Target="../drawings/vmlDrawing17.vml"/><Relationship Id="rId7" Type="http://schemas.openxmlformats.org/officeDocument/2006/relationships/slideLayout" Target="../slideLayouts/slideLayout2.xml"/><Relationship Id="rId6" Type="http://schemas.openxmlformats.org/officeDocument/2006/relationships/image" Target="../media/image92.jpe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slide" Target="slide2.xml"/><Relationship Id="rId2" Type="http://schemas.openxmlformats.org/officeDocument/2006/relationships/image" Target="../media/image91.emf"/><Relationship Id="rId1" Type="http://schemas.openxmlformats.org/officeDocument/2006/relationships/oleObject" Target="../embeddings/oleObject65.bin"/></Relationships>
</file>

<file path=ppt/slides/_rels/slide30.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9.png"/><Relationship Id="rId7" Type="http://schemas.openxmlformats.org/officeDocument/2006/relationships/image" Target="../media/image45.png"/><Relationship Id="rId6" Type="http://schemas.openxmlformats.org/officeDocument/2006/relationships/slide" Target="slide2.xml"/><Relationship Id="rId5" Type="http://schemas.openxmlformats.org/officeDocument/2006/relationships/image" Target="../media/image94.wmf"/><Relationship Id="rId4" Type="http://schemas.openxmlformats.org/officeDocument/2006/relationships/oleObject" Target="../embeddings/oleObject67.bin"/><Relationship Id="rId3" Type="http://schemas.openxmlformats.org/officeDocument/2006/relationships/image" Target="../media/image93.emf"/><Relationship Id="rId2" Type="http://schemas.openxmlformats.org/officeDocument/2006/relationships/oleObject" Target="../embeddings/oleObject66.bin"/><Relationship Id="rId16" Type="http://schemas.openxmlformats.org/officeDocument/2006/relationships/vmlDrawing" Target="../drawings/vmlDrawing18.vml"/><Relationship Id="rId15" Type="http://schemas.openxmlformats.org/officeDocument/2006/relationships/slideLayout" Target="../slideLayouts/slideLayout2.xml"/><Relationship Id="rId14" Type="http://schemas.openxmlformats.org/officeDocument/2006/relationships/image" Target="../media/image97.wmf"/><Relationship Id="rId13" Type="http://schemas.openxmlformats.org/officeDocument/2006/relationships/oleObject" Target="../embeddings/oleObject69.bin"/><Relationship Id="rId12" Type="http://schemas.openxmlformats.org/officeDocument/2006/relationships/image" Target="../media/image96.wmf"/><Relationship Id="rId11" Type="http://schemas.openxmlformats.org/officeDocument/2006/relationships/oleObject" Target="../embeddings/oleObject68.bin"/><Relationship Id="rId10" Type="http://schemas.openxmlformats.org/officeDocument/2006/relationships/image" Target="../media/image95.jpeg"/><Relationship Id="rId1" Type="http://schemas.openxmlformats.org/officeDocument/2006/relationships/image" Target="../media/image6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9.png"/><Relationship Id="rId1" Type="http://schemas.openxmlformats.org/officeDocument/2006/relationships/image" Target="../media/image9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9" Type="http://schemas.openxmlformats.org/officeDocument/2006/relationships/image" Target="../media/image104.png"/><Relationship Id="rId8" Type="http://schemas.openxmlformats.org/officeDocument/2006/relationships/image" Target="../media/image103.wmf"/><Relationship Id="rId7" Type="http://schemas.openxmlformats.org/officeDocument/2006/relationships/oleObject" Target="../embeddings/oleObject72.bin"/><Relationship Id="rId6" Type="http://schemas.openxmlformats.org/officeDocument/2006/relationships/image" Target="../media/image102.jpeg"/><Relationship Id="rId5" Type="http://schemas.openxmlformats.org/officeDocument/2006/relationships/image" Target="../media/image101.wmf"/><Relationship Id="rId4" Type="http://schemas.openxmlformats.org/officeDocument/2006/relationships/oleObject" Target="../embeddings/oleObject71.bin"/><Relationship Id="rId3" Type="http://schemas.openxmlformats.org/officeDocument/2006/relationships/image" Target="../media/image100.wmf"/><Relationship Id="rId2" Type="http://schemas.openxmlformats.org/officeDocument/2006/relationships/oleObject" Target="../embeddings/oleObject70.bin"/><Relationship Id="rId12" Type="http://schemas.openxmlformats.org/officeDocument/2006/relationships/notesSlide" Target="../notesSlides/notesSlide14.xml"/><Relationship Id="rId11" Type="http://schemas.openxmlformats.org/officeDocument/2006/relationships/vmlDrawing" Target="../drawings/vmlDrawing19.vml"/><Relationship Id="rId10" Type="http://schemas.openxmlformats.org/officeDocument/2006/relationships/slideLayout" Target="../slideLayouts/slideLayout2.xml"/><Relationship Id="rId1" Type="http://schemas.openxmlformats.org/officeDocument/2006/relationships/image" Target="../media/image46.png"/></Relationships>
</file>

<file path=ppt/slides/_rels/slide34.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image" Target="../media/image109.png"/><Relationship Id="rId7" Type="http://schemas.openxmlformats.org/officeDocument/2006/relationships/image" Target="../media/image108.jpeg"/><Relationship Id="rId6" Type="http://schemas.openxmlformats.org/officeDocument/2006/relationships/image" Target="../media/image107.wmf"/><Relationship Id="rId5" Type="http://schemas.openxmlformats.org/officeDocument/2006/relationships/oleObject" Target="../embeddings/oleObject74.bin"/><Relationship Id="rId4" Type="http://schemas.openxmlformats.org/officeDocument/2006/relationships/image" Target="../media/image106.wmf"/><Relationship Id="rId3" Type="http://schemas.openxmlformats.org/officeDocument/2006/relationships/oleObject" Target="../embeddings/oleObject73.bin"/><Relationship Id="rId2" Type="http://schemas.openxmlformats.org/officeDocument/2006/relationships/image" Target="../media/image105.png"/><Relationship Id="rId16" Type="http://schemas.openxmlformats.org/officeDocument/2006/relationships/notesSlide" Target="../notesSlides/notesSlide15.xml"/><Relationship Id="rId15" Type="http://schemas.openxmlformats.org/officeDocument/2006/relationships/vmlDrawing" Target="../drawings/vmlDrawing20.vml"/><Relationship Id="rId14" Type="http://schemas.openxmlformats.org/officeDocument/2006/relationships/slideLayout" Target="../slideLayouts/slideLayout2.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image" Target="../media/image110.wmf"/><Relationship Id="rId10" Type="http://schemas.openxmlformats.org/officeDocument/2006/relationships/oleObject" Target="../embeddings/oleObject75.bin"/><Relationship Id="rId1" Type="http://schemas.openxmlformats.org/officeDocument/2006/relationships/image" Target="../media/image46.png"/></Relationships>
</file>

<file path=ppt/slides/_rels/slide35.xml.rels><?xml version="1.0" encoding="UTF-8" standalone="yes"?>
<Relationships xmlns="http://schemas.openxmlformats.org/package/2006/relationships"><Relationship Id="rId9" Type="http://schemas.openxmlformats.org/officeDocument/2006/relationships/vmlDrawing" Target="../drawings/vmlDrawing21.vml"/><Relationship Id="rId8" Type="http://schemas.openxmlformats.org/officeDocument/2006/relationships/slideLayout" Target="../slideLayouts/slideLayout2.xml"/><Relationship Id="rId7" Type="http://schemas.openxmlformats.org/officeDocument/2006/relationships/slide" Target="slide30.xml"/><Relationship Id="rId6" Type="http://schemas.openxmlformats.org/officeDocument/2006/relationships/image" Target="../media/image114.wmf"/><Relationship Id="rId5" Type="http://schemas.openxmlformats.org/officeDocument/2006/relationships/oleObject" Target="../embeddings/oleObject77.bin"/><Relationship Id="rId4" Type="http://schemas.openxmlformats.org/officeDocument/2006/relationships/image" Target="../media/image113.png"/><Relationship Id="rId3" Type="http://schemas.openxmlformats.org/officeDocument/2006/relationships/image" Target="../media/image112.wmf"/><Relationship Id="rId2" Type="http://schemas.openxmlformats.org/officeDocument/2006/relationships/oleObject" Target="../embeddings/oleObject76.bin"/><Relationship Id="rId1" Type="http://schemas.openxmlformats.org/officeDocument/2006/relationships/image" Target="../media/image111.png"/></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2.xml"/><Relationship Id="rId6" Type="http://schemas.openxmlformats.org/officeDocument/2006/relationships/image" Target="../media/image117.wmf"/><Relationship Id="rId5" Type="http://schemas.openxmlformats.org/officeDocument/2006/relationships/oleObject" Target="../embeddings/oleObject80.bin"/><Relationship Id="rId4" Type="http://schemas.openxmlformats.org/officeDocument/2006/relationships/image" Target="../media/image116.wmf"/><Relationship Id="rId3" Type="http://schemas.openxmlformats.org/officeDocument/2006/relationships/oleObject" Target="../embeddings/oleObject79.bin"/><Relationship Id="rId2" Type="http://schemas.openxmlformats.org/officeDocument/2006/relationships/image" Target="../media/image115.wmf"/><Relationship Id="rId1" Type="http://schemas.openxmlformats.org/officeDocument/2006/relationships/oleObject" Target="../embeddings/oleObject78.bin"/></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14.xml"/><Relationship Id="rId2" Type="http://schemas.openxmlformats.org/officeDocument/2006/relationships/image" Target="../media/image118.wmf"/><Relationship Id="rId1" Type="http://schemas.openxmlformats.org/officeDocument/2006/relationships/oleObject" Target="../embeddings/oleObject81.bin"/></Relationships>
</file>

<file path=ppt/slides/_rels/slide38.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46.png"/><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 Target="slide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14.xml"/><Relationship Id="rId5" Type="http://schemas.openxmlformats.org/officeDocument/2006/relationships/image" Target="../media/image122.png"/><Relationship Id="rId4" Type="http://schemas.openxmlformats.org/officeDocument/2006/relationships/image" Target="../media/image46.png"/><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 Target="slide2.xml"/></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14.xml"/><Relationship Id="rId7" Type="http://schemas.openxmlformats.org/officeDocument/2006/relationships/image" Target="../media/image125.png"/><Relationship Id="rId6" Type="http://schemas.openxmlformats.org/officeDocument/2006/relationships/image" Target="../media/image124.jpeg"/><Relationship Id="rId5" Type="http://schemas.openxmlformats.org/officeDocument/2006/relationships/image" Target="../media/image123.png"/><Relationship Id="rId4" Type="http://schemas.openxmlformats.org/officeDocument/2006/relationships/image" Target="../media/image46.png"/><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 Target="slide2.xml"/></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14.xml"/><Relationship Id="rId7" Type="http://schemas.openxmlformats.org/officeDocument/2006/relationships/image" Target="../media/image127.png"/><Relationship Id="rId6" Type="http://schemas.openxmlformats.org/officeDocument/2006/relationships/image" Target="../media/image124.jpeg"/><Relationship Id="rId5" Type="http://schemas.openxmlformats.org/officeDocument/2006/relationships/image" Target="../media/image126.png"/><Relationship Id="rId4" Type="http://schemas.openxmlformats.org/officeDocument/2006/relationships/image" Target="../media/image46.png"/><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 Target="slide2.xml"/></Relationships>
</file>

<file path=ppt/slides/_rels/slide44.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46.png"/><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 Target="slide2.xml"/></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7.xml"/><Relationship Id="rId4" Type="http://schemas.openxmlformats.org/officeDocument/2006/relationships/image" Target="../media/image131.wmf"/><Relationship Id="rId3" Type="http://schemas.openxmlformats.org/officeDocument/2006/relationships/oleObject" Target="../embeddings/oleObject83.bin"/><Relationship Id="rId2" Type="http://schemas.openxmlformats.org/officeDocument/2006/relationships/image" Target="../media/image130.wmf"/><Relationship Id="rId1" Type="http://schemas.openxmlformats.org/officeDocument/2006/relationships/oleObject" Target="../embeddings/oleObject82.bin"/></Relationships>
</file>

<file path=ppt/slides/_rels/slide4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6.png"/><Relationship Id="rId7" Type="http://schemas.openxmlformats.org/officeDocument/2006/relationships/image" Target="../media/image49.png"/><Relationship Id="rId6" Type="http://schemas.openxmlformats.org/officeDocument/2006/relationships/image" Target="../media/image45.png"/><Relationship Id="rId5" Type="http://schemas.openxmlformats.org/officeDocument/2006/relationships/slide" Target="slide2.xml"/><Relationship Id="rId4" Type="http://schemas.openxmlformats.org/officeDocument/2006/relationships/image" Target="../media/image134.jpeg"/><Relationship Id="rId3" Type="http://schemas.openxmlformats.org/officeDocument/2006/relationships/image" Target="../media/image133.emf"/><Relationship Id="rId2" Type="http://schemas.openxmlformats.org/officeDocument/2006/relationships/oleObject" Target="../embeddings/oleObject84.bin"/><Relationship Id="rId10" Type="http://schemas.openxmlformats.org/officeDocument/2006/relationships/vmlDrawing" Target="../drawings/vmlDrawing25.vml"/><Relationship Id="rId1" Type="http://schemas.openxmlformats.org/officeDocument/2006/relationships/image" Target="../media/image132.jpeg"/></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38.wmf"/><Relationship Id="rId7" Type="http://schemas.openxmlformats.org/officeDocument/2006/relationships/oleObject" Target="../embeddings/oleObject88.bin"/><Relationship Id="rId6" Type="http://schemas.openxmlformats.org/officeDocument/2006/relationships/image" Target="../media/image137.wmf"/><Relationship Id="rId5" Type="http://schemas.openxmlformats.org/officeDocument/2006/relationships/oleObject" Target="../embeddings/oleObject87.bin"/><Relationship Id="rId4" Type="http://schemas.openxmlformats.org/officeDocument/2006/relationships/image" Target="../media/image136.wmf"/><Relationship Id="rId3" Type="http://schemas.openxmlformats.org/officeDocument/2006/relationships/oleObject" Target="../embeddings/oleObject86.bin"/><Relationship Id="rId2" Type="http://schemas.openxmlformats.org/officeDocument/2006/relationships/image" Target="../media/image135.wmf"/><Relationship Id="rId10" Type="http://schemas.openxmlformats.org/officeDocument/2006/relationships/vmlDrawing" Target="../drawings/vmlDrawing26.vml"/><Relationship Id="rId1" Type="http://schemas.openxmlformats.org/officeDocument/2006/relationships/oleObject" Target="../embeddings/oleObject85.bin"/></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0.jpeg"/><Relationship Id="rId1" Type="http://schemas.openxmlformats.org/officeDocument/2006/relationships/image" Target="../media/image139.png"/></Relationships>
</file>

<file path=ppt/slides/_rels/slide49.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2.xml"/><Relationship Id="rId7" Type="http://schemas.openxmlformats.org/officeDocument/2006/relationships/image" Target="../media/image142.png"/><Relationship Id="rId6" Type="http://schemas.openxmlformats.org/officeDocument/2006/relationships/image" Target="../media/image140.jpeg"/><Relationship Id="rId5" Type="http://schemas.openxmlformats.org/officeDocument/2006/relationships/image" Target="../media/image141.png"/><Relationship Id="rId4" Type="http://schemas.openxmlformats.org/officeDocument/2006/relationships/image" Target="../media/image46.png"/><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 Target="slide2.xml"/></Relationships>
</file>

<file path=ppt/slides/_rels/slide50.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2.xml"/><Relationship Id="rId7" Type="http://schemas.openxmlformats.org/officeDocument/2006/relationships/image" Target="../media/image145.png"/><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46.png"/><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 Target="slide2.xml"/></Relationships>
</file>

<file path=ppt/slides/_rels/slide51.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92.bin"/><Relationship Id="rId7" Type="http://schemas.openxmlformats.org/officeDocument/2006/relationships/image" Target="../media/image149.wmf"/><Relationship Id="rId6" Type="http://schemas.openxmlformats.org/officeDocument/2006/relationships/oleObject" Target="../embeddings/oleObject91.bin"/><Relationship Id="rId5" Type="http://schemas.openxmlformats.org/officeDocument/2006/relationships/image" Target="../media/image148.png"/><Relationship Id="rId4" Type="http://schemas.openxmlformats.org/officeDocument/2006/relationships/image" Target="../media/image147.emf"/><Relationship Id="rId3" Type="http://schemas.openxmlformats.org/officeDocument/2006/relationships/oleObject" Target="../embeddings/oleObject90.bin"/><Relationship Id="rId2" Type="http://schemas.openxmlformats.org/officeDocument/2006/relationships/image" Target="../media/image146.emf"/><Relationship Id="rId11" Type="http://schemas.openxmlformats.org/officeDocument/2006/relationships/vmlDrawing" Target="../drawings/vmlDrawing27.vml"/><Relationship Id="rId10" Type="http://schemas.openxmlformats.org/officeDocument/2006/relationships/slideLayout" Target="../slideLayouts/slideLayout2.xml"/><Relationship Id="rId1" Type="http://schemas.openxmlformats.org/officeDocument/2006/relationships/oleObject" Target="../embeddings/oleObject89.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51.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2.jpeg"/></Relationships>
</file>

<file path=ppt/slides/_rels/slide54.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image" Target="../media/image154.wmf"/><Relationship Id="rId6" Type="http://schemas.openxmlformats.org/officeDocument/2006/relationships/oleObject" Target="../embeddings/oleObject94.bin"/><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image" Target="../media/image153.wmf"/><Relationship Id="rId19" Type="http://schemas.openxmlformats.org/officeDocument/2006/relationships/vmlDrawing" Target="../drawings/vmlDrawing28.vml"/><Relationship Id="rId18" Type="http://schemas.openxmlformats.org/officeDocument/2006/relationships/slideLayout" Target="../slideLayouts/slideLayout7.xml"/><Relationship Id="rId17" Type="http://schemas.openxmlformats.org/officeDocument/2006/relationships/image" Target="../media/image156.wmf"/><Relationship Id="rId16" Type="http://schemas.openxmlformats.org/officeDocument/2006/relationships/oleObject" Target="../embeddings/oleObject96.bin"/><Relationship Id="rId15" Type="http://schemas.openxmlformats.org/officeDocument/2006/relationships/tags" Target="../tags/tag65.xml"/><Relationship Id="rId14" Type="http://schemas.openxmlformats.org/officeDocument/2006/relationships/tags" Target="../tags/tag64.xml"/><Relationship Id="rId13" Type="http://schemas.openxmlformats.org/officeDocument/2006/relationships/tags" Target="../tags/tag63.xml"/><Relationship Id="rId12" Type="http://schemas.openxmlformats.org/officeDocument/2006/relationships/image" Target="../media/image155.wmf"/><Relationship Id="rId11" Type="http://schemas.openxmlformats.org/officeDocument/2006/relationships/oleObject" Target="../embeddings/oleObject95.bin"/><Relationship Id="rId10" Type="http://schemas.openxmlformats.org/officeDocument/2006/relationships/tags" Target="../tags/tag62.xml"/><Relationship Id="rId1" Type="http://schemas.openxmlformats.org/officeDocument/2006/relationships/oleObject" Target="../embeddings/oleObject93.bin"/></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60.png"/><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image" Target="../media/image15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1" Type="http://schemas.openxmlformats.org/officeDocument/2006/relationships/slideLayout" Target="../slideLayouts/slideLayout7.xml"/><Relationship Id="rId10" Type="http://schemas.openxmlformats.org/officeDocument/2006/relationships/tags" Target="../tags/tag74.xml"/><Relationship Id="rId1" Type="http://schemas.openxmlformats.org/officeDocument/2006/relationships/tags" Target="../tags/tag66.xml"/></Relationships>
</file>

<file path=ppt/slides/_rels/slide58.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0" Type="http://schemas.openxmlformats.org/officeDocument/2006/relationships/notesSlide" Target="../notesSlides/notesSlide19.xml"/><Relationship Id="rId2" Type="http://schemas.openxmlformats.org/officeDocument/2006/relationships/tags" Target="../tags/tag76.xml"/><Relationship Id="rId19" Type="http://schemas.openxmlformats.org/officeDocument/2006/relationships/slideLayout" Target="../slideLayouts/slideLayout7.xml"/><Relationship Id="rId18" Type="http://schemas.openxmlformats.org/officeDocument/2006/relationships/tags" Target="../tags/tag91.xml"/><Relationship Id="rId17" Type="http://schemas.openxmlformats.org/officeDocument/2006/relationships/tags" Target="../tags/tag90.xml"/><Relationship Id="rId16" Type="http://schemas.openxmlformats.org/officeDocument/2006/relationships/image" Target="../media/image90.png"/><Relationship Id="rId15" Type="http://schemas.openxmlformats.org/officeDocument/2006/relationships/tags" Target="../tags/tag89.xml"/><Relationship Id="rId14" Type="http://schemas.openxmlformats.org/officeDocument/2006/relationships/tags" Target="../tags/tag88.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tags" Target="../tags/tag75.xml"/></Relationships>
</file>

<file path=ppt/slides/_rels/slide59.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9" Type="http://schemas.openxmlformats.org/officeDocument/2006/relationships/slideLayout" Target="../slideLayouts/slideLayout7.xml"/><Relationship Id="rId18" Type="http://schemas.openxmlformats.org/officeDocument/2006/relationships/tags" Target="../tags/tag108.xml"/><Relationship Id="rId17" Type="http://schemas.openxmlformats.org/officeDocument/2006/relationships/image" Target="../media/image90.png"/><Relationship Id="rId16" Type="http://schemas.openxmlformats.org/officeDocument/2006/relationships/tags" Target="../tags/tag107.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tags" Target="../tags/tag92.xml"/></Relationships>
</file>

<file path=ppt/slides/_rels/slide60.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1" Type="http://schemas.openxmlformats.org/officeDocument/2006/relationships/slideLayout" Target="../slideLayouts/slideLayout7.xml"/><Relationship Id="rId10" Type="http://schemas.openxmlformats.org/officeDocument/2006/relationships/tags" Target="../tags/tag117.xml"/><Relationship Id="rId1" Type="http://schemas.openxmlformats.org/officeDocument/2006/relationships/tags" Target="../tags/tag10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101.bin"/><Relationship Id="rId8" Type="http://schemas.openxmlformats.org/officeDocument/2006/relationships/image" Target="../media/image164.wmf"/><Relationship Id="rId7" Type="http://schemas.openxmlformats.org/officeDocument/2006/relationships/oleObject" Target="../embeddings/oleObject100.bin"/><Relationship Id="rId6" Type="http://schemas.openxmlformats.org/officeDocument/2006/relationships/image" Target="../media/image163.wmf"/><Relationship Id="rId5" Type="http://schemas.openxmlformats.org/officeDocument/2006/relationships/oleObject" Target="../embeddings/oleObject99.bin"/><Relationship Id="rId4" Type="http://schemas.openxmlformats.org/officeDocument/2006/relationships/image" Target="../media/image162.wmf"/><Relationship Id="rId3" Type="http://schemas.openxmlformats.org/officeDocument/2006/relationships/oleObject" Target="../embeddings/oleObject98.bin"/><Relationship Id="rId2" Type="http://schemas.openxmlformats.org/officeDocument/2006/relationships/image" Target="../media/image161.wmf"/><Relationship Id="rId17" Type="http://schemas.openxmlformats.org/officeDocument/2006/relationships/vmlDrawing" Target="../drawings/vmlDrawing29.vml"/><Relationship Id="rId16" Type="http://schemas.openxmlformats.org/officeDocument/2006/relationships/slideLayout" Target="../slideLayouts/slideLayout7.xml"/><Relationship Id="rId15" Type="http://schemas.openxmlformats.org/officeDocument/2006/relationships/image" Target="../media/image168.png"/><Relationship Id="rId14" Type="http://schemas.openxmlformats.org/officeDocument/2006/relationships/image" Target="../media/image167.wmf"/><Relationship Id="rId13" Type="http://schemas.openxmlformats.org/officeDocument/2006/relationships/oleObject" Target="../embeddings/oleObject103.bin"/><Relationship Id="rId12" Type="http://schemas.openxmlformats.org/officeDocument/2006/relationships/image" Target="../media/image166.wmf"/><Relationship Id="rId11" Type="http://schemas.openxmlformats.org/officeDocument/2006/relationships/oleObject" Target="../embeddings/oleObject102.bin"/><Relationship Id="rId10" Type="http://schemas.openxmlformats.org/officeDocument/2006/relationships/image" Target="../media/image165.wmf"/><Relationship Id="rId1" Type="http://schemas.openxmlformats.org/officeDocument/2006/relationships/oleObject" Target="../embeddings/oleObject97.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Rectangle 26"/>
          <p:cNvSpPr>
            <a:spLocks noGrp="1" noChangeArrowheads="1"/>
          </p:cNvSpPr>
          <p:nvPr>
            <p:ph type="title" idx="4294967295"/>
          </p:nvPr>
        </p:nvSpPr>
        <p:spPr bwMode="auto">
          <a:xfrm>
            <a:off x="1475656" y="1124744"/>
            <a:ext cx="6336704" cy="792088"/>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p:spPr>
        <p:txBody>
          <a:bodyPr/>
          <a:lstStyle/>
          <a:p>
            <a:pPr algn="ctr" eaLnBrk="1" hangingPunct="1"/>
            <a:r>
              <a:rPr lang="zh-CN" altLang="en-US" sz="4000" dirty="0">
                <a:solidFill>
                  <a:srgbClr val="0000FF"/>
                </a:solidFill>
                <a:latin typeface="黑体" panose="02010609060101010101" pitchFamily="49" charset="-122"/>
                <a:ea typeface="黑体" panose="02010609060101010101" pitchFamily="49" charset="-122"/>
              </a:rPr>
              <a:t>第</a:t>
            </a:r>
            <a:r>
              <a:rPr lang="en-US" altLang="zh-CN" sz="4000" dirty="0">
                <a:solidFill>
                  <a:srgbClr val="0000FF"/>
                </a:solidFill>
                <a:latin typeface="黑体" panose="02010609060101010101" pitchFamily="49" charset="-122"/>
                <a:ea typeface="黑体" panose="02010609060101010101" pitchFamily="49" charset="-122"/>
              </a:rPr>
              <a:t>1.3</a:t>
            </a:r>
            <a:r>
              <a:rPr lang="zh-CN" altLang="en-US" sz="4000" dirty="0">
                <a:solidFill>
                  <a:srgbClr val="0000FF"/>
                </a:solidFill>
                <a:latin typeface="黑体" panose="02010609060101010101" pitchFamily="49" charset="-122"/>
                <a:ea typeface="黑体" panose="02010609060101010101" pitchFamily="49" charset="-122"/>
              </a:rPr>
              <a:t>章 机械零件的强度</a:t>
            </a:r>
            <a:endParaRPr lang="zh-CN" altLang="en-US" sz="4000" dirty="0">
              <a:solidFill>
                <a:srgbClr val="0000FF"/>
              </a:solidFill>
              <a:latin typeface="黑体" panose="02010609060101010101" pitchFamily="49" charset="-122"/>
              <a:ea typeface="黑体" panose="02010609060101010101" pitchFamily="49" charset="-122"/>
            </a:endParaRPr>
          </a:p>
        </p:txBody>
      </p:sp>
      <p:sp>
        <p:nvSpPr>
          <p:cNvPr id="15368" name="直接连接符 6"/>
          <p:cNvSpPr>
            <a:spLocks noChangeShapeType="1"/>
          </p:cNvSpPr>
          <p:nvPr/>
        </p:nvSpPr>
        <p:spPr bwMode="auto">
          <a:xfrm>
            <a:off x="0" y="2132856"/>
            <a:ext cx="9144000" cy="0"/>
          </a:xfrm>
          <a:prstGeom prst="line">
            <a:avLst/>
          </a:prstGeom>
          <a:noFill/>
          <a:ln w="38100">
            <a:solidFill>
              <a:srgbClr val="0070C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9" name="组合 1"/>
          <p:cNvGrpSpPr/>
          <p:nvPr/>
        </p:nvGrpSpPr>
        <p:grpSpPr>
          <a:xfrm>
            <a:off x="6416862" y="6029996"/>
            <a:ext cx="2713067" cy="827722"/>
            <a:chOff x="9959" y="9284"/>
            <a:chExt cx="4271" cy="1303"/>
          </a:xfrm>
        </p:grpSpPr>
        <p:sp>
          <p:nvSpPr>
            <p:cNvPr id="10"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1" name="图片 1073742872" descr="44303071dc0a1f9688d599dbc999570副本"/>
            <p:cNvPicPr>
              <a:picLocks noChangeAspect="1"/>
            </p:cNvPicPr>
            <p:nvPr/>
          </p:nvPicPr>
          <p:blipFill>
            <a:blip r:embed="rId1" cstate="print"/>
            <a:stretch>
              <a:fillRect/>
            </a:stretch>
          </p:blipFill>
          <p:spPr>
            <a:xfrm>
              <a:off x="9959" y="9284"/>
              <a:ext cx="1435" cy="1303"/>
            </a:xfrm>
            <a:prstGeom prst="rect">
              <a:avLst/>
            </a:prstGeom>
            <a:noFill/>
            <a:ln w="9525">
              <a:noFill/>
            </a:ln>
          </p:spPr>
        </p:pic>
      </p:grpSp>
      <p:sp>
        <p:nvSpPr>
          <p:cNvPr id="12" name="Text Box 27"/>
          <p:cNvSpPr txBox="1">
            <a:spLocks noChangeArrowheads="1"/>
          </p:cNvSpPr>
          <p:nvPr/>
        </p:nvSpPr>
        <p:spPr bwMode="auto">
          <a:xfrm>
            <a:off x="1241852" y="2393836"/>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dirty="0">
                <a:solidFill>
                  <a:srgbClr val="002060"/>
                </a:solidFill>
                <a:latin typeface="Times New Roman" panose="02020603050405020304" pitchFamily="18" charset="0"/>
                <a:ea typeface="黑体" panose="02010609060101010101" pitchFamily="49" charset="-122"/>
              </a:rPr>
              <a:t>强度 </a:t>
            </a:r>
            <a:r>
              <a:rPr lang="en-US" altLang="zh-CN" sz="2400" dirty="0">
                <a:solidFill>
                  <a:srgbClr val="002060"/>
                </a:solidFill>
                <a:latin typeface="Times New Roman" panose="02020603050405020304" pitchFamily="18" charset="0"/>
                <a:ea typeface="黑体" panose="02010609060101010101" pitchFamily="49" charset="-122"/>
              </a:rPr>
              <a:t>—— </a:t>
            </a:r>
            <a:r>
              <a:rPr lang="zh-CN" altLang="en-US" sz="2400" dirty="0">
                <a:solidFill>
                  <a:srgbClr val="002060"/>
                </a:solidFill>
                <a:latin typeface="Times New Roman" panose="02020603050405020304" pitchFamily="18" charset="0"/>
                <a:ea typeface="黑体" panose="02010609060101010101" pitchFamily="49" charset="-122"/>
              </a:rPr>
              <a:t>零件抵抗断裂、点蚀、塑性变形的能力</a:t>
            </a:r>
            <a:endParaRPr lang="zh-CN" altLang="en-US" sz="2400" dirty="0">
              <a:solidFill>
                <a:srgbClr val="002060"/>
              </a:solidFill>
              <a:latin typeface="Times New Roman" panose="02020603050405020304" pitchFamily="18" charset="0"/>
              <a:ea typeface="黑体" panose="02010609060101010101" pitchFamily="49" charset="-122"/>
            </a:endParaRPr>
          </a:p>
        </p:txBody>
      </p:sp>
      <p:sp>
        <p:nvSpPr>
          <p:cNvPr id="13" name="Text Box 1044"/>
          <p:cNvSpPr txBox="1">
            <a:spLocks noChangeArrowheads="1"/>
          </p:cNvSpPr>
          <p:nvPr/>
        </p:nvSpPr>
        <p:spPr bwMode="auto">
          <a:xfrm>
            <a:off x="1511975" y="2985775"/>
            <a:ext cx="5930900" cy="937260"/>
          </a:xfrm>
          <a:prstGeom prst="rect">
            <a:avLst/>
          </a:prstGeom>
          <a:solidFill>
            <a:srgbClr val="FFFF99"/>
          </a:solidFill>
          <a:ln w="9525">
            <a:noFill/>
            <a:miter lim="800000"/>
          </a:ln>
          <a:effectLst>
            <a:outerShdw dist="107763" dir="2700000" algn="ctr" rotWithShape="0">
              <a:schemeClr val="bg2"/>
            </a:outerShdw>
          </a:effectLst>
        </p:spPr>
        <p:txBody>
          <a:bodyPr>
            <a:spAutoFit/>
          </a:bodyPr>
          <a:lstStyle/>
          <a:p>
            <a:pPr eaLnBrk="1" hangingPunct="1">
              <a:spcBef>
                <a:spcPct val="50000"/>
              </a:spcBef>
              <a:defRPr/>
            </a:pPr>
            <a:r>
              <a:rPr lang="zh-CN" altLang="en-US" dirty="0">
                <a:solidFill>
                  <a:srgbClr val="002060"/>
                </a:solidFill>
                <a:effectLst>
                  <a:outerShdw blurRad="38100" dist="38100" dir="2700000" algn="tl">
                    <a:srgbClr val="000000"/>
                  </a:outerShdw>
                </a:effectLst>
                <a:ea typeface="黑体" panose="02010609060101010101" pitchFamily="49" charset="-122"/>
              </a:rPr>
              <a:t>强度条件：</a:t>
            </a:r>
            <a:r>
              <a:rPr lang="zh-CN" altLang="en-US" dirty="0">
                <a:solidFill>
                  <a:srgbClr val="002060"/>
                </a:solidFill>
                <a:ea typeface="黑体" panose="02010609060101010101" pitchFamily="49" charset="-122"/>
              </a:rPr>
              <a:t>	工作应力≤许用应力</a:t>
            </a:r>
            <a:endParaRPr lang="zh-CN" altLang="en-US" dirty="0">
              <a:solidFill>
                <a:srgbClr val="002060"/>
              </a:solidFill>
              <a:ea typeface="黑体" panose="02010609060101010101" pitchFamily="49" charset="-122"/>
            </a:endParaRPr>
          </a:p>
          <a:p>
            <a:pPr eaLnBrk="1" hangingPunct="1">
              <a:spcBef>
                <a:spcPct val="50000"/>
              </a:spcBef>
              <a:defRPr/>
            </a:pPr>
            <a:r>
              <a:rPr lang="zh-CN" altLang="en-US" dirty="0">
                <a:ea typeface="黑体" panose="02010609060101010101" pitchFamily="49" charset="-122"/>
              </a:rPr>
              <a:t>		</a:t>
            </a:r>
            <a:r>
              <a:rPr lang="en-US" altLang="zh-CN" dirty="0">
                <a:ea typeface="黑体" panose="02010609060101010101" pitchFamily="49" charset="-122"/>
              </a:rPr>
              <a:t>           </a:t>
            </a:r>
            <a:r>
              <a:rPr lang="en-US" altLang="zh-CN" i="1" dirty="0">
                <a:solidFill>
                  <a:srgbClr val="FF0000"/>
                </a:solidFill>
                <a:ea typeface="楷体_GB2312" pitchFamily="49" charset="-122"/>
              </a:rPr>
              <a:t>σ</a:t>
            </a:r>
            <a:r>
              <a:rPr lang="en-US" altLang="zh-CN" dirty="0">
                <a:solidFill>
                  <a:srgbClr val="FF0000"/>
                </a:solidFill>
                <a:ea typeface="黑体" panose="02010609060101010101" pitchFamily="49" charset="-122"/>
              </a:rPr>
              <a:t>≤ [</a:t>
            </a:r>
            <a:r>
              <a:rPr lang="en-US" altLang="zh-CN" i="1" dirty="0">
                <a:solidFill>
                  <a:srgbClr val="FF0000"/>
                </a:solidFill>
                <a:ea typeface="楷体_GB2312" pitchFamily="49" charset="-122"/>
              </a:rPr>
              <a:t>σ</a:t>
            </a:r>
            <a:r>
              <a:rPr lang="en-US" altLang="zh-CN" dirty="0">
                <a:solidFill>
                  <a:srgbClr val="FF0000"/>
                </a:solidFill>
                <a:ea typeface="黑体" panose="02010609060101010101" pitchFamily="49" charset="-122"/>
              </a:rPr>
              <a:t>]</a:t>
            </a:r>
            <a:r>
              <a:rPr lang="en-US" altLang="zh-CN" dirty="0">
                <a:ea typeface="黑体" panose="02010609060101010101" pitchFamily="49" charset="-122"/>
              </a:rPr>
              <a:t>  </a:t>
            </a:r>
            <a:endParaRPr lang="en-US" altLang="zh-CN" dirty="0">
              <a:ea typeface="黑体" panose="02010609060101010101" pitchFamily="49" charset="-122"/>
            </a:endParaRPr>
          </a:p>
        </p:txBody>
      </p:sp>
      <p:sp>
        <p:nvSpPr>
          <p:cNvPr id="4" name="文本框 3"/>
          <p:cNvSpPr txBox="1"/>
          <p:nvPr/>
        </p:nvSpPr>
        <p:spPr>
          <a:xfrm>
            <a:off x="1604010" y="4519295"/>
            <a:ext cx="2338705" cy="460375"/>
          </a:xfrm>
          <a:prstGeom prst="rect">
            <a:avLst/>
          </a:prstGeom>
          <a:noFill/>
        </p:spPr>
        <p:txBody>
          <a:bodyPr wrap="square" rtlCol="0">
            <a:spAutoFit/>
          </a:bodyPr>
          <a:lstStyle/>
          <a:p>
            <a:r>
              <a:rPr lang="zh-CN" altLang="en-US" sz="2400">
                <a:latin typeface="黑体" panose="02010609060101010101" pitchFamily="49" charset="-122"/>
                <a:ea typeface="黑体" panose="02010609060101010101" pitchFamily="49" charset="-122"/>
              </a:rPr>
              <a:t>机械零件的强度</a:t>
            </a:r>
            <a:endParaRPr lang="zh-CN" altLang="en-US" sz="2400">
              <a:latin typeface="黑体" panose="02010609060101010101" pitchFamily="49" charset="-122"/>
              <a:ea typeface="黑体" panose="02010609060101010101" pitchFamily="49" charset="-122"/>
            </a:endParaRPr>
          </a:p>
        </p:txBody>
      </p:sp>
      <p:sp>
        <p:nvSpPr>
          <p:cNvPr id="5" name="文本框 4"/>
          <p:cNvSpPr txBox="1"/>
          <p:nvPr/>
        </p:nvSpPr>
        <p:spPr>
          <a:xfrm>
            <a:off x="4211955" y="4194175"/>
            <a:ext cx="1706880" cy="460375"/>
          </a:xfrm>
          <a:prstGeom prst="rect">
            <a:avLst/>
          </a:prstGeom>
          <a:noFill/>
        </p:spPr>
        <p:txBody>
          <a:bodyPr wrap="none" rtlCol="0" anchor="t">
            <a:spAutoFit/>
          </a:bodyPr>
          <a:lstStyle/>
          <a:p>
            <a:r>
              <a:rPr lang="zh-CN" altLang="en-US" sz="2400">
                <a:latin typeface="黑体" panose="02010609060101010101" pitchFamily="49" charset="-122"/>
                <a:ea typeface="黑体" panose="02010609060101010101" pitchFamily="49" charset="-122"/>
                <a:sym typeface="+mn-ea"/>
              </a:rPr>
              <a:t>静应力强度</a:t>
            </a:r>
            <a:endParaRPr lang="zh-CN" altLang="en-US" sz="2400">
              <a:latin typeface="黑体" panose="02010609060101010101" pitchFamily="49" charset="-122"/>
              <a:ea typeface="黑体" panose="02010609060101010101" pitchFamily="49" charset="-122"/>
            </a:endParaRPr>
          </a:p>
        </p:txBody>
      </p:sp>
      <p:sp>
        <p:nvSpPr>
          <p:cNvPr id="6" name="文本框 5"/>
          <p:cNvSpPr txBox="1"/>
          <p:nvPr/>
        </p:nvSpPr>
        <p:spPr>
          <a:xfrm>
            <a:off x="4257040" y="5003800"/>
            <a:ext cx="1706880" cy="460375"/>
          </a:xfrm>
          <a:prstGeom prst="rect">
            <a:avLst/>
          </a:prstGeom>
          <a:noFill/>
        </p:spPr>
        <p:txBody>
          <a:bodyPr wrap="none" rtlCol="0" anchor="t">
            <a:spAutoFit/>
          </a:bodyPr>
          <a:lstStyle/>
          <a:p>
            <a:r>
              <a:rPr lang="zh-CN" altLang="en-US" sz="2400">
                <a:latin typeface="黑体" panose="02010609060101010101" pitchFamily="49" charset="-122"/>
                <a:ea typeface="黑体" panose="02010609060101010101" pitchFamily="49" charset="-122"/>
                <a:sym typeface="+mn-ea"/>
              </a:rPr>
              <a:t>变应力强度</a:t>
            </a:r>
            <a:endParaRPr lang="zh-CN" altLang="en-US" sz="2400">
              <a:latin typeface="黑体" panose="02010609060101010101" pitchFamily="49" charset="-122"/>
              <a:ea typeface="黑体" panose="02010609060101010101" pitchFamily="49" charset="-122"/>
            </a:endParaRPr>
          </a:p>
        </p:txBody>
      </p:sp>
      <p:sp>
        <p:nvSpPr>
          <p:cNvPr id="7" name="左大括号 6"/>
          <p:cNvSpPr/>
          <p:nvPr/>
        </p:nvSpPr>
        <p:spPr>
          <a:xfrm>
            <a:off x="3896995" y="4373880"/>
            <a:ext cx="223520" cy="793115"/>
          </a:xfrm>
          <a:prstGeom prst="leftBrace">
            <a:avLst/>
          </a:prstGeom>
          <a:noFill/>
          <a:ln w="28575" cap="flat" cmpd="sng" algn="ctr">
            <a:gradFill>
              <a:gsLst>
                <a:gs pos="0">
                  <a:srgbClr val="012D86"/>
                </a:gs>
                <a:gs pos="100000">
                  <a:srgbClr val="0E2557"/>
                </a:gs>
              </a:gsLst>
            </a:grad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ox(i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bldLvl="0" animBg="1" autoUpdateAnimBg="0"/>
      <p:bldP spid="4" grpId="0"/>
      <p:bldP spid="5" grpId="0"/>
      <p:bldP spid="6" grpId="0"/>
      <p:bldP spid="7"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2">
            <a:hlinkClick r:id="" action="ppaction://noaction"/>
          </p:cNvPr>
          <p:cNvSpPr>
            <a:spLocks noChangeArrowheads="1"/>
          </p:cNvSpPr>
          <p:nvPr/>
        </p:nvSpPr>
        <p:spPr bwMode="auto">
          <a:xfrm>
            <a:off x="1009650" y="3077210"/>
            <a:ext cx="6416040" cy="737235"/>
          </a:xfrm>
          <a:prstGeom prst="rect">
            <a:avLst/>
          </a:prstGeom>
          <a:solidFill>
            <a:srgbClr val="00B050">
              <a:alpha val="35000"/>
            </a:srgbClr>
          </a:solidFill>
          <a:ln>
            <a:noFill/>
          </a:ln>
          <a:effectLst>
            <a:outerShdw blurRad="50800" dist="38100" dir="18900000" algn="bl" rotWithShape="0">
              <a:schemeClr val="bg1">
                <a:alpha val="40000"/>
              </a:schemeClr>
            </a:outerShdw>
          </a:effec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lvl="0" algn="l" eaLnBrk="1" hangingPunct="1">
              <a:lnSpc>
                <a:spcPct val="150000"/>
              </a:lnSpc>
              <a:spcBef>
                <a:spcPct val="20000"/>
              </a:spcBef>
              <a:buClr>
                <a:schemeClr val="hlink"/>
              </a:buClr>
              <a:buSzPct val="110000"/>
              <a:buFont typeface="Wingdings" panose="05000000000000000000" pitchFamily="2" charset="2"/>
            </a:pPr>
            <a:r>
              <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1.3-3  影响零件疲劳强度的主要因素</a:t>
            </a:r>
            <a:endPar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5364" name="Rectangle 24"/>
          <p:cNvSpPr>
            <a:spLocks noChangeArrowheads="1"/>
          </p:cNvSpPr>
          <p:nvPr/>
        </p:nvSpPr>
        <p:spPr bwMode="auto">
          <a:xfrm>
            <a:off x="1009650" y="2230755"/>
            <a:ext cx="5143500" cy="737235"/>
          </a:xfrm>
          <a:prstGeom prst="rect">
            <a:avLst/>
          </a:prstGeom>
          <a:solidFill>
            <a:srgbClr val="00B050">
              <a:alpha val="35000"/>
            </a:srgbClr>
          </a:solidFill>
          <a:ln>
            <a:noFill/>
          </a:ln>
          <a:effectLst>
            <a:outerShdw blurRad="50800" dist="38100" dir="18900000" algn="bl" rotWithShape="0">
              <a:schemeClr val="bg1">
                <a:alpha val="40000"/>
              </a:schemeClr>
            </a:outerShdw>
          </a:effec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lvl="0" algn="l" eaLnBrk="1" hangingPunct="1">
              <a:lnSpc>
                <a:spcPct val="150000"/>
              </a:lnSpc>
              <a:spcBef>
                <a:spcPct val="20000"/>
              </a:spcBef>
              <a:buClr>
                <a:schemeClr val="hlink"/>
              </a:buClr>
              <a:buSzPct val="110000"/>
              <a:buFont typeface="Wingdings" panose="05000000000000000000" pitchFamily="2" charset="2"/>
            </a:pPr>
            <a:r>
              <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1.3-2  疲劳强度的基本理论</a:t>
            </a:r>
            <a:endPar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5366" name="Rectangle 26"/>
          <p:cNvSpPr>
            <a:spLocks noGrp="1" noChangeArrowheads="1"/>
          </p:cNvSpPr>
          <p:nvPr>
            <p:ph type="title" idx="4294967295"/>
          </p:nvPr>
        </p:nvSpPr>
        <p:spPr bwMode="auto">
          <a:xfrm>
            <a:off x="1619672" y="332656"/>
            <a:ext cx="6385321"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3600" dirty="0">
                <a:solidFill>
                  <a:srgbClr val="A50021"/>
                </a:solidFill>
                <a:latin typeface="黑体" panose="02010609060101010101" pitchFamily="49" charset="-122"/>
                <a:ea typeface="黑体" panose="02010609060101010101" pitchFamily="49" charset="-122"/>
              </a:rPr>
              <a:t>第</a:t>
            </a:r>
            <a:r>
              <a:rPr lang="en-US" altLang="zh-CN" sz="3600" dirty="0">
                <a:solidFill>
                  <a:srgbClr val="A50021"/>
                </a:solidFill>
                <a:latin typeface="黑体" panose="02010609060101010101" pitchFamily="49" charset="-122"/>
                <a:ea typeface="黑体" panose="02010609060101010101" pitchFamily="49" charset="-122"/>
              </a:rPr>
              <a:t>1.3</a:t>
            </a:r>
            <a:r>
              <a:rPr lang="zh-CN" altLang="en-US" sz="3600" dirty="0">
                <a:solidFill>
                  <a:srgbClr val="A50021"/>
                </a:solidFill>
                <a:latin typeface="黑体" panose="02010609060101010101" pitchFamily="49" charset="-122"/>
                <a:ea typeface="黑体" panose="02010609060101010101" pitchFamily="49" charset="-122"/>
              </a:rPr>
              <a:t>章 机械零件的强度</a:t>
            </a:r>
            <a:endParaRPr lang="zh-CN" altLang="en-US" sz="3600" dirty="0">
              <a:solidFill>
                <a:srgbClr val="A50021"/>
              </a:solidFill>
              <a:latin typeface="黑体" panose="02010609060101010101" pitchFamily="49" charset="-122"/>
              <a:ea typeface="黑体" panose="02010609060101010101" pitchFamily="49" charset="-122"/>
            </a:endParaRPr>
          </a:p>
        </p:txBody>
      </p:sp>
      <p:sp>
        <p:nvSpPr>
          <p:cNvPr id="15367" name="Rectangle 25"/>
          <p:cNvSpPr>
            <a:spLocks noChangeArrowheads="1"/>
          </p:cNvSpPr>
          <p:nvPr/>
        </p:nvSpPr>
        <p:spPr bwMode="auto">
          <a:xfrm>
            <a:off x="1009650" y="4782185"/>
            <a:ext cx="5219700" cy="737235"/>
          </a:xfrm>
          <a:prstGeom prst="rect">
            <a:avLst/>
          </a:prstGeom>
          <a:solidFill>
            <a:srgbClr val="00B050">
              <a:alpha val="35000"/>
            </a:srgbClr>
          </a:solidFill>
          <a:ln>
            <a:noFill/>
          </a:ln>
          <a:effectLst>
            <a:outerShdw blurRad="50800" dist="38100" dir="18900000" algn="bl" rotWithShape="0">
              <a:schemeClr val="bg1">
                <a:alpha val="4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50000"/>
              </a:lnSpc>
              <a:spcBef>
                <a:spcPct val="20000"/>
              </a:spcBef>
              <a:buClr>
                <a:schemeClr val="hlink"/>
              </a:buClr>
              <a:buSzPct val="110000"/>
              <a:buFont typeface="Wingdings" panose="05000000000000000000" pitchFamily="2" charset="2"/>
              <a:buNone/>
            </a:pPr>
            <a:r>
              <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rPr>
              <a:t>1.3-5  </a:t>
            </a:r>
            <a:r>
              <a:rPr lang="zh-CN" altLang="en-US" sz="2800" dirty="0">
                <a:solidFill>
                  <a:srgbClr val="000099"/>
                </a:solidFill>
                <a:latin typeface="黑体" panose="02010609060101010101" pitchFamily="49" charset="-122"/>
                <a:ea typeface="黑体" panose="02010609060101010101" pitchFamily="49" charset="-122"/>
                <a:cs typeface="黑体" panose="02010609060101010101" pitchFamily="49" charset="-122"/>
              </a:rPr>
              <a:t>机械零件的接触强度</a:t>
            </a:r>
            <a:endParaRPr lang="zh-CN" altLang="en-US" sz="2800"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15368" name="直接连接符 6"/>
          <p:cNvSpPr>
            <a:spLocks noChangeShapeType="1"/>
          </p:cNvSpPr>
          <p:nvPr/>
        </p:nvSpPr>
        <p:spPr bwMode="auto">
          <a:xfrm>
            <a:off x="0" y="1052736"/>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9" name="组合 1"/>
          <p:cNvGrpSpPr/>
          <p:nvPr/>
        </p:nvGrpSpPr>
        <p:grpSpPr>
          <a:xfrm>
            <a:off x="6514046" y="6031319"/>
            <a:ext cx="2630487" cy="827087"/>
            <a:chOff x="10088" y="9497"/>
            <a:chExt cx="4141" cy="1302"/>
          </a:xfrm>
        </p:grpSpPr>
        <p:sp>
          <p:nvSpPr>
            <p:cNvPr id="10"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1" name="图片 1073742872" descr="44303071dc0a1f9688d599dbc999570副本"/>
            <p:cNvPicPr>
              <a:picLocks noChangeAspect="1"/>
            </p:cNvPicPr>
            <p:nvPr/>
          </p:nvPicPr>
          <p:blipFill>
            <a:blip r:embed="rId1" cstate="print"/>
            <a:stretch>
              <a:fillRect/>
            </a:stretch>
          </p:blipFill>
          <p:spPr>
            <a:xfrm>
              <a:off x="10088" y="9497"/>
              <a:ext cx="1435" cy="1303"/>
            </a:xfrm>
            <a:prstGeom prst="rect">
              <a:avLst/>
            </a:prstGeom>
            <a:noFill/>
            <a:ln w="9525">
              <a:noFill/>
            </a:ln>
          </p:spPr>
        </p:pic>
      </p:grpSp>
      <p:sp>
        <p:nvSpPr>
          <p:cNvPr id="12" name="Rectangle 24"/>
          <p:cNvSpPr>
            <a:spLocks noChangeArrowheads="1"/>
          </p:cNvSpPr>
          <p:nvPr/>
        </p:nvSpPr>
        <p:spPr bwMode="auto">
          <a:xfrm>
            <a:off x="1009650" y="1384300"/>
            <a:ext cx="5144135" cy="737235"/>
          </a:xfrm>
          <a:prstGeom prst="rect">
            <a:avLst/>
          </a:prstGeom>
          <a:solidFill>
            <a:srgbClr val="00B050">
              <a:alpha val="35000"/>
            </a:srgbClr>
          </a:solidFill>
          <a:ln>
            <a:noFill/>
          </a:ln>
          <a:effectLst>
            <a:outerShdw blurRad="50800" dist="38100" dir="18900000" algn="bl" rotWithShape="0">
              <a:schemeClr val="bg1">
                <a:alpha val="40000"/>
              </a:schemeClr>
            </a:outerShdw>
          </a:effec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lvl="0" algn="l" eaLnBrk="1" hangingPunct="1">
              <a:lnSpc>
                <a:spcPct val="150000"/>
              </a:lnSpc>
              <a:spcBef>
                <a:spcPct val="20000"/>
              </a:spcBef>
              <a:buClr>
                <a:schemeClr val="hlink"/>
              </a:buClr>
              <a:buSzPct val="110000"/>
              <a:buFont typeface="Wingdings" panose="05000000000000000000" pitchFamily="2" charset="2"/>
            </a:pPr>
            <a:r>
              <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1.3-1  载荷与应力</a:t>
            </a:r>
            <a:endPar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2" name="Rectangle 22">
            <a:hlinkClick r:id="" action="ppaction://noaction"/>
          </p:cNvPr>
          <p:cNvSpPr>
            <a:spLocks noChangeArrowheads="1"/>
          </p:cNvSpPr>
          <p:nvPr/>
        </p:nvSpPr>
        <p:spPr bwMode="auto">
          <a:xfrm>
            <a:off x="1009650" y="3929380"/>
            <a:ext cx="5219700" cy="737235"/>
          </a:xfrm>
          <a:prstGeom prst="rect">
            <a:avLst/>
          </a:prstGeom>
          <a:solidFill>
            <a:srgbClr val="00B050">
              <a:alpha val="35000"/>
            </a:srgbClr>
          </a:solidFill>
          <a:ln>
            <a:noFill/>
          </a:ln>
          <a:effectLst>
            <a:outerShdw blurRad="50800" dist="38100" dir="18900000" algn="bl" rotWithShape="0">
              <a:schemeClr val="bg1">
                <a:alpha val="40000"/>
              </a:schemeClr>
            </a:outerShdw>
          </a:effec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lvl="0" algn="l" eaLnBrk="1" hangingPunct="1">
              <a:lnSpc>
                <a:spcPct val="150000"/>
              </a:lnSpc>
              <a:spcBef>
                <a:spcPct val="20000"/>
              </a:spcBef>
              <a:buClr>
                <a:schemeClr val="hlink"/>
              </a:buClr>
              <a:buSzPct val="110000"/>
              <a:buFont typeface="Wingdings" panose="05000000000000000000" pitchFamily="2" charset="2"/>
            </a:pPr>
            <a:r>
              <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1.3-4  零件的疲劳强度计算</a:t>
            </a:r>
            <a:endPar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advClick="0">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4" name="Text Box 6"/>
          <p:cNvSpPr txBox="1">
            <a:spLocks noChangeArrowheads="1"/>
          </p:cNvSpPr>
          <p:nvPr/>
        </p:nvSpPr>
        <p:spPr bwMode="auto">
          <a:xfrm>
            <a:off x="432000" y="954000"/>
            <a:ext cx="3440113" cy="457200"/>
          </a:xfrm>
          <a:prstGeom prst="rect">
            <a:avLst/>
          </a:prstGeom>
          <a:solidFill>
            <a:schemeClr val="tx2"/>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dirty="0">
                <a:solidFill>
                  <a:schemeClr val="bg1"/>
                </a:solidFill>
                <a:latin typeface="Times New Roman" panose="02020603050405020304" pitchFamily="18" charset="0"/>
                <a:ea typeface="黑体" panose="02010609060101010101" pitchFamily="49" charset="-122"/>
              </a:rPr>
              <a:t>一、载荷及应力的分类</a:t>
            </a:r>
            <a:endParaRPr lang="zh-CN" altLang="en-US" sz="2400" dirty="0">
              <a:solidFill>
                <a:schemeClr val="bg1"/>
              </a:solidFill>
              <a:latin typeface="Times New Roman" panose="02020603050405020304" pitchFamily="18" charset="0"/>
              <a:ea typeface="黑体" panose="02010609060101010101" pitchFamily="49" charset="-122"/>
            </a:endParaRPr>
          </a:p>
        </p:txBody>
      </p:sp>
      <p:sp>
        <p:nvSpPr>
          <p:cNvPr id="252935" name="Text Box 7"/>
          <p:cNvSpPr txBox="1">
            <a:spLocks noChangeArrowheads="1"/>
          </p:cNvSpPr>
          <p:nvPr/>
        </p:nvSpPr>
        <p:spPr bwMode="auto">
          <a:xfrm>
            <a:off x="657000" y="15840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rgbClr val="FF0000"/>
                </a:solidFill>
                <a:latin typeface="黑体" panose="02010609060101010101" pitchFamily="49" charset="-122"/>
                <a:ea typeface="黑体" panose="02010609060101010101" pitchFamily="49" charset="-122"/>
              </a:rPr>
              <a:t>1</a:t>
            </a:r>
            <a:r>
              <a:rPr lang="zh-CN" altLang="en-US" sz="2400" dirty="0">
                <a:solidFill>
                  <a:srgbClr val="FF0000"/>
                </a:solidFill>
                <a:latin typeface="黑体" panose="02010609060101010101" pitchFamily="49" charset="-122"/>
                <a:ea typeface="黑体" panose="02010609060101010101" pitchFamily="49" charset="-122"/>
              </a:rPr>
              <a:t>、载荷的分类</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252936" name="Text Box 8"/>
          <p:cNvSpPr txBox="1">
            <a:spLocks noChangeArrowheads="1"/>
          </p:cNvSpPr>
          <p:nvPr/>
        </p:nvSpPr>
        <p:spPr bwMode="auto">
          <a:xfrm>
            <a:off x="1100018" y="2265632"/>
            <a:ext cx="142553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静载荷</a:t>
            </a:r>
            <a:endParaRPr lang="zh-CN" altLang="en-US" sz="2400">
              <a:solidFill>
                <a:schemeClr val="hlink"/>
              </a:solidFill>
              <a:latin typeface="Times New Roman" panose="02020603050405020304" pitchFamily="18" charset="0"/>
              <a:ea typeface="黑体" panose="02010609060101010101" pitchFamily="49" charset="-122"/>
            </a:endParaRPr>
          </a:p>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变载荷</a:t>
            </a:r>
            <a:endParaRPr lang="zh-CN" altLang="en-US" sz="2400">
              <a:solidFill>
                <a:schemeClr val="hlink"/>
              </a:solidFill>
              <a:latin typeface="Times New Roman" panose="02020603050405020304" pitchFamily="18" charset="0"/>
              <a:ea typeface="黑体" panose="02010609060101010101" pitchFamily="49" charset="-122"/>
            </a:endParaRPr>
          </a:p>
        </p:txBody>
      </p:sp>
      <p:sp>
        <p:nvSpPr>
          <p:cNvPr id="252937" name="Text Box 9"/>
          <p:cNvSpPr txBox="1">
            <a:spLocks noChangeArrowheads="1"/>
          </p:cNvSpPr>
          <p:nvPr/>
        </p:nvSpPr>
        <p:spPr bwMode="auto">
          <a:xfrm>
            <a:off x="2528768" y="2265632"/>
            <a:ext cx="4501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chemeClr val="bg2">
                    <a:lumMod val="10000"/>
                  </a:schemeClr>
                </a:solidFill>
                <a:latin typeface="Times New Roman" panose="02020603050405020304" pitchFamily="18" charset="0"/>
                <a:ea typeface="黑体" panose="02010609060101010101" pitchFamily="49" charset="-122"/>
              </a:rPr>
              <a:t>——</a:t>
            </a:r>
            <a:r>
              <a:rPr lang="zh-CN" altLang="en-US" sz="2400" dirty="0">
                <a:solidFill>
                  <a:schemeClr val="bg2">
                    <a:lumMod val="10000"/>
                  </a:schemeClr>
                </a:solidFill>
                <a:latin typeface="Times New Roman" panose="02020603050405020304" pitchFamily="18" charset="0"/>
                <a:ea typeface="黑体" panose="02010609060101010101" pitchFamily="49" charset="-122"/>
              </a:rPr>
              <a:t>不随时间改变或变化缓慢</a:t>
            </a:r>
            <a:endParaRPr lang="zh-CN" altLang="en-US" sz="2400" dirty="0">
              <a:solidFill>
                <a:schemeClr val="bg2">
                  <a:lumMod val="10000"/>
                </a:schemeClr>
              </a:solidFill>
              <a:latin typeface="Times New Roman" panose="02020603050405020304" pitchFamily="18" charset="0"/>
              <a:ea typeface="黑体" panose="02010609060101010101" pitchFamily="49" charset="-122"/>
            </a:endParaRPr>
          </a:p>
        </p:txBody>
      </p:sp>
      <p:sp>
        <p:nvSpPr>
          <p:cNvPr id="252938" name="Text Box 10"/>
          <p:cNvSpPr txBox="1">
            <a:spLocks noChangeArrowheads="1"/>
          </p:cNvSpPr>
          <p:nvPr/>
        </p:nvSpPr>
        <p:spPr bwMode="auto">
          <a:xfrm>
            <a:off x="2528768" y="2799032"/>
            <a:ext cx="51019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chemeClr val="bg2">
                    <a:lumMod val="10000"/>
                  </a:schemeClr>
                </a:solidFill>
                <a:latin typeface="Times New Roman" panose="02020603050405020304" pitchFamily="18" charset="0"/>
                <a:ea typeface="黑体" panose="02010609060101010101" pitchFamily="49" charset="-122"/>
              </a:rPr>
              <a:t>——</a:t>
            </a:r>
            <a:r>
              <a:rPr lang="zh-CN" altLang="en-US" sz="2400" dirty="0">
                <a:solidFill>
                  <a:schemeClr val="bg2">
                    <a:lumMod val="10000"/>
                  </a:schemeClr>
                </a:solidFill>
                <a:latin typeface="Times New Roman" panose="02020603050405020304" pitchFamily="18" charset="0"/>
                <a:ea typeface="黑体" panose="02010609060101010101" pitchFamily="49" charset="-122"/>
              </a:rPr>
              <a:t>随时间作周期性或非周期性变化</a:t>
            </a:r>
            <a:endParaRPr lang="zh-CN" altLang="en-US" sz="2400" dirty="0">
              <a:solidFill>
                <a:schemeClr val="bg2">
                  <a:lumMod val="10000"/>
                </a:schemeClr>
              </a:solidFill>
              <a:latin typeface="Times New Roman" panose="02020603050405020304" pitchFamily="18" charset="0"/>
              <a:ea typeface="黑体" panose="02010609060101010101" pitchFamily="49" charset="-122"/>
            </a:endParaRPr>
          </a:p>
        </p:txBody>
      </p:sp>
      <p:sp>
        <p:nvSpPr>
          <p:cNvPr id="252939" name="Text Box 11"/>
          <p:cNvSpPr txBox="1">
            <a:spLocks noChangeArrowheads="1"/>
          </p:cNvSpPr>
          <p:nvPr/>
        </p:nvSpPr>
        <p:spPr bwMode="auto">
          <a:xfrm>
            <a:off x="1100018" y="3394346"/>
            <a:ext cx="142553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名义载荷</a:t>
            </a:r>
            <a:endParaRPr lang="zh-CN" altLang="en-US" sz="2400">
              <a:solidFill>
                <a:schemeClr val="hlink"/>
              </a:solidFill>
              <a:latin typeface="Times New Roman" panose="02020603050405020304" pitchFamily="18" charset="0"/>
              <a:ea typeface="黑体" panose="02010609060101010101" pitchFamily="49" charset="-122"/>
            </a:endParaRPr>
          </a:p>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计算载荷</a:t>
            </a:r>
            <a:endParaRPr lang="zh-CN" altLang="en-US" sz="2400">
              <a:solidFill>
                <a:schemeClr val="hlink"/>
              </a:solidFill>
              <a:latin typeface="Times New Roman" panose="02020603050405020304" pitchFamily="18" charset="0"/>
              <a:ea typeface="黑体" panose="02010609060101010101" pitchFamily="49" charset="-122"/>
            </a:endParaRPr>
          </a:p>
        </p:txBody>
      </p:sp>
      <p:sp>
        <p:nvSpPr>
          <p:cNvPr id="252940" name="Text Box 12"/>
          <p:cNvSpPr txBox="1">
            <a:spLocks noChangeArrowheads="1"/>
          </p:cNvSpPr>
          <p:nvPr/>
        </p:nvSpPr>
        <p:spPr bwMode="auto">
          <a:xfrm>
            <a:off x="2528768" y="3408632"/>
            <a:ext cx="4501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chemeClr val="bg2">
                    <a:lumMod val="10000"/>
                  </a:schemeClr>
                </a:solidFill>
                <a:latin typeface="Times New Roman" panose="02020603050405020304" pitchFamily="18" charset="0"/>
                <a:ea typeface="黑体" panose="02010609060101010101" pitchFamily="49" charset="-122"/>
              </a:rPr>
              <a:t>——</a:t>
            </a:r>
            <a:r>
              <a:rPr lang="zh-CN" altLang="en-US" sz="2400" dirty="0">
                <a:solidFill>
                  <a:schemeClr val="bg2">
                    <a:lumMod val="10000"/>
                  </a:schemeClr>
                </a:solidFill>
                <a:latin typeface="Times New Roman" panose="02020603050405020304" pitchFamily="18" charset="0"/>
                <a:ea typeface="黑体" panose="02010609060101010101" pitchFamily="49" charset="-122"/>
              </a:rPr>
              <a:t>理想工作条件下的载荷</a:t>
            </a:r>
            <a:endParaRPr lang="zh-CN" altLang="en-US" sz="2400" dirty="0">
              <a:solidFill>
                <a:schemeClr val="bg2">
                  <a:lumMod val="10000"/>
                </a:schemeClr>
              </a:solidFill>
              <a:latin typeface="Times New Roman" panose="02020603050405020304" pitchFamily="18" charset="0"/>
              <a:ea typeface="黑体" panose="02010609060101010101" pitchFamily="49" charset="-122"/>
            </a:endParaRPr>
          </a:p>
        </p:txBody>
      </p:sp>
      <p:sp>
        <p:nvSpPr>
          <p:cNvPr id="252941" name="Text Box 13"/>
          <p:cNvSpPr txBox="1">
            <a:spLocks noChangeArrowheads="1"/>
          </p:cNvSpPr>
          <p:nvPr/>
        </p:nvSpPr>
        <p:spPr bwMode="auto">
          <a:xfrm>
            <a:off x="2528768" y="3942032"/>
            <a:ext cx="51019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chemeClr val="bg2">
                    <a:lumMod val="10000"/>
                  </a:schemeClr>
                </a:solidFill>
                <a:latin typeface="Times New Roman" panose="02020603050405020304" pitchFamily="18" charset="0"/>
                <a:ea typeface="黑体" panose="02010609060101010101" pitchFamily="49" charset="-122"/>
              </a:rPr>
              <a:t>——</a:t>
            </a:r>
            <a:r>
              <a:rPr lang="zh-CN" altLang="en-US" sz="2400" dirty="0">
                <a:solidFill>
                  <a:schemeClr val="bg2">
                    <a:lumMod val="10000"/>
                  </a:schemeClr>
                </a:solidFill>
                <a:latin typeface="Times New Roman" panose="02020603050405020304" pitchFamily="18" charset="0"/>
                <a:ea typeface="黑体" panose="02010609060101010101" pitchFamily="49" charset="-122"/>
              </a:rPr>
              <a:t>考虑附加载荷后的载荷值</a:t>
            </a:r>
            <a:endParaRPr lang="zh-CN" altLang="en-US" sz="2400" dirty="0">
              <a:solidFill>
                <a:schemeClr val="bg2">
                  <a:lumMod val="10000"/>
                </a:schemeClr>
              </a:solidFill>
              <a:latin typeface="Times New Roman" panose="02020603050405020304" pitchFamily="18" charset="0"/>
              <a:ea typeface="黑体" panose="02010609060101010101" pitchFamily="49" charset="-122"/>
            </a:endParaRPr>
          </a:p>
        </p:txBody>
      </p:sp>
      <p:sp>
        <p:nvSpPr>
          <p:cNvPr id="252942" name="Text Box 14"/>
          <p:cNvSpPr txBox="1">
            <a:spLocks noChangeArrowheads="1"/>
          </p:cNvSpPr>
          <p:nvPr/>
        </p:nvSpPr>
        <p:spPr bwMode="auto">
          <a:xfrm>
            <a:off x="2059736" y="4780976"/>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dirty="0">
                <a:solidFill>
                  <a:srgbClr val="0000FF"/>
                </a:solidFill>
                <a:latin typeface="Times New Roman" panose="02020603050405020304" pitchFamily="18" charset="0"/>
                <a:ea typeface="黑体" panose="02010609060101010101" pitchFamily="49" charset="-122"/>
              </a:rPr>
              <a:t>计算载荷</a:t>
            </a:r>
            <a:endParaRPr lang="zh-CN" altLang="en-US" sz="2400" dirty="0">
              <a:solidFill>
                <a:srgbClr val="0000FF"/>
              </a:solidFill>
              <a:latin typeface="Times New Roman" panose="02020603050405020304" pitchFamily="18" charset="0"/>
              <a:ea typeface="黑体" panose="02010609060101010101" pitchFamily="49" charset="-122"/>
            </a:endParaRPr>
          </a:p>
        </p:txBody>
      </p:sp>
      <p:sp>
        <p:nvSpPr>
          <p:cNvPr id="252943" name="Text Box 15"/>
          <p:cNvSpPr txBox="1">
            <a:spLocks noChangeArrowheads="1"/>
          </p:cNvSpPr>
          <p:nvPr/>
        </p:nvSpPr>
        <p:spPr bwMode="auto">
          <a:xfrm>
            <a:off x="4498136" y="4780976"/>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dirty="0">
                <a:solidFill>
                  <a:srgbClr val="002060"/>
                </a:solidFill>
                <a:latin typeface="Times New Roman" panose="02020603050405020304" pitchFamily="18" charset="0"/>
                <a:ea typeface="黑体" panose="02010609060101010101" pitchFamily="49" charset="-122"/>
              </a:rPr>
              <a:t>名义载荷</a:t>
            </a:r>
            <a:endParaRPr lang="zh-CN" altLang="en-US" sz="2400" dirty="0">
              <a:solidFill>
                <a:srgbClr val="002060"/>
              </a:solidFill>
              <a:latin typeface="Times New Roman" panose="02020603050405020304" pitchFamily="18" charset="0"/>
              <a:ea typeface="黑体" panose="02010609060101010101" pitchFamily="49" charset="-122"/>
            </a:endParaRPr>
          </a:p>
        </p:txBody>
      </p:sp>
      <p:sp>
        <p:nvSpPr>
          <p:cNvPr id="252944" name="Text Box 16"/>
          <p:cNvSpPr txBox="1">
            <a:spLocks noChangeArrowheads="1"/>
          </p:cNvSpPr>
          <p:nvPr/>
        </p:nvSpPr>
        <p:spPr bwMode="auto">
          <a:xfrm>
            <a:off x="3431336" y="4780976"/>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800" dirty="0">
                <a:latin typeface="Times New Roman" panose="02020603050405020304" pitchFamily="18" charset="0"/>
                <a:ea typeface="方正大黑简体" pitchFamily="2" charset="-122"/>
              </a:rPr>
              <a:t>=</a:t>
            </a:r>
            <a:endParaRPr lang="en-US" altLang="zh-CN" sz="2400" dirty="0">
              <a:latin typeface="Times New Roman" panose="02020603050405020304" pitchFamily="18" charset="0"/>
              <a:ea typeface="方正大黑简体" pitchFamily="2" charset="-122"/>
            </a:endParaRPr>
          </a:p>
        </p:txBody>
      </p:sp>
      <p:sp>
        <p:nvSpPr>
          <p:cNvPr id="252945" name="Text Box 17"/>
          <p:cNvSpPr txBox="1">
            <a:spLocks noChangeArrowheads="1"/>
          </p:cNvSpPr>
          <p:nvPr/>
        </p:nvSpPr>
        <p:spPr bwMode="auto">
          <a:xfrm>
            <a:off x="3680896" y="4806128"/>
            <a:ext cx="838200" cy="430887"/>
          </a:xfrm>
          <a:prstGeom prst="rect">
            <a:avLst/>
          </a:prstGeom>
          <a:noFill/>
          <a:ln w="9525">
            <a:noFill/>
            <a:miter lim="800000"/>
          </a:ln>
          <a:effectLst/>
        </p:spPr>
        <p:txBody>
          <a:bodyPr>
            <a:spAutoFit/>
          </a:bodyPr>
          <a:lstStyle/>
          <a:p>
            <a:pPr eaLnBrk="1" hangingPunct="1">
              <a:spcBef>
                <a:spcPct val="50000"/>
              </a:spcBef>
              <a:defRPr/>
            </a:pPr>
            <a:r>
              <a:rPr lang="en-US" altLang="zh-CN" i="1" dirty="0">
                <a:solidFill>
                  <a:srgbClr val="FF0000"/>
                </a:solidFill>
                <a:effectLst>
                  <a:outerShdw blurRad="38100" dist="38100" dir="2700000" algn="tl">
                    <a:srgbClr val="C0C0C0"/>
                  </a:outerShdw>
                </a:effectLst>
              </a:rPr>
              <a:t>K</a:t>
            </a:r>
            <a:r>
              <a:rPr lang="en-US" altLang="zh-CN" i="1" dirty="0">
                <a:solidFill>
                  <a:srgbClr val="FF0000"/>
                </a:solidFill>
              </a:rPr>
              <a:t> </a:t>
            </a:r>
            <a:r>
              <a:rPr lang="en-US" altLang="zh-CN" dirty="0">
                <a:solidFill>
                  <a:srgbClr val="FF0000"/>
                </a:solidFill>
              </a:rPr>
              <a:t>×</a:t>
            </a:r>
            <a:endParaRPr lang="en-US" altLang="zh-CN" dirty="0">
              <a:solidFill>
                <a:srgbClr val="FF0000"/>
              </a:solidFill>
            </a:endParaRPr>
          </a:p>
        </p:txBody>
      </p:sp>
      <p:grpSp>
        <p:nvGrpSpPr>
          <p:cNvPr id="2" name="Group 18"/>
          <p:cNvGrpSpPr/>
          <p:nvPr/>
        </p:nvGrpSpPr>
        <p:grpSpPr bwMode="auto">
          <a:xfrm>
            <a:off x="3897000" y="5274000"/>
            <a:ext cx="1905000" cy="457200"/>
            <a:chOff x="2400" y="3024"/>
            <a:chExt cx="1200" cy="288"/>
          </a:xfrm>
        </p:grpSpPr>
        <p:sp>
          <p:nvSpPr>
            <p:cNvPr id="31771" name="Text Box 19"/>
            <p:cNvSpPr txBox="1">
              <a:spLocks noChangeArrowheads="1"/>
            </p:cNvSpPr>
            <p:nvPr/>
          </p:nvSpPr>
          <p:spPr bwMode="auto">
            <a:xfrm>
              <a:off x="2544" y="3024"/>
              <a:ext cx="1056" cy="2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chemeClr val="bg2"/>
                  </a:solidFill>
                  <a:latin typeface="Times New Roman" panose="02020603050405020304" pitchFamily="18" charset="0"/>
                  <a:ea typeface="黑体" panose="02010609060101010101" pitchFamily="49" charset="-122"/>
                </a:rPr>
                <a:t> </a:t>
              </a:r>
              <a:r>
                <a:rPr lang="zh-CN" altLang="en-US" sz="2400" dirty="0">
                  <a:solidFill>
                    <a:srgbClr val="FF0000"/>
                  </a:solidFill>
                  <a:latin typeface="Times New Roman" panose="02020603050405020304" pitchFamily="18" charset="0"/>
                  <a:ea typeface="黑体" panose="02010609060101010101" pitchFamily="49" charset="-122"/>
                </a:rPr>
                <a:t>载荷系数</a:t>
              </a:r>
              <a:endParaRPr lang="zh-CN" altLang="en-US" sz="2400" dirty="0">
                <a:solidFill>
                  <a:srgbClr val="FF0000"/>
                </a:solidFill>
                <a:latin typeface="Times New Roman" panose="02020603050405020304" pitchFamily="18" charset="0"/>
                <a:ea typeface="黑体" panose="02010609060101010101" pitchFamily="49" charset="-122"/>
              </a:endParaRPr>
            </a:p>
          </p:txBody>
        </p:sp>
        <p:sp>
          <p:nvSpPr>
            <p:cNvPr id="31772" name="Line 20"/>
            <p:cNvSpPr>
              <a:spLocks noChangeShapeType="1"/>
            </p:cNvSpPr>
            <p:nvPr/>
          </p:nvSpPr>
          <p:spPr bwMode="auto">
            <a:xfrm>
              <a:off x="2400" y="3024"/>
              <a:ext cx="0" cy="144"/>
            </a:xfrm>
            <a:prstGeom prst="line">
              <a:avLst/>
            </a:prstGeom>
            <a:noFill/>
            <a:ln w="25400">
              <a:solidFill>
                <a:srgbClr val="00206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1773" name="Line 21"/>
            <p:cNvSpPr>
              <a:spLocks noChangeShapeType="1"/>
            </p:cNvSpPr>
            <p:nvPr/>
          </p:nvSpPr>
          <p:spPr bwMode="auto">
            <a:xfrm>
              <a:off x="2400" y="3168"/>
              <a:ext cx="192" cy="0"/>
            </a:xfrm>
            <a:prstGeom prst="line">
              <a:avLst/>
            </a:prstGeom>
            <a:noFill/>
            <a:ln w="25400">
              <a:solidFill>
                <a:srgbClr val="002060"/>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252950" name="Text Box 22"/>
          <p:cNvSpPr txBox="1">
            <a:spLocks noChangeArrowheads="1"/>
          </p:cNvSpPr>
          <p:nvPr/>
        </p:nvSpPr>
        <p:spPr bwMode="auto">
          <a:xfrm>
            <a:off x="3440861" y="4476176"/>
            <a:ext cx="838200" cy="579438"/>
          </a:xfrm>
          <a:prstGeom prst="rect">
            <a:avLst/>
          </a:prstGeom>
          <a:noFill/>
          <a:ln w="9525">
            <a:noFill/>
            <a:miter lim="800000"/>
          </a:ln>
          <a:effectLst/>
        </p:spPr>
        <p:txBody>
          <a:bodyPr>
            <a:spAutoFit/>
          </a:bodyPr>
          <a:lstStyle/>
          <a:p>
            <a:pPr eaLnBrk="1" hangingPunct="1">
              <a:spcBef>
                <a:spcPct val="50000"/>
              </a:spcBef>
              <a:defRPr/>
            </a:pPr>
            <a:r>
              <a:rPr lang="zh-CN" altLang="en-US" sz="3200" dirty="0">
                <a:solidFill>
                  <a:srgbClr val="FF0000"/>
                </a:solidFill>
                <a:effectLst>
                  <a:outerShdw blurRad="38100" dist="38100" dir="2700000" algn="tl">
                    <a:srgbClr val="C0C0C0"/>
                  </a:outerShdw>
                </a:effectLst>
              </a:rPr>
              <a:t>？</a:t>
            </a:r>
            <a:endParaRPr lang="zh-CN" altLang="en-US" sz="3200" dirty="0">
              <a:solidFill>
                <a:srgbClr val="FF0000"/>
              </a:solidFill>
              <a:effectLst>
                <a:outerShdw blurRad="38100" dist="38100" dir="2700000" algn="tl">
                  <a:srgbClr val="C0C0C0"/>
                </a:outerShdw>
              </a:effectLst>
            </a:endParaRPr>
          </a:p>
        </p:txBody>
      </p:sp>
      <p:sp>
        <p:nvSpPr>
          <p:cNvPr id="252951" name="Text Box 23"/>
          <p:cNvSpPr txBox="1">
            <a:spLocks noChangeArrowheads="1"/>
          </p:cNvSpPr>
          <p:nvPr/>
        </p:nvSpPr>
        <p:spPr bwMode="auto">
          <a:xfrm>
            <a:off x="3267000" y="1629000"/>
            <a:ext cx="5038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dirty="0">
                <a:solidFill>
                  <a:srgbClr val="FF0000"/>
                </a:solidFill>
                <a:latin typeface="Times New Roman" panose="02020603050405020304" pitchFamily="18" charset="0"/>
                <a:ea typeface="黑体" panose="02010609060101010101" pitchFamily="49" charset="-122"/>
              </a:rPr>
              <a:t>载荷 </a:t>
            </a:r>
            <a:r>
              <a:rPr lang="en-US" altLang="zh-CN" sz="2400" dirty="0">
                <a:solidFill>
                  <a:schemeClr val="bg2">
                    <a:lumMod val="10000"/>
                  </a:schemeClr>
                </a:solidFill>
                <a:latin typeface="Times New Roman" panose="02020603050405020304" pitchFamily="18" charset="0"/>
                <a:ea typeface="黑体" panose="02010609060101010101" pitchFamily="49" charset="-122"/>
              </a:rPr>
              <a:t>— </a:t>
            </a:r>
            <a:r>
              <a:rPr lang="zh-CN" altLang="en-US" sz="2400" dirty="0">
                <a:solidFill>
                  <a:schemeClr val="bg2">
                    <a:lumMod val="10000"/>
                  </a:schemeClr>
                </a:solidFill>
                <a:latin typeface="Times New Roman" panose="02020603050405020304" pitchFamily="18" charset="0"/>
                <a:ea typeface="黑体" panose="02010609060101010101" pitchFamily="49" charset="-122"/>
              </a:rPr>
              <a:t>作用于零件上的力或力矩</a:t>
            </a:r>
            <a:endParaRPr lang="zh-CN" altLang="en-US" sz="2400" dirty="0">
              <a:solidFill>
                <a:schemeClr val="bg2">
                  <a:lumMod val="10000"/>
                </a:schemeClr>
              </a:solidFill>
              <a:latin typeface="Times New Roman" panose="02020603050405020304" pitchFamily="18" charset="0"/>
              <a:ea typeface="黑体" panose="02010609060101010101" pitchFamily="49" charset="-122"/>
            </a:endParaRPr>
          </a:p>
        </p:txBody>
      </p:sp>
      <p:sp>
        <p:nvSpPr>
          <p:cNvPr id="252952" name="Text Box 24"/>
          <p:cNvSpPr txBox="1">
            <a:spLocks noChangeArrowheads="1"/>
          </p:cNvSpPr>
          <p:nvPr/>
        </p:nvSpPr>
        <p:spPr bwMode="auto">
          <a:xfrm>
            <a:off x="791810" y="5695113"/>
            <a:ext cx="241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ea typeface="黑体" panose="02010609060101010101" pitchFamily="49" charset="-122"/>
              </a:rPr>
              <a:t>即：</a:t>
            </a:r>
            <a:r>
              <a:rPr lang="en-US" altLang="zh-CN" sz="2400" i="1" dirty="0" err="1">
                <a:latin typeface="Times New Roman" panose="02020603050405020304" pitchFamily="18" charset="0"/>
                <a:ea typeface="方正大黑简体" pitchFamily="2" charset="-122"/>
              </a:rPr>
              <a:t>F</a:t>
            </a:r>
            <a:r>
              <a:rPr lang="en-US" altLang="zh-CN" sz="2400" baseline="-14000" dirty="0" err="1">
                <a:latin typeface="Times New Roman" panose="02020603050405020304" pitchFamily="18" charset="0"/>
                <a:ea typeface="方正大黑简体" pitchFamily="2" charset="-122"/>
              </a:rPr>
              <a:t>ca</a:t>
            </a:r>
            <a:r>
              <a:rPr lang="en-US" altLang="zh-CN" sz="2400" dirty="0">
                <a:latin typeface="Times New Roman" panose="02020603050405020304" pitchFamily="18" charset="0"/>
                <a:ea typeface="方正大黑简体" pitchFamily="2" charset="-122"/>
              </a:rPr>
              <a:t> </a:t>
            </a:r>
            <a:r>
              <a:rPr lang="en-US" altLang="zh-CN" sz="2800" dirty="0">
                <a:latin typeface="Times New Roman" panose="02020603050405020304" pitchFamily="18" charset="0"/>
                <a:ea typeface="方正大黑简体" pitchFamily="2" charset="-122"/>
              </a:rPr>
              <a:t>=</a:t>
            </a:r>
            <a:r>
              <a:rPr lang="en-US" altLang="zh-CN" sz="2400" dirty="0">
                <a:latin typeface="Times New Roman" panose="02020603050405020304" pitchFamily="18" charset="0"/>
                <a:ea typeface="方正大黑简体" pitchFamily="2" charset="-122"/>
              </a:rPr>
              <a:t> </a:t>
            </a:r>
            <a:r>
              <a:rPr lang="en-US" altLang="zh-CN" sz="2400" i="1" dirty="0">
                <a:latin typeface="Times New Roman" panose="02020603050405020304" pitchFamily="18" charset="0"/>
                <a:ea typeface="方正大黑简体" pitchFamily="2" charset="-122"/>
              </a:rPr>
              <a:t>KF</a:t>
            </a:r>
            <a:endParaRPr lang="en-US" altLang="zh-CN" sz="2400" i="1" dirty="0">
              <a:latin typeface="Times New Roman" panose="02020603050405020304" pitchFamily="18" charset="0"/>
              <a:ea typeface="方正大黑简体" pitchFamily="2" charset="-122"/>
            </a:endParaRPr>
          </a:p>
        </p:txBody>
      </p:sp>
      <p:sp>
        <p:nvSpPr>
          <p:cNvPr id="252953" name="Text Box 25"/>
          <p:cNvSpPr txBox="1">
            <a:spLocks noChangeArrowheads="1"/>
          </p:cNvSpPr>
          <p:nvPr/>
        </p:nvSpPr>
        <p:spPr bwMode="auto">
          <a:xfrm>
            <a:off x="3177000" y="5724000"/>
            <a:ext cx="51990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ea typeface="黑体" panose="02010609060101010101" pitchFamily="49" charset="-122"/>
              </a:rPr>
              <a:t>或 </a:t>
            </a:r>
            <a:r>
              <a:rPr lang="en-US" altLang="zh-CN" sz="2400" i="1" dirty="0" err="1">
                <a:latin typeface="Times New Roman" panose="02020603050405020304" pitchFamily="18" charset="0"/>
                <a:ea typeface="方正大黑简体" pitchFamily="2" charset="-122"/>
              </a:rPr>
              <a:t>T</a:t>
            </a:r>
            <a:r>
              <a:rPr lang="en-US" altLang="zh-CN" sz="2400" baseline="-14000" dirty="0" err="1">
                <a:latin typeface="Times New Roman" panose="02020603050405020304" pitchFamily="18" charset="0"/>
                <a:ea typeface="方正大黑简体" pitchFamily="2" charset="-122"/>
              </a:rPr>
              <a:t>ca</a:t>
            </a:r>
            <a:r>
              <a:rPr lang="en-US" altLang="zh-CN" sz="2400" dirty="0">
                <a:latin typeface="Times New Roman" panose="02020603050405020304" pitchFamily="18" charset="0"/>
                <a:ea typeface="方正大黑简体" pitchFamily="2" charset="-122"/>
              </a:rPr>
              <a:t> </a:t>
            </a:r>
            <a:r>
              <a:rPr lang="en-US" altLang="zh-CN" sz="2800" dirty="0">
                <a:latin typeface="Times New Roman" panose="02020603050405020304" pitchFamily="18" charset="0"/>
                <a:ea typeface="方正大黑简体" pitchFamily="2" charset="-122"/>
              </a:rPr>
              <a:t>=</a:t>
            </a:r>
            <a:r>
              <a:rPr lang="en-US" altLang="zh-CN" sz="2400" dirty="0">
                <a:latin typeface="Times New Roman" panose="02020603050405020304" pitchFamily="18" charset="0"/>
                <a:ea typeface="方正大黑简体" pitchFamily="2" charset="-122"/>
              </a:rPr>
              <a:t> </a:t>
            </a:r>
            <a:r>
              <a:rPr lang="en-US" altLang="zh-CN" sz="2400" i="1" dirty="0">
                <a:latin typeface="Times New Roman" panose="02020603050405020304" pitchFamily="18" charset="0"/>
                <a:ea typeface="方正大黑简体" pitchFamily="2" charset="-122"/>
              </a:rPr>
              <a:t>KT</a:t>
            </a:r>
            <a:r>
              <a:rPr lang="zh-CN" altLang="en-US" sz="2400" dirty="0">
                <a:latin typeface="Times New Roman" panose="02020603050405020304" pitchFamily="18" charset="0"/>
                <a:ea typeface="方正大黑简体" pitchFamily="2" charset="-122"/>
              </a:rPr>
              <a:t>、</a:t>
            </a:r>
            <a:r>
              <a:rPr lang="en-US" altLang="zh-CN" sz="2400" i="1" dirty="0" err="1">
                <a:latin typeface="Times New Roman" panose="02020603050405020304" pitchFamily="18" charset="0"/>
                <a:ea typeface="方正大黑简体" pitchFamily="2" charset="-122"/>
              </a:rPr>
              <a:t>P</a:t>
            </a:r>
            <a:r>
              <a:rPr lang="en-US" altLang="zh-CN" sz="2400" baseline="-14000" dirty="0" err="1">
                <a:latin typeface="Times New Roman" panose="02020603050405020304" pitchFamily="18" charset="0"/>
                <a:ea typeface="方正大黑简体" pitchFamily="2" charset="-122"/>
              </a:rPr>
              <a:t>ca</a:t>
            </a:r>
            <a:r>
              <a:rPr lang="en-US" altLang="zh-CN" sz="2400" dirty="0">
                <a:latin typeface="Times New Roman" panose="02020603050405020304" pitchFamily="18" charset="0"/>
                <a:ea typeface="方正大黑简体" pitchFamily="2" charset="-122"/>
              </a:rPr>
              <a:t> </a:t>
            </a:r>
            <a:r>
              <a:rPr lang="en-US" altLang="zh-CN" sz="2800" dirty="0">
                <a:latin typeface="Times New Roman" panose="02020603050405020304" pitchFamily="18" charset="0"/>
                <a:ea typeface="方正大黑简体" pitchFamily="2" charset="-122"/>
              </a:rPr>
              <a:t>=</a:t>
            </a:r>
            <a:r>
              <a:rPr lang="en-US" altLang="zh-CN" sz="2400" dirty="0">
                <a:latin typeface="Times New Roman" panose="02020603050405020304" pitchFamily="18" charset="0"/>
                <a:ea typeface="方正大黑简体" pitchFamily="2" charset="-122"/>
              </a:rPr>
              <a:t> </a:t>
            </a:r>
            <a:r>
              <a:rPr lang="en-US" altLang="zh-CN" sz="2400" i="1" dirty="0">
                <a:latin typeface="Times New Roman" panose="02020603050405020304" pitchFamily="18" charset="0"/>
                <a:ea typeface="方正大黑简体" pitchFamily="2" charset="-122"/>
              </a:rPr>
              <a:t>KP</a:t>
            </a:r>
            <a:r>
              <a:rPr lang="zh-CN" altLang="en-US" sz="2400" dirty="0">
                <a:latin typeface="Times New Roman" panose="02020603050405020304" pitchFamily="18" charset="0"/>
                <a:ea typeface="方正大黑简体" pitchFamily="2" charset="-122"/>
              </a:rPr>
              <a:t>、</a:t>
            </a:r>
            <a:r>
              <a:rPr lang="en-US" altLang="zh-CN" sz="2400" i="1" dirty="0" err="1">
                <a:latin typeface="Times New Roman" panose="02020603050405020304" pitchFamily="18" charset="0"/>
                <a:ea typeface="楷体_GB2312" pitchFamily="49" charset="-122"/>
              </a:rPr>
              <a:t>σ</a:t>
            </a:r>
            <a:r>
              <a:rPr lang="en-US" altLang="zh-CN" sz="2400" baseline="-14000" dirty="0" err="1">
                <a:latin typeface="Times New Roman" panose="02020603050405020304" pitchFamily="18" charset="0"/>
                <a:ea typeface="方正大黑简体" pitchFamily="2" charset="-122"/>
              </a:rPr>
              <a:t>ca</a:t>
            </a:r>
            <a:r>
              <a:rPr lang="en-US" altLang="zh-CN" sz="2400" dirty="0">
                <a:latin typeface="Times New Roman" panose="02020603050405020304" pitchFamily="18" charset="0"/>
                <a:ea typeface="方正大黑简体" pitchFamily="2" charset="-122"/>
              </a:rPr>
              <a:t> </a:t>
            </a:r>
            <a:r>
              <a:rPr lang="en-US" altLang="zh-CN" sz="2800" dirty="0">
                <a:latin typeface="Times New Roman" panose="02020603050405020304" pitchFamily="18" charset="0"/>
                <a:ea typeface="方正大黑简体" pitchFamily="2" charset="-122"/>
              </a:rPr>
              <a:t>=</a:t>
            </a:r>
            <a:r>
              <a:rPr lang="en-US" altLang="zh-CN" sz="2400" dirty="0">
                <a:latin typeface="Times New Roman" panose="02020603050405020304" pitchFamily="18" charset="0"/>
                <a:ea typeface="方正大黑简体" pitchFamily="2" charset="-122"/>
              </a:rPr>
              <a:t> </a:t>
            </a:r>
            <a:r>
              <a:rPr lang="en-US" altLang="zh-CN" sz="2400" i="1" dirty="0" err="1">
                <a:latin typeface="Times New Roman" panose="02020603050405020304" pitchFamily="18" charset="0"/>
                <a:ea typeface="方正大黑简体" pitchFamily="2" charset="-122"/>
              </a:rPr>
              <a:t>K</a:t>
            </a:r>
            <a:r>
              <a:rPr lang="en-US" altLang="zh-CN" sz="2400" i="1" dirty="0" err="1">
                <a:latin typeface="Times New Roman" panose="02020603050405020304" pitchFamily="18" charset="0"/>
                <a:ea typeface="楷体_GB2312" pitchFamily="49" charset="-122"/>
              </a:rPr>
              <a:t>σ</a:t>
            </a:r>
            <a:endParaRPr lang="en-US" altLang="zh-CN" sz="2400" i="1" dirty="0">
              <a:latin typeface="Times New Roman" panose="02020603050405020304" pitchFamily="18" charset="0"/>
              <a:ea typeface="楷体_GB2312" pitchFamily="49" charset="-122"/>
            </a:endParaRPr>
          </a:p>
        </p:txBody>
      </p:sp>
      <p:sp>
        <p:nvSpPr>
          <p:cNvPr id="252954" name="Text Box 26"/>
          <p:cNvSpPr txBox="1">
            <a:spLocks noChangeArrowheads="1"/>
          </p:cNvSpPr>
          <p:nvPr/>
        </p:nvSpPr>
        <p:spPr bwMode="auto">
          <a:xfrm>
            <a:off x="5517000" y="5274000"/>
            <a:ext cx="762000" cy="4572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rgbClr val="FF0000"/>
                </a:solidFill>
                <a:latin typeface="Times New Roman" panose="02020603050405020304" pitchFamily="18" charset="0"/>
                <a:ea typeface="黑体" panose="02010609060101010101" pitchFamily="49" charset="-122"/>
              </a:rPr>
              <a:t>≥1</a:t>
            </a:r>
            <a:endParaRPr lang="en-US" altLang="zh-CN" sz="2400" dirty="0">
              <a:solidFill>
                <a:srgbClr val="FF0000"/>
              </a:solidFill>
              <a:latin typeface="Times New Roman" panose="02020603050405020304" pitchFamily="18" charset="0"/>
              <a:ea typeface="黑体" panose="02010609060101010101" pitchFamily="49" charset="-122"/>
            </a:endParaRPr>
          </a:p>
        </p:txBody>
      </p:sp>
      <p:sp>
        <p:nvSpPr>
          <p:cNvPr id="252956" name="AutoShape 28"/>
          <p:cNvSpPr/>
          <p:nvPr/>
        </p:nvSpPr>
        <p:spPr bwMode="auto">
          <a:xfrm>
            <a:off x="957143" y="2494232"/>
            <a:ext cx="225085" cy="412981"/>
          </a:xfrm>
          <a:prstGeom prst="leftBrace">
            <a:avLst>
              <a:gd name="adj1" fmla="val 22222"/>
              <a:gd name="adj2" fmla="val 50000"/>
            </a:avLst>
          </a:prstGeom>
          <a:noFill/>
          <a:ln w="28575">
            <a:solidFill>
              <a:schemeClr val="accent4">
                <a:lumMod val="75000"/>
              </a:schemeClr>
            </a:solidFill>
            <a:rou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endParaRPr lang="zh-CN" altLang="en-US" sz="2400">
              <a:solidFill>
                <a:schemeClr val="bg2"/>
              </a:solidFill>
              <a:latin typeface="Times New Roman" panose="02020603050405020304" pitchFamily="18" charset="0"/>
              <a:ea typeface="方正大黑简体" pitchFamily="2" charset="-122"/>
            </a:endParaRPr>
          </a:p>
        </p:txBody>
      </p:sp>
      <p:sp>
        <p:nvSpPr>
          <p:cNvPr id="252957" name="AutoShape 29"/>
          <p:cNvSpPr/>
          <p:nvPr/>
        </p:nvSpPr>
        <p:spPr bwMode="auto">
          <a:xfrm>
            <a:off x="957143" y="3637232"/>
            <a:ext cx="225085" cy="412981"/>
          </a:xfrm>
          <a:prstGeom prst="leftBrace">
            <a:avLst>
              <a:gd name="adj1" fmla="val 22222"/>
              <a:gd name="adj2" fmla="val 50000"/>
            </a:avLst>
          </a:prstGeom>
          <a:noFill/>
          <a:ln w="28575">
            <a:solidFill>
              <a:schemeClr val="accent4">
                <a:lumMod val="75000"/>
              </a:schemeClr>
            </a:solidFill>
            <a:rou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endParaRPr lang="zh-CN" altLang="en-US" sz="2400">
              <a:solidFill>
                <a:schemeClr val="bg2"/>
              </a:solidFill>
              <a:latin typeface="Times New Roman" panose="02020603050405020304" pitchFamily="18" charset="0"/>
              <a:ea typeface="方正大黑简体" pitchFamily="2" charset="-122"/>
            </a:endParaRPr>
          </a:p>
        </p:txBody>
      </p:sp>
      <p:sp>
        <p:nvSpPr>
          <p:cNvPr id="27" name="Rectangle 26"/>
          <p:cNvSpPr>
            <a:spLocks noGrp="1" noChangeArrowheads="1"/>
          </p:cNvSpPr>
          <p:nvPr>
            <p:ph type="title" idx="4294967295"/>
          </p:nvPr>
        </p:nvSpPr>
        <p:spPr bwMode="auto">
          <a:xfrm>
            <a:off x="4384040" y="168910"/>
            <a:ext cx="4497070"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z="3200" dirty="0">
                <a:solidFill>
                  <a:srgbClr val="A50021"/>
                </a:solidFill>
                <a:latin typeface="黑体" panose="02010609060101010101" pitchFamily="49" charset="-122"/>
                <a:ea typeface="黑体" panose="02010609060101010101" pitchFamily="49" charset="-122"/>
              </a:rPr>
              <a:t>1.3-1 </a:t>
            </a:r>
            <a:r>
              <a:rPr lang="zh-CN" altLang="en-US" sz="3200" dirty="0">
                <a:solidFill>
                  <a:srgbClr val="A50021"/>
                </a:solidFill>
                <a:latin typeface="黑体" panose="02010609060101010101" pitchFamily="49" charset="-122"/>
                <a:ea typeface="黑体" panose="02010609060101010101" pitchFamily="49" charset="-122"/>
              </a:rPr>
              <a:t>载荷与应力</a:t>
            </a:r>
            <a:endParaRPr lang="zh-CN" altLang="en-US" sz="3200" dirty="0">
              <a:solidFill>
                <a:srgbClr val="A50021"/>
              </a:solidFill>
              <a:latin typeface="黑体" panose="02010609060101010101" pitchFamily="49" charset="-122"/>
              <a:ea typeface="黑体" panose="02010609060101010101" pitchFamily="49" charset="-122"/>
            </a:endParaRPr>
          </a:p>
        </p:txBody>
      </p:sp>
      <p:sp>
        <p:nvSpPr>
          <p:cNvPr id="28" name="直接连接符 6"/>
          <p:cNvSpPr>
            <a:spLocks noChangeShapeType="1"/>
          </p:cNvSpPr>
          <p:nvPr/>
        </p:nvSpPr>
        <p:spPr bwMode="auto">
          <a:xfrm>
            <a:off x="-108000" y="819000"/>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52934"/>
                                        </p:tgtEl>
                                        <p:attrNameLst>
                                          <p:attrName>style.visibility</p:attrName>
                                        </p:attrNameLst>
                                      </p:cBhvr>
                                      <p:to>
                                        <p:strVal val="visible"/>
                                      </p:to>
                                    </p:set>
                                    <p:animEffect transition="in" filter="slide(fromLeft)">
                                      <p:cBhvr>
                                        <p:cTn id="7" dur="500"/>
                                        <p:tgtEl>
                                          <p:spTgt spid="25293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iterate type="lt">
                                    <p:tmPct val="100000"/>
                                  </p:iterate>
                                  <p:childTnLst>
                                    <p:set>
                                      <p:cBhvr>
                                        <p:cTn id="11" dur="1" fill="hold">
                                          <p:stCondLst>
                                            <p:cond delay="0"/>
                                          </p:stCondLst>
                                        </p:cTn>
                                        <p:tgtEl>
                                          <p:spTgt spid="252935"/>
                                        </p:tgtEl>
                                        <p:attrNameLst>
                                          <p:attrName>style.visibility</p:attrName>
                                        </p:attrNameLst>
                                      </p:cBhvr>
                                      <p:to>
                                        <p:strVal val="visible"/>
                                      </p:to>
                                    </p:set>
                                    <p:animEffect transition="in" filter="slide(fromRight)">
                                      <p:cBhvr>
                                        <p:cTn id="12" dur="75"/>
                                        <p:tgtEl>
                                          <p:spTgt spid="25293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252951"/>
                                        </p:tgtEl>
                                        <p:attrNameLst>
                                          <p:attrName>style.visibility</p:attrName>
                                        </p:attrNameLst>
                                      </p:cBhvr>
                                      <p:to>
                                        <p:strVal val="visible"/>
                                      </p:to>
                                    </p:set>
                                    <p:animEffect transition="in" filter="slide(fromLeft)">
                                      <p:cBhvr>
                                        <p:cTn id="17" dur="500"/>
                                        <p:tgtEl>
                                          <p:spTgt spid="25295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252956"/>
                                        </p:tgtEl>
                                        <p:attrNameLst>
                                          <p:attrName>style.visibility</p:attrName>
                                        </p:attrNameLst>
                                      </p:cBhvr>
                                      <p:to>
                                        <p:strVal val="visible"/>
                                      </p:to>
                                    </p:set>
                                    <p:animEffect transition="in" filter="slide(fromLeft)">
                                      <p:cBhvr>
                                        <p:cTn id="22" dur="500"/>
                                        <p:tgtEl>
                                          <p:spTgt spid="252956"/>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252936"/>
                                        </p:tgtEl>
                                        <p:attrNameLst>
                                          <p:attrName>style.visibility</p:attrName>
                                        </p:attrNameLst>
                                      </p:cBhvr>
                                      <p:to>
                                        <p:strVal val="visible"/>
                                      </p:to>
                                    </p:set>
                                    <p:animEffect transition="in" filter="wipe(left)">
                                      <p:cBhvr>
                                        <p:cTn id="26" dur="500"/>
                                        <p:tgtEl>
                                          <p:spTgt spid="252936"/>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252937"/>
                                        </p:tgtEl>
                                        <p:attrNameLst>
                                          <p:attrName>style.visibility</p:attrName>
                                        </p:attrNameLst>
                                      </p:cBhvr>
                                      <p:to>
                                        <p:strVal val="visible"/>
                                      </p:to>
                                    </p:set>
                                    <p:animEffect transition="in" filter="slide(fromLeft)">
                                      <p:cBhvr>
                                        <p:cTn id="31" dur="500"/>
                                        <p:tgtEl>
                                          <p:spTgt spid="252937"/>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grpId="0" nodeType="clickEffect">
                                  <p:stCondLst>
                                    <p:cond delay="0"/>
                                  </p:stCondLst>
                                  <p:childTnLst>
                                    <p:set>
                                      <p:cBhvr>
                                        <p:cTn id="35" dur="1" fill="hold">
                                          <p:stCondLst>
                                            <p:cond delay="0"/>
                                          </p:stCondLst>
                                        </p:cTn>
                                        <p:tgtEl>
                                          <p:spTgt spid="252938"/>
                                        </p:tgtEl>
                                        <p:attrNameLst>
                                          <p:attrName>style.visibility</p:attrName>
                                        </p:attrNameLst>
                                      </p:cBhvr>
                                      <p:to>
                                        <p:strVal val="visible"/>
                                      </p:to>
                                    </p:set>
                                    <p:animEffect transition="in" filter="slide(fromLeft)">
                                      <p:cBhvr>
                                        <p:cTn id="36" dur="500"/>
                                        <p:tgtEl>
                                          <p:spTgt spid="252938"/>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grpId="0" nodeType="clickEffect">
                                  <p:stCondLst>
                                    <p:cond delay="0"/>
                                  </p:stCondLst>
                                  <p:childTnLst>
                                    <p:set>
                                      <p:cBhvr>
                                        <p:cTn id="40" dur="1" fill="hold">
                                          <p:stCondLst>
                                            <p:cond delay="0"/>
                                          </p:stCondLst>
                                        </p:cTn>
                                        <p:tgtEl>
                                          <p:spTgt spid="252957"/>
                                        </p:tgtEl>
                                        <p:attrNameLst>
                                          <p:attrName>style.visibility</p:attrName>
                                        </p:attrNameLst>
                                      </p:cBhvr>
                                      <p:to>
                                        <p:strVal val="visible"/>
                                      </p:to>
                                    </p:set>
                                    <p:animEffect transition="in" filter="slide(fromLeft)">
                                      <p:cBhvr>
                                        <p:cTn id="41" dur="500"/>
                                        <p:tgtEl>
                                          <p:spTgt spid="252957"/>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252939"/>
                                        </p:tgtEl>
                                        <p:attrNameLst>
                                          <p:attrName>style.visibility</p:attrName>
                                        </p:attrNameLst>
                                      </p:cBhvr>
                                      <p:to>
                                        <p:strVal val="visible"/>
                                      </p:to>
                                    </p:set>
                                    <p:animEffect transition="in" filter="wipe(left)">
                                      <p:cBhvr>
                                        <p:cTn id="45" dur="500"/>
                                        <p:tgtEl>
                                          <p:spTgt spid="252939"/>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grpId="0" nodeType="clickEffect">
                                  <p:stCondLst>
                                    <p:cond delay="0"/>
                                  </p:stCondLst>
                                  <p:childTnLst>
                                    <p:set>
                                      <p:cBhvr>
                                        <p:cTn id="49" dur="1" fill="hold">
                                          <p:stCondLst>
                                            <p:cond delay="0"/>
                                          </p:stCondLst>
                                        </p:cTn>
                                        <p:tgtEl>
                                          <p:spTgt spid="252940"/>
                                        </p:tgtEl>
                                        <p:attrNameLst>
                                          <p:attrName>style.visibility</p:attrName>
                                        </p:attrNameLst>
                                      </p:cBhvr>
                                      <p:to>
                                        <p:strVal val="visible"/>
                                      </p:to>
                                    </p:set>
                                    <p:animEffect transition="in" filter="slide(fromLeft)">
                                      <p:cBhvr>
                                        <p:cTn id="50" dur="500"/>
                                        <p:tgtEl>
                                          <p:spTgt spid="252940"/>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grpId="0" nodeType="clickEffect">
                                  <p:stCondLst>
                                    <p:cond delay="0"/>
                                  </p:stCondLst>
                                  <p:childTnLst>
                                    <p:set>
                                      <p:cBhvr>
                                        <p:cTn id="54" dur="1" fill="hold">
                                          <p:stCondLst>
                                            <p:cond delay="0"/>
                                          </p:stCondLst>
                                        </p:cTn>
                                        <p:tgtEl>
                                          <p:spTgt spid="252941"/>
                                        </p:tgtEl>
                                        <p:attrNameLst>
                                          <p:attrName>style.visibility</p:attrName>
                                        </p:attrNameLst>
                                      </p:cBhvr>
                                      <p:to>
                                        <p:strVal val="visible"/>
                                      </p:to>
                                    </p:set>
                                    <p:animEffect transition="in" filter="slide(fromLeft)">
                                      <p:cBhvr>
                                        <p:cTn id="55" dur="500"/>
                                        <p:tgtEl>
                                          <p:spTgt spid="252941"/>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252942"/>
                                        </p:tgtEl>
                                        <p:attrNameLst>
                                          <p:attrName>style.visibility</p:attrName>
                                        </p:attrNameLst>
                                      </p:cBhvr>
                                      <p:to>
                                        <p:strVal val="visible"/>
                                      </p:to>
                                    </p:set>
                                    <p:animEffect transition="in" filter="dissolve">
                                      <p:cBhvr>
                                        <p:cTn id="60" dur="500"/>
                                        <p:tgtEl>
                                          <p:spTgt spid="252942"/>
                                        </p:tgtEl>
                                      </p:cBhvr>
                                    </p:animEffect>
                                  </p:childTnLst>
                                </p:cTn>
                              </p:par>
                            </p:childTnLst>
                          </p:cTn>
                        </p:par>
                        <p:par>
                          <p:cTn id="61" fill="hold">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252943"/>
                                        </p:tgtEl>
                                        <p:attrNameLst>
                                          <p:attrName>style.visibility</p:attrName>
                                        </p:attrNameLst>
                                      </p:cBhvr>
                                      <p:to>
                                        <p:strVal val="visible"/>
                                      </p:to>
                                    </p:set>
                                    <p:animEffect transition="in" filter="dissolve">
                                      <p:cBhvr>
                                        <p:cTn id="64" dur="500"/>
                                        <p:tgtEl>
                                          <p:spTgt spid="252943"/>
                                        </p:tgtEl>
                                      </p:cBhvr>
                                    </p:animEffect>
                                  </p:childTnLst>
                                </p:cTn>
                              </p:par>
                            </p:childTnLst>
                          </p:cTn>
                        </p:par>
                      </p:childTnLst>
                    </p:cTn>
                  </p:par>
                  <p:par>
                    <p:cTn id="65" fill="hold">
                      <p:stCondLst>
                        <p:cond delay="indefinite"/>
                      </p:stCondLst>
                      <p:childTnLst>
                        <p:par>
                          <p:cTn id="66" fill="hold">
                            <p:stCondLst>
                              <p:cond delay="0"/>
                            </p:stCondLst>
                            <p:childTnLst>
                              <p:par>
                                <p:cTn id="67" presetID="15" presetClass="entr" presetSubtype="0" fill="hold" grpId="0" nodeType="clickEffect">
                                  <p:stCondLst>
                                    <p:cond delay="0"/>
                                  </p:stCondLst>
                                  <p:childTnLst>
                                    <p:set>
                                      <p:cBhvr>
                                        <p:cTn id="68" dur="1" fill="hold">
                                          <p:stCondLst>
                                            <p:cond delay="0"/>
                                          </p:stCondLst>
                                        </p:cTn>
                                        <p:tgtEl>
                                          <p:spTgt spid="252944"/>
                                        </p:tgtEl>
                                        <p:attrNameLst>
                                          <p:attrName>style.visibility</p:attrName>
                                        </p:attrNameLst>
                                      </p:cBhvr>
                                      <p:to>
                                        <p:strVal val="visible"/>
                                      </p:to>
                                    </p:set>
                                    <p:anim calcmode="lin" valueType="num">
                                      <p:cBhvr>
                                        <p:cTn id="69" dur="1000" fill="hold"/>
                                        <p:tgtEl>
                                          <p:spTgt spid="252944"/>
                                        </p:tgtEl>
                                        <p:attrNameLst>
                                          <p:attrName>ppt_w</p:attrName>
                                        </p:attrNameLst>
                                      </p:cBhvr>
                                      <p:tavLst>
                                        <p:tav tm="0">
                                          <p:val>
                                            <p:fltVal val="0"/>
                                          </p:val>
                                        </p:tav>
                                        <p:tav tm="100000">
                                          <p:val>
                                            <p:strVal val="#ppt_w"/>
                                          </p:val>
                                        </p:tav>
                                      </p:tavLst>
                                    </p:anim>
                                    <p:anim calcmode="lin" valueType="num">
                                      <p:cBhvr>
                                        <p:cTn id="70" dur="1000" fill="hold"/>
                                        <p:tgtEl>
                                          <p:spTgt spid="252944"/>
                                        </p:tgtEl>
                                        <p:attrNameLst>
                                          <p:attrName>ppt_h</p:attrName>
                                        </p:attrNameLst>
                                      </p:cBhvr>
                                      <p:tavLst>
                                        <p:tav tm="0">
                                          <p:val>
                                            <p:fltVal val="0"/>
                                          </p:val>
                                        </p:tav>
                                        <p:tav tm="100000">
                                          <p:val>
                                            <p:strVal val="#ppt_h"/>
                                          </p:val>
                                        </p:tav>
                                      </p:tavLst>
                                    </p:anim>
                                    <p:anim calcmode="lin" valueType="num">
                                      <p:cBhvr>
                                        <p:cTn id="71" dur="1000" fill="hold"/>
                                        <p:tgtEl>
                                          <p:spTgt spid="252944"/>
                                        </p:tgtEl>
                                        <p:attrNameLst>
                                          <p:attrName>ppt_x</p:attrName>
                                        </p:attrNameLst>
                                      </p:cBhvr>
                                      <p:tavLst>
                                        <p:tav tm="0" fmla="#ppt_x+(cos(-2*pi*(1-$))*-#ppt_x-sin(-2*pi*(1-$))*(1-#ppt_y))*(1-$)">
                                          <p:val>
                                            <p:fltVal val="0"/>
                                          </p:val>
                                        </p:tav>
                                        <p:tav tm="100000">
                                          <p:val>
                                            <p:fltVal val="1"/>
                                          </p:val>
                                        </p:tav>
                                      </p:tavLst>
                                    </p:anim>
                                    <p:anim calcmode="lin" valueType="num">
                                      <p:cBhvr>
                                        <p:cTn id="72" dur="1000" fill="hold"/>
                                        <p:tgtEl>
                                          <p:spTgt spid="252944"/>
                                        </p:tgtEl>
                                        <p:attrNameLst>
                                          <p:attrName>ppt_y</p:attrName>
                                        </p:attrNameLst>
                                      </p:cBhvr>
                                      <p:tavLst>
                                        <p:tav tm="0" fmla="#ppt_y+(sin(-2*pi*(1-$))*-#ppt_x+cos(-2*pi*(1-$))*(1-#ppt_y))*(1-$)">
                                          <p:val>
                                            <p:fltVal val="0"/>
                                          </p:val>
                                        </p:tav>
                                        <p:tav tm="100000">
                                          <p:val>
                                            <p:fltVal val="1"/>
                                          </p:val>
                                        </p:tav>
                                      </p:tavLst>
                                    </p:anim>
                                  </p:childTnLst>
                                </p:cTn>
                              </p:par>
                            </p:childTnLst>
                          </p:cTn>
                        </p:par>
                        <p:par>
                          <p:cTn id="73" fill="hold">
                            <p:stCondLst>
                              <p:cond delay="1000"/>
                            </p:stCondLst>
                            <p:childTnLst>
                              <p:par>
                                <p:cTn id="74" presetID="15" presetClass="entr" presetSubtype="0" fill="hold" grpId="0" nodeType="afterEffect">
                                  <p:stCondLst>
                                    <p:cond delay="0"/>
                                  </p:stCondLst>
                                  <p:childTnLst>
                                    <p:set>
                                      <p:cBhvr>
                                        <p:cTn id="75" dur="1" fill="hold">
                                          <p:stCondLst>
                                            <p:cond delay="0"/>
                                          </p:stCondLst>
                                        </p:cTn>
                                        <p:tgtEl>
                                          <p:spTgt spid="252950"/>
                                        </p:tgtEl>
                                        <p:attrNameLst>
                                          <p:attrName>style.visibility</p:attrName>
                                        </p:attrNameLst>
                                      </p:cBhvr>
                                      <p:to>
                                        <p:strVal val="visible"/>
                                      </p:to>
                                    </p:set>
                                    <p:anim calcmode="lin" valueType="num">
                                      <p:cBhvr>
                                        <p:cTn id="76" dur="1000" fill="hold"/>
                                        <p:tgtEl>
                                          <p:spTgt spid="252950"/>
                                        </p:tgtEl>
                                        <p:attrNameLst>
                                          <p:attrName>ppt_w</p:attrName>
                                        </p:attrNameLst>
                                      </p:cBhvr>
                                      <p:tavLst>
                                        <p:tav tm="0">
                                          <p:val>
                                            <p:fltVal val="0"/>
                                          </p:val>
                                        </p:tav>
                                        <p:tav tm="100000">
                                          <p:val>
                                            <p:strVal val="#ppt_w"/>
                                          </p:val>
                                        </p:tav>
                                      </p:tavLst>
                                    </p:anim>
                                    <p:anim calcmode="lin" valueType="num">
                                      <p:cBhvr>
                                        <p:cTn id="77" dur="1000" fill="hold"/>
                                        <p:tgtEl>
                                          <p:spTgt spid="252950"/>
                                        </p:tgtEl>
                                        <p:attrNameLst>
                                          <p:attrName>ppt_h</p:attrName>
                                        </p:attrNameLst>
                                      </p:cBhvr>
                                      <p:tavLst>
                                        <p:tav tm="0">
                                          <p:val>
                                            <p:fltVal val="0"/>
                                          </p:val>
                                        </p:tav>
                                        <p:tav tm="100000">
                                          <p:val>
                                            <p:strVal val="#ppt_h"/>
                                          </p:val>
                                        </p:tav>
                                      </p:tavLst>
                                    </p:anim>
                                    <p:anim calcmode="lin" valueType="num">
                                      <p:cBhvr>
                                        <p:cTn id="78" dur="1000" fill="hold"/>
                                        <p:tgtEl>
                                          <p:spTgt spid="252950"/>
                                        </p:tgtEl>
                                        <p:attrNameLst>
                                          <p:attrName>ppt_x</p:attrName>
                                        </p:attrNameLst>
                                      </p:cBhvr>
                                      <p:tavLst>
                                        <p:tav tm="0" fmla="#ppt_x+(cos(-2*pi*(1-$))*-#ppt_x-sin(-2*pi*(1-$))*(1-#ppt_y))*(1-$)">
                                          <p:val>
                                            <p:fltVal val="0"/>
                                          </p:val>
                                        </p:tav>
                                        <p:tav tm="100000">
                                          <p:val>
                                            <p:fltVal val="1"/>
                                          </p:val>
                                        </p:tav>
                                      </p:tavLst>
                                    </p:anim>
                                    <p:anim calcmode="lin" valueType="num">
                                      <p:cBhvr>
                                        <p:cTn id="79" dur="1000" fill="hold"/>
                                        <p:tgtEl>
                                          <p:spTgt spid="252950"/>
                                        </p:tgtEl>
                                        <p:attrNameLst>
                                          <p:attrName>ppt_y</p:attrName>
                                        </p:attrNameLst>
                                      </p:cBhvr>
                                      <p:tavLst>
                                        <p:tav tm="0" fmla="#ppt_y+(sin(-2*pi*(1-$))*-#ppt_x+cos(-2*pi*(1-$))*(1-#ppt_y))*(1-$)">
                                          <p:val>
                                            <p:fltVal val="0"/>
                                          </p:val>
                                        </p:tav>
                                        <p:tav tm="100000">
                                          <p:val>
                                            <p:fltVal val="1"/>
                                          </p:val>
                                        </p:tav>
                                      </p:tavLst>
                                    </p:anim>
                                  </p:childTnLst>
                                  <p:subTnLst>
                                    <p:set>
                                      <p:cBhvr override="childStyle">
                                        <p:cTn dur="1" fill="hold" display="0" masterRel="nextClick" afterEffect="1"/>
                                        <p:tgtEl>
                                          <p:spTgt spid="252950"/>
                                        </p:tgtEl>
                                        <p:attrNameLst>
                                          <p:attrName>style.visibility</p:attrName>
                                        </p:attrNameLst>
                                      </p:cBhvr>
                                      <p:to>
                                        <p:strVal val="hidden"/>
                                      </p:to>
                                    </p:set>
                                  </p:subTnLst>
                                </p:cTn>
                              </p:par>
                            </p:childTnLst>
                          </p:cTn>
                        </p:par>
                      </p:childTnLst>
                    </p:cTn>
                  </p:par>
                  <p:par>
                    <p:cTn id="80" fill="hold">
                      <p:stCondLst>
                        <p:cond delay="indefinite"/>
                      </p:stCondLst>
                      <p:childTnLst>
                        <p:par>
                          <p:cTn id="81" fill="hold">
                            <p:stCondLst>
                              <p:cond delay="0"/>
                            </p:stCondLst>
                            <p:childTnLst>
                              <p:par>
                                <p:cTn id="82" presetID="23" presetClass="entr" presetSubtype="32" fill="hold" grpId="0" nodeType="clickEffect">
                                  <p:stCondLst>
                                    <p:cond delay="0"/>
                                  </p:stCondLst>
                                  <p:childTnLst>
                                    <p:set>
                                      <p:cBhvr>
                                        <p:cTn id="83" dur="1" fill="hold">
                                          <p:stCondLst>
                                            <p:cond delay="0"/>
                                          </p:stCondLst>
                                        </p:cTn>
                                        <p:tgtEl>
                                          <p:spTgt spid="252945"/>
                                        </p:tgtEl>
                                        <p:attrNameLst>
                                          <p:attrName>style.visibility</p:attrName>
                                        </p:attrNameLst>
                                      </p:cBhvr>
                                      <p:to>
                                        <p:strVal val="visible"/>
                                      </p:to>
                                    </p:set>
                                    <p:anim calcmode="lin" valueType="num">
                                      <p:cBhvr>
                                        <p:cTn id="84" dur="500" fill="hold"/>
                                        <p:tgtEl>
                                          <p:spTgt spid="252945"/>
                                        </p:tgtEl>
                                        <p:attrNameLst>
                                          <p:attrName>ppt_w</p:attrName>
                                        </p:attrNameLst>
                                      </p:cBhvr>
                                      <p:tavLst>
                                        <p:tav tm="0">
                                          <p:val>
                                            <p:strVal val="4*#ppt_w"/>
                                          </p:val>
                                        </p:tav>
                                        <p:tav tm="100000">
                                          <p:val>
                                            <p:strVal val="#ppt_w"/>
                                          </p:val>
                                        </p:tav>
                                      </p:tavLst>
                                    </p:anim>
                                    <p:anim calcmode="lin" valueType="num">
                                      <p:cBhvr>
                                        <p:cTn id="85" dur="500" fill="hold"/>
                                        <p:tgtEl>
                                          <p:spTgt spid="252945"/>
                                        </p:tgtEl>
                                        <p:attrNameLst>
                                          <p:attrName>ppt_h</p:attrName>
                                        </p:attrNameLst>
                                      </p:cBhvr>
                                      <p:tavLst>
                                        <p:tav tm="0">
                                          <p:val>
                                            <p:strVal val="4*#ppt_h"/>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
                                        </p:tgtEl>
                                        <p:attrNameLst>
                                          <p:attrName>style.visibility</p:attrName>
                                        </p:attrNameLst>
                                      </p:cBhvr>
                                      <p:to>
                                        <p:strVal val="visible"/>
                                      </p:to>
                                    </p:set>
                                    <p:animEffect transition="in" filter="wipe(left)">
                                      <p:cBhvr>
                                        <p:cTn id="90" dur="500"/>
                                        <p:tgtEl>
                                          <p:spTgt spid="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52954"/>
                                        </p:tgtEl>
                                        <p:attrNameLst>
                                          <p:attrName>style.visibility</p:attrName>
                                        </p:attrNameLst>
                                      </p:cBhvr>
                                      <p:to>
                                        <p:strVal val="visible"/>
                                      </p:to>
                                    </p:set>
                                    <p:animEffect transition="in" filter="wipe(left)">
                                      <p:cBhvr>
                                        <p:cTn id="95" dur="500"/>
                                        <p:tgtEl>
                                          <p:spTgt spid="252954"/>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8" fill="hold" grpId="0" nodeType="clickEffect">
                                  <p:stCondLst>
                                    <p:cond delay="0"/>
                                  </p:stCondLst>
                                  <p:childTnLst>
                                    <p:set>
                                      <p:cBhvr>
                                        <p:cTn id="99" dur="1" fill="hold">
                                          <p:stCondLst>
                                            <p:cond delay="0"/>
                                          </p:stCondLst>
                                        </p:cTn>
                                        <p:tgtEl>
                                          <p:spTgt spid="252952"/>
                                        </p:tgtEl>
                                        <p:attrNameLst>
                                          <p:attrName>style.visibility</p:attrName>
                                        </p:attrNameLst>
                                      </p:cBhvr>
                                      <p:to>
                                        <p:strVal val="visible"/>
                                      </p:to>
                                    </p:set>
                                    <p:animEffect transition="in" filter="slide(fromLeft)">
                                      <p:cBhvr>
                                        <p:cTn id="100" dur="500"/>
                                        <p:tgtEl>
                                          <p:spTgt spid="252952"/>
                                        </p:tgtEl>
                                      </p:cBhvr>
                                    </p:animEffect>
                                  </p:childTnLst>
                                </p:cTn>
                              </p:par>
                            </p:childTnLst>
                          </p:cTn>
                        </p:par>
                      </p:childTnLst>
                    </p:cTn>
                  </p:par>
                  <p:par>
                    <p:cTn id="101" fill="hold">
                      <p:stCondLst>
                        <p:cond delay="indefinite"/>
                      </p:stCondLst>
                      <p:childTnLst>
                        <p:par>
                          <p:cTn id="102" fill="hold">
                            <p:stCondLst>
                              <p:cond delay="0"/>
                            </p:stCondLst>
                            <p:childTnLst>
                              <p:par>
                                <p:cTn id="103" presetID="12" presetClass="entr" presetSubtype="8" fill="hold" grpId="0" nodeType="clickEffect">
                                  <p:stCondLst>
                                    <p:cond delay="0"/>
                                  </p:stCondLst>
                                  <p:childTnLst>
                                    <p:set>
                                      <p:cBhvr>
                                        <p:cTn id="104" dur="1" fill="hold">
                                          <p:stCondLst>
                                            <p:cond delay="0"/>
                                          </p:stCondLst>
                                        </p:cTn>
                                        <p:tgtEl>
                                          <p:spTgt spid="252953"/>
                                        </p:tgtEl>
                                        <p:attrNameLst>
                                          <p:attrName>style.visibility</p:attrName>
                                        </p:attrNameLst>
                                      </p:cBhvr>
                                      <p:to>
                                        <p:strVal val="visible"/>
                                      </p:to>
                                    </p:set>
                                    <p:animEffect transition="in" filter="slide(fromLeft)">
                                      <p:cBhvr>
                                        <p:cTn id="105" dur="500"/>
                                        <p:tgtEl>
                                          <p:spTgt spid="2529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4" grpId="0" animBg="1" autoUpdateAnimBg="0"/>
      <p:bldP spid="252935" grpId="0" autoUpdateAnimBg="0"/>
      <p:bldP spid="252936" grpId="0" autoUpdateAnimBg="0"/>
      <p:bldP spid="252937" grpId="0" autoUpdateAnimBg="0"/>
      <p:bldP spid="252938" grpId="0" autoUpdateAnimBg="0"/>
      <p:bldP spid="252939" grpId="0" autoUpdateAnimBg="0"/>
      <p:bldP spid="252940" grpId="0" autoUpdateAnimBg="0"/>
      <p:bldP spid="252941" grpId="0" autoUpdateAnimBg="0"/>
      <p:bldP spid="252942" grpId="0" autoUpdateAnimBg="0"/>
      <p:bldP spid="252943" grpId="0" autoUpdateAnimBg="0"/>
      <p:bldP spid="252944" grpId="0" autoUpdateAnimBg="0"/>
      <p:bldP spid="252945" grpId="0" autoUpdateAnimBg="0"/>
      <p:bldP spid="252950" grpId="0" autoUpdateAnimBg="0"/>
      <p:bldP spid="252951" grpId="0" autoUpdateAnimBg="0"/>
      <p:bldP spid="252952" grpId="0" autoUpdateAnimBg="0"/>
      <p:bldP spid="252953" grpId="0" autoUpdateAnimBg="0"/>
      <p:bldP spid="252954" grpId="0" animBg="1" autoUpdateAnimBg="0"/>
      <p:bldP spid="252956" grpId="0" bldLvl="0" animBg="1"/>
      <p:bldP spid="252957"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81" name="Text Box 5"/>
          <p:cNvSpPr txBox="1">
            <a:spLocks noChangeArrowheads="1"/>
          </p:cNvSpPr>
          <p:nvPr/>
        </p:nvSpPr>
        <p:spPr bwMode="auto">
          <a:xfrm>
            <a:off x="477000" y="5040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rgbClr val="FF0000"/>
                </a:solidFill>
                <a:latin typeface="Times New Roman" panose="02020603050405020304" pitchFamily="18" charset="0"/>
                <a:ea typeface="黑体" panose="02010609060101010101" pitchFamily="49" charset="-122"/>
              </a:rPr>
              <a:t>2</a:t>
            </a:r>
            <a:r>
              <a:rPr lang="zh-CN" altLang="en-US" sz="2400" dirty="0">
                <a:solidFill>
                  <a:srgbClr val="FF0000"/>
                </a:solidFill>
                <a:latin typeface="Times New Roman" panose="02020603050405020304" pitchFamily="18" charset="0"/>
                <a:ea typeface="黑体" panose="02010609060101010101" pitchFamily="49" charset="-122"/>
              </a:rPr>
              <a:t>、应力的分类</a:t>
            </a:r>
            <a:endParaRPr lang="zh-CN" altLang="en-US" sz="2400" dirty="0">
              <a:solidFill>
                <a:srgbClr val="FF0000"/>
              </a:solidFill>
              <a:latin typeface="Times New Roman" panose="02020603050405020304" pitchFamily="18" charset="0"/>
              <a:ea typeface="黑体" panose="02010609060101010101" pitchFamily="49" charset="-122"/>
            </a:endParaRPr>
          </a:p>
        </p:txBody>
      </p:sp>
      <p:sp>
        <p:nvSpPr>
          <p:cNvPr id="254982" name="Text Box 6"/>
          <p:cNvSpPr txBox="1">
            <a:spLocks noChangeArrowheads="1"/>
          </p:cNvSpPr>
          <p:nvPr/>
        </p:nvSpPr>
        <p:spPr bwMode="auto">
          <a:xfrm>
            <a:off x="609600" y="1676400"/>
            <a:ext cx="14478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静应力</a:t>
            </a:r>
            <a:endParaRPr lang="zh-CN" altLang="en-US" sz="2400">
              <a:solidFill>
                <a:schemeClr val="hlink"/>
              </a:solidFill>
              <a:latin typeface="Times New Roman" panose="02020603050405020304" pitchFamily="18" charset="0"/>
              <a:ea typeface="黑体" panose="02010609060101010101" pitchFamily="49" charset="-122"/>
            </a:endParaRPr>
          </a:p>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变应力</a:t>
            </a:r>
            <a:endParaRPr lang="zh-CN" altLang="en-US" sz="2400">
              <a:solidFill>
                <a:schemeClr val="hlink"/>
              </a:solidFill>
              <a:latin typeface="Times New Roman" panose="02020603050405020304" pitchFamily="18" charset="0"/>
              <a:ea typeface="黑体" panose="02010609060101010101" pitchFamily="49" charset="-122"/>
            </a:endParaRPr>
          </a:p>
        </p:txBody>
      </p:sp>
      <p:sp>
        <p:nvSpPr>
          <p:cNvPr id="254983" name="Text Box 7"/>
          <p:cNvSpPr txBox="1">
            <a:spLocks noChangeArrowheads="1"/>
          </p:cNvSpPr>
          <p:nvPr/>
        </p:nvSpPr>
        <p:spPr bwMode="auto">
          <a:xfrm>
            <a:off x="1600200" y="1676400"/>
            <a:ext cx="457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不随时间改变或变化缓慢</a:t>
            </a:r>
            <a:endParaRPr lang="zh-CN" altLang="en-US" sz="2000" dirty="0">
              <a:latin typeface="Times New Roman" panose="02020603050405020304" pitchFamily="18" charset="0"/>
              <a:ea typeface="黑体" panose="02010609060101010101" pitchFamily="49" charset="-122"/>
            </a:endParaRPr>
          </a:p>
        </p:txBody>
      </p:sp>
      <p:sp>
        <p:nvSpPr>
          <p:cNvPr id="254984" name="Text Box 8"/>
          <p:cNvSpPr txBox="1">
            <a:spLocks noChangeArrowheads="1"/>
          </p:cNvSpPr>
          <p:nvPr/>
        </p:nvSpPr>
        <p:spPr bwMode="auto">
          <a:xfrm>
            <a:off x="1600200" y="2209800"/>
            <a:ext cx="5181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随时间作周期性或非周期性变化</a:t>
            </a:r>
            <a:endParaRPr lang="zh-CN" altLang="en-US" sz="2000" dirty="0">
              <a:latin typeface="Times New Roman" panose="02020603050405020304" pitchFamily="18" charset="0"/>
              <a:ea typeface="黑体" panose="02010609060101010101" pitchFamily="49" charset="-122"/>
            </a:endParaRPr>
          </a:p>
        </p:txBody>
      </p:sp>
      <p:sp>
        <p:nvSpPr>
          <p:cNvPr id="254985" name="Text Box 9"/>
          <p:cNvSpPr txBox="1">
            <a:spLocks noChangeArrowheads="1"/>
          </p:cNvSpPr>
          <p:nvPr/>
        </p:nvSpPr>
        <p:spPr bwMode="auto">
          <a:xfrm>
            <a:off x="469200" y="347416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变应力</a:t>
            </a:r>
            <a:endParaRPr lang="zh-CN" altLang="en-US" sz="2400">
              <a:solidFill>
                <a:schemeClr val="hlink"/>
              </a:solidFill>
              <a:latin typeface="Times New Roman" panose="02020603050405020304" pitchFamily="18" charset="0"/>
              <a:ea typeface="黑体" panose="02010609060101010101" pitchFamily="49" charset="-122"/>
            </a:endParaRPr>
          </a:p>
        </p:txBody>
      </p:sp>
      <p:sp>
        <p:nvSpPr>
          <p:cNvPr id="254986" name="AutoShape 10"/>
          <p:cNvSpPr/>
          <p:nvPr/>
        </p:nvSpPr>
        <p:spPr bwMode="auto">
          <a:xfrm>
            <a:off x="1556955" y="3144600"/>
            <a:ext cx="228600" cy="1219200"/>
          </a:xfrm>
          <a:prstGeom prst="leftBrace">
            <a:avLst>
              <a:gd name="adj1" fmla="val 44444"/>
              <a:gd name="adj2" fmla="val 50000"/>
            </a:avLst>
          </a:prstGeom>
          <a:noFill/>
          <a:ln w="25400">
            <a:solidFill>
              <a:srgbClr val="000099"/>
            </a:solidFill>
            <a:rou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endParaRPr lang="zh-CN" altLang="en-US" sz="2400">
              <a:solidFill>
                <a:schemeClr val="bg2"/>
              </a:solidFill>
              <a:latin typeface="Times New Roman" panose="02020603050405020304" pitchFamily="18" charset="0"/>
              <a:ea typeface="方正大黑简体" pitchFamily="2" charset="-122"/>
            </a:endParaRPr>
          </a:p>
        </p:txBody>
      </p:sp>
      <p:sp>
        <p:nvSpPr>
          <p:cNvPr id="254987" name="Text Box 11"/>
          <p:cNvSpPr txBox="1">
            <a:spLocks noChangeArrowheads="1"/>
          </p:cNvSpPr>
          <p:nvPr/>
        </p:nvSpPr>
        <p:spPr bwMode="auto">
          <a:xfrm>
            <a:off x="1826865" y="2978493"/>
            <a:ext cx="57150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000" dirty="0">
                <a:latin typeface="Times New Roman" panose="02020603050405020304" pitchFamily="18" charset="0"/>
                <a:ea typeface="黑体" panose="02010609060101010101" pitchFamily="49" charset="-122"/>
              </a:rPr>
              <a:t>稳定循环变应力</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周期性变应力</a:t>
            </a:r>
            <a:endParaRPr lang="zh-CN" altLang="en-US" sz="2000" dirty="0">
              <a:latin typeface="Times New Roman" panose="02020603050405020304" pitchFamily="18" charset="0"/>
              <a:ea typeface="黑体" panose="02010609060101010101" pitchFamily="49" charset="-122"/>
            </a:endParaRPr>
          </a:p>
        </p:txBody>
      </p:sp>
      <p:sp>
        <p:nvSpPr>
          <p:cNvPr id="254988" name="Text Box 12"/>
          <p:cNvSpPr txBox="1">
            <a:spLocks noChangeArrowheads="1"/>
          </p:cNvSpPr>
          <p:nvPr/>
        </p:nvSpPr>
        <p:spPr bwMode="auto">
          <a:xfrm>
            <a:off x="1752535" y="3541475"/>
            <a:ext cx="5638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000" dirty="0">
                <a:latin typeface="Times New Roman" panose="02020603050405020304" pitchFamily="18" charset="0"/>
                <a:ea typeface="黑体" panose="02010609060101010101" pitchFamily="49" charset="-122"/>
              </a:rPr>
              <a:t>非稳定循环变应力</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参数有变化</a:t>
            </a:r>
            <a:endParaRPr lang="zh-CN" altLang="en-US" sz="2000" dirty="0">
              <a:latin typeface="Times New Roman" panose="02020603050405020304" pitchFamily="18" charset="0"/>
              <a:ea typeface="黑体" panose="02010609060101010101" pitchFamily="49" charset="-122"/>
            </a:endParaRPr>
          </a:p>
        </p:txBody>
      </p:sp>
      <p:sp>
        <p:nvSpPr>
          <p:cNvPr id="254989" name="Text Box 13"/>
          <p:cNvSpPr txBox="1">
            <a:spLocks noChangeArrowheads="1"/>
          </p:cNvSpPr>
          <p:nvPr/>
        </p:nvSpPr>
        <p:spPr bwMode="auto">
          <a:xfrm>
            <a:off x="645000" y="5239325"/>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稳定循环变应力</a:t>
            </a:r>
            <a:endParaRPr lang="zh-CN" altLang="en-US" sz="2400">
              <a:solidFill>
                <a:schemeClr val="hlink"/>
              </a:solidFill>
              <a:latin typeface="Times New Roman" panose="02020603050405020304" pitchFamily="18" charset="0"/>
              <a:ea typeface="黑体" panose="02010609060101010101" pitchFamily="49" charset="-122"/>
            </a:endParaRPr>
          </a:p>
        </p:txBody>
      </p:sp>
      <p:sp>
        <p:nvSpPr>
          <p:cNvPr id="254990" name="AutoShape 14"/>
          <p:cNvSpPr/>
          <p:nvPr/>
        </p:nvSpPr>
        <p:spPr bwMode="auto">
          <a:xfrm>
            <a:off x="3007200" y="4858325"/>
            <a:ext cx="228600" cy="1295400"/>
          </a:xfrm>
          <a:prstGeom prst="leftBrace">
            <a:avLst>
              <a:gd name="adj1" fmla="val 47222"/>
              <a:gd name="adj2" fmla="val 50000"/>
            </a:avLst>
          </a:prstGeom>
          <a:noFill/>
          <a:ln w="25400">
            <a:solidFill>
              <a:srgbClr val="000099"/>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endParaRPr lang="zh-CN" altLang="en-US" sz="2400">
              <a:solidFill>
                <a:schemeClr val="bg2"/>
              </a:solidFill>
              <a:latin typeface="Times New Roman" panose="02020603050405020304" pitchFamily="18" charset="0"/>
              <a:ea typeface="方正大黑简体" pitchFamily="2" charset="-122"/>
            </a:endParaRPr>
          </a:p>
        </p:txBody>
      </p:sp>
      <p:sp>
        <p:nvSpPr>
          <p:cNvPr id="254991" name="Text Box 15"/>
          <p:cNvSpPr txBox="1">
            <a:spLocks noChangeArrowheads="1"/>
          </p:cNvSpPr>
          <p:nvPr/>
        </p:nvSpPr>
        <p:spPr bwMode="auto">
          <a:xfrm>
            <a:off x="3312000" y="5768915"/>
            <a:ext cx="38862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000" dirty="0">
                <a:latin typeface="Times New Roman" panose="02020603050405020304" pitchFamily="18" charset="0"/>
                <a:ea typeface="黑体" panose="02010609060101010101" pitchFamily="49" charset="-122"/>
              </a:rPr>
              <a:t>非对称循环变应力</a:t>
            </a:r>
            <a:endParaRPr lang="zh-CN" altLang="en-US" sz="2000" dirty="0">
              <a:latin typeface="Times New Roman" panose="02020603050405020304" pitchFamily="18" charset="0"/>
              <a:ea typeface="黑体" panose="02010609060101010101" pitchFamily="49" charset="-122"/>
            </a:endParaRPr>
          </a:p>
        </p:txBody>
      </p:sp>
      <p:sp>
        <p:nvSpPr>
          <p:cNvPr id="254992" name="Text Box 16"/>
          <p:cNvSpPr txBox="1">
            <a:spLocks noChangeArrowheads="1"/>
          </p:cNvSpPr>
          <p:nvPr/>
        </p:nvSpPr>
        <p:spPr bwMode="auto">
          <a:xfrm>
            <a:off x="3266915" y="4688780"/>
            <a:ext cx="32004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000" dirty="0">
                <a:latin typeface="Times New Roman" panose="02020603050405020304" pitchFamily="18" charset="0"/>
                <a:ea typeface="黑体" panose="02010609060101010101" pitchFamily="49" charset="-122"/>
              </a:rPr>
              <a:t>对称循环变应力</a:t>
            </a:r>
            <a:endParaRPr lang="zh-CN" altLang="en-US" sz="2000" dirty="0">
              <a:latin typeface="Times New Roman" panose="02020603050405020304" pitchFamily="18" charset="0"/>
              <a:ea typeface="黑体" panose="02010609060101010101" pitchFamily="49" charset="-122"/>
            </a:endParaRPr>
          </a:p>
        </p:txBody>
      </p:sp>
      <p:sp>
        <p:nvSpPr>
          <p:cNvPr id="254993" name="Text Box 17"/>
          <p:cNvSpPr txBox="1">
            <a:spLocks noChangeArrowheads="1"/>
          </p:cNvSpPr>
          <p:nvPr/>
        </p:nvSpPr>
        <p:spPr bwMode="auto">
          <a:xfrm>
            <a:off x="3266915" y="5244405"/>
            <a:ext cx="2971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000" dirty="0">
                <a:latin typeface="Times New Roman" panose="02020603050405020304" pitchFamily="18" charset="0"/>
                <a:ea typeface="黑体" panose="02010609060101010101" pitchFamily="49" charset="-122"/>
              </a:rPr>
              <a:t>脉动循环变应力</a:t>
            </a:r>
            <a:endParaRPr lang="zh-CN" altLang="en-US" sz="2000" dirty="0">
              <a:latin typeface="Times New Roman" panose="02020603050405020304" pitchFamily="18" charset="0"/>
              <a:ea typeface="黑体" panose="02010609060101010101" pitchFamily="49" charset="-122"/>
            </a:endParaRPr>
          </a:p>
        </p:txBody>
      </p:sp>
      <p:sp>
        <p:nvSpPr>
          <p:cNvPr id="254994" name="Text Box 18"/>
          <p:cNvSpPr txBox="1">
            <a:spLocks noChangeArrowheads="1"/>
          </p:cNvSpPr>
          <p:nvPr/>
        </p:nvSpPr>
        <p:spPr bwMode="auto">
          <a:xfrm>
            <a:off x="566830" y="1099245"/>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ea typeface="黑体" panose="02010609060101010101" pitchFamily="49" charset="-122"/>
              </a:rPr>
              <a:t>载荷引起的表面应力或体积应力</a:t>
            </a:r>
            <a:endParaRPr lang="zh-CN" altLang="en-US" sz="2400" dirty="0">
              <a:latin typeface="Times New Roman" panose="02020603050405020304" pitchFamily="18" charset="0"/>
              <a:ea typeface="黑体" panose="02010609060101010101" pitchFamily="49" charset="-122"/>
            </a:endParaRPr>
          </a:p>
        </p:txBody>
      </p:sp>
      <p:sp>
        <p:nvSpPr>
          <p:cNvPr id="254995" name="AutoShape 19"/>
          <p:cNvSpPr/>
          <p:nvPr/>
        </p:nvSpPr>
        <p:spPr bwMode="auto">
          <a:xfrm>
            <a:off x="457200" y="1905000"/>
            <a:ext cx="228600" cy="609600"/>
          </a:xfrm>
          <a:prstGeom prst="leftBrace">
            <a:avLst>
              <a:gd name="adj1" fmla="val 22222"/>
              <a:gd name="adj2" fmla="val 50000"/>
            </a:avLst>
          </a:prstGeom>
          <a:noFill/>
          <a:ln w="28575">
            <a:solidFill>
              <a:srgbClr val="002060"/>
            </a:solidFill>
            <a:rou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endParaRPr lang="zh-CN" altLang="en-US" sz="2400">
              <a:solidFill>
                <a:schemeClr val="bg2"/>
              </a:solidFill>
              <a:latin typeface="Times New Roman" panose="02020603050405020304" pitchFamily="18" charset="0"/>
              <a:ea typeface="方正大黑简体" pitchFamily="2" charset="-122"/>
            </a:endParaRPr>
          </a:p>
        </p:txBody>
      </p:sp>
      <p:sp>
        <p:nvSpPr>
          <p:cNvPr id="254996" name="Text Box 20"/>
          <p:cNvSpPr txBox="1">
            <a:spLocks noChangeArrowheads="1"/>
          </p:cNvSpPr>
          <p:nvPr/>
        </p:nvSpPr>
        <p:spPr bwMode="auto">
          <a:xfrm>
            <a:off x="1781745" y="4104085"/>
            <a:ext cx="5638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000" dirty="0">
                <a:latin typeface="Times New Roman" panose="02020603050405020304" pitchFamily="18" charset="0"/>
                <a:ea typeface="黑体" panose="02010609060101010101" pitchFamily="49" charset="-122"/>
              </a:rPr>
              <a:t>随机变应力</a:t>
            </a:r>
            <a:r>
              <a:rPr lang="en-US" altLang="zh-CN" sz="2000" dirty="0">
                <a:latin typeface="Times New Roman" panose="02020603050405020304" pitchFamily="18" charset="0"/>
                <a:ea typeface="黑体" panose="02010609060101010101" pitchFamily="49" charset="-122"/>
              </a:rPr>
              <a:t>——</a:t>
            </a:r>
            <a:r>
              <a:rPr lang="zh-CN" altLang="en-US" sz="2000" dirty="0">
                <a:latin typeface="Times New Roman" panose="02020603050405020304" pitchFamily="18" charset="0"/>
                <a:ea typeface="黑体" panose="02010609060101010101" pitchFamily="49" charset="-122"/>
              </a:rPr>
              <a:t>非周期性变应力</a:t>
            </a:r>
            <a:endParaRPr lang="zh-CN" altLang="en-US" sz="2000" dirty="0">
              <a:latin typeface="Times New Roman" panose="02020603050405020304" pitchFamily="18" charset="0"/>
              <a:ea typeface="黑体" panose="02010609060101010101" pitchFamily="49" charset="-122"/>
            </a:endParaRPr>
          </a:p>
        </p:txBody>
      </p:sp>
      <p:pic>
        <p:nvPicPr>
          <p:cNvPr id="254997" name="Picture 21" descr="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781800" y="596900"/>
            <a:ext cx="2209800" cy="1689100"/>
          </a:xfrm>
          <a:prstGeom prst="rect">
            <a:avLst/>
          </a:prstGeom>
          <a:noFill/>
          <a:ln w="9525">
            <a:solidFill>
              <a:srgbClr val="000099"/>
            </a:solidFill>
            <a:miter lim="800000"/>
            <a:headEnd/>
            <a:tailEnd/>
          </a:ln>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54998" name="Picture 22" descr="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81800" y="3023870"/>
            <a:ext cx="2209800" cy="1209675"/>
          </a:xfrm>
          <a:prstGeom prst="rect">
            <a:avLst/>
          </a:prstGeom>
          <a:noFill/>
          <a:ln w="9525">
            <a:solidFill>
              <a:srgbClr val="000099"/>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54999" name="Picture 23" descr="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6720" y="4823143"/>
            <a:ext cx="2209800" cy="1287462"/>
          </a:xfrm>
          <a:prstGeom prst="rect">
            <a:avLst/>
          </a:prstGeom>
          <a:noFill/>
          <a:ln w="9525">
            <a:solidFill>
              <a:srgbClr val="000099"/>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下箭头 1"/>
          <p:cNvSpPr/>
          <p:nvPr/>
        </p:nvSpPr>
        <p:spPr>
          <a:xfrm>
            <a:off x="927100" y="2720340"/>
            <a:ext cx="219710" cy="715645"/>
          </a:xfrm>
          <a:prstGeom prst="downArrow">
            <a:avLst/>
          </a:prstGeom>
          <a:solidFill>
            <a:srgbClr val="FFFF00"/>
          </a:solidFill>
          <a:ln w="9525" cap="flat" cmpd="sng" algn="ctr">
            <a:solidFill>
              <a:schemeClr val="accent2">
                <a:lumMod val="40000"/>
                <a:lumOff val="60000"/>
              </a:schemeClr>
            </a:solid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grpSp>
        <p:nvGrpSpPr>
          <p:cNvPr id="8" name="组合 7"/>
          <p:cNvGrpSpPr/>
          <p:nvPr/>
        </p:nvGrpSpPr>
        <p:grpSpPr>
          <a:xfrm>
            <a:off x="5793105" y="1532890"/>
            <a:ext cx="897255" cy="1632585"/>
            <a:chOff x="9123" y="2414"/>
            <a:chExt cx="1413" cy="2571"/>
          </a:xfrm>
        </p:grpSpPr>
        <p:cxnSp>
          <p:nvCxnSpPr>
            <p:cNvPr id="5" name="直接连接符 4"/>
            <p:cNvCxnSpPr/>
            <p:nvPr/>
          </p:nvCxnSpPr>
          <p:spPr>
            <a:xfrm flipV="1">
              <a:off x="9123" y="4975"/>
              <a:ext cx="699" cy="11"/>
            </a:xfrm>
            <a:prstGeom prst="line">
              <a:avLst/>
            </a:prstGeom>
            <a:noFill/>
            <a:ln w="19050" cap="flat" cmpd="sng" algn="ctr">
              <a:solidFill>
                <a:srgbClr val="FF0000"/>
              </a:solidFill>
              <a:prstDash val="solid"/>
              <a:round/>
              <a:headEnd type="none" w="med" len="med"/>
              <a:tailEnd type="none" w="med" len="med"/>
            </a:ln>
          </p:spPr>
        </p:cxnSp>
        <p:cxnSp>
          <p:nvCxnSpPr>
            <p:cNvPr id="6" name="直接连接符 5"/>
            <p:cNvCxnSpPr/>
            <p:nvPr/>
          </p:nvCxnSpPr>
          <p:spPr>
            <a:xfrm flipV="1">
              <a:off x="9818" y="2414"/>
              <a:ext cx="0" cy="2553"/>
            </a:xfrm>
            <a:prstGeom prst="line">
              <a:avLst/>
            </a:prstGeom>
            <a:noFill/>
            <a:ln w="19050" cap="flat" cmpd="sng" algn="ctr">
              <a:solidFill>
                <a:srgbClr val="FF0000"/>
              </a:solidFill>
              <a:prstDash val="solid"/>
              <a:round/>
              <a:headEnd type="none" w="med" len="med"/>
              <a:tailEnd type="none" w="med" len="med"/>
            </a:ln>
          </p:spPr>
        </p:cxnSp>
        <p:cxnSp>
          <p:nvCxnSpPr>
            <p:cNvPr id="7" name="直接箭头连接符 6"/>
            <p:cNvCxnSpPr/>
            <p:nvPr/>
          </p:nvCxnSpPr>
          <p:spPr>
            <a:xfrm>
              <a:off x="9804" y="2414"/>
              <a:ext cx="732" cy="0"/>
            </a:xfrm>
            <a:prstGeom prst="straightConnector1">
              <a:avLst/>
            </a:prstGeom>
            <a:noFill/>
            <a:ln w="19050" cap="flat" cmpd="sng" algn="ctr">
              <a:solidFill>
                <a:srgbClr val="FF0000"/>
              </a:solidFill>
              <a:prstDash val="solid"/>
              <a:round/>
              <a:headEnd type="none" w="med" len="med"/>
              <a:tailEnd type="arrow" w="med" len="med"/>
            </a:ln>
          </p:spPr>
        </p:cxnSp>
      </p:grpSp>
      <p:cxnSp>
        <p:nvCxnSpPr>
          <p:cNvPr id="9" name="直接箭头连接符 8"/>
          <p:cNvCxnSpPr/>
          <p:nvPr/>
        </p:nvCxnSpPr>
        <p:spPr>
          <a:xfrm>
            <a:off x="5781040" y="3738245"/>
            <a:ext cx="930275" cy="0"/>
          </a:xfrm>
          <a:prstGeom prst="straightConnector1">
            <a:avLst/>
          </a:prstGeom>
          <a:noFill/>
          <a:ln w="28575" cap="flat" cmpd="sng" algn="ctr">
            <a:solidFill>
              <a:srgbClr val="FF0000"/>
            </a:solidFill>
            <a:prstDash val="solid"/>
            <a:round/>
            <a:headEnd type="none" w="med" len="med"/>
            <a:tailEnd type="arrow" w="med" len="med"/>
          </a:ln>
        </p:spPr>
      </p:cxnSp>
      <p:grpSp>
        <p:nvGrpSpPr>
          <p:cNvPr id="10" name="组合 9"/>
          <p:cNvGrpSpPr/>
          <p:nvPr/>
        </p:nvGrpSpPr>
        <p:grpSpPr>
          <a:xfrm flipV="1">
            <a:off x="5759450" y="4291965"/>
            <a:ext cx="908685" cy="1170940"/>
            <a:chOff x="9123" y="3142"/>
            <a:chExt cx="1431" cy="1844"/>
          </a:xfrm>
        </p:grpSpPr>
        <p:cxnSp>
          <p:nvCxnSpPr>
            <p:cNvPr id="11" name="直接连接符 10"/>
            <p:cNvCxnSpPr/>
            <p:nvPr/>
          </p:nvCxnSpPr>
          <p:spPr>
            <a:xfrm flipV="1">
              <a:off x="9123" y="4975"/>
              <a:ext cx="699" cy="11"/>
            </a:xfrm>
            <a:prstGeom prst="line">
              <a:avLst/>
            </a:prstGeom>
            <a:noFill/>
            <a:ln w="19050" cap="flat" cmpd="sng" algn="ctr">
              <a:solidFill>
                <a:srgbClr val="FF0000"/>
              </a:solidFill>
              <a:prstDash val="solid"/>
              <a:round/>
              <a:headEnd type="none" w="med" len="med"/>
              <a:tailEnd type="none" w="med" len="med"/>
            </a:ln>
          </p:spPr>
        </p:cxnSp>
        <p:cxnSp>
          <p:nvCxnSpPr>
            <p:cNvPr id="12" name="直接连接符 11"/>
            <p:cNvCxnSpPr/>
            <p:nvPr/>
          </p:nvCxnSpPr>
          <p:spPr>
            <a:xfrm flipV="1">
              <a:off x="9818" y="3142"/>
              <a:ext cx="0" cy="1825"/>
            </a:xfrm>
            <a:prstGeom prst="line">
              <a:avLst/>
            </a:prstGeom>
            <a:noFill/>
            <a:ln w="19050" cap="flat" cmpd="sng" algn="ctr">
              <a:solidFill>
                <a:srgbClr val="FF0000"/>
              </a:solidFill>
              <a:prstDash val="solid"/>
              <a:round/>
              <a:headEnd type="none" w="med" len="med"/>
              <a:tailEnd type="none" w="med" len="med"/>
            </a:ln>
          </p:spPr>
        </p:cxnSp>
        <p:cxnSp>
          <p:nvCxnSpPr>
            <p:cNvPr id="13" name="直接箭头连接符 12"/>
            <p:cNvCxnSpPr/>
            <p:nvPr/>
          </p:nvCxnSpPr>
          <p:spPr>
            <a:xfrm>
              <a:off x="9822" y="3156"/>
              <a:ext cx="732" cy="0"/>
            </a:xfrm>
            <a:prstGeom prst="straightConnector1">
              <a:avLst/>
            </a:prstGeom>
            <a:noFill/>
            <a:ln w="19050" cap="flat" cmpd="sng" algn="ctr">
              <a:solidFill>
                <a:srgbClr val="FF0000"/>
              </a:solidFill>
              <a:prstDash val="solid"/>
              <a:round/>
              <a:headEnd type="none" w="med" len="med"/>
              <a:tailEnd type="arrow" w="med" len="med"/>
            </a:ln>
          </p:spPr>
        </p:cxnSp>
      </p:grpSp>
      <p:sp>
        <p:nvSpPr>
          <p:cNvPr id="3" name="矩形 2"/>
          <p:cNvSpPr/>
          <p:nvPr/>
        </p:nvSpPr>
        <p:spPr>
          <a:xfrm>
            <a:off x="1826895" y="2844165"/>
            <a:ext cx="3959860" cy="629920"/>
          </a:xfrm>
          <a:prstGeom prst="rect">
            <a:avLst/>
          </a:prstGeom>
          <a:noFill/>
          <a:ln w="28575" cap="flat" cmpd="sng" algn="ctr">
            <a:solidFill>
              <a:schemeClr val="tx2">
                <a:lumMod val="40000"/>
                <a:lumOff val="60000"/>
              </a:schemeClr>
            </a:solidFill>
            <a:prstDash val="lgDash"/>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cxnSp>
        <p:nvCxnSpPr>
          <p:cNvPr id="4" name="直接箭头连接符 3"/>
          <p:cNvCxnSpPr/>
          <p:nvPr/>
        </p:nvCxnSpPr>
        <p:spPr>
          <a:xfrm>
            <a:off x="1826895" y="3452495"/>
            <a:ext cx="0" cy="1795145"/>
          </a:xfrm>
          <a:prstGeom prst="straightConnector1">
            <a:avLst/>
          </a:prstGeom>
          <a:noFill/>
          <a:ln w="28575" cap="flat" cmpd="sng" algn="ctr">
            <a:solidFill>
              <a:srgbClr val="FF00FF"/>
            </a:solidFill>
            <a:prstDash val="solid"/>
            <a:round/>
            <a:headEnd type="none" w="med" len="med"/>
            <a:tailEnd type="arrow"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iterate type="lt">
                                    <p:tmPct val="100000"/>
                                  </p:iterate>
                                  <p:childTnLst>
                                    <p:set>
                                      <p:cBhvr>
                                        <p:cTn id="6" dur="1" fill="hold">
                                          <p:stCondLst>
                                            <p:cond delay="0"/>
                                          </p:stCondLst>
                                        </p:cTn>
                                        <p:tgtEl>
                                          <p:spTgt spid="254981"/>
                                        </p:tgtEl>
                                        <p:attrNameLst>
                                          <p:attrName>style.visibility</p:attrName>
                                        </p:attrNameLst>
                                      </p:cBhvr>
                                      <p:to>
                                        <p:strVal val="visible"/>
                                      </p:to>
                                    </p:set>
                                    <p:animEffect transition="in" filter="slide(fromRight)">
                                      <p:cBhvr>
                                        <p:cTn id="7" dur="75"/>
                                        <p:tgtEl>
                                          <p:spTgt spid="25498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54994"/>
                                        </p:tgtEl>
                                        <p:attrNameLst>
                                          <p:attrName>style.visibility</p:attrName>
                                        </p:attrNameLst>
                                      </p:cBhvr>
                                      <p:to>
                                        <p:strVal val="visible"/>
                                      </p:to>
                                    </p:set>
                                    <p:animEffect transition="in" filter="slide(fromLeft)">
                                      <p:cBhvr>
                                        <p:cTn id="12" dur="500"/>
                                        <p:tgtEl>
                                          <p:spTgt spid="25499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254995"/>
                                        </p:tgtEl>
                                        <p:attrNameLst>
                                          <p:attrName>style.visibility</p:attrName>
                                        </p:attrNameLst>
                                      </p:cBhvr>
                                      <p:to>
                                        <p:strVal val="visible"/>
                                      </p:to>
                                    </p:set>
                                    <p:animEffect transition="in" filter="slide(fromLeft)">
                                      <p:cBhvr>
                                        <p:cTn id="17" dur="500"/>
                                        <p:tgtEl>
                                          <p:spTgt spid="254995"/>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54982"/>
                                        </p:tgtEl>
                                        <p:attrNameLst>
                                          <p:attrName>style.visibility</p:attrName>
                                        </p:attrNameLst>
                                      </p:cBhvr>
                                      <p:to>
                                        <p:strVal val="visible"/>
                                      </p:to>
                                    </p:set>
                                    <p:animEffect transition="in" filter="wipe(left)">
                                      <p:cBhvr>
                                        <p:cTn id="21" dur="500"/>
                                        <p:tgtEl>
                                          <p:spTgt spid="254982"/>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254983">
                                            <p:txEl>
                                              <p:pRg st="0" end="0"/>
                                            </p:txEl>
                                          </p:spTgt>
                                        </p:tgtEl>
                                        <p:attrNameLst>
                                          <p:attrName>style.visibility</p:attrName>
                                        </p:attrNameLst>
                                      </p:cBhvr>
                                      <p:to>
                                        <p:strVal val="visible"/>
                                      </p:to>
                                    </p:set>
                                    <p:animEffect transition="in" filter="slide(fromLeft)">
                                      <p:cBhvr>
                                        <p:cTn id="26" dur="500"/>
                                        <p:tgtEl>
                                          <p:spTgt spid="25498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254984"/>
                                        </p:tgtEl>
                                        <p:attrNameLst>
                                          <p:attrName>style.visibility</p:attrName>
                                        </p:attrNameLst>
                                      </p:cBhvr>
                                      <p:to>
                                        <p:strVal val="visible"/>
                                      </p:to>
                                    </p:set>
                                    <p:animEffect transition="in" filter="slide(fromLeft)">
                                      <p:cBhvr>
                                        <p:cTn id="31" dur="500"/>
                                        <p:tgtEl>
                                          <p:spTgt spid="25498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up)">
                                      <p:cBhvr>
                                        <p:cTn id="36" dur="500"/>
                                        <p:tgtEl>
                                          <p:spTgt spid="2"/>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254985"/>
                                        </p:tgtEl>
                                        <p:attrNameLst>
                                          <p:attrName>style.visibility</p:attrName>
                                        </p:attrNameLst>
                                      </p:cBhvr>
                                      <p:to>
                                        <p:strVal val="visible"/>
                                      </p:to>
                                    </p:set>
                                    <p:animEffect transition="in" filter="wipe(left)">
                                      <p:cBhvr>
                                        <p:cTn id="40" dur="500"/>
                                        <p:tgtEl>
                                          <p:spTgt spid="254985"/>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grpId="0" nodeType="clickEffect">
                                  <p:stCondLst>
                                    <p:cond delay="0"/>
                                  </p:stCondLst>
                                  <p:childTnLst>
                                    <p:set>
                                      <p:cBhvr>
                                        <p:cTn id="44" dur="1" fill="hold">
                                          <p:stCondLst>
                                            <p:cond delay="0"/>
                                          </p:stCondLst>
                                        </p:cTn>
                                        <p:tgtEl>
                                          <p:spTgt spid="254986"/>
                                        </p:tgtEl>
                                        <p:attrNameLst>
                                          <p:attrName>style.visibility</p:attrName>
                                        </p:attrNameLst>
                                      </p:cBhvr>
                                      <p:to>
                                        <p:strVal val="visible"/>
                                      </p:to>
                                    </p:set>
                                    <p:animEffect transition="in" filter="slide(fromLeft)">
                                      <p:cBhvr>
                                        <p:cTn id="45" dur="500"/>
                                        <p:tgtEl>
                                          <p:spTgt spid="254986"/>
                                        </p:tgtEl>
                                      </p:cBhvr>
                                    </p:animEffect>
                                  </p:childTnLst>
                                </p:cTn>
                              </p:par>
                            </p:childTnLst>
                          </p:cTn>
                        </p:par>
                        <p:par>
                          <p:cTn id="46" fill="hold">
                            <p:stCondLst>
                              <p:cond delay="500"/>
                            </p:stCondLst>
                            <p:childTnLst>
                              <p:par>
                                <p:cTn id="47" presetID="12" presetClass="entr" presetSubtype="8" fill="hold" grpId="0" nodeType="afterEffect">
                                  <p:stCondLst>
                                    <p:cond delay="0"/>
                                  </p:stCondLst>
                                  <p:childTnLst>
                                    <p:set>
                                      <p:cBhvr>
                                        <p:cTn id="48" dur="1" fill="hold">
                                          <p:stCondLst>
                                            <p:cond delay="0"/>
                                          </p:stCondLst>
                                        </p:cTn>
                                        <p:tgtEl>
                                          <p:spTgt spid="254987"/>
                                        </p:tgtEl>
                                        <p:attrNameLst>
                                          <p:attrName>style.visibility</p:attrName>
                                        </p:attrNameLst>
                                      </p:cBhvr>
                                      <p:to>
                                        <p:strVal val="visible"/>
                                      </p:to>
                                    </p:set>
                                    <p:animEffect transition="in" filter="slide(fromLeft)">
                                      <p:cBhvr>
                                        <p:cTn id="49" dur="500"/>
                                        <p:tgtEl>
                                          <p:spTgt spid="254987"/>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left)">
                                      <p:cBhvr>
                                        <p:cTn id="53" dur="500"/>
                                        <p:tgtEl>
                                          <p:spTgt spid="8"/>
                                        </p:tgtEl>
                                      </p:cBhvr>
                                    </p:animEffect>
                                  </p:childTnLst>
                                </p:cTn>
                              </p:par>
                            </p:childTnLst>
                          </p:cTn>
                        </p:par>
                        <p:par>
                          <p:cTn id="54" fill="hold">
                            <p:stCondLst>
                              <p:cond delay="1500"/>
                            </p:stCondLst>
                            <p:childTnLst>
                              <p:par>
                                <p:cTn id="55" presetID="9" presetClass="entr" presetSubtype="0" fill="hold" nodeType="afterEffect">
                                  <p:stCondLst>
                                    <p:cond delay="0"/>
                                  </p:stCondLst>
                                  <p:childTnLst>
                                    <p:set>
                                      <p:cBhvr>
                                        <p:cTn id="56" dur="1" fill="hold">
                                          <p:stCondLst>
                                            <p:cond delay="0"/>
                                          </p:stCondLst>
                                        </p:cTn>
                                        <p:tgtEl>
                                          <p:spTgt spid="254997"/>
                                        </p:tgtEl>
                                        <p:attrNameLst>
                                          <p:attrName>style.visibility</p:attrName>
                                        </p:attrNameLst>
                                      </p:cBhvr>
                                      <p:to>
                                        <p:strVal val="visible"/>
                                      </p:to>
                                    </p:set>
                                    <p:animEffect transition="in" filter="dissolve">
                                      <p:cBhvr>
                                        <p:cTn id="57" dur="500"/>
                                        <p:tgtEl>
                                          <p:spTgt spid="254997"/>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grpId="0" nodeType="clickEffect">
                                  <p:stCondLst>
                                    <p:cond delay="0"/>
                                  </p:stCondLst>
                                  <p:childTnLst>
                                    <p:set>
                                      <p:cBhvr>
                                        <p:cTn id="61" dur="1" fill="hold">
                                          <p:stCondLst>
                                            <p:cond delay="0"/>
                                          </p:stCondLst>
                                        </p:cTn>
                                        <p:tgtEl>
                                          <p:spTgt spid="254988"/>
                                        </p:tgtEl>
                                        <p:attrNameLst>
                                          <p:attrName>style.visibility</p:attrName>
                                        </p:attrNameLst>
                                      </p:cBhvr>
                                      <p:to>
                                        <p:strVal val="visible"/>
                                      </p:to>
                                    </p:set>
                                    <p:animEffect transition="in" filter="slide(fromLeft)">
                                      <p:cBhvr>
                                        <p:cTn id="62" dur="500"/>
                                        <p:tgtEl>
                                          <p:spTgt spid="254988"/>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left)">
                                      <p:cBhvr>
                                        <p:cTn id="66" dur="500"/>
                                        <p:tgtEl>
                                          <p:spTgt spid="9"/>
                                        </p:tgtEl>
                                      </p:cBhvr>
                                    </p:animEffect>
                                  </p:childTnLst>
                                </p:cTn>
                              </p:par>
                            </p:childTnLst>
                          </p:cTn>
                        </p:par>
                        <p:par>
                          <p:cTn id="67" fill="hold">
                            <p:stCondLst>
                              <p:cond delay="1000"/>
                            </p:stCondLst>
                            <p:childTnLst>
                              <p:par>
                                <p:cTn id="68" presetID="9" presetClass="entr" presetSubtype="0" fill="hold" nodeType="afterEffect">
                                  <p:stCondLst>
                                    <p:cond delay="0"/>
                                  </p:stCondLst>
                                  <p:childTnLst>
                                    <p:set>
                                      <p:cBhvr>
                                        <p:cTn id="69" dur="1" fill="hold">
                                          <p:stCondLst>
                                            <p:cond delay="0"/>
                                          </p:stCondLst>
                                        </p:cTn>
                                        <p:tgtEl>
                                          <p:spTgt spid="254998"/>
                                        </p:tgtEl>
                                        <p:attrNameLst>
                                          <p:attrName>style.visibility</p:attrName>
                                        </p:attrNameLst>
                                      </p:cBhvr>
                                      <p:to>
                                        <p:strVal val="visible"/>
                                      </p:to>
                                    </p:set>
                                    <p:animEffect transition="in" filter="dissolve">
                                      <p:cBhvr>
                                        <p:cTn id="70" dur="500"/>
                                        <p:tgtEl>
                                          <p:spTgt spid="254998"/>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8" fill="hold" grpId="0" nodeType="clickEffect">
                                  <p:stCondLst>
                                    <p:cond delay="0"/>
                                  </p:stCondLst>
                                  <p:childTnLst>
                                    <p:set>
                                      <p:cBhvr>
                                        <p:cTn id="74" dur="1" fill="hold">
                                          <p:stCondLst>
                                            <p:cond delay="0"/>
                                          </p:stCondLst>
                                        </p:cTn>
                                        <p:tgtEl>
                                          <p:spTgt spid="254996"/>
                                        </p:tgtEl>
                                        <p:attrNameLst>
                                          <p:attrName>style.visibility</p:attrName>
                                        </p:attrNameLst>
                                      </p:cBhvr>
                                      <p:to>
                                        <p:strVal val="visible"/>
                                      </p:to>
                                    </p:set>
                                    <p:animEffect transition="in" filter="slide(fromLeft)">
                                      <p:cBhvr>
                                        <p:cTn id="75" dur="500"/>
                                        <p:tgtEl>
                                          <p:spTgt spid="254996"/>
                                        </p:tgtEl>
                                      </p:cBhvr>
                                    </p:animEffect>
                                  </p:childTnLst>
                                </p:cTn>
                              </p:par>
                            </p:childTnLst>
                          </p:cTn>
                        </p:par>
                        <p:par>
                          <p:cTn id="76" fill="hold">
                            <p:stCondLst>
                              <p:cond delay="500"/>
                            </p:stCondLst>
                            <p:childTnLst>
                              <p:par>
                                <p:cTn id="77" presetID="22" presetClass="entr" presetSubtype="8" fill="hold" nodeType="after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left)">
                                      <p:cBhvr>
                                        <p:cTn id="79" dur="500"/>
                                        <p:tgtEl>
                                          <p:spTgt spid="10"/>
                                        </p:tgtEl>
                                      </p:cBhvr>
                                    </p:animEffect>
                                  </p:childTnLst>
                                </p:cTn>
                              </p:par>
                            </p:childTnLst>
                          </p:cTn>
                        </p:par>
                        <p:par>
                          <p:cTn id="80" fill="hold">
                            <p:stCondLst>
                              <p:cond delay="1000"/>
                            </p:stCondLst>
                            <p:childTnLst>
                              <p:par>
                                <p:cTn id="81" presetID="9" presetClass="entr" presetSubtype="0" fill="hold" nodeType="afterEffect">
                                  <p:stCondLst>
                                    <p:cond delay="0"/>
                                  </p:stCondLst>
                                  <p:childTnLst>
                                    <p:set>
                                      <p:cBhvr>
                                        <p:cTn id="82" dur="1" fill="hold">
                                          <p:stCondLst>
                                            <p:cond delay="0"/>
                                          </p:stCondLst>
                                        </p:cTn>
                                        <p:tgtEl>
                                          <p:spTgt spid="254999"/>
                                        </p:tgtEl>
                                        <p:attrNameLst>
                                          <p:attrName>style.visibility</p:attrName>
                                        </p:attrNameLst>
                                      </p:cBhvr>
                                      <p:to>
                                        <p:strVal val="visible"/>
                                      </p:to>
                                    </p:set>
                                    <p:animEffect transition="in" filter="dissolve">
                                      <p:cBhvr>
                                        <p:cTn id="83" dur="500"/>
                                        <p:tgtEl>
                                          <p:spTgt spid="254999"/>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1" fill="hold" grpId="0" nodeType="click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wheel(1)">
                                      <p:cBhvr>
                                        <p:cTn id="88" dur="2000"/>
                                        <p:tgtEl>
                                          <p:spTgt spid="3"/>
                                        </p:tgtEl>
                                      </p:cBhvr>
                                    </p:animEffect>
                                  </p:childTnLst>
                                </p:cTn>
                              </p:par>
                            </p:childTnLst>
                          </p:cTn>
                        </p:par>
                        <p:par>
                          <p:cTn id="89" fill="hold">
                            <p:stCondLst>
                              <p:cond delay="2000"/>
                            </p:stCondLst>
                            <p:childTnLst>
                              <p:par>
                                <p:cTn id="90" presetID="22" presetClass="entr" presetSubtype="1" fill="hold" nodeType="afterEffect">
                                  <p:stCondLst>
                                    <p:cond delay="0"/>
                                  </p:stCondLst>
                                  <p:childTnLst>
                                    <p:set>
                                      <p:cBhvr>
                                        <p:cTn id="91" dur="1" fill="hold">
                                          <p:stCondLst>
                                            <p:cond delay="0"/>
                                          </p:stCondLst>
                                        </p:cTn>
                                        <p:tgtEl>
                                          <p:spTgt spid="4"/>
                                        </p:tgtEl>
                                        <p:attrNameLst>
                                          <p:attrName>style.visibility</p:attrName>
                                        </p:attrNameLst>
                                      </p:cBhvr>
                                      <p:to>
                                        <p:strVal val="visible"/>
                                      </p:to>
                                    </p:set>
                                    <p:animEffect transition="in" filter="wipe(up)">
                                      <p:cBhvr>
                                        <p:cTn id="92" dur="500"/>
                                        <p:tgtEl>
                                          <p:spTgt spid="4"/>
                                        </p:tgtEl>
                                      </p:cBhvr>
                                    </p:animEffect>
                                  </p:childTnLst>
                                </p:cTn>
                              </p:par>
                            </p:childTnLst>
                          </p:cTn>
                        </p:par>
                        <p:par>
                          <p:cTn id="93" fill="hold">
                            <p:stCondLst>
                              <p:cond delay="2500"/>
                            </p:stCondLst>
                            <p:childTnLst>
                              <p:par>
                                <p:cTn id="94" presetID="22" presetClass="entr" presetSubtype="8" fill="hold" grpId="0" nodeType="afterEffect">
                                  <p:stCondLst>
                                    <p:cond delay="0"/>
                                  </p:stCondLst>
                                  <p:childTnLst>
                                    <p:set>
                                      <p:cBhvr>
                                        <p:cTn id="95" dur="1" fill="hold">
                                          <p:stCondLst>
                                            <p:cond delay="0"/>
                                          </p:stCondLst>
                                        </p:cTn>
                                        <p:tgtEl>
                                          <p:spTgt spid="254989"/>
                                        </p:tgtEl>
                                        <p:attrNameLst>
                                          <p:attrName>style.visibility</p:attrName>
                                        </p:attrNameLst>
                                      </p:cBhvr>
                                      <p:to>
                                        <p:strVal val="visible"/>
                                      </p:to>
                                    </p:set>
                                    <p:animEffect transition="in" filter="wipe(left)">
                                      <p:cBhvr>
                                        <p:cTn id="96" dur="500"/>
                                        <p:tgtEl>
                                          <p:spTgt spid="254989"/>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8" fill="hold" grpId="0" nodeType="clickEffect">
                                  <p:stCondLst>
                                    <p:cond delay="0"/>
                                  </p:stCondLst>
                                  <p:childTnLst>
                                    <p:set>
                                      <p:cBhvr>
                                        <p:cTn id="100" dur="1" fill="hold">
                                          <p:stCondLst>
                                            <p:cond delay="0"/>
                                          </p:stCondLst>
                                        </p:cTn>
                                        <p:tgtEl>
                                          <p:spTgt spid="254990"/>
                                        </p:tgtEl>
                                        <p:attrNameLst>
                                          <p:attrName>style.visibility</p:attrName>
                                        </p:attrNameLst>
                                      </p:cBhvr>
                                      <p:to>
                                        <p:strVal val="visible"/>
                                      </p:to>
                                    </p:set>
                                    <p:animEffect transition="in" filter="slide(fromLeft)">
                                      <p:cBhvr>
                                        <p:cTn id="101" dur="500"/>
                                        <p:tgtEl>
                                          <p:spTgt spid="254990"/>
                                        </p:tgtEl>
                                      </p:cBhvr>
                                    </p:animEffect>
                                  </p:childTnLst>
                                </p:cTn>
                              </p:par>
                            </p:childTnLst>
                          </p:cTn>
                        </p:par>
                        <p:par>
                          <p:cTn id="102" fill="hold">
                            <p:stCondLst>
                              <p:cond delay="500"/>
                            </p:stCondLst>
                            <p:childTnLst>
                              <p:par>
                                <p:cTn id="103" presetID="12" presetClass="entr" presetSubtype="8" fill="hold" grpId="0" nodeType="afterEffect">
                                  <p:stCondLst>
                                    <p:cond delay="0"/>
                                  </p:stCondLst>
                                  <p:childTnLst>
                                    <p:set>
                                      <p:cBhvr>
                                        <p:cTn id="104" dur="1" fill="hold">
                                          <p:stCondLst>
                                            <p:cond delay="0"/>
                                          </p:stCondLst>
                                        </p:cTn>
                                        <p:tgtEl>
                                          <p:spTgt spid="254992"/>
                                        </p:tgtEl>
                                        <p:attrNameLst>
                                          <p:attrName>style.visibility</p:attrName>
                                        </p:attrNameLst>
                                      </p:cBhvr>
                                      <p:to>
                                        <p:strVal val="visible"/>
                                      </p:to>
                                    </p:set>
                                    <p:animEffect transition="in" filter="slide(fromLeft)">
                                      <p:cBhvr>
                                        <p:cTn id="105" dur="500"/>
                                        <p:tgtEl>
                                          <p:spTgt spid="254992"/>
                                        </p:tgtEl>
                                      </p:cBhvr>
                                    </p:animEffect>
                                  </p:childTnLst>
                                </p:cTn>
                              </p:par>
                            </p:childTnLst>
                          </p:cTn>
                        </p:par>
                        <p:par>
                          <p:cTn id="106" fill="hold">
                            <p:stCondLst>
                              <p:cond delay="1000"/>
                            </p:stCondLst>
                            <p:childTnLst>
                              <p:par>
                                <p:cTn id="107" presetID="12" presetClass="entr" presetSubtype="8" fill="hold" grpId="0" nodeType="afterEffect">
                                  <p:stCondLst>
                                    <p:cond delay="0"/>
                                  </p:stCondLst>
                                  <p:childTnLst>
                                    <p:set>
                                      <p:cBhvr>
                                        <p:cTn id="108" dur="1" fill="hold">
                                          <p:stCondLst>
                                            <p:cond delay="0"/>
                                          </p:stCondLst>
                                        </p:cTn>
                                        <p:tgtEl>
                                          <p:spTgt spid="254993"/>
                                        </p:tgtEl>
                                        <p:attrNameLst>
                                          <p:attrName>style.visibility</p:attrName>
                                        </p:attrNameLst>
                                      </p:cBhvr>
                                      <p:to>
                                        <p:strVal val="visible"/>
                                      </p:to>
                                    </p:set>
                                    <p:animEffect transition="in" filter="slide(fromLeft)">
                                      <p:cBhvr>
                                        <p:cTn id="109" dur="500"/>
                                        <p:tgtEl>
                                          <p:spTgt spid="254993"/>
                                        </p:tgtEl>
                                      </p:cBhvr>
                                    </p:animEffect>
                                  </p:childTnLst>
                                </p:cTn>
                              </p:par>
                            </p:childTnLst>
                          </p:cTn>
                        </p:par>
                        <p:par>
                          <p:cTn id="110" fill="hold">
                            <p:stCondLst>
                              <p:cond delay="1500"/>
                            </p:stCondLst>
                            <p:childTnLst>
                              <p:par>
                                <p:cTn id="111" presetID="12" presetClass="entr" presetSubtype="8" fill="hold" grpId="0" nodeType="afterEffect">
                                  <p:stCondLst>
                                    <p:cond delay="0"/>
                                  </p:stCondLst>
                                  <p:childTnLst>
                                    <p:set>
                                      <p:cBhvr>
                                        <p:cTn id="112" dur="1" fill="hold">
                                          <p:stCondLst>
                                            <p:cond delay="0"/>
                                          </p:stCondLst>
                                        </p:cTn>
                                        <p:tgtEl>
                                          <p:spTgt spid="254991"/>
                                        </p:tgtEl>
                                        <p:attrNameLst>
                                          <p:attrName>style.visibility</p:attrName>
                                        </p:attrNameLst>
                                      </p:cBhvr>
                                      <p:to>
                                        <p:strVal val="visible"/>
                                      </p:to>
                                    </p:set>
                                    <p:animEffect transition="in" filter="slide(fromLeft)">
                                      <p:cBhvr>
                                        <p:cTn id="113" dur="500"/>
                                        <p:tgtEl>
                                          <p:spTgt spid="254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1" grpId="0" autoUpdateAnimBg="0"/>
      <p:bldP spid="254982" grpId="0" autoUpdateAnimBg="0"/>
      <p:bldP spid="254983" grpId="0" autoUpdateAnimBg="0" rev="1" build="p"/>
      <p:bldP spid="254984" grpId="0" autoUpdateAnimBg="0"/>
      <p:bldP spid="254985" grpId="0" autoUpdateAnimBg="0"/>
      <p:bldP spid="254986" grpId="0" bldLvl="0" animBg="1"/>
      <p:bldP spid="254987" grpId="0" autoUpdateAnimBg="0"/>
      <p:bldP spid="254988" grpId="0" autoUpdateAnimBg="0"/>
      <p:bldP spid="254989" grpId="0" autoUpdateAnimBg="0"/>
      <p:bldP spid="254990" grpId="0" animBg="1"/>
      <p:bldP spid="254991" grpId="0" autoUpdateAnimBg="0"/>
      <p:bldP spid="254992" grpId="0" autoUpdateAnimBg="0"/>
      <p:bldP spid="254993" grpId="0" autoUpdateAnimBg="0"/>
      <p:bldP spid="254994" grpId="0" autoUpdateAnimBg="0"/>
      <p:bldP spid="254995" grpId="0" animBg="1"/>
      <p:bldP spid="254996" grpId="0" autoUpdateAnimBg="0"/>
      <p:bldP spid="2" grpId="0" animBg="1"/>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7" name="Text Box 5"/>
          <p:cNvSpPr txBox="1">
            <a:spLocks noChangeArrowheads="1"/>
          </p:cNvSpPr>
          <p:nvPr/>
        </p:nvSpPr>
        <p:spPr bwMode="auto">
          <a:xfrm>
            <a:off x="297000" y="234000"/>
            <a:ext cx="4475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dirty="0">
                <a:solidFill>
                  <a:srgbClr val="FF0000"/>
                </a:solidFill>
                <a:latin typeface="Times New Roman" panose="02020603050405020304" pitchFamily="18" charset="0"/>
                <a:ea typeface="黑体" panose="02010609060101010101" pitchFamily="49" charset="-122"/>
              </a:rPr>
              <a:t>3</a:t>
            </a:r>
            <a:r>
              <a:rPr lang="zh-CN" altLang="en-US" sz="2400" dirty="0">
                <a:solidFill>
                  <a:srgbClr val="FF0000"/>
                </a:solidFill>
                <a:latin typeface="Times New Roman" panose="02020603050405020304" pitchFamily="18" charset="0"/>
                <a:ea typeface="黑体" panose="02010609060101010101" pitchFamily="49" charset="-122"/>
              </a:rPr>
              <a:t>、变应力的五个特性参数</a:t>
            </a:r>
            <a:endParaRPr lang="zh-CN" altLang="en-US" sz="2400" dirty="0">
              <a:solidFill>
                <a:srgbClr val="FF0000"/>
              </a:solidFill>
              <a:latin typeface="Times New Roman" panose="02020603050405020304" pitchFamily="18" charset="0"/>
              <a:ea typeface="黑体" panose="02010609060101010101" pitchFamily="49" charset="-122"/>
            </a:endParaRPr>
          </a:p>
        </p:txBody>
      </p:sp>
      <p:sp>
        <p:nvSpPr>
          <p:cNvPr id="259096" name="Rectangle 24"/>
          <p:cNvSpPr>
            <a:spLocks noChangeArrowheads="1"/>
          </p:cNvSpPr>
          <p:nvPr/>
        </p:nvSpPr>
        <p:spPr bwMode="auto">
          <a:xfrm>
            <a:off x="4068763" y="1986280"/>
            <a:ext cx="18557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（取绝对值）</a:t>
            </a:r>
            <a:endParaRPr lang="zh-CN" altLang="en-US" sz="2400">
              <a:solidFill>
                <a:schemeClr val="hlink"/>
              </a:solidFill>
              <a:latin typeface="Times New Roman" panose="02020603050405020304" pitchFamily="18" charset="0"/>
              <a:ea typeface="黑体" panose="02010609060101010101" pitchFamily="49" charset="-122"/>
            </a:endParaRPr>
          </a:p>
        </p:txBody>
      </p:sp>
      <p:grpSp>
        <p:nvGrpSpPr>
          <p:cNvPr id="2" name="Group 25"/>
          <p:cNvGrpSpPr/>
          <p:nvPr/>
        </p:nvGrpSpPr>
        <p:grpSpPr bwMode="auto">
          <a:xfrm>
            <a:off x="5668963" y="341313"/>
            <a:ext cx="3171825" cy="2289175"/>
            <a:chOff x="3513" y="215"/>
            <a:chExt cx="1998" cy="1442"/>
          </a:xfrm>
        </p:grpSpPr>
        <p:grpSp>
          <p:nvGrpSpPr>
            <p:cNvPr id="37914" name="Group 26"/>
            <p:cNvGrpSpPr/>
            <p:nvPr/>
          </p:nvGrpSpPr>
          <p:grpSpPr bwMode="auto">
            <a:xfrm>
              <a:off x="3831" y="509"/>
              <a:ext cx="1344" cy="864"/>
              <a:chOff x="1104" y="576"/>
              <a:chExt cx="1440" cy="864"/>
            </a:xfrm>
          </p:grpSpPr>
          <p:grpSp>
            <p:nvGrpSpPr>
              <p:cNvPr id="37937" name="Group 27"/>
              <p:cNvGrpSpPr/>
              <p:nvPr/>
            </p:nvGrpSpPr>
            <p:grpSpPr bwMode="auto">
              <a:xfrm>
                <a:off x="1104" y="576"/>
                <a:ext cx="480" cy="432"/>
                <a:chOff x="1440" y="1824"/>
                <a:chExt cx="480" cy="336"/>
              </a:xfrm>
            </p:grpSpPr>
            <p:sp>
              <p:nvSpPr>
                <p:cNvPr id="37944" name="Arc 28"/>
                <p:cNvSpPr/>
                <p:nvPr/>
              </p:nvSpPr>
              <p:spPr bwMode="auto">
                <a:xfrm>
                  <a:off x="1680" y="1824"/>
                  <a:ext cx="240"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7945" name="Arc 29"/>
                <p:cNvSpPr/>
                <p:nvPr/>
              </p:nvSpPr>
              <p:spPr bwMode="auto">
                <a:xfrm flipH="1">
                  <a:off x="1440" y="1824"/>
                  <a:ext cx="240"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grpSp>
            <p:nvGrpSpPr>
              <p:cNvPr id="37938" name="Group 30"/>
              <p:cNvGrpSpPr/>
              <p:nvPr/>
            </p:nvGrpSpPr>
            <p:grpSpPr bwMode="auto">
              <a:xfrm flipV="1">
                <a:off x="1584" y="1008"/>
                <a:ext cx="480" cy="432"/>
                <a:chOff x="1440" y="1824"/>
                <a:chExt cx="480" cy="336"/>
              </a:xfrm>
            </p:grpSpPr>
            <p:sp>
              <p:nvSpPr>
                <p:cNvPr id="37942" name="Arc 31"/>
                <p:cNvSpPr/>
                <p:nvPr/>
              </p:nvSpPr>
              <p:spPr bwMode="auto">
                <a:xfrm>
                  <a:off x="1680" y="1824"/>
                  <a:ext cx="240"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7943" name="Arc 32"/>
                <p:cNvSpPr/>
                <p:nvPr/>
              </p:nvSpPr>
              <p:spPr bwMode="auto">
                <a:xfrm flipH="1">
                  <a:off x="1440" y="1824"/>
                  <a:ext cx="240"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grpSp>
            <p:nvGrpSpPr>
              <p:cNvPr id="37939" name="Group 33"/>
              <p:cNvGrpSpPr/>
              <p:nvPr/>
            </p:nvGrpSpPr>
            <p:grpSpPr bwMode="auto">
              <a:xfrm>
                <a:off x="2064" y="576"/>
                <a:ext cx="480" cy="432"/>
                <a:chOff x="1440" y="1824"/>
                <a:chExt cx="480" cy="336"/>
              </a:xfrm>
            </p:grpSpPr>
            <p:sp>
              <p:nvSpPr>
                <p:cNvPr id="37940" name="Arc 34"/>
                <p:cNvSpPr/>
                <p:nvPr/>
              </p:nvSpPr>
              <p:spPr bwMode="auto">
                <a:xfrm>
                  <a:off x="1680" y="1824"/>
                  <a:ext cx="240"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7941" name="Arc 35"/>
                <p:cNvSpPr/>
                <p:nvPr/>
              </p:nvSpPr>
              <p:spPr bwMode="auto">
                <a:xfrm flipH="1">
                  <a:off x="1440" y="1824"/>
                  <a:ext cx="240"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grpSp>
        <p:sp>
          <p:nvSpPr>
            <p:cNvPr id="37915" name="Line 36"/>
            <p:cNvSpPr>
              <a:spLocks noChangeShapeType="1"/>
            </p:cNvSpPr>
            <p:nvPr/>
          </p:nvSpPr>
          <p:spPr bwMode="auto">
            <a:xfrm>
              <a:off x="3687" y="941"/>
              <a:ext cx="1824" cy="0"/>
            </a:xfrm>
            <a:prstGeom prst="line">
              <a:avLst/>
            </a:prstGeom>
            <a:noFill/>
            <a:ln w="19050">
              <a:solidFill>
                <a:srgbClr val="0000FF"/>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nvGrpSpPr>
            <p:cNvPr id="37916" name="Group 37"/>
            <p:cNvGrpSpPr/>
            <p:nvPr/>
          </p:nvGrpSpPr>
          <p:grpSpPr bwMode="auto">
            <a:xfrm>
              <a:off x="3830" y="941"/>
              <a:ext cx="250" cy="576"/>
              <a:chOff x="1151" y="2688"/>
              <a:chExt cx="250" cy="576"/>
            </a:xfrm>
          </p:grpSpPr>
          <p:sp>
            <p:nvSpPr>
              <p:cNvPr id="37935" name="Line 38"/>
              <p:cNvSpPr>
                <a:spLocks noChangeShapeType="1"/>
              </p:cNvSpPr>
              <p:nvPr/>
            </p:nvSpPr>
            <p:spPr bwMode="auto">
              <a:xfrm>
                <a:off x="1392" y="2688"/>
                <a:ext cx="0" cy="576"/>
              </a:xfrm>
              <a:prstGeom prst="line">
                <a:avLst/>
              </a:prstGeom>
              <a:noFill/>
              <a:ln w="12700">
                <a:solidFill>
                  <a:srgbClr val="FF0000"/>
                </a:solidFill>
                <a:round/>
                <a:headEnd type="triangle" w="sm" len="med"/>
                <a:tailEnd type="triangle" w="sm"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7936" name="Text Box 39"/>
              <p:cNvSpPr txBox="1">
                <a:spLocks noChangeArrowheads="1"/>
              </p:cNvSpPr>
              <p:nvPr/>
            </p:nvSpPr>
            <p:spPr bwMode="auto">
              <a:xfrm rot="-5368369">
                <a:off x="1084" y="2850"/>
                <a:ext cx="384" cy="25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000" i="1" dirty="0" err="1">
                    <a:solidFill>
                      <a:srgbClr val="002060"/>
                    </a:solidFill>
                    <a:latin typeface="Times New Roman" panose="02020603050405020304" pitchFamily="18" charset="0"/>
                    <a:ea typeface="楷体_GB2312" pitchFamily="49" charset="-122"/>
                  </a:rPr>
                  <a:t>σ</a:t>
                </a:r>
                <a:r>
                  <a:rPr lang="en-US" altLang="zh-CN" sz="2000" baseline="-12000" dirty="0" err="1">
                    <a:solidFill>
                      <a:srgbClr val="002060"/>
                    </a:solidFill>
                    <a:latin typeface="Times New Roman" panose="02020603050405020304" pitchFamily="18" charset="0"/>
                    <a:ea typeface="方正大黑简体" pitchFamily="2" charset="-122"/>
                  </a:rPr>
                  <a:t>m</a:t>
                </a:r>
                <a:endParaRPr lang="en-US" altLang="zh-CN" sz="2000" baseline="-12000" dirty="0">
                  <a:solidFill>
                    <a:srgbClr val="002060"/>
                  </a:solidFill>
                  <a:latin typeface="Times New Roman" panose="02020603050405020304" pitchFamily="18" charset="0"/>
                  <a:ea typeface="方正大黑简体" pitchFamily="2" charset="-122"/>
                </a:endParaRPr>
              </a:p>
            </p:txBody>
          </p:sp>
        </p:grpSp>
        <p:grpSp>
          <p:nvGrpSpPr>
            <p:cNvPr id="37917" name="Group 40"/>
            <p:cNvGrpSpPr/>
            <p:nvPr/>
          </p:nvGrpSpPr>
          <p:grpSpPr bwMode="auto">
            <a:xfrm>
              <a:off x="4724" y="509"/>
              <a:ext cx="250" cy="1008"/>
              <a:chOff x="2045" y="2256"/>
              <a:chExt cx="250" cy="1008"/>
            </a:xfrm>
          </p:grpSpPr>
          <p:sp>
            <p:nvSpPr>
              <p:cNvPr id="37933" name="Line 41"/>
              <p:cNvSpPr>
                <a:spLocks noChangeShapeType="1"/>
              </p:cNvSpPr>
              <p:nvPr/>
            </p:nvSpPr>
            <p:spPr bwMode="auto">
              <a:xfrm>
                <a:off x="2274" y="2256"/>
                <a:ext cx="0" cy="1008"/>
              </a:xfrm>
              <a:prstGeom prst="line">
                <a:avLst/>
              </a:prstGeom>
              <a:noFill/>
              <a:ln w="12700">
                <a:solidFill>
                  <a:srgbClr val="FF0000"/>
                </a:solidFill>
                <a:round/>
                <a:headEnd type="triangle" w="sm" len="med"/>
                <a:tailEnd type="triangle" w="sm"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7934" name="Text Box 42"/>
              <p:cNvSpPr txBox="1">
                <a:spLocks noChangeArrowheads="1"/>
              </p:cNvSpPr>
              <p:nvPr/>
            </p:nvSpPr>
            <p:spPr bwMode="auto">
              <a:xfrm rot="16231631">
                <a:off x="1858" y="2621"/>
                <a:ext cx="624" cy="25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000" i="1" dirty="0" err="1">
                    <a:solidFill>
                      <a:srgbClr val="002060"/>
                    </a:solidFill>
                    <a:latin typeface="Times New Roman" panose="02020603050405020304" pitchFamily="18" charset="0"/>
                    <a:ea typeface="楷体_GB2312" pitchFamily="49" charset="-122"/>
                  </a:rPr>
                  <a:t>σ</a:t>
                </a:r>
                <a:r>
                  <a:rPr lang="en-US" altLang="zh-CN" sz="2000" baseline="-12000" dirty="0" err="1">
                    <a:solidFill>
                      <a:srgbClr val="002060"/>
                    </a:solidFill>
                    <a:latin typeface="Times New Roman" panose="02020603050405020304" pitchFamily="18" charset="0"/>
                    <a:ea typeface="方正大黑简体" pitchFamily="2" charset="-122"/>
                  </a:rPr>
                  <a:t>max</a:t>
                </a:r>
                <a:endParaRPr lang="en-US" altLang="zh-CN" sz="2000" baseline="-12000" dirty="0">
                  <a:solidFill>
                    <a:srgbClr val="002060"/>
                  </a:solidFill>
                  <a:latin typeface="Times New Roman" panose="02020603050405020304" pitchFamily="18" charset="0"/>
                  <a:ea typeface="方正大黑简体" pitchFamily="2" charset="-122"/>
                </a:endParaRPr>
              </a:p>
            </p:txBody>
          </p:sp>
        </p:grpSp>
        <p:grpSp>
          <p:nvGrpSpPr>
            <p:cNvPr id="37918" name="Group 43"/>
            <p:cNvGrpSpPr/>
            <p:nvPr/>
          </p:nvGrpSpPr>
          <p:grpSpPr bwMode="auto">
            <a:xfrm>
              <a:off x="4071" y="508"/>
              <a:ext cx="480" cy="433"/>
              <a:chOff x="1392" y="2255"/>
              <a:chExt cx="480" cy="433"/>
            </a:xfrm>
          </p:grpSpPr>
          <p:grpSp>
            <p:nvGrpSpPr>
              <p:cNvPr id="37929" name="Group 44"/>
              <p:cNvGrpSpPr/>
              <p:nvPr/>
            </p:nvGrpSpPr>
            <p:grpSpPr bwMode="auto">
              <a:xfrm>
                <a:off x="1583" y="2255"/>
                <a:ext cx="250" cy="433"/>
                <a:chOff x="1583" y="2255"/>
                <a:chExt cx="250" cy="433"/>
              </a:xfrm>
            </p:grpSpPr>
            <p:sp>
              <p:nvSpPr>
                <p:cNvPr id="37931" name="Line 45"/>
                <p:cNvSpPr>
                  <a:spLocks noChangeShapeType="1"/>
                </p:cNvSpPr>
                <p:nvPr/>
              </p:nvSpPr>
              <p:spPr bwMode="auto">
                <a:xfrm>
                  <a:off x="1826" y="2256"/>
                  <a:ext cx="0" cy="432"/>
                </a:xfrm>
                <a:prstGeom prst="line">
                  <a:avLst/>
                </a:prstGeom>
                <a:noFill/>
                <a:ln w="12700">
                  <a:solidFill>
                    <a:srgbClr val="FF0000"/>
                  </a:solidFill>
                  <a:round/>
                  <a:headEnd type="triangle" w="sm" len="med"/>
                  <a:tailEnd type="triangle" w="sm"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7932" name="Text Box 46"/>
                <p:cNvSpPr txBox="1">
                  <a:spLocks noChangeArrowheads="1"/>
                </p:cNvSpPr>
                <p:nvPr/>
              </p:nvSpPr>
              <p:spPr bwMode="auto">
                <a:xfrm rot="-5368369">
                  <a:off x="1516" y="2322"/>
                  <a:ext cx="384" cy="25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000" i="1" dirty="0" err="1">
                      <a:solidFill>
                        <a:srgbClr val="002060"/>
                      </a:solidFill>
                      <a:latin typeface="Times New Roman" panose="02020603050405020304" pitchFamily="18" charset="0"/>
                      <a:ea typeface="楷体_GB2312" pitchFamily="49" charset="-122"/>
                    </a:rPr>
                    <a:t>σ</a:t>
                  </a:r>
                  <a:r>
                    <a:rPr lang="en-US" altLang="zh-CN" sz="2000" baseline="-12000" dirty="0" err="1">
                      <a:solidFill>
                        <a:srgbClr val="002060"/>
                      </a:solidFill>
                      <a:latin typeface="Times New Roman" panose="02020603050405020304" pitchFamily="18" charset="0"/>
                      <a:ea typeface="方正大黑简体" pitchFamily="2" charset="-122"/>
                    </a:rPr>
                    <a:t>a</a:t>
                  </a:r>
                  <a:endParaRPr lang="en-US" altLang="zh-CN" sz="2000" baseline="-12000" dirty="0">
                    <a:solidFill>
                      <a:srgbClr val="002060"/>
                    </a:solidFill>
                    <a:latin typeface="Times New Roman" panose="02020603050405020304" pitchFamily="18" charset="0"/>
                    <a:ea typeface="方正大黑简体" pitchFamily="2" charset="-122"/>
                  </a:endParaRPr>
                </a:p>
              </p:txBody>
            </p:sp>
          </p:grpSp>
          <p:sp>
            <p:nvSpPr>
              <p:cNvPr id="37930" name="Line 47"/>
              <p:cNvSpPr>
                <a:spLocks noChangeShapeType="1"/>
              </p:cNvSpPr>
              <p:nvPr/>
            </p:nvSpPr>
            <p:spPr bwMode="auto">
              <a:xfrm>
                <a:off x="1392" y="2256"/>
                <a:ext cx="480" cy="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37919" name="Text Box 48"/>
            <p:cNvSpPr txBox="1">
              <a:spLocks noChangeArrowheads="1"/>
            </p:cNvSpPr>
            <p:nvPr/>
          </p:nvSpPr>
          <p:spPr bwMode="auto">
            <a:xfrm rot="31631">
              <a:off x="5199" y="1229"/>
              <a:ext cx="288" cy="28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i="1" dirty="0">
                  <a:solidFill>
                    <a:srgbClr val="002060"/>
                  </a:solidFill>
                  <a:latin typeface="Times New Roman" panose="02020603050405020304" pitchFamily="18" charset="0"/>
                  <a:ea typeface="方正大黑简体" pitchFamily="2" charset="-122"/>
                </a:rPr>
                <a:t>t</a:t>
              </a:r>
              <a:endParaRPr lang="en-US" altLang="zh-CN" sz="2400" dirty="0">
                <a:solidFill>
                  <a:srgbClr val="002060"/>
                </a:solidFill>
                <a:latin typeface="Times New Roman" panose="02020603050405020304" pitchFamily="18" charset="0"/>
                <a:ea typeface="方正大黑简体" pitchFamily="2" charset="-122"/>
              </a:endParaRPr>
            </a:p>
          </p:txBody>
        </p:sp>
        <p:sp>
          <p:nvSpPr>
            <p:cNvPr id="37920" name="Line 49"/>
            <p:cNvSpPr>
              <a:spLocks noChangeShapeType="1"/>
            </p:cNvSpPr>
            <p:nvPr/>
          </p:nvSpPr>
          <p:spPr bwMode="auto">
            <a:xfrm flipV="1">
              <a:off x="3831" y="269"/>
              <a:ext cx="0" cy="1248"/>
            </a:xfrm>
            <a:prstGeom prst="line">
              <a:avLst/>
            </a:prstGeom>
            <a:noFill/>
            <a:ln w="19050">
              <a:solidFill>
                <a:srgbClr val="002060"/>
              </a:solidFill>
              <a:round/>
              <a:tailEnd type="triangle" w="sm"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7921" name="Line 50"/>
            <p:cNvSpPr>
              <a:spLocks noChangeShapeType="1"/>
            </p:cNvSpPr>
            <p:nvPr/>
          </p:nvSpPr>
          <p:spPr bwMode="auto">
            <a:xfrm>
              <a:off x="3831" y="1517"/>
              <a:ext cx="1584" cy="0"/>
            </a:xfrm>
            <a:prstGeom prst="line">
              <a:avLst/>
            </a:prstGeom>
            <a:noFill/>
            <a:ln w="19050">
              <a:solidFill>
                <a:schemeClr val="bg2">
                  <a:lumMod val="10000"/>
                </a:schemeClr>
              </a:solidFill>
              <a:round/>
              <a:tailEnd type="triangle" w="sm"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7922" name="Text Box 51"/>
            <p:cNvSpPr txBox="1">
              <a:spLocks noChangeArrowheads="1"/>
            </p:cNvSpPr>
            <p:nvPr/>
          </p:nvSpPr>
          <p:spPr bwMode="auto">
            <a:xfrm rot="31631">
              <a:off x="3513" y="215"/>
              <a:ext cx="288" cy="28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400" i="1" dirty="0">
                  <a:solidFill>
                    <a:srgbClr val="002060"/>
                  </a:solidFill>
                  <a:latin typeface="Times New Roman" panose="02020603050405020304" pitchFamily="18" charset="0"/>
                  <a:ea typeface="楷体_GB2312" pitchFamily="49" charset="-122"/>
                </a:rPr>
                <a:t>σ</a:t>
              </a:r>
              <a:endParaRPr lang="en-US" altLang="zh-CN" sz="2400" dirty="0">
                <a:solidFill>
                  <a:srgbClr val="002060"/>
                </a:solidFill>
                <a:latin typeface="Times New Roman" panose="02020603050405020304" pitchFamily="18" charset="0"/>
                <a:ea typeface="楷体_GB2312" pitchFamily="49" charset="-122"/>
              </a:endParaRPr>
            </a:p>
          </p:txBody>
        </p:sp>
        <p:sp>
          <p:nvSpPr>
            <p:cNvPr id="37923" name="Text Box 52"/>
            <p:cNvSpPr txBox="1">
              <a:spLocks noChangeArrowheads="1"/>
            </p:cNvSpPr>
            <p:nvPr/>
          </p:nvSpPr>
          <p:spPr bwMode="auto">
            <a:xfrm rot="31631">
              <a:off x="3651" y="1445"/>
              <a:ext cx="288" cy="212"/>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1600" i="1" dirty="0">
                  <a:solidFill>
                    <a:srgbClr val="002060"/>
                  </a:solidFill>
                  <a:latin typeface="Times New Roman" panose="02020603050405020304" pitchFamily="18" charset="0"/>
                  <a:ea typeface="方正大黑简体" pitchFamily="2" charset="-122"/>
                </a:rPr>
                <a:t>O</a:t>
              </a:r>
              <a:endParaRPr lang="en-US" altLang="zh-CN" sz="2400" dirty="0">
                <a:solidFill>
                  <a:srgbClr val="002060"/>
                </a:solidFill>
                <a:latin typeface="Times New Roman" panose="02020603050405020304" pitchFamily="18" charset="0"/>
                <a:ea typeface="方正大黑简体" pitchFamily="2" charset="-122"/>
              </a:endParaRPr>
            </a:p>
          </p:txBody>
        </p:sp>
        <p:grpSp>
          <p:nvGrpSpPr>
            <p:cNvPr id="37924" name="Group 53"/>
            <p:cNvGrpSpPr/>
            <p:nvPr/>
          </p:nvGrpSpPr>
          <p:grpSpPr bwMode="auto">
            <a:xfrm>
              <a:off x="4280" y="793"/>
              <a:ext cx="250" cy="853"/>
              <a:chOff x="1601" y="2540"/>
              <a:chExt cx="250" cy="853"/>
            </a:xfrm>
          </p:grpSpPr>
          <p:sp>
            <p:nvSpPr>
              <p:cNvPr id="37925" name="Line 54"/>
              <p:cNvSpPr>
                <a:spLocks noChangeShapeType="1"/>
              </p:cNvSpPr>
              <p:nvPr/>
            </p:nvSpPr>
            <p:spPr bwMode="auto">
              <a:xfrm>
                <a:off x="1827" y="2802"/>
                <a:ext cx="0" cy="321"/>
              </a:xfrm>
              <a:prstGeom prst="line">
                <a:avLst/>
              </a:prstGeom>
              <a:noFill/>
              <a:ln w="12700">
                <a:solidFill>
                  <a:srgbClr val="FF0000"/>
                </a:solidFill>
                <a:round/>
                <a:headEnd type="none" w="sm" len="med"/>
                <a:tailEnd type="triangl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7926" name="Text Box 55"/>
              <p:cNvSpPr txBox="1">
                <a:spLocks noChangeArrowheads="1"/>
              </p:cNvSpPr>
              <p:nvPr/>
            </p:nvSpPr>
            <p:spPr bwMode="auto">
              <a:xfrm rot="-5368369">
                <a:off x="1414" y="2727"/>
                <a:ext cx="624" cy="25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en-US" altLang="zh-CN" sz="2000" i="1" dirty="0" err="1">
                    <a:solidFill>
                      <a:srgbClr val="002060"/>
                    </a:solidFill>
                    <a:latin typeface="Times New Roman" panose="02020603050405020304" pitchFamily="18" charset="0"/>
                    <a:ea typeface="楷体_GB2312" pitchFamily="49" charset="-122"/>
                  </a:rPr>
                  <a:t>σ</a:t>
                </a:r>
                <a:r>
                  <a:rPr lang="en-US" altLang="zh-CN" sz="2000" baseline="-12000" dirty="0" err="1">
                    <a:solidFill>
                      <a:srgbClr val="002060"/>
                    </a:solidFill>
                    <a:latin typeface="Times New Roman" panose="02020603050405020304" pitchFamily="18" charset="0"/>
                    <a:ea typeface="方正大黑简体" pitchFamily="2" charset="-122"/>
                  </a:rPr>
                  <a:t>min</a:t>
                </a:r>
                <a:endParaRPr lang="en-US" altLang="zh-CN" sz="2000" baseline="-12000" dirty="0">
                  <a:solidFill>
                    <a:srgbClr val="002060"/>
                  </a:solidFill>
                  <a:latin typeface="Times New Roman" panose="02020603050405020304" pitchFamily="18" charset="0"/>
                  <a:ea typeface="方正大黑简体" pitchFamily="2" charset="-122"/>
                </a:endParaRPr>
              </a:p>
            </p:txBody>
          </p:sp>
          <p:sp>
            <p:nvSpPr>
              <p:cNvPr id="37927" name="Line 56"/>
              <p:cNvSpPr>
                <a:spLocks noChangeShapeType="1"/>
              </p:cNvSpPr>
              <p:nvPr/>
            </p:nvSpPr>
            <p:spPr bwMode="auto">
              <a:xfrm flipH="1">
                <a:off x="1830" y="3105"/>
                <a:ext cx="0" cy="153"/>
              </a:xfrm>
              <a:prstGeom prst="line">
                <a:avLst/>
              </a:prstGeom>
              <a:noFill/>
              <a:ln w="12700">
                <a:solidFill>
                  <a:srgbClr val="FF0000"/>
                </a:solidFill>
                <a:round/>
                <a:headEnd type="none" w="sm" len="med"/>
                <a:tailEnd type="none" w="sm"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7928" name="Line 57"/>
              <p:cNvSpPr>
                <a:spLocks noChangeShapeType="1"/>
              </p:cNvSpPr>
              <p:nvPr/>
            </p:nvSpPr>
            <p:spPr bwMode="auto">
              <a:xfrm>
                <a:off x="1830" y="3246"/>
                <a:ext cx="0" cy="147"/>
              </a:xfrm>
              <a:prstGeom prst="line">
                <a:avLst/>
              </a:prstGeom>
              <a:noFill/>
              <a:ln w="12700">
                <a:solidFill>
                  <a:srgbClr val="FF0000"/>
                </a:solidFill>
                <a:round/>
                <a:headEnd type="triangle" w="sm" len="lg"/>
                <a:tailEnd type="none" w="sm"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sp>
        <p:nvSpPr>
          <p:cNvPr id="259130" name="Rectangle 58"/>
          <p:cNvSpPr>
            <a:spLocks noChangeArrowheads="1"/>
          </p:cNvSpPr>
          <p:nvPr/>
        </p:nvSpPr>
        <p:spPr bwMode="auto">
          <a:xfrm>
            <a:off x="381000" y="814388"/>
            <a:ext cx="292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hlink"/>
                </a:solidFill>
                <a:latin typeface="Times New Roman" panose="02020603050405020304" pitchFamily="18" charset="0"/>
                <a:ea typeface="黑体" panose="02010609060101010101" pitchFamily="49" charset="-122"/>
              </a:rPr>
              <a:t>● </a:t>
            </a:r>
            <a:r>
              <a:rPr lang="zh-CN" altLang="en-US" sz="2400">
                <a:solidFill>
                  <a:schemeClr val="hlink"/>
                </a:solidFill>
                <a:latin typeface="Times New Roman" panose="02020603050405020304" pitchFamily="18" charset="0"/>
                <a:ea typeface="黑体" panose="02010609060101010101" pitchFamily="49" charset="-122"/>
              </a:rPr>
              <a:t>最大应力</a:t>
            </a:r>
            <a:r>
              <a:rPr lang="en-US" altLang="zh-CN" sz="2400" i="1">
                <a:solidFill>
                  <a:schemeClr val="hlink"/>
                </a:solidFill>
                <a:latin typeface="Times New Roman" panose="02020603050405020304" pitchFamily="18" charset="0"/>
                <a:ea typeface="楷体_GB2312" pitchFamily="49" charset="-122"/>
              </a:rPr>
              <a:t>σ</a:t>
            </a:r>
            <a:r>
              <a:rPr lang="en-US" altLang="zh-CN" sz="2400" baseline="-16000">
                <a:solidFill>
                  <a:schemeClr val="hlink"/>
                </a:solidFill>
                <a:latin typeface="Times New Roman" panose="02020603050405020304" pitchFamily="18" charset="0"/>
                <a:ea typeface="黑体" panose="02010609060101010101" pitchFamily="49" charset="-122"/>
              </a:rPr>
              <a:t>max</a:t>
            </a:r>
            <a:endParaRPr lang="en-US" altLang="zh-CN" sz="2400" baseline="-16000">
              <a:solidFill>
                <a:schemeClr val="hlink"/>
              </a:solidFill>
              <a:latin typeface="Times New Roman" panose="02020603050405020304" pitchFamily="18" charset="0"/>
              <a:ea typeface="黑体" panose="02010609060101010101" pitchFamily="49" charset="-122"/>
            </a:endParaRPr>
          </a:p>
        </p:txBody>
      </p:sp>
      <p:sp>
        <p:nvSpPr>
          <p:cNvPr id="259131" name="Rectangle 59"/>
          <p:cNvSpPr>
            <a:spLocks noChangeArrowheads="1"/>
          </p:cNvSpPr>
          <p:nvPr/>
        </p:nvSpPr>
        <p:spPr bwMode="auto">
          <a:xfrm>
            <a:off x="381000" y="1325563"/>
            <a:ext cx="2651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hlink"/>
                </a:solidFill>
                <a:latin typeface="Times New Roman" panose="02020603050405020304" pitchFamily="18" charset="0"/>
                <a:ea typeface="黑体" panose="02010609060101010101" pitchFamily="49" charset="-122"/>
              </a:rPr>
              <a:t>● </a:t>
            </a:r>
            <a:r>
              <a:rPr lang="zh-CN" altLang="en-US" sz="2400">
                <a:solidFill>
                  <a:schemeClr val="hlink"/>
                </a:solidFill>
                <a:latin typeface="Times New Roman" panose="02020603050405020304" pitchFamily="18" charset="0"/>
                <a:ea typeface="黑体" panose="02010609060101010101" pitchFamily="49" charset="-122"/>
              </a:rPr>
              <a:t>最小应力</a:t>
            </a:r>
            <a:r>
              <a:rPr lang="en-US" altLang="zh-CN" sz="2400" i="1">
                <a:solidFill>
                  <a:schemeClr val="hlink"/>
                </a:solidFill>
                <a:latin typeface="Times New Roman" panose="02020603050405020304" pitchFamily="18" charset="0"/>
                <a:ea typeface="楷体_GB2312" pitchFamily="49" charset="-122"/>
              </a:rPr>
              <a:t>σ</a:t>
            </a:r>
            <a:r>
              <a:rPr lang="en-US" altLang="zh-CN" sz="2400" baseline="-16000">
                <a:solidFill>
                  <a:schemeClr val="hlink"/>
                </a:solidFill>
                <a:latin typeface="Times New Roman" panose="02020603050405020304" pitchFamily="18" charset="0"/>
                <a:ea typeface="黑体" panose="02010609060101010101" pitchFamily="49" charset="-122"/>
              </a:rPr>
              <a:t>min</a:t>
            </a:r>
            <a:endParaRPr lang="en-US" altLang="zh-CN" sz="2400" baseline="-16000">
              <a:solidFill>
                <a:schemeClr val="hlink"/>
              </a:solidFill>
              <a:latin typeface="Times New Roman" panose="02020603050405020304" pitchFamily="18" charset="0"/>
              <a:ea typeface="黑体" panose="02010609060101010101" pitchFamily="49" charset="-122"/>
            </a:endParaRPr>
          </a:p>
        </p:txBody>
      </p:sp>
      <p:graphicFrame>
        <p:nvGraphicFramePr>
          <p:cNvPr id="259132" name="Object 60"/>
          <p:cNvGraphicFramePr>
            <a:graphicFrameLocks noChangeAspect="1"/>
          </p:cNvGraphicFramePr>
          <p:nvPr/>
        </p:nvGraphicFramePr>
        <p:xfrm>
          <a:off x="2192338" y="1804670"/>
          <a:ext cx="2063750" cy="822325"/>
        </p:xfrm>
        <a:graphic>
          <a:graphicData uri="http://schemas.openxmlformats.org/presentationml/2006/ole">
            <mc:AlternateContent xmlns:mc="http://schemas.openxmlformats.org/markup-compatibility/2006">
              <mc:Choice xmlns:v="urn:schemas-microsoft-com:vml" Requires="v">
                <p:oleObj spid="_x0000_s3" name="Equation" r:id="rId1" imgW="901700" imgH="431800" progId="Equation.3">
                  <p:embed/>
                </p:oleObj>
              </mc:Choice>
              <mc:Fallback>
                <p:oleObj name="Equation" r:id="rId1" imgW="901700" imgH="431800" progId="Equation.3">
                  <p:embed/>
                  <p:pic>
                    <p:nvPicPr>
                      <p:cNvPr id="0" name="Picture 146"/>
                      <p:cNvPicPr>
                        <a:picLocks noChangeAspect="1" noChangeArrowheads="1"/>
                      </p:cNvPicPr>
                      <p:nvPr/>
                    </p:nvPicPr>
                    <p:blipFill>
                      <a:blip r:embed="rId2"/>
                      <a:srcRect/>
                      <a:stretch>
                        <a:fillRect/>
                      </a:stretch>
                    </p:blipFill>
                    <p:spPr bwMode="auto">
                      <a:xfrm>
                        <a:off x="2192338" y="1804670"/>
                        <a:ext cx="2063750" cy="82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9133" name="Rectangle 61"/>
          <p:cNvSpPr>
            <a:spLocks noChangeArrowheads="1"/>
          </p:cNvSpPr>
          <p:nvPr/>
        </p:nvSpPr>
        <p:spPr bwMode="auto">
          <a:xfrm>
            <a:off x="381000" y="1951038"/>
            <a:ext cx="2454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hlink"/>
                </a:solidFill>
                <a:latin typeface="Times New Roman" panose="02020603050405020304" pitchFamily="18" charset="0"/>
                <a:ea typeface="黑体" panose="02010609060101010101" pitchFamily="49" charset="-122"/>
              </a:rPr>
              <a:t>● </a:t>
            </a:r>
            <a:r>
              <a:rPr lang="zh-CN" altLang="en-US" sz="2400">
                <a:solidFill>
                  <a:schemeClr val="hlink"/>
                </a:solidFill>
                <a:latin typeface="Times New Roman" panose="02020603050405020304" pitchFamily="18" charset="0"/>
                <a:ea typeface="黑体" panose="02010609060101010101" pitchFamily="49" charset="-122"/>
              </a:rPr>
              <a:t>应力幅</a:t>
            </a:r>
            <a:r>
              <a:rPr lang="en-US" altLang="zh-CN" sz="2400" i="1">
                <a:solidFill>
                  <a:schemeClr val="hlink"/>
                </a:solidFill>
                <a:latin typeface="Times New Roman" panose="02020603050405020304" pitchFamily="18" charset="0"/>
                <a:ea typeface="楷体_GB2312" pitchFamily="49" charset="-122"/>
              </a:rPr>
              <a:t>σ</a:t>
            </a:r>
            <a:r>
              <a:rPr lang="en-US" altLang="zh-CN" sz="2400" baseline="-16000">
                <a:solidFill>
                  <a:schemeClr val="hlink"/>
                </a:solidFill>
                <a:latin typeface="Times New Roman" panose="02020603050405020304" pitchFamily="18" charset="0"/>
                <a:ea typeface="黑体" panose="02010609060101010101" pitchFamily="49" charset="-122"/>
              </a:rPr>
              <a:t>a</a:t>
            </a:r>
            <a:endParaRPr lang="en-US" altLang="zh-CN" sz="2400" baseline="-16000">
              <a:solidFill>
                <a:schemeClr val="hlink"/>
              </a:solidFill>
              <a:latin typeface="Times New Roman" panose="02020603050405020304" pitchFamily="18" charset="0"/>
              <a:ea typeface="黑体" panose="02010609060101010101" pitchFamily="49" charset="-122"/>
            </a:endParaRPr>
          </a:p>
        </p:txBody>
      </p:sp>
      <p:graphicFrame>
        <p:nvGraphicFramePr>
          <p:cNvPr id="259134" name="Object 62"/>
          <p:cNvGraphicFramePr>
            <a:graphicFrameLocks noChangeAspect="1"/>
          </p:cNvGraphicFramePr>
          <p:nvPr/>
        </p:nvGraphicFramePr>
        <p:xfrm>
          <a:off x="2706688" y="2560638"/>
          <a:ext cx="2151062" cy="758825"/>
        </p:xfrm>
        <a:graphic>
          <a:graphicData uri="http://schemas.openxmlformats.org/presentationml/2006/ole">
            <mc:AlternateContent xmlns:mc="http://schemas.openxmlformats.org/markup-compatibility/2006">
              <mc:Choice xmlns:v="urn:schemas-microsoft-com:vml" Requires="v">
                <p:oleObj spid="_x0000_s4" name="Equation" r:id="rId3" imgW="888365" imgH="393700" progId="Equation.3">
                  <p:embed/>
                </p:oleObj>
              </mc:Choice>
              <mc:Fallback>
                <p:oleObj name="Equation" r:id="rId3" imgW="888365" imgH="393700" progId="Equation.3">
                  <p:embed/>
                  <p:pic>
                    <p:nvPicPr>
                      <p:cNvPr id="0" name="Picture 1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6688" y="2560638"/>
                        <a:ext cx="2151062"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9135" name="Rectangle 63"/>
          <p:cNvSpPr>
            <a:spLocks noChangeArrowheads="1"/>
          </p:cNvSpPr>
          <p:nvPr/>
        </p:nvSpPr>
        <p:spPr bwMode="auto">
          <a:xfrm>
            <a:off x="381000" y="2660650"/>
            <a:ext cx="3027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hlink"/>
                </a:solidFill>
                <a:latin typeface="Times New Roman" panose="02020603050405020304" pitchFamily="18" charset="0"/>
                <a:ea typeface="黑体" panose="02010609060101010101" pitchFamily="49" charset="-122"/>
              </a:rPr>
              <a:t>● </a:t>
            </a:r>
            <a:r>
              <a:rPr lang="zh-CN" altLang="en-US" sz="2400">
                <a:solidFill>
                  <a:schemeClr val="hlink"/>
                </a:solidFill>
                <a:latin typeface="Times New Roman" panose="02020603050405020304" pitchFamily="18" charset="0"/>
                <a:ea typeface="黑体" panose="02010609060101010101" pitchFamily="49" charset="-122"/>
              </a:rPr>
              <a:t>平均应力</a:t>
            </a:r>
            <a:r>
              <a:rPr lang="en-US" altLang="zh-CN" sz="2400" i="1">
                <a:solidFill>
                  <a:schemeClr val="hlink"/>
                </a:solidFill>
                <a:latin typeface="Times New Roman" panose="02020603050405020304" pitchFamily="18" charset="0"/>
                <a:ea typeface="楷体_GB2312" pitchFamily="49" charset="-122"/>
              </a:rPr>
              <a:t>σ</a:t>
            </a:r>
            <a:r>
              <a:rPr lang="en-US" altLang="zh-CN" sz="2400" baseline="-16000">
                <a:solidFill>
                  <a:schemeClr val="hlink"/>
                </a:solidFill>
                <a:latin typeface="Times New Roman" panose="02020603050405020304" pitchFamily="18" charset="0"/>
                <a:ea typeface="黑体" panose="02010609060101010101" pitchFamily="49" charset="-122"/>
              </a:rPr>
              <a:t>m</a:t>
            </a:r>
            <a:endParaRPr lang="en-US" altLang="zh-CN" sz="2400" baseline="-16000">
              <a:solidFill>
                <a:schemeClr val="hlink"/>
              </a:solidFill>
              <a:latin typeface="Times New Roman" panose="02020603050405020304" pitchFamily="18" charset="0"/>
              <a:ea typeface="黑体" panose="02010609060101010101" pitchFamily="49" charset="-122"/>
            </a:endParaRPr>
          </a:p>
        </p:txBody>
      </p:sp>
      <p:graphicFrame>
        <p:nvGraphicFramePr>
          <p:cNvPr id="259136" name="Object 64"/>
          <p:cNvGraphicFramePr>
            <a:graphicFrameLocks noChangeAspect="1"/>
          </p:cNvGraphicFramePr>
          <p:nvPr/>
        </p:nvGraphicFramePr>
        <p:xfrm>
          <a:off x="2347913" y="3242628"/>
          <a:ext cx="1262062" cy="874712"/>
        </p:xfrm>
        <a:graphic>
          <a:graphicData uri="http://schemas.openxmlformats.org/presentationml/2006/ole">
            <mc:AlternateContent xmlns:mc="http://schemas.openxmlformats.org/markup-compatibility/2006">
              <mc:Choice xmlns:v="urn:schemas-microsoft-com:vml" Requires="v">
                <p:oleObj spid="_x0000_s5" name="Equation" r:id="rId5" imgW="482600" imgH="431800" progId="Equation.3">
                  <p:embed/>
                </p:oleObj>
              </mc:Choice>
              <mc:Fallback>
                <p:oleObj name="Equation" r:id="rId5" imgW="482600" imgH="431800" progId="Equation.3">
                  <p:embed/>
                  <p:pic>
                    <p:nvPicPr>
                      <p:cNvPr id="0" name="Picture 1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7913" y="3242628"/>
                        <a:ext cx="1262062" cy="874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9137" name="Rectangle 65"/>
          <p:cNvSpPr>
            <a:spLocks noChangeArrowheads="1"/>
          </p:cNvSpPr>
          <p:nvPr/>
        </p:nvSpPr>
        <p:spPr bwMode="auto">
          <a:xfrm>
            <a:off x="381000" y="3451225"/>
            <a:ext cx="23860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hlink"/>
                </a:solidFill>
                <a:latin typeface="Times New Roman" panose="02020603050405020304" pitchFamily="18" charset="0"/>
                <a:ea typeface="黑体" panose="02010609060101010101" pitchFamily="49" charset="-122"/>
              </a:rPr>
              <a:t>● </a:t>
            </a:r>
            <a:r>
              <a:rPr lang="zh-CN" altLang="en-US" sz="2400">
                <a:solidFill>
                  <a:schemeClr val="hlink"/>
                </a:solidFill>
                <a:latin typeface="Times New Roman" panose="02020603050405020304" pitchFamily="18" charset="0"/>
                <a:ea typeface="黑体" panose="02010609060101010101" pitchFamily="49" charset="-122"/>
              </a:rPr>
              <a:t>应力比 </a:t>
            </a:r>
            <a:r>
              <a:rPr lang="en-US" altLang="zh-CN" sz="2400" i="1">
                <a:solidFill>
                  <a:schemeClr val="hlink"/>
                </a:solidFill>
                <a:latin typeface="Times New Roman" panose="02020603050405020304" pitchFamily="18" charset="0"/>
                <a:ea typeface="黑体" panose="02010609060101010101" pitchFamily="49" charset="-122"/>
              </a:rPr>
              <a:t>r</a:t>
            </a:r>
            <a:endParaRPr lang="en-US" altLang="zh-CN" sz="2400" i="1">
              <a:solidFill>
                <a:schemeClr val="hlink"/>
              </a:solidFill>
              <a:latin typeface="Times New Roman" panose="02020603050405020304" pitchFamily="18" charset="0"/>
              <a:ea typeface="黑体" panose="02010609060101010101" pitchFamily="49" charset="-122"/>
            </a:endParaRPr>
          </a:p>
        </p:txBody>
      </p:sp>
      <p:graphicFrame>
        <p:nvGraphicFramePr>
          <p:cNvPr id="259138" name="Object 66"/>
          <p:cNvGraphicFramePr>
            <a:graphicFrameLocks noChangeAspect="1"/>
          </p:cNvGraphicFramePr>
          <p:nvPr/>
        </p:nvGraphicFramePr>
        <p:xfrm>
          <a:off x="5908675" y="3505200"/>
          <a:ext cx="1558925" cy="342900"/>
        </p:xfrm>
        <a:graphic>
          <a:graphicData uri="http://schemas.openxmlformats.org/presentationml/2006/ole">
            <mc:AlternateContent xmlns:mc="http://schemas.openxmlformats.org/markup-compatibility/2006">
              <mc:Choice xmlns:v="urn:schemas-microsoft-com:vml" Requires="v">
                <p:oleObj spid="_x0000_s6" name="Equation" r:id="rId7" imgW="748665" imgH="165100" progId="Equation.3">
                  <p:embed/>
                </p:oleObj>
              </mc:Choice>
              <mc:Fallback>
                <p:oleObj name="Equation" r:id="rId7" imgW="748665" imgH="165100" progId="Equation.3">
                  <p:embed/>
                  <p:pic>
                    <p:nvPicPr>
                      <p:cNvPr id="0" name="Picture 1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08675" y="3505200"/>
                        <a:ext cx="155892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139" name="Object 67"/>
          <p:cNvGraphicFramePr>
            <a:graphicFrameLocks noChangeAspect="1"/>
          </p:cNvGraphicFramePr>
          <p:nvPr/>
        </p:nvGraphicFramePr>
        <p:xfrm>
          <a:off x="2707005" y="814705"/>
          <a:ext cx="1257300" cy="481013"/>
        </p:xfrm>
        <a:graphic>
          <a:graphicData uri="http://schemas.openxmlformats.org/presentationml/2006/ole">
            <mc:AlternateContent xmlns:mc="http://schemas.openxmlformats.org/markup-compatibility/2006">
              <mc:Choice xmlns:v="urn:schemas-microsoft-com:vml" Requires="v">
                <p:oleObj spid="_x0000_s7" name="Equation" r:id="rId9" imgW="647700" imgH="228600" progId="Equation.3">
                  <p:embed/>
                </p:oleObj>
              </mc:Choice>
              <mc:Fallback>
                <p:oleObj name="Equation" r:id="rId9" imgW="647700" imgH="228600" progId="Equation.3">
                  <p:embed/>
                  <p:pic>
                    <p:nvPicPr>
                      <p:cNvPr id="0" name="Picture 1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07005" y="814705"/>
                        <a:ext cx="12573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140" name="Object 68"/>
          <p:cNvGraphicFramePr>
            <a:graphicFrameLocks noChangeAspect="1"/>
          </p:cNvGraphicFramePr>
          <p:nvPr/>
        </p:nvGraphicFramePr>
        <p:xfrm>
          <a:off x="3609975" y="3242945"/>
          <a:ext cx="1793875" cy="871538"/>
        </p:xfrm>
        <a:graphic>
          <a:graphicData uri="http://schemas.openxmlformats.org/presentationml/2006/ole">
            <mc:AlternateContent xmlns:mc="http://schemas.openxmlformats.org/markup-compatibility/2006">
              <mc:Choice xmlns:v="urn:schemas-microsoft-com:vml" Requires="v">
                <p:oleObj spid="_x0000_s8" name="Equation" r:id="rId11" imgW="685800" imgH="431800" progId="Equation.3">
                  <p:embed/>
                </p:oleObj>
              </mc:Choice>
              <mc:Fallback>
                <p:oleObj name="Equation" r:id="rId11" imgW="685800" imgH="431800" progId="Equation.3">
                  <p:embed/>
                  <p:pic>
                    <p:nvPicPr>
                      <p:cNvPr id="0" name="Picture 1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09975" y="3242945"/>
                        <a:ext cx="1793875" cy="871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141" name="Object 69"/>
          <p:cNvGraphicFramePr>
            <a:graphicFrameLocks noChangeAspect="1"/>
          </p:cNvGraphicFramePr>
          <p:nvPr/>
        </p:nvGraphicFramePr>
        <p:xfrm>
          <a:off x="2707005" y="1345248"/>
          <a:ext cx="1257300" cy="481012"/>
        </p:xfrm>
        <a:graphic>
          <a:graphicData uri="http://schemas.openxmlformats.org/presentationml/2006/ole">
            <mc:AlternateContent xmlns:mc="http://schemas.openxmlformats.org/markup-compatibility/2006">
              <mc:Choice xmlns:v="urn:schemas-microsoft-com:vml" Requires="v">
                <p:oleObj spid="_x0000_s9" name="Equation" r:id="rId13" imgW="647700" imgH="228600" progId="Equation.3">
                  <p:embed/>
                </p:oleObj>
              </mc:Choice>
              <mc:Fallback>
                <p:oleObj name="Equation" r:id="rId13" imgW="647700" imgH="228600" progId="Equation.3">
                  <p:embed/>
                  <p:pic>
                    <p:nvPicPr>
                      <p:cNvPr id="0" name="Picture 15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07005" y="1345248"/>
                        <a:ext cx="1257300"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9150" name="Text Box 78"/>
          <p:cNvSpPr txBox="1">
            <a:spLocks noChangeArrowheads="1"/>
          </p:cNvSpPr>
          <p:nvPr/>
        </p:nvSpPr>
        <p:spPr bwMode="auto">
          <a:xfrm>
            <a:off x="836930" y="5948680"/>
            <a:ext cx="5349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zh-CN" sz="2400" dirty="0">
                <a:solidFill>
                  <a:srgbClr val="002060"/>
                </a:solidFill>
                <a:latin typeface="Times New Roman" panose="02020603050405020304" pitchFamily="18" charset="0"/>
                <a:ea typeface="黑体" panose="02010609060101010101" pitchFamily="49" charset="-122"/>
              </a:rPr>
              <a:t>用</a:t>
            </a:r>
            <a:r>
              <a:rPr lang="en-US" altLang="zh-CN" sz="2400" i="1" dirty="0" err="1">
                <a:solidFill>
                  <a:srgbClr val="002060"/>
                </a:solidFill>
                <a:latin typeface="Times New Roman" panose="02020603050405020304" pitchFamily="18" charset="0"/>
                <a:ea typeface="楷体_GB2312" pitchFamily="49" charset="-122"/>
              </a:rPr>
              <a:t>σ</a:t>
            </a:r>
            <a:r>
              <a:rPr lang="en-US" altLang="zh-CN" sz="2400" baseline="-10000" dirty="0" err="1">
                <a:solidFill>
                  <a:srgbClr val="002060"/>
                </a:solidFill>
                <a:latin typeface="Times New Roman" panose="02020603050405020304" pitchFamily="18" charset="0"/>
                <a:ea typeface="黑体" panose="02010609060101010101" pitchFamily="49" charset="-122"/>
              </a:rPr>
              <a:t>r</a:t>
            </a:r>
            <a:r>
              <a:rPr lang="en-US" altLang="zh-CN" sz="2400" baseline="-25000" dirty="0">
                <a:solidFill>
                  <a:srgbClr val="002060"/>
                </a:solidFill>
                <a:latin typeface="Times New Roman" panose="02020603050405020304" pitchFamily="18" charset="0"/>
                <a:ea typeface="黑体" panose="02010609060101010101" pitchFamily="49" charset="-122"/>
              </a:rPr>
              <a:t> </a:t>
            </a:r>
            <a:r>
              <a:rPr lang="zh-CN" altLang="en-US" sz="2400" dirty="0">
                <a:solidFill>
                  <a:srgbClr val="002060"/>
                </a:solidFill>
                <a:latin typeface="Times New Roman" panose="02020603050405020304" pitchFamily="18" charset="0"/>
                <a:ea typeface="黑体" panose="02010609060101010101" pitchFamily="49" charset="-122"/>
              </a:rPr>
              <a:t>表示应力比为 </a:t>
            </a:r>
            <a:r>
              <a:rPr lang="en-US" altLang="zh-CN" sz="2400" i="1" dirty="0">
                <a:solidFill>
                  <a:srgbClr val="002060"/>
                </a:solidFill>
                <a:latin typeface="Times New Roman" panose="02020603050405020304" pitchFamily="18" charset="0"/>
                <a:ea typeface="黑体" panose="02010609060101010101" pitchFamily="49" charset="-122"/>
              </a:rPr>
              <a:t>r</a:t>
            </a:r>
            <a:r>
              <a:rPr lang="en-US" altLang="zh-CN" sz="2400" dirty="0">
                <a:solidFill>
                  <a:srgbClr val="002060"/>
                </a:solidFill>
                <a:latin typeface="Times New Roman" panose="02020603050405020304" pitchFamily="18" charset="0"/>
                <a:ea typeface="黑体" panose="02010609060101010101" pitchFamily="49" charset="-122"/>
              </a:rPr>
              <a:t> </a:t>
            </a:r>
            <a:r>
              <a:rPr lang="zh-CN" altLang="en-US" sz="2400" dirty="0">
                <a:solidFill>
                  <a:srgbClr val="002060"/>
                </a:solidFill>
                <a:latin typeface="Times New Roman" panose="02020603050405020304" pitchFamily="18" charset="0"/>
                <a:ea typeface="黑体" panose="02010609060101010101" pitchFamily="49" charset="-122"/>
              </a:rPr>
              <a:t>的变应力</a:t>
            </a:r>
            <a:endParaRPr lang="zh-CN" altLang="en-US" sz="2400" dirty="0">
              <a:solidFill>
                <a:srgbClr val="002060"/>
              </a:solidFill>
              <a:latin typeface="Times New Roman" panose="02020603050405020304" pitchFamily="18" charset="0"/>
              <a:ea typeface="黑体" panose="02010609060101010101" pitchFamily="49" charset="-122"/>
            </a:endParaRPr>
          </a:p>
        </p:txBody>
      </p:sp>
      <p:sp>
        <p:nvSpPr>
          <p:cNvPr id="259153" name="Rectangle 81"/>
          <p:cNvSpPr>
            <a:spLocks noChangeArrowheads="1"/>
          </p:cNvSpPr>
          <p:nvPr/>
        </p:nvSpPr>
        <p:spPr bwMode="auto">
          <a:xfrm>
            <a:off x="5562600" y="2590800"/>
            <a:ext cx="3041650" cy="850900"/>
          </a:xfrm>
          <a:prstGeom prst="rect">
            <a:avLst/>
          </a:prstGeom>
          <a:solidFill>
            <a:srgbClr val="FFFF00"/>
          </a:solidFill>
          <a:ln w="28575">
            <a:solidFill>
              <a:schemeClr val="hlink"/>
            </a:solidFill>
            <a:miter lim="800000"/>
          </a:ln>
          <a:effectLst/>
        </p:spPr>
        <p:txBody>
          <a:bodyPr>
            <a:spAutoFit/>
          </a:bodyPr>
          <a:lstStyle/>
          <a:p>
            <a:pPr eaLnBrk="1" hangingPunct="1">
              <a:defRPr/>
            </a:pPr>
            <a:r>
              <a:rPr lang="zh-CN" altLang="en-US" dirty="0">
                <a:solidFill>
                  <a:srgbClr val="FF3300"/>
                </a:solidFill>
                <a:effectLst>
                  <a:outerShdw blurRad="38100" dist="38100" dir="2700000" algn="tl">
                    <a:srgbClr val="C0C0C0"/>
                  </a:outerShdw>
                </a:effectLst>
                <a:ea typeface="黑体" panose="02010609060101010101" pitchFamily="49" charset="-122"/>
              </a:rPr>
              <a:t>已知任意两个参数，可确定其余参数</a:t>
            </a:r>
            <a:endParaRPr lang="zh-CN" altLang="en-US" dirty="0">
              <a:solidFill>
                <a:srgbClr val="FF3300"/>
              </a:solidFill>
              <a:effectLst>
                <a:outerShdw blurRad="38100" dist="38100" dir="2700000" algn="tl">
                  <a:srgbClr val="C0C0C0"/>
                </a:outerShdw>
              </a:effectLst>
              <a:ea typeface="黑体" panose="02010609060101010101" pitchFamily="49" charset="-122"/>
            </a:endParaRPr>
          </a:p>
        </p:txBody>
      </p:sp>
      <p:sp>
        <p:nvSpPr>
          <p:cNvPr id="259154" name="Rectangle 82"/>
          <p:cNvSpPr>
            <a:spLocks noChangeArrowheads="1"/>
          </p:cNvSpPr>
          <p:nvPr/>
        </p:nvSpPr>
        <p:spPr bwMode="auto">
          <a:xfrm>
            <a:off x="432118" y="4463733"/>
            <a:ext cx="1757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zh-CN" altLang="en-US" sz="2400">
                <a:solidFill>
                  <a:srgbClr val="FF0000"/>
                </a:solidFill>
                <a:latin typeface="Times New Roman" panose="02020603050405020304" pitchFamily="18" charset="0"/>
                <a:ea typeface="黑体" panose="02010609060101010101" pitchFamily="49" charset="-122"/>
              </a:rPr>
              <a:t>定义规则：</a:t>
            </a:r>
            <a:endParaRPr lang="zh-CN" altLang="en-US" sz="2400">
              <a:solidFill>
                <a:srgbClr val="FF0000"/>
              </a:solidFill>
              <a:latin typeface="Times New Roman" panose="02020603050405020304" pitchFamily="18" charset="0"/>
              <a:ea typeface="黑体" panose="02010609060101010101" pitchFamily="49" charset="-122"/>
            </a:endParaRPr>
          </a:p>
        </p:txBody>
      </p:sp>
      <p:sp>
        <p:nvSpPr>
          <p:cNvPr id="259155" name="Rectangle 83"/>
          <p:cNvSpPr>
            <a:spLocks noChangeArrowheads="1"/>
          </p:cNvSpPr>
          <p:nvPr/>
        </p:nvSpPr>
        <p:spPr bwMode="auto">
          <a:xfrm>
            <a:off x="792480" y="4868545"/>
            <a:ext cx="6821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en-US" altLang="zh-CN" sz="2400" i="1" dirty="0" err="1">
                <a:solidFill>
                  <a:schemeClr val="hlink"/>
                </a:solidFill>
                <a:latin typeface="Times New Roman" panose="02020603050405020304" pitchFamily="18" charset="0"/>
                <a:ea typeface="楷体_GB2312" pitchFamily="49" charset="-122"/>
              </a:rPr>
              <a:t>σ</a:t>
            </a:r>
            <a:r>
              <a:rPr lang="en-US" altLang="zh-CN" sz="2400" baseline="-16000" dirty="0" err="1">
                <a:solidFill>
                  <a:schemeClr val="hlink"/>
                </a:solidFill>
                <a:latin typeface="Times New Roman" panose="02020603050405020304" pitchFamily="18" charset="0"/>
                <a:ea typeface="黑体" panose="02010609060101010101" pitchFamily="49" charset="-122"/>
              </a:rPr>
              <a:t>max</a:t>
            </a:r>
            <a:r>
              <a:rPr lang="en-US" altLang="zh-CN" sz="2400" baseline="-16000" dirty="0">
                <a:solidFill>
                  <a:schemeClr val="hlink"/>
                </a:solidFill>
                <a:latin typeface="Times New Roman" panose="02020603050405020304" pitchFamily="18" charset="0"/>
                <a:ea typeface="黑体" panose="02010609060101010101" pitchFamily="49" charset="-122"/>
              </a:rPr>
              <a:t> </a:t>
            </a:r>
            <a:r>
              <a:rPr lang="zh-CN" altLang="en-US" sz="2400" dirty="0">
                <a:solidFill>
                  <a:schemeClr val="hlink"/>
                </a:solidFill>
                <a:latin typeface="Times New Roman" panose="02020603050405020304" pitchFamily="18" charset="0"/>
                <a:ea typeface="黑体" panose="02010609060101010101" pitchFamily="49" charset="-122"/>
              </a:rPr>
              <a:t>其值的</a:t>
            </a:r>
            <a:r>
              <a:rPr lang="zh-CN" altLang="en-US" sz="2400" dirty="0">
                <a:solidFill>
                  <a:schemeClr val="hlink"/>
                </a:solidFill>
                <a:latin typeface="Times New Roman" panose="02020603050405020304" pitchFamily="18" charset="0"/>
                <a:ea typeface="黑体" panose="02010609060101010101" pitchFamily="49" charset="-122"/>
                <a:sym typeface="+mn-ea"/>
              </a:rPr>
              <a:t>绝对值</a:t>
            </a:r>
            <a:r>
              <a:rPr lang="zh-CN" altLang="en-US" sz="2400" dirty="0">
                <a:solidFill>
                  <a:schemeClr val="hlink"/>
                </a:solidFill>
                <a:latin typeface="Times New Roman" panose="02020603050405020304" pitchFamily="18" charset="0"/>
                <a:ea typeface="黑体" panose="02010609060101010101" pitchFamily="49" charset="-122"/>
              </a:rPr>
              <a:t>不小于</a:t>
            </a:r>
            <a:r>
              <a:rPr lang="en-US" altLang="zh-CN" sz="2400" i="1" dirty="0" err="1">
                <a:solidFill>
                  <a:schemeClr val="hlink"/>
                </a:solidFill>
                <a:latin typeface="Times New Roman" panose="02020603050405020304" pitchFamily="18" charset="0"/>
                <a:ea typeface="楷体_GB2312" pitchFamily="49" charset="-122"/>
              </a:rPr>
              <a:t>σ</a:t>
            </a:r>
            <a:r>
              <a:rPr lang="en-US" altLang="zh-CN" sz="2400" baseline="-16000" dirty="0" err="1">
                <a:solidFill>
                  <a:schemeClr val="hlink"/>
                </a:solidFill>
                <a:latin typeface="Times New Roman" panose="02020603050405020304" pitchFamily="18" charset="0"/>
                <a:ea typeface="黑体" panose="02010609060101010101" pitchFamily="49" charset="-122"/>
              </a:rPr>
              <a:t>min</a:t>
            </a:r>
            <a:r>
              <a:rPr lang="en-US" altLang="zh-CN" sz="2400" baseline="-16000" dirty="0">
                <a:solidFill>
                  <a:schemeClr val="hlink"/>
                </a:solidFill>
                <a:latin typeface="Times New Roman" panose="02020603050405020304" pitchFamily="18" charset="0"/>
                <a:ea typeface="黑体" panose="02010609060101010101" pitchFamily="49" charset="-122"/>
              </a:rPr>
              <a:t> </a:t>
            </a:r>
            <a:r>
              <a:rPr lang="zh-CN" altLang="en-US" sz="2400" dirty="0">
                <a:solidFill>
                  <a:schemeClr val="hlink"/>
                </a:solidFill>
                <a:latin typeface="Times New Roman" panose="02020603050405020304" pitchFamily="18" charset="0"/>
                <a:ea typeface="黑体" panose="02010609060101010101" pitchFamily="49" charset="-122"/>
              </a:rPr>
              <a:t>的绝对值；</a:t>
            </a:r>
            <a:endParaRPr lang="zh-CN" altLang="en-US" sz="2400" dirty="0">
              <a:solidFill>
                <a:schemeClr val="hlink"/>
              </a:solidFill>
              <a:latin typeface="Times New Roman" panose="02020603050405020304" pitchFamily="18" charset="0"/>
              <a:ea typeface="黑体" panose="02010609060101010101" pitchFamily="49" charset="-122"/>
            </a:endParaRPr>
          </a:p>
        </p:txBody>
      </p:sp>
      <p:sp>
        <p:nvSpPr>
          <p:cNvPr id="259156" name="Rectangle 84"/>
          <p:cNvSpPr>
            <a:spLocks noChangeArrowheads="1"/>
          </p:cNvSpPr>
          <p:nvPr/>
        </p:nvSpPr>
        <p:spPr bwMode="auto">
          <a:xfrm>
            <a:off x="791845" y="5363845"/>
            <a:ext cx="821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en-US" altLang="zh-CN" sz="2400" i="1" dirty="0" err="1">
                <a:solidFill>
                  <a:schemeClr val="hlink"/>
                </a:solidFill>
                <a:latin typeface="Times New Roman" panose="02020603050405020304" pitchFamily="18" charset="0"/>
                <a:ea typeface="楷体_GB2312" pitchFamily="49" charset="-122"/>
              </a:rPr>
              <a:t>σ</a:t>
            </a:r>
            <a:r>
              <a:rPr lang="en-US" altLang="zh-CN" sz="2400" baseline="-16000" dirty="0" err="1">
                <a:solidFill>
                  <a:schemeClr val="hlink"/>
                </a:solidFill>
                <a:latin typeface="Times New Roman" panose="02020603050405020304" pitchFamily="18" charset="0"/>
                <a:ea typeface="黑体" panose="02010609060101010101" pitchFamily="49" charset="-122"/>
              </a:rPr>
              <a:t>max</a:t>
            </a:r>
            <a:r>
              <a:rPr lang="zh-CN" altLang="en-US" sz="2400" dirty="0">
                <a:solidFill>
                  <a:schemeClr val="hlink"/>
                </a:solidFill>
                <a:latin typeface="Times New Roman" panose="02020603050405020304" pitchFamily="18" charset="0"/>
                <a:ea typeface="黑体" panose="02010609060101010101" pitchFamily="49" charset="-122"/>
              </a:rPr>
              <a:t>、</a:t>
            </a:r>
            <a:r>
              <a:rPr lang="en-US" altLang="zh-CN" sz="2400" i="1" dirty="0" err="1">
                <a:solidFill>
                  <a:schemeClr val="hlink"/>
                </a:solidFill>
                <a:latin typeface="Times New Roman" panose="02020603050405020304" pitchFamily="18" charset="0"/>
                <a:ea typeface="楷体_GB2312" pitchFamily="49" charset="-122"/>
              </a:rPr>
              <a:t>σ</a:t>
            </a:r>
            <a:r>
              <a:rPr lang="en-US" altLang="zh-CN" sz="2400" baseline="-16000" dirty="0" err="1">
                <a:solidFill>
                  <a:schemeClr val="hlink"/>
                </a:solidFill>
                <a:latin typeface="Times New Roman" panose="02020603050405020304" pitchFamily="18" charset="0"/>
                <a:ea typeface="黑体" panose="02010609060101010101" pitchFamily="49" charset="-122"/>
              </a:rPr>
              <a:t>min</a:t>
            </a:r>
            <a:r>
              <a:rPr lang="en-US" altLang="zh-CN" sz="2400" baseline="-16000" dirty="0">
                <a:solidFill>
                  <a:schemeClr val="hlink"/>
                </a:solidFill>
                <a:latin typeface="Times New Roman" panose="02020603050405020304" pitchFamily="18" charset="0"/>
                <a:ea typeface="黑体" panose="02010609060101010101" pitchFamily="49" charset="-122"/>
              </a:rPr>
              <a:t> </a:t>
            </a:r>
            <a:r>
              <a:rPr lang="zh-CN" altLang="en-US" sz="2400" dirty="0">
                <a:solidFill>
                  <a:schemeClr val="hlink"/>
                </a:solidFill>
                <a:latin typeface="Times New Roman" panose="02020603050405020304" pitchFamily="18" charset="0"/>
                <a:ea typeface="黑体" panose="02010609060101010101" pitchFamily="49" charset="-122"/>
              </a:rPr>
              <a:t>在横轴同侧时，</a:t>
            </a:r>
            <a:r>
              <a:rPr lang="en-US" altLang="zh-CN" sz="2400" i="1" dirty="0">
                <a:solidFill>
                  <a:schemeClr val="hlink"/>
                </a:solidFill>
                <a:latin typeface="Times New Roman" panose="02020603050405020304" pitchFamily="18" charset="0"/>
                <a:ea typeface="黑体" panose="02010609060101010101" pitchFamily="49" charset="-122"/>
              </a:rPr>
              <a:t>r </a:t>
            </a:r>
            <a:r>
              <a:rPr lang="zh-CN" altLang="en-US" sz="2400" dirty="0">
                <a:solidFill>
                  <a:schemeClr val="hlink"/>
                </a:solidFill>
                <a:latin typeface="Times New Roman" panose="02020603050405020304" pitchFamily="18" charset="0"/>
                <a:ea typeface="黑体" panose="02010609060101010101" pitchFamily="49" charset="-122"/>
              </a:rPr>
              <a:t>取“＋”号</a:t>
            </a:r>
            <a:r>
              <a:rPr lang="en-US" altLang="zh-CN" sz="2400" dirty="0">
                <a:solidFill>
                  <a:schemeClr val="hlink"/>
                </a:solidFill>
                <a:latin typeface="Times New Roman" panose="02020603050405020304" pitchFamily="18" charset="0"/>
                <a:ea typeface="黑体" panose="02010609060101010101" pitchFamily="49" charset="-122"/>
              </a:rPr>
              <a:t>; </a:t>
            </a:r>
            <a:r>
              <a:rPr lang="zh-CN" altLang="en-US" sz="2400" dirty="0">
                <a:solidFill>
                  <a:schemeClr val="hlink"/>
                </a:solidFill>
                <a:latin typeface="Times New Roman" panose="02020603050405020304" pitchFamily="18" charset="0"/>
                <a:ea typeface="黑体" panose="02010609060101010101" pitchFamily="49" charset="-122"/>
              </a:rPr>
              <a:t>否则，</a:t>
            </a:r>
            <a:r>
              <a:rPr lang="en-US" altLang="zh-CN" sz="2400" i="1" dirty="0">
                <a:solidFill>
                  <a:schemeClr val="hlink"/>
                </a:solidFill>
                <a:latin typeface="Times New Roman" panose="02020603050405020304" pitchFamily="18" charset="0"/>
                <a:ea typeface="黑体" panose="02010609060101010101" pitchFamily="49" charset="-122"/>
              </a:rPr>
              <a:t>r </a:t>
            </a:r>
            <a:r>
              <a:rPr lang="zh-CN" altLang="en-US" sz="2400" dirty="0">
                <a:solidFill>
                  <a:schemeClr val="hlink"/>
                </a:solidFill>
                <a:latin typeface="Times New Roman" panose="02020603050405020304" pitchFamily="18" charset="0"/>
                <a:ea typeface="黑体" panose="02010609060101010101" pitchFamily="49" charset="-122"/>
              </a:rPr>
              <a:t>取“－”号</a:t>
            </a:r>
            <a:endParaRPr lang="zh-CN" altLang="en-US" sz="2400" dirty="0">
              <a:solidFill>
                <a:schemeClr val="hlink"/>
              </a:solidFill>
              <a:latin typeface="Times New Roman" panose="02020603050405020304" pitchFamily="18" charset="0"/>
              <a:ea typeface="黑体" panose="02010609060101010101" pitchFamily="49" charset="-122"/>
            </a:endParaRPr>
          </a:p>
        </p:txBody>
      </p:sp>
      <p:graphicFrame>
        <p:nvGraphicFramePr>
          <p:cNvPr id="259160" name="Object 88"/>
          <p:cNvGraphicFramePr>
            <a:graphicFrameLocks noChangeAspect="1"/>
          </p:cNvGraphicFramePr>
          <p:nvPr/>
        </p:nvGraphicFramePr>
        <p:xfrm>
          <a:off x="5924550" y="3933825"/>
          <a:ext cx="1506538" cy="447675"/>
        </p:xfrm>
        <a:graphic>
          <a:graphicData uri="http://schemas.openxmlformats.org/presentationml/2006/ole">
            <mc:AlternateContent xmlns:mc="http://schemas.openxmlformats.org/markup-compatibility/2006">
              <mc:Choice xmlns:v="urn:schemas-microsoft-com:vml" Requires="v">
                <p:oleObj spid="_x0000_s10" name="公式" r:id="rId15" imgW="723900" imgH="215900" progId="Equation.3">
                  <p:embed/>
                </p:oleObj>
              </mc:Choice>
              <mc:Fallback>
                <p:oleObj name="公式" r:id="rId15" imgW="723900" imgH="215900" progId="Equation.3">
                  <p:embed/>
                  <p:pic>
                    <p:nvPicPr>
                      <p:cNvPr id="0" name="Picture 15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24550" y="3933825"/>
                        <a:ext cx="1506538"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文本框 10"/>
          <p:cNvSpPr txBox="1"/>
          <p:nvPr/>
        </p:nvSpPr>
        <p:spPr>
          <a:xfrm>
            <a:off x="1152525" y="3923665"/>
            <a:ext cx="1348740" cy="429895"/>
          </a:xfrm>
          <a:prstGeom prst="rect">
            <a:avLst/>
          </a:prstGeom>
          <a:noFill/>
        </p:spPr>
        <p:txBody>
          <a:bodyPr wrap="square" rtlCol="0">
            <a:spAutoFit/>
          </a:bodyPr>
          <a:lstStyle/>
          <a:p>
            <a:r>
              <a:rPr lang="zh-CN" altLang="en-US">
                <a:solidFill>
                  <a:schemeClr val="tx2">
                    <a:lumMod val="60000"/>
                    <a:lumOff val="40000"/>
                  </a:schemeClr>
                </a:solidFill>
              </a:rPr>
              <a:t>循环特性</a:t>
            </a:r>
            <a:endParaRPr lang="zh-CN" altLang="en-US">
              <a:solidFill>
                <a:schemeClr val="tx2">
                  <a:lumMod val="60000"/>
                  <a:lumOff val="4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259077"/>
                                        </p:tgtEl>
                                        <p:attrNameLst>
                                          <p:attrName>style.visibility</p:attrName>
                                        </p:attrNameLst>
                                      </p:cBhvr>
                                      <p:to>
                                        <p:strVal val="visible"/>
                                      </p:to>
                                    </p:set>
                                    <p:animEffect transition="in" filter="slide(fromRight)">
                                      <p:cBhvr>
                                        <p:cTn id="7" dur="500"/>
                                        <p:tgtEl>
                                          <p:spTgt spid="259077"/>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9130"/>
                                        </p:tgtEl>
                                        <p:attrNameLst>
                                          <p:attrName>style.visibility</p:attrName>
                                        </p:attrNameLst>
                                      </p:cBhvr>
                                      <p:to>
                                        <p:strVal val="visible"/>
                                      </p:to>
                                    </p:set>
                                    <p:animEffect transition="in" filter="wipe(left)">
                                      <p:cBhvr>
                                        <p:cTn id="17" dur="500"/>
                                        <p:tgtEl>
                                          <p:spTgt spid="2591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9131"/>
                                        </p:tgtEl>
                                        <p:attrNameLst>
                                          <p:attrName>style.visibility</p:attrName>
                                        </p:attrNameLst>
                                      </p:cBhvr>
                                      <p:to>
                                        <p:strVal val="visible"/>
                                      </p:to>
                                    </p:set>
                                    <p:animEffect transition="in" filter="wipe(left)">
                                      <p:cBhvr>
                                        <p:cTn id="22" dur="500"/>
                                        <p:tgtEl>
                                          <p:spTgt spid="2591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9133"/>
                                        </p:tgtEl>
                                        <p:attrNameLst>
                                          <p:attrName>style.visibility</p:attrName>
                                        </p:attrNameLst>
                                      </p:cBhvr>
                                      <p:to>
                                        <p:strVal val="visible"/>
                                      </p:to>
                                    </p:set>
                                    <p:animEffect transition="in" filter="wipe(left)">
                                      <p:cBhvr>
                                        <p:cTn id="27" dur="500"/>
                                        <p:tgtEl>
                                          <p:spTgt spid="2591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9132"/>
                                        </p:tgtEl>
                                        <p:attrNameLst>
                                          <p:attrName>style.visibility</p:attrName>
                                        </p:attrNameLst>
                                      </p:cBhvr>
                                      <p:to>
                                        <p:strVal val="visible"/>
                                      </p:to>
                                    </p:set>
                                    <p:animEffect transition="in" filter="wipe(left)">
                                      <p:cBhvr>
                                        <p:cTn id="32" dur="500"/>
                                        <p:tgtEl>
                                          <p:spTgt spid="259132"/>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528" fill="hold" grpId="0" nodeType="clickEffect">
                                  <p:stCondLst>
                                    <p:cond delay="0"/>
                                  </p:stCondLst>
                                  <p:childTnLst>
                                    <p:set>
                                      <p:cBhvr>
                                        <p:cTn id="36" dur="1" fill="hold">
                                          <p:stCondLst>
                                            <p:cond delay="0"/>
                                          </p:stCondLst>
                                        </p:cTn>
                                        <p:tgtEl>
                                          <p:spTgt spid="259096"/>
                                        </p:tgtEl>
                                        <p:attrNameLst>
                                          <p:attrName>style.visibility</p:attrName>
                                        </p:attrNameLst>
                                      </p:cBhvr>
                                      <p:to>
                                        <p:strVal val="visible"/>
                                      </p:to>
                                    </p:set>
                                    <p:anim calcmode="lin" valueType="num">
                                      <p:cBhvr>
                                        <p:cTn id="37" dur="500" fill="hold"/>
                                        <p:tgtEl>
                                          <p:spTgt spid="259096"/>
                                        </p:tgtEl>
                                        <p:attrNameLst>
                                          <p:attrName>ppt_w</p:attrName>
                                        </p:attrNameLst>
                                      </p:cBhvr>
                                      <p:tavLst>
                                        <p:tav tm="0">
                                          <p:val>
                                            <p:fltVal val="0"/>
                                          </p:val>
                                        </p:tav>
                                        <p:tav tm="100000">
                                          <p:val>
                                            <p:strVal val="#ppt_w"/>
                                          </p:val>
                                        </p:tav>
                                      </p:tavLst>
                                    </p:anim>
                                    <p:anim calcmode="lin" valueType="num">
                                      <p:cBhvr>
                                        <p:cTn id="38" dur="500" fill="hold"/>
                                        <p:tgtEl>
                                          <p:spTgt spid="259096"/>
                                        </p:tgtEl>
                                        <p:attrNameLst>
                                          <p:attrName>ppt_h</p:attrName>
                                        </p:attrNameLst>
                                      </p:cBhvr>
                                      <p:tavLst>
                                        <p:tav tm="0">
                                          <p:val>
                                            <p:fltVal val="0"/>
                                          </p:val>
                                        </p:tav>
                                        <p:tav tm="100000">
                                          <p:val>
                                            <p:strVal val="#ppt_h"/>
                                          </p:val>
                                        </p:tav>
                                      </p:tavLst>
                                    </p:anim>
                                    <p:anim calcmode="lin" valueType="num">
                                      <p:cBhvr>
                                        <p:cTn id="39" dur="500" fill="hold"/>
                                        <p:tgtEl>
                                          <p:spTgt spid="259096"/>
                                        </p:tgtEl>
                                        <p:attrNameLst>
                                          <p:attrName>ppt_x</p:attrName>
                                        </p:attrNameLst>
                                      </p:cBhvr>
                                      <p:tavLst>
                                        <p:tav tm="0">
                                          <p:val>
                                            <p:fltVal val="0.5"/>
                                          </p:val>
                                        </p:tav>
                                        <p:tav tm="100000">
                                          <p:val>
                                            <p:strVal val="#ppt_x"/>
                                          </p:val>
                                        </p:tav>
                                      </p:tavLst>
                                    </p:anim>
                                    <p:anim calcmode="lin" valueType="num">
                                      <p:cBhvr>
                                        <p:cTn id="40" dur="500" fill="hold"/>
                                        <p:tgtEl>
                                          <p:spTgt spid="259096"/>
                                        </p:tgtEl>
                                        <p:attrNameLst>
                                          <p:attrName>ppt_y</p:attrName>
                                        </p:attrNameLst>
                                      </p:cBhvr>
                                      <p:tavLst>
                                        <p:tav tm="0">
                                          <p:val>
                                            <p:fltVal val="0.5"/>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59135"/>
                                        </p:tgtEl>
                                        <p:attrNameLst>
                                          <p:attrName>style.visibility</p:attrName>
                                        </p:attrNameLst>
                                      </p:cBhvr>
                                      <p:to>
                                        <p:strVal val="visible"/>
                                      </p:to>
                                    </p:set>
                                    <p:animEffect transition="in" filter="wipe(left)">
                                      <p:cBhvr>
                                        <p:cTn id="45" dur="500"/>
                                        <p:tgtEl>
                                          <p:spTgt spid="25913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59134"/>
                                        </p:tgtEl>
                                        <p:attrNameLst>
                                          <p:attrName>style.visibility</p:attrName>
                                        </p:attrNameLst>
                                      </p:cBhvr>
                                      <p:to>
                                        <p:strVal val="visible"/>
                                      </p:to>
                                    </p:set>
                                    <p:animEffect transition="in" filter="wipe(left)">
                                      <p:cBhvr>
                                        <p:cTn id="50" dur="500"/>
                                        <p:tgtEl>
                                          <p:spTgt spid="259134"/>
                                        </p:tgtEl>
                                      </p:cBhvr>
                                    </p:animEffect>
                                  </p:childTnLst>
                                </p:cTn>
                              </p:par>
                            </p:childTnLst>
                          </p:cTn>
                        </p:par>
                      </p:childTnLst>
                    </p:cTn>
                  </p:par>
                  <p:par>
                    <p:cTn id="51" fill="hold">
                      <p:stCondLst>
                        <p:cond delay="indefinite"/>
                      </p:stCondLst>
                      <p:childTnLst>
                        <p:par>
                          <p:cTn id="52" fill="hold">
                            <p:stCondLst>
                              <p:cond delay="0"/>
                            </p:stCondLst>
                            <p:childTnLst>
                              <p:par>
                                <p:cTn id="53" presetID="23" presetClass="entr" presetSubtype="528" fill="hold" nodeType="clickEffect">
                                  <p:stCondLst>
                                    <p:cond delay="0"/>
                                  </p:stCondLst>
                                  <p:childTnLst>
                                    <p:set>
                                      <p:cBhvr>
                                        <p:cTn id="54" dur="1" fill="hold">
                                          <p:stCondLst>
                                            <p:cond delay="0"/>
                                          </p:stCondLst>
                                        </p:cTn>
                                        <p:tgtEl>
                                          <p:spTgt spid="259139"/>
                                        </p:tgtEl>
                                        <p:attrNameLst>
                                          <p:attrName>style.visibility</p:attrName>
                                        </p:attrNameLst>
                                      </p:cBhvr>
                                      <p:to>
                                        <p:strVal val="visible"/>
                                      </p:to>
                                    </p:set>
                                    <p:anim calcmode="lin" valueType="num">
                                      <p:cBhvr>
                                        <p:cTn id="55" dur="500" fill="hold"/>
                                        <p:tgtEl>
                                          <p:spTgt spid="259139"/>
                                        </p:tgtEl>
                                        <p:attrNameLst>
                                          <p:attrName>ppt_w</p:attrName>
                                        </p:attrNameLst>
                                      </p:cBhvr>
                                      <p:tavLst>
                                        <p:tav tm="0">
                                          <p:val>
                                            <p:fltVal val="0"/>
                                          </p:val>
                                        </p:tav>
                                        <p:tav tm="100000">
                                          <p:val>
                                            <p:strVal val="#ppt_w"/>
                                          </p:val>
                                        </p:tav>
                                      </p:tavLst>
                                    </p:anim>
                                    <p:anim calcmode="lin" valueType="num">
                                      <p:cBhvr>
                                        <p:cTn id="56" dur="500" fill="hold"/>
                                        <p:tgtEl>
                                          <p:spTgt spid="259139"/>
                                        </p:tgtEl>
                                        <p:attrNameLst>
                                          <p:attrName>ppt_h</p:attrName>
                                        </p:attrNameLst>
                                      </p:cBhvr>
                                      <p:tavLst>
                                        <p:tav tm="0">
                                          <p:val>
                                            <p:fltVal val="0"/>
                                          </p:val>
                                        </p:tav>
                                        <p:tav tm="100000">
                                          <p:val>
                                            <p:strVal val="#ppt_h"/>
                                          </p:val>
                                        </p:tav>
                                      </p:tavLst>
                                    </p:anim>
                                    <p:anim calcmode="lin" valueType="num">
                                      <p:cBhvr>
                                        <p:cTn id="57" dur="500" fill="hold"/>
                                        <p:tgtEl>
                                          <p:spTgt spid="259139"/>
                                        </p:tgtEl>
                                        <p:attrNameLst>
                                          <p:attrName>ppt_x</p:attrName>
                                        </p:attrNameLst>
                                      </p:cBhvr>
                                      <p:tavLst>
                                        <p:tav tm="0">
                                          <p:val>
                                            <p:fltVal val="0.5"/>
                                          </p:val>
                                        </p:tav>
                                        <p:tav tm="100000">
                                          <p:val>
                                            <p:strVal val="#ppt_x"/>
                                          </p:val>
                                        </p:tav>
                                      </p:tavLst>
                                    </p:anim>
                                    <p:anim calcmode="lin" valueType="num">
                                      <p:cBhvr>
                                        <p:cTn id="58" dur="500" fill="hold"/>
                                        <p:tgtEl>
                                          <p:spTgt spid="259139"/>
                                        </p:tgtEl>
                                        <p:attrNameLst>
                                          <p:attrName>ppt_y</p:attrName>
                                        </p:attrNameLst>
                                      </p:cBhvr>
                                      <p:tavLst>
                                        <p:tav tm="0">
                                          <p:val>
                                            <p:fltVal val="0.5"/>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3" presetClass="entr" presetSubtype="528" fill="hold" nodeType="clickEffect">
                                  <p:stCondLst>
                                    <p:cond delay="0"/>
                                  </p:stCondLst>
                                  <p:childTnLst>
                                    <p:set>
                                      <p:cBhvr>
                                        <p:cTn id="62" dur="1" fill="hold">
                                          <p:stCondLst>
                                            <p:cond delay="0"/>
                                          </p:stCondLst>
                                        </p:cTn>
                                        <p:tgtEl>
                                          <p:spTgt spid="259141"/>
                                        </p:tgtEl>
                                        <p:attrNameLst>
                                          <p:attrName>style.visibility</p:attrName>
                                        </p:attrNameLst>
                                      </p:cBhvr>
                                      <p:to>
                                        <p:strVal val="visible"/>
                                      </p:to>
                                    </p:set>
                                    <p:anim calcmode="lin" valueType="num">
                                      <p:cBhvr>
                                        <p:cTn id="63" dur="500" fill="hold"/>
                                        <p:tgtEl>
                                          <p:spTgt spid="259141"/>
                                        </p:tgtEl>
                                        <p:attrNameLst>
                                          <p:attrName>ppt_w</p:attrName>
                                        </p:attrNameLst>
                                      </p:cBhvr>
                                      <p:tavLst>
                                        <p:tav tm="0">
                                          <p:val>
                                            <p:fltVal val="0"/>
                                          </p:val>
                                        </p:tav>
                                        <p:tav tm="100000">
                                          <p:val>
                                            <p:strVal val="#ppt_w"/>
                                          </p:val>
                                        </p:tav>
                                      </p:tavLst>
                                    </p:anim>
                                    <p:anim calcmode="lin" valueType="num">
                                      <p:cBhvr>
                                        <p:cTn id="64" dur="500" fill="hold"/>
                                        <p:tgtEl>
                                          <p:spTgt spid="259141"/>
                                        </p:tgtEl>
                                        <p:attrNameLst>
                                          <p:attrName>ppt_h</p:attrName>
                                        </p:attrNameLst>
                                      </p:cBhvr>
                                      <p:tavLst>
                                        <p:tav tm="0">
                                          <p:val>
                                            <p:fltVal val="0"/>
                                          </p:val>
                                        </p:tav>
                                        <p:tav tm="100000">
                                          <p:val>
                                            <p:strVal val="#ppt_h"/>
                                          </p:val>
                                        </p:tav>
                                      </p:tavLst>
                                    </p:anim>
                                    <p:anim calcmode="lin" valueType="num">
                                      <p:cBhvr>
                                        <p:cTn id="65" dur="500" fill="hold"/>
                                        <p:tgtEl>
                                          <p:spTgt spid="259141"/>
                                        </p:tgtEl>
                                        <p:attrNameLst>
                                          <p:attrName>ppt_x</p:attrName>
                                        </p:attrNameLst>
                                      </p:cBhvr>
                                      <p:tavLst>
                                        <p:tav tm="0">
                                          <p:val>
                                            <p:fltVal val="0.5"/>
                                          </p:val>
                                        </p:tav>
                                        <p:tav tm="100000">
                                          <p:val>
                                            <p:strVal val="#ppt_x"/>
                                          </p:val>
                                        </p:tav>
                                      </p:tavLst>
                                    </p:anim>
                                    <p:anim calcmode="lin" valueType="num">
                                      <p:cBhvr>
                                        <p:cTn id="66" dur="500" fill="hold"/>
                                        <p:tgtEl>
                                          <p:spTgt spid="259141"/>
                                        </p:tgtEl>
                                        <p:attrNameLst>
                                          <p:attrName>ppt_y</p:attrName>
                                        </p:attrNameLst>
                                      </p:cBhvr>
                                      <p:tavLst>
                                        <p:tav tm="0">
                                          <p:val>
                                            <p:fltVal val="0.5"/>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59137"/>
                                        </p:tgtEl>
                                        <p:attrNameLst>
                                          <p:attrName>style.visibility</p:attrName>
                                        </p:attrNameLst>
                                      </p:cBhvr>
                                      <p:to>
                                        <p:strVal val="visible"/>
                                      </p:to>
                                    </p:set>
                                    <p:animEffect transition="in" filter="wipe(left)">
                                      <p:cBhvr>
                                        <p:cTn id="71" dur="500"/>
                                        <p:tgtEl>
                                          <p:spTgt spid="259137"/>
                                        </p:tgtEl>
                                      </p:cBhvr>
                                    </p:animEffect>
                                  </p:childTnLst>
                                </p:cTn>
                              </p:par>
                            </p:childTnLst>
                          </p:cTn>
                        </p:par>
                        <p:par>
                          <p:cTn id="72" fill="hold">
                            <p:stCondLst>
                              <p:cond delay="500"/>
                            </p:stCondLst>
                            <p:childTnLst>
                              <p:par>
                                <p:cTn id="73" presetID="22" presetClass="entr" presetSubtype="8" fill="hold" grpId="0" nodeType="after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wipe(left)">
                                      <p:cBhvr>
                                        <p:cTn id="75" dur="500"/>
                                        <p:tgtEl>
                                          <p:spTgt spid="11"/>
                                        </p:tgtEl>
                                      </p:cBhvr>
                                    </p:animEffect>
                                  </p:childTnLst>
                                </p:cTn>
                              </p:par>
                            </p:childTnLst>
                          </p:cTn>
                        </p:par>
                        <p:par>
                          <p:cTn id="76" fill="hold">
                            <p:stCondLst>
                              <p:cond delay="1000"/>
                            </p:stCondLst>
                            <p:childTnLst>
                              <p:par>
                                <p:cTn id="77" presetID="22" presetClass="entr" presetSubtype="8" fill="hold" nodeType="afterEffect">
                                  <p:stCondLst>
                                    <p:cond delay="0"/>
                                  </p:stCondLst>
                                  <p:childTnLst>
                                    <p:set>
                                      <p:cBhvr>
                                        <p:cTn id="78" dur="1" fill="hold">
                                          <p:stCondLst>
                                            <p:cond delay="0"/>
                                          </p:stCondLst>
                                        </p:cTn>
                                        <p:tgtEl>
                                          <p:spTgt spid="259136"/>
                                        </p:tgtEl>
                                        <p:attrNameLst>
                                          <p:attrName>style.visibility</p:attrName>
                                        </p:attrNameLst>
                                      </p:cBhvr>
                                      <p:to>
                                        <p:strVal val="visible"/>
                                      </p:to>
                                    </p:set>
                                    <p:animEffect transition="in" filter="wipe(left)">
                                      <p:cBhvr>
                                        <p:cTn id="79" dur="500"/>
                                        <p:tgtEl>
                                          <p:spTgt spid="25913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259140"/>
                                        </p:tgtEl>
                                        <p:attrNameLst>
                                          <p:attrName>style.visibility</p:attrName>
                                        </p:attrNameLst>
                                      </p:cBhvr>
                                      <p:to>
                                        <p:strVal val="visible"/>
                                      </p:to>
                                    </p:set>
                                    <p:animEffect transition="in" filter="wipe(left)">
                                      <p:cBhvr>
                                        <p:cTn id="84" dur="500"/>
                                        <p:tgtEl>
                                          <p:spTgt spid="259140"/>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59138"/>
                                        </p:tgtEl>
                                        <p:attrNameLst>
                                          <p:attrName>style.visibility</p:attrName>
                                        </p:attrNameLst>
                                      </p:cBhvr>
                                      <p:to>
                                        <p:strVal val="visible"/>
                                      </p:to>
                                    </p:set>
                                    <p:animEffect transition="in" filter="wipe(left)">
                                      <p:cBhvr>
                                        <p:cTn id="89" dur="500"/>
                                        <p:tgtEl>
                                          <p:spTgt spid="259138"/>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259160"/>
                                        </p:tgtEl>
                                        <p:attrNameLst>
                                          <p:attrName>style.visibility</p:attrName>
                                        </p:attrNameLst>
                                      </p:cBhvr>
                                      <p:to>
                                        <p:strVal val="visible"/>
                                      </p:to>
                                    </p:set>
                                    <p:animEffect transition="in" filter="wipe(left)">
                                      <p:cBhvr>
                                        <p:cTn id="94" dur="500"/>
                                        <p:tgtEl>
                                          <p:spTgt spid="259160"/>
                                        </p:tgtEl>
                                      </p:cBhvr>
                                    </p:animEffect>
                                  </p:childTnLst>
                                </p:cTn>
                              </p:par>
                            </p:childTnLst>
                          </p:cTn>
                        </p:par>
                      </p:childTnLst>
                    </p:cTn>
                  </p:par>
                  <p:par>
                    <p:cTn id="95" fill="hold">
                      <p:stCondLst>
                        <p:cond delay="indefinite"/>
                      </p:stCondLst>
                      <p:childTnLst>
                        <p:par>
                          <p:cTn id="96" fill="hold">
                            <p:stCondLst>
                              <p:cond delay="0"/>
                            </p:stCondLst>
                            <p:childTnLst>
                              <p:par>
                                <p:cTn id="97" presetID="23" presetClass="entr" presetSubtype="528" fill="hold" grpId="0" nodeType="clickEffect">
                                  <p:stCondLst>
                                    <p:cond delay="0"/>
                                  </p:stCondLst>
                                  <p:childTnLst>
                                    <p:set>
                                      <p:cBhvr>
                                        <p:cTn id="98" dur="1" fill="hold">
                                          <p:stCondLst>
                                            <p:cond delay="0"/>
                                          </p:stCondLst>
                                        </p:cTn>
                                        <p:tgtEl>
                                          <p:spTgt spid="259154"/>
                                        </p:tgtEl>
                                        <p:attrNameLst>
                                          <p:attrName>style.visibility</p:attrName>
                                        </p:attrNameLst>
                                      </p:cBhvr>
                                      <p:to>
                                        <p:strVal val="visible"/>
                                      </p:to>
                                    </p:set>
                                    <p:anim calcmode="lin" valueType="num">
                                      <p:cBhvr>
                                        <p:cTn id="99" dur="500" fill="hold"/>
                                        <p:tgtEl>
                                          <p:spTgt spid="259154"/>
                                        </p:tgtEl>
                                        <p:attrNameLst>
                                          <p:attrName>ppt_w</p:attrName>
                                        </p:attrNameLst>
                                      </p:cBhvr>
                                      <p:tavLst>
                                        <p:tav tm="0">
                                          <p:val>
                                            <p:fltVal val="0"/>
                                          </p:val>
                                        </p:tav>
                                        <p:tav tm="100000">
                                          <p:val>
                                            <p:strVal val="#ppt_w"/>
                                          </p:val>
                                        </p:tav>
                                      </p:tavLst>
                                    </p:anim>
                                    <p:anim calcmode="lin" valueType="num">
                                      <p:cBhvr>
                                        <p:cTn id="100" dur="500" fill="hold"/>
                                        <p:tgtEl>
                                          <p:spTgt spid="259154"/>
                                        </p:tgtEl>
                                        <p:attrNameLst>
                                          <p:attrName>ppt_h</p:attrName>
                                        </p:attrNameLst>
                                      </p:cBhvr>
                                      <p:tavLst>
                                        <p:tav tm="0">
                                          <p:val>
                                            <p:fltVal val="0"/>
                                          </p:val>
                                        </p:tav>
                                        <p:tav tm="100000">
                                          <p:val>
                                            <p:strVal val="#ppt_h"/>
                                          </p:val>
                                        </p:tav>
                                      </p:tavLst>
                                    </p:anim>
                                    <p:anim calcmode="lin" valueType="num">
                                      <p:cBhvr>
                                        <p:cTn id="101" dur="500" fill="hold"/>
                                        <p:tgtEl>
                                          <p:spTgt spid="259154"/>
                                        </p:tgtEl>
                                        <p:attrNameLst>
                                          <p:attrName>ppt_x</p:attrName>
                                        </p:attrNameLst>
                                      </p:cBhvr>
                                      <p:tavLst>
                                        <p:tav tm="0">
                                          <p:val>
                                            <p:fltVal val="0.5"/>
                                          </p:val>
                                        </p:tav>
                                        <p:tav tm="100000">
                                          <p:val>
                                            <p:strVal val="#ppt_x"/>
                                          </p:val>
                                        </p:tav>
                                      </p:tavLst>
                                    </p:anim>
                                    <p:anim calcmode="lin" valueType="num">
                                      <p:cBhvr>
                                        <p:cTn id="102" dur="500" fill="hold"/>
                                        <p:tgtEl>
                                          <p:spTgt spid="259154"/>
                                        </p:tgtEl>
                                        <p:attrNameLst>
                                          <p:attrName>ppt_y</p:attrName>
                                        </p:attrNameLst>
                                      </p:cBhvr>
                                      <p:tavLst>
                                        <p:tav tm="0">
                                          <p:val>
                                            <p:fltVal val="0.5"/>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59155"/>
                                        </p:tgtEl>
                                        <p:attrNameLst>
                                          <p:attrName>style.visibility</p:attrName>
                                        </p:attrNameLst>
                                      </p:cBhvr>
                                      <p:to>
                                        <p:strVal val="visible"/>
                                      </p:to>
                                    </p:set>
                                    <p:animEffect transition="in" filter="wipe(left)">
                                      <p:cBhvr>
                                        <p:cTn id="107" dur="500"/>
                                        <p:tgtEl>
                                          <p:spTgt spid="259155"/>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259156"/>
                                        </p:tgtEl>
                                        <p:attrNameLst>
                                          <p:attrName>style.visibility</p:attrName>
                                        </p:attrNameLst>
                                      </p:cBhvr>
                                      <p:to>
                                        <p:strVal val="visible"/>
                                      </p:to>
                                    </p:set>
                                    <p:animEffect transition="in" filter="wipe(left)">
                                      <p:cBhvr>
                                        <p:cTn id="112" dur="500"/>
                                        <p:tgtEl>
                                          <p:spTgt spid="259156"/>
                                        </p:tgtEl>
                                      </p:cBhvr>
                                    </p:animEffect>
                                  </p:childTnLst>
                                </p:cTn>
                              </p:par>
                            </p:childTnLst>
                          </p:cTn>
                        </p:par>
                      </p:childTnLst>
                    </p:cTn>
                  </p:par>
                  <p:par>
                    <p:cTn id="113" fill="hold">
                      <p:stCondLst>
                        <p:cond delay="indefinite"/>
                      </p:stCondLst>
                      <p:childTnLst>
                        <p:par>
                          <p:cTn id="114" fill="hold">
                            <p:stCondLst>
                              <p:cond delay="0"/>
                            </p:stCondLst>
                            <p:childTnLst>
                              <p:par>
                                <p:cTn id="115" presetID="17" presetClass="entr" presetSubtype="10" fill="hold" grpId="0" nodeType="clickEffect">
                                  <p:stCondLst>
                                    <p:cond delay="0"/>
                                  </p:stCondLst>
                                  <p:childTnLst>
                                    <p:set>
                                      <p:cBhvr>
                                        <p:cTn id="116" dur="1" fill="hold">
                                          <p:stCondLst>
                                            <p:cond delay="0"/>
                                          </p:stCondLst>
                                        </p:cTn>
                                        <p:tgtEl>
                                          <p:spTgt spid="259150"/>
                                        </p:tgtEl>
                                        <p:attrNameLst>
                                          <p:attrName>style.visibility</p:attrName>
                                        </p:attrNameLst>
                                      </p:cBhvr>
                                      <p:to>
                                        <p:strVal val="visible"/>
                                      </p:to>
                                    </p:set>
                                    <p:anim calcmode="lin" valueType="num">
                                      <p:cBhvr>
                                        <p:cTn id="117" dur="500" fill="hold"/>
                                        <p:tgtEl>
                                          <p:spTgt spid="259150"/>
                                        </p:tgtEl>
                                        <p:attrNameLst>
                                          <p:attrName>ppt_w</p:attrName>
                                        </p:attrNameLst>
                                      </p:cBhvr>
                                      <p:tavLst>
                                        <p:tav tm="0">
                                          <p:val>
                                            <p:fltVal val="0"/>
                                          </p:val>
                                        </p:tav>
                                        <p:tav tm="100000">
                                          <p:val>
                                            <p:strVal val="#ppt_w"/>
                                          </p:val>
                                        </p:tav>
                                      </p:tavLst>
                                    </p:anim>
                                    <p:anim calcmode="lin" valueType="num">
                                      <p:cBhvr>
                                        <p:cTn id="118" dur="500" fill="hold"/>
                                        <p:tgtEl>
                                          <p:spTgt spid="259150"/>
                                        </p:tgtEl>
                                        <p:attrNameLst>
                                          <p:attrName>ppt_h</p:attrName>
                                        </p:attrNameLst>
                                      </p:cBhvr>
                                      <p:tavLst>
                                        <p:tav tm="0">
                                          <p:val>
                                            <p:strVal val="#ppt_h"/>
                                          </p:val>
                                        </p:tav>
                                        <p:tav tm="100000">
                                          <p:val>
                                            <p:strVal val="#ppt_h"/>
                                          </p:val>
                                        </p:tav>
                                      </p:tavLst>
                                    </p:anim>
                                  </p:childTnLst>
                                </p:cTn>
                              </p:par>
                            </p:childTnLst>
                          </p:cTn>
                        </p:par>
                      </p:childTnLst>
                    </p:cTn>
                  </p:par>
                  <p:par>
                    <p:cTn id="119" fill="hold">
                      <p:stCondLst>
                        <p:cond delay="indefinite"/>
                      </p:stCondLst>
                      <p:childTnLst>
                        <p:par>
                          <p:cTn id="120" fill="hold">
                            <p:stCondLst>
                              <p:cond delay="0"/>
                            </p:stCondLst>
                            <p:childTnLst>
                              <p:par>
                                <p:cTn id="121" presetID="23" presetClass="entr" presetSubtype="528" fill="hold" grpId="0" nodeType="clickEffect">
                                  <p:stCondLst>
                                    <p:cond delay="0"/>
                                  </p:stCondLst>
                                  <p:childTnLst>
                                    <p:set>
                                      <p:cBhvr>
                                        <p:cTn id="122" dur="1" fill="hold">
                                          <p:stCondLst>
                                            <p:cond delay="0"/>
                                          </p:stCondLst>
                                        </p:cTn>
                                        <p:tgtEl>
                                          <p:spTgt spid="259153"/>
                                        </p:tgtEl>
                                        <p:attrNameLst>
                                          <p:attrName>style.visibility</p:attrName>
                                        </p:attrNameLst>
                                      </p:cBhvr>
                                      <p:to>
                                        <p:strVal val="visible"/>
                                      </p:to>
                                    </p:set>
                                    <p:anim calcmode="lin" valueType="num">
                                      <p:cBhvr>
                                        <p:cTn id="123" dur="500" fill="hold"/>
                                        <p:tgtEl>
                                          <p:spTgt spid="259153"/>
                                        </p:tgtEl>
                                        <p:attrNameLst>
                                          <p:attrName>ppt_w</p:attrName>
                                        </p:attrNameLst>
                                      </p:cBhvr>
                                      <p:tavLst>
                                        <p:tav tm="0">
                                          <p:val>
                                            <p:fltVal val="0"/>
                                          </p:val>
                                        </p:tav>
                                        <p:tav tm="100000">
                                          <p:val>
                                            <p:strVal val="#ppt_w"/>
                                          </p:val>
                                        </p:tav>
                                      </p:tavLst>
                                    </p:anim>
                                    <p:anim calcmode="lin" valueType="num">
                                      <p:cBhvr>
                                        <p:cTn id="124" dur="500" fill="hold"/>
                                        <p:tgtEl>
                                          <p:spTgt spid="259153"/>
                                        </p:tgtEl>
                                        <p:attrNameLst>
                                          <p:attrName>ppt_h</p:attrName>
                                        </p:attrNameLst>
                                      </p:cBhvr>
                                      <p:tavLst>
                                        <p:tav tm="0">
                                          <p:val>
                                            <p:fltVal val="0"/>
                                          </p:val>
                                        </p:tav>
                                        <p:tav tm="100000">
                                          <p:val>
                                            <p:strVal val="#ppt_h"/>
                                          </p:val>
                                        </p:tav>
                                      </p:tavLst>
                                    </p:anim>
                                    <p:anim calcmode="lin" valueType="num">
                                      <p:cBhvr>
                                        <p:cTn id="125" dur="500" fill="hold"/>
                                        <p:tgtEl>
                                          <p:spTgt spid="259153"/>
                                        </p:tgtEl>
                                        <p:attrNameLst>
                                          <p:attrName>ppt_x</p:attrName>
                                        </p:attrNameLst>
                                      </p:cBhvr>
                                      <p:tavLst>
                                        <p:tav tm="0">
                                          <p:val>
                                            <p:fltVal val="0.5"/>
                                          </p:val>
                                        </p:tav>
                                        <p:tav tm="100000">
                                          <p:val>
                                            <p:strVal val="#ppt_x"/>
                                          </p:val>
                                        </p:tav>
                                      </p:tavLst>
                                    </p:anim>
                                    <p:anim calcmode="lin" valueType="num">
                                      <p:cBhvr>
                                        <p:cTn id="126" dur="500" fill="hold"/>
                                        <p:tgtEl>
                                          <p:spTgt spid="25915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7" grpId="0" autoUpdateAnimBg="0"/>
      <p:bldP spid="259096" grpId="0" autoUpdateAnimBg="0"/>
      <p:bldP spid="259130" grpId="0" autoUpdateAnimBg="0"/>
      <p:bldP spid="259131" grpId="0" autoUpdateAnimBg="0"/>
      <p:bldP spid="259133" grpId="0" autoUpdateAnimBg="0"/>
      <p:bldP spid="259135" grpId="0" autoUpdateAnimBg="0"/>
      <p:bldP spid="259137" grpId="0" autoUpdateAnimBg="0"/>
      <p:bldP spid="259150" grpId="0" autoUpdateAnimBg="0"/>
      <p:bldP spid="259153" grpId="0" bldLvl="0" animBg="1" autoUpdateAnimBg="0"/>
      <p:bldP spid="259154" grpId="0" autoUpdateAnimBg="0"/>
      <p:bldP spid="259155" grpId="0" autoUpdateAnimBg="0"/>
      <p:bldP spid="259156" grpId="0" autoUpdateAnimBg="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6" name="Rectangle 6"/>
          <p:cNvSpPr>
            <a:spLocks noChangeArrowheads="1"/>
          </p:cNvSpPr>
          <p:nvPr/>
        </p:nvSpPr>
        <p:spPr bwMode="auto">
          <a:xfrm>
            <a:off x="533400" y="469900"/>
            <a:ext cx="2884488" cy="396875"/>
          </a:xfrm>
          <a:prstGeom prst="rect">
            <a:avLst/>
          </a:prstGeom>
          <a:noFill/>
          <a:ln w="9525">
            <a:noFill/>
            <a:miter lim="800000"/>
          </a:ln>
          <a:effectLst/>
        </p:spPr>
        <p:txBody>
          <a:bodyPr>
            <a:spAutoFit/>
          </a:bodyPr>
          <a:lstStyle/>
          <a:p>
            <a:pPr eaLnBrk="1" hangingPunct="1">
              <a:defRPr/>
            </a:pPr>
            <a:r>
              <a:rPr lang="en-US" altLang="zh-CN" sz="2000" dirty="0">
                <a:solidFill>
                  <a:srgbClr val="FF3300"/>
                </a:solidFill>
                <a:effectLst>
                  <a:outerShdw blurRad="38100" dist="38100" dir="2700000" algn="tl">
                    <a:srgbClr val="C0C0C0"/>
                  </a:outerShdw>
                </a:effectLst>
                <a:ea typeface="黑体" panose="02010609060101010101" pitchFamily="49" charset="-122"/>
              </a:rPr>
              <a:t>●</a:t>
            </a:r>
            <a:r>
              <a:rPr lang="en-US" altLang="zh-CN" sz="2000" dirty="0">
                <a:ea typeface="黑体" panose="02010609060101010101" pitchFamily="49" charset="-122"/>
              </a:rPr>
              <a:t> </a:t>
            </a:r>
            <a:r>
              <a:rPr lang="zh-CN" altLang="en-US" sz="2000" dirty="0">
                <a:ea typeface="黑体" panose="02010609060101010101" pitchFamily="49" charset="-122"/>
              </a:rPr>
              <a:t>对称循环变应力</a:t>
            </a:r>
            <a:endParaRPr lang="zh-CN" altLang="en-US" sz="2000" dirty="0">
              <a:ea typeface="黑体" panose="02010609060101010101" pitchFamily="49" charset="-122"/>
            </a:endParaRPr>
          </a:p>
        </p:txBody>
      </p:sp>
      <p:sp>
        <p:nvSpPr>
          <p:cNvPr id="261127" name="Rectangle 7"/>
          <p:cNvSpPr>
            <a:spLocks noChangeArrowheads="1"/>
          </p:cNvSpPr>
          <p:nvPr/>
        </p:nvSpPr>
        <p:spPr bwMode="auto">
          <a:xfrm>
            <a:off x="4813300" y="457200"/>
            <a:ext cx="2954338" cy="396875"/>
          </a:xfrm>
          <a:prstGeom prst="rect">
            <a:avLst/>
          </a:prstGeom>
          <a:noFill/>
          <a:ln w="9525">
            <a:noFill/>
            <a:miter lim="800000"/>
          </a:ln>
          <a:effectLst/>
        </p:spPr>
        <p:txBody>
          <a:bodyPr>
            <a:spAutoFit/>
          </a:bodyPr>
          <a:lstStyle/>
          <a:p>
            <a:pPr eaLnBrk="1" hangingPunct="1">
              <a:defRPr/>
            </a:pPr>
            <a:r>
              <a:rPr lang="en-US" altLang="zh-CN" sz="2000" dirty="0">
                <a:solidFill>
                  <a:srgbClr val="FF3300"/>
                </a:solidFill>
                <a:effectLst>
                  <a:outerShdw blurRad="38100" dist="38100" dir="2700000" algn="tl">
                    <a:srgbClr val="C0C0C0"/>
                  </a:outerShdw>
                </a:effectLst>
                <a:ea typeface="黑体" panose="02010609060101010101" pitchFamily="49" charset="-122"/>
              </a:rPr>
              <a:t>●</a:t>
            </a:r>
            <a:r>
              <a:rPr lang="en-US" altLang="zh-CN" sz="2000" dirty="0">
                <a:solidFill>
                  <a:schemeClr val="accent2"/>
                </a:solidFill>
                <a:effectLst>
                  <a:outerShdw blurRad="38100" dist="38100" dir="2700000" algn="tl">
                    <a:srgbClr val="C0C0C0"/>
                  </a:outerShdw>
                </a:effectLst>
                <a:ea typeface="黑体" panose="02010609060101010101" pitchFamily="49" charset="-122"/>
              </a:rPr>
              <a:t> </a:t>
            </a:r>
            <a:r>
              <a:rPr lang="zh-CN" altLang="en-US" sz="2000" dirty="0">
                <a:ea typeface="黑体" panose="02010609060101010101" pitchFamily="49" charset="-122"/>
              </a:rPr>
              <a:t>脉动循环变应力</a:t>
            </a:r>
            <a:endParaRPr lang="zh-CN" altLang="en-US" sz="2000" dirty="0">
              <a:ea typeface="黑体" panose="02010609060101010101" pitchFamily="49" charset="-122"/>
            </a:endParaRPr>
          </a:p>
        </p:txBody>
      </p:sp>
      <p:sp>
        <p:nvSpPr>
          <p:cNvPr id="261128" name="Rectangle 8"/>
          <p:cNvSpPr>
            <a:spLocks noChangeArrowheads="1"/>
          </p:cNvSpPr>
          <p:nvPr/>
        </p:nvSpPr>
        <p:spPr bwMode="auto">
          <a:xfrm>
            <a:off x="611188" y="3581400"/>
            <a:ext cx="2889250" cy="396875"/>
          </a:xfrm>
          <a:prstGeom prst="rect">
            <a:avLst/>
          </a:prstGeom>
          <a:noFill/>
          <a:ln w="9525">
            <a:noFill/>
            <a:miter lim="800000"/>
          </a:ln>
          <a:effectLst/>
        </p:spPr>
        <p:txBody>
          <a:bodyPr>
            <a:spAutoFit/>
          </a:bodyPr>
          <a:lstStyle/>
          <a:p>
            <a:pPr eaLnBrk="1" hangingPunct="1">
              <a:defRPr/>
            </a:pPr>
            <a:r>
              <a:rPr lang="en-US" altLang="zh-CN" sz="2000" dirty="0">
                <a:solidFill>
                  <a:srgbClr val="FF3300"/>
                </a:solidFill>
                <a:effectLst>
                  <a:outerShdw blurRad="38100" dist="38100" dir="2700000" algn="tl">
                    <a:srgbClr val="C0C0C0"/>
                  </a:outerShdw>
                </a:effectLst>
                <a:ea typeface="黑体" panose="02010609060101010101" pitchFamily="49" charset="-122"/>
              </a:rPr>
              <a:t>●</a:t>
            </a:r>
            <a:r>
              <a:rPr lang="en-US" altLang="zh-CN" sz="2000" dirty="0">
                <a:solidFill>
                  <a:schemeClr val="accent2"/>
                </a:solidFill>
                <a:effectLst>
                  <a:outerShdw blurRad="38100" dist="38100" dir="2700000" algn="tl">
                    <a:srgbClr val="C0C0C0"/>
                  </a:outerShdw>
                </a:effectLst>
                <a:ea typeface="黑体" panose="02010609060101010101" pitchFamily="49" charset="-122"/>
              </a:rPr>
              <a:t> </a:t>
            </a:r>
            <a:r>
              <a:rPr lang="zh-CN" altLang="en-US" sz="2000" dirty="0">
                <a:ea typeface="黑体" panose="02010609060101010101" pitchFamily="49" charset="-122"/>
              </a:rPr>
              <a:t>非对称循环变应力</a:t>
            </a:r>
            <a:endParaRPr lang="zh-CN" altLang="en-US" sz="2000" dirty="0">
              <a:ea typeface="黑体" panose="02010609060101010101" pitchFamily="49" charset="-122"/>
            </a:endParaRPr>
          </a:p>
        </p:txBody>
      </p:sp>
      <p:graphicFrame>
        <p:nvGraphicFramePr>
          <p:cNvPr id="261129" name="Object 9"/>
          <p:cNvGraphicFramePr>
            <a:graphicFrameLocks noChangeAspect="1"/>
          </p:cNvGraphicFramePr>
          <p:nvPr/>
        </p:nvGraphicFramePr>
        <p:xfrm>
          <a:off x="2862000" y="2439000"/>
          <a:ext cx="911225" cy="311150"/>
        </p:xfrm>
        <a:graphic>
          <a:graphicData uri="http://schemas.openxmlformats.org/presentationml/2006/ole">
            <mc:AlternateContent xmlns:mc="http://schemas.openxmlformats.org/markup-compatibility/2006">
              <mc:Choice xmlns:v="urn:schemas-microsoft-com:vml" Requires="v">
                <p:oleObj spid="_x0000_s2" name="Equation" r:id="rId1" imgW="431800" imgH="165100" progId="Equation.3">
                  <p:embed/>
                </p:oleObj>
              </mc:Choice>
              <mc:Fallback>
                <p:oleObj name="Equation" r:id="rId1" imgW="431800" imgH="165100" progId="Equation.3">
                  <p:embed/>
                  <p:pic>
                    <p:nvPicPr>
                      <p:cNvPr id="0" name="Picture 2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2000" y="2439000"/>
                        <a:ext cx="911225" cy="311150"/>
                      </a:xfrm>
                      <a:prstGeom prst="rect">
                        <a:avLst/>
                      </a:prstGeom>
                      <a:solidFill>
                        <a:srgbClr val="FFFF66"/>
                      </a:solidFill>
                    </p:spPr>
                  </p:pic>
                </p:oleObj>
              </mc:Fallback>
            </mc:AlternateContent>
          </a:graphicData>
        </a:graphic>
      </p:graphicFrame>
      <p:grpSp>
        <p:nvGrpSpPr>
          <p:cNvPr id="3" name="Group 10"/>
          <p:cNvGrpSpPr/>
          <p:nvPr/>
        </p:nvGrpSpPr>
        <p:grpSpPr bwMode="auto">
          <a:xfrm>
            <a:off x="2817000" y="1584000"/>
            <a:ext cx="1710000" cy="795277"/>
            <a:chOff x="718" y="631"/>
            <a:chExt cx="1474" cy="586"/>
          </a:xfrm>
          <a:solidFill>
            <a:srgbClr val="FFFF00"/>
          </a:solidFill>
        </p:grpSpPr>
        <p:graphicFrame>
          <p:nvGraphicFramePr>
            <p:cNvPr id="39968" name="Object 11"/>
            <p:cNvGraphicFramePr>
              <a:graphicFrameLocks noChangeAspect="1"/>
            </p:cNvGraphicFramePr>
            <p:nvPr/>
          </p:nvGraphicFramePr>
          <p:xfrm>
            <a:off x="751" y="631"/>
            <a:ext cx="1025" cy="303"/>
          </p:xfrm>
          <a:graphic>
            <a:graphicData uri="http://schemas.openxmlformats.org/presentationml/2006/ole">
              <mc:AlternateContent xmlns:mc="http://schemas.openxmlformats.org/markup-compatibility/2006">
                <mc:Choice xmlns:v="urn:schemas-microsoft-com:vml" Requires="v">
                  <p:oleObj spid="_x0000_s4" name="公式" r:id="rId3" imgW="838200" imgH="228600" progId="Equation.3">
                    <p:embed/>
                  </p:oleObj>
                </mc:Choice>
                <mc:Fallback>
                  <p:oleObj name="公式" r:id="rId3" imgW="838200" imgH="228600" progId="Equation.3">
                    <p:embed/>
                    <p:pic>
                      <p:nvPicPr>
                        <p:cNvPr id="0" name="Picture 2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 y="631"/>
                          <a:ext cx="1025" cy="303"/>
                        </a:xfrm>
                        <a:prstGeom prst="rect">
                          <a:avLst/>
                        </a:prstGeom>
                        <a:solidFill>
                          <a:srgbClr val="FFFF00"/>
                        </a:solidFill>
                      </p:spPr>
                    </p:pic>
                  </p:oleObj>
                </mc:Fallback>
              </mc:AlternateContent>
            </a:graphicData>
          </a:graphic>
        </p:graphicFrame>
        <p:graphicFrame>
          <p:nvGraphicFramePr>
            <p:cNvPr id="39969" name="Object 12"/>
            <p:cNvGraphicFramePr>
              <a:graphicFrameLocks noChangeAspect="1"/>
            </p:cNvGraphicFramePr>
            <p:nvPr/>
          </p:nvGraphicFramePr>
          <p:xfrm>
            <a:off x="718" y="914"/>
            <a:ext cx="1474" cy="303"/>
          </p:xfrm>
          <a:graphic>
            <a:graphicData uri="http://schemas.openxmlformats.org/presentationml/2006/ole">
              <mc:AlternateContent xmlns:mc="http://schemas.openxmlformats.org/markup-compatibility/2006">
                <mc:Choice xmlns:v="urn:schemas-microsoft-com:vml" Requires="v">
                  <p:oleObj spid="_x0000_s5" name="公式" r:id="rId5" imgW="1206500" imgH="228600" progId="Equation.3">
                    <p:embed/>
                  </p:oleObj>
                </mc:Choice>
                <mc:Fallback>
                  <p:oleObj name="公式" r:id="rId5" imgW="1206500" imgH="228600" progId="Equation.3">
                    <p:embed/>
                    <p:pic>
                      <p:nvPicPr>
                        <p:cNvPr id="0" name="Picture 2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 y="914"/>
                          <a:ext cx="1474" cy="303"/>
                        </a:xfrm>
                        <a:prstGeom prst="rect">
                          <a:avLst/>
                        </a:prstGeom>
                        <a:solidFill>
                          <a:srgbClr val="FFFF00"/>
                        </a:solidFill>
                      </p:spPr>
                    </p:pic>
                  </p:oleObj>
                </mc:Fallback>
              </mc:AlternateContent>
            </a:graphicData>
          </a:graphic>
        </p:graphicFrame>
      </p:grpSp>
      <p:grpSp>
        <p:nvGrpSpPr>
          <p:cNvPr id="6" name="Group 13"/>
          <p:cNvGrpSpPr/>
          <p:nvPr/>
        </p:nvGrpSpPr>
        <p:grpSpPr bwMode="auto">
          <a:xfrm>
            <a:off x="7587254" y="999000"/>
            <a:ext cx="1556746" cy="1161379"/>
            <a:chOff x="4788" y="630"/>
            <a:chExt cx="1063" cy="842"/>
          </a:xfrm>
        </p:grpSpPr>
        <p:graphicFrame>
          <p:nvGraphicFramePr>
            <p:cNvPr id="39966" name="Object 14"/>
            <p:cNvGraphicFramePr>
              <a:graphicFrameLocks noChangeAspect="1"/>
            </p:cNvGraphicFramePr>
            <p:nvPr/>
          </p:nvGraphicFramePr>
          <p:xfrm>
            <a:off x="4788" y="630"/>
            <a:ext cx="746" cy="287"/>
          </p:xfrm>
          <a:graphic>
            <a:graphicData uri="http://schemas.openxmlformats.org/presentationml/2006/ole">
              <mc:AlternateContent xmlns:mc="http://schemas.openxmlformats.org/markup-compatibility/2006">
                <mc:Choice xmlns:v="urn:schemas-microsoft-com:vml" Requires="v">
                  <p:oleObj spid="_x0000_s7" name="Equation" r:id="rId7" imgW="609600" imgH="215900" progId="Equation.3">
                    <p:embed/>
                  </p:oleObj>
                </mc:Choice>
                <mc:Fallback>
                  <p:oleObj name="Equation" r:id="rId7" imgW="609600" imgH="215900" progId="Equation.3">
                    <p:embed/>
                    <p:pic>
                      <p:nvPicPr>
                        <p:cNvPr id="0" name="Picture 24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8" y="630"/>
                          <a:ext cx="746" cy="287"/>
                        </a:xfrm>
                        <a:prstGeom prst="rect">
                          <a:avLst/>
                        </a:prstGeom>
                        <a:solidFill>
                          <a:srgbClr val="FF5CFF"/>
                        </a:solidFill>
                      </p:spPr>
                    </p:pic>
                  </p:oleObj>
                </mc:Fallback>
              </mc:AlternateContent>
            </a:graphicData>
          </a:graphic>
        </p:graphicFrame>
        <p:graphicFrame>
          <p:nvGraphicFramePr>
            <p:cNvPr id="39967" name="Object 15"/>
            <p:cNvGraphicFramePr>
              <a:graphicFrameLocks noChangeAspect="1"/>
            </p:cNvGraphicFramePr>
            <p:nvPr/>
          </p:nvGraphicFramePr>
          <p:xfrm>
            <a:off x="4788" y="950"/>
            <a:ext cx="1063" cy="522"/>
          </p:xfrm>
          <a:graphic>
            <a:graphicData uri="http://schemas.openxmlformats.org/presentationml/2006/ole">
              <mc:AlternateContent xmlns:mc="http://schemas.openxmlformats.org/markup-compatibility/2006">
                <mc:Choice xmlns:v="urn:schemas-microsoft-com:vml" Requires="v">
                  <p:oleObj spid="_x0000_s8" name="公式" r:id="rId9" imgW="1028065" imgH="393700" progId="Equation.3">
                    <p:embed/>
                  </p:oleObj>
                </mc:Choice>
                <mc:Fallback>
                  <p:oleObj name="公式" r:id="rId9" imgW="1028065" imgH="393700" progId="Equation.3">
                    <p:embed/>
                    <p:pic>
                      <p:nvPicPr>
                        <p:cNvPr id="0" name="Picture 2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8" y="950"/>
                          <a:ext cx="1063" cy="522"/>
                        </a:xfrm>
                        <a:prstGeom prst="rect">
                          <a:avLst/>
                        </a:prstGeom>
                        <a:solidFill>
                          <a:srgbClr val="FF5CFF"/>
                        </a:solidFill>
                      </p:spPr>
                    </p:pic>
                  </p:oleObj>
                </mc:Fallback>
              </mc:AlternateContent>
            </a:graphicData>
          </a:graphic>
        </p:graphicFrame>
      </p:grpSp>
      <p:sp>
        <p:nvSpPr>
          <p:cNvPr id="261136" name="Rectangle 16"/>
          <p:cNvSpPr>
            <a:spLocks noChangeArrowheads="1"/>
          </p:cNvSpPr>
          <p:nvPr/>
        </p:nvSpPr>
        <p:spPr bwMode="auto">
          <a:xfrm>
            <a:off x="4897438" y="3568700"/>
            <a:ext cx="1644650" cy="396875"/>
          </a:xfrm>
          <a:prstGeom prst="rect">
            <a:avLst/>
          </a:prstGeom>
          <a:noFill/>
          <a:ln w="9525">
            <a:noFill/>
            <a:miter lim="800000"/>
          </a:ln>
          <a:effectLst/>
        </p:spPr>
        <p:txBody>
          <a:bodyPr>
            <a:spAutoFit/>
          </a:bodyPr>
          <a:lstStyle/>
          <a:p>
            <a:pPr eaLnBrk="1" hangingPunct="1">
              <a:defRPr/>
            </a:pPr>
            <a:r>
              <a:rPr lang="en-US" altLang="zh-CN" sz="2000" dirty="0">
                <a:solidFill>
                  <a:srgbClr val="FF3300"/>
                </a:solidFill>
                <a:effectLst>
                  <a:outerShdw blurRad="38100" dist="38100" dir="2700000" algn="tl">
                    <a:srgbClr val="C0C0C0"/>
                  </a:outerShdw>
                </a:effectLst>
                <a:ea typeface="黑体" panose="02010609060101010101" pitchFamily="49" charset="-122"/>
              </a:rPr>
              <a:t>●</a:t>
            </a:r>
            <a:r>
              <a:rPr lang="en-US" altLang="zh-CN" sz="2000" dirty="0">
                <a:solidFill>
                  <a:schemeClr val="accent2"/>
                </a:solidFill>
                <a:effectLst>
                  <a:outerShdw blurRad="38100" dist="38100" dir="2700000" algn="tl">
                    <a:srgbClr val="C0C0C0"/>
                  </a:outerShdw>
                </a:effectLst>
                <a:ea typeface="黑体" panose="02010609060101010101" pitchFamily="49" charset="-122"/>
              </a:rPr>
              <a:t> </a:t>
            </a:r>
            <a:r>
              <a:rPr lang="zh-CN" altLang="en-US" sz="2000" dirty="0">
                <a:ea typeface="黑体" panose="02010609060101010101" pitchFamily="49" charset="-122"/>
              </a:rPr>
              <a:t>静应力</a:t>
            </a:r>
            <a:endParaRPr lang="zh-CN" altLang="en-US" sz="2000" dirty="0">
              <a:ea typeface="黑体" panose="02010609060101010101" pitchFamily="49" charset="-122"/>
            </a:endParaRPr>
          </a:p>
        </p:txBody>
      </p:sp>
      <p:grpSp>
        <p:nvGrpSpPr>
          <p:cNvPr id="9" name="Group 17"/>
          <p:cNvGrpSpPr/>
          <p:nvPr/>
        </p:nvGrpSpPr>
        <p:grpSpPr bwMode="auto">
          <a:xfrm>
            <a:off x="7722000" y="4059000"/>
            <a:ext cx="1259050" cy="1516064"/>
            <a:chOff x="3923" y="1997"/>
            <a:chExt cx="828" cy="955"/>
          </a:xfrm>
        </p:grpSpPr>
        <p:graphicFrame>
          <p:nvGraphicFramePr>
            <p:cNvPr id="39964" name="Object 18"/>
            <p:cNvGraphicFramePr>
              <a:graphicFrameLocks noChangeAspect="1"/>
            </p:cNvGraphicFramePr>
            <p:nvPr/>
          </p:nvGraphicFramePr>
          <p:xfrm>
            <a:off x="3923" y="1997"/>
            <a:ext cx="828" cy="640"/>
          </p:xfrm>
          <a:graphic>
            <a:graphicData uri="http://schemas.openxmlformats.org/presentationml/2006/ole">
              <mc:AlternateContent xmlns:mc="http://schemas.openxmlformats.org/markup-compatibility/2006">
                <mc:Choice xmlns:v="urn:schemas-microsoft-com:vml" Requires="v">
                  <p:oleObj spid="_x0000_s10" name="公式" r:id="rId11" imgW="774065" imgH="482600" progId="Equation.3">
                    <p:embed/>
                  </p:oleObj>
                </mc:Choice>
                <mc:Fallback>
                  <p:oleObj name="公式" r:id="rId11" imgW="774065" imgH="482600" progId="Equation.3">
                    <p:embed/>
                    <p:pic>
                      <p:nvPicPr>
                        <p:cNvPr id="0" name="Picture 2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23" y="1997"/>
                          <a:ext cx="828" cy="640"/>
                        </a:xfrm>
                        <a:prstGeom prst="rect">
                          <a:avLst/>
                        </a:prstGeom>
                        <a:solidFill>
                          <a:srgbClr val="00B0F0"/>
                        </a:solidFill>
                      </p:spPr>
                    </p:pic>
                  </p:oleObj>
                </mc:Fallback>
              </mc:AlternateContent>
            </a:graphicData>
          </a:graphic>
        </p:graphicFrame>
        <p:graphicFrame>
          <p:nvGraphicFramePr>
            <p:cNvPr id="39965" name="Object 19"/>
            <p:cNvGraphicFramePr>
              <a:graphicFrameLocks noChangeAspect="1"/>
            </p:cNvGraphicFramePr>
            <p:nvPr/>
          </p:nvGraphicFramePr>
          <p:xfrm>
            <a:off x="3923" y="2649"/>
            <a:ext cx="544" cy="303"/>
          </p:xfrm>
          <a:graphic>
            <a:graphicData uri="http://schemas.openxmlformats.org/presentationml/2006/ole">
              <mc:AlternateContent xmlns:mc="http://schemas.openxmlformats.org/markup-compatibility/2006">
                <mc:Choice xmlns:v="urn:schemas-microsoft-com:vml" Requires="v">
                  <p:oleObj spid="_x0000_s11" name="公式" r:id="rId13" imgW="444500" imgH="228600" progId="Equation.3">
                    <p:embed/>
                  </p:oleObj>
                </mc:Choice>
                <mc:Fallback>
                  <p:oleObj name="公式" r:id="rId13" imgW="444500" imgH="228600" progId="Equation.3">
                    <p:embed/>
                    <p:pic>
                      <p:nvPicPr>
                        <p:cNvPr id="0" name="Picture 2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23" y="2649"/>
                          <a:ext cx="544" cy="303"/>
                        </a:xfrm>
                        <a:prstGeom prst="rect">
                          <a:avLst/>
                        </a:prstGeom>
                        <a:solidFill>
                          <a:srgbClr val="00B0F0"/>
                        </a:solidFill>
                      </p:spPr>
                    </p:pic>
                  </p:oleObj>
                </mc:Fallback>
              </mc:AlternateContent>
            </a:graphicData>
          </a:graphic>
        </p:graphicFrame>
      </p:grpSp>
      <p:sp>
        <p:nvSpPr>
          <p:cNvPr id="261140" name="Rectangle 20"/>
          <p:cNvSpPr>
            <a:spLocks noChangeArrowheads="1"/>
          </p:cNvSpPr>
          <p:nvPr/>
        </p:nvSpPr>
        <p:spPr bwMode="auto">
          <a:xfrm>
            <a:off x="1182688" y="3898900"/>
            <a:ext cx="1365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zh-CN" altLang="en-US" sz="2000" dirty="0">
                <a:solidFill>
                  <a:srgbClr val="0000FF"/>
                </a:solidFill>
                <a:latin typeface="Times New Roman" panose="02020603050405020304" pitchFamily="18" charset="0"/>
                <a:ea typeface="楷体" panose="02010609060101010101" pitchFamily="49" charset="-122"/>
              </a:rPr>
              <a:t>一般情况</a:t>
            </a:r>
            <a:endParaRPr lang="zh-CN" altLang="en-US" sz="2000" dirty="0">
              <a:solidFill>
                <a:srgbClr val="0000FF"/>
              </a:solidFill>
              <a:latin typeface="Times New Roman" panose="02020603050405020304" pitchFamily="18" charset="0"/>
              <a:ea typeface="楷体" panose="02010609060101010101" pitchFamily="49" charset="-122"/>
            </a:endParaRPr>
          </a:p>
        </p:txBody>
      </p:sp>
      <p:pic>
        <p:nvPicPr>
          <p:cNvPr id="261141" name="Picture 21" descr="3"/>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77000" y="1314000"/>
            <a:ext cx="2298700" cy="1781175"/>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142" name="Picture 22" descr="4"/>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707000" y="1179000"/>
            <a:ext cx="2752725" cy="1903412"/>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143" name="Picture 23" descr="2"/>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403543" y="4238943"/>
            <a:ext cx="2413000" cy="1844675"/>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144" name="Picture 24" descr="1"/>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957763" y="4445000"/>
            <a:ext cx="2546350" cy="160020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61145" name="Object 25"/>
          <p:cNvGraphicFramePr>
            <a:graphicFrameLocks noChangeAspect="1"/>
          </p:cNvGraphicFramePr>
          <p:nvPr/>
        </p:nvGraphicFramePr>
        <p:xfrm>
          <a:off x="7632000" y="2259000"/>
          <a:ext cx="665163" cy="374650"/>
        </p:xfrm>
        <a:graphic>
          <a:graphicData uri="http://schemas.openxmlformats.org/presentationml/2006/ole">
            <mc:AlternateContent xmlns:mc="http://schemas.openxmlformats.org/markup-compatibility/2006">
              <mc:Choice xmlns:v="urn:schemas-microsoft-com:vml" Requires="v">
                <p:oleObj spid="_x0000_s12" name="Equation" r:id="rId19" imgW="342900" imgH="177800" progId="Equation.3">
                  <p:embed/>
                </p:oleObj>
              </mc:Choice>
              <mc:Fallback>
                <p:oleObj name="Equation" r:id="rId19" imgW="342900" imgH="177800" progId="Equation.3">
                  <p:embed/>
                  <p:pic>
                    <p:nvPicPr>
                      <p:cNvPr id="0" name="Picture 24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632000" y="2259000"/>
                        <a:ext cx="665163" cy="374650"/>
                      </a:xfrm>
                      <a:prstGeom prst="rect">
                        <a:avLst/>
                      </a:prstGeom>
                      <a:solidFill>
                        <a:srgbClr val="FF5CFF"/>
                      </a:solidFill>
                    </p:spPr>
                  </p:pic>
                </p:oleObj>
              </mc:Fallback>
            </mc:AlternateContent>
          </a:graphicData>
        </a:graphic>
      </p:graphicFrame>
      <p:grpSp>
        <p:nvGrpSpPr>
          <p:cNvPr id="13" name="Group 26"/>
          <p:cNvGrpSpPr/>
          <p:nvPr/>
        </p:nvGrpSpPr>
        <p:grpSpPr bwMode="auto">
          <a:xfrm>
            <a:off x="3041333" y="4598353"/>
            <a:ext cx="1477962" cy="742950"/>
            <a:chOff x="2314" y="3079"/>
            <a:chExt cx="931" cy="468"/>
          </a:xfrm>
        </p:grpSpPr>
        <p:graphicFrame>
          <p:nvGraphicFramePr>
            <p:cNvPr id="39962" name="Object 27"/>
            <p:cNvGraphicFramePr>
              <a:graphicFrameLocks noChangeAspect="1"/>
            </p:cNvGraphicFramePr>
            <p:nvPr/>
          </p:nvGraphicFramePr>
          <p:xfrm>
            <a:off x="2362" y="3079"/>
            <a:ext cx="814" cy="195"/>
          </p:xfrm>
          <a:graphic>
            <a:graphicData uri="http://schemas.openxmlformats.org/presentationml/2006/ole">
              <mc:AlternateContent xmlns:mc="http://schemas.openxmlformats.org/markup-compatibility/2006">
                <mc:Choice xmlns:v="urn:schemas-microsoft-com:vml" Requires="v">
                  <p:oleObj spid="_x0000_s14" name="Equation" r:id="rId21" imgW="748665" imgH="165100" progId="Equation.3">
                    <p:embed/>
                  </p:oleObj>
                </mc:Choice>
                <mc:Fallback>
                  <p:oleObj name="Equation" r:id="rId21" imgW="748665" imgH="165100" progId="Equation.3">
                    <p:embed/>
                    <p:pic>
                      <p:nvPicPr>
                        <p:cNvPr id="0" name="Picture 25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62" y="3079"/>
                          <a:ext cx="814" cy="195"/>
                        </a:xfrm>
                        <a:prstGeom prst="rect">
                          <a:avLst/>
                        </a:prstGeom>
                        <a:solidFill>
                          <a:srgbClr val="FFFF66"/>
                        </a:solidFill>
                      </p:spPr>
                    </p:pic>
                  </p:oleObj>
                </mc:Fallback>
              </mc:AlternateContent>
            </a:graphicData>
          </a:graphic>
        </p:graphicFrame>
        <p:graphicFrame>
          <p:nvGraphicFramePr>
            <p:cNvPr id="39963" name="Object 28"/>
            <p:cNvGraphicFramePr>
              <a:graphicFrameLocks noChangeAspect="1"/>
            </p:cNvGraphicFramePr>
            <p:nvPr/>
          </p:nvGraphicFramePr>
          <p:xfrm>
            <a:off x="2314" y="3278"/>
            <a:ext cx="931" cy="269"/>
          </p:xfrm>
          <a:graphic>
            <a:graphicData uri="http://schemas.openxmlformats.org/presentationml/2006/ole">
              <mc:AlternateContent xmlns:mc="http://schemas.openxmlformats.org/markup-compatibility/2006">
                <mc:Choice xmlns:v="urn:schemas-microsoft-com:vml" Requires="v">
                  <p:oleObj spid="_x0000_s15" name="Equation" r:id="rId23" imgW="761365" imgH="203200" progId="Equation.3">
                    <p:embed/>
                  </p:oleObj>
                </mc:Choice>
                <mc:Fallback>
                  <p:oleObj name="Equation" r:id="rId23" imgW="761365" imgH="203200" progId="Equation.3">
                    <p:embed/>
                    <p:pic>
                      <p:nvPicPr>
                        <p:cNvPr id="0" name="Picture 25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14" y="3278"/>
                          <a:ext cx="931" cy="269"/>
                        </a:xfrm>
                        <a:prstGeom prst="rect">
                          <a:avLst/>
                        </a:prstGeom>
                        <a:solidFill>
                          <a:srgbClr val="FFFF66"/>
                        </a:solidFill>
                      </p:spPr>
                    </p:pic>
                  </p:oleObj>
                </mc:Fallback>
              </mc:AlternateContent>
            </a:graphicData>
          </a:graphic>
        </p:graphicFrame>
      </p:grpSp>
      <p:graphicFrame>
        <p:nvGraphicFramePr>
          <p:cNvPr id="261149" name="Object 29"/>
          <p:cNvGraphicFramePr>
            <a:graphicFrameLocks noChangeAspect="1"/>
          </p:cNvGraphicFramePr>
          <p:nvPr/>
        </p:nvGraphicFramePr>
        <p:xfrm>
          <a:off x="7767000" y="5679000"/>
          <a:ext cx="838200" cy="347663"/>
        </p:xfrm>
        <a:graphic>
          <a:graphicData uri="http://schemas.openxmlformats.org/presentationml/2006/ole">
            <mc:AlternateContent xmlns:mc="http://schemas.openxmlformats.org/markup-compatibility/2006">
              <mc:Choice xmlns:v="urn:schemas-microsoft-com:vml" Requires="v">
                <p:oleObj spid="_x0000_s16" name="Equation" r:id="rId25" imgW="431800" imgH="165100" progId="Equation.3">
                  <p:embed/>
                </p:oleObj>
              </mc:Choice>
              <mc:Fallback>
                <p:oleObj name="Equation" r:id="rId25" imgW="431800" imgH="165100" progId="Equation.3">
                  <p:embed/>
                  <p:pic>
                    <p:nvPicPr>
                      <p:cNvPr id="0" name="Picture 25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767000" y="5679000"/>
                        <a:ext cx="838200" cy="347663"/>
                      </a:xfrm>
                      <a:prstGeom prst="rect">
                        <a:avLst/>
                      </a:prstGeom>
                      <a:solidFill>
                        <a:srgbClr val="00B0F0"/>
                      </a:solidFill>
                    </p:spPr>
                  </p:pic>
                </p:oleObj>
              </mc:Fallback>
            </mc:AlternateContent>
          </a:graphicData>
        </a:graphic>
      </p:graphicFrame>
      <p:graphicFrame>
        <p:nvGraphicFramePr>
          <p:cNvPr id="261150" name="Object 30"/>
          <p:cNvGraphicFramePr>
            <a:graphicFrameLocks noChangeAspect="1"/>
          </p:cNvGraphicFramePr>
          <p:nvPr/>
        </p:nvGraphicFramePr>
        <p:xfrm>
          <a:off x="2907000" y="2754000"/>
          <a:ext cx="508000" cy="407988"/>
        </p:xfrm>
        <a:graphic>
          <a:graphicData uri="http://schemas.openxmlformats.org/presentationml/2006/ole">
            <mc:AlternateContent xmlns:mc="http://schemas.openxmlformats.org/markup-compatibility/2006">
              <mc:Choice xmlns:v="urn:schemas-microsoft-com:vml" Requires="v">
                <p:oleObj spid="_x0000_s17" name="Equation" r:id="rId27" imgW="241300" imgH="215900" progId="Equation.3">
                  <p:embed/>
                </p:oleObj>
              </mc:Choice>
              <mc:Fallback>
                <p:oleObj name="Equation" r:id="rId27" imgW="241300" imgH="215900" progId="Equation.3">
                  <p:embed/>
                  <p:pic>
                    <p:nvPicPr>
                      <p:cNvPr id="0" name="Picture 25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07000" y="2754000"/>
                        <a:ext cx="508000" cy="407988"/>
                      </a:xfrm>
                      <a:prstGeom prst="rect">
                        <a:avLst/>
                      </a:prstGeom>
                      <a:solidFill>
                        <a:srgbClr val="FFFF66"/>
                      </a:solidFill>
                    </p:spPr>
                  </p:pic>
                </p:oleObj>
              </mc:Fallback>
            </mc:AlternateContent>
          </a:graphicData>
        </a:graphic>
      </p:graphicFrame>
      <p:graphicFrame>
        <p:nvGraphicFramePr>
          <p:cNvPr id="261151" name="Object 31"/>
          <p:cNvGraphicFramePr>
            <a:graphicFrameLocks noChangeAspect="1"/>
          </p:cNvGraphicFramePr>
          <p:nvPr/>
        </p:nvGraphicFramePr>
        <p:xfrm>
          <a:off x="7632000" y="2709000"/>
          <a:ext cx="395287" cy="482600"/>
        </p:xfrm>
        <a:graphic>
          <a:graphicData uri="http://schemas.openxmlformats.org/presentationml/2006/ole">
            <mc:AlternateContent xmlns:mc="http://schemas.openxmlformats.org/markup-compatibility/2006">
              <mc:Choice xmlns:v="urn:schemas-microsoft-com:vml" Requires="v">
                <p:oleObj spid="_x0000_s18" name="Equation" r:id="rId29" imgW="203200" imgH="228600" progId="Equation.3">
                  <p:embed/>
                </p:oleObj>
              </mc:Choice>
              <mc:Fallback>
                <p:oleObj name="Equation" r:id="rId29" imgW="203200" imgH="228600" progId="Equation.3">
                  <p:embed/>
                  <p:pic>
                    <p:nvPicPr>
                      <p:cNvPr id="0" name="Picture 25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632000" y="2709000"/>
                        <a:ext cx="395287" cy="482600"/>
                      </a:xfrm>
                      <a:prstGeom prst="rect">
                        <a:avLst/>
                      </a:prstGeom>
                      <a:solidFill>
                        <a:srgbClr val="FF5CFF"/>
                      </a:solidFill>
                    </p:spPr>
                  </p:pic>
                </p:oleObj>
              </mc:Fallback>
            </mc:AlternateContent>
          </a:graphicData>
        </a:graphic>
      </p:graphicFrame>
      <p:graphicFrame>
        <p:nvGraphicFramePr>
          <p:cNvPr id="261153" name="Object 33"/>
          <p:cNvGraphicFramePr>
            <a:graphicFrameLocks noChangeAspect="1"/>
          </p:cNvGraphicFramePr>
          <p:nvPr/>
        </p:nvGraphicFramePr>
        <p:xfrm>
          <a:off x="3221320" y="5437490"/>
          <a:ext cx="460375" cy="428625"/>
        </p:xfrm>
        <a:graphic>
          <a:graphicData uri="http://schemas.openxmlformats.org/presentationml/2006/ole">
            <mc:AlternateContent xmlns:mc="http://schemas.openxmlformats.org/markup-compatibility/2006">
              <mc:Choice xmlns:v="urn:schemas-microsoft-com:vml" Requires="v">
                <p:oleObj spid="_x0000_s19" name="Equation" r:id="rId31" imgW="266700" imgH="228600" progId="Equation.3">
                  <p:embed/>
                </p:oleObj>
              </mc:Choice>
              <mc:Fallback>
                <p:oleObj name="Equation" r:id="rId31" imgW="266700" imgH="228600" progId="Equation.3">
                  <p:embed/>
                  <p:pic>
                    <p:nvPicPr>
                      <p:cNvPr id="0" name="Picture 25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221320" y="5437490"/>
                        <a:ext cx="460375" cy="428625"/>
                      </a:xfrm>
                      <a:prstGeom prst="rect">
                        <a:avLst/>
                      </a:prstGeom>
                      <a:solidFill>
                        <a:srgbClr val="FFFF66"/>
                      </a:solidFill>
                    </p:spPr>
                  </p:pic>
                </p:oleObj>
              </mc:Fallback>
            </mc:AlternateContent>
          </a:graphicData>
        </a:graphic>
      </p:graphicFrame>
      <p:graphicFrame>
        <p:nvGraphicFramePr>
          <p:cNvPr id="261155" name="Object 35"/>
          <p:cNvGraphicFramePr>
            <a:graphicFrameLocks noChangeAspect="1"/>
          </p:cNvGraphicFramePr>
          <p:nvPr/>
        </p:nvGraphicFramePr>
        <p:xfrm>
          <a:off x="7767000" y="6129000"/>
          <a:ext cx="468313" cy="454025"/>
        </p:xfrm>
        <a:graphic>
          <a:graphicData uri="http://schemas.openxmlformats.org/presentationml/2006/ole">
            <mc:AlternateContent xmlns:mc="http://schemas.openxmlformats.org/markup-compatibility/2006">
              <mc:Choice xmlns:v="urn:schemas-microsoft-com:vml" Requires="v">
                <p:oleObj spid="_x0000_s20" name="Equation" r:id="rId33" imgW="241300" imgH="215900" progId="Equation.3">
                  <p:embed/>
                </p:oleObj>
              </mc:Choice>
              <mc:Fallback>
                <p:oleObj name="Equation" r:id="rId33" imgW="241300" imgH="215900" progId="Equation.3">
                  <p:embed/>
                  <p:pic>
                    <p:nvPicPr>
                      <p:cNvPr id="0" name="Picture 256"/>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767000" y="6129000"/>
                        <a:ext cx="468313" cy="454025"/>
                      </a:xfrm>
                      <a:prstGeom prst="rect">
                        <a:avLst/>
                      </a:prstGeom>
                      <a:solidFill>
                        <a:srgbClr val="00B0F0"/>
                      </a:solidFill>
                    </p:spPr>
                  </p:pic>
                </p:oleObj>
              </mc:Fallback>
            </mc:AlternateContent>
          </a:graphicData>
        </a:graphic>
      </p:graphicFrame>
      <p:graphicFrame>
        <p:nvGraphicFramePr>
          <p:cNvPr id="261161" name="Object 41"/>
          <p:cNvGraphicFramePr>
            <a:graphicFrameLocks noChangeAspect="1"/>
          </p:cNvGraphicFramePr>
          <p:nvPr/>
        </p:nvGraphicFramePr>
        <p:xfrm>
          <a:off x="3132000" y="234000"/>
          <a:ext cx="1296988" cy="763588"/>
        </p:xfrm>
        <a:graphic>
          <a:graphicData uri="http://schemas.openxmlformats.org/presentationml/2006/ole">
            <mc:AlternateContent xmlns:mc="http://schemas.openxmlformats.org/markup-compatibility/2006">
              <mc:Choice xmlns:v="urn:schemas-microsoft-com:vml" Requires="v">
                <p:oleObj spid="_x0000_s21" name="公式" r:id="rId35" imgW="584200" imgH="444500" progId="Equation.3">
                  <p:embed/>
                </p:oleObj>
              </mc:Choice>
              <mc:Fallback>
                <p:oleObj name="公式" r:id="rId35" imgW="584200" imgH="444500" progId="Equation.3">
                  <p:embed/>
                  <p:pic>
                    <p:nvPicPr>
                      <p:cNvPr id="0" name="Picture 257"/>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132000" y="234000"/>
                        <a:ext cx="1296988" cy="763588"/>
                      </a:xfrm>
                      <a:prstGeom prst="rect">
                        <a:avLst/>
                      </a:prstGeom>
                      <a:solidFill>
                        <a:srgbClr val="FFFF00"/>
                      </a:solidFill>
                      <a:ln w="9525">
                        <a:solidFill>
                          <a:schemeClr val="hlink"/>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61141"/>
                                        </p:tgtEl>
                                        <p:attrNameLst>
                                          <p:attrName>style.visibility</p:attrName>
                                        </p:attrNameLst>
                                      </p:cBhvr>
                                      <p:to>
                                        <p:strVal val="visible"/>
                                      </p:to>
                                    </p:set>
                                    <p:animEffect transition="in" filter="dissolve">
                                      <p:cBhvr>
                                        <p:cTn id="7" dur="500"/>
                                        <p:tgtEl>
                                          <p:spTgt spid="261141"/>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61142"/>
                                        </p:tgtEl>
                                        <p:attrNameLst>
                                          <p:attrName>style.visibility</p:attrName>
                                        </p:attrNameLst>
                                      </p:cBhvr>
                                      <p:to>
                                        <p:strVal val="visible"/>
                                      </p:to>
                                    </p:set>
                                    <p:animEffect transition="in" filter="dissolve">
                                      <p:cBhvr>
                                        <p:cTn id="11" dur="500"/>
                                        <p:tgtEl>
                                          <p:spTgt spid="261142"/>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261143"/>
                                        </p:tgtEl>
                                        <p:attrNameLst>
                                          <p:attrName>style.visibility</p:attrName>
                                        </p:attrNameLst>
                                      </p:cBhvr>
                                      <p:to>
                                        <p:strVal val="visible"/>
                                      </p:to>
                                    </p:set>
                                    <p:animEffect transition="in" filter="dissolve">
                                      <p:cBhvr>
                                        <p:cTn id="15" dur="500"/>
                                        <p:tgtEl>
                                          <p:spTgt spid="261143"/>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261144"/>
                                        </p:tgtEl>
                                        <p:attrNameLst>
                                          <p:attrName>style.visibility</p:attrName>
                                        </p:attrNameLst>
                                      </p:cBhvr>
                                      <p:to>
                                        <p:strVal val="visible"/>
                                      </p:to>
                                    </p:set>
                                    <p:animEffect transition="in" filter="dissolve">
                                      <p:cBhvr>
                                        <p:cTn id="19" dur="500"/>
                                        <p:tgtEl>
                                          <p:spTgt spid="26114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61161"/>
                                        </p:tgtEl>
                                        <p:attrNameLst>
                                          <p:attrName>style.visibility</p:attrName>
                                        </p:attrNameLst>
                                      </p:cBhvr>
                                      <p:to>
                                        <p:strVal val="visible"/>
                                      </p:to>
                                    </p:set>
                                    <p:animEffect transition="in" filter="wipe(left)">
                                      <p:cBhvr>
                                        <p:cTn id="24" dur="500"/>
                                        <p:tgtEl>
                                          <p:spTgt spid="26116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528" fill="hold" nodeType="clickEffect">
                                  <p:stCondLst>
                                    <p:cond delay="0"/>
                                  </p:stCondLst>
                                  <p:childTnLst>
                                    <p:set>
                                      <p:cBhvr>
                                        <p:cTn id="33" dur="1" fill="hold">
                                          <p:stCondLst>
                                            <p:cond delay="0"/>
                                          </p:stCondLst>
                                        </p:cTn>
                                        <p:tgtEl>
                                          <p:spTgt spid="261129"/>
                                        </p:tgtEl>
                                        <p:attrNameLst>
                                          <p:attrName>style.visibility</p:attrName>
                                        </p:attrNameLst>
                                      </p:cBhvr>
                                      <p:to>
                                        <p:strVal val="visible"/>
                                      </p:to>
                                    </p:set>
                                    <p:anim calcmode="lin" valueType="num">
                                      <p:cBhvr>
                                        <p:cTn id="34" dur="500" fill="hold"/>
                                        <p:tgtEl>
                                          <p:spTgt spid="261129"/>
                                        </p:tgtEl>
                                        <p:attrNameLst>
                                          <p:attrName>ppt_w</p:attrName>
                                        </p:attrNameLst>
                                      </p:cBhvr>
                                      <p:tavLst>
                                        <p:tav tm="0">
                                          <p:val>
                                            <p:fltVal val="0"/>
                                          </p:val>
                                        </p:tav>
                                        <p:tav tm="100000">
                                          <p:val>
                                            <p:strVal val="#ppt_w"/>
                                          </p:val>
                                        </p:tav>
                                      </p:tavLst>
                                    </p:anim>
                                    <p:anim calcmode="lin" valueType="num">
                                      <p:cBhvr>
                                        <p:cTn id="35" dur="500" fill="hold"/>
                                        <p:tgtEl>
                                          <p:spTgt spid="261129"/>
                                        </p:tgtEl>
                                        <p:attrNameLst>
                                          <p:attrName>ppt_h</p:attrName>
                                        </p:attrNameLst>
                                      </p:cBhvr>
                                      <p:tavLst>
                                        <p:tav tm="0">
                                          <p:val>
                                            <p:fltVal val="0"/>
                                          </p:val>
                                        </p:tav>
                                        <p:tav tm="100000">
                                          <p:val>
                                            <p:strVal val="#ppt_h"/>
                                          </p:val>
                                        </p:tav>
                                      </p:tavLst>
                                    </p:anim>
                                    <p:anim calcmode="lin" valueType="num">
                                      <p:cBhvr>
                                        <p:cTn id="36" dur="500" fill="hold"/>
                                        <p:tgtEl>
                                          <p:spTgt spid="261129"/>
                                        </p:tgtEl>
                                        <p:attrNameLst>
                                          <p:attrName>ppt_x</p:attrName>
                                        </p:attrNameLst>
                                      </p:cBhvr>
                                      <p:tavLst>
                                        <p:tav tm="0">
                                          <p:val>
                                            <p:fltVal val="0.5"/>
                                          </p:val>
                                        </p:tav>
                                        <p:tav tm="100000">
                                          <p:val>
                                            <p:strVal val="#ppt_x"/>
                                          </p:val>
                                        </p:tav>
                                      </p:tavLst>
                                    </p:anim>
                                    <p:anim calcmode="lin" valueType="num">
                                      <p:cBhvr>
                                        <p:cTn id="37" dur="500" fill="hold"/>
                                        <p:tgtEl>
                                          <p:spTgt spid="261129"/>
                                        </p:tgtEl>
                                        <p:attrNameLst>
                                          <p:attrName>ppt_y</p:attrName>
                                        </p:attrNameLst>
                                      </p:cBhvr>
                                      <p:tavLst>
                                        <p:tav tm="0">
                                          <p:val>
                                            <p:fltVal val="0.5"/>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61126"/>
                                        </p:tgtEl>
                                        <p:attrNameLst>
                                          <p:attrName>style.visibility</p:attrName>
                                        </p:attrNameLst>
                                      </p:cBhvr>
                                      <p:to>
                                        <p:strVal val="visible"/>
                                      </p:to>
                                    </p:set>
                                    <p:animEffect transition="in" filter="dissolve">
                                      <p:cBhvr>
                                        <p:cTn id="42" dur="500"/>
                                        <p:tgtEl>
                                          <p:spTgt spid="261126"/>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528" fill="hold" nodeType="clickEffect">
                                  <p:stCondLst>
                                    <p:cond delay="0"/>
                                  </p:stCondLst>
                                  <p:childTnLst>
                                    <p:set>
                                      <p:cBhvr>
                                        <p:cTn id="46" dur="1" fill="hold">
                                          <p:stCondLst>
                                            <p:cond delay="0"/>
                                          </p:stCondLst>
                                        </p:cTn>
                                        <p:tgtEl>
                                          <p:spTgt spid="261150"/>
                                        </p:tgtEl>
                                        <p:attrNameLst>
                                          <p:attrName>style.visibility</p:attrName>
                                        </p:attrNameLst>
                                      </p:cBhvr>
                                      <p:to>
                                        <p:strVal val="visible"/>
                                      </p:to>
                                    </p:set>
                                    <p:anim calcmode="lin" valueType="num">
                                      <p:cBhvr>
                                        <p:cTn id="47" dur="500" fill="hold"/>
                                        <p:tgtEl>
                                          <p:spTgt spid="261150"/>
                                        </p:tgtEl>
                                        <p:attrNameLst>
                                          <p:attrName>ppt_w</p:attrName>
                                        </p:attrNameLst>
                                      </p:cBhvr>
                                      <p:tavLst>
                                        <p:tav tm="0">
                                          <p:val>
                                            <p:fltVal val="0"/>
                                          </p:val>
                                        </p:tav>
                                        <p:tav tm="100000">
                                          <p:val>
                                            <p:strVal val="#ppt_w"/>
                                          </p:val>
                                        </p:tav>
                                      </p:tavLst>
                                    </p:anim>
                                    <p:anim calcmode="lin" valueType="num">
                                      <p:cBhvr>
                                        <p:cTn id="48" dur="500" fill="hold"/>
                                        <p:tgtEl>
                                          <p:spTgt spid="261150"/>
                                        </p:tgtEl>
                                        <p:attrNameLst>
                                          <p:attrName>ppt_h</p:attrName>
                                        </p:attrNameLst>
                                      </p:cBhvr>
                                      <p:tavLst>
                                        <p:tav tm="0">
                                          <p:val>
                                            <p:fltVal val="0"/>
                                          </p:val>
                                        </p:tav>
                                        <p:tav tm="100000">
                                          <p:val>
                                            <p:strVal val="#ppt_h"/>
                                          </p:val>
                                        </p:tav>
                                      </p:tavLst>
                                    </p:anim>
                                    <p:anim calcmode="lin" valueType="num">
                                      <p:cBhvr>
                                        <p:cTn id="49" dur="500" fill="hold"/>
                                        <p:tgtEl>
                                          <p:spTgt spid="261150"/>
                                        </p:tgtEl>
                                        <p:attrNameLst>
                                          <p:attrName>ppt_x</p:attrName>
                                        </p:attrNameLst>
                                      </p:cBhvr>
                                      <p:tavLst>
                                        <p:tav tm="0">
                                          <p:val>
                                            <p:fltVal val="0.5"/>
                                          </p:val>
                                        </p:tav>
                                        <p:tav tm="100000">
                                          <p:val>
                                            <p:strVal val="#ppt_x"/>
                                          </p:val>
                                        </p:tav>
                                      </p:tavLst>
                                    </p:anim>
                                    <p:anim calcmode="lin" valueType="num">
                                      <p:cBhvr>
                                        <p:cTn id="50" dur="500" fill="hold"/>
                                        <p:tgtEl>
                                          <p:spTgt spid="261150"/>
                                        </p:tgtEl>
                                        <p:attrNameLst>
                                          <p:attrName>ppt_y</p:attrName>
                                        </p:attrNameLst>
                                      </p:cBhvr>
                                      <p:tavLst>
                                        <p:tav tm="0">
                                          <p:val>
                                            <p:fltVal val="0.5"/>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left)">
                                      <p:cBhvr>
                                        <p:cTn id="55" dur="500"/>
                                        <p:tgtEl>
                                          <p:spTgt spid="6"/>
                                        </p:tgtEl>
                                      </p:cBhvr>
                                    </p:animEffect>
                                  </p:childTnLst>
                                </p:cTn>
                              </p:par>
                            </p:childTnLst>
                          </p:cTn>
                        </p:par>
                      </p:childTnLst>
                    </p:cTn>
                  </p:par>
                  <p:par>
                    <p:cTn id="56" fill="hold">
                      <p:stCondLst>
                        <p:cond delay="indefinite"/>
                      </p:stCondLst>
                      <p:childTnLst>
                        <p:par>
                          <p:cTn id="57" fill="hold">
                            <p:stCondLst>
                              <p:cond delay="0"/>
                            </p:stCondLst>
                            <p:childTnLst>
                              <p:par>
                                <p:cTn id="58" presetID="23" presetClass="entr" presetSubtype="528" fill="hold" nodeType="clickEffect">
                                  <p:stCondLst>
                                    <p:cond delay="0"/>
                                  </p:stCondLst>
                                  <p:childTnLst>
                                    <p:set>
                                      <p:cBhvr>
                                        <p:cTn id="59" dur="1" fill="hold">
                                          <p:stCondLst>
                                            <p:cond delay="0"/>
                                          </p:stCondLst>
                                        </p:cTn>
                                        <p:tgtEl>
                                          <p:spTgt spid="261145"/>
                                        </p:tgtEl>
                                        <p:attrNameLst>
                                          <p:attrName>style.visibility</p:attrName>
                                        </p:attrNameLst>
                                      </p:cBhvr>
                                      <p:to>
                                        <p:strVal val="visible"/>
                                      </p:to>
                                    </p:set>
                                    <p:anim calcmode="lin" valueType="num">
                                      <p:cBhvr>
                                        <p:cTn id="60" dur="500" fill="hold"/>
                                        <p:tgtEl>
                                          <p:spTgt spid="261145"/>
                                        </p:tgtEl>
                                        <p:attrNameLst>
                                          <p:attrName>ppt_w</p:attrName>
                                        </p:attrNameLst>
                                      </p:cBhvr>
                                      <p:tavLst>
                                        <p:tav tm="0">
                                          <p:val>
                                            <p:fltVal val="0"/>
                                          </p:val>
                                        </p:tav>
                                        <p:tav tm="100000">
                                          <p:val>
                                            <p:strVal val="#ppt_w"/>
                                          </p:val>
                                        </p:tav>
                                      </p:tavLst>
                                    </p:anim>
                                    <p:anim calcmode="lin" valueType="num">
                                      <p:cBhvr>
                                        <p:cTn id="61" dur="500" fill="hold"/>
                                        <p:tgtEl>
                                          <p:spTgt spid="261145"/>
                                        </p:tgtEl>
                                        <p:attrNameLst>
                                          <p:attrName>ppt_h</p:attrName>
                                        </p:attrNameLst>
                                      </p:cBhvr>
                                      <p:tavLst>
                                        <p:tav tm="0">
                                          <p:val>
                                            <p:fltVal val="0"/>
                                          </p:val>
                                        </p:tav>
                                        <p:tav tm="100000">
                                          <p:val>
                                            <p:strVal val="#ppt_h"/>
                                          </p:val>
                                        </p:tav>
                                      </p:tavLst>
                                    </p:anim>
                                    <p:anim calcmode="lin" valueType="num">
                                      <p:cBhvr>
                                        <p:cTn id="62" dur="500" fill="hold"/>
                                        <p:tgtEl>
                                          <p:spTgt spid="261145"/>
                                        </p:tgtEl>
                                        <p:attrNameLst>
                                          <p:attrName>ppt_x</p:attrName>
                                        </p:attrNameLst>
                                      </p:cBhvr>
                                      <p:tavLst>
                                        <p:tav tm="0">
                                          <p:val>
                                            <p:fltVal val="0.5"/>
                                          </p:val>
                                        </p:tav>
                                        <p:tav tm="100000">
                                          <p:val>
                                            <p:strVal val="#ppt_x"/>
                                          </p:val>
                                        </p:tav>
                                      </p:tavLst>
                                    </p:anim>
                                    <p:anim calcmode="lin" valueType="num">
                                      <p:cBhvr>
                                        <p:cTn id="63" dur="500" fill="hold"/>
                                        <p:tgtEl>
                                          <p:spTgt spid="261145"/>
                                        </p:tgtEl>
                                        <p:attrNameLst>
                                          <p:attrName>ppt_y</p:attrName>
                                        </p:attrNameLst>
                                      </p:cBhvr>
                                      <p:tavLst>
                                        <p:tav tm="0">
                                          <p:val>
                                            <p:fltVal val="0.5"/>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261127"/>
                                        </p:tgtEl>
                                        <p:attrNameLst>
                                          <p:attrName>style.visibility</p:attrName>
                                        </p:attrNameLst>
                                      </p:cBhvr>
                                      <p:to>
                                        <p:strVal val="visible"/>
                                      </p:to>
                                    </p:set>
                                    <p:animEffect transition="in" filter="dissolve">
                                      <p:cBhvr>
                                        <p:cTn id="68" dur="500"/>
                                        <p:tgtEl>
                                          <p:spTgt spid="261127"/>
                                        </p:tgtEl>
                                      </p:cBhvr>
                                    </p:animEffect>
                                  </p:childTnLst>
                                </p:cTn>
                              </p:par>
                            </p:childTnLst>
                          </p:cTn>
                        </p:par>
                      </p:childTnLst>
                    </p:cTn>
                  </p:par>
                  <p:par>
                    <p:cTn id="69" fill="hold">
                      <p:stCondLst>
                        <p:cond delay="indefinite"/>
                      </p:stCondLst>
                      <p:childTnLst>
                        <p:par>
                          <p:cTn id="70" fill="hold">
                            <p:stCondLst>
                              <p:cond delay="0"/>
                            </p:stCondLst>
                            <p:childTnLst>
                              <p:par>
                                <p:cTn id="71" presetID="23" presetClass="entr" presetSubtype="528" fill="hold" nodeType="clickEffect">
                                  <p:stCondLst>
                                    <p:cond delay="0"/>
                                  </p:stCondLst>
                                  <p:childTnLst>
                                    <p:set>
                                      <p:cBhvr>
                                        <p:cTn id="72" dur="1" fill="hold">
                                          <p:stCondLst>
                                            <p:cond delay="0"/>
                                          </p:stCondLst>
                                        </p:cTn>
                                        <p:tgtEl>
                                          <p:spTgt spid="261151"/>
                                        </p:tgtEl>
                                        <p:attrNameLst>
                                          <p:attrName>style.visibility</p:attrName>
                                        </p:attrNameLst>
                                      </p:cBhvr>
                                      <p:to>
                                        <p:strVal val="visible"/>
                                      </p:to>
                                    </p:set>
                                    <p:anim calcmode="lin" valueType="num">
                                      <p:cBhvr>
                                        <p:cTn id="73" dur="500" fill="hold"/>
                                        <p:tgtEl>
                                          <p:spTgt spid="261151"/>
                                        </p:tgtEl>
                                        <p:attrNameLst>
                                          <p:attrName>ppt_w</p:attrName>
                                        </p:attrNameLst>
                                      </p:cBhvr>
                                      <p:tavLst>
                                        <p:tav tm="0">
                                          <p:val>
                                            <p:fltVal val="0"/>
                                          </p:val>
                                        </p:tav>
                                        <p:tav tm="100000">
                                          <p:val>
                                            <p:strVal val="#ppt_w"/>
                                          </p:val>
                                        </p:tav>
                                      </p:tavLst>
                                    </p:anim>
                                    <p:anim calcmode="lin" valueType="num">
                                      <p:cBhvr>
                                        <p:cTn id="74" dur="500" fill="hold"/>
                                        <p:tgtEl>
                                          <p:spTgt spid="261151"/>
                                        </p:tgtEl>
                                        <p:attrNameLst>
                                          <p:attrName>ppt_h</p:attrName>
                                        </p:attrNameLst>
                                      </p:cBhvr>
                                      <p:tavLst>
                                        <p:tav tm="0">
                                          <p:val>
                                            <p:fltVal val="0"/>
                                          </p:val>
                                        </p:tav>
                                        <p:tav tm="100000">
                                          <p:val>
                                            <p:strVal val="#ppt_h"/>
                                          </p:val>
                                        </p:tav>
                                      </p:tavLst>
                                    </p:anim>
                                    <p:anim calcmode="lin" valueType="num">
                                      <p:cBhvr>
                                        <p:cTn id="75" dur="500" fill="hold"/>
                                        <p:tgtEl>
                                          <p:spTgt spid="261151"/>
                                        </p:tgtEl>
                                        <p:attrNameLst>
                                          <p:attrName>ppt_x</p:attrName>
                                        </p:attrNameLst>
                                      </p:cBhvr>
                                      <p:tavLst>
                                        <p:tav tm="0">
                                          <p:val>
                                            <p:fltVal val="0.5"/>
                                          </p:val>
                                        </p:tav>
                                        <p:tav tm="100000">
                                          <p:val>
                                            <p:strVal val="#ppt_x"/>
                                          </p:val>
                                        </p:tav>
                                      </p:tavLst>
                                    </p:anim>
                                    <p:anim calcmode="lin" valueType="num">
                                      <p:cBhvr>
                                        <p:cTn id="76" dur="500" fill="hold"/>
                                        <p:tgtEl>
                                          <p:spTgt spid="261151"/>
                                        </p:tgtEl>
                                        <p:attrNameLst>
                                          <p:attrName>ppt_y</p:attrName>
                                        </p:attrNameLst>
                                      </p:cBhvr>
                                      <p:tavLst>
                                        <p:tav tm="0">
                                          <p:val>
                                            <p:fltVal val="0.5"/>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wipe(left)">
                                      <p:cBhvr>
                                        <p:cTn id="81" dur="500"/>
                                        <p:tgtEl>
                                          <p:spTgt spid="13"/>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1140"/>
                                        </p:tgtEl>
                                        <p:attrNameLst>
                                          <p:attrName>style.visibility</p:attrName>
                                        </p:attrNameLst>
                                      </p:cBhvr>
                                      <p:to>
                                        <p:strVal val="visible"/>
                                      </p:to>
                                    </p:set>
                                    <p:animEffect transition="in" filter="wipe(left)">
                                      <p:cBhvr>
                                        <p:cTn id="86" dur="500"/>
                                        <p:tgtEl>
                                          <p:spTgt spid="261140"/>
                                        </p:tgtEl>
                                      </p:cBhvr>
                                    </p:animEffect>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261128"/>
                                        </p:tgtEl>
                                        <p:attrNameLst>
                                          <p:attrName>style.visibility</p:attrName>
                                        </p:attrNameLst>
                                      </p:cBhvr>
                                      <p:to>
                                        <p:strVal val="visible"/>
                                      </p:to>
                                    </p:set>
                                    <p:animEffect transition="in" filter="dissolve">
                                      <p:cBhvr>
                                        <p:cTn id="91" dur="500"/>
                                        <p:tgtEl>
                                          <p:spTgt spid="261128"/>
                                        </p:tgtEl>
                                      </p:cBhvr>
                                    </p:animEffect>
                                  </p:childTnLst>
                                </p:cTn>
                              </p:par>
                            </p:childTnLst>
                          </p:cTn>
                        </p:par>
                      </p:childTnLst>
                    </p:cTn>
                  </p:par>
                  <p:par>
                    <p:cTn id="92" fill="hold">
                      <p:stCondLst>
                        <p:cond delay="indefinite"/>
                      </p:stCondLst>
                      <p:childTnLst>
                        <p:par>
                          <p:cTn id="93" fill="hold">
                            <p:stCondLst>
                              <p:cond delay="0"/>
                            </p:stCondLst>
                            <p:childTnLst>
                              <p:par>
                                <p:cTn id="94" presetID="23" presetClass="entr" presetSubtype="528" fill="hold" nodeType="clickEffect">
                                  <p:stCondLst>
                                    <p:cond delay="0"/>
                                  </p:stCondLst>
                                  <p:childTnLst>
                                    <p:set>
                                      <p:cBhvr>
                                        <p:cTn id="95" dur="1" fill="hold">
                                          <p:stCondLst>
                                            <p:cond delay="0"/>
                                          </p:stCondLst>
                                        </p:cTn>
                                        <p:tgtEl>
                                          <p:spTgt spid="261153"/>
                                        </p:tgtEl>
                                        <p:attrNameLst>
                                          <p:attrName>style.visibility</p:attrName>
                                        </p:attrNameLst>
                                      </p:cBhvr>
                                      <p:to>
                                        <p:strVal val="visible"/>
                                      </p:to>
                                    </p:set>
                                    <p:anim calcmode="lin" valueType="num">
                                      <p:cBhvr>
                                        <p:cTn id="96" dur="500" fill="hold"/>
                                        <p:tgtEl>
                                          <p:spTgt spid="261153"/>
                                        </p:tgtEl>
                                        <p:attrNameLst>
                                          <p:attrName>ppt_w</p:attrName>
                                        </p:attrNameLst>
                                      </p:cBhvr>
                                      <p:tavLst>
                                        <p:tav tm="0">
                                          <p:val>
                                            <p:fltVal val="0"/>
                                          </p:val>
                                        </p:tav>
                                        <p:tav tm="100000">
                                          <p:val>
                                            <p:strVal val="#ppt_w"/>
                                          </p:val>
                                        </p:tav>
                                      </p:tavLst>
                                    </p:anim>
                                    <p:anim calcmode="lin" valueType="num">
                                      <p:cBhvr>
                                        <p:cTn id="97" dur="500" fill="hold"/>
                                        <p:tgtEl>
                                          <p:spTgt spid="261153"/>
                                        </p:tgtEl>
                                        <p:attrNameLst>
                                          <p:attrName>ppt_h</p:attrName>
                                        </p:attrNameLst>
                                      </p:cBhvr>
                                      <p:tavLst>
                                        <p:tav tm="0">
                                          <p:val>
                                            <p:fltVal val="0"/>
                                          </p:val>
                                        </p:tav>
                                        <p:tav tm="100000">
                                          <p:val>
                                            <p:strVal val="#ppt_h"/>
                                          </p:val>
                                        </p:tav>
                                      </p:tavLst>
                                    </p:anim>
                                    <p:anim calcmode="lin" valueType="num">
                                      <p:cBhvr>
                                        <p:cTn id="98" dur="500" fill="hold"/>
                                        <p:tgtEl>
                                          <p:spTgt spid="261153"/>
                                        </p:tgtEl>
                                        <p:attrNameLst>
                                          <p:attrName>ppt_x</p:attrName>
                                        </p:attrNameLst>
                                      </p:cBhvr>
                                      <p:tavLst>
                                        <p:tav tm="0">
                                          <p:val>
                                            <p:fltVal val="0.5"/>
                                          </p:val>
                                        </p:tav>
                                        <p:tav tm="100000">
                                          <p:val>
                                            <p:strVal val="#ppt_x"/>
                                          </p:val>
                                        </p:tav>
                                      </p:tavLst>
                                    </p:anim>
                                    <p:anim calcmode="lin" valueType="num">
                                      <p:cBhvr>
                                        <p:cTn id="99" dur="500" fill="hold"/>
                                        <p:tgtEl>
                                          <p:spTgt spid="261153"/>
                                        </p:tgtEl>
                                        <p:attrNameLst>
                                          <p:attrName>ppt_y</p:attrName>
                                        </p:attrNameLst>
                                      </p:cBhvr>
                                      <p:tavLst>
                                        <p:tav tm="0">
                                          <p:val>
                                            <p:fltVal val="0.5"/>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9"/>
                                        </p:tgtEl>
                                        <p:attrNameLst>
                                          <p:attrName>style.visibility</p:attrName>
                                        </p:attrNameLst>
                                      </p:cBhvr>
                                      <p:to>
                                        <p:strVal val="visible"/>
                                      </p:to>
                                    </p:set>
                                    <p:animEffect transition="in" filter="wipe(left)">
                                      <p:cBhvr>
                                        <p:cTn id="104" dur="500"/>
                                        <p:tgtEl>
                                          <p:spTgt spid="9"/>
                                        </p:tgtEl>
                                      </p:cBhvr>
                                    </p:animEffect>
                                  </p:childTnLst>
                                </p:cTn>
                              </p:par>
                            </p:childTnLst>
                          </p:cTn>
                        </p:par>
                      </p:childTnLst>
                    </p:cTn>
                  </p:par>
                  <p:par>
                    <p:cTn id="105" fill="hold">
                      <p:stCondLst>
                        <p:cond delay="indefinite"/>
                      </p:stCondLst>
                      <p:childTnLst>
                        <p:par>
                          <p:cTn id="106" fill="hold">
                            <p:stCondLst>
                              <p:cond delay="0"/>
                            </p:stCondLst>
                            <p:childTnLst>
                              <p:par>
                                <p:cTn id="107" presetID="23" presetClass="entr" presetSubtype="528" fill="hold" nodeType="clickEffect">
                                  <p:stCondLst>
                                    <p:cond delay="0"/>
                                  </p:stCondLst>
                                  <p:childTnLst>
                                    <p:set>
                                      <p:cBhvr>
                                        <p:cTn id="108" dur="1" fill="hold">
                                          <p:stCondLst>
                                            <p:cond delay="0"/>
                                          </p:stCondLst>
                                        </p:cTn>
                                        <p:tgtEl>
                                          <p:spTgt spid="261149"/>
                                        </p:tgtEl>
                                        <p:attrNameLst>
                                          <p:attrName>style.visibility</p:attrName>
                                        </p:attrNameLst>
                                      </p:cBhvr>
                                      <p:to>
                                        <p:strVal val="visible"/>
                                      </p:to>
                                    </p:set>
                                    <p:anim calcmode="lin" valueType="num">
                                      <p:cBhvr>
                                        <p:cTn id="109" dur="500" fill="hold"/>
                                        <p:tgtEl>
                                          <p:spTgt spid="261149"/>
                                        </p:tgtEl>
                                        <p:attrNameLst>
                                          <p:attrName>ppt_w</p:attrName>
                                        </p:attrNameLst>
                                      </p:cBhvr>
                                      <p:tavLst>
                                        <p:tav tm="0">
                                          <p:val>
                                            <p:fltVal val="0"/>
                                          </p:val>
                                        </p:tav>
                                        <p:tav tm="100000">
                                          <p:val>
                                            <p:strVal val="#ppt_w"/>
                                          </p:val>
                                        </p:tav>
                                      </p:tavLst>
                                    </p:anim>
                                    <p:anim calcmode="lin" valueType="num">
                                      <p:cBhvr>
                                        <p:cTn id="110" dur="500" fill="hold"/>
                                        <p:tgtEl>
                                          <p:spTgt spid="261149"/>
                                        </p:tgtEl>
                                        <p:attrNameLst>
                                          <p:attrName>ppt_h</p:attrName>
                                        </p:attrNameLst>
                                      </p:cBhvr>
                                      <p:tavLst>
                                        <p:tav tm="0">
                                          <p:val>
                                            <p:fltVal val="0"/>
                                          </p:val>
                                        </p:tav>
                                        <p:tav tm="100000">
                                          <p:val>
                                            <p:strVal val="#ppt_h"/>
                                          </p:val>
                                        </p:tav>
                                      </p:tavLst>
                                    </p:anim>
                                    <p:anim calcmode="lin" valueType="num">
                                      <p:cBhvr>
                                        <p:cTn id="111" dur="500" fill="hold"/>
                                        <p:tgtEl>
                                          <p:spTgt spid="261149"/>
                                        </p:tgtEl>
                                        <p:attrNameLst>
                                          <p:attrName>ppt_x</p:attrName>
                                        </p:attrNameLst>
                                      </p:cBhvr>
                                      <p:tavLst>
                                        <p:tav tm="0">
                                          <p:val>
                                            <p:fltVal val="0.5"/>
                                          </p:val>
                                        </p:tav>
                                        <p:tav tm="100000">
                                          <p:val>
                                            <p:strVal val="#ppt_x"/>
                                          </p:val>
                                        </p:tav>
                                      </p:tavLst>
                                    </p:anim>
                                    <p:anim calcmode="lin" valueType="num">
                                      <p:cBhvr>
                                        <p:cTn id="112" dur="500" fill="hold"/>
                                        <p:tgtEl>
                                          <p:spTgt spid="261149"/>
                                        </p:tgtEl>
                                        <p:attrNameLst>
                                          <p:attrName>ppt_y</p:attrName>
                                        </p:attrNameLst>
                                      </p:cBhvr>
                                      <p:tavLst>
                                        <p:tav tm="0">
                                          <p:val>
                                            <p:fltVal val="0.5"/>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9" presetClass="entr" presetSubtype="0" fill="hold" grpId="0" nodeType="clickEffect">
                                  <p:stCondLst>
                                    <p:cond delay="0"/>
                                  </p:stCondLst>
                                  <p:childTnLst>
                                    <p:set>
                                      <p:cBhvr>
                                        <p:cTn id="116" dur="1" fill="hold">
                                          <p:stCondLst>
                                            <p:cond delay="0"/>
                                          </p:stCondLst>
                                        </p:cTn>
                                        <p:tgtEl>
                                          <p:spTgt spid="261136"/>
                                        </p:tgtEl>
                                        <p:attrNameLst>
                                          <p:attrName>style.visibility</p:attrName>
                                        </p:attrNameLst>
                                      </p:cBhvr>
                                      <p:to>
                                        <p:strVal val="visible"/>
                                      </p:to>
                                    </p:set>
                                    <p:animEffect transition="in" filter="dissolve">
                                      <p:cBhvr>
                                        <p:cTn id="117" dur="500"/>
                                        <p:tgtEl>
                                          <p:spTgt spid="261136"/>
                                        </p:tgtEl>
                                      </p:cBhvr>
                                    </p:animEffect>
                                  </p:childTnLst>
                                </p:cTn>
                              </p:par>
                            </p:childTnLst>
                          </p:cTn>
                        </p:par>
                      </p:childTnLst>
                    </p:cTn>
                  </p:par>
                  <p:par>
                    <p:cTn id="118" fill="hold">
                      <p:stCondLst>
                        <p:cond delay="indefinite"/>
                      </p:stCondLst>
                      <p:childTnLst>
                        <p:par>
                          <p:cTn id="119" fill="hold">
                            <p:stCondLst>
                              <p:cond delay="0"/>
                            </p:stCondLst>
                            <p:childTnLst>
                              <p:par>
                                <p:cTn id="120" presetID="23" presetClass="entr" presetSubtype="528" fill="hold" nodeType="clickEffect">
                                  <p:stCondLst>
                                    <p:cond delay="0"/>
                                  </p:stCondLst>
                                  <p:childTnLst>
                                    <p:set>
                                      <p:cBhvr>
                                        <p:cTn id="121" dur="1" fill="hold">
                                          <p:stCondLst>
                                            <p:cond delay="0"/>
                                          </p:stCondLst>
                                        </p:cTn>
                                        <p:tgtEl>
                                          <p:spTgt spid="261155"/>
                                        </p:tgtEl>
                                        <p:attrNameLst>
                                          <p:attrName>style.visibility</p:attrName>
                                        </p:attrNameLst>
                                      </p:cBhvr>
                                      <p:to>
                                        <p:strVal val="visible"/>
                                      </p:to>
                                    </p:set>
                                    <p:anim calcmode="lin" valueType="num">
                                      <p:cBhvr>
                                        <p:cTn id="122" dur="500" fill="hold"/>
                                        <p:tgtEl>
                                          <p:spTgt spid="261155"/>
                                        </p:tgtEl>
                                        <p:attrNameLst>
                                          <p:attrName>ppt_w</p:attrName>
                                        </p:attrNameLst>
                                      </p:cBhvr>
                                      <p:tavLst>
                                        <p:tav tm="0">
                                          <p:val>
                                            <p:fltVal val="0"/>
                                          </p:val>
                                        </p:tav>
                                        <p:tav tm="100000">
                                          <p:val>
                                            <p:strVal val="#ppt_w"/>
                                          </p:val>
                                        </p:tav>
                                      </p:tavLst>
                                    </p:anim>
                                    <p:anim calcmode="lin" valueType="num">
                                      <p:cBhvr>
                                        <p:cTn id="123" dur="500" fill="hold"/>
                                        <p:tgtEl>
                                          <p:spTgt spid="261155"/>
                                        </p:tgtEl>
                                        <p:attrNameLst>
                                          <p:attrName>ppt_h</p:attrName>
                                        </p:attrNameLst>
                                      </p:cBhvr>
                                      <p:tavLst>
                                        <p:tav tm="0">
                                          <p:val>
                                            <p:fltVal val="0"/>
                                          </p:val>
                                        </p:tav>
                                        <p:tav tm="100000">
                                          <p:val>
                                            <p:strVal val="#ppt_h"/>
                                          </p:val>
                                        </p:tav>
                                      </p:tavLst>
                                    </p:anim>
                                    <p:anim calcmode="lin" valueType="num">
                                      <p:cBhvr>
                                        <p:cTn id="124" dur="500" fill="hold"/>
                                        <p:tgtEl>
                                          <p:spTgt spid="261155"/>
                                        </p:tgtEl>
                                        <p:attrNameLst>
                                          <p:attrName>ppt_x</p:attrName>
                                        </p:attrNameLst>
                                      </p:cBhvr>
                                      <p:tavLst>
                                        <p:tav tm="0">
                                          <p:val>
                                            <p:fltVal val="0.5"/>
                                          </p:val>
                                        </p:tav>
                                        <p:tav tm="100000">
                                          <p:val>
                                            <p:strVal val="#ppt_x"/>
                                          </p:val>
                                        </p:tav>
                                      </p:tavLst>
                                    </p:anim>
                                    <p:anim calcmode="lin" valueType="num">
                                      <p:cBhvr>
                                        <p:cTn id="125" dur="500" fill="hold"/>
                                        <p:tgtEl>
                                          <p:spTgt spid="26115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6" grpId="0" bldLvl="0" animBg="1" autoUpdateAnimBg="0"/>
      <p:bldP spid="261127" grpId="0" bldLvl="0" animBg="1" autoUpdateAnimBg="0"/>
      <p:bldP spid="261128" grpId="0" bldLvl="0" animBg="1" autoUpdateAnimBg="0"/>
      <p:bldP spid="261136" grpId="0" bldLvl="0" animBg="1" autoUpdateAnimBg="0"/>
      <p:bldP spid="261140"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3" name="Text Box 5"/>
          <p:cNvSpPr txBox="1"/>
          <p:nvPr/>
        </p:nvSpPr>
        <p:spPr>
          <a:xfrm>
            <a:off x="685800" y="457200"/>
            <a:ext cx="1524000" cy="457200"/>
          </a:xfrm>
          <a:prstGeom prst="rect">
            <a:avLst/>
          </a:prstGeom>
          <a:noFill/>
          <a:ln w="9525">
            <a:noFill/>
          </a:ln>
        </p:spPr>
        <p:txBody>
          <a:bodyPr>
            <a:spAutoFit/>
          </a:bodyPr>
          <a:lstStyle/>
          <a:p>
            <a:r>
              <a:rPr lang="zh-CN" altLang="en-US" dirty="0">
                <a:solidFill>
                  <a:srgbClr val="FF0000"/>
                </a:solidFill>
                <a:latin typeface="Times New Roman" panose="02020603050405020304" pitchFamily="18" charset="0"/>
                <a:ea typeface="黑体" panose="02010609060101010101" pitchFamily="49" charset="-122"/>
              </a:rPr>
              <a:t>问  题：</a:t>
            </a:r>
            <a:endParaRPr lang="zh-CN" altLang="en-US" dirty="0">
              <a:solidFill>
                <a:srgbClr val="FF0000"/>
              </a:solidFill>
              <a:latin typeface="Times New Roman" panose="02020603050405020304" pitchFamily="18" charset="0"/>
              <a:ea typeface="黑体" panose="02010609060101010101" pitchFamily="49" charset="-122"/>
            </a:endParaRPr>
          </a:p>
        </p:txBody>
      </p:sp>
      <p:sp>
        <p:nvSpPr>
          <p:cNvPr id="263174" name="Text Box 6"/>
          <p:cNvSpPr txBox="1"/>
          <p:nvPr/>
        </p:nvSpPr>
        <p:spPr>
          <a:xfrm>
            <a:off x="685800" y="990600"/>
            <a:ext cx="4800600" cy="457200"/>
          </a:xfrm>
          <a:prstGeom prst="rect">
            <a:avLst/>
          </a:prstGeom>
          <a:noFill/>
          <a:ln w="9525">
            <a:noFill/>
          </a:ln>
        </p:spPr>
        <p:txBody>
          <a:bodyPr>
            <a:spAutoFit/>
          </a:bodyPr>
          <a:lstStyle/>
          <a:p>
            <a:r>
              <a:rPr lang="zh-CN" altLang="en-US" dirty="0">
                <a:solidFill>
                  <a:schemeClr val="hlink"/>
                </a:solidFill>
                <a:latin typeface="Times New Roman" panose="02020603050405020304" pitchFamily="18" charset="0"/>
                <a:ea typeface="黑体" panose="02010609060101010101" pitchFamily="49" charset="-122"/>
              </a:rPr>
              <a:t>变应力是否一定由变载荷引起？</a:t>
            </a:r>
            <a:endParaRPr lang="zh-CN" altLang="en-US" dirty="0">
              <a:solidFill>
                <a:schemeClr val="hlink"/>
              </a:solidFill>
              <a:latin typeface="Times New Roman" panose="02020603050405020304" pitchFamily="18" charset="0"/>
              <a:ea typeface="黑体" panose="02010609060101010101" pitchFamily="49" charset="-122"/>
            </a:endParaRPr>
          </a:p>
        </p:txBody>
      </p:sp>
      <p:sp>
        <p:nvSpPr>
          <p:cNvPr id="263175" name="Text Box 7"/>
          <p:cNvSpPr txBox="1"/>
          <p:nvPr/>
        </p:nvSpPr>
        <p:spPr>
          <a:xfrm>
            <a:off x="685800" y="2057400"/>
            <a:ext cx="3124200" cy="457200"/>
          </a:xfrm>
          <a:prstGeom prst="rect">
            <a:avLst/>
          </a:prstGeom>
          <a:noFill/>
          <a:ln w="9525">
            <a:noFill/>
          </a:ln>
        </p:spPr>
        <p:txBody>
          <a:bodyPr>
            <a:spAutoFit/>
          </a:bodyPr>
          <a:lstStyle/>
          <a:p>
            <a:r>
              <a:rPr lang="zh-CN" altLang="en-US" dirty="0">
                <a:latin typeface="Times New Roman" panose="02020603050405020304" pitchFamily="18" charset="0"/>
                <a:ea typeface="黑体" panose="02010609060101010101" pitchFamily="49" charset="-122"/>
              </a:rPr>
              <a:t>静载荷 </a:t>
            </a:r>
            <a:r>
              <a:rPr lang="zh-CN" altLang="en-US" dirty="0">
                <a:latin typeface="Times New Roman" panose="02020603050405020304" pitchFamily="18" charset="0"/>
                <a:ea typeface="华文中宋" panose="02010600040101010101" pitchFamily="2" charset="-122"/>
              </a:rPr>
              <a:t>→</a:t>
            </a:r>
            <a:r>
              <a:rPr lang="zh-CN" altLang="en-US" dirty="0">
                <a:latin typeface="Times New Roman" panose="02020603050405020304" pitchFamily="18" charset="0"/>
                <a:ea typeface="黑体" panose="02010609060101010101" pitchFamily="49" charset="-122"/>
              </a:rPr>
              <a:t> 静应力 ？</a:t>
            </a:r>
            <a:endParaRPr lang="zh-CN" altLang="en-US" dirty="0">
              <a:latin typeface="Times New Roman" panose="02020603050405020304" pitchFamily="18" charset="0"/>
              <a:ea typeface="黑体" panose="02010609060101010101" pitchFamily="49" charset="-122"/>
            </a:endParaRPr>
          </a:p>
        </p:txBody>
      </p:sp>
      <p:sp>
        <p:nvSpPr>
          <p:cNvPr id="263176" name="Text Box 8"/>
          <p:cNvSpPr txBox="1"/>
          <p:nvPr/>
        </p:nvSpPr>
        <p:spPr>
          <a:xfrm>
            <a:off x="3086735" y="2057400"/>
            <a:ext cx="1600200" cy="457200"/>
          </a:xfrm>
          <a:prstGeom prst="rect">
            <a:avLst/>
          </a:prstGeom>
          <a:noFill/>
          <a:ln w="9525">
            <a:noFill/>
          </a:ln>
          <a:extLst>
            <a:ext uri="{909E8E84-426E-40DD-AFC4-6F175D3DCCD1}">
              <a14:hiddenFill xmlns:a14="http://schemas.microsoft.com/office/drawing/2010/main">
                <a:solidFill>
                  <a:schemeClr val="tx1"/>
                </a:solidFill>
              </a14:hiddenFill>
            </a:ext>
          </a:extLst>
        </p:spPr>
        <p:txBody>
          <a:bodyPr>
            <a:spAutoFit/>
          </a:bodyPr>
          <a:lstStyle/>
          <a:p>
            <a:r>
              <a:rPr lang="zh-CN" altLang="en-US" dirty="0">
                <a:latin typeface="Times New Roman" panose="02020603050405020304" pitchFamily="18" charset="0"/>
                <a:ea typeface="黑体" panose="02010609060101010101" pitchFamily="49" charset="-122"/>
              </a:rPr>
              <a:t>或 变应力</a:t>
            </a:r>
            <a:endParaRPr lang="zh-CN" altLang="en-US" dirty="0">
              <a:latin typeface="Times New Roman" panose="02020603050405020304" pitchFamily="18" charset="0"/>
              <a:ea typeface="黑体" panose="02010609060101010101" pitchFamily="49" charset="-122"/>
            </a:endParaRPr>
          </a:p>
        </p:txBody>
      </p:sp>
      <p:grpSp>
        <p:nvGrpSpPr>
          <p:cNvPr id="2" name="Group 9"/>
          <p:cNvGrpSpPr/>
          <p:nvPr/>
        </p:nvGrpSpPr>
        <p:grpSpPr>
          <a:xfrm>
            <a:off x="5334000" y="1447800"/>
            <a:ext cx="1524000" cy="457200"/>
            <a:chOff x="3552" y="816"/>
            <a:chExt cx="960" cy="288"/>
          </a:xfrm>
        </p:grpSpPr>
        <p:sp>
          <p:nvSpPr>
            <p:cNvPr id="16465" name="Rectangle 10"/>
            <p:cNvSpPr/>
            <p:nvPr/>
          </p:nvSpPr>
          <p:spPr>
            <a:xfrm>
              <a:off x="3552" y="816"/>
              <a:ext cx="960" cy="144"/>
            </a:xfrm>
            <a:prstGeom prst="rect">
              <a:avLst/>
            </a:prstGeom>
            <a:solidFill>
              <a:srgbClr val="008000"/>
            </a:solidFill>
            <a:ln w="19050" cap="flat" cmpd="sng">
              <a:solidFill>
                <a:schemeClr val="bg2"/>
              </a:solidFill>
              <a:prstDash val="solid"/>
              <a:miter/>
              <a:headEnd type="none" w="med" len="med"/>
              <a:tailEnd type="none" w="med" len="med"/>
            </a:ln>
          </p:spPr>
          <p:txBody>
            <a:bodyPr wrap="none" anchor="ctr" anchorCtr="0">
              <a:spAutoFit/>
            </a:bodyPr>
            <a:lstStyle/>
            <a:p>
              <a:endParaRPr lang="zh-CN" altLang="en-US" dirty="0">
                <a:latin typeface="Times New Roman" panose="02020603050405020304" pitchFamily="18" charset="0"/>
              </a:endParaRPr>
            </a:p>
          </p:txBody>
        </p:sp>
        <p:sp>
          <p:nvSpPr>
            <p:cNvPr id="16466" name="AutoShape 11"/>
            <p:cNvSpPr/>
            <p:nvPr/>
          </p:nvSpPr>
          <p:spPr>
            <a:xfrm>
              <a:off x="3552" y="960"/>
              <a:ext cx="96" cy="144"/>
            </a:xfrm>
            <a:prstGeom prst="triangle">
              <a:avLst>
                <a:gd name="adj" fmla="val 50000"/>
              </a:avLst>
            </a:prstGeom>
            <a:solidFill>
              <a:srgbClr val="FFFFCC"/>
            </a:solidFill>
            <a:ln w="19050" cap="flat" cmpd="sng">
              <a:solidFill>
                <a:schemeClr val="bg2"/>
              </a:solidFill>
              <a:prstDash val="solid"/>
              <a:miter/>
              <a:headEnd type="none" w="med" len="med"/>
              <a:tailEnd type="none" w="med" len="med"/>
            </a:ln>
          </p:spPr>
          <p:txBody>
            <a:bodyPr wrap="none" anchor="ctr" anchorCtr="0">
              <a:spAutoFit/>
            </a:bodyPr>
            <a:lstStyle/>
            <a:p>
              <a:endParaRPr lang="zh-CN" altLang="en-US" dirty="0">
                <a:latin typeface="Times New Roman" panose="02020603050405020304" pitchFamily="18" charset="0"/>
              </a:endParaRPr>
            </a:p>
          </p:txBody>
        </p:sp>
        <p:sp>
          <p:nvSpPr>
            <p:cNvPr id="16467" name="AutoShape 12"/>
            <p:cNvSpPr/>
            <p:nvPr/>
          </p:nvSpPr>
          <p:spPr>
            <a:xfrm>
              <a:off x="4416" y="960"/>
              <a:ext cx="96" cy="144"/>
            </a:xfrm>
            <a:prstGeom prst="triangle">
              <a:avLst>
                <a:gd name="adj" fmla="val 50000"/>
              </a:avLst>
            </a:prstGeom>
            <a:solidFill>
              <a:srgbClr val="FFFFCC"/>
            </a:solidFill>
            <a:ln w="19050" cap="flat" cmpd="sng">
              <a:solidFill>
                <a:schemeClr val="bg2"/>
              </a:solidFill>
              <a:prstDash val="solid"/>
              <a:miter/>
              <a:headEnd type="none" w="med" len="med"/>
              <a:tailEnd type="none" w="med" len="med"/>
            </a:ln>
          </p:spPr>
          <p:txBody>
            <a:bodyPr wrap="none" anchor="ctr" anchorCtr="0">
              <a:spAutoFit/>
            </a:bodyPr>
            <a:lstStyle/>
            <a:p>
              <a:endParaRPr lang="zh-CN" altLang="en-US" dirty="0">
                <a:latin typeface="Times New Roman" panose="02020603050405020304" pitchFamily="18" charset="0"/>
              </a:endParaRPr>
            </a:p>
          </p:txBody>
        </p:sp>
      </p:grpSp>
      <p:grpSp>
        <p:nvGrpSpPr>
          <p:cNvPr id="4" name="Group 16"/>
          <p:cNvGrpSpPr/>
          <p:nvPr/>
        </p:nvGrpSpPr>
        <p:grpSpPr>
          <a:xfrm>
            <a:off x="6096000" y="762000"/>
            <a:ext cx="762000" cy="685800"/>
            <a:chOff x="4032" y="384"/>
            <a:chExt cx="480" cy="432"/>
          </a:xfrm>
        </p:grpSpPr>
        <p:sp>
          <p:nvSpPr>
            <p:cNvPr id="263185" name="Line 17"/>
            <p:cNvSpPr>
              <a:spLocks noChangeShapeType="1"/>
            </p:cNvSpPr>
            <p:nvPr/>
          </p:nvSpPr>
          <p:spPr bwMode="auto">
            <a:xfrm>
              <a:off x="4032" y="432"/>
              <a:ext cx="0" cy="384"/>
            </a:xfrm>
            <a:prstGeom prst="line">
              <a:avLst/>
            </a:prstGeom>
            <a:noFill/>
            <a:ln w="25400">
              <a:solidFill>
                <a:schemeClr val="accent2"/>
              </a:solidFill>
              <a:round/>
              <a:tailEnd type="triangle" w="sm" len="med"/>
            </a:ln>
            <a:effectLst>
              <a:prstShdw prst="shdw17" dist="17961" dir="2700000">
                <a:schemeClr val="accent2">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1" i="0" u="none" strike="noStrike" kern="1200" cap="none" spc="0" normalizeH="0" baseline="0" noProof="0">
                <a:ln>
                  <a:noFill/>
                </a:ln>
                <a:solidFill>
                  <a:schemeClr val="bg2"/>
                </a:solidFill>
                <a:effectLst/>
                <a:uLnTx/>
                <a:uFillTx/>
                <a:latin typeface="Times New Roman" panose="02020603050405020304" pitchFamily="18" charset="0"/>
                <a:ea typeface="方正大黑简体" pitchFamily="2" charset="-122"/>
                <a:cs typeface="+mn-cs"/>
              </a:endParaRPr>
            </a:p>
          </p:txBody>
        </p:sp>
        <p:sp>
          <p:nvSpPr>
            <p:cNvPr id="16462" name="Text Box 18"/>
            <p:cNvSpPr txBox="1"/>
            <p:nvPr/>
          </p:nvSpPr>
          <p:spPr>
            <a:xfrm>
              <a:off x="4080" y="384"/>
              <a:ext cx="432" cy="288"/>
            </a:xfrm>
            <a:prstGeom prst="rect">
              <a:avLst/>
            </a:prstGeom>
            <a:noFill/>
            <a:ln w="9525">
              <a:noFill/>
            </a:ln>
          </p:spPr>
          <p:txBody>
            <a:bodyPr>
              <a:spAutoFit/>
            </a:bodyPr>
            <a:lstStyle/>
            <a:p>
              <a:r>
                <a:rPr lang="en-US" altLang="zh-CN" i="1" dirty="0">
                  <a:latin typeface="Times New Roman" panose="02020603050405020304" pitchFamily="18" charset="0"/>
                </a:rPr>
                <a:t>F</a:t>
              </a:r>
              <a:endParaRPr lang="en-US" altLang="zh-CN" dirty="0">
                <a:latin typeface="Times New Roman" panose="02020603050405020304" pitchFamily="18" charset="0"/>
              </a:endParaRPr>
            </a:p>
          </p:txBody>
        </p:sp>
      </p:grpSp>
      <p:grpSp>
        <p:nvGrpSpPr>
          <p:cNvPr id="5" name="Group 93"/>
          <p:cNvGrpSpPr/>
          <p:nvPr/>
        </p:nvGrpSpPr>
        <p:grpSpPr>
          <a:xfrm>
            <a:off x="7010400" y="914400"/>
            <a:ext cx="1295400" cy="1371600"/>
            <a:chOff x="4416" y="576"/>
            <a:chExt cx="816" cy="864"/>
          </a:xfrm>
        </p:grpSpPr>
        <p:sp>
          <p:nvSpPr>
            <p:cNvPr id="16458" name="Oval 20"/>
            <p:cNvSpPr/>
            <p:nvPr/>
          </p:nvSpPr>
          <p:spPr>
            <a:xfrm>
              <a:off x="4558" y="731"/>
              <a:ext cx="567" cy="576"/>
            </a:xfrm>
            <a:prstGeom prst="ellipse">
              <a:avLst/>
            </a:prstGeom>
            <a:solidFill>
              <a:srgbClr val="FFC000"/>
            </a:solidFill>
            <a:ln w="9525" cap="flat" cmpd="sng">
              <a:solidFill>
                <a:schemeClr val="bg2"/>
              </a:solidFill>
              <a:prstDash val="solid"/>
              <a:headEnd type="none" w="med" len="med"/>
              <a:tailEnd type="none" w="med" len="med"/>
            </a:ln>
          </p:spPr>
          <p:txBody>
            <a:bodyPr anchor="ctr" anchorCtr="0">
              <a:spAutoFit/>
            </a:bodyPr>
            <a:lstStyle/>
            <a:p>
              <a:endParaRPr lang="zh-CN" altLang="en-US" dirty="0">
                <a:latin typeface="Times New Roman" panose="02020603050405020304" pitchFamily="18" charset="0"/>
              </a:endParaRPr>
            </a:p>
          </p:txBody>
        </p:sp>
        <p:sp>
          <p:nvSpPr>
            <p:cNvPr id="16459" name="Line 21"/>
            <p:cNvSpPr/>
            <p:nvPr/>
          </p:nvSpPr>
          <p:spPr>
            <a:xfrm>
              <a:off x="4416" y="1008"/>
              <a:ext cx="816" cy="0"/>
            </a:xfrm>
            <a:prstGeom prst="line">
              <a:avLst/>
            </a:prstGeom>
            <a:ln w="12700" cap="flat" cmpd="sng">
              <a:solidFill>
                <a:schemeClr val="bg2"/>
              </a:solidFill>
              <a:prstDash val="lgDashDot"/>
              <a:headEnd type="none" w="med" len="med"/>
              <a:tailEnd type="none" w="med" len="med"/>
            </a:ln>
          </p:spPr>
        </p:sp>
        <p:sp>
          <p:nvSpPr>
            <p:cNvPr id="16460" name="Line 22"/>
            <p:cNvSpPr/>
            <p:nvPr/>
          </p:nvSpPr>
          <p:spPr>
            <a:xfrm>
              <a:off x="4848" y="576"/>
              <a:ext cx="0" cy="864"/>
            </a:xfrm>
            <a:prstGeom prst="line">
              <a:avLst/>
            </a:prstGeom>
            <a:ln w="12700" cap="flat" cmpd="sng">
              <a:solidFill>
                <a:schemeClr val="bg2"/>
              </a:solidFill>
              <a:prstDash val="lgDashDot"/>
              <a:headEnd type="none" w="med" len="med"/>
              <a:tailEnd type="none" w="med" len="med"/>
            </a:ln>
          </p:spPr>
        </p:sp>
      </p:grpSp>
      <p:sp>
        <p:nvSpPr>
          <p:cNvPr id="263191" name="Text Box 23"/>
          <p:cNvSpPr txBox="1"/>
          <p:nvPr/>
        </p:nvSpPr>
        <p:spPr>
          <a:xfrm>
            <a:off x="7099300" y="1308100"/>
            <a:ext cx="762000" cy="457200"/>
          </a:xfrm>
          <a:prstGeom prst="rect">
            <a:avLst/>
          </a:prstGeom>
          <a:noFill/>
          <a:ln w="9525">
            <a:noFill/>
          </a:ln>
        </p:spPr>
        <p:txBody>
          <a:bodyPr>
            <a:spAutoFit/>
          </a:bodyPr>
          <a:lstStyle/>
          <a:p>
            <a:r>
              <a:rPr lang="en-US" altLang="zh-CN" sz="1000" dirty="0">
                <a:latin typeface="Times New Roman" panose="02020603050405020304" pitchFamily="18" charset="0"/>
              </a:rPr>
              <a:t>●   </a:t>
            </a:r>
            <a:r>
              <a:rPr lang="en-US" altLang="zh-CN" i="1" dirty="0">
                <a:latin typeface="Times New Roman" panose="02020603050405020304" pitchFamily="18" charset="0"/>
              </a:rPr>
              <a:t>a</a:t>
            </a:r>
            <a:endParaRPr lang="en-US" altLang="zh-CN" dirty="0">
              <a:latin typeface="Times New Roman" panose="02020603050405020304" pitchFamily="18" charset="0"/>
            </a:endParaRPr>
          </a:p>
        </p:txBody>
      </p:sp>
      <p:grpSp>
        <p:nvGrpSpPr>
          <p:cNvPr id="6" name="Group 77"/>
          <p:cNvGrpSpPr/>
          <p:nvPr/>
        </p:nvGrpSpPr>
        <p:grpSpPr>
          <a:xfrm>
            <a:off x="5943600" y="2540000"/>
            <a:ext cx="1422400" cy="1371600"/>
            <a:chOff x="3744" y="1600"/>
            <a:chExt cx="896" cy="864"/>
          </a:xfrm>
        </p:grpSpPr>
        <p:grpSp>
          <p:nvGrpSpPr>
            <p:cNvPr id="16452" name="Group 25"/>
            <p:cNvGrpSpPr/>
            <p:nvPr/>
          </p:nvGrpSpPr>
          <p:grpSpPr>
            <a:xfrm>
              <a:off x="3744" y="1600"/>
              <a:ext cx="448" cy="432"/>
              <a:chOff x="1440" y="1824"/>
              <a:chExt cx="480" cy="336"/>
            </a:xfrm>
          </p:grpSpPr>
          <p:sp>
            <p:nvSpPr>
              <p:cNvPr id="16456" name="Arc 26"/>
              <p:cNvSpPr/>
              <p:nvPr/>
            </p:nvSpPr>
            <p:spPr>
              <a:xfrm>
                <a:off x="1680" y="1824"/>
                <a:ext cx="240" cy="33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16457" name="Arc 27"/>
              <p:cNvSpPr/>
              <p:nvPr/>
            </p:nvSpPr>
            <p:spPr>
              <a:xfrm flipH="1">
                <a:off x="1440" y="1824"/>
                <a:ext cx="240" cy="33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flat" cmpd="sng">
                <a:solidFill>
                  <a:srgbClr val="FF0000">
                    <a:alpha val="100000"/>
                  </a:srgbClr>
                </a:solidFill>
                <a:prstDash val="solid"/>
                <a:round/>
                <a:headEnd type="none" w="med" len="med"/>
                <a:tailEnd type="none" w="med" len="med"/>
              </a:ln>
            </p:spPr>
            <p:txBody>
              <a:bodyPr/>
              <a:lstStyle/>
              <a:p>
                <a:endParaRPr lang="zh-CN" altLang="en-US"/>
              </a:p>
            </p:txBody>
          </p:sp>
        </p:grpSp>
        <p:grpSp>
          <p:nvGrpSpPr>
            <p:cNvPr id="16453" name="Group 28"/>
            <p:cNvGrpSpPr/>
            <p:nvPr/>
          </p:nvGrpSpPr>
          <p:grpSpPr>
            <a:xfrm flipV="1">
              <a:off x="4192" y="2032"/>
              <a:ext cx="448" cy="432"/>
              <a:chOff x="1440" y="1824"/>
              <a:chExt cx="480" cy="336"/>
            </a:xfrm>
          </p:grpSpPr>
          <p:sp>
            <p:nvSpPr>
              <p:cNvPr id="16454" name="Arc 29"/>
              <p:cNvSpPr/>
              <p:nvPr/>
            </p:nvSpPr>
            <p:spPr>
              <a:xfrm>
                <a:off x="1680" y="1824"/>
                <a:ext cx="240" cy="33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16455" name="Arc 30"/>
              <p:cNvSpPr/>
              <p:nvPr/>
            </p:nvSpPr>
            <p:spPr>
              <a:xfrm flipH="1">
                <a:off x="1440" y="1824"/>
                <a:ext cx="240" cy="33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flat" cmpd="sng">
                <a:solidFill>
                  <a:srgbClr val="FF0000">
                    <a:alpha val="100000"/>
                  </a:srgbClr>
                </a:solidFill>
                <a:prstDash val="solid"/>
                <a:round/>
                <a:headEnd type="none" w="med" len="med"/>
                <a:tailEnd type="none" w="med" len="med"/>
              </a:ln>
            </p:spPr>
            <p:txBody>
              <a:bodyPr/>
              <a:lstStyle/>
              <a:p>
                <a:endParaRPr lang="zh-CN" altLang="en-US"/>
              </a:p>
            </p:txBody>
          </p:sp>
        </p:grpSp>
      </p:grpSp>
      <p:grpSp>
        <p:nvGrpSpPr>
          <p:cNvPr id="9" name="Group 34"/>
          <p:cNvGrpSpPr/>
          <p:nvPr/>
        </p:nvGrpSpPr>
        <p:grpSpPr>
          <a:xfrm>
            <a:off x="6248400" y="2301875"/>
            <a:ext cx="762000" cy="990600"/>
            <a:chOff x="1296" y="426"/>
            <a:chExt cx="480" cy="624"/>
          </a:xfrm>
        </p:grpSpPr>
        <p:grpSp>
          <p:nvGrpSpPr>
            <p:cNvPr id="16448" name="Group 35"/>
            <p:cNvGrpSpPr/>
            <p:nvPr/>
          </p:nvGrpSpPr>
          <p:grpSpPr>
            <a:xfrm>
              <a:off x="1296" y="576"/>
              <a:ext cx="480" cy="432"/>
              <a:chOff x="1296" y="576"/>
              <a:chExt cx="480" cy="432"/>
            </a:xfrm>
          </p:grpSpPr>
          <p:sp>
            <p:nvSpPr>
              <p:cNvPr id="16450" name="Line 36"/>
              <p:cNvSpPr/>
              <p:nvPr/>
            </p:nvSpPr>
            <p:spPr>
              <a:xfrm>
                <a:off x="1296" y="576"/>
                <a:ext cx="480" cy="0"/>
              </a:xfrm>
              <a:prstGeom prst="line">
                <a:avLst/>
              </a:prstGeom>
              <a:ln w="12700" cap="flat" cmpd="sng">
                <a:solidFill>
                  <a:schemeClr val="bg2"/>
                </a:solidFill>
                <a:prstDash val="solid"/>
                <a:headEnd type="none" w="med" len="med"/>
                <a:tailEnd type="none" w="med" len="med"/>
              </a:ln>
            </p:spPr>
          </p:sp>
          <p:sp>
            <p:nvSpPr>
              <p:cNvPr id="16451" name="Line 37"/>
              <p:cNvSpPr/>
              <p:nvPr/>
            </p:nvSpPr>
            <p:spPr>
              <a:xfrm>
                <a:off x="1728" y="576"/>
                <a:ext cx="0" cy="432"/>
              </a:xfrm>
              <a:prstGeom prst="line">
                <a:avLst/>
              </a:prstGeom>
              <a:ln w="12700" cap="flat" cmpd="sng">
                <a:solidFill>
                  <a:schemeClr val="bg2"/>
                </a:solidFill>
                <a:prstDash val="solid"/>
                <a:headEnd type="triangle" w="sm" len="med"/>
                <a:tailEnd type="triangle" w="sm" len="med"/>
              </a:ln>
            </p:spPr>
          </p:sp>
        </p:grpSp>
        <p:sp>
          <p:nvSpPr>
            <p:cNvPr id="16449" name="Text Box 38"/>
            <p:cNvSpPr txBox="1"/>
            <p:nvPr/>
          </p:nvSpPr>
          <p:spPr>
            <a:xfrm rot="-5368369">
              <a:off x="1310" y="632"/>
              <a:ext cx="624" cy="212"/>
            </a:xfrm>
            <a:prstGeom prst="rect">
              <a:avLst/>
            </a:prstGeom>
            <a:noFill/>
            <a:ln w="9525">
              <a:noFill/>
            </a:ln>
          </p:spPr>
          <p:txBody>
            <a:bodyPr>
              <a:spAutoFit/>
            </a:bodyPr>
            <a:lstStyle/>
            <a:p>
              <a:r>
                <a:rPr lang="en-US" altLang="zh-CN" sz="1600" i="1" dirty="0">
                  <a:latin typeface="Times New Roman" panose="02020603050405020304" pitchFamily="18" charset="0"/>
                  <a:ea typeface="楷体_GB2312" pitchFamily="49" charset="-122"/>
                </a:rPr>
                <a:t>σ</a:t>
              </a:r>
              <a:r>
                <a:rPr lang="en-US" altLang="zh-CN" sz="1600" baseline="-25000" dirty="0">
                  <a:latin typeface="Times New Roman" panose="02020603050405020304" pitchFamily="18" charset="0"/>
                </a:rPr>
                <a:t>max</a:t>
              </a:r>
              <a:endParaRPr lang="en-US" altLang="zh-CN" dirty="0">
                <a:latin typeface="Times New Roman" panose="02020603050405020304" pitchFamily="18" charset="0"/>
              </a:endParaRPr>
            </a:p>
          </p:txBody>
        </p:sp>
      </p:grpSp>
      <p:grpSp>
        <p:nvGrpSpPr>
          <p:cNvPr id="11" name="Group 39"/>
          <p:cNvGrpSpPr/>
          <p:nvPr/>
        </p:nvGrpSpPr>
        <p:grpSpPr>
          <a:xfrm>
            <a:off x="7010400" y="2997200"/>
            <a:ext cx="762000" cy="990600"/>
            <a:chOff x="1776" y="864"/>
            <a:chExt cx="480" cy="624"/>
          </a:xfrm>
        </p:grpSpPr>
        <p:sp>
          <p:nvSpPr>
            <p:cNvPr id="16444" name="Line 40"/>
            <p:cNvSpPr/>
            <p:nvPr/>
          </p:nvSpPr>
          <p:spPr>
            <a:xfrm>
              <a:off x="1776" y="1440"/>
              <a:ext cx="480" cy="0"/>
            </a:xfrm>
            <a:prstGeom prst="line">
              <a:avLst/>
            </a:prstGeom>
            <a:ln w="12700" cap="flat" cmpd="sng">
              <a:solidFill>
                <a:schemeClr val="bg2"/>
              </a:solidFill>
              <a:prstDash val="solid"/>
              <a:headEnd type="none" w="med" len="med"/>
              <a:tailEnd type="none" w="med" len="med"/>
            </a:ln>
          </p:spPr>
        </p:sp>
        <p:grpSp>
          <p:nvGrpSpPr>
            <p:cNvPr id="16445" name="Group 41"/>
            <p:cNvGrpSpPr/>
            <p:nvPr/>
          </p:nvGrpSpPr>
          <p:grpSpPr>
            <a:xfrm>
              <a:off x="1920" y="864"/>
              <a:ext cx="240" cy="624"/>
              <a:chOff x="1920" y="864"/>
              <a:chExt cx="240" cy="624"/>
            </a:xfrm>
          </p:grpSpPr>
          <p:sp>
            <p:nvSpPr>
              <p:cNvPr id="16446" name="Line 42"/>
              <p:cNvSpPr/>
              <p:nvPr/>
            </p:nvSpPr>
            <p:spPr>
              <a:xfrm>
                <a:off x="2160" y="1008"/>
                <a:ext cx="0" cy="432"/>
              </a:xfrm>
              <a:prstGeom prst="line">
                <a:avLst/>
              </a:prstGeom>
              <a:ln w="12700" cap="flat" cmpd="sng">
                <a:solidFill>
                  <a:schemeClr val="bg2"/>
                </a:solidFill>
                <a:prstDash val="solid"/>
                <a:headEnd type="triangle" w="sm" len="med"/>
                <a:tailEnd type="triangle" w="sm" len="med"/>
              </a:ln>
            </p:spPr>
          </p:sp>
          <p:sp>
            <p:nvSpPr>
              <p:cNvPr id="16447" name="Text Box 43"/>
              <p:cNvSpPr txBox="1"/>
              <p:nvPr/>
            </p:nvSpPr>
            <p:spPr>
              <a:xfrm rot="-5368369">
                <a:off x="1714" y="1070"/>
                <a:ext cx="624" cy="212"/>
              </a:xfrm>
              <a:prstGeom prst="rect">
                <a:avLst/>
              </a:prstGeom>
              <a:noFill/>
              <a:ln w="9525">
                <a:noFill/>
              </a:ln>
            </p:spPr>
            <p:txBody>
              <a:bodyPr>
                <a:spAutoFit/>
              </a:bodyPr>
              <a:lstStyle/>
              <a:p>
                <a:r>
                  <a:rPr lang="en-US" altLang="zh-CN" sz="1600" i="1" dirty="0">
                    <a:latin typeface="Times New Roman" panose="02020603050405020304" pitchFamily="18" charset="0"/>
                    <a:ea typeface="楷体_GB2312" pitchFamily="49" charset="-122"/>
                  </a:rPr>
                  <a:t>σ</a:t>
                </a:r>
                <a:r>
                  <a:rPr lang="en-US" altLang="zh-CN" sz="1600" baseline="-25000" dirty="0">
                    <a:latin typeface="Times New Roman" panose="02020603050405020304" pitchFamily="18" charset="0"/>
                  </a:rPr>
                  <a:t>min</a:t>
                </a:r>
                <a:endParaRPr lang="en-US" altLang="zh-CN" dirty="0">
                  <a:latin typeface="Times New Roman" panose="02020603050405020304" pitchFamily="18" charset="0"/>
                </a:endParaRPr>
              </a:p>
            </p:txBody>
          </p:sp>
        </p:grpSp>
      </p:grpSp>
      <p:grpSp>
        <p:nvGrpSpPr>
          <p:cNvPr id="13" name="Group 44"/>
          <p:cNvGrpSpPr/>
          <p:nvPr/>
        </p:nvGrpSpPr>
        <p:grpSpPr>
          <a:xfrm>
            <a:off x="5486400" y="2006600"/>
            <a:ext cx="3429000" cy="1479550"/>
            <a:chOff x="3696" y="1248"/>
            <a:chExt cx="2160" cy="932"/>
          </a:xfrm>
        </p:grpSpPr>
        <p:grpSp>
          <p:nvGrpSpPr>
            <p:cNvPr id="16437" name="Group 45"/>
            <p:cNvGrpSpPr/>
            <p:nvPr/>
          </p:nvGrpSpPr>
          <p:grpSpPr>
            <a:xfrm>
              <a:off x="3696" y="1248"/>
              <a:ext cx="2160" cy="912"/>
              <a:chOff x="816" y="240"/>
              <a:chExt cx="2160" cy="912"/>
            </a:xfrm>
          </p:grpSpPr>
          <p:grpSp>
            <p:nvGrpSpPr>
              <p:cNvPr id="16439" name="Group 46"/>
              <p:cNvGrpSpPr/>
              <p:nvPr/>
            </p:nvGrpSpPr>
            <p:grpSpPr>
              <a:xfrm>
                <a:off x="1104" y="384"/>
                <a:ext cx="1584" cy="624"/>
                <a:chOff x="1344" y="912"/>
                <a:chExt cx="1680" cy="1104"/>
              </a:xfrm>
            </p:grpSpPr>
            <p:sp>
              <p:nvSpPr>
                <p:cNvPr id="16442" name="Line 47"/>
                <p:cNvSpPr/>
                <p:nvPr/>
              </p:nvSpPr>
              <p:spPr>
                <a:xfrm flipV="1">
                  <a:off x="1344" y="912"/>
                  <a:ext cx="0" cy="1104"/>
                </a:xfrm>
                <a:prstGeom prst="line">
                  <a:avLst/>
                </a:prstGeom>
                <a:ln w="19050" cap="flat" cmpd="sng">
                  <a:solidFill>
                    <a:schemeClr val="tx1"/>
                  </a:solidFill>
                  <a:prstDash val="solid"/>
                  <a:headEnd type="none" w="med" len="med"/>
                  <a:tailEnd type="triangle" w="med" len="med"/>
                </a:ln>
              </p:spPr>
            </p:sp>
            <p:sp>
              <p:nvSpPr>
                <p:cNvPr id="16443" name="Line 48"/>
                <p:cNvSpPr/>
                <p:nvPr/>
              </p:nvSpPr>
              <p:spPr>
                <a:xfrm>
                  <a:off x="1344" y="2016"/>
                  <a:ext cx="1680" cy="0"/>
                </a:xfrm>
                <a:prstGeom prst="line">
                  <a:avLst/>
                </a:prstGeom>
                <a:ln w="19050" cap="flat" cmpd="sng">
                  <a:solidFill>
                    <a:schemeClr val="tx1">
                      <a:lumMod val="75000"/>
                    </a:schemeClr>
                  </a:solidFill>
                  <a:prstDash val="solid"/>
                  <a:headEnd type="none" w="med" len="med"/>
                  <a:tailEnd type="triangle" w="med" len="med"/>
                </a:ln>
              </p:spPr>
            </p:sp>
          </p:grpSp>
          <p:sp>
            <p:nvSpPr>
              <p:cNvPr id="16440" name="Text Box 49"/>
              <p:cNvSpPr txBox="1"/>
              <p:nvPr/>
            </p:nvSpPr>
            <p:spPr>
              <a:xfrm rot="31631">
                <a:off x="816" y="240"/>
                <a:ext cx="288" cy="288"/>
              </a:xfrm>
              <a:prstGeom prst="rect">
                <a:avLst/>
              </a:prstGeom>
              <a:noFill/>
              <a:ln w="9525">
                <a:noFill/>
              </a:ln>
            </p:spPr>
            <p:txBody>
              <a:bodyPr>
                <a:spAutoFit/>
              </a:bodyPr>
              <a:lstStyle/>
              <a:p>
                <a:r>
                  <a:rPr lang="en-US" altLang="zh-CN" i="1" dirty="0">
                    <a:latin typeface="Times New Roman" panose="02020603050405020304" pitchFamily="18" charset="0"/>
                    <a:ea typeface="楷体_GB2312" pitchFamily="49" charset="-122"/>
                  </a:rPr>
                  <a:t>σ</a:t>
                </a:r>
                <a:endParaRPr lang="en-US" altLang="zh-CN" dirty="0">
                  <a:latin typeface="Times New Roman" panose="02020603050405020304" pitchFamily="18" charset="0"/>
                  <a:ea typeface="楷体_GB2312" pitchFamily="49" charset="-122"/>
                </a:endParaRPr>
              </a:p>
            </p:txBody>
          </p:sp>
          <p:sp>
            <p:nvSpPr>
              <p:cNvPr id="16441" name="Text Box 50"/>
              <p:cNvSpPr txBox="1"/>
              <p:nvPr/>
            </p:nvSpPr>
            <p:spPr>
              <a:xfrm rot="31631">
                <a:off x="2688" y="864"/>
                <a:ext cx="288" cy="288"/>
              </a:xfrm>
              <a:prstGeom prst="rect">
                <a:avLst/>
              </a:prstGeom>
              <a:noFill/>
              <a:ln w="9525">
                <a:noFill/>
              </a:ln>
            </p:spPr>
            <p:txBody>
              <a:bodyPr>
                <a:spAutoFit/>
              </a:bodyPr>
              <a:lstStyle/>
              <a:p>
                <a:r>
                  <a:rPr lang="en-US" altLang="zh-CN" i="1" dirty="0">
                    <a:latin typeface="Times New Roman" panose="02020603050405020304" pitchFamily="18" charset="0"/>
                  </a:rPr>
                  <a:t>t</a:t>
                </a:r>
                <a:endParaRPr lang="en-US" altLang="zh-CN" dirty="0">
                  <a:latin typeface="Times New Roman" panose="02020603050405020304" pitchFamily="18" charset="0"/>
                </a:endParaRPr>
              </a:p>
            </p:txBody>
          </p:sp>
        </p:grpSp>
        <p:sp>
          <p:nvSpPr>
            <p:cNvPr id="16438" name="Text Box 51"/>
            <p:cNvSpPr txBox="1"/>
            <p:nvPr/>
          </p:nvSpPr>
          <p:spPr>
            <a:xfrm rot="31631">
              <a:off x="3792" y="1968"/>
              <a:ext cx="288" cy="212"/>
            </a:xfrm>
            <a:prstGeom prst="rect">
              <a:avLst/>
            </a:prstGeom>
            <a:noFill/>
            <a:ln w="9525">
              <a:noFill/>
            </a:ln>
          </p:spPr>
          <p:txBody>
            <a:bodyPr>
              <a:spAutoFit/>
            </a:bodyPr>
            <a:lstStyle/>
            <a:p>
              <a:r>
                <a:rPr lang="en-US" altLang="zh-CN" sz="1600" i="1" dirty="0">
                  <a:latin typeface="Times New Roman" panose="02020603050405020304" pitchFamily="18" charset="0"/>
                </a:rPr>
                <a:t>O</a:t>
              </a:r>
              <a:endParaRPr lang="en-US" altLang="zh-CN" dirty="0">
                <a:latin typeface="Times New Roman" panose="02020603050405020304" pitchFamily="18" charset="0"/>
              </a:endParaRPr>
            </a:p>
          </p:txBody>
        </p:sp>
      </p:grpSp>
      <p:sp>
        <p:nvSpPr>
          <p:cNvPr id="263220" name="Text Box 52"/>
          <p:cNvSpPr txBox="1">
            <a:spLocks noChangeArrowheads="1"/>
          </p:cNvSpPr>
          <p:nvPr/>
        </p:nvSpPr>
        <p:spPr bwMode="auto">
          <a:xfrm>
            <a:off x="7531100" y="1038225"/>
            <a:ext cx="342900" cy="24447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1000"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方正大黑简体" pitchFamily="2" charset="-122"/>
                <a:cs typeface="+mn-cs"/>
              </a:rPr>
              <a:t>● </a:t>
            </a:r>
            <a:endParaRPr kumimoji="1" lang="en-US" altLang="zh-CN"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方正大黑简体" pitchFamily="2" charset="-122"/>
              <a:cs typeface="+mn-cs"/>
            </a:endParaRPr>
          </a:p>
        </p:txBody>
      </p:sp>
      <p:sp>
        <p:nvSpPr>
          <p:cNvPr id="263221" name="Text Box 53"/>
          <p:cNvSpPr txBox="1">
            <a:spLocks noChangeArrowheads="1"/>
          </p:cNvSpPr>
          <p:nvPr/>
        </p:nvSpPr>
        <p:spPr bwMode="auto">
          <a:xfrm>
            <a:off x="7974013" y="1473200"/>
            <a:ext cx="342900" cy="24447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1000"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方正大黑简体" pitchFamily="2" charset="-122"/>
                <a:cs typeface="+mn-cs"/>
              </a:rPr>
              <a:t>● </a:t>
            </a:r>
            <a:endParaRPr kumimoji="1" lang="en-US" altLang="zh-CN"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方正大黑简体" pitchFamily="2" charset="-122"/>
              <a:cs typeface="+mn-cs"/>
            </a:endParaRPr>
          </a:p>
        </p:txBody>
      </p:sp>
      <p:sp>
        <p:nvSpPr>
          <p:cNvPr id="263222" name="Text Box 54"/>
          <p:cNvSpPr txBox="1">
            <a:spLocks noChangeArrowheads="1"/>
          </p:cNvSpPr>
          <p:nvPr/>
        </p:nvSpPr>
        <p:spPr bwMode="auto">
          <a:xfrm>
            <a:off x="7099300" y="1308100"/>
            <a:ext cx="762000" cy="457200"/>
          </a:xfrm>
          <a:prstGeom prst="rect">
            <a:avLst/>
          </a:prstGeom>
          <a:noFill/>
          <a:ln w="9525">
            <a:noFill/>
            <a:miter lim="800000"/>
          </a:ln>
          <a:effectLst/>
        </p:spPr>
        <p:txBody>
          <a:bodyPr>
            <a:spAutoFit/>
          </a:bodyPr>
          <a:lstStyle/>
          <a:p>
            <a:pPr marR="0" defTabSz="914400">
              <a:buClrTx/>
              <a:buSzTx/>
              <a:buFontTx/>
              <a:buNone/>
              <a:defRPr/>
            </a:pPr>
            <a:r>
              <a:rPr kumimoji="1" lang="en-US" altLang="zh-CN" sz="1000"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方正大黑简体" pitchFamily="2" charset="-122"/>
                <a:cs typeface="+mn-cs"/>
              </a:rPr>
              <a:t>●   </a:t>
            </a:r>
            <a:r>
              <a:rPr kumimoji="1" lang="en-US" altLang="zh-CN" i="1"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方正大黑简体" pitchFamily="2" charset="-122"/>
                <a:cs typeface="+mn-cs"/>
              </a:rPr>
              <a:t>a</a:t>
            </a:r>
            <a:endParaRPr kumimoji="1" lang="en-US" altLang="zh-CN"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方正大黑简体" pitchFamily="2" charset="-122"/>
              <a:cs typeface="+mn-cs"/>
            </a:endParaRPr>
          </a:p>
        </p:txBody>
      </p:sp>
      <p:sp>
        <p:nvSpPr>
          <p:cNvPr id="263223" name="Text Box 55"/>
          <p:cNvSpPr txBox="1">
            <a:spLocks noChangeArrowheads="1"/>
          </p:cNvSpPr>
          <p:nvPr/>
        </p:nvSpPr>
        <p:spPr bwMode="auto">
          <a:xfrm>
            <a:off x="7531100" y="1927225"/>
            <a:ext cx="240665" cy="245110"/>
          </a:xfrm>
          <a:prstGeom prst="rect">
            <a:avLst/>
          </a:prstGeom>
          <a:noFill/>
          <a:ln w="9525">
            <a:noFill/>
            <a:miter lim="800000"/>
          </a:ln>
          <a:effectLst/>
        </p:spPr>
        <p:txBody>
          <a:bodyPr wrap="square">
            <a:spAutoFit/>
          </a:bodyPr>
          <a:lstStyle/>
          <a:p>
            <a:pPr marR="0" defTabSz="914400">
              <a:buClrTx/>
              <a:buSzTx/>
              <a:buFontTx/>
              <a:buNone/>
              <a:defRPr/>
            </a:pPr>
            <a:r>
              <a:rPr kumimoji="1" lang="en-US" altLang="zh-CN" sz="1000"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方正大黑简体" pitchFamily="2" charset="-122"/>
                <a:cs typeface="+mn-cs"/>
              </a:rPr>
              <a:t>● </a:t>
            </a:r>
            <a:endParaRPr kumimoji="1" lang="en-US" altLang="zh-CN"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方正大黑简体" pitchFamily="2" charset="-122"/>
              <a:cs typeface="+mn-cs"/>
            </a:endParaRPr>
          </a:p>
        </p:txBody>
      </p:sp>
      <p:sp>
        <p:nvSpPr>
          <p:cNvPr id="263224" name="Text Box 56"/>
          <p:cNvSpPr txBox="1"/>
          <p:nvPr/>
        </p:nvSpPr>
        <p:spPr>
          <a:xfrm>
            <a:off x="685800" y="1600200"/>
            <a:ext cx="3124200" cy="457200"/>
          </a:xfrm>
          <a:prstGeom prst="rect">
            <a:avLst/>
          </a:prstGeom>
          <a:noFill/>
          <a:ln w="9525">
            <a:noFill/>
          </a:ln>
        </p:spPr>
        <p:txBody>
          <a:bodyPr>
            <a:spAutoFit/>
          </a:bodyPr>
          <a:lstStyle/>
          <a:p>
            <a:r>
              <a:rPr lang="zh-CN" altLang="en-US" dirty="0">
                <a:latin typeface="Times New Roman" panose="02020603050405020304" pitchFamily="18" charset="0"/>
                <a:ea typeface="黑体" panose="02010609060101010101" pitchFamily="49" charset="-122"/>
              </a:rPr>
              <a:t>变载荷 </a:t>
            </a:r>
            <a:r>
              <a:rPr lang="zh-CN" altLang="en-US" dirty="0">
                <a:latin typeface="Times New Roman" panose="02020603050405020304" pitchFamily="18" charset="0"/>
                <a:ea typeface="华文中宋" panose="02010600040101010101" pitchFamily="2" charset="-122"/>
              </a:rPr>
              <a:t>→</a:t>
            </a:r>
            <a:r>
              <a:rPr lang="zh-CN" altLang="en-US" dirty="0">
                <a:latin typeface="Times New Roman" panose="02020603050405020304" pitchFamily="18" charset="0"/>
                <a:ea typeface="黑体" panose="02010609060101010101" pitchFamily="49" charset="-122"/>
              </a:rPr>
              <a:t> 变应力</a:t>
            </a:r>
            <a:endParaRPr lang="zh-CN" altLang="en-US" dirty="0">
              <a:latin typeface="Times New Roman" panose="02020603050405020304" pitchFamily="18" charset="0"/>
              <a:ea typeface="黑体" panose="02010609060101010101" pitchFamily="49" charset="-122"/>
            </a:endParaRPr>
          </a:p>
        </p:txBody>
      </p:sp>
      <p:sp>
        <p:nvSpPr>
          <p:cNvPr id="263225" name="Text Box 57"/>
          <p:cNvSpPr txBox="1"/>
          <p:nvPr/>
        </p:nvSpPr>
        <p:spPr>
          <a:xfrm>
            <a:off x="685800" y="2895600"/>
            <a:ext cx="4800600" cy="457200"/>
          </a:xfrm>
          <a:prstGeom prst="rect">
            <a:avLst/>
          </a:prstGeom>
          <a:noFill/>
          <a:ln w="9525">
            <a:noFill/>
          </a:ln>
        </p:spPr>
        <p:txBody>
          <a:bodyPr>
            <a:spAutoFit/>
          </a:bodyPr>
          <a:lstStyle/>
          <a:p>
            <a:r>
              <a:rPr lang="zh-CN" altLang="en-US" dirty="0">
                <a:solidFill>
                  <a:schemeClr val="hlink"/>
                </a:solidFill>
                <a:latin typeface="Times New Roman" panose="02020603050405020304" pitchFamily="18" charset="0"/>
                <a:ea typeface="黑体" panose="02010609060101010101" pitchFamily="49" charset="-122"/>
              </a:rPr>
              <a:t>为什么要将应力分成许多类？</a:t>
            </a:r>
            <a:endParaRPr lang="zh-CN" altLang="en-US" dirty="0">
              <a:solidFill>
                <a:schemeClr val="hlink"/>
              </a:solidFill>
              <a:latin typeface="Times New Roman" panose="02020603050405020304" pitchFamily="18" charset="0"/>
              <a:ea typeface="黑体" panose="02010609060101010101" pitchFamily="49" charset="-122"/>
            </a:endParaRPr>
          </a:p>
        </p:txBody>
      </p:sp>
      <p:sp>
        <p:nvSpPr>
          <p:cNvPr id="263226" name="Text Box 58"/>
          <p:cNvSpPr txBox="1"/>
          <p:nvPr/>
        </p:nvSpPr>
        <p:spPr>
          <a:xfrm>
            <a:off x="685800" y="3444875"/>
            <a:ext cx="4800600" cy="822325"/>
          </a:xfrm>
          <a:prstGeom prst="rect">
            <a:avLst/>
          </a:prstGeom>
          <a:noFill/>
          <a:ln w="9525">
            <a:noFill/>
          </a:ln>
        </p:spPr>
        <p:txBody>
          <a:bodyPr>
            <a:spAutoFit/>
          </a:bodyPr>
          <a:lstStyle/>
          <a:p>
            <a:r>
              <a:rPr lang="zh-CN" altLang="en-US" dirty="0">
                <a:latin typeface="Times New Roman" panose="02020603050405020304" pitchFamily="18" charset="0"/>
                <a:ea typeface="黑体" panose="02010609060101010101" pitchFamily="49" charset="-122"/>
              </a:rPr>
              <a:t>应力类型不同，对零件强度的影响程度不同。</a:t>
            </a:r>
            <a:endParaRPr lang="zh-CN" altLang="en-US" dirty="0">
              <a:latin typeface="Times New Roman" panose="02020603050405020304" pitchFamily="18" charset="0"/>
              <a:ea typeface="黑体" panose="02010609060101010101" pitchFamily="49" charset="-122"/>
            </a:endParaRPr>
          </a:p>
        </p:txBody>
      </p:sp>
      <p:sp>
        <p:nvSpPr>
          <p:cNvPr id="263227" name="Text Box 59"/>
          <p:cNvSpPr txBox="1"/>
          <p:nvPr/>
        </p:nvSpPr>
        <p:spPr>
          <a:xfrm>
            <a:off x="685800" y="4267200"/>
            <a:ext cx="7467600" cy="457200"/>
          </a:xfrm>
          <a:prstGeom prst="rect">
            <a:avLst/>
          </a:prstGeom>
          <a:noFill/>
          <a:ln w="9525">
            <a:noFill/>
          </a:ln>
        </p:spPr>
        <p:txBody>
          <a:bodyPr>
            <a:spAutoFit/>
          </a:bodyPr>
          <a:lstStyle/>
          <a:p>
            <a:r>
              <a:rPr lang="zh-CN" altLang="en-US" dirty="0">
                <a:latin typeface="Times New Roman" panose="02020603050405020304" pitchFamily="18" charset="0"/>
                <a:ea typeface="黑体" panose="02010609060101010101" pitchFamily="49" charset="-122"/>
              </a:rPr>
              <a:t>特别是对称循环变应力，对零件的破坏性最大。</a:t>
            </a:r>
            <a:endParaRPr lang="zh-CN" altLang="en-US" dirty="0">
              <a:latin typeface="Times New Roman" panose="02020603050405020304" pitchFamily="18" charset="0"/>
              <a:ea typeface="黑体" panose="02010609060101010101" pitchFamily="49" charset="-122"/>
            </a:endParaRPr>
          </a:p>
        </p:txBody>
      </p:sp>
      <p:sp>
        <p:nvSpPr>
          <p:cNvPr id="263228" name="Text Box 60"/>
          <p:cNvSpPr txBox="1"/>
          <p:nvPr/>
        </p:nvSpPr>
        <p:spPr>
          <a:xfrm>
            <a:off x="685800" y="4800600"/>
            <a:ext cx="7467600" cy="457200"/>
          </a:xfrm>
          <a:prstGeom prst="rect">
            <a:avLst/>
          </a:prstGeom>
          <a:noFill/>
          <a:ln w="9525">
            <a:noFill/>
          </a:ln>
        </p:spPr>
        <p:txBody>
          <a:bodyPr>
            <a:spAutoFit/>
          </a:bodyPr>
          <a:lstStyle/>
          <a:p>
            <a:r>
              <a:rPr lang="zh-CN" altLang="en-US" dirty="0">
                <a:solidFill>
                  <a:schemeClr val="hlink"/>
                </a:solidFill>
                <a:latin typeface="Times New Roman" panose="02020603050405020304" pitchFamily="18" charset="0"/>
                <a:ea typeface="黑体" panose="02010609060101010101" pitchFamily="49" charset="-122"/>
              </a:rPr>
              <a:t>应力类型对强度的影响，如何在强度计算中体现？</a:t>
            </a:r>
            <a:endParaRPr lang="zh-CN" altLang="en-US" dirty="0">
              <a:solidFill>
                <a:schemeClr val="hlink"/>
              </a:solidFill>
              <a:latin typeface="Times New Roman" panose="02020603050405020304" pitchFamily="18" charset="0"/>
              <a:ea typeface="黑体" panose="02010609060101010101" pitchFamily="49" charset="-122"/>
            </a:endParaRPr>
          </a:p>
        </p:txBody>
      </p:sp>
      <p:sp>
        <p:nvSpPr>
          <p:cNvPr id="263229" name="Text Box 61"/>
          <p:cNvSpPr txBox="1">
            <a:spLocks noChangeArrowheads="1"/>
          </p:cNvSpPr>
          <p:nvPr/>
        </p:nvSpPr>
        <p:spPr bwMode="auto">
          <a:xfrm>
            <a:off x="685800" y="5334000"/>
            <a:ext cx="7467600" cy="457200"/>
          </a:xfrm>
          <a:prstGeom prst="rect">
            <a:avLst/>
          </a:prstGeom>
          <a:noFill/>
          <a:ln w="9525">
            <a:noFill/>
            <a:miter lim="800000"/>
          </a:ln>
          <a:effectLst/>
        </p:spPr>
        <p:txBody>
          <a:bodyPr>
            <a:spAutoFit/>
          </a:bodyPr>
          <a:lstStyle/>
          <a:p>
            <a:pPr marR="0" defTabSz="914400">
              <a:buClrTx/>
              <a:buSzTx/>
              <a:buFontTx/>
              <a:buNone/>
              <a:defRPr/>
            </a:pPr>
            <a:r>
              <a:rPr kumimoji="1" lang="zh-CN" altLang="en-US"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通过极限应力</a:t>
            </a:r>
            <a:r>
              <a:rPr kumimoji="1" lang="en-US" altLang="zh-CN" i="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楷体_GB2312" pitchFamily="49" charset="-122"/>
                <a:cs typeface="+mn-cs"/>
              </a:rPr>
              <a:t>σ</a:t>
            </a:r>
            <a:r>
              <a:rPr kumimoji="1" lang="en-US" altLang="zh-CN" kern="1200" cap="none" spc="0" normalizeH="0" baseline="-1400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lim</a:t>
            </a:r>
            <a:r>
              <a:rPr kumimoji="1" lang="en-US" altLang="zh-CN" kern="1200" cap="none" spc="0" normalizeH="0" baseline="-2500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 </a:t>
            </a:r>
            <a:r>
              <a:rPr kumimoji="1" lang="zh-CN" altLang="en-US"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，应力类型不同，</a:t>
            </a:r>
            <a:r>
              <a:rPr kumimoji="1" lang="en-US" altLang="zh-CN" i="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楷体_GB2312" pitchFamily="49" charset="-122"/>
                <a:cs typeface="+mn-cs"/>
              </a:rPr>
              <a:t>σ</a:t>
            </a:r>
            <a:r>
              <a:rPr kumimoji="1" lang="en-US" altLang="zh-CN" kern="1200" cap="none" spc="0" normalizeH="0" baseline="-1400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lim</a:t>
            </a:r>
            <a:r>
              <a:rPr kumimoji="1" lang="zh-CN" altLang="en-US"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不同。</a:t>
            </a:r>
            <a:endParaRPr kumimoji="1" lang="zh-CN" altLang="en-US"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endParaRPr>
          </a:p>
        </p:txBody>
      </p:sp>
      <p:grpSp>
        <p:nvGrpSpPr>
          <p:cNvPr id="16" name="Group 75"/>
          <p:cNvGrpSpPr/>
          <p:nvPr/>
        </p:nvGrpSpPr>
        <p:grpSpPr>
          <a:xfrm>
            <a:off x="8027988" y="1089025"/>
            <a:ext cx="557212" cy="749300"/>
            <a:chOff x="5057" y="686"/>
            <a:chExt cx="351" cy="472"/>
          </a:xfrm>
        </p:grpSpPr>
        <p:sp>
          <p:nvSpPr>
            <p:cNvPr id="16435" name="Arc 62"/>
            <p:cNvSpPr/>
            <p:nvPr/>
          </p:nvSpPr>
          <p:spPr>
            <a:xfrm rot="9050139" flipH="1">
              <a:off x="5057" y="822"/>
              <a:ext cx="192" cy="33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4925" cap="flat" cmpd="sng">
              <a:solidFill>
                <a:schemeClr val="folHlink">
                  <a:alpha val="100000"/>
                </a:schemeClr>
              </a:solidFill>
              <a:prstDash val="solid"/>
              <a:round/>
              <a:headEnd type="none" w="med" len="med"/>
              <a:tailEnd type="triangle" w="sm" len="med"/>
            </a:ln>
          </p:spPr>
          <p:txBody>
            <a:bodyPr/>
            <a:lstStyle/>
            <a:p>
              <a:endParaRPr lang="zh-CN" altLang="en-US"/>
            </a:p>
          </p:txBody>
        </p:sp>
        <p:sp>
          <p:nvSpPr>
            <p:cNvPr id="16436" name="Text Box 63"/>
            <p:cNvSpPr txBox="1"/>
            <p:nvPr/>
          </p:nvSpPr>
          <p:spPr>
            <a:xfrm>
              <a:off x="5216" y="686"/>
              <a:ext cx="192" cy="327"/>
            </a:xfrm>
            <a:prstGeom prst="rect">
              <a:avLst/>
            </a:prstGeom>
            <a:noFill/>
            <a:ln w="12700">
              <a:noFill/>
            </a:ln>
          </p:spPr>
          <p:txBody>
            <a:bodyPr>
              <a:spAutoFit/>
            </a:bodyPr>
            <a:lstStyle/>
            <a:p>
              <a:r>
                <a:rPr lang="en-US" altLang="zh-CN" sz="2800" i="1" dirty="0">
                  <a:latin typeface="Times New Roman" panose="02020603050405020304" pitchFamily="18" charset="0"/>
                </a:rPr>
                <a:t>n</a:t>
              </a:r>
              <a:endParaRPr lang="en-US" altLang="zh-CN" sz="2800" i="1" dirty="0">
                <a:latin typeface="Times New Roman" panose="02020603050405020304" pitchFamily="18" charset="0"/>
              </a:endParaRPr>
            </a:p>
          </p:txBody>
        </p:sp>
      </p:grpSp>
      <p:grpSp>
        <p:nvGrpSpPr>
          <p:cNvPr id="17" name="Group 68"/>
          <p:cNvGrpSpPr/>
          <p:nvPr/>
        </p:nvGrpSpPr>
        <p:grpSpPr>
          <a:xfrm>
            <a:off x="2819400" y="5791200"/>
            <a:ext cx="304800" cy="304800"/>
            <a:chOff x="1776" y="3648"/>
            <a:chExt cx="192" cy="192"/>
          </a:xfrm>
        </p:grpSpPr>
        <p:sp>
          <p:nvSpPr>
            <p:cNvPr id="16433" name="Line 65"/>
            <p:cNvSpPr/>
            <p:nvPr/>
          </p:nvSpPr>
          <p:spPr>
            <a:xfrm>
              <a:off x="1776" y="3648"/>
              <a:ext cx="0" cy="192"/>
            </a:xfrm>
            <a:prstGeom prst="line">
              <a:avLst/>
            </a:prstGeom>
            <a:ln w="19050" cap="flat" cmpd="sng">
              <a:solidFill>
                <a:schemeClr val="hlink"/>
              </a:solidFill>
              <a:prstDash val="solid"/>
              <a:headEnd type="none" w="med" len="med"/>
              <a:tailEnd type="none" w="med" len="med"/>
            </a:ln>
          </p:spPr>
        </p:sp>
        <p:sp>
          <p:nvSpPr>
            <p:cNvPr id="16434" name="Line 66"/>
            <p:cNvSpPr/>
            <p:nvPr/>
          </p:nvSpPr>
          <p:spPr>
            <a:xfrm>
              <a:off x="1776" y="3840"/>
              <a:ext cx="192" cy="0"/>
            </a:xfrm>
            <a:prstGeom prst="line">
              <a:avLst/>
            </a:prstGeom>
            <a:ln w="19050" cap="flat" cmpd="sng">
              <a:solidFill>
                <a:schemeClr val="hlink"/>
              </a:solidFill>
              <a:prstDash val="solid"/>
              <a:headEnd type="none" w="med" len="med"/>
              <a:tailEnd type="none" w="med" len="med"/>
            </a:ln>
          </p:spPr>
        </p:sp>
      </p:grpSp>
      <p:sp>
        <p:nvSpPr>
          <p:cNvPr id="263235" name="Text Box 67"/>
          <p:cNvSpPr txBox="1">
            <a:spLocks noChangeArrowheads="1"/>
          </p:cNvSpPr>
          <p:nvPr/>
        </p:nvSpPr>
        <p:spPr bwMode="auto">
          <a:xfrm>
            <a:off x="3048000" y="5867400"/>
            <a:ext cx="5181600" cy="396875"/>
          </a:xfrm>
          <a:prstGeom prst="rect">
            <a:avLst/>
          </a:prstGeom>
          <a:noFill/>
          <a:ln w="9525">
            <a:noFill/>
            <a:miter lim="800000"/>
          </a:ln>
          <a:effectLst/>
        </p:spPr>
        <p:txBody>
          <a:bodyPr>
            <a:spAutoFit/>
          </a:bodyPr>
          <a:lstStyle/>
          <a:p>
            <a:pPr marR="0" defTabSz="914400">
              <a:buClrTx/>
              <a:buSzTx/>
              <a:buFontTx/>
              <a:buNone/>
              <a:defRPr/>
            </a:pPr>
            <a:r>
              <a:rPr kumimoji="1" lang="zh-CN" altLang="en-US" sz="20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不失效的前提下，零件所能承受的最大应力</a:t>
            </a:r>
            <a:endParaRPr kumimoji="1" lang="zh-CN" altLang="en-US" sz="20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endParaRPr>
          </a:p>
        </p:txBody>
      </p:sp>
      <p:grpSp>
        <p:nvGrpSpPr>
          <p:cNvPr id="18" name="Group 71"/>
          <p:cNvGrpSpPr/>
          <p:nvPr/>
        </p:nvGrpSpPr>
        <p:grpSpPr>
          <a:xfrm>
            <a:off x="6443663" y="333375"/>
            <a:ext cx="1008062" cy="503238"/>
            <a:chOff x="4059" y="210"/>
            <a:chExt cx="545" cy="317"/>
          </a:xfrm>
        </p:grpSpPr>
        <p:sp>
          <p:nvSpPr>
            <p:cNvPr id="16431" name="Text Box 69"/>
            <p:cNvSpPr txBox="1"/>
            <p:nvPr/>
          </p:nvSpPr>
          <p:spPr>
            <a:xfrm>
              <a:off x="4060" y="210"/>
              <a:ext cx="544" cy="250"/>
            </a:xfrm>
            <a:prstGeom prst="rect">
              <a:avLst/>
            </a:prstGeom>
            <a:noFill/>
            <a:ln w="9525">
              <a:noFill/>
            </a:ln>
          </p:spPr>
          <p:txBody>
            <a:bodyPr>
              <a:spAutoFit/>
            </a:bodyPr>
            <a:lstStyle/>
            <a:p>
              <a:r>
                <a:rPr lang="zh-CN" altLang="en-US" sz="2000" dirty="0">
                  <a:solidFill>
                    <a:schemeClr val="hlink"/>
                  </a:solidFill>
                  <a:latin typeface="Times New Roman" panose="02020603050405020304" pitchFamily="18" charset="0"/>
                  <a:ea typeface="黑体" panose="02010609060101010101" pitchFamily="49" charset="-122"/>
                </a:rPr>
                <a:t>静载荷</a:t>
              </a:r>
              <a:endParaRPr lang="zh-CN" altLang="en-US" sz="2000" dirty="0">
                <a:solidFill>
                  <a:schemeClr val="hlink"/>
                </a:solidFill>
                <a:latin typeface="Times New Roman" panose="02020603050405020304" pitchFamily="18" charset="0"/>
                <a:ea typeface="黑体" panose="02010609060101010101" pitchFamily="49" charset="-122"/>
              </a:endParaRPr>
            </a:p>
          </p:txBody>
        </p:sp>
        <p:sp>
          <p:nvSpPr>
            <p:cNvPr id="16432" name="Line 70"/>
            <p:cNvSpPr/>
            <p:nvPr/>
          </p:nvSpPr>
          <p:spPr>
            <a:xfrm flipH="1">
              <a:off x="4059" y="436"/>
              <a:ext cx="91" cy="91"/>
            </a:xfrm>
            <a:prstGeom prst="line">
              <a:avLst/>
            </a:prstGeom>
            <a:ln w="15875" cap="flat" cmpd="sng">
              <a:solidFill>
                <a:schemeClr val="hlink"/>
              </a:solidFill>
              <a:prstDash val="solid"/>
              <a:headEnd type="none" w="med" len="med"/>
              <a:tailEnd type="none" w="med" len="med"/>
            </a:ln>
          </p:spPr>
        </p:sp>
      </p:grpSp>
      <p:grpSp>
        <p:nvGrpSpPr>
          <p:cNvPr id="19" name="Group 76"/>
          <p:cNvGrpSpPr/>
          <p:nvPr/>
        </p:nvGrpSpPr>
        <p:grpSpPr>
          <a:xfrm>
            <a:off x="7697788" y="403225"/>
            <a:ext cx="692150" cy="685800"/>
            <a:chOff x="4849" y="254"/>
            <a:chExt cx="436" cy="432"/>
          </a:xfrm>
        </p:grpSpPr>
        <p:sp>
          <p:nvSpPr>
            <p:cNvPr id="263241" name="Line 73"/>
            <p:cNvSpPr>
              <a:spLocks noChangeShapeType="1"/>
            </p:cNvSpPr>
            <p:nvPr/>
          </p:nvSpPr>
          <p:spPr bwMode="auto">
            <a:xfrm>
              <a:off x="4849" y="302"/>
              <a:ext cx="0" cy="384"/>
            </a:xfrm>
            <a:prstGeom prst="line">
              <a:avLst/>
            </a:prstGeom>
            <a:noFill/>
            <a:ln w="25400">
              <a:solidFill>
                <a:schemeClr val="accent2"/>
              </a:solidFill>
              <a:round/>
              <a:tailEnd type="triangle" w="med" len="lg"/>
            </a:ln>
            <a:effectLst>
              <a:prstShdw prst="shdw17" dist="17961" dir="2700000">
                <a:schemeClr val="accent2">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1" i="0" u="none" strike="noStrike" kern="1200" cap="none" spc="0" normalizeH="0" baseline="0" noProof="0">
                <a:ln>
                  <a:noFill/>
                </a:ln>
                <a:solidFill>
                  <a:schemeClr val="bg2"/>
                </a:solidFill>
                <a:effectLst/>
                <a:uLnTx/>
                <a:uFillTx/>
                <a:latin typeface="Times New Roman" panose="02020603050405020304" pitchFamily="18" charset="0"/>
                <a:ea typeface="方正大黑简体" pitchFamily="2" charset="-122"/>
                <a:cs typeface="+mn-cs"/>
              </a:endParaRPr>
            </a:p>
          </p:txBody>
        </p:sp>
        <p:sp>
          <p:nvSpPr>
            <p:cNvPr id="16430" name="Text Box 74"/>
            <p:cNvSpPr txBox="1"/>
            <p:nvPr/>
          </p:nvSpPr>
          <p:spPr>
            <a:xfrm>
              <a:off x="4853" y="254"/>
              <a:ext cx="432" cy="288"/>
            </a:xfrm>
            <a:prstGeom prst="rect">
              <a:avLst/>
            </a:prstGeom>
            <a:noFill/>
            <a:ln w="9525">
              <a:noFill/>
            </a:ln>
          </p:spPr>
          <p:txBody>
            <a:bodyPr>
              <a:spAutoFit/>
            </a:bodyPr>
            <a:lstStyle/>
            <a:p>
              <a:r>
                <a:rPr lang="en-US" altLang="zh-CN" i="1" dirty="0">
                  <a:latin typeface="Times New Roman" panose="02020603050405020304" pitchFamily="18" charset="0"/>
                </a:rPr>
                <a:t>F</a:t>
              </a:r>
              <a:endParaRPr lang="en-US" altLang="zh-CN" dirty="0">
                <a:latin typeface="Times New Roman" panose="02020603050405020304" pitchFamily="18" charset="0"/>
              </a:endParaRPr>
            </a:p>
          </p:txBody>
        </p:sp>
      </p:grpSp>
      <p:grpSp>
        <p:nvGrpSpPr>
          <p:cNvPr id="20" name="Group 91"/>
          <p:cNvGrpSpPr/>
          <p:nvPr/>
        </p:nvGrpSpPr>
        <p:grpSpPr>
          <a:xfrm>
            <a:off x="5940425" y="2168525"/>
            <a:ext cx="1422400" cy="1908175"/>
            <a:chOff x="3742" y="1366"/>
            <a:chExt cx="896" cy="1202"/>
          </a:xfrm>
        </p:grpSpPr>
        <p:grpSp>
          <p:nvGrpSpPr>
            <p:cNvPr id="16418" name="Group 78"/>
            <p:cNvGrpSpPr/>
            <p:nvPr/>
          </p:nvGrpSpPr>
          <p:grpSpPr>
            <a:xfrm>
              <a:off x="3742" y="1502"/>
              <a:ext cx="896" cy="1066"/>
              <a:chOff x="3744" y="1600"/>
              <a:chExt cx="896" cy="864"/>
            </a:xfrm>
          </p:grpSpPr>
          <p:grpSp>
            <p:nvGrpSpPr>
              <p:cNvPr id="16423" name="Group 79"/>
              <p:cNvGrpSpPr/>
              <p:nvPr/>
            </p:nvGrpSpPr>
            <p:grpSpPr>
              <a:xfrm>
                <a:off x="3744" y="1600"/>
                <a:ext cx="448" cy="432"/>
                <a:chOff x="1440" y="1824"/>
                <a:chExt cx="480" cy="336"/>
              </a:xfrm>
            </p:grpSpPr>
            <p:sp>
              <p:nvSpPr>
                <p:cNvPr id="16427" name="Arc 80"/>
                <p:cNvSpPr/>
                <p:nvPr/>
              </p:nvSpPr>
              <p:spPr>
                <a:xfrm>
                  <a:off x="1680" y="1824"/>
                  <a:ext cx="240" cy="33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16428" name="Arc 81"/>
                <p:cNvSpPr/>
                <p:nvPr/>
              </p:nvSpPr>
              <p:spPr>
                <a:xfrm flipH="1">
                  <a:off x="1440" y="1824"/>
                  <a:ext cx="240" cy="33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flat" cmpd="sng">
                  <a:solidFill>
                    <a:schemeClr val="hlink">
                      <a:alpha val="100000"/>
                    </a:schemeClr>
                  </a:solidFill>
                  <a:prstDash val="solid"/>
                  <a:round/>
                  <a:headEnd type="none" w="med" len="med"/>
                  <a:tailEnd type="none" w="med" len="med"/>
                </a:ln>
              </p:spPr>
              <p:txBody>
                <a:bodyPr/>
                <a:lstStyle/>
                <a:p>
                  <a:endParaRPr lang="zh-CN" altLang="en-US"/>
                </a:p>
              </p:txBody>
            </p:sp>
          </p:grpSp>
          <p:grpSp>
            <p:nvGrpSpPr>
              <p:cNvPr id="16424" name="Group 82"/>
              <p:cNvGrpSpPr/>
              <p:nvPr/>
            </p:nvGrpSpPr>
            <p:grpSpPr>
              <a:xfrm flipV="1">
                <a:off x="4192" y="2032"/>
                <a:ext cx="448" cy="432"/>
                <a:chOff x="1440" y="1824"/>
                <a:chExt cx="480" cy="336"/>
              </a:xfrm>
            </p:grpSpPr>
            <p:sp>
              <p:nvSpPr>
                <p:cNvPr id="16425" name="Arc 83"/>
                <p:cNvSpPr/>
                <p:nvPr/>
              </p:nvSpPr>
              <p:spPr>
                <a:xfrm>
                  <a:off x="1680" y="1824"/>
                  <a:ext cx="240" cy="33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16426" name="Arc 84"/>
                <p:cNvSpPr/>
                <p:nvPr/>
              </p:nvSpPr>
              <p:spPr>
                <a:xfrm flipH="1">
                  <a:off x="1440" y="1824"/>
                  <a:ext cx="240" cy="33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flat" cmpd="sng">
                  <a:solidFill>
                    <a:schemeClr val="hlink">
                      <a:alpha val="100000"/>
                    </a:schemeClr>
                  </a:solidFill>
                  <a:prstDash val="solid"/>
                  <a:round/>
                  <a:headEnd type="none" w="med" len="med"/>
                  <a:tailEnd type="none" w="med" len="med"/>
                </a:ln>
              </p:spPr>
              <p:txBody>
                <a:bodyPr/>
                <a:lstStyle/>
                <a:p>
                  <a:endParaRPr lang="zh-CN" altLang="en-US"/>
                </a:p>
              </p:txBody>
            </p:sp>
          </p:grpSp>
        </p:grpSp>
        <p:grpSp>
          <p:nvGrpSpPr>
            <p:cNvPr id="16419" name="Group 90"/>
            <p:cNvGrpSpPr/>
            <p:nvPr/>
          </p:nvGrpSpPr>
          <p:grpSpPr>
            <a:xfrm>
              <a:off x="3969" y="1366"/>
              <a:ext cx="661" cy="661"/>
              <a:chOff x="3969" y="1366"/>
              <a:chExt cx="661" cy="661"/>
            </a:xfrm>
          </p:grpSpPr>
          <p:sp>
            <p:nvSpPr>
              <p:cNvPr id="16420" name="Text Box 89"/>
              <p:cNvSpPr txBox="1"/>
              <p:nvPr/>
            </p:nvSpPr>
            <p:spPr>
              <a:xfrm rot="-5368369">
                <a:off x="4164" y="1572"/>
                <a:ext cx="624" cy="212"/>
              </a:xfrm>
              <a:prstGeom prst="rect">
                <a:avLst/>
              </a:prstGeom>
              <a:noFill/>
              <a:ln w="9525">
                <a:noFill/>
              </a:ln>
            </p:spPr>
            <p:txBody>
              <a:bodyPr>
                <a:spAutoFit/>
              </a:bodyPr>
              <a:lstStyle/>
              <a:p>
                <a:r>
                  <a:rPr lang="en-US" altLang="zh-CN" sz="1600" i="1" dirty="0">
                    <a:solidFill>
                      <a:schemeClr val="hlink"/>
                    </a:solidFill>
                    <a:latin typeface="Times New Roman" panose="02020603050405020304" pitchFamily="18" charset="0"/>
                    <a:ea typeface="楷体_GB2312" pitchFamily="49" charset="-122"/>
                  </a:rPr>
                  <a:t>σ</a:t>
                </a:r>
                <a:r>
                  <a:rPr lang="en-US" altLang="zh-CN" sz="1600" baseline="-25000" dirty="0">
                    <a:solidFill>
                      <a:schemeClr val="hlink"/>
                    </a:solidFill>
                    <a:latin typeface="Times New Roman" panose="02020603050405020304" pitchFamily="18" charset="0"/>
                  </a:rPr>
                  <a:t>lim</a:t>
                </a:r>
                <a:endParaRPr lang="en-US" altLang="zh-CN" dirty="0">
                  <a:solidFill>
                    <a:schemeClr val="hlink"/>
                  </a:solidFill>
                  <a:latin typeface="Times New Roman" panose="02020603050405020304" pitchFamily="18" charset="0"/>
                </a:endParaRPr>
              </a:p>
            </p:txBody>
          </p:sp>
          <p:sp>
            <p:nvSpPr>
              <p:cNvPr id="16421" name="Line 87"/>
              <p:cNvSpPr/>
              <p:nvPr/>
            </p:nvSpPr>
            <p:spPr>
              <a:xfrm>
                <a:off x="3969" y="1502"/>
                <a:ext cx="661" cy="0"/>
              </a:xfrm>
              <a:prstGeom prst="line">
                <a:avLst/>
              </a:prstGeom>
              <a:ln w="12700" cap="flat" cmpd="sng">
                <a:solidFill>
                  <a:schemeClr val="hlink"/>
                </a:solidFill>
                <a:prstDash val="solid"/>
                <a:headEnd type="none" w="med" len="med"/>
                <a:tailEnd type="none" w="med" len="med"/>
              </a:ln>
            </p:spPr>
          </p:sp>
          <p:sp>
            <p:nvSpPr>
              <p:cNvPr id="16422" name="Line 88"/>
              <p:cNvSpPr/>
              <p:nvPr/>
            </p:nvSpPr>
            <p:spPr>
              <a:xfrm>
                <a:off x="4581" y="1502"/>
                <a:ext cx="1" cy="525"/>
              </a:xfrm>
              <a:prstGeom prst="line">
                <a:avLst/>
              </a:prstGeom>
              <a:ln w="12700" cap="flat" cmpd="sng">
                <a:solidFill>
                  <a:schemeClr val="hlink"/>
                </a:solidFill>
                <a:prstDash val="solid"/>
                <a:headEnd type="triangle" w="sm" len="med"/>
                <a:tailEnd type="triangle" w="sm" len="med"/>
              </a:ln>
            </p:spPr>
          </p:sp>
        </p:grpSp>
      </p:grpSp>
      <p:sp>
        <p:nvSpPr>
          <p:cNvPr id="7" name="文本框 6"/>
          <p:cNvSpPr txBox="1"/>
          <p:nvPr/>
        </p:nvSpPr>
        <p:spPr>
          <a:xfrm>
            <a:off x="7901940" y="2124075"/>
            <a:ext cx="1131570" cy="922020"/>
          </a:xfrm>
          <a:prstGeom prst="rect">
            <a:avLst/>
          </a:prstGeom>
          <a:solidFill>
            <a:schemeClr val="tx1">
              <a:lumMod val="20000"/>
              <a:lumOff val="80000"/>
            </a:schemeClr>
          </a:solidFill>
        </p:spPr>
        <p:txBody>
          <a:bodyPr wrap="square" rtlCol="0">
            <a:spAutoFit/>
          </a:bodyPr>
          <a:lstStyle/>
          <a:p>
            <a:r>
              <a:rPr lang="zh-CN" altLang="en-US" sz="1800">
                <a:latin typeface="黑体" panose="02010609060101010101" pitchFamily="49" charset="-122"/>
                <a:ea typeface="黑体" panose="02010609060101010101" pitchFamily="49" charset="-122"/>
              </a:rPr>
              <a:t>周期性变化的弯曲应力</a:t>
            </a:r>
            <a:endParaRPr lang="zh-CN" altLang="en-US" sz="1800">
              <a:latin typeface="黑体" panose="02010609060101010101" pitchFamily="49" charset="-122"/>
              <a:ea typeface="黑体" panose="02010609060101010101" pitchFamily="49" charset="-122"/>
            </a:endParaRPr>
          </a:p>
        </p:txBody>
      </p:sp>
      <p:grpSp>
        <p:nvGrpSpPr>
          <p:cNvPr id="10" name="组合 9"/>
          <p:cNvGrpSpPr/>
          <p:nvPr/>
        </p:nvGrpSpPr>
        <p:grpSpPr>
          <a:xfrm>
            <a:off x="5396865" y="919480"/>
            <a:ext cx="685800" cy="892175"/>
            <a:chOff x="8499" y="1448"/>
            <a:chExt cx="1080" cy="1405"/>
          </a:xfrm>
        </p:grpSpPr>
        <p:sp>
          <p:nvSpPr>
            <p:cNvPr id="16464" name="Text Box 15"/>
            <p:cNvSpPr txBox="1"/>
            <p:nvPr/>
          </p:nvSpPr>
          <p:spPr>
            <a:xfrm>
              <a:off x="8499" y="1448"/>
              <a:ext cx="1080" cy="818"/>
            </a:xfrm>
            <a:prstGeom prst="rect">
              <a:avLst/>
            </a:prstGeom>
            <a:noFill/>
            <a:ln w="9525">
              <a:noFill/>
            </a:ln>
          </p:spPr>
          <p:txBody>
            <a:bodyPr>
              <a:spAutoFit/>
            </a:bodyPr>
            <a:lstStyle/>
            <a:p>
              <a:r>
                <a:rPr lang="en-US" altLang="zh-CN" sz="2800" i="1" dirty="0">
                  <a:latin typeface="Times New Roman" panose="02020603050405020304" pitchFamily="18" charset="0"/>
                </a:rPr>
                <a:t>n</a:t>
              </a:r>
              <a:endParaRPr lang="en-US" altLang="zh-CN" sz="2800" dirty="0">
                <a:latin typeface="Times New Roman" panose="02020603050405020304" pitchFamily="18" charset="0"/>
              </a:endParaRPr>
            </a:p>
          </p:txBody>
        </p:sp>
        <p:sp>
          <p:nvSpPr>
            <p:cNvPr id="8" name="上箭头 7"/>
            <p:cNvSpPr/>
            <p:nvPr/>
          </p:nvSpPr>
          <p:spPr>
            <a:xfrm>
              <a:off x="9038" y="1785"/>
              <a:ext cx="179" cy="1068"/>
            </a:xfrm>
            <a:prstGeom prst="upArrow">
              <a:avLst/>
            </a:prstGeom>
            <a:solidFill>
              <a:schemeClr val="bg2">
                <a:lumMod val="50000"/>
              </a:schemeClr>
            </a:solidFill>
            <a:ln w="9525" cap="flat" cmpd="sng" algn="ctr">
              <a:solidFill>
                <a:srgbClr val="0070C0"/>
              </a:solid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3173"/>
                                        </p:tgtEl>
                                        <p:attrNameLst>
                                          <p:attrName>style.visibility</p:attrName>
                                        </p:attrNameLst>
                                      </p:cBhvr>
                                      <p:to>
                                        <p:strVal val="visible"/>
                                      </p:to>
                                    </p:set>
                                    <p:animEffect transition="in" filter="wipe(left)">
                                      <p:cBhvr>
                                        <p:cTn id="7" dur="500"/>
                                        <p:tgtEl>
                                          <p:spTgt spid="26317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3174"/>
                                        </p:tgtEl>
                                        <p:attrNameLst>
                                          <p:attrName>style.visibility</p:attrName>
                                        </p:attrNameLst>
                                      </p:cBhvr>
                                      <p:to>
                                        <p:strVal val="visible"/>
                                      </p:to>
                                    </p:set>
                                    <p:animEffect transition="in" filter="dissolve">
                                      <p:cBhvr>
                                        <p:cTn id="12" dur="500"/>
                                        <p:tgtEl>
                                          <p:spTgt spid="26317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63224"/>
                                        </p:tgtEl>
                                        <p:attrNameLst>
                                          <p:attrName>style.visibility</p:attrName>
                                        </p:attrNameLst>
                                      </p:cBhvr>
                                      <p:to>
                                        <p:strVal val="visible"/>
                                      </p:to>
                                    </p:set>
                                    <p:animEffect transition="in" filter="dissolve">
                                      <p:cBhvr>
                                        <p:cTn id="17" dur="500"/>
                                        <p:tgtEl>
                                          <p:spTgt spid="26322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63175"/>
                                        </p:tgtEl>
                                        <p:attrNameLst>
                                          <p:attrName>style.visibility</p:attrName>
                                        </p:attrNameLst>
                                      </p:cBhvr>
                                      <p:to>
                                        <p:strVal val="visible"/>
                                      </p:to>
                                    </p:set>
                                    <p:animEffect transition="in" filter="dissolve">
                                      <p:cBhvr>
                                        <p:cTn id="22" dur="500"/>
                                        <p:tgtEl>
                                          <p:spTgt spid="26317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263176"/>
                                        </p:tgtEl>
                                        <p:attrNameLst>
                                          <p:attrName>style.visibility</p:attrName>
                                        </p:attrNameLst>
                                      </p:cBhvr>
                                      <p:to>
                                        <p:strVal val="visible"/>
                                      </p:to>
                                    </p:set>
                                    <p:animEffect transition="in" filter="slide(fromLeft)">
                                      <p:cBhvr>
                                        <p:cTn id="27" dur="500"/>
                                        <p:tgtEl>
                                          <p:spTgt spid="26317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slide(fromTop)">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down)">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up)">
                                      <p:cBhvr>
                                        <p:cTn id="52" dur="500"/>
                                        <p:tgtEl>
                                          <p:spTgt spid="5"/>
                                        </p:tgtEl>
                                      </p:cBhvr>
                                    </p:animEffect>
                                  </p:childTnLst>
                                </p:cTn>
                              </p:par>
                            </p:childTnLst>
                          </p:cTn>
                        </p:par>
                        <p:par>
                          <p:cTn id="53" fill="hold">
                            <p:stCondLst>
                              <p:cond delay="500"/>
                            </p:stCondLst>
                            <p:childTnLst>
                              <p:par>
                                <p:cTn id="54" presetID="22" presetClass="entr" presetSubtype="4" fill="hold"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down)">
                                      <p:cBhvr>
                                        <p:cTn id="56" dur="500"/>
                                        <p:tgtEl>
                                          <p:spTgt spid="16"/>
                                        </p:tgtEl>
                                      </p:cBhvr>
                                    </p:animEffect>
                                  </p:childTnLst>
                                </p:cTn>
                              </p:par>
                            </p:childTnLst>
                          </p:cTn>
                        </p:par>
                        <p:par>
                          <p:cTn id="57" fill="hold">
                            <p:stCondLst>
                              <p:cond delay="1000"/>
                            </p:stCondLst>
                            <p:childTnLst>
                              <p:par>
                                <p:cTn id="58" presetID="22" presetClass="entr" presetSubtype="4" fill="hold"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down)">
                                      <p:cBhvr>
                                        <p:cTn id="60" dur="50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263191"/>
                                        </p:tgtEl>
                                        <p:attrNameLst>
                                          <p:attrName>style.visibility</p:attrName>
                                        </p:attrNameLst>
                                      </p:cBhvr>
                                      <p:to>
                                        <p:strVal val="visible"/>
                                      </p:to>
                                    </p:set>
                                    <p:animEffect transition="in" filter="dissolve">
                                      <p:cBhvr>
                                        <p:cTn id="65" dur="500"/>
                                        <p:tgtEl>
                                          <p:spTgt spid="263191"/>
                                        </p:tgtEl>
                                      </p:cBhvr>
                                    </p:animEffect>
                                  </p:childTnLst>
                                  <p:subTnLst>
                                    <p:set>
                                      <p:cBhvr override="childStyle">
                                        <p:cTn dur="1" fill="hold" display="0" masterRel="nextClick" afterEffect="1"/>
                                        <p:tgtEl>
                                          <p:spTgt spid="263191"/>
                                        </p:tgtEl>
                                        <p:attrNameLst>
                                          <p:attrName>style.visibility</p:attrName>
                                        </p:attrNameLst>
                                      </p:cBhvr>
                                      <p:to>
                                        <p:strVal val="hidden"/>
                                      </p:to>
                                    </p:set>
                                  </p:sub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263223"/>
                                        </p:tgtEl>
                                        <p:attrNameLst>
                                          <p:attrName>style.visibility</p:attrName>
                                        </p:attrNameLst>
                                      </p:cBhvr>
                                      <p:to>
                                        <p:strVal val="visible"/>
                                      </p:to>
                                    </p:set>
                                    <p:animEffect transition="in" filter="dissolve">
                                      <p:cBhvr>
                                        <p:cTn id="70" dur="500"/>
                                        <p:tgtEl>
                                          <p:spTgt spid="263223"/>
                                        </p:tgtEl>
                                      </p:cBhvr>
                                    </p:animEffect>
                                  </p:childTnLst>
                                  <p:subTnLst>
                                    <p:set>
                                      <p:cBhvr override="childStyle">
                                        <p:cTn dur="1" fill="hold" display="0" masterRel="nextClick" afterEffect="1"/>
                                        <p:tgtEl>
                                          <p:spTgt spid="263223"/>
                                        </p:tgtEl>
                                        <p:attrNameLst>
                                          <p:attrName>style.visibility</p:attrName>
                                        </p:attrNameLst>
                                      </p:cBhvr>
                                      <p:to>
                                        <p:strVal val="hidden"/>
                                      </p:to>
                                    </p:set>
                                  </p:subTnLst>
                                </p:cTn>
                              </p:par>
                            </p:childTnLst>
                          </p:cTn>
                        </p:par>
                        <p:par>
                          <p:cTn id="71" fill="hold">
                            <p:stCondLst>
                              <p:cond delay="500"/>
                            </p:stCondLst>
                            <p:childTnLst>
                              <p:par>
                                <p:cTn id="72" presetID="9" presetClass="entr" presetSubtype="0" fill="hold" grpId="0" nodeType="afterEffect">
                                  <p:stCondLst>
                                    <p:cond delay="1000"/>
                                  </p:stCondLst>
                                  <p:childTnLst>
                                    <p:set>
                                      <p:cBhvr>
                                        <p:cTn id="73" dur="1" fill="hold">
                                          <p:stCondLst>
                                            <p:cond delay="0"/>
                                          </p:stCondLst>
                                        </p:cTn>
                                        <p:tgtEl>
                                          <p:spTgt spid="263221"/>
                                        </p:tgtEl>
                                        <p:attrNameLst>
                                          <p:attrName>style.visibility</p:attrName>
                                        </p:attrNameLst>
                                      </p:cBhvr>
                                      <p:to>
                                        <p:strVal val="visible"/>
                                      </p:to>
                                    </p:set>
                                    <p:animEffect transition="in" filter="dissolve">
                                      <p:cBhvr>
                                        <p:cTn id="74" dur="500"/>
                                        <p:tgtEl>
                                          <p:spTgt spid="263221"/>
                                        </p:tgtEl>
                                      </p:cBhvr>
                                    </p:animEffect>
                                  </p:childTnLst>
                                  <p:subTnLst>
                                    <p:set>
                                      <p:cBhvr override="childStyle">
                                        <p:cTn dur="1" fill="hold" display="0" masterRel="nextClick" afterEffect="1"/>
                                        <p:tgtEl>
                                          <p:spTgt spid="263221"/>
                                        </p:tgtEl>
                                        <p:attrNameLst>
                                          <p:attrName>style.visibility</p:attrName>
                                        </p:attrNameLst>
                                      </p:cBhvr>
                                      <p:to>
                                        <p:strVal val="hidden"/>
                                      </p:to>
                                    </p:set>
                                  </p:subTnLst>
                                </p:cTn>
                              </p:par>
                            </p:childTnLst>
                          </p:cTn>
                        </p:par>
                        <p:par>
                          <p:cTn id="75" fill="hold">
                            <p:stCondLst>
                              <p:cond delay="2000"/>
                            </p:stCondLst>
                            <p:childTnLst>
                              <p:par>
                                <p:cTn id="76" presetID="9" presetClass="entr" presetSubtype="0" fill="hold" grpId="0" nodeType="afterEffect">
                                  <p:stCondLst>
                                    <p:cond delay="1000"/>
                                  </p:stCondLst>
                                  <p:childTnLst>
                                    <p:set>
                                      <p:cBhvr>
                                        <p:cTn id="77" dur="1" fill="hold">
                                          <p:stCondLst>
                                            <p:cond delay="0"/>
                                          </p:stCondLst>
                                        </p:cTn>
                                        <p:tgtEl>
                                          <p:spTgt spid="263220"/>
                                        </p:tgtEl>
                                        <p:attrNameLst>
                                          <p:attrName>style.visibility</p:attrName>
                                        </p:attrNameLst>
                                      </p:cBhvr>
                                      <p:to>
                                        <p:strVal val="visible"/>
                                      </p:to>
                                    </p:set>
                                    <p:animEffect transition="in" filter="dissolve">
                                      <p:cBhvr>
                                        <p:cTn id="78" dur="500"/>
                                        <p:tgtEl>
                                          <p:spTgt spid="263220"/>
                                        </p:tgtEl>
                                      </p:cBhvr>
                                    </p:animEffect>
                                  </p:childTnLst>
                                  <p:subTnLst>
                                    <p:set>
                                      <p:cBhvr override="childStyle">
                                        <p:cTn dur="1" fill="hold" display="0" masterRel="nextClick" afterEffect="1"/>
                                        <p:tgtEl>
                                          <p:spTgt spid="263220"/>
                                        </p:tgtEl>
                                        <p:attrNameLst>
                                          <p:attrName>style.visibility</p:attrName>
                                        </p:attrNameLst>
                                      </p:cBhvr>
                                      <p:to>
                                        <p:strVal val="hidden"/>
                                      </p:to>
                                    </p:set>
                                  </p:subTnLst>
                                </p:cTn>
                              </p:par>
                            </p:childTnLst>
                          </p:cTn>
                        </p:par>
                        <p:par>
                          <p:cTn id="79" fill="hold">
                            <p:stCondLst>
                              <p:cond delay="3500"/>
                            </p:stCondLst>
                            <p:childTnLst>
                              <p:par>
                                <p:cTn id="80" presetID="9" presetClass="entr" presetSubtype="0" fill="hold" grpId="0" nodeType="afterEffect">
                                  <p:stCondLst>
                                    <p:cond delay="1000"/>
                                  </p:stCondLst>
                                  <p:childTnLst>
                                    <p:set>
                                      <p:cBhvr>
                                        <p:cTn id="81" dur="1" fill="hold">
                                          <p:stCondLst>
                                            <p:cond delay="0"/>
                                          </p:stCondLst>
                                        </p:cTn>
                                        <p:tgtEl>
                                          <p:spTgt spid="263222"/>
                                        </p:tgtEl>
                                        <p:attrNameLst>
                                          <p:attrName>style.visibility</p:attrName>
                                        </p:attrNameLst>
                                      </p:cBhvr>
                                      <p:to>
                                        <p:strVal val="visible"/>
                                      </p:to>
                                    </p:set>
                                    <p:animEffect transition="in" filter="dissolve">
                                      <p:cBhvr>
                                        <p:cTn id="82" dur="500"/>
                                        <p:tgtEl>
                                          <p:spTgt spid="263222"/>
                                        </p:tgtEl>
                                      </p:cBhvr>
                                    </p:animEffect>
                                  </p:childTnLst>
                                </p:cTn>
                              </p:par>
                            </p:childTnLst>
                          </p:cTn>
                        </p:par>
                      </p:childTnLst>
                    </p:cTn>
                  </p:par>
                  <p:par>
                    <p:cTn id="83" fill="hold">
                      <p:stCondLst>
                        <p:cond delay="indefinite"/>
                      </p:stCondLst>
                      <p:childTnLst>
                        <p:par>
                          <p:cTn id="84" fill="hold">
                            <p:stCondLst>
                              <p:cond delay="0"/>
                            </p:stCondLst>
                            <p:childTnLst>
                              <p:par>
                                <p:cTn id="85" presetID="12" presetClass="entr" presetSubtype="4" fill="hold" nodeType="clickEffect">
                                  <p:stCondLst>
                                    <p:cond delay="0"/>
                                  </p:stCondLst>
                                  <p:childTnLst>
                                    <p:set>
                                      <p:cBhvr>
                                        <p:cTn id="86" dur="1" fill="hold">
                                          <p:stCondLst>
                                            <p:cond delay="0"/>
                                          </p:stCondLst>
                                        </p:cTn>
                                        <p:tgtEl>
                                          <p:spTgt spid="13"/>
                                        </p:tgtEl>
                                        <p:attrNameLst>
                                          <p:attrName>style.visibility</p:attrName>
                                        </p:attrNameLst>
                                      </p:cBhvr>
                                      <p:to>
                                        <p:strVal val="visible"/>
                                      </p:to>
                                    </p:set>
                                    <p:animEffect transition="in" filter="slide(fromBottom)">
                                      <p:cBhvr>
                                        <p:cTn id="87" dur="500"/>
                                        <p:tgtEl>
                                          <p:spTgt spid="1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6"/>
                                        </p:tgtEl>
                                        <p:attrNameLst>
                                          <p:attrName>style.visibility</p:attrName>
                                        </p:attrNameLst>
                                      </p:cBhvr>
                                      <p:to>
                                        <p:strVal val="visible"/>
                                      </p:to>
                                    </p:set>
                                    <p:animEffect transition="in" filter="wipe(left)">
                                      <p:cBhvr>
                                        <p:cTn id="92" dur="500"/>
                                        <p:tgtEl>
                                          <p:spTgt spid="6"/>
                                        </p:tgtEl>
                                      </p:cBhvr>
                                    </p:animEffect>
                                  </p:childTnLst>
                                </p:cTn>
                              </p:par>
                            </p:childTnLst>
                          </p:cTn>
                        </p:par>
                        <p:par>
                          <p:cTn id="93" fill="hold">
                            <p:stCondLst>
                              <p:cond delay="500"/>
                            </p:stCondLst>
                            <p:childTnLst>
                              <p:par>
                                <p:cTn id="94" presetID="22" presetClass="entr" presetSubtype="4" fill="hold" nodeType="afterEffect">
                                  <p:stCondLst>
                                    <p:cond delay="0"/>
                                  </p:stCondLst>
                                  <p:childTnLst>
                                    <p:set>
                                      <p:cBhvr>
                                        <p:cTn id="95" dur="1" fill="hold">
                                          <p:stCondLst>
                                            <p:cond delay="0"/>
                                          </p:stCondLst>
                                        </p:cTn>
                                        <p:tgtEl>
                                          <p:spTgt spid="9"/>
                                        </p:tgtEl>
                                        <p:attrNameLst>
                                          <p:attrName>style.visibility</p:attrName>
                                        </p:attrNameLst>
                                      </p:cBhvr>
                                      <p:to>
                                        <p:strVal val="visible"/>
                                      </p:to>
                                    </p:set>
                                    <p:animEffect transition="in" filter="wipe(down)">
                                      <p:cBhvr>
                                        <p:cTn id="96" dur="500"/>
                                        <p:tgtEl>
                                          <p:spTgt spid="9"/>
                                        </p:tgtEl>
                                      </p:cBhvr>
                                    </p:animEffect>
                                  </p:childTnLst>
                                </p:cTn>
                              </p:par>
                            </p:childTnLst>
                          </p:cTn>
                        </p:par>
                        <p:par>
                          <p:cTn id="97" fill="hold">
                            <p:stCondLst>
                              <p:cond delay="1000"/>
                            </p:stCondLst>
                            <p:childTnLst>
                              <p:par>
                                <p:cTn id="98" presetID="22" presetClass="entr" presetSubtype="4" fill="hold" nodeType="afterEffect">
                                  <p:stCondLst>
                                    <p:cond delay="0"/>
                                  </p:stCondLst>
                                  <p:childTnLst>
                                    <p:set>
                                      <p:cBhvr>
                                        <p:cTn id="99" dur="1" fill="hold">
                                          <p:stCondLst>
                                            <p:cond delay="0"/>
                                          </p:stCondLst>
                                        </p:cTn>
                                        <p:tgtEl>
                                          <p:spTgt spid="11"/>
                                        </p:tgtEl>
                                        <p:attrNameLst>
                                          <p:attrName>style.visibility</p:attrName>
                                        </p:attrNameLst>
                                      </p:cBhvr>
                                      <p:to>
                                        <p:strVal val="visible"/>
                                      </p:to>
                                    </p:set>
                                    <p:animEffect transition="in" filter="wipe(down)">
                                      <p:cBhvr>
                                        <p:cTn id="100" dur="500"/>
                                        <p:tgtEl>
                                          <p:spTgt spid="11"/>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7"/>
                                        </p:tgtEl>
                                        <p:attrNameLst>
                                          <p:attrName>style.visibility</p:attrName>
                                        </p:attrNameLst>
                                      </p:cBhvr>
                                      <p:to>
                                        <p:strVal val="visible"/>
                                      </p:to>
                                    </p:set>
                                    <p:animEffect transition="in" filter="wipe(left)">
                                      <p:cBhvr>
                                        <p:cTn id="105" dur="500"/>
                                        <p:tgtEl>
                                          <p:spTgt spid="7"/>
                                        </p:tgtEl>
                                      </p:cBhvr>
                                    </p:animEffect>
                                  </p:childTnLst>
                                </p:cTn>
                              </p:par>
                            </p:childTnLst>
                          </p:cTn>
                        </p:par>
                      </p:childTnLst>
                    </p:cTn>
                  </p:par>
                  <p:par>
                    <p:cTn id="106" fill="hold">
                      <p:stCondLst>
                        <p:cond delay="indefinite"/>
                      </p:stCondLst>
                      <p:childTnLst>
                        <p:par>
                          <p:cTn id="107" fill="hold">
                            <p:stCondLst>
                              <p:cond delay="0"/>
                            </p:stCondLst>
                            <p:childTnLst>
                              <p:par>
                                <p:cTn id="108" presetID="9" presetClass="entr" presetSubtype="0" fill="hold" grpId="0" nodeType="clickEffect">
                                  <p:stCondLst>
                                    <p:cond delay="0"/>
                                  </p:stCondLst>
                                  <p:childTnLst>
                                    <p:set>
                                      <p:cBhvr>
                                        <p:cTn id="109" dur="1" fill="hold">
                                          <p:stCondLst>
                                            <p:cond delay="0"/>
                                          </p:stCondLst>
                                        </p:cTn>
                                        <p:tgtEl>
                                          <p:spTgt spid="263225"/>
                                        </p:tgtEl>
                                        <p:attrNameLst>
                                          <p:attrName>style.visibility</p:attrName>
                                        </p:attrNameLst>
                                      </p:cBhvr>
                                      <p:to>
                                        <p:strVal val="visible"/>
                                      </p:to>
                                    </p:set>
                                    <p:animEffect transition="in" filter="dissolve">
                                      <p:cBhvr>
                                        <p:cTn id="110" dur="500"/>
                                        <p:tgtEl>
                                          <p:spTgt spid="263225"/>
                                        </p:tgtEl>
                                      </p:cBhvr>
                                    </p:animEffect>
                                  </p:childTnLst>
                                </p:cTn>
                              </p:par>
                            </p:childTnLst>
                          </p:cTn>
                        </p:par>
                      </p:childTnLst>
                    </p:cTn>
                  </p:par>
                  <p:par>
                    <p:cTn id="111" fill="hold">
                      <p:stCondLst>
                        <p:cond delay="indefinite"/>
                      </p:stCondLst>
                      <p:childTnLst>
                        <p:par>
                          <p:cTn id="112" fill="hold">
                            <p:stCondLst>
                              <p:cond delay="0"/>
                            </p:stCondLst>
                            <p:childTnLst>
                              <p:par>
                                <p:cTn id="113" presetID="9" presetClass="entr" presetSubtype="0" fill="hold" grpId="0" nodeType="clickEffect">
                                  <p:stCondLst>
                                    <p:cond delay="0"/>
                                  </p:stCondLst>
                                  <p:childTnLst>
                                    <p:set>
                                      <p:cBhvr>
                                        <p:cTn id="114" dur="1" fill="hold">
                                          <p:stCondLst>
                                            <p:cond delay="0"/>
                                          </p:stCondLst>
                                        </p:cTn>
                                        <p:tgtEl>
                                          <p:spTgt spid="263226"/>
                                        </p:tgtEl>
                                        <p:attrNameLst>
                                          <p:attrName>style.visibility</p:attrName>
                                        </p:attrNameLst>
                                      </p:cBhvr>
                                      <p:to>
                                        <p:strVal val="visible"/>
                                      </p:to>
                                    </p:set>
                                    <p:animEffect transition="in" filter="dissolve">
                                      <p:cBhvr>
                                        <p:cTn id="115" dur="500"/>
                                        <p:tgtEl>
                                          <p:spTgt spid="263226"/>
                                        </p:tgtEl>
                                      </p:cBhvr>
                                    </p:animEffect>
                                  </p:childTnLst>
                                </p:cTn>
                              </p:par>
                            </p:childTnLst>
                          </p:cTn>
                        </p:par>
                      </p:childTnLst>
                    </p:cTn>
                  </p:par>
                  <p:par>
                    <p:cTn id="116" fill="hold">
                      <p:stCondLst>
                        <p:cond delay="indefinite"/>
                      </p:stCondLst>
                      <p:childTnLst>
                        <p:par>
                          <p:cTn id="117" fill="hold">
                            <p:stCondLst>
                              <p:cond delay="0"/>
                            </p:stCondLst>
                            <p:childTnLst>
                              <p:par>
                                <p:cTn id="118" presetID="9" presetClass="entr" presetSubtype="0" fill="hold" grpId="0" nodeType="clickEffect">
                                  <p:stCondLst>
                                    <p:cond delay="0"/>
                                  </p:stCondLst>
                                  <p:childTnLst>
                                    <p:set>
                                      <p:cBhvr>
                                        <p:cTn id="119" dur="1" fill="hold">
                                          <p:stCondLst>
                                            <p:cond delay="0"/>
                                          </p:stCondLst>
                                        </p:cTn>
                                        <p:tgtEl>
                                          <p:spTgt spid="263227"/>
                                        </p:tgtEl>
                                        <p:attrNameLst>
                                          <p:attrName>style.visibility</p:attrName>
                                        </p:attrNameLst>
                                      </p:cBhvr>
                                      <p:to>
                                        <p:strVal val="visible"/>
                                      </p:to>
                                    </p:set>
                                    <p:animEffect transition="in" filter="dissolve">
                                      <p:cBhvr>
                                        <p:cTn id="120" dur="500"/>
                                        <p:tgtEl>
                                          <p:spTgt spid="263227"/>
                                        </p:tgtEl>
                                      </p:cBhvr>
                                    </p:animEffect>
                                  </p:childTnLst>
                                </p:cTn>
                              </p:par>
                            </p:childTnLst>
                          </p:cTn>
                        </p:par>
                      </p:childTnLst>
                    </p:cTn>
                  </p:par>
                  <p:par>
                    <p:cTn id="121" fill="hold">
                      <p:stCondLst>
                        <p:cond delay="indefinite"/>
                      </p:stCondLst>
                      <p:childTnLst>
                        <p:par>
                          <p:cTn id="122" fill="hold">
                            <p:stCondLst>
                              <p:cond delay="0"/>
                            </p:stCondLst>
                            <p:childTnLst>
                              <p:par>
                                <p:cTn id="123" presetID="9" presetClass="entr" presetSubtype="0" fill="hold" grpId="0" nodeType="clickEffect">
                                  <p:stCondLst>
                                    <p:cond delay="0"/>
                                  </p:stCondLst>
                                  <p:childTnLst>
                                    <p:set>
                                      <p:cBhvr>
                                        <p:cTn id="124" dur="1" fill="hold">
                                          <p:stCondLst>
                                            <p:cond delay="0"/>
                                          </p:stCondLst>
                                        </p:cTn>
                                        <p:tgtEl>
                                          <p:spTgt spid="263228"/>
                                        </p:tgtEl>
                                        <p:attrNameLst>
                                          <p:attrName>style.visibility</p:attrName>
                                        </p:attrNameLst>
                                      </p:cBhvr>
                                      <p:to>
                                        <p:strVal val="visible"/>
                                      </p:to>
                                    </p:set>
                                    <p:animEffect transition="in" filter="dissolve">
                                      <p:cBhvr>
                                        <p:cTn id="125" dur="500"/>
                                        <p:tgtEl>
                                          <p:spTgt spid="263228"/>
                                        </p:tgtEl>
                                      </p:cBhvr>
                                    </p:animEffect>
                                  </p:childTnLst>
                                </p:cTn>
                              </p:par>
                            </p:childTnLst>
                          </p:cTn>
                        </p:par>
                      </p:childTnLst>
                    </p:cTn>
                  </p:par>
                  <p:par>
                    <p:cTn id="126" fill="hold">
                      <p:stCondLst>
                        <p:cond delay="indefinite"/>
                      </p:stCondLst>
                      <p:childTnLst>
                        <p:par>
                          <p:cTn id="127" fill="hold">
                            <p:stCondLst>
                              <p:cond delay="0"/>
                            </p:stCondLst>
                            <p:childTnLst>
                              <p:par>
                                <p:cTn id="128" presetID="9" presetClass="entr" presetSubtype="0" fill="hold" grpId="0" nodeType="clickEffect">
                                  <p:stCondLst>
                                    <p:cond delay="0"/>
                                  </p:stCondLst>
                                  <p:childTnLst>
                                    <p:set>
                                      <p:cBhvr>
                                        <p:cTn id="129" dur="1" fill="hold">
                                          <p:stCondLst>
                                            <p:cond delay="0"/>
                                          </p:stCondLst>
                                        </p:cTn>
                                        <p:tgtEl>
                                          <p:spTgt spid="263229"/>
                                        </p:tgtEl>
                                        <p:attrNameLst>
                                          <p:attrName>style.visibility</p:attrName>
                                        </p:attrNameLst>
                                      </p:cBhvr>
                                      <p:to>
                                        <p:strVal val="visible"/>
                                      </p:to>
                                    </p:set>
                                    <p:animEffect transition="in" filter="dissolve">
                                      <p:cBhvr>
                                        <p:cTn id="130" dur="500"/>
                                        <p:tgtEl>
                                          <p:spTgt spid="263229"/>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17"/>
                                        </p:tgtEl>
                                        <p:attrNameLst>
                                          <p:attrName>style.visibility</p:attrName>
                                        </p:attrNameLst>
                                      </p:cBhvr>
                                      <p:to>
                                        <p:strVal val="visible"/>
                                      </p:to>
                                    </p:set>
                                    <p:animEffect transition="in" filter="wipe(left)">
                                      <p:cBhvr>
                                        <p:cTn id="135" dur="500"/>
                                        <p:tgtEl>
                                          <p:spTgt spid="17"/>
                                        </p:tgtEl>
                                      </p:cBhvr>
                                    </p:animEffect>
                                  </p:childTnLst>
                                </p:cTn>
                              </p:par>
                            </p:childTnLst>
                          </p:cTn>
                        </p:par>
                        <p:par>
                          <p:cTn id="136" fill="hold">
                            <p:stCondLst>
                              <p:cond delay="500"/>
                            </p:stCondLst>
                            <p:childTnLst>
                              <p:par>
                                <p:cTn id="137" presetID="22" presetClass="entr" presetSubtype="8" fill="hold" grpId="0" nodeType="afterEffect">
                                  <p:stCondLst>
                                    <p:cond delay="0"/>
                                  </p:stCondLst>
                                  <p:childTnLst>
                                    <p:set>
                                      <p:cBhvr>
                                        <p:cTn id="138" dur="1" fill="hold">
                                          <p:stCondLst>
                                            <p:cond delay="0"/>
                                          </p:stCondLst>
                                        </p:cTn>
                                        <p:tgtEl>
                                          <p:spTgt spid="263235"/>
                                        </p:tgtEl>
                                        <p:attrNameLst>
                                          <p:attrName>style.visibility</p:attrName>
                                        </p:attrNameLst>
                                      </p:cBhvr>
                                      <p:to>
                                        <p:strVal val="visible"/>
                                      </p:to>
                                    </p:set>
                                    <p:animEffect transition="in" filter="wipe(left)">
                                      <p:cBhvr>
                                        <p:cTn id="139" dur="500"/>
                                        <p:tgtEl>
                                          <p:spTgt spid="263235"/>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nodeType="clickEffect">
                                  <p:stCondLst>
                                    <p:cond delay="0"/>
                                  </p:stCondLst>
                                  <p:childTnLst>
                                    <p:set>
                                      <p:cBhvr>
                                        <p:cTn id="143" dur="1" fill="hold">
                                          <p:stCondLst>
                                            <p:cond delay="0"/>
                                          </p:stCondLst>
                                        </p:cTn>
                                        <p:tgtEl>
                                          <p:spTgt spid="20"/>
                                        </p:tgtEl>
                                        <p:attrNameLst>
                                          <p:attrName>style.visibility</p:attrName>
                                        </p:attrNameLst>
                                      </p:cBhvr>
                                      <p:to>
                                        <p:strVal val="visible"/>
                                      </p:to>
                                    </p:set>
                                    <p:animEffect transition="in" filter="wipe(left)">
                                      <p:cBhvr>
                                        <p:cTn id="1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3" grpId="0"/>
      <p:bldP spid="263174" grpId="0"/>
      <p:bldP spid="263175" grpId="0"/>
      <p:bldP spid="263176" grpId="0" bldLvl="0" animBg="1"/>
      <p:bldP spid="263191" grpId="0"/>
      <p:bldP spid="263220" grpId="0" bldLvl="0" animBg="1"/>
      <p:bldP spid="263221" grpId="0" bldLvl="0" animBg="1"/>
      <p:bldP spid="263222" grpId="0" bldLvl="0" animBg="1"/>
      <p:bldP spid="263223" grpId="0" bldLvl="0" animBg="1"/>
      <p:bldP spid="263224" grpId="0"/>
      <p:bldP spid="263225" grpId="0"/>
      <p:bldP spid="263226" grpId="0"/>
      <p:bldP spid="263227" grpId="0"/>
      <p:bldP spid="263228" grpId="0"/>
      <p:bldP spid="263229" grpId="0" bldLvl="0" animBg="1"/>
      <p:bldP spid="263235" grpId="0" bldLvl="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901" name="Text Box 1029"/>
          <p:cNvSpPr txBox="1">
            <a:spLocks noChangeArrowheads="1"/>
          </p:cNvSpPr>
          <p:nvPr/>
        </p:nvSpPr>
        <p:spPr bwMode="auto">
          <a:xfrm>
            <a:off x="342000" y="504000"/>
            <a:ext cx="868500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lnSpc>
                <a:spcPct val="150000"/>
              </a:lnSpc>
              <a:spcBef>
                <a:spcPct val="50000"/>
              </a:spcBef>
              <a:buClrTx/>
              <a:buSzTx/>
              <a:buFontTx/>
              <a:buNone/>
            </a:pPr>
            <a:r>
              <a:rPr lang="zh-CN" altLang="en-US" sz="2200" dirty="0">
                <a:solidFill>
                  <a:srgbClr val="FF0000"/>
                </a:solidFill>
                <a:latin typeface="Times New Roman" panose="02020603050405020304" pitchFamily="18" charset="0"/>
                <a:ea typeface="黑体" panose="02010609060101010101" pitchFamily="49" charset="-122"/>
              </a:rPr>
              <a:t>例题</a:t>
            </a:r>
            <a:r>
              <a:rPr lang="en-US" altLang="zh-CN" sz="2200" dirty="0">
                <a:solidFill>
                  <a:srgbClr val="FF0000"/>
                </a:solidFill>
                <a:latin typeface="Times New Roman" panose="02020603050405020304" pitchFamily="18" charset="0"/>
                <a:ea typeface="黑体" panose="02010609060101010101" pitchFamily="49" charset="-122"/>
              </a:rPr>
              <a:t>1</a:t>
            </a:r>
            <a:r>
              <a:rPr lang="zh-CN" altLang="en-US" sz="2200" dirty="0">
                <a:solidFill>
                  <a:srgbClr val="FF0000"/>
                </a:solidFill>
                <a:latin typeface="Times New Roman" panose="02020603050405020304" pitchFamily="18" charset="0"/>
                <a:ea typeface="黑体" panose="02010609060101010101" pitchFamily="49" charset="-122"/>
              </a:rPr>
              <a:t>：</a:t>
            </a:r>
            <a:r>
              <a:rPr lang="zh-CN" altLang="en-US" sz="2200" dirty="0">
                <a:solidFill>
                  <a:srgbClr val="002060"/>
                </a:solidFill>
                <a:latin typeface="Times New Roman" panose="02020603050405020304" pitchFamily="18" charset="0"/>
                <a:ea typeface="黑体" panose="02010609060101010101" pitchFamily="49" charset="-122"/>
              </a:rPr>
              <a:t>一零件受稳定循环变应力作用，最大应力</a:t>
            </a:r>
            <a:r>
              <a:rPr lang="en-US" altLang="zh-CN" sz="2200" i="1" dirty="0" err="1">
                <a:solidFill>
                  <a:srgbClr val="002060"/>
                </a:solidFill>
                <a:latin typeface="Times New Roman" panose="02020603050405020304" pitchFamily="18" charset="0"/>
                <a:ea typeface="楷体_GB2312" pitchFamily="49" charset="-122"/>
              </a:rPr>
              <a:t>σ</a:t>
            </a:r>
            <a:r>
              <a:rPr lang="en-US" altLang="zh-CN" sz="2200" baseline="-16000" dirty="0" err="1">
                <a:solidFill>
                  <a:srgbClr val="002060"/>
                </a:solidFill>
                <a:latin typeface="Times New Roman" panose="02020603050405020304" pitchFamily="18" charset="0"/>
                <a:ea typeface="黑体" panose="02010609060101010101" pitchFamily="49" charset="-122"/>
              </a:rPr>
              <a:t>max</a:t>
            </a:r>
            <a:r>
              <a:rPr lang="zh-CN" altLang="en-US" sz="2200" dirty="0">
                <a:solidFill>
                  <a:srgbClr val="002060"/>
                </a:solidFill>
                <a:latin typeface="Times New Roman" panose="02020603050405020304" pitchFamily="18" charset="0"/>
                <a:ea typeface="黑体" panose="02010609060101010101" pitchFamily="49" charset="-122"/>
              </a:rPr>
              <a:t>＝</a:t>
            </a:r>
            <a:r>
              <a:rPr lang="en-US" altLang="zh-CN" sz="2200" dirty="0">
                <a:solidFill>
                  <a:srgbClr val="002060"/>
                </a:solidFill>
                <a:latin typeface="Times New Roman" panose="02020603050405020304" pitchFamily="18" charset="0"/>
                <a:ea typeface="黑体" panose="02010609060101010101" pitchFamily="49" charset="-122"/>
              </a:rPr>
              <a:t>460MPa</a:t>
            </a:r>
            <a:r>
              <a:rPr lang="zh-CN" altLang="en-US" sz="2200" dirty="0">
                <a:solidFill>
                  <a:srgbClr val="002060"/>
                </a:solidFill>
                <a:latin typeface="Times New Roman" panose="02020603050405020304" pitchFamily="18" charset="0"/>
                <a:ea typeface="黑体" panose="02010609060101010101" pitchFamily="49" charset="-122"/>
              </a:rPr>
              <a:t>，平均应力</a:t>
            </a:r>
            <a:r>
              <a:rPr lang="en-US" altLang="zh-CN" sz="2200" i="1" dirty="0" err="1">
                <a:solidFill>
                  <a:srgbClr val="002060"/>
                </a:solidFill>
                <a:latin typeface="Times New Roman" panose="02020603050405020304" pitchFamily="18" charset="0"/>
                <a:ea typeface="楷体_GB2312" pitchFamily="49" charset="-122"/>
              </a:rPr>
              <a:t>σ</a:t>
            </a:r>
            <a:r>
              <a:rPr lang="en-US" altLang="zh-CN" sz="2200" baseline="-16000" dirty="0" err="1">
                <a:solidFill>
                  <a:srgbClr val="002060"/>
                </a:solidFill>
                <a:latin typeface="Times New Roman" panose="02020603050405020304" pitchFamily="18" charset="0"/>
                <a:ea typeface="黑体" panose="02010609060101010101" pitchFamily="49" charset="-122"/>
              </a:rPr>
              <a:t>m</a:t>
            </a:r>
            <a:r>
              <a:rPr lang="zh-CN" altLang="en-US" sz="2200" dirty="0">
                <a:solidFill>
                  <a:srgbClr val="002060"/>
                </a:solidFill>
                <a:latin typeface="Times New Roman" panose="02020603050405020304" pitchFamily="18" charset="0"/>
                <a:ea typeface="黑体" panose="02010609060101010101" pitchFamily="49" charset="-122"/>
              </a:rPr>
              <a:t>＝</a:t>
            </a:r>
            <a:r>
              <a:rPr lang="en-US" altLang="zh-CN" sz="2200" dirty="0">
                <a:solidFill>
                  <a:srgbClr val="002060"/>
                </a:solidFill>
                <a:latin typeface="Times New Roman" panose="02020603050405020304" pitchFamily="18" charset="0"/>
                <a:ea typeface="黑体" panose="02010609060101010101" pitchFamily="49" charset="-122"/>
              </a:rPr>
              <a:t>380MPa</a:t>
            </a:r>
            <a:r>
              <a:rPr lang="zh-CN" altLang="en-US" sz="2200" dirty="0">
                <a:solidFill>
                  <a:srgbClr val="002060"/>
                </a:solidFill>
                <a:latin typeface="Times New Roman" panose="02020603050405020304" pitchFamily="18" charset="0"/>
                <a:ea typeface="黑体" panose="02010609060101010101" pitchFamily="49" charset="-122"/>
              </a:rPr>
              <a:t>，试求最小应力</a:t>
            </a:r>
            <a:r>
              <a:rPr lang="en-US" altLang="zh-CN" sz="2200" i="1" dirty="0" err="1">
                <a:solidFill>
                  <a:srgbClr val="002060"/>
                </a:solidFill>
                <a:latin typeface="Times New Roman" panose="02020603050405020304" pitchFamily="18" charset="0"/>
                <a:ea typeface="楷体_GB2312" pitchFamily="49" charset="-122"/>
              </a:rPr>
              <a:t>σ</a:t>
            </a:r>
            <a:r>
              <a:rPr lang="en-US" altLang="zh-CN" sz="2200" baseline="-16000" dirty="0" err="1">
                <a:solidFill>
                  <a:srgbClr val="002060"/>
                </a:solidFill>
                <a:latin typeface="Times New Roman" panose="02020603050405020304" pitchFamily="18" charset="0"/>
                <a:ea typeface="黑体" panose="02010609060101010101" pitchFamily="49" charset="-122"/>
              </a:rPr>
              <a:t>min</a:t>
            </a:r>
            <a:r>
              <a:rPr lang="en-US" altLang="zh-CN" sz="2200" dirty="0">
                <a:solidFill>
                  <a:srgbClr val="002060"/>
                </a:solidFill>
                <a:latin typeface="Times New Roman" panose="02020603050405020304" pitchFamily="18" charset="0"/>
                <a:ea typeface="方正大黑简体" pitchFamily="2" charset="-122"/>
              </a:rPr>
              <a:t> </a:t>
            </a:r>
            <a:r>
              <a:rPr lang="zh-CN" altLang="en-US" sz="2200" dirty="0">
                <a:solidFill>
                  <a:srgbClr val="002060"/>
                </a:solidFill>
                <a:latin typeface="Times New Roman" panose="02020603050405020304" pitchFamily="18" charset="0"/>
              </a:rPr>
              <a:t>、应力比</a:t>
            </a:r>
            <a:r>
              <a:rPr lang="zh-CN" altLang="en-US" sz="2200" dirty="0">
                <a:solidFill>
                  <a:srgbClr val="002060"/>
                </a:solidFill>
                <a:latin typeface="Times New Roman" panose="02020603050405020304" pitchFamily="18" charset="0"/>
                <a:ea typeface="黑体" panose="02010609060101010101" pitchFamily="49" charset="-122"/>
              </a:rPr>
              <a:t> </a:t>
            </a:r>
            <a:r>
              <a:rPr lang="en-US" altLang="zh-CN" sz="2200" i="1" dirty="0">
                <a:solidFill>
                  <a:srgbClr val="002060"/>
                </a:solidFill>
                <a:latin typeface="Times New Roman" panose="02020603050405020304" pitchFamily="18" charset="0"/>
                <a:ea typeface="黑体" panose="02010609060101010101" pitchFamily="49" charset="-122"/>
              </a:rPr>
              <a:t>r </a:t>
            </a:r>
            <a:r>
              <a:rPr lang="en-US" altLang="zh-CN" sz="2200" dirty="0">
                <a:solidFill>
                  <a:srgbClr val="002060"/>
                </a:solidFill>
                <a:latin typeface="Times New Roman" panose="02020603050405020304" pitchFamily="18" charset="0"/>
                <a:ea typeface="黑体" panose="02010609060101010101" pitchFamily="49" charset="-122"/>
              </a:rPr>
              <a:t> </a:t>
            </a:r>
            <a:r>
              <a:rPr lang="zh-CN" altLang="en-US" sz="2200" dirty="0">
                <a:solidFill>
                  <a:srgbClr val="002060"/>
                </a:solidFill>
                <a:latin typeface="Times New Roman" panose="02020603050405020304" pitchFamily="18" charset="0"/>
                <a:ea typeface="黑体" panose="02010609060101010101" pitchFamily="49" charset="-122"/>
              </a:rPr>
              <a:t>及应力幅</a:t>
            </a:r>
            <a:r>
              <a:rPr lang="en-US" altLang="zh-CN" sz="2200" i="1" dirty="0" err="1">
                <a:solidFill>
                  <a:srgbClr val="002060"/>
                </a:solidFill>
                <a:latin typeface="Times New Roman" panose="02020603050405020304" pitchFamily="18" charset="0"/>
                <a:ea typeface="楷体_GB2312" pitchFamily="49" charset="-122"/>
              </a:rPr>
              <a:t>σ</a:t>
            </a:r>
            <a:r>
              <a:rPr lang="en-US" altLang="zh-CN" sz="2200" baseline="-16000" dirty="0" err="1">
                <a:solidFill>
                  <a:srgbClr val="002060"/>
                </a:solidFill>
                <a:latin typeface="Times New Roman" panose="02020603050405020304" pitchFamily="18" charset="0"/>
                <a:ea typeface="黑体" panose="02010609060101010101" pitchFamily="49" charset="-122"/>
              </a:rPr>
              <a:t>a</a:t>
            </a:r>
            <a:r>
              <a:rPr lang="en-US" altLang="zh-CN" sz="2200" baseline="-16000" dirty="0">
                <a:solidFill>
                  <a:srgbClr val="002060"/>
                </a:solidFill>
                <a:latin typeface="Times New Roman" panose="02020603050405020304" pitchFamily="18" charset="0"/>
                <a:ea typeface="黑体" panose="02010609060101010101" pitchFamily="49" charset="-122"/>
              </a:rPr>
              <a:t> </a:t>
            </a:r>
            <a:r>
              <a:rPr lang="zh-CN" altLang="en-US" sz="2200" dirty="0">
                <a:solidFill>
                  <a:srgbClr val="002060"/>
                </a:solidFill>
                <a:latin typeface="Times New Roman" panose="02020603050405020304" pitchFamily="18" charset="0"/>
                <a:ea typeface="黑体" panose="02010609060101010101" pitchFamily="49" charset="-122"/>
              </a:rPr>
              <a:t>。</a:t>
            </a:r>
            <a:endParaRPr lang="zh-CN" altLang="en-US" sz="2200" dirty="0">
              <a:solidFill>
                <a:srgbClr val="002060"/>
              </a:solidFill>
              <a:latin typeface="Times New Roman" panose="02020603050405020304" pitchFamily="18" charset="0"/>
              <a:ea typeface="黑体" panose="02010609060101010101" pitchFamily="49" charset="-122"/>
            </a:endParaRPr>
          </a:p>
        </p:txBody>
      </p:sp>
      <p:sp>
        <p:nvSpPr>
          <p:cNvPr id="336902" name="Text Box 1030"/>
          <p:cNvSpPr txBox="1">
            <a:spLocks noChangeArrowheads="1"/>
          </p:cNvSpPr>
          <p:nvPr/>
        </p:nvSpPr>
        <p:spPr bwMode="auto">
          <a:xfrm>
            <a:off x="685800" y="1655763"/>
            <a:ext cx="237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解：</a:t>
            </a:r>
            <a:endParaRPr lang="zh-CN" altLang="en-US" sz="2400">
              <a:solidFill>
                <a:schemeClr val="hlink"/>
              </a:solidFill>
              <a:latin typeface="Times New Roman" panose="02020603050405020304" pitchFamily="18" charset="0"/>
              <a:ea typeface="黑体" panose="02010609060101010101" pitchFamily="49" charset="-122"/>
            </a:endParaRPr>
          </a:p>
        </p:txBody>
      </p:sp>
      <p:sp>
        <p:nvSpPr>
          <p:cNvPr id="336903" name="Text Box 1031"/>
          <p:cNvSpPr txBox="1">
            <a:spLocks noChangeArrowheads="1"/>
          </p:cNvSpPr>
          <p:nvPr/>
        </p:nvSpPr>
        <p:spPr bwMode="auto">
          <a:xfrm>
            <a:off x="1030288" y="2173288"/>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由公式</a:t>
            </a:r>
            <a:endParaRPr lang="zh-CN" altLang="en-US" sz="2400">
              <a:solidFill>
                <a:schemeClr val="hlink"/>
              </a:solidFill>
              <a:latin typeface="Times New Roman" panose="02020603050405020304" pitchFamily="18" charset="0"/>
              <a:ea typeface="黑体" panose="02010609060101010101" pitchFamily="49" charset="-122"/>
            </a:endParaRPr>
          </a:p>
        </p:txBody>
      </p:sp>
      <p:graphicFrame>
        <p:nvGraphicFramePr>
          <p:cNvPr id="336904" name="Object 1032"/>
          <p:cNvGraphicFramePr>
            <a:graphicFrameLocks noChangeAspect="1"/>
          </p:cNvGraphicFramePr>
          <p:nvPr/>
        </p:nvGraphicFramePr>
        <p:xfrm>
          <a:off x="2249488" y="2100263"/>
          <a:ext cx="2703512" cy="758825"/>
        </p:xfrm>
        <a:graphic>
          <a:graphicData uri="http://schemas.openxmlformats.org/presentationml/2006/ole">
            <mc:AlternateContent xmlns:mc="http://schemas.openxmlformats.org/markup-compatibility/2006">
              <mc:Choice xmlns:v="urn:schemas-microsoft-com:vml" Requires="v">
                <p:oleObj spid="_x0000_s2" name="Equation" r:id="rId1" imgW="1116965" imgH="393700" progId="Equation.3">
                  <p:embed/>
                </p:oleObj>
              </mc:Choice>
              <mc:Fallback>
                <p:oleObj name="Equation" r:id="rId1" imgW="1116965" imgH="393700" progId="Equation.3">
                  <p:embed/>
                  <p:pic>
                    <p:nvPicPr>
                      <p:cNvPr id="0" name="Picture 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9488" y="2100263"/>
                        <a:ext cx="2703512"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6905" name="Text Box 1033"/>
          <p:cNvSpPr txBox="1">
            <a:spLocks noChangeArrowheads="1"/>
          </p:cNvSpPr>
          <p:nvPr/>
        </p:nvSpPr>
        <p:spPr bwMode="auto">
          <a:xfrm>
            <a:off x="4949825" y="2179638"/>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得</a:t>
            </a:r>
            <a:endParaRPr lang="zh-CN" altLang="en-US" sz="2400">
              <a:solidFill>
                <a:schemeClr val="hlink"/>
              </a:solidFill>
              <a:latin typeface="Times New Roman" panose="02020603050405020304" pitchFamily="18" charset="0"/>
              <a:ea typeface="黑体" panose="02010609060101010101" pitchFamily="49" charset="-122"/>
            </a:endParaRPr>
          </a:p>
        </p:txBody>
      </p:sp>
      <p:graphicFrame>
        <p:nvGraphicFramePr>
          <p:cNvPr id="336906" name="Object 1034"/>
          <p:cNvGraphicFramePr>
            <a:graphicFrameLocks noChangeAspect="1"/>
          </p:cNvGraphicFramePr>
          <p:nvPr/>
        </p:nvGraphicFramePr>
        <p:xfrm>
          <a:off x="2057400" y="3011488"/>
          <a:ext cx="6789738" cy="441325"/>
        </p:xfrm>
        <a:graphic>
          <a:graphicData uri="http://schemas.openxmlformats.org/presentationml/2006/ole">
            <mc:AlternateContent xmlns:mc="http://schemas.openxmlformats.org/markup-compatibility/2006">
              <mc:Choice xmlns:v="urn:schemas-microsoft-com:vml" Requires="v">
                <p:oleObj spid="_x0000_s3" name="Equation" r:id="rId3" imgW="2806700" imgH="228600" progId="Equation.3">
                  <p:embed/>
                </p:oleObj>
              </mc:Choice>
              <mc:Fallback>
                <p:oleObj name="Equation" r:id="rId3" imgW="2806700" imgH="228600" progId="Equation.3">
                  <p:embed/>
                  <p:pic>
                    <p:nvPicPr>
                      <p:cNvPr id="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3011488"/>
                        <a:ext cx="6789738"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6908" name="Object 1036"/>
          <p:cNvGraphicFramePr>
            <a:graphicFrameLocks noChangeAspect="1"/>
          </p:cNvGraphicFramePr>
          <p:nvPr/>
        </p:nvGraphicFramePr>
        <p:xfrm>
          <a:off x="2502000" y="3609000"/>
          <a:ext cx="3594100" cy="833437"/>
        </p:xfrm>
        <a:graphic>
          <a:graphicData uri="http://schemas.openxmlformats.org/presentationml/2006/ole">
            <mc:AlternateContent xmlns:mc="http://schemas.openxmlformats.org/markup-compatibility/2006">
              <mc:Choice xmlns:v="urn:schemas-microsoft-com:vml" Requires="v">
                <p:oleObj spid="_x0000_s4" name="Equation" r:id="rId5" imgW="1485900" imgH="431800" progId="Equation.3">
                  <p:embed/>
                </p:oleObj>
              </mc:Choice>
              <mc:Fallback>
                <p:oleObj name="Equation" r:id="rId5" imgW="1485900" imgH="431800" progId="Equation.3">
                  <p:embed/>
                  <p:pic>
                    <p:nvPicPr>
                      <p:cNvPr id="0"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2000" y="3609000"/>
                        <a:ext cx="3594100" cy="833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6909" name="Object 1037"/>
          <p:cNvGraphicFramePr>
            <a:graphicFrameLocks noChangeAspect="1"/>
          </p:cNvGraphicFramePr>
          <p:nvPr/>
        </p:nvGraphicFramePr>
        <p:xfrm>
          <a:off x="2362200" y="4867275"/>
          <a:ext cx="5989638" cy="758825"/>
        </p:xfrm>
        <a:graphic>
          <a:graphicData uri="http://schemas.openxmlformats.org/presentationml/2006/ole">
            <mc:AlternateContent xmlns:mc="http://schemas.openxmlformats.org/markup-compatibility/2006">
              <mc:Choice xmlns:v="urn:schemas-microsoft-com:vml" Requires="v">
                <p:oleObj spid="_x0000_s5" name="Equation" r:id="rId7" imgW="2476500" imgH="393700" progId="Equation.3">
                  <p:embed/>
                </p:oleObj>
              </mc:Choice>
              <mc:Fallback>
                <p:oleObj name="Equation" r:id="rId7" imgW="2476500" imgH="393700" progId="Equation.3">
                  <p:embed/>
                  <p:pic>
                    <p:nvPicPr>
                      <p:cNvPr id="0" name="Picture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4867275"/>
                        <a:ext cx="5989638"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6910" name="Text Box 1038"/>
          <p:cNvSpPr txBox="1">
            <a:spLocks noChangeArrowheads="1"/>
          </p:cNvSpPr>
          <p:nvPr/>
        </p:nvSpPr>
        <p:spPr bwMode="auto">
          <a:xfrm>
            <a:off x="611188" y="3873500"/>
            <a:ext cx="1524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应力比</a:t>
            </a:r>
            <a:endParaRPr lang="zh-CN" altLang="en-US" sz="2400">
              <a:solidFill>
                <a:schemeClr val="hlink"/>
              </a:solidFill>
              <a:latin typeface="Times New Roman" panose="02020603050405020304" pitchFamily="18" charset="0"/>
              <a:ea typeface="黑体" panose="02010609060101010101" pitchFamily="49" charset="-122"/>
            </a:endParaRPr>
          </a:p>
        </p:txBody>
      </p:sp>
      <p:sp>
        <p:nvSpPr>
          <p:cNvPr id="336911" name="Text Box 1039"/>
          <p:cNvSpPr txBox="1">
            <a:spLocks noChangeArrowheads="1"/>
          </p:cNvSpPr>
          <p:nvPr/>
        </p:nvSpPr>
        <p:spPr bwMode="auto">
          <a:xfrm>
            <a:off x="615950" y="50165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应力幅</a:t>
            </a:r>
            <a:endParaRPr lang="zh-CN" altLang="en-US" sz="2400">
              <a:solidFill>
                <a:schemeClr val="hlink"/>
              </a:solidFill>
              <a:latin typeface="Times New Roman" panose="02020603050405020304" pitchFamily="18" charset="0"/>
              <a:ea typeface="黑体" panose="02010609060101010101" pitchFamily="49" charset="-122"/>
            </a:endParaRPr>
          </a:p>
        </p:txBody>
      </p:sp>
      <p:sp>
        <p:nvSpPr>
          <p:cNvPr id="336912" name="Text Box 1040"/>
          <p:cNvSpPr txBox="1">
            <a:spLocks noChangeArrowheads="1"/>
          </p:cNvSpPr>
          <p:nvPr/>
        </p:nvSpPr>
        <p:spPr bwMode="auto">
          <a:xfrm>
            <a:off x="612775" y="2997200"/>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l"/>
              <a:defRPr kumimoji="1" sz="32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accent1"/>
              </a:buClr>
              <a:buSzPct val="100000"/>
              <a:buChar char="–"/>
              <a:defRPr kumimoji="1" sz="28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accent2"/>
              </a:buClr>
              <a:buSzPct val="100000"/>
              <a:buChar char="»"/>
              <a:defRPr kumimoji="1" sz="24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SzPct val="65000"/>
              <a:buFont typeface="Monotype Sorts" pitchFamily="2" charset="2"/>
              <a:buChar char="l"/>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SzPct val="100000"/>
              <a:buChar char="–"/>
              <a:defRPr kumimoji="1" sz="2000">
                <a:solidFill>
                  <a:schemeClr val="tx1"/>
                </a:solidFill>
                <a:latin typeface="Book Antiqua" panose="02040602050305030304" pitchFamily="18" charset="0"/>
                <a:ea typeface="宋体" panose="02010600030101010101" pitchFamily="2" charset="-122"/>
              </a:defRPr>
            </a:lvl9pPr>
          </a:lstStyle>
          <a:p>
            <a:pPr eaLnBrk="1" hangingPunct="1">
              <a:spcBef>
                <a:spcPct val="50000"/>
              </a:spcBef>
              <a:buClrTx/>
              <a:buSzTx/>
              <a:buFontTx/>
              <a:buNone/>
            </a:pPr>
            <a:r>
              <a:rPr lang="zh-CN" altLang="en-US" sz="2400">
                <a:solidFill>
                  <a:schemeClr val="hlink"/>
                </a:solidFill>
                <a:latin typeface="Times New Roman" panose="02020603050405020304" pitchFamily="18" charset="0"/>
                <a:ea typeface="黑体" panose="02010609060101010101" pitchFamily="49" charset="-122"/>
              </a:rPr>
              <a:t>最小应力</a:t>
            </a:r>
            <a:endParaRPr lang="zh-CN" altLang="en-US" sz="2400">
              <a:solidFill>
                <a:schemeClr val="hlink"/>
              </a:solidFill>
              <a:latin typeface="Times New Roman" panose="02020603050405020304" pitchFamily="18" charset="0"/>
              <a:ea typeface="黑体" panose="02010609060101010101" pitchFamily="49" charset="-122"/>
            </a:endParaRPr>
          </a:p>
        </p:txBody>
      </p:sp>
      <p:sp>
        <p:nvSpPr>
          <p:cNvPr id="336913" name="Rectangle 1041"/>
          <p:cNvSpPr>
            <a:spLocks noChangeArrowheads="1"/>
          </p:cNvSpPr>
          <p:nvPr/>
        </p:nvSpPr>
        <p:spPr bwMode="auto">
          <a:xfrm>
            <a:off x="1692000" y="5859000"/>
            <a:ext cx="2808288" cy="485775"/>
          </a:xfrm>
          <a:prstGeom prst="rect">
            <a:avLst/>
          </a:prstGeom>
          <a:solidFill>
            <a:schemeClr val="tx1"/>
          </a:solidFill>
          <a:ln w="28575">
            <a:solidFill>
              <a:schemeClr val="hlink"/>
            </a:solidFill>
            <a:miter lim="800000"/>
          </a:ln>
          <a:effectLst/>
        </p:spPr>
        <p:txBody>
          <a:bodyPr>
            <a:spAutoFit/>
          </a:bodyPr>
          <a:lstStyle/>
          <a:p>
            <a:pPr eaLnBrk="1" hangingPunct="1">
              <a:defRPr/>
            </a:pPr>
            <a:r>
              <a:rPr lang="zh-CN" altLang="en-US">
                <a:solidFill>
                  <a:srgbClr val="FF3300"/>
                </a:solidFill>
                <a:effectLst>
                  <a:outerShdw blurRad="38100" dist="38100" dir="2700000" algn="tl">
                    <a:srgbClr val="C0C0C0"/>
                  </a:outerShdw>
                </a:effectLst>
                <a:ea typeface="黑体" panose="02010609060101010101" pitchFamily="49" charset="-122"/>
              </a:rPr>
              <a:t>属于哪一种类型？</a:t>
            </a:r>
            <a:endParaRPr lang="zh-CN" altLang="en-US">
              <a:solidFill>
                <a:srgbClr val="FF3300"/>
              </a:solidFill>
              <a:effectLst>
                <a:outerShdw blurRad="38100" dist="38100" dir="2700000" algn="tl">
                  <a:srgbClr val="C0C0C0"/>
                </a:outerShdw>
              </a:effectLst>
              <a:ea typeface="黑体" panose="02010609060101010101" pitchFamily="49" charset="-122"/>
            </a:endParaRPr>
          </a:p>
        </p:txBody>
      </p:sp>
      <p:sp>
        <p:nvSpPr>
          <p:cNvPr id="6" name="云形标注 5"/>
          <p:cNvSpPr/>
          <p:nvPr/>
        </p:nvSpPr>
        <p:spPr bwMode="auto">
          <a:xfrm>
            <a:off x="4887000" y="5544000"/>
            <a:ext cx="1170000" cy="855000"/>
          </a:xfrm>
          <a:prstGeom prst="cloudCallout">
            <a:avLst/>
          </a:prstGeom>
          <a:noFill/>
          <a:ln w="9525" cap="flat" cmpd="sng" algn="ctr">
            <a:noFill/>
            <a:prstDash val="solid"/>
            <a:round/>
            <a:headEnd type="none" w="med" len="med"/>
            <a:tailEnd type="none" w="med" len="med"/>
          </a:ln>
          <a:effectLst/>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7" name="云形标注 6"/>
          <p:cNvSpPr/>
          <p:nvPr/>
        </p:nvSpPr>
        <p:spPr bwMode="auto">
          <a:xfrm>
            <a:off x="5067000" y="5814000"/>
            <a:ext cx="3420000" cy="900000"/>
          </a:xfrm>
          <a:prstGeom prst="cloudCallout">
            <a:avLst>
              <a:gd name="adj1" fmla="val -70863"/>
              <a:gd name="adj2" fmla="val -20206"/>
            </a:avLst>
          </a:prstGeom>
          <a:solidFill>
            <a:srgbClr val="00B0F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非对称循环变应力</a:t>
            </a:r>
            <a:endPar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8" name="云形标注 7"/>
          <p:cNvSpPr/>
          <p:nvPr/>
        </p:nvSpPr>
        <p:spPr bwMode="auto">
          <a:xfrm>
            <a:off x="6237000" y="5544000"/>
            <a:ext cx="1395000" cy="945000"/>
          </a:xfrm>
          <a:prstGeom prst="cloudCallout">
            <a:avLst>
              <a:gd name="adj1" fmla="val -145030"/>
              <a:gd name="adj2" fmla="val -49540"/>
            </a:avLst>
          </a:prstGeom>
          <a:noFill/>
          <a:ln w="9525" cap="flat" cmpd="sng" algn="ctr">
            <a:noFill/>
            <a:prstDash val="solid"/>
            <a:round/>
            <a:headEnd type="none" w="med" len="med"/>
            <a:tailEnd type="none" w="med" len="med"/>
          </a:ln>
          <a:effectLst/>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6901"/>
                                        </p:tgtEl>
                                        <p:attrNameLst>
                                          <p:attrName>style.visibility</p:attrName>
                                        </p:attrNameLst>
                                      </p:cBhvr>
                                      <p:to>
                                        <p:strVal val="visible"/>
                                      </p:to>
                                    </p:set>
                                    <p:animEffect transition="in" filter="wipe(left)">
                                      <p:cBhvr>
                                        <p:cTn id="7" dur="500"/>
                                        <p:tgtEl>
                                          <p:spTgt spid="3369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6902"/>
                                        </p:tgtEl>
                                        <p:attrNameLst>
                                          <p:attrName>style.visibility</p:attrName>
                                        </p:attrNameLst>
                                      </p:cBhvr>
                                      <p:to>
                                        <p:strVal val="visible"/>
                                      </p:to>
                                    </p:set>
                                    <p:animEffect transition="in" filter="wipe(left)">
                                      <p:cBhvr>
                                        <p:cTn id="12" dur="500"/>
                                        <p:tgtEl>
                                          <p:spTgt spid="3369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6903"/>
                                        </p:tgtEl>
                                        <p:attrNameLst>
                                          <p:attrName>style.visibility</p:attrName>
                                        </p:attrNameLst>
                                      </p:cBhvr>
                                      <p:to>
                                        <p:strVal val="visible"/>
                                      </p:to>
                                    </p:set>
                                    <p:animEffect transition="in" filter="wipe(left)">
                                      <p:cBhvr>
                                        <p:cTn id="17" dur="500"/>
                                        <p:tgtEl>
                                          <p:spTgt spid="33690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36904"/>
                                        </p:tgtEl>
                                        <p:attrNameLst>
                                          <p:attrName>style.visibility</p:attrName>
                                        </p:attrNameLst>
                                      </p:cBhvr>
                                      <p:to>
                                        <p:strVal val="visible"/>
                                      </p:to>
                                    </p:set>
                                    <p:animEffect transition="in" filter="wipe(left)">
                                      <p:cBhvr>
                                        <p:cTn id="21" dur="500"/>
                                        <p:tgtEl>
                                          <p:spTgt spid="336904"/>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336905"/>
                                        </p:tgtEl>
                                        <p:attrNameLst>
                                          <p:attrName>style.visibility</p:attrName>
                                        </p:attrNameLst>
                                      </p:cBhvr>
                                      <p:to>
                                        <p:strVal val="visible"/>
                                      </p:to>
                                    </p:set>
                                    <p:animEffect transition="in" filter="wipe(left)">
                                      <p:cBhvr>
                                        <p:cTn id="25" dur="500"/>
                                        <p:tgtEl>
                                          <p:spTgt spid="33690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36912"/>
                                        </p:tgtEl>
                                        <p:attrNameLst>
                                          <p:attrName>style.visibility</p:attrName>
                                        </p:attrNameLst>
                                      </p:cBhvr>
                                      <p:to>
                                        <p:strVal val="visible"/>
                                      </p:to>
                                    </p:set>
                                    <p:animEffect transition="in" filter="wipe(left)">
                                      <p:cBhvr>
                                        <p:cTn id="30" dur="500"/>
                                        <p:tgtEl>
                                          <p:spTgt spid="336912"/>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336906"/>
                                        </p:tgtEl>
                                        <p:attrNameLst>
                                          <p:attrName>style.visibility</p:attrName>
                                        </p:attrNameLst>
                                      </p:cBhvr>
                                      <p:to>
                                        <p:strVal val="visible"/>
                                      </p:to>
                                    </p:set>
                                    <p:animEffect transition="in" filter="wipe(left)">
                                      <p:cBhvr>
                                        <p:cTn id="34" dur="500"/>
                                        <p:tgtEl>
                                          <p:spTgt spid="33690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36910"/>
                                        </p:tgtEl>
                                        <p:attrNameLst>
                                          <p:attrName>style.visibility</p:attrName>
                                        </p:attrNameLst>
                                      </p:cBhvr>
                                      <p:to>
                                        <p:strVal val="visible"/>
                                      </p:to>
                                    </p:set>
                                    <p:animEffect transition="in" filter="wipe(left)">
                                      <p:cBhvr>
                                        <p:cTn id="39" dur="500"/>
                                        <p:tgtEl>
                                          <p:spTgt spid="336910"/>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336908"/>
                                        </p:tgtEl>
                                        <p:attrNameLst>
                                          <p:attrName>style.visibility</p:attrName>
                                        </p:attrNameLst>
                                      </p:cBhvr>
                                      <p:to>
                                        <p:strVal val="visible"/>
                                      </p:to>
                                    </p:set>
                                    <p:animEffect transition="in" filter="wipe(left)">
                                      <p:cBhvr>
                                        <p:cTn id="43" dur="500"/>
                                        <p:tgtEl>
                                          <p:spTgt spid="33690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36911"/>
                                        </p:tgtEl>
                                        <p:attrNameLst>
                                          <p:attrName>style.visibility</p:attrName>
                                        </p:attrNameLst>
                                      </p:cBhvr>
                                      <p:to>
                                        <p:strVal val="visible"/>
                                      </p:to>
                                    </p:set>
                                    <p:animEffect transition="in" filter="wipe(left)">
                                      <p:cBhvr>
                                        <p:cTn id="48" dur="500"/>
                                        <p:tgtEl>
                                          <p:spTgt spid="336911"/>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336909"/>
                                        </p:tgtEl>
                                        <p:attrNameLst>
                                          <p:attrName>style.visibility</p:attrName>
                                        </p:attrNameLst>
                                      </p:cBhvr>
                                      <p:to>
                                        <p:strVal val="visible"/>
                                      </p:to>
                                    </p:set>
                                    <p:animEffect transition="in" filter="wipe(left)">
                                      <p:cBhvr>
                                        <p:cTn id="52" dur="500"/>
                                        <p:tgtEl>
                                          <p:spTgt spid="336909"/>
                                        </p:tgtEl>
                                      </p:cBhvr>
                                    </p:animEffect>
                                  </p:childTnLst>
                                </p:cTn>
                              </p:par>
                            </p:childTnLst>
                          </p:cTn>
                        </p:par>
                      </p:childTnLst>
                    </p:cTn>
                  </p:par>
                  <p:par>
                    <p:cTn id="53" fill="hold">
                      <p:stCondLst>
                        <p:cond delay="indefinite"/>
                      </p:stCondLst>
                      <p:childTnLst>
                        <p:par>
                          <p:cTn id="54" fill="hold">
                            <p:stCondLst>
                              <p:cond delay="0"/>
                            </p:stCondLst>
                            <p:childTnLst>
                              <p:par>
                                <p:cTn id="55" presetID="23" presetClass="entr" presetSubtype="528" fill="hold" grpId="0" nodeType="clickEffect">
                                  <p:stCondLst>
                                    <p:cond delay="0"/>
                                  </p:stCondLst>
                                  <p:childTnLst>
                                    <p:set>
                                      <p:cBhvr>
                                        <p:cTn id="56" dur="1" fill="hold">
                                          <p:stCondLst>
                                            <p:cond delay="0"/>
                                          </p:stCondLst>
                                        </p:cTn>
                                        <p:tgtEl>
                                          <p:spTgt spid="336913"/>
                                        </p:tgtEl>
                                        <p:attrNameLst>
                                          <p:attrName>style.visibility</p:attrName>
                                        </p:attrNameLst>
                                      </p:cBhvr>
                                      <p:to>
                                        <p:strVal val="visible"/>
                                      </p:to>
                                    </p:set>
                                    <p:anim calcmode="lin" valueType="num">
                                      <p:cBhvr>
                                        <p:cTn id="57" dur="500" fill="hold"/>
                                        <p:tgtEl>
                                          <p:spTgt spid="336913"/>
                                        </p:tgtEl>
                                        <p:attrNameLst>
                                          <p:attrName>ppt_w</p:attrName>
                                        </p:attrNameLst>
                                      </p:cBhvr>
                                      <p:tavLst>
                                        <p:tav tm="0">
                                          <p:val>
                                            <p:fltVal val="0"/>
                                          </p:val>
                                        </p:tav>
                                        <p:tav tm="100000">
                                          <p:val>
                                            <p:strVal val="#ppt_w"/>
                                          </p:val>
                                        </p:tav>
                                      </p:tavLst>
                                    </p:anim>
                                    <p:anim calcmode="lin" valueType="num">
                                      <p:cBhvr>
                                        <p:cTn id="58" dur="500" fill="hold"/>
                                        <p:tgtEl>
                                          <p:spTgt spid="336913"/>
                                        </p:tgtEl>
                                        <p:attrNameLst>
                                          <p:attrName>ppt_h</p:attrName>
                                        </p:attrNameLst>
                                      </p:cBhvr>
                                      <p:tavLst>
                                        <p:tav tm="0">
                                          <p:val>
                                            <p:fltVal val="0"/>
                                          </p:val>
                                        </p:tav>
                                        <p:tav tm="100000">
                                          <p:val>
                                            <p:strVal val="#ppt_h"/>
                                          </p:val>
                                        </p:tav>
                                      </p:tavLst>
                                    </p:anim>
                                    <p:anim calcmode="lin" valueType="num">
                                      <p:cBhvr>
                                        <p:cTn id="59" dur="500" fill="hold"/>
                                        <p:tgtEl>
                                          <p:spTgt spid="336913"/>
                                        </p:tgtEl>
                                        <p:attrNameLst>
                                          <p:attrName>ppt_x</p:attrName>
                                        </p:attrNameLst>
                                      </p:cBhvr>
                                      <p:tavLst>
                                        <p:tav tm="0">
                                          <p:val>
                                            <p:fltVal val="0.5"/>
                                          </p:val>
                                        </p:tav>
                                        <p:tav tm="100000">
                                          <p:val>
                                            <p:strVal val="#ppt_x"/>
                                          </p:val>
                                        </p:tav>
                                      </p:tavLst>
                                    </p:anim>
                                    <p:anim calcmode="lin" valueType="num">
                                      <p:cBhvr>
                                        <p:cTn id="60" dur="500" fill="hold"/>
                                        <p:tgtEl>
                                          <p:spTgt spid="336913"/>
                                        </p:tgtEl>
                                        <p:attrNameLst>
                                          <p:attrName>ppt_y</p:attrName>
                                        </p:attrNameLst>
                                      </p:cBhvr>
                                      <p:tavLst>
                                        <p:tav tm="0">
                                          <p:val>
                                            <p:fltVal val="0.5"/>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wipe(left)">
                                      <p:cBhvr>
                                        <p:cTn id="6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01" grpId="0" autoUpdateAnimBg="0"/>
      <p:bldP spid="336902" grpId="0" autoUpdateAnimBg="0"/>
      <p:bldP spid="336903" grpId="0" autoUpdateAnimBg="0"/>
      <p:bldP spid="336905" grpId="0" autoUpdateAnimBg="0"/>
      <p:bldP spid="336910" grpId="0" autoUpdateAnimBg="0"/>
      <p:bldP spid="336911" grpId="0" autoUpdateAnimBg="0"/>
      <p:bldP spid="336912" grpId="0" autoUpdateAnimBg="0"/>
      <p:bldP spid="336913" grpId="0" animBg="1" autoUpdateAnimBg="0"/>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685800" y="304800"/>
            <a:ext cx="8026200" cy="6248400"/>
          </a:xfrm>
          <a:prstGeom prst="rect">
            <a:avLst/>
          </a:prstGeom>
        </p:spPr>
        <p:txBody>
          <a:bodyPr/>
          <a:lstStyle/>
          <a:p>
            <a:pPr eaLnBrk="1" hangingPunct="1">
              <a:buFontTx/>
              <a:buNone/>
            </a:pPr>
            <a:r>
              <a:rPr lang="zh-CN" altLang="en-US" sz="2400" b="1" dirty="0">
                <a:solidFill>
                  <a:srgbClr val="002060"/>
                </a:solidFill>
                <a:latin typeface="黑体" panose="02010609060101010101" pitchFamily="49" charset="-122"/>
                <a:ea typeface="黑体" panose="02010609060101010101" pitchFamily="49" charset="-122"/>
              </a:rPr>
              <a:t>例</a:t>
            </a:r>
            <a:r>
              <a:rPr lang="en-US" sz="2400" b="1" dirty="0">
                <a:solidFill>
                  <a:srgbClr val="002060"/>
                </a:solidFill>
                <a:latin typeface="黑体" panose="02010609060101010101" pitchFamily="49" charset="-122"/>
                <a:ea typeface="黑体" panose="02010609060101010101" pitchFamily="49" charset="-122"/>
              </a:rPr>
              <a:t>2</a:t>
            </a:r>
            <a:r>
              <a:rPr lang="en-US" sz="2400" dirty="0">
                <a:solidFill>
                  <a:srgbClr val="002060"/>
                </a:solidFill>
                <a:latin typeface="黑体" panose="02010609060101010101" pitchFamily="49" charset="-122"/>
                <a:ea typeface="黑体" panose="02010609060101010101" pitchFamily="49" charset="-122"/>
              </a:rPr>
              <a:t>  </a:t>
            </a:r>
            <a:r>
              <a:rPr lang="zh-CN" altLang="en-US" sz="2400" dirty="0">
                <a:solidFill>
                  <a:srgbClr val="002060"/>
                </a:solidFill>
                <a:latin typeface="黑体" panose="02010609060101010101" pitchFamily="49" charset="-122"/>
                <a:ea typeface="黑体" panose="02010609060101010101" pitchFamily="49" charset="-122"/>
              </a:rPr>
              <a:t>已知：</a:t>
            </a:r>
            <a:r>
              <a:rPr lang="zh-CN" altLang="en-US" sz="2400" dirty="0">
                <a:solidFill>
                  <a:srgbClr val="002060"/>
                </a:solidFill>
                <a:latin typeface="黑体" panose="02010609060101010101" pitchFamily="49" charset="-122"/>
                <a:ea typeface="黑体" panose="02010609060101010101" pitchFamily="49" charset="-122"/>
                <a:sym typeface="Symbol" panose="05050102010706020507" pitchFamily="18" charset="2"/>
              </a:rPr>
              <a:t></a:t>
            </a:r>
            <a:r>
              <a:rPr lang="en-US" sz="2400" baseline="-25000" dirty="0">
                <a:solidFill>
                  <a:srgbClr val="002060"/>
                </a:solidFill>
                <a:latin typeface="黑体" panose="02010609060101010101" pitchFamily="49" charset="-122"/>
                <a:ea typeface="黑体" panose="02010609060101010101" pitchFamily="49" charset="-122"/>
              </a:rPr>
              <a:t>max</a:t>
            </a:r>
            <a:r>
              <a:rPr lang="en-US" sz="2400" dirty="0">
                <a:solidFill>
                  <a:srgbClr val="002060"/>
                </a:solidFill>
                <a:latin typeface="黑体" panose="02010609060101010101" pitchFamily="49" charset="-122"/>
                <a:ea typeface="黑体" panose="02010609060101010101" pitchFamily="49" charset="-122"/>
              </a:rPr>
              <a:t>=200N/mm</a:t>
            </a:r>
            <a:r>
              <a:rPr lang="en-US" sz="2400" baseline="30000" dirty="0">
                <a:solidFill>
                  <a:srgbClr val="002060"/>
                </a:solidFill>
                <a:latin typeface="黑体" panose="02010609060101010101" pitchFamily="49" charset="-122"/>
                <a:ea typeface="黑体" panose="02010609060101010101" pitchFamily="49" charset="-122"/>
              </a:rPr>
              <a:t>2</a:t>
            </a:r>
            <a:r>
              <a:rPr lang="zh-CN" altLang="en-US" sz="2400" dirty="0">
                <a:solidFill>
                  <a:srgbClr val="002060"/>
                </a:solidFill>
                <a:latin typeface="黑体" panose="02010609060101010101" pitchFamily="49" charset="-122"/>
                <a:ea typeface="黑体" panose="02010609060101010101" pitchFamily="49" charset="-122"/>
              </a:rPr>
              <a:t>，</a:t>
            </a:r>
            <a:r>
              <a:rPr lang="en-US" sz="2400" dirty="0">
                <a:solidFill>
                  <a:srgbClr val="002060"/>
                </a:solidFill>
                <a:latin typeface="黑体" panose="02010609060101010101" pitchFamily="49" charset="-122"/>
                <a:ea typeface="黑体" panose="02010609060101010101" pitchFamily="49" charset="-122"/>
              </a:rPr>
              <a:t>r =</a:t>
            </a:r>
            <a:r>
              <a:rPr lang="zh-CN" altLang="en-US" sz="2400" dirty="0">
                <a:solidFill>
                  <a:srgbClr val="002060"/>
                </a:solidFill>
                <a:latin typeface="黑体" panose="02010609060101010101" pitchFamily="49" charset="-122"/>
                <a:ea typeface="黑体" panose="02010609060101010101" pitchFamily="49" charset="-122"/>
              </a:rPr>
              <a:t>－</a:t>
            </a:r>
            <a:r>
              <a:rPr lang="en-US" sz="2400" dirty="0">
                <a:solidFill>
                  <a:srgbClr val="002060"/>
                </a:solidFill>
                <a:latin typeface="黑体" panose="02010609060101010101" pitchFamily="49" charset="-122"/>
                <a:ea typeface="黑体" panose="02010609060101010101" pitchFamily="49" charset="-122"/>
              </a:rPr>
              <a:t>0.5</a:t>
            </a:r>
            <a:r>
              <a:rPr lang="zh-CN" altLang="en-US" sz="2400" dirty="0">
                <a:solidFill>
                  <a:srgbClr val="002060"/>
                </a:solidFill>
                <a:latin typeface="黑体" panose="02010609060101010101" pitchFamily="49" charset="-122"/>
                <a:ea typeface="黑体" panose="02010609060101010101" pitchFamily="49" charset="-122"/>
              </a:rPr>
              <a:t>，求：</a:t>
            </a:r>
            <a:r>
              <a:rPr lang="zh-CN" altLang="en-US" sz="2400" dirty="0">
                <a:solidFill>
                  <a:srgbClr val="002060"/>
                </a:solidFill>
                <a:latin typeface="黑体" panose="02010609060101010101" pitchFamily="49" charset="-122"/>
                <a:ea typeface="黑体" panose="02010609060101010101" pitchFamily="49" charset="-122"/>
                <a:sym typeface="Symbol" panose="05050102010706020507" pitchFamily="18" charset="2"/>
              </a:rPr>
              <a:t></a:t>
            </a:r>
            <a:r>
              <a:rPr lang="en-US" sz="2400" baseline="-25000" dirty="0">
                <a:solidFill>
                  <a:srgbClr val="002060"/>
                </a:solidFill>
                <a:latin typeface="黑体" panose="02010609060101010101" pitchFamily="49" charset="-122"/>
                <a:ea typeface="黑体" panose="02010609060101010101" pitchFamily="49" charset="-122"/>
              </a:rPr>
              <a:t>min</a:t>
            </a:r>
            <a:r>
              <a:rPr lang="zh-CN" altLang="en-US" sz="2400" dirty="0">
                <a:solidFill>
                  <a:srgbClr val="002060"/>
                </a:solidFill>
                <a:latin typeface="黑体" panose="02010609060101010101" pitchFamily="49" charset="-122"/>
                <a:ea typeface="黑体" panose="02010609060101010101" pitchFamily="49" charset="-122"/>
              </a:rPr>
              <a:t>、</a:t>
            </a:r>
            <a:r>
              <a:rPr lang="zh-CN" altLang="en-US" sz="2400" dirty="0">
                <a:solidFill>
                  <a:srgbClr val="002060"/>
                </a:solidFill>
                <a:latin typeface="黑体" panose="02010609060101010101" pitchFamily="49" charset="-122"/>
                <a:ea typeface="黑体" panose="02010609060101010101" pitchFamily="49" charset="-122"/>
                <a:sym typeface="Symbol" panose="05050102010706020507" pitchFamily="18" charset="2"/>
              </a:rPr>
              <a:t></a:t>
            </a:r>
            <a:r>
              <a:rPr lang="en-US" sz="2400" baseline="-25000" dirty="0">
                <a:solidFill>
                  <a:srgbClr val="002060"/>
                </a:solidFill>
                <a:latin typeface="黑体" panose="02010609060101010101" pitchFamily="49" charset="-122"/>
                <a:ea typeface="黑体" panose="02010609060101010101" pitchFamily="49" charset="-122"/>
              </a:rPr>
              <a:t>a</a:t>
            </a:r>
            <a:r>
              <a:rPr lang="zh-CN" altLang="en-US" sz="2400" dirty="0">
                <a:solidFill>
                  <a:srgbClr val="002060"/>
                </a:solidFill>
                <a:latin typeface="黑体" panose="02010609060101010101" pitchFamily="49" charset="-122"/>
                <a:ea typeface="黑体" panose="02010609060101010101" pitchFamily="49" charset="-122"/>
              </a:rPr>
              <a:t>、</a:t>
            </a:r>
            <a:r>
              <a:rPr lang="zh-CN" altLang="en-US" sz="2400" dirty="0">
                <a:solidFill>
                  <a:srgbClr val="002060"/>
                </a:solidFill>
                <a:latin typeface="黑体" panose="02010609060101010101" pitchFamily="49" charset="-122"/>
                <a:ea typeface="黑体" panose="02010609060101010101" pitchFamily="49" charset="-122"/>
                <a:sym typeface="Symbol" panose="05050102010706020507" pitchFamily="18" charset="2"/>
              </a:rPr>
              <a:t></a:t>
            </a:r>
            <a:r>
              <a:rPr lang="en-US" sz="2400" baseline="-25000" dirty="0">
                <a:solidFill>
                  <a:srgbClr val="002060"/>
                </a:solidFill>
                <a:latin typeface="黑体" panose="02010609060101010101" pitchFamily="49" charset="-122"/>
                <a:ea typeface="黑体" panose="02010609060101010101" pitchFamily="49" charset="-122"/>
              </a:rPr>
              <a:t>m</a:t>
            </a:r>
            <a:r>
              <a:rPr lang="zh-CN" altLang="en-US" sz="2400" dirty="0">
                <a:solidFill>
                  <a:srgbClr val="002060"/>
                </a:solidFill>
                <a:latin typeface="黑体" panose="02010609060101010101" pitchFamily="49" charset="-122"/>
                <a:ea typeface="黑体" panose="02010609060101010101" pitchFamily="49" charset="-122"/>
              </a:rPr>
              <a:t>。</a:t>
            </a:r>
            <a:endParaRPr lang="zh-CN" altLang="en-US" sz="2400" dirty="0">
              <a:solidFill>
                <a:srgbClr val="002060"/>
              </a:solidFill>
              <a:latin typeface="黑体" panose="02010609060101010101" pitchFamily="49" charset="-122"/>
              <a:ea typeface="黑体" panose="02010609060101010101" pitchFamily="49" charset="-122"/>
            </a:endParaRPr>
          </a:p>
          <a:p>
            <a:pPr eaLnBrk="1" hangingPunct="1">
              <a:lnSpc>
                <a:spcPct val="140000"/>
              </a:lnSpc>
              <a:buFontTx/>
              <a:buNone/>
            </a:pPr>
            <a:r>
              <a:rPr lang="zh-CN" altLang="en-US" sz="2400" dirty="0">
                <a:solidFill>
                  <a:srgbClr val="FF0000"/>
                </a:solidFill>
                <a:latin typeface="黑体" panose="02010609060101010101" pitchFamily="49" charset="-122"/>
                <a:ea typeface="黑体" panose="02010609060101010101" pitchFamily="49" charset="-122"/>
              </a:rPr>
              <a:t>解：</a:t>
            </a:r>
            <a:endParaRPr lang="zh-CN" altLang="en-US" sz="2400" dirty="0">
              <a:solidFill>
                <a:srgbClr val="FF0000"/>
              </a:solidFill>
              <a:latin typeface="黑体" panose="02010609060101010101" pitchFamily="49" charset="-122"/>
              <a:ea typeface="黑体" panose="02010609060101010101" pitchFamily="49" charset="-122"/>
            </a:endParaRPr>
          </a:p>
        </p:txBody>
      </p:sp>
      <p:graphicFrame>
        <p:nvGraphicFramePr>
          <p:cNvPr id="20484" name="Object 4"/>
          <p:cNvGraphicFramePr>
            <a:graphicFrameLocks noChangeAspect="1"/>
          </p:cNvGraphicFramePr>
          <p:nvPr/>
        </p:nvGraphicFramePr>
        <p:xfrm>
          <a:off x="1121135" y="1658284"/>
          <a:ext cx="6170930" cy="572770"/>
        </p:xfrm>
        <a:graphic>
          <a:graphicData uri="http://schemas.openxmlformats.org/presentationml/2006/ole">
            <mc:AlternateContent xmlns:mc="http://schemas.openxmlformats.org/markup-compatibility/2006">
              <mc:Choice xmlns:v="urn:schemas-microsoft-com:vml" Requires="v">
                <p:oleObj spid="_x0000_s2" name="" r:id="rId1" imgW="2602865" imgH="241300" progId="Equation.3">
                  <p:embed/>
                </p:oleObj>
              </mc:Choice>
              <mc:Fallback>
                <p:oleObj name="" r:id="rId1" imgW="2602865" imgH="241300" progId="Equation.3">
                  <p:embed/>
                  <p:pic>
                    <p:nvPicPr>
                      <p:cNvPr id="0" name="Picture 38"/>
                      <p:cNvPicPr>
                        <a:picLocks noChangeAspect="1" noChangeArrowheads="1"/>
                      </p:cNvPicPr>
                      <p:nvPr/>
                    </p:nvPicPr>
                    <p:blipFill>
                      <a:blip r:embed="rId2"/>
                      <a:srcRect/>
                      <a:stretch>
                        <a:fillRect/>
                      </a:stretch>
                    </p:blipFill>
                    <p:spPr bwMode="auto">
                      <a:xfrm>
                        <a:off x="1121135" y="1658284"/>
                        <a:ext cx="6170930" cy="572770"/>
                      </a:xfrm>
                      <a:prstGeom prst="rect">
                        <a:avLst/>
                      </a:prstGeom>
                      <a:solidFill>
                        <a:srgbClr val="FFFF99"/>
                      </a:solidFill>
                      <a:effectLst>
                        <a:outerShdw dist="107763" dir="18900000" algn="ctr" rotWithShape="0">
                          <a:schemeClr val="bg2"/>
                        </a:outerShdw>
                      </a:effectLst>
                    </p:spPr>
                  </p:pic>
                </p:oleObj>
              </mc:Fallback>
            </mc:AlternateContent>
          </a:graphicData>
        </a:graphic>
      </p:graphicFrame>
      <p:graphicFrame>
        <p:nvGraphicFramePr>
          <p:cNvPr id="20485" name="Object 5"/>
          <p:cNvGraphicFramePr>
            <a:graphicFrameLocks noChangeAspect="1"/>
          </p:cNvGraphicFramePr>
          <p:nvPr/>
        </p:nvGraphicFramePr>
        <p:xfrm>
          <a:off x="1057561" y="2394000"/>
          <a:ext cx="6396990" cy="958850"/>
        </p:xfrm>
        <a:graphic>
          <a:graphicData uri="http://schemas.openxmlformats.org/presentationml/2006/ole">
            <mc:AlternateContent xmlns:mc="http://schemas.openxmlformats.org/markup-compatibility/2006">
              <mc:Choice xmlns:v="urn:schemas-microsoft-com:vml" Requires="v">
                <p:oleObj spid="_x0000_s3" name="" r:id="rId3" imgW="2616200" imgH="393700" progId="Equation.3">
                  <p:embed/>
                </p:oleObj>
              </mc:Choice>
              <mc:Fallback>
                <p:oleObj name="" r:id="rId3" imgW="2616200" imgH="393700" progId="Equation.3">
                  <p:embed/>
                  <p:pic>
                    <p:nvPicPr>
                      <p:cNvPr id="0" name="Picture 39"/>
                      <p:cNvPicPr>
                        <a:picLocks noChangeAspect="1" noChangeArrowheads="1"/>
                      </p:cNvPicPr>
                      <p:nvPr/>
                    </p:nvPicPr>
                    <p:blipFill>
                      <a:blip r:embed="rId4"/>
                      <a:srcRect/>
                      <a:stretch>
                        <a:fillRect/>
                      </a:stretch>
                    </p:blipFill>
                    <p:spPr bwMode="auto">
                      <a:xfrm>
                        <a:off x="1057561" y="2394000"/>
                        <a:ext cx="6396990" cy="958850"/>
                      </a:xfrm>
                      <a:prstGeom prst="rect">
                        <a:avLst/>
                      </a:prstGeom>
                      <a:solidFill>
                        <a:srgbClr val="FFFF99"/>
                      </a:solidFill>
                      <a:effectLst>
                        <a:outerShdw dist="107763" dir="18900000" algn="ctr" rotWithShape="0">
                          <a:schemeClr val="bg2"/>
                        </a:outerShdw>
                      </a:effectLst>
                    </p:spPr>
                  </p:pic>
                </p:oleObj>
              </mc:Fallback>
            </mc:AlternateContent>
          </a:graphicData>
        </a:graphic>
      </p:graphicFrame>
      <p:graphicFrame>
        <p:nvGraphicFramePr>
          <p:cNvPr id="20486" name="Object 6"/>
          <p:cNvGraphicFramePr>
            <a:graphicFrameLocks noChangeAspect="1"/>
          </p:cNvGraphicFramePr>
          <p:nvPr/>
        </p:nvGraphicFramePr>
        <p:xfrm>
          <a:off x="1227010" y="3518682"/>
          <a:ext cx="6139180" cy="902335"/>
        </p:xfrm>
        <a:graphic>
          <a:graphicData uri="http://schemas.openxmlformats.org/presentationml/2006/ole">
            <mc:AlternateContent xmlns:mc="http://schemas.openxmlformats.org/markup-compatibility/2006">
              <mc:Choice xmlns:v="urn:schemas-microsoft-com:vml" Requires="v">
                <p:oleObj spid="_x0000_s4" name="" r:id="rId5" imgW="2667000" imgH="393700" progId="Equation.3">
                  <p:embed/>
                </p:oleObj>
              </mc:Choice>
              <mc:Fallback>
                <p:oleObj name="" r:id="rId5" imgW="2667000" imgH="393700" progId="Equation.3">
                  <p:embed/>
                  <p:pic>
                    <p:nvPicPr>
                      <p:cNvPr id="0" name="Picture 40"/>
                      <p:cNvPicPr>
                        <a:picLocks noChangeAspect="1" noChangeArrowheads="1"/>
                      </p:cNvPicPr>
                      <p:nvPr/>
                    </p:nvPicPr>
                    <p:blipFill>
                      <a:blip r:embed="rId6"/>
                      <a:srcRect/>
                      <a:stretch>
                        <a:fillRect/>
                      </a:stretch>
                    </p:blipFill>
                    <p:spPr bwMode="auto">
                      <a:xfrm>
                        <a:off x="1227010" y="3518682"/>
                        <a:ext cx="6139180" cy="902335"/>
                      </a:xfrm>
                      <a:prstGeom prst="rect">
                        <a:avLst/>
                      </a:prstGeom>
                      <a:solidFill>
                        <a:srgbClr val="FFFF99"/>
                      </a:solidFill>
                      <a:effectLst>
                        <a:outerShdw dist="107763" dir="18900000" algn="ctr" rotWithShape="0">
                          <a:schemeClr val="bg2"/>
                        </a:outerShdw>
                      </a:effectLst>
                    </p:spPr>
                  </p:pic>
                </p:oleObj>
              </mc:Fallback>
            </mc:AlternateContent>
          </a:graphicData>
        </a:graphic>
      </p:graphicFrame>
      <p:grpSp>
        <p:nvGrpSpPr>
          <p:cNvPr id="20487" name="Group 7"/>
          <p:cNvGrpSpPr/>
          <p:nvPr/>
        </p:nvGrpSpPr>
        <p:grpSpPr bwMode="auto">
          <a:xfrm>
            <a:off x="2187000" y="4554000"/>
            <a:ext cx="4308475" cy="2133600"/>
            <a:chOff x="0" y="0"/>
            <a:chExt cx="2714" cy="1200"/>
          </a:xfrm>
        </p:grpSpPr>
        <p:grpSp>
          <p:nvGrpSpPr>
            <p:cNvPr id="20488" name="Group 8"/>
            <p:cNvGrpSpPr/>
            <p:nvPr/>
          </p:nvGrpSpPr>
          <p:grpSpPr bwMode="auto">
            <a:xfrm>
              <a:off x="356" y="260"/>
              <a:ext cx="721" cy="346"/>
              <a:chOff x="0" y="0"/>
              <a:chExt cx="20005" cy="20000"/>
            </a:xfrm>
          </p:grpSpPr>
          <p:sp>
            <p:nvSpPr>
              <p:cNvPr id="20489" name="Arc 9"/>
              <p:cNvSpPr/>
              <p:nvPr/>
            </p:nvSpPr>
            <p:spPr bwMode="auto">
              <a:xfrm flipH="1">
                <a:off x="0" y="28"/>
                <a:ext cx="9763" cy="1997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490" name="Arc 10"/>
              <p:cNvSpPr/>
              <p:nvPr/>
            </p:nvSpPr>
            <p:spPr bwMode="auto">
              <a:xfrm>
                <a:off x="10242" y="0"/>
                <a:ext cx="9763" cy="1997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0491" name="Group 11"/>
            <p:cNvGrpSpPr/>
            <p:nvPr/>
          </p:nvGrpSpPr>
          <p:grpSpPr bwMode="auto">
            <a:xfrm>
              <a:off x="1076" y="624"/>
              <a:ext cx="721" cy="346"/>
              <a:chOff x="0" y="0"/>
              <a:chExt cx="20001" cy="20000"/>
            </a:xfrm>
          </p:grpSpPr>
          <p:sp>
            <p:nvSpPr>
              <p:cNvPr id="20492" name="Arc 12"/>
              <p:cNvSpPr/>
              <p:nvPr/>
            </p:nvSpPr>
            <p:spPr bwMode="auto">
              <a:xfrm flipH="1" flipV="1">
                <a:off x="0" y="0"/>
                <a:ext cx="9761" cy="1997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493" name="Arc 13"/>
              <p:cNvSpPr/>
              <p:nvPr/>
            </p:nvSpPr>
            <p:spPr bwMode="auto">
              <a:xfrm flipV="1">
                <a:off x="10240" y="28"/>
                <a:ext cx="9761" cy="1997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0494" name="Line 14"/>
            <p:cNvSpPr>
              <a:spLocks noChangeShapeType="1"/>
            </p:cNvSpPr>
            <p:nvPr/>
          </p:nvSpPr>
          <p:spPr bwMode="auto">
            <a:xfrm>
              <a:off x="356" y="614"/>
              <a:ext cx="1670" cy="1"/>
            </a:xfrm>
            <a:prstGeom prst="line">
              <a:avLst/>
            </a:prstGeom>
            <a:noFill/>
            <a:ln w="3175" cmpd="sng">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495" name="Line 15"/>
            <p:cNvSpPr>
              <a:spLocks noChangeShapeType="1"/>
            </p:cNvSpPr>
            <p:nvPr/>
          </p:nvSpPr>
          <p:spPr bwMode="auto">
            <a:xfrm>
              <a:off x="339" y="39"/>
              <a:ext cx="1" cy="1161"/>
            </a:xfrm>
            <a:prstGeom prst="line">
              <a:avLst/>
            </a:prstGeom>
            <a:noFill/>
            <a:ln w="9525" cmpd="sng">
              <a:solidFill>
                <a:srgbClr val="000000"/>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496" name="Line 16"/>
            <p:cNvSpPr>
              <a:spLocks noChangeShapeType="1"/>
            </p:cNvSpPr>
            <p:nvPr/>
          </p:nvSpPr>
          <p:spPr bwMode="auto">
            <a:xfrm>
              <a:off x="339" y="739"/>
              <a:ext cx="2113" cy="0"/>
            </a:xfrm>
            <a:prstGeom prst="line">
              <a:avLst/>
            </a:prstGeom>
            <a:noFill/>
            <a:ln w="9525" cmpd="sng">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497" name="Line 17"/>
            <p:cNvSpPr>
              <a:spLocks noChangeShapeType="1"/>
            </p:cNvSpPr>
            <p:nvPr/>
          </p:nvSpPr>
          <p:spPr bwMode="auto">
            <a:xfrm>
              <a:off x="339" y="969"/>
              <a:ext cx="1114" cy="1"/>
            </a:xfrm>
            <a:prstGeom prst="line">
              <a:avLst/>
            </a:prstGeom>
            <a:noFill/>
            <a:ln w="3175" cmpd="sng">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498" name="Line 18"/>
            <p:cNvSpPr>
              <a:spLocks noChangeShapeType="1"/>
            </p:cNvSpPr>
            <p:nvPr/>
          </p:nvSpPr>
          <p:spPr bwMode="auto">
            <a:xfrm>
              <a:off x="1927" y="615"/>
              <a:ext cx="1" cy="125"/>
            </a:xfrm>
            <a:prstGeom prst="line">
              <a:avLst/>
            </a:prstGeom>
            <a:noFill/>
            <a:ln w="3175" cmpd="sng">
              <a:solidFill>
                <a:srgbClr val="000000"/>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499" name="Line 19"/>
            <p:cNvSpPr>
              <a:spLocks noChangeShapeType="1"/>
            </p:cNvSpPr>
            <p:nvPr/>
          </p:nvSpPr>
          <p:spPr bwMode="auto">
            <a:xfrm>
              <a:off x="716" y="259"/>
              <a:ext cx="1" cy="356"/>
            </a:xfrm>
            <a:prstGeom prst="line">
              <a:avLst/>
            </a:prstGeom>
            <a:noFill/>
            <a:ln w="9525" cmpd="sng">
              <a:solidFill>
                <a:srgbClr val="000000"/>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00" name="Line 20"/>
            <p:cNvSpPr>
              <a:spLocks noChangeShapeType="1"/>
            </p:cNvSpPr>
            <p:nvPr/>
          </p:nvSpPr>
          <p:spPr bwMode="auto">
            <a:xfrm>
              <a:off x="339" y="259"/>
              <a:ext cx="1998" cy="0"/>
            </a:xfrm>
            <a:prstGeom prst="line">
              <a:avLst/>
            </a:prstGeom>
            <a:noFill/>
            <a:ln w="3175" cmpd="sng">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01" name="Line 21"/>
            <p:cNvSpPr>
              <a:spLocks noChangeShapeType="1"/>
            </p:cNvSpPr>
            <p:nvPr/>
          </p:nvSpPr>
          <p:spPr bwMode="auto">
            <a:xfrm>
              <a:off x="2238" y="270"/>
              <a:ext cx="1" cy="470"/>
            </a:xfrm>
            <a:prstGeom prst="line">
              <a:avLst/>
            </a:prstGeom>
            <a:noFill/>
            <a:ln w="3175" cmpd="sng">
              <a:solidFill>
                <a:srgbClr val="000000"/>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02" name="Rectangle 22"/>
            <p:cNvSpPr>
              <a:spLocks noChangeArrowheads="1"/>
            </p:cNvSpPr>
            <p:nvPr/>
          </p:nvSpPr>
          <p:spPr bwMode="auto">
            <a:xfrm>
              <a:off x="45" y="0"/>
              <a:ext cx="312"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sym typeface="Symbol" panose="05050102010706020507" pitchFamily="18" charset="2"/>
                </a:rPr>
                <a:t></a:t>
              </a:r>
              <a:endParaRPr lang="en-US" sz="1800"/>
            </a:p>
          </p:txBody>
        </p:sp>
        <p:sp>
          <p:nvSpPr>
            <p:cNvPr id="20503" name="Rectangle 23"/>
            <p:cNvSpPr>
              <a:spLocks noChangeArrowheads="1"/>
            </p:cNvSpPr>
            <p:nvPr/>
          </p:nvSpPr>
          <p:spPr bwMode="auto">
            <a:xfrm>
              <a:off x="716" y="317"/>
              <a:ext cx="312"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sym typeface="Symbol" panose="05050102010706020507" pitchFamily="18" charset="2"/>
                </a:rPr>
                <a:t></a:t>
              </a:r>
              <a:r>
                <a:rPr lang="en-US" sz="1800" baseline="-25000"/>
                <a:t>a</a:t>
              </a:r>
              <a:endParaRPr lang="en-US" sz="1800"/>
            </a:p>
          </p:txBody>
        </p:sp>
        <p:sp>
          <p:nvSpPr>
            <p:cNvPr id="20504" name="Rectangle 24"/>
            <p:cNvSpPr>
              <a:spLocks noChangeArrowheads="1"/>
            </p:cNvSpPr>
            <p:nvPr/>
          </p:nvSpPr>
          <p:spPr bwMode="auto">
            <a:xfrm>
              <a:off x="212" y="643"/>
              <a:ext cx="198"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t>0</a:t>
              </a:r>
              <a:endParaRPr lang="en-US" sz="1800"/>
            </a:p>
          </p:txBody>
        </p:sp>
        <p:sp>
          <p:nvSpPr>
            <p:cNvPr id="20505" name="Rectangle 25"/>
            <p:cNvSpPr>
              <a:spLocks noChangeArrowheads="1"/>
            </p:cNvSpPr>
            <p:nvPr/>
          </p:nvSpPr>
          <p:spPr bwMode="auto">
            <a:xfrm>
              <a:off x="2500" y="643"/>
              <a:ext cx="181"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t>t</a:t>
              </a:r>
              <a:endParaRPr lang="en-US" sz="1800"/>
            </a:p>
          </p:txBody>
        </p:sp>
        <p:sp>
          <p:nvSpPr>
            <p:cNvPr id="20506" name="Rectangle 26"/>
            <p:cNvSpPr>
              <a:spLocks noChangeArrowheads="1"/>
            </p:cNvSpPr>
            <p:nvPr/>
          </p:nvSpPr>
          <p:spPr bwMode="auto">
            <a:xfrm>
              <a:off x="2271" y="384"/>
              <a:ext cx="44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sym typeface="Symbol" panose="05050102010706020507" pitchFamily="18" charset="2"/>
                </a:rPr>
                <a:t></a:t>
              </a:r>
              <a:r>
                <a:rPr lang="en-US" sz="1800" baseline="-25000"/>
                <a:t>max</a:t>
              </a:r>
              <a:endParaRPr lang="en-US" sz="1800"/>
            </a:p>
          </p:txBody>
        </p:sp>
        <p:sp>
          <p:nvSpPr>
            <p:cNvPr id="20507" name="Rectangle 27"/>
            <p:cNvSpPr>
              <a:spLocks noChangeArrowheads="1"/>
            </p:cNvSpPr>
            <p:nvPr/>
          </p:nvSpPr>
          <p:spPr bwMode="auto">
            <a:xfrm>
              <a:off x="1960" y="566"/>
              <a:ext cx="296"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sym typeface="Symbol" panose="05050102010706020507" pitchFamily="18" charset="2"/>
                </a:rPr>
                <a:t></a:t>
              </a:r>
              <a:r>
                <a:rPr lang="en-US" sz="1800" baseline="-25000"/>
                <a:t>m</a:t>
              </a:r>
              <a:endParaRPr lang="en-US" sz="1800"/>
            </a:p>
          </p:txBody>
        </p:sp>
        <p:sp>
          <p:nvSpPr>
            <p:cNvPr id="20508" name="Rectangle 28"/>
            <p:cNvSpPr>
              <a:spLocks noChangeArrowheads="1"/>
            </p:cNvSpPr>
            <p:nvPr/>
          </p:nvSpPr>
          <p:spPr bwMode="auto">
            <a:xfrm>
              <a:off x="716" y="748"/>
              <a:ext cx="377"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sym typeface="Symbol" panose="05050102010706020507" pitchFamily="18" charset="2"/>
                </a:rPr>
                <a:t></a:t>
              </a:r>
              <a:r>
                <a:rPr lang="en-US" sz="1800" baseline="-25000"/>
                <a:t>min</a:t>
              </a:r>
              <a:endParaRPr lang="en-US" sz="1800"/>
            </a:p>
          </p:txBody>
        </p:sp>
        <p:sp>
          <p:nvSpPr>
            <p:cNvPr id="20509" name="Rectangle 29"/>
            <p:cNvSpPr>
              <a:spLocks noChangeArrowheads="1"/>
            </p:cNvSpPr>
            <p:nvPr/>
          </p:nvSpPr>
          <p:spPr bwMode="auto">
            <a:xfrm>
              <a:off x="74" y="163"/>
              <a:ext cx="393"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t>200</a:t>
              </a:r>
              <a:endParaRPr lang="en-US" sz="1800"/>
            </a:p>
          </p:txBody>
        </p:sp>
        <p:sp>
          <p:nvSpPr>
            <p:cNvPr id="20510" name="Rectangle 30"/>
            <p:cNvSpPr>
              <a:spLocks noChangeArrowheads="1"/>
            </p:cNvSpPr>
            <p:nvPr/>
          </p:nvSpPr>
          <p:spPr bwMode="auto">
            <a:xfrm>
              <a:off x="45" y="509"/>
              <a:ext cx="311" cy="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t>50</a:t>
              </a:r>
              <a:endParaRPr lang="en-US" sz="1800"/>
            </a:p>
          </p:txBody>
        </p:sp>
        <p:sp>
          <p:nvSpPr>
            <p:cNvPr id="20511" name="Line 31"/>
            <p:cNvSpPr>
              <a:spLocks noChangeShapeType="1"/>
            </p:cNvSpPr>
            <p:nvPr/>
          </p:nvSpPr>
          <p:spPr bwMode="auto">
            <a:xfrm>
              <a:off x="716" y="749"/>
              <a:ext cx="1" cy="221"/>
            </a:xfrm>
            <a:prstGeom prst="line">
              <a:avLst/>
            </a:prstGeom>
            <a:noFill/>
            <a:ln w="3175" cmpd="sng">
              <a:solidFill>
                <a:srgbClr val="000000"/>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12" name="Rectangle 32"/>
            <p:cNvSpPr>
              <a:spLocks noChangeArrowheads="1"/>
            </p:cNvSpPr>
            <p:nvPr/>
          </p:nvSpPr>
          <p:spPr bwMode="auto">
            <a:xfrm>
              <a:off x="0" y="873"/>
              <a:ext cx="410"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800"/>
                <a:t>-100</a:t>
              </a:r>
              <a:endParaRPr lang="en-US" sz="18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0484"/>
                                        </p:tgtEl>
                                        <p:attrNameLst>
                                          <p:attrName>style.visibility</p:attrName>
                                        </p:attrNameLst>
                                      </p:cBhvr>
                                      <p:to>
                                        <p:strVal val="visible"/>
                                      </p:to>
                                    </p:set>
                                    <p:animEffect transition="in" filter="dissolve">
                                      <p:cBhvr>
                                        <p:cTn id="19" dur="500"/>
                                        <p:tgtEl>
                                          <p:spTgt spid="20484"/>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20485"/>
                                        </p:tgtEl>
                                        <p:attrNameLst>
                                          <p:attrName>style.visibility</p:attrName>
                                        </p:attrNameLst>
                                      </p:cBhvr>
                                      <p:to>
                                        <p:strVal val="visible"/>
                                      </p:to>
                                    </p:set>
                                    <p:animEffect transition="in" filter="dissolve">
                                      <p:cBhvr>
                                        <p:cTn id="24" dur="500"/>
                                        <p:tgtEl>
                                          <p:spTgt spid="2048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20486"/>
                                        </p:tgtEl>
                                        <p:attrNameLst>
                                          <p:attrName>style.visibility</p:attrName>
                                        </p:attrNameLst>
                                      </p:cBhvr>
                                      <p:to>
                                        <p:strVal val="visible"/>
                                      </p:to>
                                    </p:set>
                                    <p:animEffect transition="in" filter="dissolve">
                                      <p:cBhvr>
                                        <p:cTn id="29" dur="500"/>
                                        <p:tgtEl>
                                          <p:spTgt spid="20486"/>
                                        </p:tgtEl>
                                      </p:cBhvr>
                                    </p:animEffect>
                                  </p:childTnLst>
                                </p:cTn>
                              </p:par>
                            </p:childTnLst>
                          </p:cTn>
                        </p:par>
                      </p:childTnLst>
                    </p:cTn>
                  </p:par>
                  <p:par>
                    <p:cTn id="30" fill="hold">
                      <p:stCondLst>
                        <p:cond delay="indefinite"/>
                      </p:stCondLst>
                      <p:childTnLst>
                        <p:par>
                          <p:cTn id="31" fill="hold">
                            <p:stCondLst>
                              <p:cond delay="0"/>
                            </p:stCondLst>
                            <p:childTnLst>
                              <p:par>
                                <p:cTn id="32" presetID="7" presetClass="entr" presetSubtype="2" fill="hold" nodeType="clickEffect">
                                  <p:stCondLst>
                                    <p:cond delay="0"/>
                                  </p:stCondLst>
                                  <p:childTnLst>
                                    <p:set>
                                      <p:cBhvr>
                                        <p:cTn id="33" dur="2000" fill="hold">
                                          <p:stCondLst>
                                            <p:cond delay="0"/>
                                          </p:stCondLst>
                                        </p:cTn>
                                        <p:tgtEl>
                                          <p:spTgt spid="20487"/>
                                        </p:tgtEl>
                                        <p:attrNameLst>
                                          <p:attrName>style.visibility</p:attrName>
                                        </p:attrNameLst>
                                      </p:cBhvr>
                                      <p:to>
                                        <p:strVal val="visible"/>
                                      </p:to>
                                    </p:set>
                                    <p:anim calcmode="lin" valueType="num">
                                      <p:cBhvr additive="base">
                                        <p:cTn id="34" dur="2000" fill="hold"/>
                                        <p:tgtEl>
                                          <p:spTgt spid="20487"/>
                                        </p:tgtEl>
                                        <p:attrNameLst>
                                          <p:attrName>ppt_x</p:attrName>
                                        </p:attrNameLst>
                                      </p:cBhvr>
                                      <p:tavLst>
                                        <p:tav tm="0">
                                          <p:val>
                                            <p:strVal val="1+#ppt_w/2"/>
                                          </p:val>
                                        </p:tav>
                                        <p:tav tm="100000">
                                          <p:val>
                                            <p:strVal val="#ppt_x"/>
                                          </p:val>
                                        </p:tav>
                                      </p:tavLst>
                                    </p:anim>
                                    <p:anim calcmode="lin" valueType="num">
                                      <p:cBhvr additive="base">
                                        <p:cTn id="35" dur="2000" fill="hold"/>
                                        <p:tgtEl>
                                          <p:spTgt spid="204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lstStyle/>
          <a:p>
            <a:pPr lvl="0" algn="l">
              <a:buNone/>
            </a:pPr>
            <a:r>
              <a:rPr lang="en-US" sz="2600" b="1" dirty="0">
                <a:sym typeface="+mn-ea"/>
              </a:rPr>
              <a:t>1</a:t>
            </a:r>
            <a:r>
              <a:rPr lang="zh-CN" altLang="en-US" sz="2600" b="1" dirty="0">
                <a:sym typeface="+mn-ea"/>
              </a:rPr>
              <a:t>、下列四种叙述中</a:t>
            </a:r>
            <a:r>
              <a:rPr lang="zh-CN" altLang="en-US" sz="2600" b="1" u="sng" dirty="0">
                <a:sym typeface="+mn-ea"/>
              </a:rPr>
              <a:t>                </a:t>
            </a:r>
            <a:r>
              <a:rPr lang="zh-CN" altLang="en-US" sz="2600" b="1" dirty="0">
                <a:sym typeface="+mn-ea"/>
              </a:rPr>
              <a:t>是正确的。</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387600"/>
            <a:ext cx="6400800" cy="642620"/>
          </a:xfrm>
          <a:prstGeom prst="rect">
            <a:avLst/>
          </a:prstGeom>
          <a:noFill/>
        </p:spPr>
        <p:txBody>
          <a:bodyPr wrap="square" rtlCol="0" anchor="ctr" anchorCtr="0">
            <a:noAutofit/>
          </a:bodyPr>
          <a:lstStyle/>
          <a:p>
            <a:pPr lvl="0" algn="l">
              <a:buNone/>
            </a:pPr>
            <a:r>
              <a:rPr lang="zh-CN" altLang="en-US" sz="2600" b="1" dirty="0">
                <a:sym typeface="+mn-ea"/>
              </a:rPr>
              <a:t>变应力只能由变载荷产生；</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244850"/>
            <a:ext cx="6400800" cy="642620"/>
          </a:xfrm>
          <a:prstGeom prst="rect">
            <a:avLst/>
          </a:prstGeom>
          <a:noFill/>
        </p:spPr>
        <p:txBody>
          <a:bodyPr wrap="square" rtlCol="0" anchor="ctr" anchorCtr="0">
            <a:noAutofit/>
          </a:bodyPr>
          <a:lstStyle/>
          <a:p>
            <a:pPr lvl="0" algn="l">
              <a:buNone/>
            </a:pPr>
            <a:r>
              <a:rPr lang="zh-CN" altLang="en-US" sz="2600" b="1" dirty="0">
                <a:sym typeface="+mn-ea"/>
              </a:rPr>
              <a:t>静载荷不能产生变应力；</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102100"/>
            <a:ext cx="6400800" cy="642620"/>
          </a:xfrm>
          <a:prstGeom prst="rect">
            <a:avLst/>
          </a:prstGeom>
          <a:noFill/>
        </p:spPr>
        <p:txBody>
          <a:bodyPr wrap="square" rtlCol="0" anchor="ctr" anchorCtr="0">
            <a:noAutofit/>
          </a:bodyPr>
          <a:lstStyle/>
          <a:p>
            <a:pPr lvl="0" algn="l">
              <a:buNone/>
            </a:pPr>
            <a:r>
              <a:rPr lang="zh-CN" altLang="en-US" sz="2600" b="1" dirty="0">
                <a:sym typeface="+mn-ea"/>
              </a:rPr>
              <a:t>变应力是由静载荷产生；</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4959350"/>
            <a:ext cx="6400800" cy="642620"/>
          </a:xfrm>
          <a:prstGeom prst="rect">
            <a:avLst/>
          </a:prstGeom>
          <a:noFill/>
        </p:spPr>
        <p:txBody>
          <a:bodyPr wrap="square" rtlCol="0" anchor="ctr" anchorCtr="0">
            <a:noAutofit/>
          </a:bodyPr>
          <a:lstStyle/>
          <a:p>
            <a:pPr lvl="0" algn="l">
              <a:buNone/>
            </a:pPr>
            <a:r>
              <a:rPr lang="zh-CN" altLang="en-US" sz="2600" b="1" dirty="0">
                <a:sym typeface="+mn-ea"/>
              </a:rPr>
              <a:t>变应力是由变载荷产生，也可能由静载荷产生。</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45173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30898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16623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023485"/>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20" name="矩形 19"/>
          <p:cNvSpPr/>
          <p:nvPr/>
        </p:nvSpPr>
        <p:spPr>
          <a:xfrm>
            <a:off x="657225" y="2120900"/>
            <a:ext cx="1234440" cy="3513455"/>
          </a:xfrm>
          <a:prstGeom prst="rect">
            <a:avLst/>
          </a:prstGeom>
          <a:solidFill>
            <a:schemeClr val="bg1"/>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3"/>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8137"/>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882015" y="864235"/>
            <a:ext cx="7315200" cy="1576070"/>
          </a:xfrm>
          <a:prstGeom prst="rect">
            <a:avLst/>
          </a:prstGeom>
          <a:noFill/>
        </p:spPr>
        <p:txBody>
          <a:bodyPr wrap="square" rtlCol="0" anchor="ctr" anchorCtr="0">
            <a:noAutofit/>
          </a:bodyPr>
          <a:lstStyle/>
          <a:p>
            <a:pPr lvl="0" algn="l">
              <a:buNone/>
            </a:pPr>
            <a:r>
              <a:rPr lang="en-US" altLang="zh-CN" sz="2400" dirty="0">
                <a:latin typeface="黑体" panose="02010609060101010101" pitchFamily="49" charset="-122"/>
                <a:ea typeface="黑体" panose="02010609060101010101" pitchFamily="49" charset="-122"/>
                <a:sym typeface="+mn-ea"/>
              </a:rPr>
              <a:t>2</a:t>
            </a:r>
            <a:r>
              <a:rPr lang="zh-CN" altLang="en-US" sz="2400" dirty="0">
                <a:latin typeface="黑体" panose="02010609060101010101" pitchFamily="49" charset="-122"/>
                <a:ea typeface="黑体" panose="02010609060101010101" pitchFamily="49" charset="-122"/>
                <a:sym typeface="+mn-ea"/>
              </a:rPr>
              <a:t>、发动机连杆横截面上的应力变化规律如图所示，则该变应力的应力比</a:t>
            </a:r>
            <a:r>
              <a:rPr lang="en-US" sz="2400" dirty="0">
                <a:latin typeface="黑体" panose="02010609060101010101" pitchFamily="49" charset="-122"/>
                <a:ea typeface="黑体" panose="02010609060101010101" pitchFamily="49" charset="-122"/>
                <a:sym typeface="+mn-ea"/>
              </a:rPr>
              <a:t>r</a:t>
            </a:r>
            <a:r>
              <a:rPr lang="zh-CN" altLang="en-US" sz="2400" dirty="0">
                <a:latin typeface="黑体" panose="02010609060101010101" pitchFamily="49" charset="-122"/>
                <a:ea typeface="黑体" panose="02010609060101010101" pitchFamily="49" charset="-122"/>
                <a:sym typeface="+mn-ea"/>
              </a:rPr>
              <a:t>为</a:t>
            </a:r>
            <a:r>
              <a:rPr lang="zh-CN" altLang="en-US" sz="2400" u="sng" dirty="0">
                <a:latin typeface="黑体" panose="02010609060101010101" pitchFamily="49" charset="-122"/>
                <a:ea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sym typeface="+mn-ea"/>
              </a:rPr>
              <a:t>。</a:t>
            </a:r>
            <a:endParaRPr lang="zh-CN" altLang="en-US" sz="24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117090"/>
            <a:ext cx="6400800" cy="642620"/>
          </a:xfrm>
          <a:prstGeom prst="rect">
            <a:avLst/>
          </a:prstGeom>
          <a:noFill/>
        </p:spPr>
        <p:txBody>
          <a:bodyPr wrap="square" rtlCol="0" anchor="ctr" anchorCtr="0">
            <a:noAutofit/>
          </a:bodyPr>
          <a:lstStyle/>
          <a:p>
            <a:pPr lvl="0" algn="l">
              <a:buNone/>
            </a:pPr>
            <a:r>
              <a:rPr lang="en-US" sz="2600" dirty="0">
                <a:sym typeface="+mn-ea"/>
              </a:rPr>
              <a:t>0.24</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781810" y="2799080"/>
            <a:ext cx="640080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charset="-122"/>
                <a:ea typeface="微软雅黑" panose="020B0503020204020204" charset="-122"/>
              </a:rPr>
              <a:t>-0.24</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711960" y="3510915"/>
            <a:ext cx="640080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charset="-122"/>
                <a:ea typeface="微软雅黑" panose="020B0503020204020204" charset="-122"/>
              </a:rPr>
              <a:t>-4.17</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6895" y="4152265"/>
            <a:ext cx="640080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charset="-122"/>
                <a:ea typeface="微软雅黑" panose="020B0503020204020204" charset="-122"/>
              </a:rPr>
              <a:t>4.17</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18122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061720" y="288925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061720" y="354330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061720" y="418528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551930" y="6219190"/>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grpSp>
        <p:nvGrpSpPr>
          <p:cNvPr id="26628" name="Group 4"/>
          <p:cNvGrpSpPr/>
          <p:nvPr/>
        </p:nvGrpSpPr>
        <p:grpSpPr bwMode="auto">
          <a:xfrm>
            <a:off x="1332230" y="4869180"/>
            <a:ext cx="5219700" cy="1578610"/>
            <a:chOff x="0" y="-30"/>
            <a:chExt cx="3463" cy="1333"/>
          </a:xfrm>
        </p:grpSpPr>
        <p:sp>
          <p:nvSpPr>
            <p:cNvPr id="26629" name="Line 5"/>
            <p:cNvSpPr>
              <a:spLocks noChangeShapeType="1"/>
            </p:cNvSpPr>
            <p:nvPr/>
          </p:nvSpPr>
          <p:spPr bwMode="auto">
            <a:xfrm>
              <a:off x="288" y="1156"/>
              <a:ext cx="1836" cy="1"/>
            </a:xfrm>
            <a:prstGeom prst="line">
              <a:avLst/>
            </a:prstGeom>
            <a:noFill/>
            <a:ln w="1270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0" name="Line 6"/>
            <p:cNvSpPr>
              <a:spLocks noChangeShapeType="1"/>
            </p:cNvSpPr>
            <p:nvPr/>
          </p:nvSpPr>
          <p:spPr bwMode="auto">
            <a:xfrm>
              <a:off x="263" y="-30"/>
              <a:ext cx="1" cy="1333"/>
            </a:xfrm>
            <a:prstGeom prst="line">
              <a:avLst/>
            </a:prstGeom>
            <a:noFill/>
            <a:ln w="19050" cmpd="sng">
              <a:solidFill>
                <a:srgbClr val="FF0000"/>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1" name="Line 7"/>
            <p:cNvSpPr>
              <a:spLocks noChangeShapeType="1"/>
            </p:cNvSpPr>
            <p:nvPr/>
          </p:nvSpPr>
          <p:spPr bwMode="auto">
            <a:xfrm>
              <a:off x="270" y="507"/>
              <a:ext cx="2322" cy="0"/>
            </a:xfrm>
            <a:prstGeom prst="line">
              <a:avLst/>
            </a:prstGeom>
            <a:noFill/>
            <a:ln w="19050" cmpd="sng">
              <a:solidFill>
                <a:srgbClr val="FF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2" name="Line 8"/>
            <p:cNvSpPr>
              <a:spLocks noChangeShapeType="1"/>
            </p:cNvSpPr>
            <p:nvPr/>
          </p:nvSpPr>
          <p:spPr bwMode="auto">
            <a:xfrm>
              <a:off x="252" y="319"/>
              <a:ext cx="2214" cy="0"/>
            </a:xfrm>
            <a:prstGeom prst="line">
              <a:avLst/>
            </a:prstGeom>
            <a:noFill/>
            <a:ln w="1270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3" name="Line 9"/>
            <p:cNvSpPr>
              <a:spLocks noChangeShapeType="1"/>
            </p:cNvSpPr>
            <p:nvPr/>
          </p:nvSpPr>
          <p:spPr bwMode="auto">
            <a:xfrm>
              <a:off x="2357" y="330"/>
              <a:ext cx="1" cy="177"/>
            </a:xfrm>
            <a:prstGeom prst="line">
              <a:avLst/>
            </a:prstGeom>
            <a:noFill/>
            <a:ln w="3175" cmpd="sng">
              <a:solidFill>
                <a:srgbClr val="000000"/>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4" name="Rectangle 10"/>
            <p:cNvSpPr>
              <a:spLocks noChangeArrowheads="1"/>
            </p:cNvSpPr>
            <p:nvPr/>
          </p:nvSpPr>
          <p:spPr bwMode="auto">
            <a:xfrm>
              <a:off x="0" y="0"/>
              <a:ext cx="343"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a:sym typeface="Symbol" panose="05050102010706020507" pitchFamily="18" charset="2"/>
                </a:rPr>
                <a:t></a:t>
              </a:r>
              <a:endParaRPr lang="en-US" sz="1600"/>
            </a:p>
          </p:txBody>
        </p:sp>
        <p:sp>
          <p:nvSpPr>
            <p:cNvPr id="26635" name="Rectangle 11"/>
            <p:cNvSpPr>
              <a:spLocks noChangeArrowheads="1"/>
            </p:cNvSpPr>
            <p:nvPr/>
          </p:nvSpPr>
          <p:spPr bwMode="auto">
            <a:xfrm>
              <a:off x="2645" y="426"/>
              <a:ext cx="199"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a:t>t</a:t>
              </a:r>
              <a:endParaRPr lang="en-US" sz="1600"/>
            </a:p>
          </p:txBody>
        </p:sp>
        <p:sp>
          <p:nvSpPr>
            <p:cNvPr id="26636" name="Rectangle 12"/>
            <p:cNvSpPr>
              <a:spLocks noChangeArrowheads="1"/>
            </p:cNvSpPr>
            <p:nvPr/>
          </p:nvSpPr>
          <p:spPr bwMode="auto">
            <a:xfrm>
              <a:off x="2400" y="269"/>
              <a:ext cx="1063"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b="1">
                  <a:solidFill>
                    <a:srgbClr val="FF0000"/>
                  </a:solidFill>
                </a:rPr>
                <a:t>31.2N/mm</a:t>
              </a:r>
              <a:r>
                <a:rPr lang="en-US" sz="1400" b="1" baseline="30000">
                  <a:solidFill>
                    <a:srgbClr val="FF0000"/>
                  </a:solidFill>
                </a:rPr>
                <a:t>2</a:t>
              </a:r>
              <a:endParaRPr lang="en-US" sz="1400" b="1" baseline="30000">
                <a:solidFill>
                  <a:srgbClr val="FF0000"/>
                </a:solidFill>
              </a:endParaRPr>
            </a:p>
          </p:txBody>
        </p:sp>
        <p:sp>
          <p:nvSpPr>
            <p:cNvPr id="26637" name="Rectangle 13"/>
            <p:cNvSpPr>
              <a:spLocks noChangeArrowheads="1"/>
            </p:cNvSpPr>
            <p:nvPr/>
          </p:nvSpPr>
          <p:spPr bwMode="auto">
            <a:xfrm>
              <a:off x="1872" y="750"/>
              <a:ext cx="1314"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a:solidFill>
                    <a:srgbClr val="FF0000"/>
                  </a:solidFill>
                </a:rPr>
                <a:t>-</a:t>
              </a:r>
              <a:r>
                <a:rPr lang="en-US" sz="1400" b="1">
                  <a:solidFill>
                    <a:srgbClr val="FF0000"/>
                  </a:solidFill>
                </a:rPr>
                <a:t>130N/mm</a:t>
              </a:r>
              <a:r>
                <a:rPr lang="en-US" sz="1400" b="1" baseline="30000">
                  <a:solidFill>
                    <a:srgbClr val="FF0000"/>
                  </a:solidFill>
                </a:rPr>
                <a:t>2</a:t>
              </a:r>
              <a:endParaRPr lang="en-US" sz="1400" b="1" baseline="30000">
                <a:solidFill>
                  <a:srgbClr val="FF0000"/>
                </a:solidFill>
              </a:endParaRPr>
            </a:p>
          </p:txBody>
        </p:sp>
        <p:sp>
          <p:nvSpPr>
            <p:cNvPr id="26638" name="Line 14"/>
            <p:cNvSpPr>
              <a:spLocks noChangeShapeType="1"/>
            </p:cNvSpPr>
            <p:nvPr/>
          </p:nvSpPr>
          <p:spPr bwMode="auto">
            <a:xfrm>
              <a:off x="1836" y="506"/>
              <a:ext cx="0" cy="650"/>
            </a:xfrm>
            <a:prstGeom prst="line">
              <a:avLst/>
            </a:prstGeom>
            <a:noFill/>
            <a:ln w="3175" cmpd="sng">
              <a:solidFill>
                <a:srgbClr val="000000"/>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39" name="Rectangle 15"/>
            <p:cNvSpPr>
              <a:spLocks noChangeArrowheads="1"/>
            </p:cNvSpPr>
            <p:nvPr/>
          </p:nvSpPr>
          <p:spPr bwMode="auto">
            <a:xfrm>
              <a:off x="90" y="396"/>
              <a:ext cx="217"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600"/>
                <a:t>0</a:t>
              </a:r>
              <a:endParaRPr lang="en-US" sz="1600"/>
            </a:p>
          </p:txBody>
        </p:sp>
        <p:grpSp>
          <p:nvGrpSpPr>
            <p:cNvPr id="26640" name="Group 16"/>
            <p:cNvGrpSpPr/>
            <p:nvPr/>
          </p:nvGrpSpPr>
          <p:grpSpPr bwMode="auto">
            <a:xfrm>
              <a:off x="264" y="330"/>
              <a:ext cx="648" cy="816"/>
              <a:chOff x="-589" y="0"/>
              <a:chExt cx="20592" cy="20000"/>
            </a:xfrm>
          </p:grpSpPr>
          <p:grpSp>
            <p:nvGrpSpPr>
              <p:cNvPr id="26641" name="Group 17"/>
              <p:cNvGrpSpPr/>
              <p:nvPr/>
            </p:nvGrpSpPr>
            <p:grpSpPr bwMode="auto">
              <a:xfrm>
                <a:off x="-589" y="0"/>
                <a:ext cx="10579" cy="9736"/>
                <a:chOff x="-1180" y="0"/>
                <a:chExt cx="21182" cy="19971"/>
              </a:xfrm>
            </p:grpSpPr>
            <p:sp>
              <p:nvSpPr>
                <p:cNvPr id="26642" name="Arc 18"/>
                <p:cNvSpPr/>
                <p:nvPr/>
              </p:nvSpPr>
              <p:spPr bwMode="auto">
                <a:xfrm flipH="1">
                  <a:off x="-1180" y="27"/>
                  <a:ext cx="10971" cy="19599"/>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43" name="Arc 19"/>
                <p:cNvSpPr/>
                <p:nvPr/>
              </p:nvSpPr>
              <p:spPr bwMode="auto">
                <a:xfrm>
                  <a:off x="10199" y="0"/>
                  <a:ext cx="9803" cy="1997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6644" name="Group 20"/>
              <p:cNvGrpSpPr/>
              <p:nvPr/>
            </p:nvGrpSpPr>
            <p:grpSpPr bwMode="auto">
              <a:xfrm>
                <a:off x="9990" y="10250"/>
                <a:ext cx="10013" cy="9750"/>
                <a:chOff x="0" y="0"/>
                <a:chExt cx="20001" cy="20000"/>
              </a:xfrm>
            </p:grpSpPr>
            <p:sp>
              <p:nvSpPr>
                <p:cNvPr id="26645" name="Arc 21"/>
                <p:cNvSpPr/>
                <p:nvPr/>
              </p:nvSpPr>
              <p:spPr bwMode="auto">
                <a:xfrm flipH="1" flipV="1">
                  <a:off x="0" y="0"/>
                  <a:ext cx="9770" cy="1997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46" name="Arc 22"/>
                <p:cNvSpPr/>
                <p:nvPr/>
              </p:nvSpPr>
              <p:spPr bwMode="auto">
                <a:xfrm flipV="1">
                  <a:off x="10231" y="27"/>
                  <a:ext cx="9770" cy="1997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26647" name="Arc 23"/>
            <p:cNvSpPr/>
            <p:nvPr/>
          </p:nvSpPr>
          <p:spPr bwMode="auto">
            <a:xfrm flipH="1">
              <a:off x="911" y="342"/>
              <a:ext cx="154" cy="39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48" name="Arc 24"/>
            <p:cNvSpPr/>
            <p:nvPr/>
          </p:nvSpPr>
          <p:spPr bwMode="auto">
            <a:xfrm>
              <a:off x="1072" y="341"/>
              <a:ext cx="153" cy="39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49" name="Arc 25"/>
            <p:cNvSpPr/>
            <p:nvPr/>
          </p:nvSpPr>
          <p:spPr bwMode="auto">
            <a:xfrm flipH="1" flipV="1">
              <a:off x="1225" y="759"/>
              <a:ext cx="153" cy="39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50" name="Arc 26"/>
            <p:cNvSpPr/>
            <p:nvPr/>
          </p:nvSpPr>
          <p:spPr bwMode="auto">
            <a:xfrm flipV="1">
              <a:off x="1386" y="760"/>
              <a:ext cx="154" cy="39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651" name="Arc 27"/>
            <p:cNvSpPr/>
            <p:nvPr/>
          </p:nvSpPr>
          <p:spPr bwMode="auto">
            <a:xfrm flipH="1">
              <a:off x="1539" y="330"/>
              <a:ext cx="153" cy="43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cxnSp>
        <p:nvCxnSpPr>
          <p:cNvPr id="19" name="直接连接符 18"/>
          <p:cNvCxnSpPr/>
          <p:nvPr/>
        </p:nvCxnSpPr>
        <p:spPr>
          <a:xfrm>
            <a:off x="1730375" y="5777865"/>
            <a:ext cx="2897505" cy="0"/>
          </a:xfrm>
          <a:prstGeom prst="line">
            <a:avLst/>
          </a:prstGeom>
          <a:noFill/>
          <a:ln w="12700" cap="flat" cmpd="sng" algn="ctr">
            <a:solidFill>
              <a:srgbClr val="00B050"/>
            </a:solidFill>
            <a:prstDash val="solid"/>
            <a:round/>
            <a:headEnd type="none" w="med" len="med"/>
            <a:tailEnd type="none" w="med" len="med"/>
          </a:ln>
        </p:spPr>
      </p:cxnSp>
      <p:sp>
        <p:nvSpPr>
          <p:cNvPr id="20" name="矩形 19"/>
          <p:cNvSpPr/>
          <p:nvPr/>
        </p:nvSpPr>
        <p:spPr>
          <a:xfrm>
            <a:off x="521970" y="1988820"/>
            <a:ext cx="1214755" cy="2835275"/>
          </a:xfrm>
          <a:prstGeom prst="rect">
            <a:avLst/>
          </a:prstGeom>
          <a:solidFill>
            <a:schemeClr val="bg1"/>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3"/>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8137"/>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AutoShape 2">
            <a:hlinkClick r:id="" action="ppaction://hlinkshowjump?jump=previousslide" highlightClick="1"/>
          </p:cNvPr>
          <p:cNvSpPr>
            <a:spLocks noChangeArrowheads="1"/>
          </p:cNvSpPr>
          <p:nvPr/>
        </p:nvSpPr>
        <p:spPr bwMode="auto">
          <a:xfrm>
            <a:off x="8001000" y="6400800"/>
            <a:ext cx="457200" cy="381000"/>
          </a:xfrm>
          <a:prstGeom prst="actionButtonBackPrevious">
            <a:avLst/>
          </a:prstGeom>
          <a:gradFill rotWithShape="0">
            <a:gsLst>
              <a:gs pos="0">
                <a:srgbClr val="767647"/>
              </a:gs>
              <a:gs pos="50000">
                <a:srgbClr val="FFFF99"/>
              </a:gs>
              <a:gs pos="100000">
                <a:srgbClr val="767647"/>
              </a:gs>
            </a:gsLst>
            <a:lin ang="18900000" scaled="1"/>
          </a:gradFill>
          <a:ln>
            <a:noFill/>
          </a:ln>
          <a:effectLst>
            <a:prstShdw prst="shdw17" dist="17961" dir="2700000">
              <a:srgbClr val="99995C"/>
            </a:prstShdw>
          </a:effectLst>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endParaRPr lang="zh-CN" altLang="en-US"/>
          </a:p>
        </p:txBody>
      </p:sp>
      <p:sp>
        <p:nvSpPr>
          <p:cNvPr id="17411" name="AutoShape 3">
            <a:hlinkClick r:id="" action="ppaction://hlinkshowjump?jump=nextslide" highlightClick="1"/>
          </p:cNvPr>
          <p:cNvSpPr>
            <a:spLocks noChangeArrowheads="1"/>
          </p:cNvSpPr>
          <p:nvPr/>
        </p:nvSpPr>
        <p:spPr bwMode="auto">
          <a:xfrm flipH="1">
            <a:off x="8610600" y="6400800"/>
            <a:ext cx="381000" cy="381000"/>
          </a:xfrm>
          <a:prstGeom prst="actionButtonBackPrevious">
            <a:avLst/>
          </a:prstGeom>
          <a:gradFill rotWithShape="0">
            <a:gsLst>
              <a:gs pos="0">
                <a:srgbClr val="767647"/>
              </a:gs>
              <a:gs pos="50000">
                <a:srgbClr val="FFFF99"/>
              </a:gs>
              <a:gs pos="100000">
                <a:srgbClr val="767647"/>
              </a:gs>
            </a:gsLst>
            <a:lin ang="18900000" scaled="1"/>
          </a:gradFill>
          <a:ln>
            <a:noFill/>
          </a:ln>
          <a:effectLst>
            <a:prstShdw prst="shdw17" dist="17961" dir="2700000">
              <a:srgbClr val="99995C"/>
            </a:prstShdw>
          </a:effectLst>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endParaRPr lang="zh-CN" altLang="en-US"/>
          </a:p>
        </p:txBody>
      </p:sp>
      <p:sp>
        <p:nvSpPr>
          <p:cNvPr id="267269" name="Text Box 5"/>
          <p:cNvSpPr txBox="1">
            <a:spLocks noChangeArrowheads="1"/>
          </p:cNvSpPr>
          <p:nvPr/>
        </p:nvSpPr>
        <p:spPr bwMode="auto">
          <a:xfrm>
            <a:off x="457200" y="381000"/>
            <a:ext cx="5483225" cy="457200"/>
          </a:xfrm>
          <a:prstGeom prst="rect">
            <a:avLst/>
          </a:prstGeom>
          <a:solidFill>
            <a:schemeClr val="tx2"/>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ea typeface="黑体" panose="02010609060101010101" pitchFamily="49" charset="-122"/>
              </a:rPr>
              <a:t>二、</a:t>
            </a:r>
            <a:r>
              <a:rPr lang="zh-CN" altLang="en-US" dirty="0">
                <a:solidFill>
                  <a:schemeClr val="bg1"/>
                </a:solidFill>
                <a:ea typeface="黑体" panose="02010609060101010101" pitchFamily="49" charset="-122"/>
              </a:rPr>
              <a:t>静应力作用下的强度问题</a:t>
            </a:r>
            <a:r>
              <a:rPr lang="en-US" altLang="zh-CN" dirty="0">
                <a:solidFill>
                  <a:schemeClr val="bg1"/>
                </a:solidFill>
                <a:latin typeface="宋体" panose="02010600030101010101" pitchFamily="2" charset="-122"/>
                <a:ea typeface="宋体" panose="02010600030101010101" pitchFamily="2" charset="-122"/>
              </a:rPr>
              <a:t>(</a:t>
            </a:r>
            <a:r>
              <a:rPr lang="zh-CN" altLang="en-US" dirty="0">
                <a:solidFill>
                  <a:schemeClr val="bg1"/>
                </a:solidFill>
                <a:ea typeface="黑体" panose="02010609060101010101" pitchFamily="49" charset="-122"/>
              </a:rPr>
              <a:t>静强度</a:t>
            </a:r>
            <a:r>
              <a:rPr lang="en-US" altLang="zh-CN" dirty="0">
                <a:solidFill>
                  <a:schemeClr val="bg1"/>
                </a:solidFill>
                <a:latin typeface="宋体" panose="02010600030101010101" pitchFamily="2" charset="-122"/>
                <a:ea typeface="宋体" panose="02010600030101010101" pitchFamily="2" charset="-122"/>
              </a:rPr>
              <a:t>)</a:t>
            </a:r>
            <a:endParaRPr lang="en-US" altLang="zh-CN" dirty="0">
              <a:solidFill>
                <a:schemeClr val="bg1"/>
              </a:solidFill>
              <a:latin typeface="宋体" panose="02010600030101010101" pitchFamily="2" charset="-122"/>
              <a:ea typeface="宋体" panose="02010600030101010101" pitchFamily="2" charset="-122"/>
            </a:endParaRPr>
          </a:p>
        </p:txBody>
      </p:sp>
      <p:sp>
        <p:nvSpPr>
          <p:cNvPr id="267270" name="Text Box 6"/>
          <p:cNvSpPr txBox="1">
            <a:spLocks noChangeArrowheads="1"/>
          </p:cNvSpPr>
          <p:nvPr/>
        </p:nvSpPr>
        <p:spPr bwMode="auto">
          <a:xfrm>
            <a:off x="685800" y="990600"/>
            <a:ext cx="617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主要失效形式：塑性变形 或 脆性断裂</a:t>
            </a:r>
            <a:endParaRPr lang="zh-CN" altLang="en-US" dirty="0">
              <a:solidFill>
                <a:srgbClr val="002060"/>
              </a:solidFill>
              <a:ea typeface="黑体" panose="02010609060101010101" pitchFamily="49" charset="-122"/>
            </a:endParaRPr>
          </a:p>
        </p:txBody>
      </p:sp>
      <p:sp>
        <p:nvSpPr>
          <p:cNvPr id="267271" name="Text Box 7"/>
          <p:cNvSpPr txBox="1">
            <a:spLocks noChangeArrowheads="1"/>
          </p:cNvSpPr>
          <p:nvPr/>
        </p:nvSpPr>
        <p:spPr bwMode="auto">
          <a:xfrm>
            <a:off x="1143000" y="2057400"/>
            <a:ext cx="514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a:solidFill>
                  <a:schemeClr val="hlink"/>
                </a:solidFill>
                <a:ea typeface="黑体" panose="02010609060101010101" pitchFamily="49" charset="-122"/>
              </a:rPr>
              <a:t>正应力作用时：</a:t>
            </a:r>
            <a:r>
              <a:rPr lang="en-US" altLang="zh-CN" i="1">
                <a:solidFill>
                  <a:schemeClr val="hlink"/>
                </a:solidFill>
                <a:ea typeface="楷体_GB2312" pitchFamily="49" charset="-122"/>
              </a:rPr>
              <a:t>σ</a:t>
            </a:r>
            <a:r>
              <a:rPr lang="en-US" altLang="zh-CN" baseline="-14000">
                <a:solidFill>
                  <a:schemeClr val="hlink"/>
                </a:solidFill>
                <a:ea typeface="黑体" panose="02010609060101010101" pitchFamily="49" charset="-122"/>
              </a:rPr>
              <a:t>ca</a:t>
            </a:r>
            <a:r>
              <a:rPr lang="en-US" altLang="zh-CN" i="1" baseline="-14000">
                <a:solidFill>
                  <a:schemeClr val="hlink"/>
                </a:solidFill>
                <a:ea typeface="黑体" panose="02010609060101010101" pitchFamily="49" charset="-122"/>
              </a:rPr>
              <a:t> </a:t>
            </a:r>
            <a:r>
              <a:rPr lang="en-US" altLang="zh-CN">
                <a:solidFill>
                  <a:schemeClr val="hlink"/>
                </a:solidFill>
                <a:ea typeface="黑体" panose="02010609060101010101" pitchFamily="49" charset="-122"/>
              </a:rPr>
              <a:t>≤ [</a:t>
            </a:r>
            <a:r>
              <a:rPr lang="en-US" altLang="zh-CN" i="1">
                <a:solidFill>
                  <a:schemeClr val="hlink"/>
                </a:solidFill>
                <a:ea typeface="楷体_GB2312" pitchFamily="49" charset="-122"/>
              </a:rPr>
              <a:t>σ</a:t>
            </a:r>
            <a:r>
              <a:rPr lang="en-US" altLang="zh-CN">
                <a:solidFill>
                  <a:schemeClr val="hlink"/>
                </a:solidFill>
                <a:ea typeface="黑体" panose="02010609060101010101" pitchFamily="49" charset="-122"/>
              </a:rPr>
              <a:t>]</a:t>
            </a:r>
            <a:endParaRPr lang="en-US" altLang="zh-CN">
              <a:solidFill>
                <a:schemeClr val="hlink"/>
              </a:solidFill>
              <a:ea typeface="黑体" panose="02010609060101010101" pitchFamily="49" charset="-122"/>
            </a:endParaRPr>
          </a:p>
        </p:txBody>
      </p:sp>
      <p:sp>
        <p:nvSpPr>
          <p:cNvPr id="267272" name="Text Box 8"/>
          <p:cNvSpPr txBox="1">
            <a:spLocks noChangeArrowheads="1"/>
          </p:cNvSpPr>
          <p:nvPr/>
        </p:nvSpPr>
        <p:spPr bwMode="auto">
          <a:xfrm>
            <a:off x="469900" y="5030788"/>
            <a:ext cx="1941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塑性材料：</a:t>
            </a:r>
            <a:endParaRPr lang="zh-CN" altLang="en-US" dirty="0">
              <a:solidFill>
                <a:srgbClr val="002060"/>
              </a:solidFill>
              <a:ea typeface="黑体" panose="02010609060101010101" pitchFamily="49" charset="-122"/>
            </a:endParaRPr>
          </a:p>
        </p:txBody>
      </p:sp>
      <p:graphicFrame>
        <p:nvGraphicFramePr>
          <p:cNvPr id="267273" name="Object 9"/>
          <p:cNvGraphicFramePr>
            <a:graphicFrameLocks noChangeAspect="1"/>
          </p:cNvGraphicFramePr>
          <p:nvPr/>
        </p:nvGraphicFramePr>
        <p:xfrm>
          <a:off x="2060575" y="3560763"/>
          <a:ext cx="3197225" cy="739775"/>
        </p:xfrm>
        <a:graphic>
          <a:graphicData uri="http://schemas.openxmlformats.org/presentationml/2006/ole">
            <mc:AlternateContent xmlns:mc="http://schemas.openxmlformats.org/markup-compatibility/2006">
              <mc:Choice xmlns:v="urn:schemas-microsoft-com:vml" Requires="v">
                <p:oleObj spid="_x0000_s2" name="Equation" r:id="rId1" imgW="1346200" imgH="419100" progId="Equation.3">
                  <p:embed/>
                </p:oleObj>
              </mc:Choice>
              <mc:Fallback>
                <p:oleObj name="Equation" r:id="rId1" imgW="1346200" imgH="419100" progId="Equation.3">
                  <p:embed/>
                  <p:pic>
                    <p:nvPicPr>
                      <p:cNvPr id="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0575" y="3560763"/>
                        <a:ext cx="3197225" cy="739775"/>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sp>
        <p:nvSpPr>
          <p:cNvPr id="267274" name="Text Box 10"/>
          <p:cNvSpPr txBox="1">
            <a:spLocks noChangeArrowheads="1"/>
          </p:cNvSpPr>
          <p:nvPr/>
        </p:nvSpPr>
        <p:spPr bwMode="auto">
          <a:xfrm>
            <a:off x="469900" y="3668713"/>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许用应力：</a:t>
            </a:r>
            <a:endParaRPr lang="zh-CN" altLang="en-US" dirty="0">
              <a:solidFill>
                <a:srgbClr val="002060"/>
              </a:solidFill>
              <a:ea typeface="黑体" panose="02010609060101010101" pitchFamily="49" charset="-122"/>
            </a:endParaRPr>
          </a:p>
        </p:txBody>
      </p:sp>
      <p:sp>
        <p:nvSpPr>
          <p:cNvPr id="267275" name="Text Box 11"/>
          <p:cNvSpPr txBox="1">
            <a:spLocks noChangeArrowheads="1"/>
          </p:cNvSpPr>
          <p:nvPr/>
        </p:nvSpPr>
        <p:spPr bwMode="auto">
          <a:xfrm>
            <a:off x="1981200" y="4419600"/>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i="1" dirty="0" err="1">
                <a:solidFill>
                  <a:srgbClr val="002060"/>
                </a:solidFill>
                <a:ea typeface="楷体_GB2312" pitchFamily="49" charset="-122"/>
              </a:rPr>
              <a:t>σ</a:t>
            </a:r>
            <a:r>
              <a:rPr lang="en-US" altLang="zh-CN" baseline="-14000" dirty="0" err="1">
                <a:solidFill>
                  <a:srgbClr val="002060"/>
                </a:solidFill>
                <a:ea typeface="黑体" panose="02010609060101010101" pitchFamily="49" charset="-122"/>
              </a:rPr>
              <a:t>lim</a:t>
            </a:r>
            <a:r>
              <a:rPr lang="en-US" altLang="zh-CN" baseline="-25000" dirty="0">
                <a:solidFill>
                  <a:srgbClr val="002060"/>
                </a:solidFill>
                <a:ea typeface="黑体" panose="02010609060101010101" pitchFamily="49" charset="-122"/>
              </a:rPr>
              <a:t> </a:t>
            </a:r>
            <a:r>
              <a:rPr lang="en-US" altLang="zh-CN" dirty="0">
                <a:solidFill>
                  <a:srgbClr val="002060"/>
                </a:solidFill>
                <a:ea typeface="黑体" panose="02010609060101010101" pitchFamily="49" charset="-122"/>
              </a:rPr>
              <a:t> </a:t>
            </a:r>
            <a:r>
              <a:rPr lang="zh-CN" altLang="en-US" dirty="0">
                <a:solidFill>
                  <a:srgbClr val="002060"/>
                </a:solidFill>
                <a:ea typeface="黑体" panose="02010609060101010101" pitchFamily="49" charset="-122"/>
              </a:rPr>
              <a:t>、</a:t>
            </a:r>
            <a:r>
              <a:rPr lang="en-US" altLang="zh-CN" i="1" dirty="0" err="1">
                <a:solidFill>
                  <a:srgbClr val="002060"/>
                </a:solidFill>
                <a:ea typeface="隶书" panose="02010509060101010101" pitchFamily="49" charset="-122"/>
              </a:rPr>
              <a:t>τ</a:t>
            </a:r>
            <a:r>
              <a:rPr lang="en-US" altLang="zh-CN" baseline="-14000" dirty="0" err="1">
                <a:solidFill>
                  <a:srgbClr val="002060"/>
                </a:solidFill>
                <a:ea typeface="黑体" panose="02010609060101010101" pitchFamily="49" charset="-122"/>
              </a:rPr>
              <a:t>lim</a:t>
            </a:r>
            <a:r>
              <a:rPr lang="en-US" altLang="zh-CN" baseline="-25000" dirty="0">
                <a:solidFill>
                  <a:srgbClr val="002060"/>
                </a:solidFill>
                <a:ea typeface="黑体" panose="02010609060101010101" pitchFamily="49" charset="-122"/>
              </a:rPr>
              <a:t> </a:t>
            </a:r>
            <a:r>
              <a:rPr lang="en-US" altLang="zh-CN" dirty="0">
                <a:solidFill>
                  <a:srgbClr val="002060"/>
                </a:solidFill>
                <a:ea typeface="黑体" panose="02010609060101010101" pitchFamily="49" charset="-122"/>
              </a:rPr>
              <a:t>— </a:t>
            </a:r>
            <a:r>
              <a:rPr lang="zh-CN" altLang="en-US" dirty="0">
                <a:solidFill>
                  <a:srgbClr val="002060"/>
                </a:solidFill>
                <a:ea typeface="黑体" panose="02010609060101010101" pitchFamily="49" charset="-122"/>
              </a:rPr>
              <a:t>极限应力； </a:t>
            </a:r>
            <a:r>
              <a:rPr lang="en-US" altLang="zh-CN" dirty="0">
                <a:solidFill>
                  <a:srgbClr val="002060"/>
                </a:solidFill>
                <a:ea typeface="黑体" panose="02010609060101010101" pitchFamily="49" charset="-122"/>
              </a:rPr>
              <a:t>[</a:t>
            </a:r>
            <a:r>
              <a:rPr lang="en-US" altLang="zh-CN" i="1" dirty="0">
                <a:solidFill>
                  <a:srgbClr val="002060"/>
                </a:solidFill>
                <a:ea typeface="黑体" panose="02010609060101010101" pitchFamily="49" charset="-122"/>
              </a:rPr>
              <a:t>S</a:t>
            </a:r>
            <a:r>
              <a:rPr lang="en-US" altLang="zh-CN" dirty="0">
                <a:solidFill>
                  <a:srgbClr val="002060"/>
                </a:solidFill>
                <a:ea typeface="黑体" panose="02010609060101010101" pitchFamily="49" charset="-122"/>
              </a:rPr>
              <a:t>] — </a:t>
            </a:r>
            <a:r>
              <a:rPr lang="zh-CN" altLang="en-US" dirty="0">
                <a:solidFill>
                  <a:srgbClr val="002060"/>
                </a:solidFill>
                <a:ea typeface="黑体" panose="02010609060101010101" pitchFamily="49" charset="-122"/>
              </a:rPr>
              <a:t>安全系数</a:t>
            </a:r>
            <a:endParaRPr lang="zh-CN" altLang="en-US" dirty="0">
              <a:solidFill>
                <a:srgbClr val="002060"/>
              </a:solidFill>
              <a:ea typeface="黑体" panose="02010609060101010101" pitchFamily="49" charset="-122"/>
            </a:endParaRPr>
          </a:p>
        </p:txBody>
      </p:sp>
      <p:sp>
        <p:nvSpPr>
          <p:cNvPr id="267276" name="Text Box 12"/>
          <p:cNvSpPr txBox="1">
            <a:spLocks noChangeArrowheads="1"/>
          </p:cNvSpPr>
          <p:nvPr/>
        </p:nvSpPr>
        <p:spPr bwMode="auto">
          <a:xfrm>
            <a:off x="1905000" y="50292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i="1" dirty="0" err="1">
                <a:solidFill>
                  <a:srgbClr val="002060"/>
                </a:solidFill>
                <a:ea typeface="楷体_GB2312" pitchFamily="49" charset="-122"/>
              </a:rPr>
              <a:t>σ</a:t>
            </a:r>
            <a:r>
              <a:rPr lang="en-US" altLang="zh-CN" baseline="-14000" dirty="0" err="1">
                <a:solidFill>
                  <a:srgbClr val="002060"/>
                </a:solidFill>
              </a:rPr>
              <a:t>lim</a:t>
            </a:r>
            <a:r>
              <a:rPr lang="en-US" altLang="zh-CN" baseline="-25000" dirty="0">
                <a:solidFill>
                  <a:srgbClr val="002060"/>
                </a:solidFill>
              </a:rPr>
              <a:t> </a:t>
            </a:r>
            <a:r>
              <a:rPr lang="en-US" altLang="zh-CN" dirty="0">
                <a:solidFill>
                  <a:srgbClr val="002060"/>
                </a:solidFill>
              </a:rPr>
              <a:t> = </a:t>
            </a:r>
            <a:r>
              <a:rPr lang="en-US" altLang="zh-CN" i="1" dirty="0" err="1">
                <a:solidFill>
                  <a:srgbClr val="002060"/>
                </a:solidFill>
                <a:ea typeface="楷体_GB2312" pitchFamily="49" charset="-122"/>
              </a:rPr>
              <a:t>σ</a:t>
            </a:r>
            <a:r>
              <a:rPr lang="en-US" altLang="zh-CN" baseline="-10000" dirty="0" err="1">
                <a:solidFill>
                  <a:srgbClr val="002060"/>
                </a:solidFill>
              </a:rPr>
              <a:t>s</a:t>
            </a:r>
            <a:r>
              <a:rPr lang="en-US" altLang="zh-CN" dirty="0">
                <a:solidFill>
                  <a:srgbClr val="002060"/>
                </a:solidFill>
              </a:rPr>
              <a:t> </a:t>
            </a:r>
            <a:r>
              <a:rPr lang="zh-CN" altLang="en-US" dirty="0">
                <a:solidFill>
                  <a:srgbClr val="002060"/>
                </a:solidFill>
              </a:rPr>
              <a:t>；</a:t>
            </a:r>
            <a:r>
              <a:rPr lang="en-US" altLang="zh-CN" i="1" dirty="0" err="1">
                <a:solidFill>
                  <a:srgbClr val="002060"/>
                </a:solidFill>
                <a:ea typeface="隶书" panose="02010509060101010101" pitchFamily="49" charset="-122"/>
              </a:rPr>
              <a:t>τ</a:t>
            </a:r>
            <a:r>
              <a:rPr lang="en-US" altLang="zh-CN" baseline="-14000" dirty="0" err="1">
                <a:solidFill>
                  <a:srgbClr val="002060"/>
                </a:solidFill>
              </a:rPr>
              <a:t>lim</a:t>
            </a:r>
            <a:r>
              <a:rPr lang="en-US" altLang="zh-CN" baseline="-25000" dirty="0">
                <a:solidFill>
                  <a:srgbClr val="002060"/>
                </a:solidFill>
              </a:rPr>
              <a:t> </a:t>
            </a:r>
            <a:r>
              <a:rPr lang="en-US" altLang="zh-CN" dirty="0">
                <a:solidFill>
                  <a:srgbClr val="002060"/>
                </a:solidFill>
              </a:rPr>
              <a:t>= </a:t>
            </a:r>
            <a:r>
              <a:rPr lang="en-US" altLang="zh-CN" i="1" dirty="0" err="1">
                <a:solidFill>
                  <a:srgbClr val="002060"/>
                </a:solidFill>
                <a:ea typeface="隶书" panose="02010509060101010101" pitchFamily="49" charset="-122"/>
              </a:rPr>
              <a:t>τ</a:t>
            </a:r>
            <a:r>
              <a:rPr lang="en-US" altLang="zh-CN" baseline="-10000" dirty="0" err="1">
                <a:solidFill>
                  <a:srgbClr val="002060"/>
                </a:solidFill>
              </a:rPr>
              <a:t>s</a:t>
            </a:r>
            <a:endParaRPr lang="en-US" altLang="zh-CN" baseline="-10000" dirty="0">
              <a:solidFill>
                <a:srgbClr val="002060"/>
              </a:solidFill>
            </a:endParaRPr>
          </a:p>
        </p:txBody>
      </p:sp>
      <p:sp>
        <p:nvSpPr>
          <p:cNvPr id="267277" name="Text Box 13"/>
          <p:cNvSpPr txBox="1">
            <a:spLocks noChangeArrowheads="1"/>
          </p:cNvSpPr>
          <p:nvPr/>
        </p:nvSpPr>
        <p:spPr bwMode="auto">
          <a:xfrm>
            <a:off x="469900" y="5638800"/>
            <a:ext cx="2014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脆性材料：</a:t>
            </a:r>
            <a:endParaRPr lang="zh-CN" altLang="en-US" dirty="0">
              <a:solidFill>
                <a:srgbClr val="002060"/>
              </a:solidFill>
              <a:ea typeface="黑体" panose="02010609060101010101" pitchFamily="49" charset="-122"/>
            </a:endParaRPr>
          </a:p>
        </p:txBody>
      </p:sp>
      <p:sp>
        <p:nvSpPr>
          <p:cNvPr id="267278" name="Text Box 14"/>
          <p:cNvSpPr txBox="1">
            <a:spLocks noChangeArrowheads="1"/>
          </p:cNvSpPr>
          <p:nvPr/>
        </p:nvSpPr>
        <p:spPr bwMode="auto">
          <a:xfrm>
            <a:off x="1905000" y="56388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i="1" dirty="0" err="1">
                <a:solidFill>
                  <a:srgbClr val="002060"/>
                </a:solidFill>
                <a:ea typeface="楷体_GB2312" pitchFamily="49" charset="-122"/>
              </a:rPr>
              <a:t>σ</a:t>
            </a:r>
            <a:r>
              <a:rPr lang="en-US" altLang="zh-CN" baseline="-14000" dirty="0" err="1">
                <a:solidFill>
                  <a:srgbClr val="002060"/>
                </a:solidFill>
              </a:rPr>
              <a:t>lim</a:t>
            </a:r>
            <a:r>
              <a:rPr lang="en-US" altLang="zh-CN" baseline="-25000" dirty="0">
                <a:solidFill>
                  <a:srgbClr val="002060"/>
                </a:solidFill>
              </a:rPr>
              <a:t> </a:t>
            </a:r>
            <a:r>
              <a:rPr lang="en-US" altLang="zh-CN" dirty="0">
                <a:solidFill>
                  <a:srgbClr val="002060"/>
                </a:solidFill>
              </a:rPr>
              <a:t> = </a:t>
            </a:r>
            <a:r>
              <a:rPr lang="en-US" altLang="zh-CN" i="1" dirty="0" err="1">
                <a:solidFill>
                  <a:srgbClr val="002060"/>
                </a:solidFill>
                <a:ea typeface="楷体_GB2312" pitchFamily="49" charset="-122"/>
              </a:rPr>
              <a:t>σ</a:t>
            </a:r>
            <a:r>
              <a:rPr lang="en-US" altLang="zh-CN" baseline="-16000" dirty="0" err="1">
                <a:solidFill>
                  <a:srgbClr val="002060"/>
                </a:solidFill>
              </a:rPr>
              <a:t>b</a:t>
            </a:r>
            <a:r>
              <a:rPr lang="en-US" altLang="zh-CN" dirty="0">
                <a:solidFill>
                  <a:srgbClr val="002060"/>
                </a:solidFill>
              </a:rPr>
              <a:t> </a:t>
            </a:r>
            <a:r>
              <a:rPr lang="zh-CN" altLang="en-US" dirty="0">
                <a:solidFill>
                  <a:srgbClr val="002060"/>
                </a:solidFill>
              </a:rPr>
              <a:t>；</a:t>
            </a:r>
            <a:r>
              <a:rPr lang="en-US" altLang="zh-CN" i="1" dirty="0" err="1">
                <a:solidFill>
                  <a:srgbClr val="002060"/>
                </a:solidFill>
                <a:ea typeface="隶书" panose="02010509060101010101" pitchFamily="49" charset="-122"/>
              </a:rPr>
              <a:t>τ</a:t>
            </a:r>
            <a:r>
              <a:rPr lang="en-US" altLang="zh-CN" baseline="-14000" dirty="0" err="1">
                <a:solidFill>
                  <a:srgbClr val="002060"/>
                </a:solidFill>
              </a:rPr>
              <a:t>lim</a:t>
            </a:r>
            <a:r>
              <a:rPr lang="en-US" altLang="zh-CN" baseline="-25000" dirty="0">
                <a:solidFill>
                  <a:srgbClr val="002060"/>
                </a:solidFill>
              </a:rPr>
              <a:t> </a:t>
            </a:r>
            <a:r>
              <a:rPr lang="en-US" altLang="zh-CN" dirty="0">
                <a:solidFill>
                  <a:srgbClr val="002060"/>
                </a:solidFill>
              </a:rPr>
              <a:t>= </a:t>
            </a:r>
            <a:r>
              <a:rPr lang="en-US" altLang="zh-CN" i="1" dirty="0" err="1">
                <a:solidFill>
                  <a:srgbClr val="002060"/>
                </a:solidFill>
                <a:ea typeface="隶书" panose="02010509060101010101" pitchFamily="49" charset="-122"/>
              </a:rPr>
              <a:t>τ</a:t>
            </a:r>
            <a:r>
              <a:rPr lang="en-US" altLang="zh-CN" baseline="-16000" dirty="0" err="1">
                <a:solidFill>
                  <a:srgbClr val="002060"/>
                </a:solidFill>
              </a:rPr>
              <a:t>b</a:t>
            </a:r>
            <a:endParaRPr lang="en-US" altLang="zh-CN" baseline="-16000" dirty="0">
              <a:solidFill>
                <a:srgbClr val="002060"/>
              </a:solidFill>
            </a:endParaRPr>
          </a:p>
        </p:txBody>
      </p:sp>
      <p:sp>
        <p:nvSpPr>
          <p:cNvPr id="267279" name="Text Box 15"/>
          <p:cNvSpPr txBox="1">
            <a:spLocks noChangeArrowheads="1"/>
          </p:cNvSpPr>
          <p:nvPr/>
        </p:nvSpPr>
        <p:spPr bwMode="auto">
          <a:xfrm>
            <a:off x="5334000" y="5029200"/>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i="1" dirty="0" err="1">
                <a:solidFill>
                  <a:srgbClr val="002060"/>
                </a:solidFill>
                <a:ea typeface="楷体_GB2312" pitchFamily="49" charset="-122"/>
              </a:rPr>
              <a:t>σ</a:t>
            </a:r>
            <a:r>
              <a:rPr lang="en-US" altLang="zh-CN" baseline="-10000" dirty="0" err="1">
                <a:solidFill>
                  <a:srgbClr val="002060"/>
                </a:solidFill>
                <a:ea typeface="黑体" panose="02010609060101010101" pitchFamily="49" charset="-122"/>
              </a:rPr>
              <a:t>s</a:t>
            </a:r>
            <a:r>
              <a:rPr lang="zh-CN" altLang="en-US" dirty="0">
                <a:solidFill>
                  <a:srgbClr val="002060"/>
                </a:solidFill>
                <a:ea typeface="黑体" panose="02010609060101010101" pitchFamily="49" charset="-122"/>
              </a:rPr>
              <a:t>、</a:t>
            </a:r>
            <a:r>
              <a:rPr lang="en-US" altLang="zh-CN" i="1" dirty="0" err="1">
                <a:solidFill>
                  <a:srgbClr val="002060"/>
                </a:solidFill>
                <a:ea typeface="隶书" panose="02010509060101010101" pitchFamily="49" charset="-122"/>
              </a:rPr>
              <a:t>τ</a:t>
            </a:r>
            <a:r>
              <a:rPr lang="en-US" altLang="zh-CN" baseline="-10000" dirty="0" err="1">
                <a:solidFill>
                  <a:srgbClr val="002060"/>
                </a:solidFill>
                <a:ea typeface="黑体" panose="02010609060101010101" pitchFamily="49" charset="-122"/>
              </a:rPr>
              <a:t>s</a:t>
            </a:r>
            <a:r>
              <a:rPr lang="en-US" altLang="zh-CN" baseline="-10000" dirty="0">
                <a:solidFill>
                  <a:srgbClr val="002060"/>
                </a:solidFill>
                <a:ea typeface="黑体" panose="02010609060101010101" pitchFamily="49" charset="-122"/>
              </a:rPr>
              <a:t> </a:t>
            </a:r>
            <a:r>
              <a:rPr lang="en-US" altLang="zh-CN" dirty="0">
                <a:solidFill>
                  <a:srgbClr val="002060"/>
                </a:solidFill>
                <a:ea typeface="黑体" panose="02010609060101010101" pitchFamily="49" charset="-122"/>
              </a:rPr>
              <a:t>— </a:t>
            </a:r>
            <a:r>
              <a:rPr lang="zh-CN" altLang="en-US" dirty="0">
                <a:solidFill>
                  <a:srgbClr val="002060"/>
                </a:solidFill>
                <a:ea typeface="黑体" panose="02010609060101010101" pitchFamily="49" charset="-122"/>
              </a:rPr>
              <a:t>材料屈服极限</a:t>
            </a:r>
            <a:endParaRPr lang="zh-CN" altLang="en-US" dirty="0">
              <a:solidFill>
                <a:srgbClr val="002060"/>
              </a:solidFill>
              <a:ea typeface="黑体" panose="02010609060101010101" pitchFamily="49" charset="-122"/>
            </a:endParaRPr>
          </a:p>
        </p:txBody>
      </p:sp>
      <p:sp>
        <p:nvSpPr>
          <p:cNvPr id="267290" name="Text Box 26"/>
          <p:cNvSpPr txBox="1">
            <a:spLocks noChangeArrowheads="1"/>
          </p:cNvSpPr>
          <p:nvPr/>
        </p:nvSpPr>
        <p:spPr bwMode="auto">
          <a:xfrm>
            <a:off x="5334000" y="5638800"/>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i="1" dirty="0" err="1">
                <a:solidFill>
                  <a:srgbClr val="002060"/>
                </a:solidFill>
                <a:ea typeface="楷体_GB2312" pitchFamily="49" charset="-122"/>
              </a:rPr>
              <a:t>σ</a:t>
            </a:r>
            <a:r>
              <a:rPr lang="en-US" altLang="zh-CN" baseline="-14000" dirty="0" err="1">
                <a:solidFill>
                  <a:srgbClr val="002060"/>
                </a:solidFill>
                <a:ea typeface="黑体" panose="02010609060101010101" pitchFamily="49" charset="-122"/>
              </a:rPr>
              <a:t>b</a:t>
            </a:r>
            <a:r>
              <a:rPr lang="zh-CN" altLang="en-US" dirty="0">
                <a:solidFill>
                  <a:srgbClr val="002060"/>
                </a:solidFill>
                <a:ea typeface="黑体" panose="02010609060101010101" pitchFamily="49" charset="-122"/>
              </a:rPr>
              <a:t>、</a:t>
            </a:r>
            <a:r>
              <a:rPr lang="en-US" altLang="zh-CN" i="1" dirty="0" err="1">
                <a:solidFill>
                  <a:srgbClr val="002060"/>
                </a:solidFill>
                <a:ea typeface="隶书" panose="02010509060101010101" pitchFamily="49" charset="-122"/>
              </a:rPr>
              <a:t>τ</a:t>
            </a:r>
            <a:r>
              <a:rPr lang="en-US" altLang="zh-CN" baseline="-14000" dirty="0" err="1">
                <a:solidFill>
                  <a:srgbClr val="002060"/>
                </a:solidFill>
                <a:ea typeface="黑体" panose="02010609060101010101" pitchFamily="49" charset="-122"/>
              </a:rPr>
              <a:t>b</a:t>
            </a:r>
            <a:r>
              <a:rPr lang="en-US" altLang="zh-CN" dirty="0">
                <a:solidFill>
                  <a:srgbClr val="002060"/>
                </a:solidFill>
                <a:ea typeface="黑体" panose="02010609060101010101" pitchFamily="49" charset="-122"/>
              </a:rPr>
              <a:t>— </a:t>
            </a:r>
            <a:r>
              <a:rPr lang="zh-CN" altLang="en-US" dirty="0">
                <a:solidFill>
                  <a:srgbClr val="002060"/>
                </a:solidFill>
                <a:ea typeface="黑体" panose="02010609060101010101" pitchFamily="49" charset="-122"/>
              </a:rPr>
              <a:t>材料强度极限</a:t>
            </a:r>
            <a:endParaRPr lang="zh-CN" altLang="en-US" dirty="0">
              <a:solidFill>
                <a:srgbClr val="002060"/>
              </a:solidFill>
              <a:ea typeface="黑体" panose="02010609060101010101" pitchFamily="49" charset="-122"/>
            </a:endParaRPr>
          </a:p>
        </p:txBody>
      </p:sp>
      <p:sp>
        <p:nvSpPr>
          <p:cNvPr id="267291" name="Text Box 27"/>
          <p:cNvSpPr txBox="1">
            <a:spLocks noChangeArrowheads="1"/>
          </p:cNvSpPr>
          <p:nvPr/>
        </p:nvSpPr>
        <p:spPr bwMode="auto">
          <a:xfrm>
            <a:off x="685800" y="1524000"/>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dirty="0">
                <a:solidFill>
                  <a:srgbClr val="002060"/>
                </a:solidFill>
                <a:ea typeface="黑体" panose="02010609060101010101" pitchFamily="49" charset="-122"/>
              </a:rPr>
              <a:t>1</a:t>
            </a:r>
            <a:r>
              <a:rPr lang="zh-CN" altLang="en-US" dirty="0">
                <a:solidFill>
                  <a:srgbClr val="002060"/>
                </a:solidFill>
                <a:ea typeface="黑体" panose="02010609060101010101" pitchFamily="49" charset="-122"/>
              </a:rPr>
              <a:t>、以许用应力为约束的强度条件</a:t>
            </a:r>
            <a:endParaRPr lang="zh-CN" altLang="en-US" dirty="0">
              <a:solidFill>
                <a:srgbClr val="002060"/>
              </a:solidFill>
              <a:ea typeface="黑体" panose="02010609060101010101" pitchFamily="49" charset="-122"/>
            </a:endParaRPr>
          </a:p>
        </p:txBody>
      </p:sp>
      <p:sp>
        <p:nvSpPr>
          <p:cNvPr id="267292" name="Text Box 28"/>
          <p:cNvSpPr txBox="1">
            <a:spLocks noChangeArrowheads="1"/>
          </p:cNvSpPr>
          <p:nvPr/>
        </p:nvSpPr>
        <p:spPr bwMode="auto">
          <a:xfrm>
            <a:off x="457200" y="30480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计算应力：</a:t>
            </a:r>
            <a:r>
              <a:rPr lang="en-US" altLang="zh-CN" i="1" dirty="0" err="1">
                <a:solidFill>
                  <a:srgbClr val="002060"/>
                </a:solidFill>
                <a:ea typeface="楷体_GB2312" pitchFamily="49" charset="-122"/>
              </a:rPr>
              <a:t>σ</a:t>
            </a:r>
            <a:r>
              <a:rPr lang="en-US" altLang="zh-CN" baseline="-16000" dirty="0" err="1">
                <a:solidFill>
                  <a:srgbClr val="002060"/>
                </a:solidFill>
                <a:ea typeface="黑体" panose="02010609060101010101" pitchFamily="49" charset="-122"/>
              </a:rPr>
              <a:t>ca</a:t>
            </a:r>
            <a:r>
              <a:rPr lang="zh-CN" altLang="en-US" dirty="0">
                <a:solidFill>
                  <a:srgbClr val="002060"/>
                </a:solidFill>
                <a:ea typeface="黑体" panose="02010609060101010101" pitchFamily="49" charset="-122"/>
              </a:rPr>
              <a:t>、</a:t>
            </a:r>
            <a:r>
              <a:rPr lang="en-US" altLang="zh-CN" i="1" dirty="0" err="1">
                <a:solidFill>
                  <a:srgbClr val="002060"/>
                </a:solidFill>
                <a:ea typeface="楷体_GB2312" pitchFamily="49" charset="-122"/>
              </a:rPr>
              <a:t>τ</a:t>
            </a:r>
            <a:r>
              <a:rPr lang="en-US" altLang="zh-CN" baseline="-16000" dirty="0" err="1">
                <a:solidFill>
                  <a:srgbClr val="002060"/>
                </a:solidFill>
                <a:ea typeface="黑体" panose="02010609060101010101" pitchFamily="49" charset="-122"/>
              </a:rPr>
              <a:t>ca</a:t>
            </a:r>
            <a:endParaRPr lang="en-US" altLang="zh-CN" baseline="-16000" dirty="0">
              <a:solidFill>
                <a:srgbClr val="002060"/>
              </a:solidFill>
              <a:ea typeface="黑体" panose="02010609060101010101" pitchFamily="49" charset="-122"/>
            </a:endParaRPr>
          </a:p>
        </p:txBody>
      </p:sp>
      <p:sp>
        <p:nvSpPr>
          <p:cNvPr id="267293" name="Text Box 29"/>
          <p:cNvSpPr txBox="1">
            <a:spLocks noChangeArrowheads="1"/>
          </p:cNvSpPr>
          <p:nvPr/>
        </p:nvSpPr>
        <p:spPr bwMode="auto">
          <a:xfrm>
            <a:off x="1143000" y="2590800"/>
            <a:ext cx="514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a:solidFill>
                  <a:schemeClr val="hlink"/>
                </a:solidFill>
                <a:ea typeface="黑体" panose="02010609060101010101" pitchFamily="49" charset="-122"/>
              </a:rPr>
              <a:t>剪应力作用时：</a:t>
            </a:r>
            <a:r>
              <a:rPr lang="en-US" altLang="zh-CN" i="1">
                <a:solidFill>
                  <a:schemeClr val="hlink"/>
                </a:solidFill>
                <a:ea typeface="隶书" panose="02010509060101010101" pitchFamily="49" charset="-122"/>
              </a:rPr>
              <a:t>τ</a:t>
            </a:r>
            <a:r>
              <a:rPr lang="en-US" altLang="zh-CN" baseline="-14000">
                <a:solidFill>
                  <a:schemeClr val="hlink"/>
                </a:solidFill>
                <a:ea typeface="黑体" panose="02010609060101010101" pitchFamily="49" charset="-122"/>
              </a:rPr>
              <a:t>ca</a:t>
            </a:r>
            <a:r>
              <a:rPr lang="en-US" altLang="zh-CN" i="1">
                <a:solidFill>
                  <a:schemeClr val="hlink"/>
                </a:solidFill>
                <a:ea typeface="黑体" panose="02010609060101010101" pitchFamily="49" charset="-122"/>
              </a:rPr>
              <a:t> </a:t>
            </a:r>
            <a:r>
              <a:rPr lang="en-US" altLang="zh-CN">
                <a:solidFill>
                  <a:schemeClr val="hlink"/>
                </a:solidFill>
                <a:ea typeface="黑体" panose="02010609060101010101" pitchFamily="49" charset="-122"/>
              </a:rPr>
              <a:t>≤ [</a:t>
            </a:r>
            <a:r>
              <a:rPr lang="en-US" altLang="zh-CN" i="1">
                <a:solidFill>
                  <a:schemeClr val="hlink"/>
                </a:solidFill>
                <a:ea typeface="隶书" panose="02010509060101010101" pitchFamily="49" charset="-122"/>
              </a:rPr>
              <a:t>τ</a:t>
            </a:r>
            <a:r>
              <a:rPr lang="en-US" altLang="zh-CN">
                <a:solidFill>
                  <a:schemeClr val="hlink"/>
                </a:solidFill>
                <a:ea typeface="黑体" panose="02010609060101010101" pitchFamily="49" charset="-122"/>
              </a:rPr>
              <a:t>]</a:t>
            </a:r>
            <a:endParaRPr lang="en-US" altLang="zh-CN">
              <a:solidFill>
                <a:schemeClr val="hlink"/>
              </a:solidFill>
              <a:ea typeface="黑体" panose="02010609060101010101" pitchFamily="49" charset="-122"/>
            </a:endParaRPr>
          </a:p>
        </p:txBody>
      </p:sp>
      <p:grpSp>
        <p:nvGrpSpPr>
          <p:cNvPr id="3" name="Group 57"/>
          <p:cNvGrpSpPr/>
          <p:nvPr/>
        </p:nvGrpSpPr>
        <p:grpSpPr bwMode="auto">
          <a:xfrm>
            <a:off x="5791200" y="2284413"/>
            <a:ext cx="881063" cy="1233487"/>
            <a:chOff x="3600" y="1191"/>
            <a:chExt cx="555" cy="777"/>
          </a:xfrm>
        </p:grpSpPr>
        <p:sp>
          <p:nvSpPr>
            <p:cNvPr id="17452" name="Line 32"/>
            <p:cNvSpPr>
              <a:spLocks noChangeShapeType="1"/>
            </p:cNvSpPr>
            <p:nvPr/>
          </p:nvSpPr>
          <p:spPr bwMode="auto">
            <a:xfrm flipV="1">
              <a:off x="3600" y="1365"/>
              <a:ext cx="276" cy="603"/>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53" name="Freeform 38"/>
            <p:cNvSpPr/>
            <p:nvPr/>
          </p:nvSpPr>
          <p:spPr bwMode="auto">
            <a:xfrm>
              <a:off x="3873" y="1350"/>
              <a:ext cx="183" cy="16"/>
            </a:xfrm>
            <a:custGeom>
              <a:avLst/>
              <a:gdLst>
                <a:gd name="T0" fmla="*/ 0 w 183"/>
                <a:gd name="T1" fmla="*/ 15 h 16"/>
                <a:gd name="T2" fmla="*/ 48 w 183"/>
                <a:gd name="T3" fmla="*/ 3 h 16"/>
                <a:gd name="T4" fmla="*/ 69 w 183"/>
                <a:gd name="T5" fmla="*/ 15 h 16"/>
                <a:gd name="T6" fmla="*/ 90 w 183"/>
                <a:gd name="T7" fmla="*/ 0 h 16"/>
                <a:gd name="T8" fmla="*/ 123 w 183"/>
                <a:gd name="T9" fmla="*/ 15 h 16"/>
                <a:gd name="T10" fmla="*/ 138 w 183"/>
                <a:gd name="T11" fmla="*/ 0 h 16"/>
                <a:gd name="T12" fmla="*/ 162 w 183"/>
                <a:gd name="T13" fmla="*/ 15 h 16"/>
                <a:gd name="T14" fmla="*/ 183 w 183"/>
                <a:gd name="T15" fmla="*/ 0 h 16"/>
                <a:gd name="T16" fmla="*/ 0 60000 65536"/>
                <a:gd name="T17" fmla="*/ 0 60000 65536"/>
                <a:gd name="T18" fmla="*/ 0 60000 65536"/>
                <a:gd name="T19" fmla="*/ 0 60000 65536"/>
                <a:gd name="T20" fmla="*/ 0 60000 65536"/>
                <a:gd name="T21" fmla="*/ 0 60000 65536"/>
                <a:gd name="T22" fmla="*/ 0 60000 65536"/>
                <a:gd name="T23" fmla="*/ 0 60000 65536"/>
                <a:gd name="T24" fmla="*/ 0 w 183"/>
                <a:gd name="T25" fmla="*/ 0 h 16"/>
                <a:gd name="T26" fmla="*/ 183 w 183"/>
                <a:gd name="T27" fmla="*/ 16 h 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3" h="16">
                  <a:moveTo>
                    <a:pt x="0" y="15"/>
                  </a:moveTo>
                  <a:cubicBezTo>
                    <a:pt x="18" y="9"/>
                    <a:pt x="37" y="3"/>
                    <a:pt x="48" y="3"/>
                  </a:cubicBezTo>
                  <a:cubicBezTo>
                    <a:pt x="59" y="3"/>
                    <a:pt x="62" y="16"/>
                    <a:pt x="69" y="15"/>
                  </a:cubicBezTo>
                  <a:cubicBezTo>
                    <a:pt x="76" y="14"/>
                    <a:pt x="81" y="0"/>
                    <a:pt x="90" y="0"/>
                  </a:cubicBezTo>
                  <a:cubicBezTo>
                    <a:pt x="99" y="0"/>
                    <a:pt x="115" y="15"/>
                    <a:pt x="123" y="15"/>
                  </a:cubicBezTo>
                  <a:cubicBezTo>
                    <a:pt x="131" y="15"/>
                    <a:pt x="132" y="0"/>
                    <a:pt x="138" y="0"/>
                  </a:cubicBezTo>
                  <a:cubicBezTo>
                    <a:pt x="144" y="0"/>
                    <a:pt x="155" y="15"/>
                    <a:pt x="162" y="15"/>
                  </a:cubicBezTo>
                  <a:cubicBezTo>
                    <a:pt x="169" y="15"/>
                    <a:pt x="176" y="7"/>
                    <a:pt x="183" y="0"/>
                  </a:cubicBezTo>
                </a:path>
              </a:pathLst>
            </a:custGeom>
            <a:noFill/>
            <a:ln w="25400" cap="flat" cmpd="sng">
              <a:solidFill>
                <a:srgbClr val="FF0000"/>
              </a:solidFill>
              <a:prstDash val="solid"/>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17454" name="Line 39"/>
            <p:cNvSpPr>
              <a:spLocks noChangeShapeType="1"/>
            </p:cNvSpPr>
            <p:nvPr/>
          </p:nvSpPr>
          <p:spPr bwMode="auto">
            <a:xfrm flipV="1">
              <a:off x="4053" y="1191"/>
              <a:ext cx="102" cy="159"/>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 name="Group 60"/>
          <p:cNvGrpSpPr/>
          <p:nvPr/>
        </p:nvGrpSpPr>
        <p:grpSpPr bwMode="auto">
          <a:xfrm>
            <a:off x="5157788" y="2551113"/>
            <a:ext cx="1081087" cy="962025"/>
            <a:chOff x="3201" y="1359"/>
            <a:chExt cx="681" cy="606"/>
          </a:xfrm>
        </p:grpSpPr>
        <p:sp>
          <p:nvSpPr>
            <p:cNvPr id="17448" name="Line 41"/>
            <p:cNvSpPr>
              <a:spLocks noChangeShapeType="1"/>
            </p:cNvSpPr>
            <p:nvPr/>
          </p:nvSpPr>
          <p:spPr bwMode="auto">
            <a:xfrm flipH="1">
              <a:off x="3444" y="1359"/>
              <a:ext cx="43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49" name="Line 42"/>
            <p:cNvSpPr>
              <a:spLocks noChangeShapeType="1"/>
            </p:cNvSpPr>
            <p:nvPr/>
          </p:nvSpPr>
          <p:spPr bwMode="auto">
            <a:xfrm flipH="1">
              <a:off x="3456" y="1965"/>
              <a:ext cx="144" cy="0"/>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50" name="Line 43"/>
            <p:cNvSpPr>
              <a:spLocks noChangeShapeType="1"/>
            </p:cNvSpPr>
            <p:nvPr/>
          </p:nvSpPr>
          <p:spPr bwMode="auto">
            <a:xfrm>
              <a:off x="3492" y="1359"/>
              <a:ext cx="0" cy="606"/>
            </a:xfrm>
            <a:prstGeom prst="line">
              <a:avLst/>
            </a:prstGeom>
            <a:noFill/>
            <a:ln w="1270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51" name="Text Box 44"/>
            <p:cNvSpPr txBox="1">
              <a:spLocks noChangeArrowheads="1"/>
            </p:cNvSpPr>
            <p:nvPr/>
          </p:nvSpPr>
          <p:spPr bwMode="auto">
            <a:xfrm rot="-5400000">
              <a:off x="3144" y="1523"/>
              <a:ext cx="4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i="1" dirty="0" err="1">
                  <a:solidFill>
                    <a:schemeClr val="tx2"/>
                  </a:solidFill>
                  <a:ea typeface="楷体_GB2312" pitchFamily="49" charset="-122"/>
                </a:rPr>
                <a:t>σ</a:t>
              </a:r>
              <a:r>
                <a:rPr lang="en-US" altLang="zh-CN" baseline="-16000" dirty="0" err="1">
                  <a:solidFill>
                    <a:schemeClr val="tx2"/>
                  </a:solidFill>
                </a:rPr>
                <a:t>s</a:t>
              </a:r>
              <a:endParaRPr lang="en-US" altLang="zh-CN" baseline="-16000" dirty="0">
                <a:solidFill>
                  <a:schemeClr val="tx2"/>
                </a:solidFill>
              </a:endParaRPr>
            </a:p>
          </p:txBody>
        </p:sp>
      </p:grpSp>
      <p:grpSp>
        <p:nvGrpSpPr>
          <p:cNvPr id="5" name="Group 58"/>
          <p:cNvGrpSpPr/>
          <p:nvPr/>
        </p:nvGrpSpPr>
        <p:grpSpPr bwMode="auto">
          <a:xfrm>
            <a:off x="5403850" y="1758950"/>
            <a:ext cx="1758950" cy="2092325"/>
            <a:chOff x="3356" y="860"/>
            <a:chExt cx="1108" cy="1318"/>
          </a:xfrm>
        </p:grpSpPr>
        <p:sp>
          <p:nvSpPr>
            <p:cNvPr id="17444" name="Line 30"/>
            <p:cNvSpPr>
              <a:spLocks noChangeShapeType="1"/>
            </p:cNvSpPr>
            <p:nvPr/>
          </p:nvSpPr>
          <p:spPr bwMode="auto">
            <a:xfrm>
              <a:off x="3600" y="1968"/>
              <a:ext cx="864" cy="0"/>
            </a:xfrm>
            <a:prstGeom prst="line">
              <a:avLst/>
            </a:prstGeom>
            <a:noFill/>
            <a:ln w="19050">
              <a:solidFill>
                <a:schemeClr val="hlink"/>
              </a:solidFill>
              <a:round/>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45" name="Line 31"/>
            <p:cNvSpPr>
              <a:spLocks noChangeShapeType="1"/>
            </p:cNvSpPr>
            <p:nvPr/>
          </p:nvSpPr>
          <p:spPr bwMode="auto">
            <a:xfrm flipV="1">
              <a:off x="3600" y="912"/>
              <a:ext cx="0" cy="1056"/>
            </a:xfrm>
            <a:prstGeom prst="line">
              <a:avLst/>
            </a:prstGeom>
            <a:noFill/>
            <a:ln w="19050">
              <a:solidFill>
                <a:schemeClr val="hlink"/>
              </a:solidFill>
              <a:round/>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46" name="Text Box 45"/>
            <p:cNvSpPr txBox="1">
              <a:spLocks noChangeArrowheads="1"/>
            </p:cNvSpPr>
            <p:nvPr/>
          </p:nvSpPr>
          <p:spPr bwMode="auto">
            <a:xfrm>
              <a:off x="4002" y="1947"/>
              <a:ext cx="4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sz="1800">
                  <a:solidFill>
                    <a:schemeClr val="hlink"/>
                  </a:solidFill>
                  <a:ea typeface="楷体" panose="02010609060101010101" pitchFamily="49" charset="-122"/>
                </a:rPr>
                <a:t>应变</a:t>
              </a:r>
              <a:endParaRPr lang="zh-CN" altLang="en-US" sz="1800">
                <a:solidFill>
                  <a:schemeClr val="hlink"/>
                </a:solidFill>
                <a:ea typeface="楷体" panose="02010609060101010101" pitchFamily="49" charset="-122"/>
              </a:endParaRPr>
            </a:p>
          </p:txBody>
        </p:sp>
        <p:sp>
          <p:nvSpPr>
            <p:cNvPr id="17447" name="Text Box 46"/>
            <p:cNvSpPr txBox="1">
              <a:spLocks noChangeArrowheads="1"/>
            </p:cNvSpPr>
            <p:nvPr/>
          </p:nvSpPr>
          <p:spPr bwMode="auto">
            <a:xfrm rot="-5400000">
              <a:off x="3250" y="966"/>
              <a:ext cx="4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sz="1800">
                  <a:solidFill>
                    <a:schemeClr val="hlink"/>
                  </a:solidFill>
                  <a:ea typeface="楷体" panose="02010609060101010101" pitchFamily="49" charset="-122"/>
                </a:rPr>
                <a:t>应力</a:t>
              </a:r>
              <a:endParaRPr lang="zh-CN" altLang="en-US" sz="1800">
                <a:solidFill>
                  <a:schemeClr val="hlink"/>
                </a:solidFill>
                <a:ea typeface="楷体" panose="02010609060101010101" pitchFamily="49" charset="-122"/>
              </a:endParaRPr>
            </a:p>
          </p:txBody>
        </p:sp>
      </p:grpSp>
      <p:grpSp>
        <p:nvGrpSpPr>
          <p:cNvPr id="6" name="Group 69"/>
          <p:cNvGrpSpPr/>
          <p:nvPr/>
        </p:nvGrpSpPr>
        <p:grpSpPr bwMode="auto">
          <a:xfrm>
            <a:off x="7232650" y="1541463"/>
            <a:ext cx="1758950" cy="2316162"/>
            <a:chOff x="4556" y="723"/>
            <a:chExt cx="1108" cy="1459"/>
          </a:xfrm>
        </p:grpSpPr>
        <p:sp>
          <p:nvSpPr>
            <p:cNvPr id="17440" name="Line 47"/>
            <p:cNvSpPr>
              <a:spLocks noChangeShapeType="1"/>
            </p:cNvSpPr>
            <p:nvPr/>
          </p:nvSpPr>
          <p:spPr bwMode="auto">
            <a:xfrm>
              <a:off x="4800" y="1972"/>
              <a:ext cx="864" cy="0"/>
            </a:xfrm>
            <a:prstGeom prst="line">
              <a:avLst/>
            </a:prstGeom>
            <a:noFill/>
            <a:ln w="19050">
              <a:solidFill>
                <a:schemeClr val="hlink"/>
              </a:solidFill>
              <a:round/>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41" name="Line 48"/>
            <p:cNvSpPr>
              <a:spLocks noChangeShapeType="1"/>
            </p:cNvSpPr>
            <p:nvPr/>
          </p:nvSpPr>
          <p:spPr bwMode="auto">
            <a:xfrm flipV="1">
              <a:off x="4800" y="916"/>
              <a:ext cx="0" cy="1056"/>
            </a:xfrm>
            <a:prstGeom prst="line">
              <a:avLst/>
            </a:prstGeom>
            <a:noFill/>
            <a:ln w="19050">
              <a:solidFill>
                <a:schemeClr val="hlink"/>
              </a:solidFill>
              <a:round/>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42" name="Text Box 55"/>
            <p:cNvSpPr txBox="1">
              <a:spLocks noChangeArrowheads="1"/>
            </p:cNvSpPr>
            <p:nvPr/>
          </p:nvSpPr>
          <p:spPr bwMode="auto">
            <a:xfrm>
              <a:off x="5202" y="1951"/>
              <a:ext cx="4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sz="1800">
                  <a:solidFill>
                    <a:schemeClr val="hlink"/>
                  </a:solidFill>
                  <a:ea typeface="楷体" panose="02010609060101010101" pitchFamily="49" charset="-122"/>
                </a:rPr>
                <a:t>应变</a:t>
              </a:r>
              <a:endParaRPr lang="zh-CN" altLang="en-US" sz="1800">
                <a:solidFill>
                  <a:schemeClr val="hlink"/>
                </a:solidFill>
                <a:ea typeface="楷体" panose="02010609060101010101" pitchFamily="49" charset="-122"/>
              </a:endParaRPr>
            </a:p>
          </p:txBody>
        </p:sp>
        <p:sp>
          <p:nvSpPr>
            <p:cNvPr id="17443" name="Text Box 56"/>
            <p:cNvSpPr txBox="1">
              <a:spLocks noChangeArrowheads="1"/>
            </p:cNvSpPr>
            <p:nvPr/>
          </p:nvSpPr>
          <p:spPr bwMode="auto">
            <a:xfrm rot="-5400000">
              <a:off x="4450" y="829"/>
              <a:ext cx="4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sz="1800">
                  <a:solidFill>
                    <a:schemeClr val="hlink"/>
                  </a:solidFill>
                  <a:ea typeface="楷体" panose="02010609060101010101" pitchFamily="49" charset="-122"/>
                </a:rPr>
                <a:t>应力</a:t>
              </a:r>
              <a:endParaRPr lang="zh-CN" altLang="en-US" sz="1800">
                <a:solidFill>
                  <a:schemeClr val="hlink"/>
                </a:solidFill>
                <a:ea typeface="楷体" panose="02010609060101010101" pitchFamily="49" charset="-122"/>
              </a:endParaRPr>
            </a:p>
          </p:txBody>
        </p:sp>
      </p:grpSp>
      <p:sp>
        <p:nvSpPr>
          <p:cNvPr id="267326" name="Freeform 62"/>
          <p:cNvSpPr/>
          <p:nvPr/>
        </p:nvSpPr>
        <p:spPr bwMode="auto">
          <a:xfrm>
            <a:off x="7624763" y="2279650"/>
            <a:ext cx="419100" cy="1243013"/>
          </a:xfrm>
          <a:custGeom>
            <a:avLst/>
            <a:gdLst>
              <a:gd name="T0" fmla="*/ 0 w 309"/>
              <a:gd name="T1" fmla="*/ 2110766828 h 732"/>
              <a:gd name="T2" fmla="*/ 248343198 w 309"/>
              <a:gd name="T3" fmla="*/ 882369419 h 732"/>
              <a:gd name="T4" fmla="*/ 469092255 w 309"/>
              <a:gd name="T5" fmla="*/ 155712850 h 732"/>
              <a:gd name="T6" fmla="*/ 568429806 w 309"/>
              <a:gd name="T7" fmla="*/ 0 h 732"/>
              <a:gd name="T8" fmla="*/ 0 60000 65536"/>
              <a:gd name="T9" fmla="*/ 0 60000 65536"/>
              <a:gd name="T10" fmla="*/ 0 60000 65536"/>
              <a:gd name="T11" fmla="*/ 0 60000 65536"/>
              <a:gd name="T12" fmla="*/ 0 w 309"/>
              <a:gd name="T13" fmla="*/ 0 h 732"/>
              <a:gd name="T14" fmla="*/ 309 w 309"/>
              <a:gd name="T15" fmla="*/ 732 h 732"/>
            </a:gdLst>
            <a:ahLst/>
            <a:cxnLst>
              <a:cxn ang="T8">
                <a:pos x="T0" y="T1"/>
              </a:cxn>
              <a:cxn ang="T9">
                <a:pos x="T2" y="T3"/>
              </a:cxn>
              <a:cxn ang="T10">
                <a:pos x="T4" y="T5"/>
              </a:cxn>
              <a:cxn ang="T11">
                <a:pos x="T6" y="T7"/>
              </a:cxn>
            </a:cxnLst>
            <a:rect l="T12" t="T13" r="T14" b="T15"/>
            <a:pathLst>
              <a:path w="309" h="732">
                <a:moveTo>
                  <a:pt x="0" y="732"/>
                </a:moveTo>
                <a:cubicBezTo>
                  <a:pt x="46" y="575"/>
                  <a:pt x="93" y="419"/>
                  <a:pt x="135" y="306"/>
                </a:cubicBezTo>
                <a:cubicBezTo>
                  <a:pt x="177" y="193"/>
                  <a:pt x="226" y="105"/>
                  <a:pt x="255" y="54"/>
                </a:cubicBezTo>
                <a:cubicBezTo>
                  <a:pt x="284" y="3"/>
                  <a:pt x="296" y="1"/>
                  <a:pt x="309" y="0"/>
                </a:cubicBezTo>
              </a:path>
            </a:pathLst>
          </a:custGeom>
          <a:noFill/>
          <a:ln w="25400" cap="flat" cmpd="sng">
            <a:solidFill>
              <a:srgbClr val="FF0000"/>
            </a:solidFill>
            <a:prstDash val="solid"/>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nvGrpSpPr>
          <p:cNvPr id="7" name="Group 68"/>
          <p:cNvGrpSpPr/>
          <p:nvPr/>
        </p:nvGrpSpPr>
        <p:grpSpPr bwMode="auto">
          <a:xfrm>
            <a:off x="6983413" y="2271713"/>
            <a:ext cx="1046162" cy="1247775"/>
            <a:chOff x="4399" y="1183"/>
            <a:chExt cx="659" cy="786"/>
          </a:xfrm>
        </p:grpSpPr>
        <p:sp>
          <p:nvSpPr>
            <p:cNvPr id="17436" name="Line 52"/>
            <p:cNvSpPr>
              <a:spLocks noChangeShapeType="1"/>
            </p:cNvSpPr>
            <p:nvPr/>
          </p:nvSpPr>
          <p:spPr bwMode="auto">
            <a:xfrm flipH="1">
              <a:off x="4650" y="1183"/>
              <a:ext cx="40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37" name="Line 53"/>
            <p:cNvSpPr>
              <a:spLocks noChangeShapeType="1"/>
            </p:cNvSpPr>
            <p:nvPr/>
          </p:nvSpPr>
          <p:spPr bwMode="auto">
            <a:xfrm flipH="1">
              <a:off x="4656" y="1969"/>
              <a:ext cx="144" cy="0"/>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38" name="Line 54"/>
            <p:cNvSpPr>
              <a:spLocks noChangeShapeType="1"/>
            </p:cNvSpPr>
            <p:nvPr/>
          </p:nvSpPr>
          <p:spPr bwMode="auto">
            <a:xfrm flipH="1">
              <a:off x="4692" y="1186"/>
              <a:ext cx="0" cy="783"/>
            </a:xfrm>
            <a:prstGeom prst="line">
              <a:avLst/>
            </a:prstGeom>
            <a:noFill/>
            <a:ln w="1270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39" name="Text Box 67"/>
            <p:cNvSpPr txBox="1">
              <a:spLocks noChangeArrowheads="1"/>
            </p:cNvSpPr>
            <p:nvPr/>
          </p:nvSpPr>
          <p:spPr bwMode="auto">
            <a:xfrm rot="-5400000">
              <a:off x="4342" y="1434"/>
              <a:ext cx="4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i="1" dirty="0" err="1">
                  <a:solidFill>
                    <a:schemeClr val="tx2"/>
                  </a:solidFill>
                  <a:ea typeface="楷体_GB2312" pitchFamily="49" charset="-122"/>
                </a:rPr>
                <a:t>σ</a:t>
              </a:r>
              <a:r>
                <a:rPr lang="en-US" altLang="zh-CN" baseline="-16000" dirty="0" err="1">
                  <a:solidFill>
                    <a:schemeClr val="tx2"/>
                  </a:solidFill>
                </a:rPr>
                <a:t>b</a:t>
              </a:r>
              <a:endParaRPr lang="en-US" altLang="zh-CN" baseline="-16000" dirty="0">
                <a:solidFill>
                  <a:schemeClr val="tx2"/>
                </a:solidFill>
              </a:endParaRPr>
            </a:p>
          </p:txBody>
        </p:sp>
      </p:grpSp>
      <p:sp>
        <p:nvSpPr>
          <p:cNvPr id="267334" name="Text Box 70"/>
          <p:cNvSpPr txBox="1">
            <a:spLocks noChangeArrowheads="1"/>
          </p:cNvSpPr>
          <p:nvPr/>
        </p:nvSpPr>
        <p:spPr bwMode="auto">
          <a:xfrm>
            <a:off x="5727700" y="3784600"/>
            <a:ext cx="1536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sz="2000">
                <a:solidFill>
                  <a:schemeClr val="hlink"/>
                </a:solidFill>
                <a:ea typeface="黑体" panose="02010609060101010101" pitchFamily="49" charset="-122"/>
              </a:rPr>
              <a:t>塑性材料</a:t>
            </a:r>
            <a:endParaRPr lang="zh-CN" altLang="en-US" sz="2000">
              <a:solidFill>
                <a:schemeClr val="hlink"/>
              </a:solidFill>
              <a:ea typeface="黑体" panose="02010609060101010101" pitchFamily="49" charset="-122"/>
            </a:endParaRPr>
          </a:p>
        </p:txBody>
      </p:sp>
      <p:sp>
        <p:nvSpPr>
          <p:cNvPr id="267335" name="Text Box 71"/>
          <p:cNvSpPr txBox="1">
            <a:spLocks noChangeArrowheads="1"/>
          </p:cNvSpPr>
          <p:nvPr/>
        </p:nvSpPr>
        <p:spPr bwMode="auto">
          <a:xfrm>
            <a:off x="7543800" y="3784600"/>
            <a:ext cx="1333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sz="2000">
                <a:solidFill>
                  <a:schemeClr val="hlink"/>
                </a:solidFill>
                <a:ea typeface="黑体" panose="02010609060101010101" pitchFamily="49" charset="-122"/>
              </a:rPr>
              <a:t>脆性材料</a:t>
            </a:r>
            <a:endParaRPr lang="zh-CN" altLang="en-US" sz="2000">
              <a:solidFill>
                <a:schemeClr val="hlink"/>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67269"/>
                                        </p:tgtEl>
                                        <p:attrNameLst>
                                          <p:attrName>style.visibility</p:attrName>
                                        </p:attrNameLst>
                                      </p:cBhvr>
                                      <p:to>
                                        <p:strVal val="visible"/>
                                      </p:to>
                                    </p:set>
                                    <p:animEffect transition="in" filter="slide(fromLeft)">
                                      <p:cBhvr>
                                        <p:cTn id="7" dur="500"/>
                                        <p:tgtEl>
                                          <p:spTgt spid="26726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267270"/>
                                        </p:tgtEl>
                                        <p:attrNameLst>
                                          <p:attrName>style.visibility</p:attrName>
                                        </p:attrNameLst>
                                      </p:cBhvr>
                                      <p:to>
                                        <p:strVal val="visible"/>
                                      </p:to>
                                    </p:set>
                                    <p:animEffect transition="in" filter="slide(fromTop)">
                                      <p:cBhvr>
                                        <p:cTn id="12" dur="500"/>
                                        <p:tgtEl>
                                          <p:spTgt spid="26727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267291"/>
                                        </p:tgtEl>
                                        <p:attrNameLst>
                                          <p:attrName>style.visibility</p:attrName>
                                        </p:attrNameLst>
                                      </p:cBhvr>
                                      <p:to>
                                        <p:strVal val="visible"/>
                                      </p:to>
                                    </p:set>
                                    <p:animEffect transition="in" filter="slide(fromTop)">
                                      <p:cBhvr>
                                        <p:cTn id="17" dur="500"/>
                                        <p:tgtEl>
                                          <p:spTgt spid="26729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67271"/>
                                        </p:tgtEl>
                                        <p:attrNameLst>
                                          <p:attrName>style.visibility</p:attrName>
                                        </p:attrNameLst>
                                      </p:cBhvr>
                                      <p:to>
                                        <p:strVal val="visible"/>
                                      </p:to>
                                    </p:set>
                                    <p:animEffect transition="in" filter="box(in)">
                                      <p:cBhvr>
                                        <p:cTn id="22" dur="500"/>
                                        <p:tgtEl>
                                          <p:spTgt spid="26727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67293"/>
                                        </p:tgtEl>
                                        <p:attrNameLst>
                                          <p:attrName>style.visibility</p:attrName>
                                        </p:attrNameLst>
                                      </p:cBhvr>
                                      <p:to>
                                        <p:strVal val="visible"/>
                                      </p:to>
                                    </p:set>
                                    <p:animEffect transition="in" filter="box(in)">
                                      <p:cBhvr>
                                        <p:cTn id="27" dur="500"/>
                                        <p:tgtEl>
                                          <p:spTgt spid="267293"/>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267292"/>
                                        </p:tgtEl>
                                        <p:attrNameLst>
                                          <p:attrName>style.visibility</p:attrName>
                                        </p:attrNameLst>
                                      </p:cBhvr>
                                      <p:to>
                                        <p:strVal val="visible"/>
                                      </p:to>
                                    </p:set>
                                    <p:animEffect transition="in" filter="slide(fromTop)">
                                      <p:cBhvr>
                                        <p:cTn id="32" dur="500"/>
                                        <p:tgtEl>
                                          <p:spTgt spid="267292"/>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267274"/>
                                        </p:tgtEl>
                                        <p:attrNameLst>
                                          <p:attrName>style.visibility</p:attrName>
                                        </p:attrNameLst>
                                      </p:cBhvr>
                                      <p:to>
                                        <p:strVal val="visible"/>
                                      </p:to>
                                    </p:set>
                                    <p:animEffect transition="in" filter="slide(fromLeft)">
                                      <p:cBhvr>
                                        <p:cTn id="37" dur="500"/>
                                        <p:tgtEl>
                                          <p:spTgt spid="267274"/>
                                        </p:tgtEl>
                                      </p:cBhvr>
                                    </p:animEffect>
                                  </p:childTnLst>
                                </p:cTn>
                              </p:par>
                            </p:childTnLst>
                          </p:cTn>
                        </p:par>
                        <p:par>
                          <p:cTn id="38" fill="hold">
                            <p:stCondLst>
                              <p:cond delay="500"/>
                            </p:stCondLst>
                            <p:childTnLst>
                              <p:par>
                                <p:cTn id="39" presetID="17" presetClass="entr" presetSubtype="10" fill="hold" nodeType="afterEffect">
                                  <p:stCondLst>
                                    <p:cond delay="0"/>
                                  </p:stCondLst>
                                  <p:childTnLst>
                                    <p:set>
                                      <p:cBhvr>
                                        <p:cTn id="40" dur="1" fill="hold">
                                          <p:stCondLst>
                                            <p:cond delay="0"/>
                                          </p:stCondLst>
                                        </p:cTn>
                                        <p:tgtEl>
                                          <p:spTgt spid="267273"/>
                                        </p:tgtEl>
                                        <p:attrNameLst>
                                          <p:attrName>style.visibility</p:attrName>
                                        </p:attrNameLst>
                                      </p:cBhvr>
                                      <p:to>
                                        <p:strVal val="visible"/>
                                      </p:to>
                                    </p:set>
                                    <p:anim calcmode="lin" valueType="num">
                                      <p:cBhvr>
                                        <p:cTn id="41" dur="500" fill="hold"/>
                                        <p:tgtEl>
                                          <p:spTgt spid="267273"/>
                                        </p:tgtEl>
                                        <p:attrNameLst>
                                          <p:attrName>ppt_w</p:attrName>
                                        </p:attrNameLst>
                                      </p:cBhvr>
                                      <p:tavLst>
                                        <p:tav tm="0">
                                          <p:val>
                                            <p:fltVal val="0"/>
                                          </p:val>
                                        </p:tav>
                                        <p:tav tm="100000">
                                          <p:val>
                                            <p:strVal val="#ppt_w"/>
                                          </p:val>
                                        </p:tav>
                                      </p:tavLst>
                                    </p:anim>
                                    <p:anim calcmode="lin" valueType="num">
                                      <p:cBhvr>
                                        <p:cTn id="42" dur="500" fill="hold"/>
                                        <p:tgtEl>
                                          <p:spTgt spid="267273"/>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7275"/>
                                        </p:tgtEl>
                                        <p:attrNameLst>
                                          <p:attrName>style.visibility</p:attrName>
                                        </p:attrNameLst>
                                      </p:cBhvr>
                                      <p:to>
                                        <p:strVal val="visible"/>
                                      </p:to>
                                    </p:set>
                                    <p:animEffect transition="in" filter="wipe(left)">
                                      <p:cBhvr>
                                        <p:cTn id="47" dur="500"/>
                                        <p:tgtEl>
                                          <p:spTgt spid="267275"/>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grpId="0" nodeType="clickEffect">
                                  <p:stCondLst>
                                    <p:cond delay="0"/>
                                  </p:stCondLst>
                                  <p:childTnLst>
                                    <p:set>
                                      <p:cBhvr>
                                        <p:cTn id="51" dur="1" fill="hold">
                                          <p:stCondLst>
                                            <p:cond delay="0"/>
                                          </p:stCondLst>
                                        </p:cTn>
                                        <p:tgtEl>
                                          <p:spTgt spid="267272"/>
                                        </p:tgtEl>
                                        <p:attrNameLst>
                                          <p:attrName>style.visibility</p:attrName>
                                        </p:attrNameLst>
                                      </p:cBhvr>
                                      <p:to>
                                        <p:strVal val="visible"/>
                                      </p:to>
                                    </p:set>
                                    <p:animEffect transition="in" filter="slide(fromLeft)">
                                      <p:cBhvr>
                                        <p:cTn id="52" dur="500"/>
                                        <p:tgtEl>
                                          <p:spTgt spid="267272"/>
                                        </p:tgtEl>
                                      </p:cBhvr>
                                    </p:animEffect>
                                  </p:childTnLst>
                                </p:cTn>
                              </p:par>
                            </p:childTnLst>
                          </p:cTn>
                        </p:par>
                        <p:par>
                          <p:cTn id="53" fill="hold">
                            <p:stCondLst>
                              <p:cond delay="500"/>
                            </p:stCondLst>
                            <p:childTnLst>
                              <p:par>
                                <p:cTn id="54" presetID="17" presetClass="entr" presetSubtype="10" fill="hold" grpId="0" nodeType="afterEffect">
                                  <p:stCondLst>
                                    <p:cond delay="0"/>
                                  </p:stCondLst>
                                  <p:childTnLst>
                                    <p:set>
                                      <p:cBhvr>
                                        <p:cTn id="55" dur="1" fill="hold">
                                          <p:stCondLst>
                                            <p:cond delay="0"/>
                                          </p:stCondLst>
                                        </p:cTn>
                                        <p:tgtEl>
                                          <p:spTgt spid="267276"/>
                                        </p:tgtEl>
                                        <p:attrNameLst>
                                          <p:attrName>style.visibility</p:attrName>
                                        </p:attrNameLst>
                                      </p:cBhvr>
                                      <p:to>
                                        <p:strVal val="visible"/>
                                      </p:to>
                                    </p:set>
                                    <p:anim calcmode="lin" valueType="num">
                                      <p:cBhvr>
                                        <p:cTn id="56" dur="500" fill="hold"/>
                                        <p:tgtEl>
                                          <p:spTgt spid="267276"/>
                                        </p:tgtEl>
                                        <p:attrNameLst>
                                          <p:attrName>ppt_w</p:attrName>
                                        </p:attrNameLst>
                                      </p:cBhvr>
                                      <p:tavLst>
                                        <p:tav tm="0">
                                          <p:val>
                                            <p:fltVal val="0"/>
                                          </p:val>
                                        </p:tav>
                                        <p:tav tm="100000">
                                          <p:val>
                                            <p:strVal val="#ppt_w"/>
                                          </p:val>
                                        </p:tav>
                                      </p:tavLst>
                                    </p:anim>
                                    <p:anim calcmode="lin" valueType="num">
                                      <p:cBhvr>
                                        <p:cTn id="57" dur="500" fill="hold"/>
                                        <p:tgtEl>
                                          <p:spTgt spid="267276"/>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grpId="0" nodeType="clickEffect">
                                  <p:stCondLst>
                                    <p:cond delay="0"/>
                                  </p:stCondLst>
                                  <p:childTnLst>
                                    <p:set>
                                      <p:cBhvr>
                                        <p:cTn id="61" dur="1" fill="hold">
                                          <p:stCondLst>
                                            <p:cond delay="0"/>
                                          </p:stCondLst>
                                        </p:cTn>
                                        <p:tgtEl>
                                          <p:spTgt spid="267279"/>
                                        </p:tgtEl>
                                        <p:attrNameLst>
                                          <p:attrName>style.visibility</p:attrName>
                                        </p:attrNameLst>
                                      </p:cBhvr>
                                      <p:to>
                                        <p:strVal val="visible"/>
                                      </p:to>
                                    </p:set>
                                    <p:animEffect transition="in" filter="slide(fromLeft)">
                                      <p:cBhvr>
                                        <p:cTn id="62" dur="500"/>
                                        <p:tgtEl>
                                          <p:spTgt spid="26727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wipe(up)">
                                      <p:cBhvr>
                                        <p:cTn id="67" dur="500"/>
                                        <p:tgtEl>
                                          <p:spTgt spid="4"/>
                                        </p:tgtEl>
                                      </p:cBhvr>
                                    </p:animEffect>
                                  </p:childTnLst>
                                </p:cTn>
                              </p:par>
                            </p:childTnLst>
                          </p:cTn>
                        </p:par>
                        <p:par>
                          <p:cTn id="68" fill="hold">
                            <p:stCondLst>
                              <p:cond delay="500"/>
                            </p:stCondLst>
                            <p:childTnLst>
                              <p:par>
                                <p:cTn id="69" presetID="22" presetClass="entr" presetSubtype="1" fill="hold" grpId="0" nodeType="afterEffect">
                                  <p:stCondLst>
                                    <p:cond delay="0"/>
                                  </p:stCondLst>
                                  <p:childTnLst>
                                    <p:set>
                                      <p:cBhvr>
                                        <p:cTn id="70" dur="1" fill="hold">
                                          <p:stCondLst>
                                            <p:cond delay="0"/>
                                          </p:stCondLst>
                                        </p:cTn>
                                        <p:tgtEl>
                                          <p:spTgt spid="267334"/>
                                        </p:tgtEl>
                                        <p:attrNameLst>
                                          <p:attrName>style.visibility</p:attrName>
                                        </p:attrNameLst>
                                      </p:cBhvr>
                                      <p:to>
                                        <p:strVal val="visible"/>
                                      </p:to>
                                    </p:set>
                                    <p:animEffect transition="in" filter="wipe(up)">
                                      <p:cBhvr>
                                        <p:cTn id="71" dur="500"/>
                                        <p:tgtEl>
                                          <p:spTgt spid="26733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nodeType="click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wipe(up)">
                                      <p:cBhvr>
                                        <p:cTn id="76" dur="500"/>
                                        <p:tgtEl>
                                          <p:spTgt spid="3"/>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8" fill="hold" grpId="0" nodeType="clickEffect">
                                  <p:stCondLst>
                                    <p:cond delay="0"/>
                                  </p:stCondLst>
                                  <p:childTnLst>
                                    <p:set>
                                      <p:cBhvr>
                                        <p:cTn id="80" dur="1" fill="hold">
                                          <p:stCondLst>
                                            <p:cond delay="0"/>
                                          </p:stCondLst>
                                        </p:cTn>
                                        <p:tgtEl>
                                          <p:spTgt spid="267277"/>
                                        </p:tgtEl>
                                        <p:attrNameLst>
                                          <p:attrName>style.visibility</p:attrName>
                                        </p:attrNameLst>
                                      </p:cBhvr>
                                      <p:to>
                                        <p:strVal val="visible"/>
                                      </p:to>
                                    </p:set>
                                    <p:animEffect transition="in" filter="slide(fromLeft)">
                                      <p:cBhvr>
                                        <p:cTn id="81" dur="500"/>
                                        <p:tgtEl>
                                          <p:spTgt spid="267277"/>
                                        </p:tgtEl>
                                      </p:cBhvr>
                                    </p:animEffect>
                                  </p:childTnLst>
                                </p:cTn>
                              </p:par>
                            </p:childTnLst>
                          </p:cTn>
                        </p:par>
                        <p:par>
                          <p:cTn id="82" fill="hold">
                            <p:stCondLst>
                              <p:cond delay="500"/>
                            </p:stCondLst>
                            <p:childTnLst>
                              <p:par>
                                <p:cTn id="83" presetID="17" presetClass="entr" presetSubtype="10" fill="hold" grpId="0" nodeType="afterEffect">
                                  <p:stCondLst>
                                    <p:cond delay="0"/>
                                  </p:stCondLst>
                                  <p:childTnLst>
                                    <p:set>
                                      <p:cBhvr>
                                        <p:cTn id="84" dur="1" fill="hold">
                                          <p:stCondLst>
                                            <p:cond delay="0"/>
                                          </p:stCondLst>
                                        </p:cTn>
                                        <p:tgtEl>
                                          <p:spTgt spid="267278"/>
                                        </p:tgtEl>
                                        <p:attrNameLst>
                                          <p:attrName>style.visibility</p:attrName>
                                        </p:attrNameLst>
                                      </p:cBhvr>
                                      <p:to>
                                        <p:strVal val="visible"/>
                                      </p:to>
                                    </p:set>
                                    <p:anim calcmode="lin" valueType="num">
                                      <p:cBhvr>
                                        <p:cTn id="85" dur="500" fill="hold"/>
                                        <p:tgtEl>
                                          <p:spTgt spid="267278"/>
                                        </p:tgtEl>
                                        <p:attrNameLst>
                                          <p:attrName>ppt_w</p:attrName>
                                        </p:attrNameLst>
                                      </p:cBhvr>
                                      <p:tavLst>
                                        <p:tav tm="0">
                                          <p:val>
                                            <p:fltVal val="0"/>
                                          </p:val>
                                        </p:tav>
                                        <p:tav tm="100000">
                                          <p:val>
                                            <p:strVal val="#ppt_w"/>
                                          </p:val>
                                        </p:tav>
                                      </p:tavLst>
                                    </p:anim>
                                    <p:anim calcmode="lin" valueType="num">
                                      <p:cBhvr>
                                        <p:cTn id="86" dur="500" fill="hold"/>
                                        <p:tgtEl>
                                          <p:spTgt spid="267278"/>
                                        </p:tgtEl>
                                        <p:attrNameLst>
                                          <p:attrName>ppt_h</p:attrName>
                                        </p:attrNameLst>
                                      </p:cBhvr>
                                      <p:tavLst>
                                        <p:tav tm="0">
                                          <p:val>
                                            <p:strVal val="#ppt_h"/>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9" presetID="12" presetClass="entr" presetSubtype="8" fill="hold" grpId="0" nodeType="clickEffect">
                                  <p:stCondLst>
                                    <p:cond delay="0"/>
                                  </p:stCondLst>
                                  <p:childTnLst>
                                    <p:set>
                                      <p:cBhvr>
                                        <p:cTn id="90" dur="1" fill="hold">
                                          <p:stCondLst>
                                            <p:cond delay="0"/>
                                          </p:stCondLst>
                                        </p:cTn>
                                        <p:tgtEl>
                                          <p:spTgt spid="267290"/>
                                        </p:tgtEl>
                                        <p:attrNameLst>
                                          <p:attrName>style.visibility</p:attrName>
                                        </p:attrNameLst>
                                      </p:cBhvr>
                                      <p:to>
                                        <p:strVal val="visible"/>
                                      </p:to>
                                    </p:set>
                                    <p:animEffect transition="in" filter="slide(fromLeft)">
                                      <p:cBhvr>
                                        <p:cTn id="91" dur="500"/>
                                        <p:tgtEl>
                                          <p:spTgt spid="267290"/>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nodeType="clickEffect">
                                  <p:stCondLst>
                                    <p:cond delay="0"/>
                                  </p:stCondLst>
                                  <p:childTnLst>
                                    <p:set>
                                      <p:cBhvr>
                                        <p:cTn id="95" dur="1" fill="hold">
                                          <p:stCondLst>
                                            <p:cond delay="0"/>
                                          </p:stCondLst>
                                        </p:cTn>
                                        <p:tgtEl>
                                          <p:spTgt spid="5"/>
                                        </p:tgtEl>
                                        <p:attrNameLst>
                                          <p:attrName>style.visibility</p:attrName>
                                        </p:attrNameLst>
                                      </p:cBhvr>
                                      <p:to>
                                        <p:strVal val="visible"/>
                                      </p:to>
                                    </p:set>
                                    <p:animEffect transition="in" filter="wipe(up)">
                                      <p:cBhvr>
                                        <p:cTn id="96" dur="500"/>
                                        <p:tgtEl>
                                          <p:spTgt spid="5"/>
                                        </p:tgtEl>
                                      </p:cBhvr>
                                    </p:animEffect>
                                  </p:childTnLst>
                                </p:cTn>
                              </p:par>
                            </p:childTnLst>
                          </p:cTn>
                        </p:par>
                        <p:par>
                          <p:cTn id="97" fill="hold">
                            <p:stCondLst>
                              <p:cond delay="500"/>
                            </p:stCondLst>
                            <p:childTnLst>
                              <p:par>
                                <p:cTn id="98" presetID="22" presetClass="entr" presetSubtype="1" fill="hold" grpId="0" nodeType="afterEffect">
                                  <p:stCondLst>
                                    <p:cond delay="0"/>
                                  </p:stCondLst>
                                  <p:childTnLst>
                                    <p:set>
                                      <p:cBhvr>
                                        <p:cTn id="99" dur="1" fill="hold">
                                          <p:stCondLst>
                                            <p:cond delay="0"/>
                                          </p:stCondLst>
                                        </p:cTn>
                                        <p:tgtEl>
                                          <p:spTgt spid="267335"/>
                                        </p:tgtEl>
                                        <p:attrNameLst>
                                          <p:attrName>style.visibility</p:attrName>
                                        </p:attrNameLst>
                                      </p:cBhvr>
                                      <p:to>
                                        <p:strVal val="visible"/>
                                      </p:to>
                                    </p:set>
                                    <p:animEffect transition="in" filter="wipe(up)">
                                      <p:cBhvr>
                                        <p:cTn id="100" dur="500"/>
                                        <p:tgtEl>
                                          <p:spTgt spid="267335"/>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267326"/>
                                        </p:tgtEl>
                                        <p:attrNameLst>
                                          <p:attrName>style.visibility</p:attrName>
                                        </p:attrNameLst>
                                      </p:cBhvr>
                                      <p:to>
                                        <p:strVal val="visible"/>
                                      </p:to>
                                    </p:set>
                                    <p:animEffect transition="in" filter="wipe(down)">
                                      <p:cBhvr>
                                        <p:cTn id="105" dur="500"/>
                                        <p:tgtEl>
                                          <p:spTgt spid="267326"/>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nodeType="clickEffect">
                                  <p:stCondLst>
                                    <p:cond delay="0"/>
                                  </p:stCondLst>
                                  <p:childTnLst>
                                    <p:set>
                                      <p:cBhvr>
                                        <p:cTn id="109" dur="1" fill="hold">
                                          <p:stCondLst>
                                            <p:cond delay="0"/>
                                          </p:stCondLst>
                                        </p:cTn>
                                        <p:tgtEl>
                                          <p:spTgt spid="6"/>
                                        </p:tgtEl>
                                        <p:attrNameLst>
                                          <p:attrName>style.visibility</p:attrName>
                                        </p:attrNameLst>
                                      </p:cBhvr>
                                      <p:to>
                                        <p:strVal val="visible"/>
                                      </p:to>
                                    </p:set>
                                    <p:animEffect transition="in" filter="wipe(up)">
                                      <p:cBhvr>
                                        <p:cTn id="1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9" grpId="0" animBg="1" autoUpdateAnimBg="0"/>
      <p:bldP spid="267270" grpId="0" autoUpdateAnimBg="0"/>
      <p:bldP spid="267271" grpId="0" autoUpdateAnimBg="0"/>
      <p:bldP spid="267272" grpId="0" autoUpdateAnimBg="0"/>
      <p:bldP spid="267274" grpId="0" autoUpdateAnimBg="0"/>
      <p:bldP spid="267275" grpId="0" autoUpdateAnimBg="0"/>
      <p:bldP spid="267276" grpId="0" autoUpdateAnimBg="0"/>
      <p:bldP spid="267277" grpId="0" autoUpdateAnimBg="0"/>
      <p:bldP spid="267278" grpId="0" autoUpdateAnimBg="0"/>
      <p:bldP spid="267279" grpId="0" autoUpdateAnimBg="0"/>
      <p:bldP spid="267290" grpId="0" autoUpdateAnimBg="0"/>
      <p:bldP spid="267291" grpId="0" autoUpdateAnimBg="0"/>
      <p:bldP spid="267292" grpId="0" autoUpdateAnimBg="0"/>
      <p:bldP spid="267293" grpId="0" autoUpdateAnimBg="0"/>
      <p:bldP spid="267326" grpId="0" animBg="1"/>
      <p:bldP spid="267334" grpId="0" autoUpdateAnimBg="0"/>
      <p:bldP spid="26733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9317" name="Text Box 5"/>
          <p:cNvSpPr txBox="1">
            <a:spLocks noChangeArrowheads="1"/>
          </p:cNvSpPr>
          <p:nvPr/>
        </p:nvSpPr>
        <p:spPr bwMode="auto">
          <a:xfrm>
            <a:off x="1143000" y="1219200"/>
            <a:ext cx="255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正应力作用时：</a:t>
            </a:r>
            <a:endParaRPr lang="zh-CN" altLang="en-US" dirty="0">
              <a:solidFill>
                <a:srgbClr val="002060"/>
              </a:solidFill>
              <a:ea typeface="黑体" panose="02010609060101010101" pitchFamily="49" charset="-122"/>
            </a:endParaRPr>
          </a:p>
        </p:txBody>
      </p:sp>
      <p:sp>
        <p:nvSpPr>
          <p:cNvPr id="269327" name="Text Box 15"/>
          <p:cNvSpPr txBox="1">
            <a:spLocks noChangeArrowheads="1"/>
          </p:cNvSpPr>
          <p:nvPr/>
        </p:nvSpPr>
        <p:spPr bwMode="auto">
          <a:xfrm>
            <a:off x="685800" y="533400"/>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en-US" altLang="zh-CN" dirty="0">
                <a:solidFill>
                  <a:srgbClr val="002060"/>
                </a:solidFill>
                <a:ea typeface="黑体" panose="02010609060101010101" pitchFamily="49" charset="-122"/>
              </a:rPr>
              <a:t>2</a:t>
            </a:r>
            <a:r>
              <a:rPr lang="zh-CN" altLang="en-US" dirty="0">
                <a:solidFill>
                  <a:srgbClr val="002060"/>
                </a:solidFill>
                <a:ea typeface="黑体" panose="02010609060101010101" pitchFamily="49" charset="-122"/>
              </a:rPr>
              <a:t>、以安全系数为约束的强度条件</a:t>
            </a:r>
            <a:endParaRPr lang="zh-CN" altLang="en-US" dirty="0">
              <a:solidFill>
                <a:srgbClr val="002060"/>
              </a:solidFill>
              <a:ea typeface="黑体" panose="02010609060101010101" pitchFamily="49" charset="-122"/>
            </a:endParaRPr>
          </a:p>
        </p:txBody>
      </p:sp>
      <p:sp>
        <p:nvSpPr>
          <p:cNvPr id="269328" name="Text Box 16"/>
          <p:cNvSpPr txBox="1">
            <a:spLocks noChangeArrowheads="1"/>
          </p:cNvSpPr>
          <p:nvPr/>
        </p:nvSpPr>
        <p:spPr bwMode="auto">
          <a:xfrm>
            <a:off x="1143000" y="2971800"/>
            <a:ext cx="365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计算安全系数：</a:t>
            </a:r>
            <a:r>
              <a:rPr lang="en-US" altLang="zh-CN" i="1" dirty="0" err="1">
                <a:solidFill>
                  <a:srgbClr val="002060"/>
                </a:solidFill>
                <a:ea typeface="黑体" panose="02010609060101010101" pitchFamily="49" charset="-122"/>
              </a:rPr>
              <a:t>S</a:t>
            </a:r>
            <a:r>
              <a:rPr lang="en-US" altLang="zh-CN" i="1" baseline="-16000" dirty="0" err="1">
                <a:solidFill>
                  <a:srgbClr val="002060"/>
                </a:solidFill>
                <a:ea typeface="楷体_GB2312" pitchFamily="49" charset="-122"/>
              </a:rPr>
              <a:t>σ</a:t>
            </a:r>
            <a:r>
              <a:rPr lang="zh-CN" altLang="en-US" dirty="0">
                <a:solidFill>
                  <a:srgbClr val="002060"/>
                </a:solidFill>
                <a:ea typeface="黑体" panose="02010609060101010101" pitchFamily="49" charset="-122"/>
              </a:rPr>
              <a:t>、</a:t>
            </a:r>
            <a:r>
              <a:rPr lang="en-US" altLang="zh-CN" i="1" dirty="0" err="1">
                <a:solidFill>
                  <a:srgbClr val="002060"/>
                </a:solidFill>
                <a:ea typeface="黑体" panose="02010609060101010101" pitchFamily="49" charset="-122"/>
              </a:rPr>
              <a:t>S</a:t>
            </a:r>
            <a:r>
              <a:rPr lang="en-US" altLang="zh-CN" i="1" baseline="-16000" dirty="0" err="1">
                <a:solidFill>
                  <a:srgbClr val="002060"/>
                </a:solidFill>
                <a:ea typeface="楷体_GB2312" pitchFamily="49" charset="-122"/>
              </a:rPr>
              <a:t>τ</a:t>
            </a:r>
            <a:endParaRPr lang="en-US" altLang="zh-CN" baseline="-16000" dirty="0">
              <a:solidFill>
                <a:srgbClr val="002060"/>
              </a:solidFill>
              <a:ea typeface="黑体" panose="02010609060101010101" pitchFamily="49" charset="-122"/>
            </a:endParaRPr>
          </a:p>
        </p:txBody>
      </p:sp>
      <p:graphicFrame>
        <p:nvGraphicFramePr>
          <p:cNvPr id="269330" name="Object 18"/>
          <p:cNvGraphicFramePr>
            <a:graphicFrameLocks noChangeAspect="1"/>
          </p:cNvGraphicFramePr>
          <p:nvPr/>
        </p:nvGraphicFramePr>
        <p:xfrm>
          <a:off x="3429000" y="1073150"/>
          <a:ext cx="2532063" cy="831850"/>
        </p:xfrm>
        <a:graphic>
          <a:graphicData uri="http://schemas.openxmlformats.org/presentationml/2006/ole">
            <mc:AlternateContent xmlns:mc="http://schemas.openxmlformats.org/markup-compatibility/2006">
              <mc:Choice xmlns:v="urn:schemas-microsoft-com:vml" Requires="v">
                <p:oleObj spid="_x0000_s2" name="Equation" r:id="rId1" imgW="977900" imgH="431800" progId="Equation.3">
                  <p:embed/>
                </p:oleObj>
              </mc:Choice>
              <mc:Fallback>
                <p:oleObj name="Equation" r:id="rId1" imgW="977900" imgH="431800" progId="Equation.3">
                  <p:embed/>
                  <p:pic>
                    <p:nvPicPr>
                      <p:cNvPr id="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073150"/>
                        <a:ext cx="2532063" cy="83185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sp>
        <p:nvSpPr>
          <p:cNvPr id="269331" name="Text Box 19"/>
          <p:cNvSpPr txBox="1">
            <a:spLocks noChangeArrowheads="1"/>
          </p:cNvSpPr>
          <p:nvPr/>
        </p:nvSpPr>
        <p:spPr bwMode="auto">
          <a:xfrm>
            <a:off x="1143000" y="2133600"/>
            <a:ext cx="255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剪应力作用时：</a:t>
            </a:r>
            <a:endParaRPr lang="zh-CN" altLang="en-US" dirty="0">
              <a:solidFill>
                <a:srgbClr val="002060"/>
              </a:solidFill>
              <a:ea typeface="黑体" panose="02010609060101010101" pitchFamily="49" charset="-122"/>
            </a:endParaRPr>
          </a:p>
        </p:txBody>
      </p:sp>
      <p:graphicFrame>
        <p:nvGraphicFramePr>
          <p:cNvPr id="269332" name="Object 20"/>
          <p:cNvGraphicFramePr>
            <a:graphicFrameLocks noChangeAspect="1"/>
          </p:cNvGraphicFramePr>
          <p:nvPr/>
        </p:nvGraphicFramePr>
        <p:xfrm>
          <a:off x="3429000" y="1987550"/>
          <a:ext cx="2400300" cy="831850"/>
        </p:xfrm>
        <a:graphic>
          <a:graphicData uri="http://schemas.openxmlformats.org/presentationml/2006/ole">
            <mc:AlternateContent xmlns:mc="http://schemas.openxmlformats.org/markup-compatibility/2006">
              <mc:Choice xmlns:v="urn:schemas-microsoft-com:vml" Requires="v">
                <p:oleObj spid="_x0000_s3" name="Equation" r:id="rId3" imgW="927100" imgH="431800" progId="Equation.3">
                  <p:embed/>
                </p:oleObj>
              </mc:Choice>
              <mc:Fallback>
                <p:oleObj name="Equation" r:id="rId3" imgW="927100" imgH="431800" progId="Equation.3">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1987550"/>
                        <a:ext cx="2400300" cy="83185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sp>
        <p:nvSpPr>
          <p:cNvPr id="269333" name="Text Box 21"/>
          <p:cNvSpPr txBox="1">
            <a:spLocks noChangeArrowheads="1"/>
          </p:cNvSpPr>
          <p:nvPr/>
        </p:nvSpPr>
        <p:spPr bwMode="auto">
          <a:xfrm>
            <a:off x="1143000" y="5374005"/>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a:solidFill>
                  <a:schemeClr val="hlink"/>
                </a:solidFill>
                <a:ea typeface="黑体" panose="02010609060101010101" pitchFamily="49" charset="-122"/>
              </a:rPr>
              <a:t>静应力作用时的强度问题常称为静强度。</a:t>
            </a:r>
            <a:endParaRPr lang="zh-CN" altLang="en-US" baseline="-16000">
              <a:solidFill>
                <a:schemeClr val="hlink"/>
              </a:solidFill>
              <a:ea typeface="黑体" panose="02010609060101010101" pitchFamily="49" charset="-122"/>
            </a:endParaRPr>
          </a:p>
        </p:txBody>
      </p:sp>
      <p:sp>
        <p:nvSpPr>
          <p:cNvPr id="269335" name="Text Box 23"/>
          <p:cNvSpPr txBox="1">
            <a:spLocks noChangeArrowheads="1"/>
          </p:cNvSpPr>
          <p:nvPr/>
        </p:nvSpPr>
        <p:spPr bwMode="auto">
          <a:xfrm>
            <a:off x="1143000" y="3581400"/>
            <a:ext cx="487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许用安全系数：</a:t>
            </a:r>
            <a:r>
              <a:rPr lang="en-US" altLang="zh-CN" dirty="0">
                <a:solidFill>
                  <a:srgbClr val="002060"/>
                </a:solidFill>
                <a:ea typeface="黑体" panose="02010609060101010101" pitchFamily="49" charset="-122"/>
              </a:rPr>
              <a:t>[</a:t>
            </a:r>
            <a:r>
              <a:rPr lang="en-US" altLang="zh-CN" i="1" dirty="0">
                <a:solidFill>
                  <a:srgbClr val="002060"/>
                </a:solidFill>
                <a:ea typeface="黑体" panose="02010609060101010101" pitchFamily="49" charset="-122"/>
              </a:rPr>
              <a:t>S</a:t>
            </a:r>
            <a:r>
              <a:rPr lang="en-US" altLang="zh-CN" dirty="0">
                <a:solidFill>
                  <a:srgbClr val="002060"/>
                </a:solidFill>
                <a:ea typeface="黑体" panose="02010609060101010101" pitchFamily="49" charset="-122"/>
              </a:rPr>
              <a:t>]</a:t>
            </a:r>
            <a:r>
              <a:rPr lang="zh-CN" altLang="en-US" dirty="0">
                <a:solidFill>
                  <a:srgbClr val="002060"/>
                </a:solidFill>
                <a:ea typeface="黑体" panose="02010609060101010101" pitchFamily="49" charset="-122"/>
              </a:rPr>
              <a:t>，通常 </a:t>
            </a:r>
            <a:r>
              <a:rPr lang="en-US" altLang="zh-CN" dirty="0">
                <a:solidFill>
                  <a:srgbClr val="002060"/>
                </a:solidFill>
                <a:ea typeface="黑体" panose="02010609060101010101" pitchFamily="49" charset="-122"/>
              </a:rPr>
              <a:t>[</a:t>
            </a:r>
            <a:r>
              <a:rPr lang="en-US" altLang="zh-CN" i="1" dirty="0">
                <a:solidFill>
                  <a:srgbClr val="002060"/>
                </a:solidFill>
                <a:ea typeface="黑体" panose="02010609060101010101" pitchFamily="49" charset="-122"/>
              </a:rPr>
              <a:t>S</a:t>
            </a:r>
            <a:r>
              <a:rPr lang="en-US" altLang="zh-CN" dirty="0">
                <a:solidFill>
                  <a:srgbClr val="002060"/>
                </a:solidFill>
                <a:ea typeface="黑体" panose="02010609060101010101" pitchFamily="49" charset="-122"/>
              </a:rPr>
              <a:t>] ≥ 1 </a:t>
            </a:r>
            <a:endParaRPr lang="en-US" altLang="zh-CN" dirty="0">
              <a:solidFill>
                <a:srgbClr val="002060"/>
              </a:solidFill>
              <a:ea typeface="黑体" panose="02010609060101010101" pitchFamily="49" charset="-122"/>
            </a:endParaRPr>
          </a:p>
        </p:txBody>
      </p:sp>
      <p:sp>
        <p:nvSpPr>
          <p:cNvPr id="269336" name="Text Box 24"/>
          <p:cNvSpPr txBox="1">
            <a:spLocks noChangeArrowheads="1"/>
          </p:cNvSpPr>
          <p:nvPr/>
        </p:nvSpPr>
        <p:spPr bwMode="auto">
          <a:xfrm>
            <a:off x="1447800" y="4114800"/>
            <a:ext cx="7445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重要情况下或受力分析等精确性较差时 </a:t>
            </a:r>
            <a:r>
              <a:rPr lang="en-US" altLang="zh-CN" dirty="0">
                <a:solidFill>
                  <a:srgbClr val="002060"/>
                </a:solidFill>
                <a:ea typeface="黑体" panose="02010609060101010101" pitchFamily="49" charset="-122"/>
              </a:rPr>
              <a:t>[</a:t>
            </a:r>
            <a:r>
              <a:rPr lang="en-US" altLang="zh-CN" i="1" dirty="0">
                <a:solidFill>
                  <a:srgbClr val="002060"/>
                </a:solidFill>
                <a:ea typeface="黑体" panose="02010609060101010101" pitchFamily="49" charset="-122"/>
              </a:rPr>
              <a:t>S</a:t>
            </a:r>
            <a:r>
              <a:rPr lang="en-US" altLang="zh-CN" dirty="0">
                <a:solidFill>
                  <a:srgbClr val="002060"/>
                </a:solidFill>
                <a:ea typeface="黑体" panose="02010609060101010101" pitchFamily="49" charset="-122"/>
              </a:rPr>
              <a:t>] </a:t>
            </a:r>
            <a:r>
              <a:rPr lang="zh-CN" altLang="en-US" dirty="0">
                <a:solidFill>
                  <a:srgbClr val="002060"/>
                </a:solidFill>
                <a:ea typeface="黑体" panose="02010609060101010101" pitchFamily="49" charset="-122"/>
              </a:rPr>
              <a:t>取大些； </a:t>
            </a:r>
            <a:endParaRPr lang="zh-CN" altLang="en-US" dirty="0">
              <a:solidFill>
                <a:srgbClr val="002060"/>
              </a:solidFill>
              <a:ea typeface="黑体" panose="02010609060101010101" pitchFamily="49" charset="-122"/>
            </a:endParaRPr>
          </a:p>
        </p:txBody>
      </p:sp>
      <p:sp>
        <p:nvSpPr>
          <p:cNvPr id="269337" name="Text Box 25"/>
          <p:cNvSpPr txBox="1">
            <a:spLocks noChangeArrowheads="1"/>
          </p:cNvSpPr>
          <p:nvPr/>
        </p:nvSpPr>
        <p:spPr bwMode="auto">
          <a:xfrm>
            <a:off x="1447800" y="45720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bg2"/>
                </a:solidFill>
                <a:latin typeface="Times New Roman" panose="02020603050405020304" pitchFamily="18" charset="0"/>
                <a:ea typeface="方正大黑简体" pitchFamily="2" charset="-122"/>
              </a:defRPr>
            </a:lvl1pPr>
            <a:lvl2pPr marL="742950" indent="-285750" eaLnBrk="0" hangingPunct="0">
              <a:defRPr kumimoji="1" sz="2400" b="1">
                <a:solidFill>
                  <a:schemeClr val="bg2"/>
                </a:solidFill>
                <a:latin typeface="Times New Roman" panose="02020603050405020304" pitchFamily="18" charset="0"/>
                <a:ea typeface="方正大黑简体" pitchFamily="2" charset="-122"/>
              </a:defRPr>
            </a:lvl2pPr>
            <a:lvl3pPr marL="1143000" indent="-228600" eaLnBrk="0" hangingPunct="0">
              <a:defRPr kumimoji="1" sz="2400" b="1">
                <a:solidFill>
                  <a:schemeClr val="bg2"/>
                </a:solidFill>
                <a:latin typeface="Times New Roman" panose="02020603050405020304" pitchFamily="18" charset="0"/>
                <a:ea typeface="方正大黑简体" pitchFamily="2" charset="-122"/>
              </a:defRPr>
            </a:lvl3pPr>
            <a:lvl4pPr marL="1600200" indent="-228600" eaLnBrk="0" hangingPunct="0">
              <a:defRPr kumimoji="1" sz="2400" b="1">
                <a:solidFill>
                  <a:schemeClr val="bg2"/>
                </a:solidFill>
                <a:latin typeface="Times New Roman" panose="02020603050405020304" pitchFamily="18" charset="0"/>
                <a:ea typeface="方正大黑简体" pitchFamily="2" charset="-122"/>
              </a:defRPr>
            </a:lvl4pPr>
            <a:lvl5pPr marL="2057400" indent="-228600" eaLnBrk="0" hangingPunct="0">
              <a:defRPr kumimoji="1" sz="2400" b="1">
                <a:solidFill>
                  <a:schemeClr val="bg2"/>
                </a:solidFill>
                <a:latin typeface="Times New Roman" panose="02020603050405020304" pitchFamily="18" charset="0"/>
                <a:ea typeface="方正大黑简体" pitchFamily="2" charset="-122"/>
              </a:defRPr>
            </a:lvl5pPr>
            <a:lvl6pPr marL="25146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6pPr>
            <a:lvl7pPr marL="29718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7pPr>
            <a:lvl8pPr marL="34290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8pPr>
            <a:lvl9pPr marL="3886200" indent="-228600" eaLnBrk="0" fontAlgn="base" hangingPunct="0">
              <a:spcBef>
                <a:spcPct val="50000"/>
              </a:spcBef>
              <a:spcAft>
                <a:spcPct val="0"/>
              </a:spcAft>
              <a:defRPr kumimoji="1" sz="2400" b="1">
                <a:solidFill>
                  <a:schemeClr val="bg2"/>
                </a:solidFill>
                <a:latin typeface="Times New Roman" panose="02020603050405020304" pitchFamily="18" charset="0"/>
                <a:ea typeface="方正大黑简体" pitchFamily="2" charset="-122"/>
              </a:defRPr>
            </a:lvl9pPr>
          </a:lstStyle>
          <a:p>
            <a:pPr eaLnBrk="1" hangingPunct="1"/>
            <a:r>
              <a:rPr lang="zh-CN" altLang="en-US" dirty="0">
                <a:solidFill>
                  <a:srgbClr val="002060"/>
                </a:solidFill>
                <a:ea typeface="黑体" panose="02010609060101010101" pitchFamily="49" charset="-122"/>
              </a:rPr>
              <a:t>否则，</a:t>
            </a:r>
            <a:r>
              <a:rPr lang="en-US" altLang="zh-CN" dirty="0">
                <a:solidFill>
                  <a:srgbClr val="002060"/>
                </a:solidFill>
                <a:ea typeface="黑体" panose="02010609060101010101" pitchFamily="49" charset="-122"/>
              </a:rPr>
              <a:t>[</a:t>
            </a:r>
            <a:r>
              <a:rPr lang="en-US" altLang="zh-CN" i="1" dirty="0">
                <a:solidFill>
                  <a:srgbClr val="002060"/>
                </a:solidFill>
                <a:ea typeface="黑体" panose="02010609060101010101" pitchFamily="49" charset="-122"/>
              </a:rPr>
              <a:t>S</a:t>
            </a:r>
            <a:r>
              <a:rPr lang="en-US" altLang="zh-CN" dirty="0">
                <a:solidFill>
                  <a:srgbClr val="002060"/>
                </a:solidFill>
                <a:ea typeface="黑体" panose="02010609060101010101" pitchFamily="49" charset="-122"/>
              </a:rPr>
              <a:t>] </a:t>
            </a:r>
            <a:r>
              <a:rPr lang="zh-CN" altLang="en-US" dirty="0">
                <a:solidFill>
                  <a:srgbClr val="002060"/>
                </a:solidFill>
                <a:ea typeface="黑体" panose="02010609060101010101" pitchFamily="49" charset="-122"/>
              </a:rPr>
              <a:t>取小些。</a:t>
            </a:r>
            <a:r>
              <a:rPr lang="zh-CN" altLang="en-US" dirty="0">
                <a:ea typeface="黑体" panose="02010609060101010101" pitchFamily="49" charset="-122"/>
              </a:rPr>
              <a:t> </a:t>
            </a:r>
            <a:endParaRPr lang="zh-CN" altLang="en-US" dirty="0">
              <a:ea typeface="黑体" panose="02010609060101010101" pitchFamily="49" charset="-122"/>
            </a:endParaRPr>
          </a:p>
        </p:txBody>
      </p:sp>
      <p:graphicFrame>
        <p:nvGraphicFramePr>
          <p:cNvPr id="269338" name="Object 26"/>
          <p:cNvGraphicFramePr>
            <a:graphicFrameLocks noChangeAspect="1"/>
          </p:cNvGraphicFramePr>
          <p:nvPr/>
        </p:nvGraphicFramePr>
        <p:xfrm>
          <a:off x="6292850" y="457200"/>
          <a:ext cx="2473325" cy="739775"/>
        </p:xfrm>
        <a:graphic>
          <a:graphicData uri="http://schemas.openxmlformats.org/presentationml/2006/ole">
            <mc:AlternateContent xmlns:mc="http://schemas.openxmlformats.org/markup-compatibility/2006">
              <mc:Choice xmlns:v="urn:schemas-microsoft-com:vml" Requires="v">
                <p:oleObj spid="_x0000_s4" name="Equation" r:id="rId5" imgW="1040765" imgH="419100" progId="Equation.3">
                  <p:embed/>
                </p:oleObj>
              </mc:Choice>
              <mc:Fallback>
                <p:oleObj name="Equation" r:id="rId5" imgW="1040765" imgH="419100" progId="Equation.3">
                  <p:embed/>
                  <p:pic>
                    <p:nvPicPr>
                      <p:cNvPr id="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92850" y="457200"/>
                        <a:ext cx="2473325" cy="739775"/>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99"/>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69327"/>
                                        </p:tgtEl>
                                        <p:attrNameLst>
                                          <p:attrName>style.visibility</p:attrName>
                                        </p:attrNameLst>
                                      </p:cBhvr>
                                      <p:to>
                                        <p:strVal val="visible"/>
                                      </p:to>
                                    </p:set>
                                    <p:animEffect transition="in" filter="slide(fromTop)">
                                      <p:cBhvr>
                                        <p:cTn id="7" dur="500"/>
                                        <p:tgtEl>
                                          <p:spTgt spid="26932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69317"/>
                                        </p:tgtEl>
                                        <p:attrNameLst>
                                          <p:attrName>style.visibility</p:attrName>
                                        </p:attrNameLst>
                                      </p:cBhvr>
                                      <p:to>
                                        <p:strVal val="visible"/>
                                      </p:to>
                                    </p:set>
                                    <p:animEffect transition="in" filter="box(in)">
                                      <p:cBhvr>
                                        <p:cTn id="12" dur="500"/>
                                        <p:tgtEl>
                                          <p:spTgt spid="269317"/>
                                        </p:tgtEl>
                                      </p:cBhvr>
                                    </p:animEffect>
                                  </p:childTnLst>
                                </p:cTn>
                              </p:par>
                            </p:childTnLst>
                          </p:cTn>
                        </p:par>
                        <p:par>
                          <p:cTn id="13" fill="hold">
                            <p:stCondLst>
                              <p:cond delay="500"/>
                            </p:stCondLst>
                            <p:childTnLst>
                              <p:par>
                                <p:cTn id="14" presetID="17" presetClass="entr" presetSubtype="10" fill="hold" nodeType="afterEffect">
                                  <p:stCondLst>
                                    <p:cond delay="0"/>
                                  </p:stCondLst>
                                  <p:childTnLst>
                                    <p:set>
                                      <p:cBhvr>
                                        <p:cTn id="15" dur="1" fill="hold">
                                          <p:stCondLst>
                                            <p:cond delay="0"/>
                                          </p:stCondLst>
                                        </p:cTn>
                                        <p:tgtEl>
                                          <p:spTgt spid="269330"/>
                                        </p:tgtEl>
                                        <p:attrNameLst>
                                          <p:attrName>style.visibility</p:attrName>
                                        </p:attrNameLst>
                                      </p:cBhvr>
                                      <p:to>
                                        <p:strVal val="visible"/>
                                      </p:to>
                                    </p:set>
                                    <p:anim calcmode="lin" valueType="num">
                                      <p:cBhvr>
                                        <p:cTn id="16" dur="500" fill="hold"/>
                                        <p:tgtEl>
                                          <p:spTgt spid="269330"/>
                                        </p:tgtEl>
                                        <p:attrNameLst>
                                          <p:attrName>ppt_w</p:attrName>
                                        </p:attrNameLst>
                                      </p:cBhvr>
                                      <p:tavLst>
                                        <p:tav tm="0">
                                          <p:val>
                                            <p:fltVal val="0"/>
                                          </p:val>
                                        </p:tav>
                                        <p:tav tm="100000">
                                          <p:val>
                                            <p:strVal val="#ppt_w"/>
                                          </p:val>
                                        </p:tav>
                                      </p:tavLst>
                                    </p:anim>
                                    <p:anim calcmode="lin" valueType="num">
                                      <p:cBhvr>
                                        <p:cTn id="17" dur="500" fill="hold"/>
                                        <p:tgtEl>
                                          <p:spTgt spid="269330"/>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nodeType="clickEffect">
                                  <p:stCondLst>
                                    <p:cond delay="0"/>
                                  </p:stCondLst>
                                  <p:childTnLst>
                                    <p:set>
                                      <p:cBhvr>
                                        <p:cTn id="21" dur="1" fill="hold">
                                          <p:stCondLst>
                                            <p:cond delay="0"/>
                                          </p:stCondLst>
                                        </p:cTn>
                                        <p:tgtEl>
                                          <p:spTgt spid="269338"/>
                                        </p:tgtEl>
                                        <p:attrNameLst>
                                          <p:attrName>style.visibility</p:attrName>
                                        </p:attrNameLst>
                                      </p:cBhvr>
                                      <p:to>
                                        <p:strVal val="visible"/>
                                      </p:to>
                                    </p:set>
                                    <p:anim calcmode="lin" valueType="num">
                                      <p:cBhvr>
                                        <p:cTn id="22" dur="500" fill="hold"/>
                                        <p:tgtEl>
                                          <p:spTgt spid="269338"/>
                                        </p:tgtEl>
                                        <p:attrNameLst>
                                          <p:attrName>ppt_w</p:attrName>
                                        </p:attrNameLst>
                                      </p:cBhvr>
                                      <p:tavLst>
                                        <p:tav tm="0">
                                          <p:val>
                                            <p:fltVal val="0"/>
                                          </p:val>
                                        </p:tav>
                                        <p:tav tm="100000">
                                          <p:val>
                                            <p:strVal val="#ppt_w"/>
                                          </p:val>
                                        </p:tav>
                                      </p:tavLst>
                                    </p:anim>
                                    <p:anim calcmode="lin" valueType="num">
                                      <p:cBhvr>
                                        <p:cTn id="23" dur="500" fill="hold"/>
                                        <p:tgtEl>
                                          <p:spTgt spid="269338"/>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269331"/>
                                        </p:tgtEl>
                                        <p:attrNameLst>
                                          <p:attrName>style.visibility</p:attrName>
                                        </p:attrNameLst>
                                      </p:cBhvr>
                                      <p:to>
                                        <p:strVal val="visible"/>
                                      </p:to>
                                    </p:set>
                                    <p:animEffect transition="in" filter="box(in)">
                                      <p:cBhvr>
                                        <p:cTn id="28" dur="500"/>
                                        <p:tgtEl>
                                          <p:spTgt spid="269331"/>
                                        </p:tgtEl>
                                      </p:cBhvr>
                                    </p:animEffect>
                                  </p:childTnLst>
                                </p:cTn>
                              </p:par>
                            </p:childTnLst>
                          </p:cTn>
                        </p:par>
                        <p:par>
                          <p:cTn id="29" fill="hold">
                            <p:stCondLst>
                              <p:cond delay="500"/>
                            </p:stCondLst>
                            <p:childTnLst>
                              <p:par>
                                <p:cTn id="30" presetID="17" presetClass="entr" presetSubtype="10" fill="hold" nodeType="afterEffect">
                                  <p:stCondLst>
                                    <p:cond delay="0"/>
                                  </p:stCondLst>
                                  <p:childTnLst>
                                    <p:set>
                                      <p:cBhvr>
                                        <p:cTn id="31" dur="1" fill="hold">
                                          <p:stCondLst>
                                            <p:cond delay="0"/>
                                          </p:stCondLst>
                                        </p:cTn>
                                        <p:tgtEl>
                                          <p:spTgt spid="269332"/>
                                        </p:tgtEl>
                                        <p:attrNameLst>
                                          <p:attrName>style.visibility</p:attrName>
                                        </p:attrNameLst>
                                      </p:cBhvr>
                                      <p:to>
                                        <p:strVal val="visible"/>
                                      </p:to>
                                    </p:set>
                                    <p:anim calcmode="lin" valueType="num">
                                      <p:cBhvr>
                                        <p:cTn id="32" dur="500" fill="hold"/>
                                        <p:tgtEl>
                                          <p:spTgt spid="269332"/>
                                        </p:tgtEl>
                                        <p:attrNameLst>
                                          <p:attrName>ppt_w</p:attrName>
                                        </p:attrNameLst>
                                      </p:cBhvr>
                                      <p:tavLst>
                                        <p:tav tm="0">
                                          <p:val>
                                            <p:fltVal val="0"/>
                                          </p:val>
                                        </p:tav>
                                        <p:tav tm="100000">
                                          <p:val>
                                            <p:strVal val="#ppt_w"/>
                                          </p:val>
                                        </p:tav>
                                      </p:tavLst>
                                    </p:anim>
                                    <p:anim calcmode="lin" valueType="num">
                                      <p:cBhvr>
                                        <p:cTn id="33" dur="500" fill="hold"/>
                                        <p:tgtEl>
                                          <p:spTgt spid="269332"/>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childTnLst>
                                    <p:set>
                                      <p:cBhvr>
                                        <p:cTn id="37" dur="1" fill="hold">
                                          <p:stCondLst>
                                            <p:cond delay="0"/>
                                          </p:stCondLst>
                                        </p:cTn>
                                        <p:tgtEl>
                                          <p:spTgt spid="269328"/>
                                        </p:tgtEl>
                                        <p:attrNameLst>
                                          <p:attrName>style.visibility</p:attrName>
                                        </p:attrNameLst>
                                      </p:cBhvr>
                                      <p:to>
                                        <p:strVal val="visible"/>
                                      </p:to>
                                    </p:set>
                                    <p:animEffect transition="in" filter="slide(fromTop)">
                                      <p:cBhvr>
                                        <p:cTn id="38" dur="500"/>
                                        <p:tgtEl>
                                          <p:spTgt spid="269328"/>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269335"/>
                                        </p:tgtEl>
                                        <p:attrNameLst>
                                          <p:attrName>style.visibility</p:attrName>
                                        </p:attrNameLst>
                                      </p:cBhvr>
                                      <p:to>
                                        <p:strVal val="visible"/>
                                      </p:to>
                                    </p:set>
                                    <p:animEffect transition="in" filter="dissolve">
                                      <p:cBhvr>
                                        <p:cTn id="43" dur="500"/>
                                        <p:tgtEl>
                                          <p:spTgt spid="269335"/>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69336"/>
                                        </p:tgtEl>
                                        <p:attrNameLst>
                                          <p:attrName>style.visibility</p:attrName>
                                        </p:attrNameLst>
                                      </p:cBhvr>
                                      <p:to>
                                        <p:strVal val="visible"/>
                                      </p:to>
                                    </p:set>
                                    <p:animEffect transition="in" filter="dissolve">
                                      <p:cBhvr>
                                        <p:cTn id="48" dur="500"/>
                                        <p:tgtEl>
                                          <p:spTgt spid="269336"/>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269337"/>
                                        </p:tgtEl>
                                        <p:attrNameLst>
                                          <p:attrName>style.visibility</p:attrName>
                                        </p:attrNameLst>
                                      </p:cBhvr>
                                      <p:to>
                                        <p:strVal val="visible"/>
                                      </p:to>
                                    </p:set>
                                    <p:animEffect transition="in" filter="dissolve">
                                      <p:cBhvr>
                                        <p:cTn id="53" dur="500"/>
                                        <p:tgtEl>
                                          <p:spTgt spid="269337"/>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1" fill="hold" grpId="0" nodeType="clickEffect">
                                  <p:stCondLst>
                                    <p:cond delay="0"/>
                                  </p:stCondLst>
                                  <p:childTnLst>
                                    <p:set>
                                      <p:cBhvr>
                                        <p:cTn id="57" dur="1" fill="hold">
                                          <p:stCondLst>
                                            <p:cond delay="0"/>
                                          </p:stCondLst>
                                        </p:cTn>
                                        <p:tgtEl>
                                          <p:spTgt spid="269333"/>
                                        </p:tgtEl>
                                        <p:attrNameLst>
                                          <p:attrName>style.visibility</p:attrName>
                                        </p:attrNameLst>
                                      </p:cBhvr>
                                      <p:to>
                                        <p:strVal val="visible"/>
                                      </p:to>
                                    </p:set>
                                    <p:animEffect transition="in" filter="slide(fromTop)">
                                      <p:cBhvr>
                                        <p:cTn id="58" dur="500"/>
                                        <p:tgtEl>
                                          <p:spTgt spid="269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7" grpId="0" autoUpdateAnimBg="0"/>
      <p:bldP spid="269327" grpId="0" autoUpdateAnimBg="0"/>
      <p:bldP spid="269328" grpId="0" autoUpdateAnimBg="0"/>
      <p:bldP spid="269331" grpId="0" autoUpdateAnimBg="0"/>
      <p:bldP spid="269333" grpId="0" autoUpdateAnimBg="0"/>
      <p:bldP spid="269335" grpId="0" autoUpdateAnimBg="0"/>
      <p:bldP spid="269336" grpId="0" autoUpdateAnimBg="0"/>
      <p:bldP spid="26933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0"/>
          <p:cNvSpPr>
            <a:spLocks noGrp="1" noChangeArrowheads="1"/>
          </p:cNvSpPr>
          <p:nvPr>
            <p:ph type="title"/>
          </p:nvPr>
        </p:nvSpPr>
        <p:spPr bwMode="auto">
          <a:xfrm>
            <a:off x="5410200" y="685800"/>
            <a:ext cx="17526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a:solidFill>
                  <a:schemeClr val="bg1"/>
                </a:solidFill>
                <a:latin typeface="华文中宋" panose="02010600040101010101" pitchFamily="2" charset="-122"/>
                <a:ea typeface="华文中宋" panose="02010600040101010101" pitchFamily="2" charset="-122"/>
              </a:rPr>
              <a:t>材料疲劳的两种类别</a:t>
            </a:r>
            <a:endParaRPr lang="zh-CN" altLang="en-US"/>
          </a:p>
        </p:txBody>
      </p:sp>
      <p:sp>
        <p:nvSpPr>
          <p:cNvPr id="16387" name="Rectangle 21"/>
          <p:cNvSpPr>
            <a:spLocks noChangeArrowheads="1"/>
          </p:cNvSpPr>
          <p:nvPr/>
        </p:nvSpPr>
        <p:spPr bwMode="auto">
          <a:xfrm>
            <a:off x="3279140" y="215900"/>
            <a:ext cx="570738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1.3-2 </a:t>
            </a:r>
            <a:r>
              <a:rPr lang="zh-CN" altLang="en-US" sz="3000" dirty="0">
                <a:solidFill>
                  <a:srgbClr val="CC3300"/>
                </a:solidFill>
                <a:latin typeface="黑体" panose="02010609060101010101" pitchFamily="49" charset="-122"/>
                <a:ea typeface="黑体" panose="02010609060101010101" pitchFamily="49" charset="-122"/>
              </a:rPr>
              <a:t>疲劳强度的基本理论</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9244" name="Picture 28"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5663" y="650875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46" name="Picture 30"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9200" y="650875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 Box 49"/>
          <p:cNvSpPr txBox="1">
            <a:spLocks noChangeArrowheads="1"/>
          </p:cNvSpPr>
          <p:nvPr/>
        </p:nvSpPr>
        <p:spPr bwMode="auto">
          <a:xfrm>
            <a:off x="342000" y="1449000"/>
            <a:ext cx="8643938" cy="94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latin typeface="Times New Roman" panose="02020603050405020304" pitchFamily="18" charset="0"/>
              </a:rPr>
              <a:t>        </a:t>
            </a:r>
            <a:r>
              <a:rPr lang="zh-CN" altLang="en-US" dirty="0">
                <a:solidFill>
                  <a:srgbClr val="000099"/>
                </a:solidFill>
                <a:latin typeface="黑体" panose="02010609060101010101" pitchFamily="49" charset="-122"/>
                <a:ea typeface="黑体" panose="02010609060101010101" pitchFamily="49" charset="-122"/>
              </a:rPr>
              <a:t>零件在疲劳失效时所承受的应力值远低于材料的抗拉强度，甚至远低于材料的屈服强度。失效过程从直观感受上具有突然性。</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9269" name="Text Box 53"/>
          <p:cNvSpPr txBox="1">
            <a:spLocks noChangeArrowheads="1"/>
          </p:cNvSpPr>
          <p:nvPr/>
        </p:nvSpPr>
        <p:spPr bwMode="auto">
          <a:xfrm>
            <a:off x="552480" y="3833830"/>
            <a:ext cx="4857750" cy="2403475"/>
          </a:xfrm>
          <a:prstGeom prst="rect">
            <a:avLst/>
          </a:prstGeom>
          <a:solidFill>
            <a:schemeClr val="accent4">
              <a:lumMod val="20000"/>
              <a:lumOff val="80000"/>
            </a:schemeClr>
          </a:solidFill>
          <a:ln>
            <a:noFill/>
          </a:ln>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latin typeface="Times New Roman" panose="02020603050405020304" pitchFamily="18" charset="0"/>
              </a:rPr>
              <a:t>       由于零件在变应力下反复变形，疲劳发展区呈光滑状态，以裂纹源为中心出现波纹状的同心疲劳纹。自裂纹源向外呈放射性的条纹称为垄沟纹。粗糙的脆性断裂区是突然产生的，形貌更接近于静应力引起的断口形貌。</a:t>
            </a:r>
            <a:endParaRPr lang="zh-CN" altLang="en-US" sz="2000" dirty="0">
              <a:solidFill>
                <a:srgbClr val="000099"/>
              </a:solidFill>
              <a:latin typeface="Times New Roman" panose="02020603050405020304" pitchFamily="18" charset="0"/>
            </a:endParaRPr>
          </a:p>
        </p:txBody>
      </p:sp>
      <p:sp>
        <p:nvSpPr>
          <p:cNvPr id="16392" name="Text Box 62"/>
          <p:cNvSpPr txBox="1">
            <a:spLocks noChangeArrowheads="1"/>
          </p:cNvSpPr>
          <p:nvPr/>
        </p:nvSpPr>
        <p:spPr bwMode="auto">
          <a:xfrm>
            <a:off x="6081713" y="61579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4" name="矩形 13"/>
          <p:cNvSpPr>
            <a:spLocks noChangeArrowheads="1"/>
          </p:cNvSpPr>
          <p:nvPr/>
        </p:nvSpPr>
        <p:spPr bwMode="auto">
          <a:xfrm>
            <a:off x="333535" y="2389850"/>
            <a:ext cx="84296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Times New Roman" panose="02020603050405020304" pitchFamily="18" charset="0"/>
              </a:rPr>
              <a:t>        </a:t>
            </a:r>
            <a:r>
              <a:rPr lang="zh-CN" altLang="en-US" dirty="0">
                <a:solidFill>
                  <a:srgbClr val="000099"/>
                </a:solidFill>
                <a:latin typeface="黑体" panose="02010609060101010101" pitchFamily="49" charset="-122"/>
                <a:ea typeface="黑体" panose="02010609060101010101" pitchFamily="49" charset="-122"/>
              </a:rPr>
              <a:t>疲劳断裂的过程一般要经历</a:t>
            </a:r>
            <a:r>
              <a:rPr lang="zh-CN" altLang="en-US" dirty="0">
                <a:solidFill>
                  <a:srgbClr val="FF0000"/>
                </a:solidFill>
                <a:latin typeface="黑体" panose="02010609060101010101" pitchFamily="49" charset="-122"/>
                <a:ea typeface="黑体" panose="02010609060101010101" pitchFamily="49" charset="-122"/>
              </a:rPr>
              <a:t>裂纹萌生</a:t>
            </a:r>
            <a:r>
              <a:rPr lang="zh-CN" altLang="en-US" dirty="0">
                <a:solidFill>
                  <a:srgbClr val="000099"/>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裂纹扩展</a:t>
            </a:r>
            <a:r>
              <a:rPr lang="zh-CN" altLang="en-US" dirty="0">
                <a:solidFill>
                  <a:srgbClr val="000099"/>
                </a:solidFill>
                <a:latin typeface="黑体" panose="02010609060101010101" pitchFamily="49" charset="-122"/>
                <a:ea typeface="黑体" panose="02010609060101010101" pitchFamily="49" charset="-122"/>
              </a:rPr>
              <a:t>和</a:t>
            </a:r>
            <a:r>
              <a:rPr lang="zh-CN" altLang="en-US" dirty="0">
                <a:solidFill>
                  <a:srgbClr val="FF0000"/>
                </a:solidFill>
                <a:latin typeface="黑体" panose="02010609060101010101" pitchFamily="49" charset="-122"/>
                <a:ea typeface="黑体" panose="02010609060101010101" pitchFamily="49" charset="-122"/>
              </a:rPr>
              <a:t>突然断裂</a:t>
            </a:r>
            <a:r>
              <a:rPr lang="zh-CN" altLang="en-US" dirty="0">
                <a:solidFill>
                  <a:srgbClr val="000099"/>
                </a:solidFill>
                <a:latin typeface="黑体" panose="02010609060101010101" pitchFamily="49" charset="-122"/>
                <a:ea typeface="黑体" panose="02010609060101010101" pitchFamily="49" charset="-122"/>
              </a:rPr>
              <a:t>三个阶段。</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5" name="矩形 14"/>
          <p:cNvSpPr>
            <a:spLocks noChangeArrowheads="1"/>
          </p:cNvSpPr>
          <p:nvPr/>
        </p:nvSpPr>
        <p:spPr bwMode="auto">
          <a:xfrm>
            <a:off x="131690" y="3213820"/>
            <a:ext cx="84296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Times New Roman" panose="02020603050405020304" pitchFamily="18" charset="0"/>
              </a:rPr>
              <a:t>       </a:t>
            </a:r>
            <a:r>
              <a:rPr lang="zh-CN" altLang="en-US" dirty="0">
                <a:solidFill>
                  <a:srgbClr val="000099"/>
                </a:solidFill>
                <a:latin typeface="黑体" panose="02010609060101010101" pitchFamily="49" charset="-122"/>
                <a:ea typeface="黑体" panose="02010609060101010101" pitchFamily="49" charset="-122"/>
              </a:rPr>
              <a:t>疲劳断裂的断口由</a:t>
            </a:r>
            <a:r>
              <a:rPr lang="zh-CN" altLang="en-US" dirty="0">
                <a:solidFill>
                  <a:srgbClr val="FF0000"/>
                </a:solidFill>
                <a:latin typeface="黑体" panose="02010609060101010101" pitchFamily="49" charset="-122"/>
                <a:ea typeface="黑体" panose="02010609060101010101" pitchFamily="49" charset="-122"/>
              </a:rPr>
              <a:t>光滑的疲劳扩展区</a:t>
            </a:r>
            <a:r>
              <a:rPr lang="zh-CN" altLang="en-US" dirty="0">
                <a:solidFill>
                  <a:srgbClr val="000099"/>
                </a:solidFill>
                <a:latin typeface="黑体" panose="02010609060101010101" pitchFamily="49" charset="-122"/>
                <a:ea typeface="黑体" panose="02010609060101010101" pitchFamily="49" charset="-122"/>
              </a:rPr>
              <a:t>和</a:t>
            </a:r>
            <a:r>
              <a:rPr lang="zh-CN" altLang="en-US" dirty="0">
                <a:solidFill>
                  <a:srgbClr val="FF0000"/>
                </a:solidFill>
                <a:latin typeface="黑体" panose="02010609060101010101" pitchFamily="49" charset="-122"/>
                <a:ea typeface="黑体" panose="02010609060101010101" pitchFamily="49" charset="-122"/>
              </a:rPr>
              <a:t>粗糙的脆性断裂区组</a:t>
            </a:r>
            <a:r>
              <a:rPr lang="zh-CN" altLang="en-US" dirty="0">
                <a:solidFill>
                  <a:srgbClr val="000099"/>
                </a:solidFill>
                <a:latin typeface="黑体" panose="02010609060101010101" pitchFamily="49" charset="-122"/>
                <a:ea typeface="黑体" panose="02010609060101010101" pitchFamily="49" charset="-122"/>
              </a:rPr>
              <a:t>成。</a:t>
            </a:r>
            <a:endParaRPr lang="zh-CN" altLang="en-US" dirty="0">
              <a:solidFill>
                <a:srgbClr val="000099"/>
              </a:solidFill>
              <a:latin typeface="黑体" panose="02010609060101010101" pitchFamily="49" charset="-122"/>
              <a:ea typeface="黑体" panose="02010609060101010101" pitchFamily="49" charset="-122"/>
            </a:endParaRPr>
          </a:p>
        </p:txBody>
      </p:sp>
      <p:pic>
        <p:nvPicPr>
          <p:cNvPr id="1127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72000" y="3834000"/>
            <a:ext cx="34671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6"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552525" y="914165"/>
            <a:ext cx="1402080" cy="460375"/>
          </a:xfrm>
          <a:prstGeom prst="rect">
            <a:avLst/>
          </a:prstGeom>
        </p:spPr>
        <p:txBody>
          <a:bodyPr wrap="none">
            <a:spAutoFit/>
          </a:bodyPr>
          <a:lstStyle/>
          <a:p>
            <a:pPr eaLnBrk="1" hangingPunct="1"/>
            <a:r>
              <a:rPr lang="zh-CN" altLang="en-US" sz="2400" dirty="0">
                <a:solidFill>
                  <a:srgbClr val="CC3300"/>
                </a:solidFill>
                <a:latin typeface="黑体" panose="02010609060101010101" pitchFamily="49" charset="-122"/>
                <a:ea typeface="黑体" panose="02010609060101010101" pitchFamily="49" charset="-122"/>
              </a:rPr>
              <a:t>疲劳断裂</a:t>
            </a:r>
            <a:endParaRPr lang="zh-CN" altLang="en-US" sz="2400" dirty="0">
              <a:solidFill>
                <a:srgbClr val="CC3300"/>
              </a:solidFill>
              <a:latin typeface="黑体" panose="02010609060101010101" pitchFamily="49" charset="-122"/>
              <a:ea typeface="黑体" panose="02010609060101010101" pitchFamily="49" charset="-122"/>
            </a:endParaRPr>
          </a:p>
        </p:txBody>
      </p:sp>
      <p:sp>
        <p:nvSpPr>
          <p:cNvPr id="3" name="文本框 2"/>
          <p:cNvSpPr txBox="1"/>
          <p:nvPr/>
        </p:nvSpPr>
        <p:spPr>
          <a:xfrm>
            <a:off x="3182620" y="944880"/>
            <a:ext cx="5154295" cy="429895"/>
          </a:xfrm>
          <a:prstGeom prst="rect">
            <a:avLst/>
          </a:prstGeom>
          <a:noFill/>
        </p:spPr>
        <p:txBody>
          <a:bodyPr wrap="square" rtlCol="0">
            <a:spAutoFit/>
          </a:bodyPr>
          <a:lstStyle/>
          <a:p>
            <a:r>
              <a:rPr lang="zh-CN" altLang="en-US">
                <a:solidFill>
                  <a:srgbClr val="0000FF"/>
                </a:solidFill>
                <a:latin typeface="黑体" panose="02010609060101010101" pitchFamily="49" charset="-122"/>
                <a:ea typeface="黑体" panose="02010609060101010101" pitchFamily="49" charset="-122"/>
              </a:rPr>
              <a:t>与变应力大小及应力循环次数有关</a:t>
            </a:r>
            <a:endParaRPr lang="zh-CN" altLang="en-US">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269"/>
                                        </p:tgtEl>
                                        <p:attrNameLst>
                                          <p:attrName>style.visibility</p:attrName>
                                        </p:attrNameLst>
                                      </p:cBhvr>
                                      <p:to>
                                        <p:strVal val="visible"/>
                                      </p:to>
                                    </p:set>
                                    <p:animEffect transition="in" filter="wipe(left)">
                                      <p:cBhvr>
                                        <p:cTn id="23" dur="500"/>
                                        <p:tgtEl>
                                          <p:spTgt spid="9269"/>
                                        </p:tgtEl>
                                      </p:cBhvr>
                                    </p:animEffec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499"/>
                                          </p:stCondLst>
                                        </p:cTn>
                                        <p:tgtEl>
                                          <p:spTgt spid="9246"/>
                                        </p:tgtEl>
                                        <p:attrNameLst>
                                          <p:attrName>style.visibility</p:attrName>
                                        </p:attrNameLst>
                                      </p:cBhvr>
                                      <p:to>
                                        <p:strVal val="visible"/>
                                      </p:to>
                                    </p:set>
                                  </p:childTnLst>
                                </p:cTn>
                              </p:par>
                            </p:childTnLst>
                          </p:cTn>
                        </p:par>
                        <p:par>
                          <p:cTn id="27" fill="hold">
                            <p:stCondLst>
                              <p:cond delay="1000"/>
                            </p:stCondLst>
                            <p:childTnLst>
                              <p:par>
                                <p:cTn id="28" presetID="2" presetClass="entr" presetSubtype="8" fill="hold" nodeType="afterEffect">
                                  <p:stCondLst>
                                    <p:cond delay="0"/>
                                  </p:stCondLst>
                                  <p:childTnLst>
                                    <p:set>
                                      <p:cBhvr>
                                        <p:cTn id="29" dur="1" fill="hold">
                                          <p:stCondLst>
                                            <p:cond delay="0"/>
                                          </p:stCondLst>
                                        </p:cTn>
                                        <p:tgtEl>
                                          <p:spTgt spid="9244"/>
                                        </p:tgtEl>
                                        <p:attrNameLst>
                                          <p:attrName>style.visibility</p:attrName>
                                        </p:attrNameLst>
                                      </p:cBhvr>
                                      <p:to>
                                        <p:strVal val="visible"/>
                                      </p:to>
                                    </p:set>
                                    <p:anim calcmode="lin" valueType="num">
                                      <p:cBhvr additive="base">
                                        <p:cTn id="30" dur="500" fill="hold"/>
                                        <p:tgtEl>
                                          <p:spTgt spid="9244"/>
                                        </p:tgtEl>
                                        <p:attrNameLst>
                                          <p:attrName>ppt_x</p:attrName>
                                        </p:attrNameLst>
                                      </p:cBhvr>
                                      <p:tavLst>
                                        <p:tav tm="0">
                                          <p:val>
                                            <p:strVal val="0-#ppt_w/2"/>
                                          </p:val>
                                        </p:tav>
                                        <p:tav tm="100000">
                                          <p:val>
                                            <p:strVal val="#ppt_x"/>
                                          </p:val>
                                        </p:tav>
                                      </p:tavLst>
                                    </p:anim>
                                    <p:anim calcmode="lin" valueType="num">
                                      <p:cBhvr additive="base">
                                        <p:cTn id="31" dur="500" fill="hold"/>
                                        <p:tgtEl>
                                          <p:spTgt spid="924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Effect transition="in" filter="wipe(left)">
                                      <p:cBhvr>
                                        <p:cTn id="3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p:bldP spid="9269" grpId="0" bldLvl="0" animBg="1" autoUpdateAnimBg="0"/>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bwMode="auto">
          <a:xfrm>
            <a:off x="0" y="274955"/>
            <a:ext cx="82296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sz="800">
                <a:solidFill>
                  <a:schemeClr val="bg1"/>
                </a:solidFill>
                <a:latin typeface="楷体_GB2312" pitchFamily="49" charset="-122"/>
                <a:ea typeface="楷体_GB2312" pitchFamily="49" charset="-122"/>
              </a:rPr>
              <a:t>§2-2 </a:t>
            </a:r>
            <a:r>
              <a:rPr lang="zh-CN" altLang="en-US" sz="800">
                <a:solidFill>
                  <a:schemeClr val="bg1"/>
                </a:solidFill>
                <a:latin typeface="楷体_GB2312" pitchFamily="49" charset="-122"/>
                <a:ea typeface="楷体_GB2312" pitchFamily="49" charset="-122"/>
              </a:rPr>
              <a:t>疲劳曲线和极限应力图</a:t>
            </a:r>
            <a:endParaRPr lang="zh-CN" altLang="en-US" sz="800">
              <a:solidFill>
                <a:schemeClr val="bg1"/>
              </a:solidFill>
              <a:latin typeface="楷体_GB2312" pitchFamily="49" charset="-122"/>
              <a:ea typeface="楷体_GB2312" pitchFamily="49" charset="-122"/>
            </a:endParaRPr>
          </a:p>
        </p:txBody>
      </p:sp>
      <p:graphicFrame>
        <p:nvGraphicFramePr>
          <p:cNvPr id="69730" name="Object 98"/>
          <p:cNvGraphicFramePr>
            <a:graphicFrameLocks noGrp="1" noChangeAspect="1"/>
          </p:cNvGraphicFramePr>
          <p:nvPr>
            <p:ph sz="half" idx="4294967295"/>
          </p:nvPr>
        </p:nvGraphicFramePr>
        <p:xfrm>
          <a:off x="2816860" y="1988820"/>
          <a:ext cx="427355" cy="355600"/>
        </p:xfrm>
        <a:graphic>
          <a:graphicData uri="http://schemas.openxmlformats.org/presentationml/2006/ole">
            <mc:AlternateContent xmlns:mc="http://schemas.openxmlformats.org/markup-compatibility/2006">
              <mc:Choice xmlns:v="urn:schemas-microsoft-com:vml" Requires="v">
                <p:oleObj spid="_x0000_s2" name="公式" r:id="rId1" imgW="228600" imgH="190500" progId="Equation.3">
                  <p:embed/>
                </p:oleObj>
              </mc:Choice>
              <mc:Fallback>
                <p:oleObj name="公式" r:id="rId1" imgW="228600" imgH="190500" progId="Equation.3">
                  <p:embed/>
                  <p:pic>
                    <p:nvPicPr>
                      <p:cNvPr id="0" name="图片 106801"/>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6860" y="1988820"/>
                        <a:ext cx="427355"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9662" name="Picture 30" descr="rewind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13700" y="6532563"/>
            <a:ext cx="287338" cy="287337"/>
          </a:xfrm>
          <a:prstGeom prst="rect">
            <a:avLst/>
          </a:prstGeom>
          <a:noFill/>
          <a:extLst>
            <a:ext uri="{909E8E84-426E-40DD-AFC4-6F175D3DCCD1}">
              <a14:hiddenFill xmlns:a14="http://schemas.microsoft.com/office/drawing/2010/main">
                <a:solidFill>
                  <a:srgbClr val="FFFFFF"/>
                </a:solidFill>
              </a14:hiddenFill>
            </a:ext>
          </a:extLst>
        </p:spPr>
      </p:pic>
      <p:pic>
        <p:nvPicPr>
          <p:cNvPr id="69663" name="Picture 31" descr="NEXT1">
            <a:hlinkClick r:id="" action="ppaction://hlinkshowjump?jump=next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56663" y="6519863"/>
            <a:ext cx="287337" cy="287337"/>
          </a:xfrm>
          <a:prstGeom prst="rect">
            <a:avLst/>
          </a:prstGeom>
          <a:noFill/>
          <a:extLst>
            <a:ext uri="{909E8E84-426E-40DD-AFC4-6F175D3DCCD1}">
              <a14:hiddenFill xmlns:a14="http://schemas.microsoft.com/office/drawing/2010/main">
                <a:solidFill>
                  <a:srgbClr val="FFFFFF"/>
                </a:solidFill>
              </a14:hiddenFill>
            </a:ext>
          </a:extLst>
        </p:spPr>
      </p:pic>
      <p:pic>
        <p:nvPicPr>
          <p:cNvPr id="69664" name="Picture 32" descr="back1">
            <a:hlinkClick r:id="" action="ppaction://hlinkshowjump?jump=previousslide"/>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47088" y="6523038"/>
            <a:ext cx="287337" cy="287337"/>
          </a:xfrm>
          <a:prstGeom prst="rect">
            <a:avLst/>
          </a:prstGeom>
          <a:noFill/>
          <a:extLst>
            <a:ext uri="{909E8E84-426E-40DD-AFC4-6F175D3DCCD1}">
              <a14:hiddenFill xmlns:a14="http://schemas.microsoft.com/office/drawing/2010/main">
                <a:solidFill>
                  <a:srgbClr val="FFFFFF"/>
                </a:solidFill>
              </a14:hiddenFill>
            </a:ext>
          </a:extLst>
        </p:spPr>
      </p:pic>
      <p:sp>
        <p:nvSpPr>
          <p:cNvPr id="69665" name="Rectangle 33"/>
          <p:cNvSpPr>
            <a:spLocks noChangeArrowheads="1"/>
          </p:cNvSpPr>
          <p:nvPr/>
        </p:nvSpPr>
        <p:spPr bwMode="auto">
          <a:xfrm>
            <a:off x="206830" y="773920"/>
            <a:ext cx="683966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400" b="0" dirty="0">
                <a:solidFill>
                  <a:srgbClr val="CC0000"/>
                </a:solidFill>
                <a:latin typeface="黑体" panose="02010609060101010101" pitchFamily="49" charset="-122"/>
                <a:ea typeface="黑体" panose="02010609060101010101" pitchFamily="49" charset="-122"/>
              </a:rPr>
              <a:t>一、材料的</a:t>
            </a:r>
            <a:r>
              <a:rPr lang="zh-CN" altLang="en-US" sz="2400" b="0" dirty="0">
                <a:solidFill>
                  <a:srgbClr val="CC0000"/>
                </a:solidFill>
                <a:latin typeface="Arial" panose="020B0604020202020204" pitchFamily="34" charset="0"/>
                <a:ea typeface="黑体" panose="02010609060101010101" pitchFamily="49" charset="-122"/>
                <a:cs typeface="Arial" panose="020B0604020202020204" pitchFamily="34" charset="0"/>
              </a:rPr>
              <a:t>σ</a:t>
            </a:r>
            <a:r>
              <a:rPr lang="en-US" altLang="zh-CN" sz="2400" b="0" dirty="0">
                <a:solidFill>
                  <a:srgbClr val="CC0000"/>
                </a:solidFill>
                <a:latin typeface="Arial" panose="020B0604020202020204" pitchFamily="34" charset="0"/>
                <a:ea typeface="黑体" panose="02010609060101010101" pitchFamily="49" charset="-122"/>
                <a:cs typeface="Arial" panose="020B0604020202020204" pitchFamily="34" charset="0"/>
              </a:rPr>
              <a:t>-</a:t>
            </a:r>
            <a:r>
              <a:rPr lang="en-US" altLang="zh-CN" sz="2400" b="0" i="1" dirty="0">
                <a:solidFill>
                  <a:srgbClr val="CC0000"/>
                </a:solidFill>
                <a:latin typeface="Arial" panose="020B0604020202020204" pitchFamily="34" charset="0"/>
                <a:ea typeface="黑体" panose="02010609060101010101" pitchFamily="49" charset="-122"/>
                <a:cs typeface="Arial" panose="020B0604020202020204" pitchFamily="34" charset="0"/>
              </a:rPr>
              <a:t>N </a:t>
            </a:r>
            <a:r>
              <a:rPr lang="zh-CN" altLang="en-US" sz="2400" b="0" dirty="0">
                <a:solidFill>
                  <a:srgbClr val="CC0000"/>
                </a:solidFill>
                <a:latin typeface="黑体" panose="02010609060101010101" pitchFamily="49" charset="-122"/>
                <a:ea typeface="黑体" panose="02010609060101010101" pitchFamily="49" charset="-122"/>
              </a:rPr>
              <a:t>疲劳曲线</a:t>
            </a:r>
            <a:endParaRPr lang="zh-CN" altLang="en-US" sz="2400" b="0" dirty="0">
              <a:solidFill>
                <a:srgbClr val="CC0000"/>
              </a:solidFill>
              <a:latin typeface="黑体" panose="02010609060101010101" pitchFamily="49" charset="-122"/>
              <a:ea typeface="黑体" panose="02010609060101010101" pitchFamily="49" charset="-122"/>
            </a:endParaRPr>
          </a:p>
        </p:txBody>
      </p:sp>
      <p:sp>
        <p:nvSpPr>
          <p:cNvPr id="69675" name="Text Box 43"/>
          <p:cNvSpPr txBox="1">
            <a:spLocks noChangeArrowheads="1"/>
          </p:cNvSpPr>
          <p:nvPr/>
        </p:nvSpPr>
        <p:spPr bwMode="auto">
          <a:xfrm>
            <a:off x="494665" y="3204210"/>
            <a:ext cx="82677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b="0" dirty="0">
                <a:solidFill>
                  <a:srgbClr val="0000FF"/>
                </a:solidFill>
                <a:latin typeface="黑体" panose="02010609060101010101" pitchFamily="49" charset="-122"/>
                <a:ea typeface="黑体" panose="02010609060101010101" pitchFamily="49" charset="-122"/>
                <a:cs typeface="黑体" panose="02010609060101010101" pitchFamily="49" charset="-122"/>
              </a:rPr>
              <a:t>2</a:t>
            </a:r>
            <a:r>
              <a:rPr lang="zh-CN" altLang="en-US" sz="2000" b="0" dirty="0">
                <a:solidFill>
                  <a:srgbClr val="0000FF"/>
                </a:solidFill>
                <a:latin typeface="黑体" panose="02010609060101010101" pitchFamily="49" charset="-122"/>
                <a:ea typeface="黑体" panose="02010609060101010101" pitchFamily="49" charset="-122"/>
                <a:cs typeface="黑体" panose="02010609060101010101" pitchFamily="49" charset="-122"/>
              </a:rPr>
              <a:t>、</a:t>
            </a:r>
            <a:r>
              <a:rPr lang="zh-CN" altLang="en-US" sz="2000" b="0" dirty="0">
                <a:solidFill>
                  <a:srgbClr val="3333FF"/>
                </a:solidFill>
                <a:latin typeface="黑体" panose="02010609060101010101" pitchFamily="49" charset="-122"/>
                <a:ea typeface="黑体" panose="02010609060101010101" pitchFamily="49" charset="-122"/>
                <a:cs typeface="黑体" panose="02010609060101010101" pitchFamily="49" charset="-122"/>
              </a:rPr>
              <a:t>疲劳寿命</a:t>
            </a:r>
            <a:r>
              <a:rPr lang="en-US" altLang="zh-CN" sz="2000" b="0" i="1" dirty="0">
                <a:solidFill>
                  <a:srgbClr val="3333FF"/>
                </a:solidFill>
                <a:latin typeface="黑体" panose="02010609060101010101" pitchFamily="49" charset="-122"/>
                <a:ea typeface="黑体" panose="02010609060101010101" pitchFamily="49" charset="-122"/>
                <a:cs typeface="黑体" panose="02010609060101010101" pitchFamily="49" charset="-122"/>
              </a:rPr>
              <a:t>N</a:t>
            </a:r>
            <a:r>
              <a:rPr lang="zh-CN" altLang="en-US" sz="2000" b="0" dirty="0"/>
              <a:t>：</a:t>
            </a:r>
            <a:r>
              <a:rPr lang="zh-CN" altLang="en-US" sz="2000" dirty="0"/>
              <a:t>  </a:t>
            </a:r>
            <a:r>
              <a:rPr lang="zh-CN" altLang="en-US" sz="2000" b="0" dirty="0"/>
              <a:t>材料疲劳失效前所经历的应力循环次数。 </a:t>
            </a:r>
            <a:endParaRPr lang="zh-CN" altLang="en-US" sz="2000" b="0" dirty="0"/>
          </a:p>
        </p:txBody>
      </p:sp>
      <p:grpSp>
        <p:nvGrpSpPr>
          <p:cNvPr id="69714" name="Group 82"/>
          <p:cNvGrpSpPr/>
          <p:nvPr/>
        </p:nvGrpSpPr>
        <p:grpSpPr bwMode="auto">
          <a:xfrm>
            <a:off x="881960" y="3986983"/>
            <a:ext cx="6108700" cy="1225549"/>
            <a:chOff x="328" y="1980"/>
            <a:chExt cx="3848" cy="772"/>
          </a:xfrm>
        </p:grpSpPr>
        <p:sp>
          <p:nvSpPr>
            <p:cNvPr id="69676" name="Text Box 44"/>
            <p:cNvSpPr txBox="1">
              <a:spLocks noChangeArrowheads="1"/>
            </p:cNvSpPr>
            <p:nvPr/>
          </p:nvSpPr>
          <p:spPr bwMode="auto">
            <a:xfrm>
              <a:off x="328" y="1997"/>
              <a:ext cx="3848" cy="755"/>
            </a:xfrm>
            <a:prstGeom prst="rect">
              <a:avLst/>
            </a:prstGeom>
            <a:noFill/>
            <a:ln w="9525">
              <a:solidFill>
                <a:srgbClr val="0070C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latinLnBrk="0" hangingPunct="1">
                <a:lnSpc>
                  <a:spcPct val="120000"/>
                </a:lnSpc>
              </a:pPr>
              <a:r>
                <a:rPr lang="en-US" altLang="zh-CN" sz="2000" b="0" dirty="0">
                  <a:latin typeface="Times New Roman" panose="02020603050405020304" pitchFamily="18" charset="0"/>
                </a:rPr>
                <a:t>    </a:t>
              </a:r>
              <a:r>
                <a:rPr lang="en-US" altLang="zh-CN" sz="2000" b="0" dirty="0">
                  <a:solidFill>
                    <a:srgbClr val="FF0000"/>
                  </a:solidFill>
                </a:rPr>
                <a:t>   </a:t>
              </a:r>
              <a:r>
                <a:rPr lang="en-US" altLang="zh-CN" sz="2000" b="0" i="1" dirty="0">
                  <a:solidFill>
                    <a:srgbClr val="FF0000"/>
                  </a:solidFill>
                  <a:latin typeface="Times New Roman" panose="02020603050405020304" pitchFamily="18" charset="0"/>
                </a:rPr>
                <a:t>r </a:t>
              </a:r>
              <a:r>
                <a:rPr lang="zh-CN" altLang="en-US" sz="2000" b="0" dirty="0"/>
                <a:t>不同或</a:t>
              </a:r>
              <a:r>
                <a:rPr lang="zh-CN" altLang="en-US" sz="2000" b="0" i="1" dirty="0"/>
                <a:t> </a:t>
              </a:r>
              <a:r>
                <a:rPr lang="en-US" altLang="zh-CN" sz="2000" b="0" i="1" dirty="0">
                  <a:solidFill>
                    <a:srgbClr val="FF0000"/>
                  </a:solidFill>
                  <a:latin typeface="Times New Roman" panose="02020603050405020304" pitchFamily="18" charset="0"/>
                </a:rPr>
                <a:t>N</a:t>
              </a:r>
              <a:r>
                <a:rPr lang="en-US" altLang="zh-CN" sz="2000" b="0" i="1" dirty="0">
                  <a:solidFill>
                    <a:srgbClr val="000000"/>
                  </a:solidFill>
                  <a:latin typeface="Times New Roman" panose="02020603050405020304" pitchFamily="18" charset="0"/>
                </a:rPr>
                <a:t> </a:t>
              </a:r>
              <a:r>
                <a:rPr lang="zh-CN" altLang="en-US" sz="2000" b="0" dirty="0"/>
                <a:t>不同时，疲劳极限      则不同。</a:t>
              </a:r>
              <a:endParaRPr lang="zh-CN" altLang="en-US" sz="2000" b="0" dirty="0"/>
            </a:p>
            <a:p>
              <a:pPr algn="just" eaLnBrk="1" latinLnBrk="0" hangingPunct="1">
                <a:lnSpc>
                  <a:spcPct val="120000"/>
                </a:lnSpc>
              </a:pPr>
              <a:endParaRPr lang="zh-CN" altLang="en-US" sz="2000" b="0" i="1" dirty="0"/>
            </a:p>
            <a:p>
              <a:pPr algn="just" eaLnBrk="1" latinLnBrk="0" hangingPunct="1">
                <a:lnSpc>
                  <a:spcPct val="120000"/>
                </a:lnSpc>
              </a:pPr>
              <a:r>
                <a:rPr lang="zh-CN" altLang="en-US" sz="2000" b="0" dirty="0"/>
                <a:t>      在疲劳强度计算中，取      ＝       。</a:t>
              </a:r>
              <a:endParaRPr lang="zh-CN" altLang="en-US" sz="2000" b="0" dirty="0"/>
            </a:p>
          </p:txBody>
        </p:sp>
        <p:graphicFrame>
          <p:nvGraphicFramePr>
            <p:cNvPr id="69677" name="Object 45"/>
            <p:cNvGraphicFramePr>
              <a:graphicFrameLocks noChangeAspect="1"/>
            </p:cNvGraphicFramePr>
            <p:nvPr/>
          </p:nvGraphicFramePr>
          <p:xfrm>
            <a:off x="2760" y="1980"/>
            <a:ext cx="338" cy="338"/>
          </p:xfrm>
          <a:graphic>
            <a:graphicData uri="http://schemas.openxmlformats.org/presentationml/2006/ole">
              <mc:AlternateContent xmlns:mc="http://schemas.openxmlformats.org/markup-compatibility/2006">
                <mc:Choice xmlns:v="urn:schemas-microsoft-com:vml" Requires="v">
                  <p:oleObj spid="_x0000_s3" name="公式" r:id="rId7" imgW="228600" imgH="228600" progId="Equation.3">
                    <p:embed/>
                  </p:oleObj>
                </mc:Choice>
                <mc:Fallback>
                  <p:oleObj name="公式" r:id="rId7" imgW="228600" imgH="228600" progId="Equation.3">
                    <p:embed/>
                    <p:pic>
                      <p:nvPicPr>
                        <p:cNvPr id="0" name="图片 106803"/>
                        <p:cNvPicPr>
                          <a:picLocks noChangeAspect="1" noChangeArrowheads="1"/>
                        </p:cNvPicPr>
                        <p:nvPr/>
                      </p:nvPicPr>
                      <p:blipFill>
                        <a:blip r:embed="rId8"/>
                        <a:srcRect/>
                        <a:stretch>
                          <a:fillRect/>
                        </a:stretch>
                      </p:blipFill>
                      <p:spPr bwMode="auto">
                        <a:xfrm>
                          <a:off x="2760" y="1980"/>
                          <a:ext cx="338" cy="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79" name="Object 47"/>
            <p:cNvGraphicFramePr>
              <a:graphicFrameLocks noChangeAspect="1"/>
            </p:cNvGraphicFramePr>
            <p:nvPr/>
          </p:nvGraphicFramePr>
          <p:xfrm>
            <a:off x="2762" y="2535"/>
            <a:ext cx="240" cy="192"/>
          </p:xfrm>
          <a:graphic>
            <a:graphicData uri="http://schemas.openxmlformats.org/presentationml/2006/ole">
              <mc:AlternateContent xmlns:mc="http://schemas.openxmlformats.org/markup-compatibility/2006">
                <mc:Choice xmlns:v="urn:schemas-microsoft-com:vml" Requires="v">
                  <p:oleObj spid="_x0000_s4" name="公式" r:id="rId9" imgW="381000" imgH="304800" progId="Equation.3">
                    <p:embed/>
                  </p:oleObj>
                </mc:Choice>
                <mc:Fallback>
                  <p:oleObj name="公式" r:id="rId9" imgW="381000" imgH="304800" progId="Equation.3">
                    <p:embed/>
                    <p:pic>
                      <p:nvPicPr>
                        <p:cNvPr id="0" name="图片 10680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62" y="2535"/>
                          <a:ext cx="24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81" name="Object 49"/>
            <p:cNvGraphicFramePr>
              <a:graphicFrameLocks noChangeAspect="1"/>
            </p:cNvGraphicFramePr>
            <p:nvPr/>
          </p:nvGraphicFramePr>
          <p:xfrm>
            <a:off x="2280" y="2507"/>
            <a:ext cx="277" cy="212"/>
          </p:xfrm>
          <a:graphic>
            <a:graphicData uri="http://schemas.openxmlformats.org/presentationml/2006/ole">
              <mc:AlternateContent xmlns:mc="http://schemas.openxmlformats.org/markup-compatibility/2006">
                <mc:Choice xmlns:v="urn:schemas-microsoft-com:vml" Requires="v">
                  <p:oleObj spid="_x0000_s5" name="" r:id="rId11" imgW="330200" imgH="254000" progId="Equation.DSMT4">
                    <p:embed/>
                  </p:oleObj>
                </mc:Choice>
                <mc:Fallback>
                  <p:oleObj name="" r:id="rId11" imgW="330200" imgH="254000" progId="Equation.DSMT4">
                    <p:embed/>
                    <p:pic>
                      <p:nvPicPr>
                        <p:cNvPr id="0" name="图片 10680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0" y="2507"/>
                          <a:ext cx="277" cy="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9735" name="Group 103"/>
          <p:cNvGrpSpPr/>
          <p:nvPr/>
        </p:nvGrpSpPr>
        <p:grpSpPr bwMode="auto">
          <a:xfrm>
            <a:off x="386398" y="1898333"/>
            <a:ext cx="8470900" cy="892175"/>
            <a:chOff x="195" y="783"/>
            <a:chExt cx="5336" cy="562"/>
          </a:xfrm>
        </p:grpSpPr>
        <p:sp>
          <p:nvSpPr>
            <p:cNvPr id="69667" name="Text Box 35"/>
            <p:cNvSpPr txBox="1">
              <a:spLocks noChangeArrowheads="1"/>
            </p:cNvSpPr>
            <p:nvPr/>
          </p:nvSpPr>
          <p:spPr bwMode="auto">
            <a:xfrm>
              <a:off x="195" y="783"/>
              <a:ext cx="5336" cy="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en-US" altLang="zh-CN" sz="2000" b="0" dirty="0">
                  <a:solidFill>
                    <a:srgbClr val="0000FF"/>
                  </a:solidFill>
                </a:rPr>
                <a:t>  </a:t>
              </a:r>
              <a:r>
                <a:rPr lang="en-US" sz="2000" b="0" dirty="0">
                  <a:solidFill>
                    <a:srgbClr val="0000FF"/>
                  </a:solidFill>
                  <a:latin typeface="黑体" panose="02010609060101010101" pitchFamily="49" charset="-122"/>
                  <a:ea typeface="黑体" panose="02010609060101010101" pitchFamily="49" charset="-122"/>
                  <a:cs typeface="黑体" panose="02010609060101010101" pitchFamily="49" charset="-122"/>
                </a:rPr>
                <a:t>1</a:t>
              </a:r>
              <a:r>
                <a:rPr lang="zh-CN" altLang="en-US" sz="2000" b="0" dirty="0">
                  <a:solidFill>
                    <a:srgbClr val="0000FF"/>
                  </a:solidFill>
                  <a:latin typeface="黑体" panose="02010609060101010101" pitchFamily="49" charset="-122"/>
                  <a:ea typeface="黑体" panose="02010609060101010101" pitchFamily="49" charset="-122"/>
                  <a:cs typeface="黑体" panose="02010609060101010101" pitchFamily="49" charset="-122"/>
                </a:rPr>
                <a:t>、材料的疲劳极限</a:t>
              </a:r>
              <a:r>
                <a:rPr lang="zh-CN" altLang="en-US" sz="2000" dirty="0"/>
                <a:t> </a:t>
              </a:r>
              <a:r>
                <a:rPr lang="zh-CN" altLang="en-US" sz="2000" dirty="0">
                  <a:sym typeface="+mn-ea"/>
                </a:rPr>
                <a:t> </a:t>
              </a:r>
              <a:r>
                <a:rPr lang="en-US" altLang="zh-CN" sz="2000" dirty="0">
                  <a:sym typeface="+mn-ea"/>
                </a:rPr>
                <a:t>     </a:t>
              </a:r>
              <a:r>
                <a:rPr lang="zh-CN" altLang="en-US" sz="2000" dirty="0">
                  <a:sym typeface="+mn-ea"/>
                </a:rPr>
                <a:t>：</a:t>
              </a:r>
              <a:r>
                <a:rPr lang="zh-CN" altLang="en-US" sz="2000" b="0" dirty="0"/>
                <a:t>在应力比为</a:t>
              </a:r>
              <a:r>
                <a:rPr lang="en-US" altLang="zh-CN" sz="2000" b="0" i="1" dirty="0">
                  <a:solidFill>
                    <a:srgbClr val="FF0000"/>
                  </a:solidFill>
                </a:rPr>
                <a:t>r</a:t>
              </a:r>
              <a:r>
                <a:rPr lang="zh-CN" altLang="en-US" sz="2000" b="0" dirty="0">
                  <a:solidFill>
                    <a:srgbClr val="FF0000"/>
                  </a:solidFill>
                </a:rPr>
                <a:t>  </a:t>
              </a:r>
              <a:r>
                <a:rPr lang="zh-CN" altLang="en-US" sz="2000" b="0" dirty="0"/>
                <a:t>的循环变应力作用下，应力循环 </a:t>
              </a:r>
              <a:r>
                <a:rPr lang="en-US" altLang="zh-CN" sz="2000" b="0" i="1" dirty="0">
                  <a:solidFill>
                    <a:srgbClr val="FF0000"/>
                  </a:solidFill>
                </a:rPr>
                <a:t>N</a:t>
              </a:r>
              <a:r>
                <a:rPr lang="en-US" altLang="zh-CN" sz="2000" b="0" i="1" dirty="0"/>
                <a:t> </a:t>
              </a:r>
              <a:r>
                <a:rPr lang="zh-CN" altLang="en-US" sz="2000" b="0" dirty="0"/>
                <a:t>次后，材料不发生疲劳破坏时所能承受的最大应力                  。     </a:t>
              </a:r>
              <a:endParaRPr lang="zh-CN" altLang="en-US" sz="2000" b="0" dirty="0"/>
            </a:p>
          </p:txBody>
        </p:sp>
        <p:grpSp>
          <p:nvGrpSpPr>
            <p:cNvPr id="69673" name="Group 41"/>
            <p:cNvGrpSpPr/>
            <p:nvPr/>
          </p:nvGrpSpPr>
          <p:grpSpPr bwMode="auto">
            <a:xfrm>
              <a:off x="3965" y="1095"/>
              <a:ext cx="773" cy="240"/>
              <a:chOff x="1109" y="1447"/>
              <a:chExt cx="773" cy="240"/>
            </a:xfrm>
          </p:grpSpPr>
          <p:graphicFrame>
            <p:nvGraphicFramePr>
              <p:cNvPr id="69671" name="Object 39"/>
              <p:cNvGraphicFramePr>
                <a:graphicFrameLocks noChangeAspect="1"/>
              </p:cNvGraphicFramePr>
              <p:nvPr/>
            </p:nvGraphicFramePr>
            <p:xfrm>
              <a:off x="1109" y="1447"/>
              <a:ext cx="328" cy="240"/>
            </p:xfrm>
            <a:graphic>
              <a:graphicData uri="http://schemas.openxmlformats.org/presentationml/2006/ole">
                <mc:AlternateContent xmlns:mc="http://schemas.openxmlformats.org/markup-compatibility/2006">
                  <mc:Choice xmlns:v="urn:schemas-microsoft-com:vml" Requires="v">
                    <p:oleObj spid="_x0000_s6" name="Equation" r:id="rId13" imgW="520700" imgH="381000" progId="Equation.3">
                      <p:embed/>
                    </p:oleObj>
                  </mc:Choice>
                  <mc:Fallback>
                    <p:oleObj name="Equation" r:id="rId13" imgW="520700" imgH="381000" progId="Equation.3">
                      <p:embed/>
                      <p:pic>
                        <p:nvPicPr>
                          <p:cNvPr id="0" name="图片 10680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09" y="1447"/>
                            <a:ext cx="32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72" name="Object 40"/>
              <p:cNvGraphicFramePr>
                <a:graphicFrameLocks noChangeAspect="1"/>
              </p:cNvGraphicFramePr>
              <p:nvPr/>
            </p:nvGraphicFramePr>
            <p:xfrm>
              <a:off x="1450" y="1447"/>
              <a:ext cx="432" cy="240"/>
            </p:xfrm>
            <a:graphic>
              <a:graphicData uri="http://schemas.openxmlformats.org/presentationml/2006/ole">
                <mc:AlternateContent xmlns:mc="http://schemas.openxmlformats.org/markup-compatibility/2006">
                  <mc:Choice xmlns:v="urn:schemas-microsoft-com:vml" Requires="v">
                    <p:oleObj spid="_x0000_s7" name="Equation" r:id="rId15" imgW="685800" imgH="381000" progId="Equation.3">
                      <p:embed/>
                    </p:oleObj>
                  </mc:Choice>
                  <mc:Fallback>
                    <p:oleObj name="Equation" r:id="rId15" imgW="685800" imgH="381000" progId="Equation.3">
                      <p:embed/>
                      <p:pic>
                        <p:nvPicPr>
                          <p:cNvPr id="0" name="图片 10680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50" y="1447"/>
                            <a:ext cx="43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9735"/>
                                        </p:tgtEl>
                                        <p:attrNameLst>
                                          <p:attrName>style.visibility</p:attrName>
                                        </p:attrNameLst>
                                      </p:cBhvr>
                                      <p:to>
                                        <p:strVal val="visible"/>
                                      </p:to>
                                    </p:set>
                                    <p:animEffect transition="in" filter="wipe(left)">
                                      <p:cBhvr>
                                        <p:cTn id="7" dur="500"/>
                                        <p:tgtEl>
                                          <p:spTgt spid="69735"/>
                                        </p:tgtEl>
                                      </p:cBhvr>
                                    </p:animEffect>
                                  </p:childTnLst>
                                </p:cTn>
                              </p:par>
                              <p:par>
                                <p:cTn id="8" presetID="22" presetClass="entr" presetSubtype="1" fill="hold" nodeType="withEffect">
                                  <p:stCondLst>
                                    <p:cond delay="0"/>
                                  </p:stCondLst>
                                  <p:childTnLst>
                                    <p:set>
                                      <p:cBhvr>
                                        <p:cTn id="9" dur="1" fill="hold">
                                          <p:stCondLst>
                                            <p:cond delay="0"/>
                                          </p:stCondLst>
                                        </p:cTn>
                                        <p:tgtEl>
                                          <p:spTgt spid="69730"/>
                                        </p:tgtEl>
                                        <p:attrNameLst>
                                          <p:attrName>style.visibility</p:attrName>
                                        </p:attrNameLst>
                                      </p:cBhvr>
                                      <p:to>
                                        <p:strVal val="visible"/>
                                      </p:to>
                                    </p:set>
                                    <p:animEffect transition="in" filter="wipe(up)">
                                      <p:cBhvr>
                                        <p:cTn id="10" dur="500"/>
                                        <p:tgtEl>
                                          <p:spTgt spid="6973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9675"/>
                                        </p:tgtEl>
                                        <p:attrNameLst>
                                          <p:attrName>style.visibility</p:attrName>
                                        </p:attrNameLst>
                                      </p:cBhvr>
                                      <p:to>
                                        <p:strVal val="visible"/>
                                      </p:to>
                                    </p:set>
                                    <p:animEffect transition="in" filter="wipe(left)">
                                      <p:cBhvr>
                                        <p:cTn id="15" dur="500"/>
                                        <p:tgtEl>
                                          <p:spTgt spid="6967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9714"/>
                                        </p:tgtEl>
                                        <p:attrNameLst>
                                          <p:attrName>style.visibility</p:attrName>
                                        </p:attrNameLst>
                                      </p:cBhvr>
                                      <p:to>
                                        <p:strVal val="visible"/>
                                      </p:to>
                                    </p:set>
                                    <p:animEffect transition="in" filter="wipe(left)">
                                      <p:cBhvr>
                                        <p:cTn id="20" dur="500"/>
                                        <p:tgtEl>
                                          <p:spTgt spid="69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75" grpId="0" bldLvl="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bwMode="auto">
          <a:xfrm>
            <a:off x="0" y="274955"/>
            <a:ext cx="82296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r>
              <a:rPr lang="en-US" altLang="zh-CN" sz="800">
                <a:solidFill>
                  <a:schemeClr val="bg1"/>
                </a:solidFill>
                <a:latin typeface="楷体_GB2312" pitchFamily="49" charset="-122"/>
                <a:ea typeface="楷体_GB2312" pitchFamily="49" charset="-122"/>
              </a:rPr>
              <a:t>§2-2 </a:t>
            </a:r>
            <a:r>
              <a:rPr lang="zh-CN" altLang="en-US" sz="800">
                <a:solidFill>
                  <a:schemeClr val="bg1"/>
                </a:solidFill>
                <a:latin typeface="楷体_GB2312" pitchFamily="49" charset="-122"/>
                <a:ea typeface="楷体_GB2312" pitchFamily="49" charset="-122"/>
              </a:rPr>
              <a:t>疲劳曲线和极限应力图</a:t>
            </a:r>
            <a:endParaRPr lang="zh-CN" altLang="en-US" sz="800">
              <a:solidFill>
                <a:schemeClr val="bg1"/>
              </a:solidFill>
              <a:latin typeface="楷体_GB2312" pitchFamily="49" charset="-122"/>
              <a:ea typeface="楷体_GB2312" pitchFamily="49" charset="-122"/>
            </a:endParaRPr>
          </a:p>
        </p:txBody>
      </p:sp>
      <p:graphicFrame>
        <p:nvGraphicFramePr>
          <p:cNvPr id="69722" name="Object 90"/>
          <p:cNvGraphicFramePr>
            <a:graphicFrameLocks noGrp="1" noChangeAspect="1"/>
          </p:cNvGraphicFramePr>
          <p:nvPr>
            <p:ph sz="quarter" idx="4294967295"/>
          </p:nvPr>
        </p:nvGraphicFramePr>
        <p:xfrm>
          <a:off x="5652135" y="1268730"/>
          <a:ext cx="444500" cy="417195"/>
        </p:xfrm>
        <a:graphic>
          <a:graphicData uri="http://schemas.openxmlformats.org/presentationml/2006/ole">
            <mc:AlternateContent xmlns:mc="http://schemas.openxmlformats.org/markup-compatibility/2006">
              <mc:Choice xmlns:v="urn:schemas-microsoft-com:vml" Requires="v">
                <p:oleObj spid="_x0000_s2" name="公式" r:id="rId1" imgW="208280" imgH="173355" progId="Equation.3">
                  <p:embed/>
                </p:oleObj>
              </mc:Choice>
              <mc:Fallback>
                <p:oleObj name="公式" r:id="rId1" imgW="208280" imgH="173355" progId="Equation.3">
                  <p:embed/>
                  <p:pic>
                    <p:nvPicPr>
                      <p:cNvPr id="0" name="图片 10680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2135" y="1268730"/>
                        <a:ext cx="444500" cy="417195"/>
                      </a:xfrm>
                      <a:prstGeom prst="rect">
                        <a:avLst/>
                      </a:prstGeom>
                      <a:noFill/>
                      <a:ln>
                        <a:noFill/>
                      </a:ln>
                      <a:effectLst/>
                    </p:spPr>
                  </p:pic>
                </p:oleObj>
              </mc:Fallback>
            </mc:AlternateContent>
          </a:graphicData>
        </a:graphic>
      </p:graphicFrame>
      <p:sp>
        <p:nvSpPr>
          <p:cNvPr id="69688" name="Text Box 56"/>
          <p:cNvSpPr txBox="1">
            <a:spLocks noChangeArrowheads="1"/>
          </p:cNvSpPr>
          <p:nvPr/>
        </p:nvSpPr>
        <p:spPr bwMode="auto">
          <a:xfrm>
            <a:off x="431960" y="1224025"/>
            <a:ext cx="8445500" cy="937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b="0" dirty="0">
                <a:latin typeface="宋体" panose="02010600030101010101" pitchFamily="2" charset="-122"/>
                <a:ea typeface="宋体" panose="02010600030101010101" pitchFamily="2" charset="-122"/>
              </a:rPr>
              <a:t>    </a:t>
            </a:r>
            <a:r>
              <a:rPr lang="zh-CN" altLang="en-US" b="0" dirty="0"/>
              <a:t>是在</a:t>
            </a:r>
            <a:r>
              <a:rPr lang="zh-CN" altLang="en-US" b="0" dirty="0">
                <a:solidFill>
                  <a:srgbClr val="FF0000"/>
                </a:solidFill>
              </a:rPr>
              <a:t>应力比</a:t>
            </a:r>
            <a:r>
              <a:rPr lang="zh-CN" altLang="en-US" b="0" dirty="0">
                <a:solidFill>
                  <a:srgbClr val="FF0000"/>
                </a:solidFill>
                <a:latin typeface="宋体" panose="02010600030101010101" pitchFamily="2" charset="-122"/>
                <a:ea typeface="宋体" panose="02010600030101010101" pitchFamily="2" charset="-122"/>
              </a:rPr>
              <a:t> </a:t>
            </a:r>
            <a:r>
              <a:rPr lang="en-US" altLang="zh-CN" b="0" i="1" dirty="0">
                <a:solidFill>
                  <a:srgbClr val="FF0000"/>
                </a:solidFill>
                <a:latin typeface="Times New Roman" panose="02020603050405020304" pitchFamily="18" charset="0"/>
                <a:ea typeface="宋体" panose="02010600030101010101" pitchFamily="2" charset="-122"/>
              </a:rPr>
              <a:t>r</a:t>
            </a:r>
            <a:r>
              <a:rPr lang="en-US" altLang="zh-CN" b="0" dirty="0">
                <a:solidFill>
                  <a:srgbClr val="FF0000"/>
                </a:solidFill>
                <a:latin typeface="宋体" panose="02010600030101010101" pitchFamily="2" charset="-122"/>
                <a:ea typeface="宋体" panose="02010600030101010101" pitchFamily="2" charset="-122"/>
              </a:rPr>
              <a:t> </a:t>
            </a:r>
            <a:r>
              <a:rPr lang="zh-CN" altLang="en-US" b="0" dirty="0">
                <a:solidFill>
                  <a:srgbClr val="FF0000"/>
                </a:solidFill>
              </a:rPr>
              <a:t>一定时</a:t>
            </a:r>
            <a:r>
              <a:rPr lang="zh-CN" altLang="en-US" b="0" dirty="0"/>
              <a:t>，表示疲劳极限     与循环次数</a:t>
            </a:r>
            <a:r>
              <a:rPr lang="zh-CN" altLang="en-US" b="0" dirty="0">
                <a:latin typeface="宋体" panose="02010600030101010101" pitchFamily="2" charset="-122"/>
                <a:ea typeface="宋体" panose="02010600030101010101" pitchFamily="2" charset="-122"/>
              </a:rPr>
              <a:t> </a:t>
            </a:r>
            <a:r>
              <a:rPr lang="en-US" altLang="zh-CN" b="0" i="1" dirty="0">
                <a:solidFill>
                  <a:srgbClr val="0000FF"/>
                </a:solidFill>
                <a:latin typeface="Times New Roman" panose="02020603050405020304" pitchFamily="18" charset="0"/>
                <a:ea typeface="宋体" panose="02010600030101010101" pitchFamily="2" charset="-122"/>
              </a:rPr>
              <a:t>N</a:t>
            </a:r>
            <a:r>
              <a:rPr lang="en-US" altLang="zh-CN" b="0" dirty="0">
                <a:latin typeface="宋体" panose="02010600030101010101" pitchFamily="2" charset="-122"/>
                <a:ea typeface="宋体" panose="02010600030101010101" pitchFamily="2" charset="-122"/>
              </a:rPr>
              <a:t> </a:t>
            </a:r>
            <a:r>
              <a:rPr lang="zh-CN" altLang="en-US" b="0" dirty="0"/>
              <a:t>之间关系的曲线。 </a:t>
            </a:r>
            <a:endParaRPr lang="zh-CN" altLang="en-US" b="0" dirty="0"/>
          </a:p>
        </p:txBody>
      </p:sp>
      <p:pic>
        <p:nvPicPr>
          <p:cNvPr id="69737" name="Picture 105" descr="2z4"/>
          <p:cNvPicPr>
            <a:picLocks noGrp="1" noChangeAspect="1" noChangeArrowheads="1"/>
          </p:cNvPicPr>
          <p:nvPr>
            <p:ph sz="quarter" idx="4294967295"/>
            <p:custDataLst>
              <p:tags r:id="rId3"/>
            </p:custDataLst>
          </p:nvPr>
        </p:nvPicPr>
        <p:blipFill>
          <a:blip r:embed="rId4" cstate="print">
            <a:extLst>
              <a:ext uri="{28A0092B-C50C-407E-A947-70E740481C1C}">
                <a14:useLocalDpi xmlns:a14="http://schemas.microsoft.com/office/drawing/2010/main" val="0"/>
              </a:ext>
            </a:extLst>
          </a:blip>
          <a:srcRect r="53277"/>
          <a:stretch>
            <a:fillRect/>
          </a:stretch>
        </p:blipFill>
        <p:spPr bwMode="auto">
          <a:xfrm>
            <a:off x="746760" y="2708910"/>
            <a:ext cx="2727960" cy="229489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2"/>
          <p:cNvGrpSpPr/>
          <p:nvPr/>
        </p:nvGrpSpPr>
        <p:grpSpPr>
          <a:xfrm>
            <a:off x="567055" y="549275"/>
            <a:ext cx="4116705" cy="460375"/>
            <a:chOff x="720" y="4922"/>
            <a:chExt cx="5528" cy="725"/>
          </a:xfrm>
        </p:grpSpPr>
        <p:sp>
          <p:nvSpPr>
            <p:cNvPr id="69684" name="Text Box 52"/>
            <p:cNvSpPr txBox="1">
              <a:spLocks noChangeArrowheads="1"/>
            </p:cNvSpPr>
            <p:nvPr/>
          </p:nvSpPr>
          <p:spPr bwMode="auto">
            <a:xfrm>
              <a:off x="720" y="4922"/>
              <a:ext cx="5528"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400" dirty="0">
                  <a:solidFill>
                    <a:srgbClr val="0000FF"/>
                  </a:solidFill>
                  <a:latin typeface="黑体" panose="02010609060101010101" pitchFamily="49" charset="-122"/>
                  <a:ea typeface="黑体" panose="02010609060101010101" pitchFamily="49" charset="-122"/>
                </a:rPr>
                <a:t>3</a:t>
              </a:r>
              <a:r>
                <a:rPr lang="zh-CN" altLang="en-US" sz="2400" dirty="0">
                  <a:solidFill>
                    <a:srgbClr val="0000FF"/>
                  </a:solidFill>
                  <a:latin typeface="黑体" panose="02010609060101010101" pitchFamily="49" charset="-122"/>
                  <a:ea typeface="黑体" panose="02010609060101010101" pitchFamily="49" charset="-122"/>
                </a:rPr>
                <a:t>、材料的     疲劳曲线</a:t>
              </a:r>
              <a:r>
                <a:rPr lang="zh-CN" altLang="en-US" sz="2400" dirty="0">
                  <a:solidFill>
                    <a:srgbClr val="FF0000"/>
                  </a:solidFill>
                  <a:latin typeface="黑体" panose="02010609060101010101" pitchFamily="49" charset="-122"/>
                  <a:ea typeface="黑体" panose="02010609060101010101" pitchFamily="49" charset="-122"/>
                </a:rPr>
                <a:t>：</a:t>
              </a:r>
              <a:endParaRPr lang="zh-CN" altLang="en-US" sz="2400" b="0" dirty="0">
                <a:solidFill>
                  <a:srgbClr val="FF0000"/>
                </a:solidFill>
                <a:latin typeface="黑体" panose="02010609060101010101" pitchFamily="49" charset="-122"/>
                <a:ea typeface="黑体" panose="02010609060101010101" pitchFamily="49" charset="-122"/>
              </a:endParaRPr>
            </a:p>
          </p:txBody>
        </p:sp>
        <p:graphicFrame>
          <p:nvGraphicFramePr>
            <p:cNvPr id="4" name="对象 3">
              <a:hlinkClick r:id="" action="ppaction://ole?verb=0"/>
            </p:cNvPr>
            <p:cNvGraphicFramePr>
              <a:graphicFrameLocks noChangeAspect="1"/>
            </p:cNvGraphicFramePr>
            <p:nvPr/>
          </p:nvGraphicFramePr>
          <p:xfrm>
            <a:off x="2732" y="5046"/>
            <a:ext cx="993" cy="478"/>
          </p:xfrm>
          <a:graphic>
            <a:graphicData uri="http://schemas.openxmlformats.org/presentationml/2006/ole">
              <mc:AlternateContent xmlns:mc="http://schemas.openxmlformats.org/markup-compatibility/2006">
                <mc:Choice xmlns:v="urn:schemas-microsoft-com:vml" Requires="v">
                  <p:oleObj spid="_x0000_s5" name="" r:id="rId5" imgW="368300" imgH="177165" progId="Equation.KSEE3">
                    <p:embed/>
                  </p:oleObj>
                </mc:Choice>
                <mc:Fallback>
                  <p:oleObj name="" r:id="rId5" imgW="368300" imgH="177165" progId="Equation.KSEE3">
                    <p:embed/>
                    <p:pic>
                      <p:nvPicPr>
                        <p:cNvPr id="0" name="图片 1024"/>
                        <p:cNvPicPr/>
                        <p:nvPr/>
                      </p:nvPicPr>
                      <p:blipFill>
                        <a:blip r:embed="rId6"/>
                        <a:stretch>
                          <a:fillRect/>
                        </a:stretch>
                      </p:blipFill>
                      <p:spPr>
                        <a:xfrm>
                          <a:off x="2732" y="5046"/>
                          <a:ext cx="993" cy="478"/>
                        </a:xfrm>
                        <a:prstGeom prst="rect">
                          <a:avLst/>
                        </a:prstGeom>
                      </p:spPr>
                    </p:pic>
                  </p:oleObj>
                </mc:Fallback>
              </mc:AlternateContent>
            </a:graphicData>
          </a:graphic>
        </p:graphicFrame>
      </p:grpSp>
      <p:pic>
        <p:nvPicPr>
          <p:cNvPr id="6" name="图片 5"/>
          <p:cNvPicPr>
            <a:picLocks noChangeAspect="1"/>
          </p:cNvPicPr>
          <p:nvPr/>
        </p:nvPicPr>
        <p:blipFill>
          <a:blip r:embed="rId7"/>
          <a:stretch>
            <a:fillRect/>
          </a:stretch>
        </p:blipFill>
        <p:spPr>
          <a:xfrm>
            <a:off x="4616450" y="2529205"/>
            <a:ext cx="2881630" cy="2357755"/>
          </a:xfrm>
          <a:prstGeom prst="rect">
            <a:avLst/>
          </a:prstGeom>
        </p:spPr>
      </p:pic>
      <p:sp>
        <p:nvSpPr>
          <p:cNvPr id="7" name="文本框 6"/>
          <p:cNvSpPr txBox="1"/>
          <p:nvPr/>
        </p:nvSpPr>
        <p:spPr>
          <a:xfrm>
            <a:off x="6686550" y="2978785"/>
            <a:ext cx="1738630" cy="645160"/>
          </a:xfrm>
          <a:prstGeom prst="rect">
            <a:avLst/>
          </a:prstGeom>
          <a:noFill/>
          <a:ln>
            <a:solidFill>
              <a:srgbClr val="FF00FF"/>
            </a:solidFill>
          </a:ln>
        </p:spPr>
        <p:txBody>
          <a:bodyPr wrap="square" rtlCol="0">
            <a:spAutoFit/>
          </a:bodyPr>
          <a:lstStyle/>
          <a:p>
            <a:r>
              <a:rPr lang="zh-CN" altLang="en-US" sz="1800">
                <a:latin typeface="黑体" panose="02010609060101010101" pitchFamily="49" charset="-122"/>
                <a:ea typeface="黑体" panose="02010609060101010101" pitchFamily="49" charset="-122"/>
              </a:rPr>
              <a:t>有色金或某些高硬度合金钢</a:t>
            </a:r>
            <a:endParaRPr lang="zh-CN" altLang="en-US" sz="1800">
              <a:latin typeface="黑体" panose="02010609060101010101" pitchFamily="49" charset="-122"/>
              <a:ea typeface="黑体" panose="02010609060101010101" pitchFamily="49" charset="-122"/>
            </a:endParaRPr>
          </a:p>
        </p:txBody>
      </p:sp>
      <p:sp>
        <p:nvSpPr>
          <p:cNvPr id="8" name="文本框 7"/>
          <p:cNvSpPr txBox="1"/>
          <p:nvPr/>
        </p:nvSpPr>
        <p:spPr>
          <a:xfrm>
            <a:off x="1286510" y="5184140"/>
            <a:ext cx="6329680" cy="1014730"/>
          </a:xfrm>
          <a:prstGeom prst="rect">
            <a:avLst/>
          </a:prstGeom>
          <a:noFill/>
          <a:ln>
            <a:solidFill>
              <a:srgbClr val="00B050"/>
            </a:solidFill>
          </a:ln>
        </p:spPr>
        <p:txBody>
          <a:bodyPr wrap="square" rtlCol="0">
            <a:spAutoFit/>
          </a:bodyPr>
          <a:lstStyle/>
          <a:p>
            <a:r>
              <a:rPr lang="zh-CN" altLang="en-US" sz="2000" b="1">
                <a:latin typeface="华文楷体" panose="02010600040101010101" charset="-122"/>
                <a:ea typeface="华文楷体" panose="02010600040101010101" charset="-122"/>
                <a:cs typeface="华文楷体" panose="02010600040101010101" charset="-122"/>
              </a:rPr>
              <a:t>疲劳曲线通过实验测得；</a:t>
            </a:r>
            <a:endParaRPr lang="zh-CN" altLang="en-US" sz="2000" b="1">
              <a:latin typeface="华文楷体" panose="02010600040101010101" charset="-122"/>
              <a:ea typeface="华文楷体" panose="02010600040101010101" charset="-122"/>
              <a:cs typeface="华文楷体" panose="02010600040101010101" charset="-122"/>
            </a:endParaRPr>
          </a:p>
          <a:p>
            <a:r>
              <a:rPr lang="zh-CN" altLang="en-US" sz="2000" b="1">
                <a:latin typeface="华文楷体" panose="02010600040101010101" charset="-122"/>
                <a:ea typeface="华文楷体" panose="02010600040101010101" charset="-122"/>
                <a:cs typeface="华文楷体" panose="02010600040101010101" charset="-122"/>
              </a:rPr>
              <a:t>在材料的标准试件上加载一定应力比的等幅变应力；</a:t>
            </a:r>
            <a:endParaRPr lang="zh-CN" altLang="en-US" sz="2000" b="1">
              <a:latin typeface="华文楷体" panose="02010600040101010101" charset="-122"/>
              <a:ea typeface="华文楷体" panose="02010600040101010101" charset="-122"/>
              <a:cs typeface="华文楷体" panose="02010600040101010101" charset="-122"/>
            </a:endParaRPr>
          </a:p>
          <a:p>
            <a:r>
              <a:rPr lang="zh-CN" altLang="en-US" sz="2000" b="1">
                <a:latin typeface="华文楷体" panose="02010600040101010101" charset="-122"/>
                <a:ea typeface="华文楷体" panose="02010600040101010101" charset="-122"/>
                <a:cs typeface="华文楷体" panose="02010600040101010101" charset="-122"/>
              </a:rPr>
              <a:t>一般加</a:t>
            </a:r>
            <a:r>
              <a:rPr lang="en-US" altLang="zh-CN" sz="2000" b="1" i="1">
                <a:latin typeface="华文楷体" panose="02010600040101010101" charset="-122"/>
                <a:ea typeface="华文楷体" panose="02010600040101010101" charset="-122"/>
                <a:cs typeface="华文楷体" panose="02010600040101010101" charset="-122"/>
              </a:rPr>
              <a:t>r=-1</a:t>
            </a:r>
            <a:r>
              <a:rPr lang="zh-CN" altLang="en-US" sz="2000" b="1">
                <a:latin typeface="华文楷体" panose="02010600040101010101" charset="-122"/>
                <a:ea typeface="华文楷体" panose="02010600040101010101" charset="-122"/>
                <a:cs typeface="华文楷体" panose="02010600040101010101" charset="-122"/>
              </a:rPr>
              <a:t>或</a:t>
            </a:r>
            <a:r>
              <a:rPr lang="en-US" altLang="zh-CN" sz="2000" b="1" i="1">
                <a:latin typeface="华文楷体" panose="02010600040101010101" charset="-122"/>
                <a:ea typeface="华文楷体" panose="02010600040101010101" charset="-122"/>
                <a:cs typeface="华文楷体" panose="02010600040101010101" charset="-122"/>
              </a:rPr>
              <a:t>r=0 </a:t>
            </a:r>
            <a:r>
              <a:rPr lang="zh-CN" altLang="en-US" sz="2000" b="1" i="1">
                <a:latin typeface="华文楷体" panose="02010600040101010101" charset="-122"/>
                <a:ea typeface="华文楷体" panose="02010600040101010101" charset="-122"/>
                <a:cs typeface="华文楷体" panose="02010600040101010101" charset="-122"/>
              </a:rPr>
              <a:t>。</a:t>
            </a:r>
            <a:endParaRPr lang="zh-CN" altLang="en-US" sz="2000" b="1" i="1">
              <a:latin typeface="华文楷体" panose="02010600040101010101" charset="-122"/>
              <a:ea typeface="华文楷体" panose="02010600040101010101" charset="-122"/>
              <a:cs typeface="华文楷体" panose="02010600040101010101" charset="-122"/>
            </a:endParaRPr>
          </a:p>
        </p:txBody>
      </p:sp>
      <p:pic>
        <p:nvPicPr>
          <p:cNvPr id="9" name="图片 8"/>
          <p:cNvPicPr>
            <a:picLocks noChangeAspect="1"/>
          </p:cNvPicPr>
          <p:nvPr/>
        </p:nvPicPr>
        <p:blipFill>
          <a:blip r:embed="rId8"/>
          <a:stretch>
            <a:fillRect/>
          </a:stretch>
        </p:blipFill>
        <p:spPr>
          <a:xfrm>
            <a:off x="445144" y="2161285"/>
            <a:ext cx="3854316" cy="249073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9722"/>
                                        </p:tgtEl>
                                        <p:attrNameLst>
                                          <p:attrName>style.visibility</p:attrName>
                                        </p:attrNameLst>
                                      </p:cBhvr>
                                      <p:to>
                                        <p:strVal val="visible"/>
                                      </p:to>
                                    </p:set>
                                    <p:animEffect transition="in" filter="wipe(left)">
                                      <p:cBhvr>
                                        <p:cTn id="7" dur="500"/>
                                        <p:tgtEl>
                                          <p:spTgt spid="6972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9688"/>
                                        </p:tgtEl>
                                        <p:attrNameLst>
                                          <p:attrName>style.visibility</p:attrName>
                                        </p:attrNameLst>
                                      </p:cBhvr>
                                      <p:to>
                                        <p:strVal val="visible"/>
                                      </p:to>
                                    </p:set>
                                    <p:animEffect transition="in" filter="wipe(left)">
                                      <p:cBhvr>
                                        <p:cTn id="10" dur="500"/>
                                        <p:tgtEl>
                                          <p:spTgt spid="6968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69737"/>
                                        </p:tgtEl>
                                        <p:attrNameLst>
                                          <p:attrName>style.visibility</p:attrName>
                                        </p:attrNameLst>
                                      </p:cBhvr>
                                      <p:to>
                                        <p:strVal val="visible"/>
                                      </p:to>
                                    </p:set>
                                    <p:animEffect transition="in" filter="wipe(up)">
                                      <p:cBhvr>
                                        <p:cTn id="15" dur="500"/>
                                        <p:tgtEl>
                                          <p:spTgt spid="6973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42"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outHorizont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88" grpId="0" bldLvl="0" animBg="1"/>
      <p:bldP spid="6" grpId="0" bldLvl="0" animBg="1"/>
      <p:bldP spid="8"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4326255" y="422275"/>
            <a:ext cx="4207510" cy="2762250"/>
            <a:chOff x="6813" y="665"/>
            <a:chExt cx="6626" cy="4350"/>
          </a:xfrm>
        </p:grpSpPr>
        <p:grpSp>
          <p:nvGrpSpPr>
            <p:cNvPr id="8" name="组合 7"/>
            <p:cNvGrpSpPr/>
            <p:nvPr/>
          </p:nvGrpSpPr>
          <p:grpSpPr>
            <a:xfrm>
              <a:off x="6813" y="665"/>
              <a:ext cx="6627" cy="4350"/>
              <a:chOff x="6813" y="665"/>
              <a:chExt cx="6627" cy="4350"/>
            </a:xfrm>
          </p:grpSpPr>
          <p:pic>
            <p:nvPicPr>
              <p:cNvPr id="41" name="Picture 2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10" y="665"/>
                <a:ext cx="6030" cy="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129" y="3417"/>
                <a:ext cx="719" cy="628"/>
              </a:xfrm>
              <a:prstGeom prst="rect">
                <a:avLst/>
              </a:prstGeom>
              <a:solidFill>
                <a:schemeClr val="bg1"/>
              </a:solidFill>
            </p:spPr>
            <p:txBody>
              <a:bodyPr wrap="square" rtlCol="0">
                <a:spAutoFit/>
              </a:bodyPr>
              <a:lstStyle/>
              <a:p>
                <a:r>
                  <a:rPr lang="zh-CN" altLang="en-US" sz="2000">
                    <a:latin typeface="Arial" panose="020B0604020202020204" pitchFamily="34" charset="0"/>
                    <a:cs typeface="Arial" panose="020B0604020202020204" pitchFamily="34" charset="0"/>
                  </a:rPr>
                  <a:t>σ</a:t>
                </a:r>
                <a:r>
                  <a:rPr lang="en-US" altLang="zh-CN" sz="2000" baseline="-25000">
                    <a:latin typeface="Arial" panose="020B0604020202020204" pitchFamily="34" charset="0"/>
                    <a:cs typeface="Arial" panose="020B0604020202020204" pitchFamily="34" charset="0"/>
                  </a:rPr>
                  <a:t>r</a:t>
                </a:r>
                <a:endParaRPr lang="en-US" altLang="zh-CN" sz="2000" baseline="-25000">
                  <a:latin typeface="Arial" panose="020B0604020202020204" pitchFamily="34" charset="0"/>
                  <a:cs typeface="Arial" panose="020B0604020202020204" pitchFamily="34" charset="0"/>
                </a:endParaRPr>
              </a:p>
            </p:txBody>
          </p:sp>
          <p:sp>
            <p:nvSpPr>
              <p:cNvPr id="4" name="文本框 3"/>
              <p:cNvSpPr txBox="1"/>
              <p:nvPr/>
            </p:nvSpPr>
            <p:spPr>
              <a:xfrm>
                <a:off x="6957" y="2847"/>
                <a:ext cx="891" cy="628"/>
              </a:xfrm>
              <a:prstGeom prst="rect">
                <a:avLst/>
              </a:prstGeom>
              <a:solidFill>
                <a:schemeClr val="bg1"/>
              </a:solidFill>
            </p:spPr>
            <p:txBody>
              <a:bodyPr wrap="square" rtlCol="0">
                <a:spAutoFit/>
              </a:bodyPr>
              <a:lstStyle/>
              <a:p>
                <a:r>
                  <a:rPr lang="zh-CN" altLang="en-US" sz="2000">
                    <a:latin typeface="Arial" panose="020B0604020202020204" pitchFamily="34" charset="0"/>
                    <a:cs typeface="Arial" panose="020B0604020202020204" pitchFamily="34" charset="0"/>
                  </a:rPr>
                  <a:t>σ</a:t>
                </a:r>
                <a:r>
                  <a:rPr lang="en-US" altLang="zh-CN" sz="2000" baseline="-25000">
                    <a:latin typeface="Arial" panose="020B0604020202020204" pitchFamily="34" charset="0"/>
                    <a:cs typeface="Arial" panose="020B0604020202020204" pitchFamily="34" charset="0"/>
                  </a:rPr>
                  <a:t>rN</a:t>
                </a:r>
                <a:endParaRPr lang="en-US" altLang="zh-CN" sz="2000" baseline="-25000">
                  <a:latin typeface="Arial" panose="020B0604020202020204" pitchFamily="34" charset="0"/>
                  <a:cs typeface="Arial" panose="020B0604020202020204" pitchFamily="34" charset="0"/>
                </a:endParaRPr>
              </a:p>
            </p:txBody>
          </p:sp>
          <p:sp>
            <p:nvSpPr>
              <p:cNvPr id="6" name="文本框 5"/>
              <p:cNvSpPr txBox="1"/>
              <p:nvPr/>
            </p:nvSpPr>
            <p:spPr>
              <a:xfrm>
                <a:off x="6813" y="863"/>
                <a:ext cx="1035" cy="628"/>
              </a:xfrm>
              <a:prstGeom prst="rect">
                <a:avLst/>
              </a:prstGeom>
              <a:solidFill>
                <a:schemeClr val="bg1"/>
              </a:solidFill>
            </p:spPr>
            <p:txBody>
              <a:bodyPr wrap="square" rtlCol="0">
                <a:spAutoFit/>
              </a:bodyPr>
              <a:lstStyle/>
              <a:p>
                <a:r>
                  <a:rPr lang="zh-CN" altLang="en-US" sz="2000">
                    <a:latin typeface="Arial" panose="020B0604020202020204" pitchFamily="34" charset="0"/>
                    <a:cs typeface="Arial" panose="020B0604020202020204" pitchFamily="34" charset="0"/>
                  </a:rPr>
                  <a:t>σ</a:t>
                </a:r>
                <a:r>
                  <a:rPr lang="en-US" altLang="zh-CN" sz="2000" baseline="-25000">
                    <a:latin typeface="Arial" panose="020B0604020202020204" pitchFamily="34" charset="0"/>
                    <a:cs typeface="Arial" panose="020B0604020202020204" pitchFamily="34" charset="0"/>
                  </a:rPr>
                  <a:t>max</a:t>
                </a:r>
                <a:endParaRPr lang="en-US" altLang="zh-CN" sz="2000" baseline="-25000">
                  <a:latin typeface="Arial" panose="020B0604020202020204" pitchFamily="34" charset="0"/>
                  <a:cs typeface="Arial" panose="020B0604020202020204" pitchFamily="34" charset="0"/>
                </a:endParaRPr>
              </a:p>
            </p:txBody>
          </p:sp>
          <p:sp>
            <p:nvSpPr>
              <p:cNvPr id="7" name="矩形 6"/>
              <p:cNvSpPr/>
              <p:nvPr/>
            </p:nvSpPr>
            <p:spPr>
              <a:xfrm>
                <a:off x="7980" y="1005"/>
                <a:ext cx="779" cy="355"/>
              </a:xfrm>
              <a:prstGeom prst="rect">
                <a:avLst/>
              </a:prstGeom>
              <a:solidFill>
                <a:schemeClr val="bg1"/>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grpSp>
        <p:graphicFrame>
          <p:nvGraphicFramePr>
            <p:cNvPr id="12" name="对象 11">
              <a:hlinkClick r:id="" action="ppaction://ole?verb=0"/>
            </p:cNvPr>
            <p:cNvGraphicFramePr>
              <a:graphicFrameLocks noChangeAspect="1"/>
            </p:cNvGraphicFramePr>
            <p:nvPr/>
          </p:nvGraphicFramePr>
          <p:xfrm>
            <a:off x="8617" y="3983"/>
            <a:ext cx="518" cy="436"/>
          </p:xfrm>
          <a:graphic>
            <a:graphicData uri="http://schemas.openxmlformats.org/presentationml/2006/ole">
              <mc:AlternateContent xmlns:mc="http://schemas.openxmlformats.org/markup-compatibility/2006">
                <mc:Choice xmlns:v="urn:schemas-microsoft-com:vml" Requires="v">
                  <p:oleObj spid="_x0000_s2" name="" r:id="rId2" imgW="241300" imgH="203200" progId="Equation.KSEE3">
                    <p:embed/>
                  </p:oleObj>
                </mc:Choice>
                <mc:Fallback>
                  <p:oleObj name="" r:id="rId2" imgW="241300" imgH="203200" progId="Equation.KSEE3">
                    <p:embed/>
                    <p:pic>
                      <p:nvPicPr>
                        <p:cNvPr id="0" name="图片 1024"/>
                        <p:cNvPicPr/>
                        <p:nvPr/>
                      </p:nvPicPr>
                      <p:blipFill>
                        <a:blip r:embed="rId3"/>
                        <a:stretch>
                          <a:fillRect/>
                        </a:stretch>
                      </p:blipFill>
                      <p:spPr>
                        <a:xfrm>
                          <a:off x="8617" y="3983"/>
                          <a:ext cx="518" cy="436"/>
                        </a:xfrm>
                        <a:prstGeom prst="rect">
                          <a:avLst/>
                        </a:prstGeom>
                      </p:spPr>
                    </p:pic>
                  </p:oleObj>
                </mc:Fallback>
              </mc:AlternateContent>
            </a:graphicData>
          </a:graphic>
        </p:graphicFrame>
      </p:grpSp>
      <p:sp>
        <p:nvSpPr>
          <p:cNvPr id="78850" name="Rectangle 2"/>
          <p:cNvSpPr>
            <a:spLocks noGrp="1" noChangeArrowheads="1"/>
          </p:cNvSpPr>
          <p:nvPr>
            <p:ph type="title" idx="4294967295"/>
          </p:nvPr>
        </p:nvSpPr>
        <p:spPr bwMode="auto">
          <a:xfrm>
            <a:off x="6858000" y="571500"/>
            <a:ext cx="1676400" cy="381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800">
                <a:solidFill>
                  <a:schemeClr val="bg1"/>
                </a:solidFill>
                <a:latin typeface="楷体_GB2312" pitchFamily="49" charset="-122"/>
                <a:ea typeface="楷体_GB2312" pitchFamily="49" charset="-122"/>
              </a:rPr>
              <a:t>疲劳曲线</a:t>
            </a:r>
            <a:endParaRPr lang="zh-CN" altLang="en-US" sz="800">
              <a:solidFill>
                <a:schemeClr val="bg1"/>
              </a:solidFill>
              <a:latin typeface="楷体_GB2312" pitchFamily="49" charset="-122"/>
              <a:ea typeface="楷体_GB2312" pitchFamily="49" charset="-122"/>
            </a:endParaRPr>
          </a:p>
        </p:txBody>
      </p:sp>
      <p:pic>
        <p:nvPicPr>
          <p:cNvPr id="78852" name="Picture 4" descr="rewind1">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39100" y="6523038"/>
            <a:ext cx="287338" cy="287337"/>
          </a:xfrm>
          <a:prstGeom prst="rect">
            <a:avLst/>
          </a:prstGeom>
          <a:noFill/>
          <a:extLst>
            <a:ext uri="{909E8E84-426E-40DD-AFC4-6F175D3DCCD1}">
              <a14:hiddenFill xmlns:a14="http://schemas.microsoft.com/office/drawing/2010/main">
                <a:solidFill>
                  <a:srgbClr val="FFFFFF"/>
                </a:solidFill>
              </a14:hiddenFill>
            </a:ext>
          </a:extLst>
        </p:spPr>
      </p:pic>
      <p:pic>
        <p:nvPicPr>
          <p:cNvPr id="78853" name="Picture 5" descr="back1">
            <a:hlinkClick r:id="" action="ppaction://hlinkshowjump?jump=previousslide"/>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47088" y="6523038"/>
            <a:ext cx="287337" cy="287337"/>
          </a:xfrm>
          <a:prstGeom prst="rect">
            <a:avLst/>
          </a:prstGeom>
          <a:noFill/>
          <a:extLst>
            <a:ext uri="{909E8E84-426E-40DD-AFC4-6F175D3DCCD1}">
              <a14:hiddenFill xmlns:a14="http://schemas.microsoft.com/office/drawing/2010/main">
                <a:solidFill>
                  <a:srgbClr val="FFFFFF"/>
                </a:solidFill>
              </a14:hiddenFill>
            </a:ext>
          </a:extLst>
        </p:spPr>
      </p:pic>
      <p:pic>
        <p:nvPicPr>
          <p:cNvPr id="78854" name="Picture 6" descr="NEXT1">
            <a:hlinkClick r:id="" action="ppaction://hlinkshowjump?jump=nextslide"/>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856663" y="6523038"/>
            <a:ext cx="287337" cy="287337"/>
          </a:xfrm>
          <a:prstGeom prst="rect">
            <a:avLst/>
          </a:prstGeom>
          <a:noFill/>
          <a:extLst>
            <a:ext uri="{909E8E84-426E-40DD-AFC4-6F175D3DCCD1}">
              <a14:hiddenFill xmlns:a14="http://schemas.microsoft.com/office/drawing/2010/main">
                <a:solidFill>
                  <a:srgbClr val="FFFFFF"/>
                </a:solidFill>
              </a14:hiddenFill>
            </a:ext>
          </a:extLst>
        </p:spPr>
      </p:pic>
      <p:sp>
        <p:nvSpPr>
          <p:cNvPr id="78882" name="Text Box 34"/>
          <p:cNvSpPr txBox="1">
            <a:spLocks noChangeArrowheads="1"/>
          </p:cNvSpPr>
          <p:nvPr/>
        </p:nvSpPr>
        <p:spPr bwMode="auto">
          <a:xfrm>
            <a:off x="462280" y="683895"/>
            <a:ext cx="3683000" cy="1383665"/>
          </a:xfrm>
          <a:prstGeom prst="rect">
            <a:avLst/>
          </a:prstGeom>
          <a:solidFill>
            <a:schemeClr val="accent1">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a:latin typeface="Tahoma" panose="020B0604030504040204" pitchFamily="34" charset="0"/>
              </a:rPr>
              <a:t>   </a:t>
            </a:r>
            <a:r>
              <a:rPr lang="zh-CN" altLang="en-US" sz="2000" b="0">
                <a:latin typeface="黑体" panose="02010609060101010101" pitchFamily="49" charset="-122"/>
                <a:ea typeface="黑体" panose="02010609060101010101" pitchFamily="49" charset="-122"/>
                <a:cs typeface="黑体" panose="02010609060101010101" pitchFamily="49" charset="-122"/>
              </a:rPr>
              <a:t> </a:t>
            </a:r>
            <a:r>
              <a:rPr lang="el-GR" altLang="zh-CN" b="0" i="1">
                <a:solidFill>
                  <a:schemeClr val="hlink"/>
                </a:solidFill>
                <a:latin typeface="黑体" panose="02010609060101010101" pitchFamily="49" charset="-122"/>
                <a:ea typeface="黑体" panose="02010609060101010101" pitchFamily="49" charset="-122"/>
                <a:cs typeface="黑体" panose="02010609060101010101" pitchFamily="49" charset="-122"/>
              </a:rPr>
              <a:t>σ</a:t>
            </a:r>
            <a:r>
              <a:rPr lang="en-US" altLang="zh-CN" b="0" baseline="-25000">
                <a:solidFill>
                  <a:schemeClr val="hlink"/>
                </a:solidFill>
                <a:latin typeface="黑体" panose="02010609060101010101" pitchFamily="49" charset="-122"/>
                <a:ea typeface="黑体" panose="02010609060101010101" pitchFamily="49" charset="-122"/>
                <a:cs typeface="黑体" panose="02010609060101010101" pitchFamily="49" charset="-122"/>
              </a:rPr>
              <a:t>rN</a:t>
            </a:r>
            <a:r>
              <a:rPr lang="en-US" altLang="zh-CN" sz="2000" b="0">
                <a:latin typeface="黑体" panose="02010609060101010101" pitchFamily="49" charset="-122"/>
                <a:ea typeface="黑体" panose="02010609060101010101" pitchFamily="49" charset="-122"/>
                <a:cs typeface="黑体" panose="02010609060101010101" pitchFamily="49" charset="-122"/>
              </a:rPr>
              <a:t> </a:t>
            </a:r>
            <a:r>
              <a:rPr lang="zh-CN" altLang="en-US" sz="2000" b="0">
                <a:latin typeface="黑体" panose="02010609060101010101" pitchFamily="49" charset="-122"/>
                <a:ea typeface="黑体" panose="02010609060101010101" pitchFamily="49" charset="-122"/>
                <a:cs typeface="黑体" panose="02010609060101010101" pitchFamily="49" charset="-122"/>
              </a:rPr>
              <a:t>随 </a:t>
            </a:r>
            <a:r>
              <a:rPr lang="en-US" altLang="zh-CN" sz="2000" b="0" i="1">
                <a:solidFill>
                  <a:srgbClr val="FF0000"/>
                </a:solidFill>
                <a:latin typeface="黑体" panose="02010609060101010101" pitchFamily="49" charset="-122"/>
                <a:ea typeface="黑体" panose="02010609060101010101" pitchFamily="49" charset="-122"/>
                <a:cs typeface="黑体" panose="02010609060101010101" pitchFamily="49" charset="-122"/>
              </a:rPr>
              <a:t>N </a:t>
            </a:r>
            <a:r>
              <a:rPr lang="zh-CN" altLang="en-US" sz="2000" b="0">
                <a:latin typeface="黑体" panose="02010609060101010101" pitchFamily="49" charset="-122"/>
                <a:ea typeface="黑体" panose="02010609060101010101" pitchFamily="49" charset="-122"/>
                <a:cs typeface="黑体" panose="02010609060101010101" pitchFamily="49" charset="-122"/>
              </a:rPr>
              <a:t>的增大而减小。但是当 </a:t>
            </a:r>
            <a:r>
              <a:rPr lang="en-US" altLang="zh-CN" sz="2000" b="0" i="1">
                <a:solidFill>
                  <a:srgbClr val="FF0000"/>
                </a:solidFill>
                <a:latin typeface="黑体" panose="02010609060101010101" pitchFamily="49" charset="-122"/>
                <a:ea typeface="黑体" panose="02010609060101010101" pitchFamily="49" charset="-122"/>
                <a:cs typeface="黑体" panose="02010609060101010101" pitchFamily="49" charset="-122"/>
              </a:rPr>
              <a:t>N</a:t>
            </a:r>
            <a:r>
              <a:rPr lang="en-US" altLang="zh-CN" sz="2000" b="0" i="1">
                <a:latin typeface="黑体" panose="02010609060101010101" pitchFamily="49" charset="-122"/>
                <a:ea typeface="黑体" panose="02010609060101010101" pitchFamily="49" charset="-122"/>
                <a:cs typeface="黑体" panose="02010609060101010101" pitchFamily="49" charset="-122"/>
              </a:rPr>
              <a:t> </a:t>
            </a:r>
            <a:r>
              <a:rPr lang="zh-CN" altLang="en-US" sz="2000" b="0">
                <a:latin typeface="黑体" panose="02010609060101010101" pitchFamily="49" charset="-122"/>
                <a:ea typeface="黑体" panose="02010609060101010101" pitchFamily="49" charset="-122"/>
                <a:cs typeface="黑体" panose="02010609060101010101" pitchFamily="49" charset="-122"/>
              </a:rPr>
              <a:t>超过某一循环次数 </a:t>
            </a:r>
            <a:r>
              <a:rPr lang="en-US" altLang="zh-CN" sz="2000" b="0" i="1">
                <a:solidFill>
                  <a:srgbClr val="FF0000"/>
                </a:solidFill>
                <a:latin typeface="黑体" panose="02010609060101010101" pitchFamily="49" charset="-122"/>
                <a:ea typeface="黑体" panose="02010609060101010101" pitchFamily="49" charset="-122"/>
                <a:cs typeface="黑体" panose="02010609060101010101" pitchFamily="49" charset="-122"/>
              </a:rPr>
              <a:t>N</a:t>
            </a:r>
            <a:r>
              <a:rPr lang="en-US" altLang="zh-CN" sz="2000" b="0" baseline="-30000">
                <a:solidFill>
                  <a:srgbClr val="FF0000"/>
                </a:solidFill>
                <a:latin typeface="黑体" panose="02010609060101010101" pitchFamily="49" charset="-122"/>
                <a:ea typeface="黑体" panose="02010609060101010101" pitchFamily="49" charset="-122"/>
                <a:cs typeface="黑体" panose="02010609060101010101" pitchFamily="49" charset="-122"/>
              </a:rPr>
              <a:t>0</a:t>
            </a:r>
            <a:r>
              <a:rPr lang="en-US" altLang="zh-CN" sz="2000" b="0" baseline="-30000">
                <a:latin typeface="黑体" panose="02010609060101010101" pitchFamily="49" charset="-122"/>
                <a:ea typeface="黑体" panose="02010609060101010101" pitchFamily="49" charset="-122"/>
                <a:cs typeface="黑体" panose="02010609060101010101" pitchFamily="49" charset="-122"/>
              </a:rPr>
              <a:t> </a:t>
            </a:r>
            <a:r>
              <a:rPr lang="zh-CN" altLang="en-US" sz="2000" b="0">
                <a:latin typeface="黑体" panose="02010609060101010101" pitchFamily="49" charset="-122"/>
                <a:ea typeface="黑体" panose="02010609060101010101" pitchFamily="49" charset="-122"/>
                <a:cs typeface="黑体" panose="02010609060101010101" pitchFamily="49" charset="-122"/>
              </a:rPr>
              <a:t>时，曲线 趋于水平。即 </a:t>
            </a:r>
            <a:r>
              <a:rPr lang="el-GR" altLang="zh-CN" b="0" i="1">
                <a:solidFill>
                  <a:schemeClr val="hlink"/>
                </a:solidFill>
                <a:latin typeface="黑体" panose="02010609060101010101" pitchFamily="49" charset="-122"/>
                <a:ea typeface="黑体" panose="02010609060101010101" pitchFamily="49" charset="-122"/>
                <a:cs typeface="黑体" panose="02010609060101010101" pitchFamily="49" charset="-122"/>
              </a:rPr>
              <a:t>σ</a:t>
            </a:r>
            <a:r>
              <a:rPr lang="en-US" altLang="zh-CN" b="0" baseline="-25000">
                <a:solidFill>
                  <a:schemeClr val="hlink"/>
                </a:solidFill>
                <a:latin typeface="黑体" panose="02010609060101010101" pitchFamily="49" charset="-122"/>
                <a:ea typeface="黑体" panose="02010609060101010101" pitchFamily="49" charset="-122"/>
                <a:cs typeface="黑体" panose="02010609060101010101" pitchFamily="49" charset="-122"/>
              </a:rPr>
              <a:t>rN</a:t>
            </a:r>
            <a:r>
              <a:rPr lang="en-US" altLang="zh-CN" sz="2000" b="0" baseline="-25000">
                <a:latin typeface="黑体" panose="02010609060101010101" pitchFamily="49" charset="-122"/>
                <a:ea typeface="黑体" panose="02010609060101010101" pitchFamily="49" charset="-122"/>
                <a:cs typeface="黑体" panose="02010609060101010101" pitchFamily="49" charset="-122"/>
              </a:rPr>
              <a:t> </a:t>
            </a:r>
            <a:r>
              <a:rPr lang="zh-CN" altLang="en-US" sz="2000" b="0">
                <a:latin typeface="黑体" panose="02010609060101010101" pitchFamily="49" charset="-122"/>
                <a:ea typeface="黑体" panose="02010609060101010101" pitchFamily="49" charset="-122"/>
                <a:cs typeface="黑体" panose="02010609060101010101" pitchFamily="49" charset="-122"/>
              </a:rPr>
              <a:t>不再随 </a:t>
            </a:r>
            <a:r>
              <a:rPr lang="en-US" altLang="zh-CN" sz="2000" b="0" i="1">
                <a:solidFill>
                  <a:srgbClr val="FF0000"/>
                </a:solidFill>
                <a:latin typeface="黑体" panose="02010609060101010101" pitchFamily="49" charset="-122"/>
                <a:ea typeface="黑体" panose="02010609060101010101" pitchFamily="49" charset="-122"/>
                <a:cs typeface="黑体" panose="02010609060101010101" pitchFamily="49" charset="-122"/>
              </a:rPr>
              <a:t>N </a:t>
            </a:r>
            <a:r>
              <a:rPr lang="zh-CN" altLang="en-US" sz="2000" b="0">
                <a:latin typeface="黑体" panose="02010609060101010101" pitchFamily="49" charset="-122"/>
                <a:ea typeface="黑体" panose="02010609060101010101" pitchFamily="49" charset="-122"/>
                <a:cs typeface="黑体" panose="02010609060101010101" pitchFamily="49" charset="-122"/>
              </a:rPr>
              <a:t>的增大而减小。 </a:t>
            </a:r>
            <a:endParaRPr lang="zh-CN" altLang="en-US" sz="2000" b="0">
              <a:latin typeface="黑体" panose="02010609060101010101" pitchFamily="49" charset="-122"/>
              <a:ea typeface="黑体" panose="02010609060101010101" pitchFamily="49" charset="-122"/>
              <a:cs typeface="黑体" panose="02010609060101010101" pitchFamily="49" charset="-122"/>
            </a:endParaRPr>
          </a:p>
        </p:txBody>
      </p:sp>
      <p:sp>
        <p:nvSpPr>
          <p:cNvPr id="78888" name="Text Box 40"/>
          <p:cNvSpPr txBox="1">
            <a:spLocks noChangeArrowheads="1"/>
          </p:cNvSpPr>
          <p:nvPr/>
        </p:nvSpPr>
        <p:spPr bwMode="auto">
          <a:xfrm>
            <a:off x="297210" y="2214035"/>
            <a:ext cx="44577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i="1" dirty="0">
                <a:latin typeface="Times New Roman" panose="02020603050405020304" pitchFamily="18" charset="0"/>
              </a:rPr>
              <a:t>        N</a:t>
            </a:r>
            <a:r>
              <a:rPr lang="en-US" altLang="zh-CN" sz="2000" b="0" baseline="-30000" dirty="0">
                <a:latin typeface="Times New Roman" panose="02020603050405020304" pitchFamily="18" charset="0"/>
              </a:rPr>
              <a:t>0</a:t>
            </a:r>
            <a:r>
              <a:rPr lang="en-US" altLang="zh-CN" sz="2000" b="0" dirty="0">
                <a:latin typeface="Times New Roman" panose="02020603050405020304" pitchFamily="18" charset="0"/>
              </a:rPr>
              <a:t> </a:t>
            </a:r>
            <a:r>
              <a:rPr lang="en-US" altLang="zh-CN" sz="2000" b="0" dirty="0"/>
              <a:t> -----</a:t>
            </a:r>
            <a:r>
              <a:rPr lang="zh-CN" altLang="en-US" sz="2000" b="1" dirty="0">
                <a:solidFill>
                  <a:srgbClr val="3333FF"/>
                </a:solidFill>
              </a:rPr>
              <a:t>循环基数</a:t>
            </a:r>
            <a:r>
              <a:rPr lang="zh-CN" altLang="en-US" sz="2000" b="1" dirty="0"/>
              <a:t>。</a:t>
            </a:r>
            <a:endParaRPr lang="zh-CN" altLang="en-US" sz="2000" b="1" dirty="0"/>
          </a:p>
        </p:txBody>
      </p:sp>
      <p:sp>
        <p:nvSpPr>
          <p:cNvPr id="78889" name="Text Box 41"/>
          <p:cNvSpPr txBox="1">
            <a:spLocks noChangeArrowheads="1"/>
          </p:cNvSpPr>
          <p:nvPr/>
        </p:nvSpPr>
        <p:spPr bwMode="auto">
          <a:xfrm>
            <a:off x="252295" y="3113995"/>
            <a:ext cx="4991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dirty="0"/>
              <a:t>     </a:t>
            </a:r>
            <a:r>
              <a:rPr lang="zh-CN" altLang="en-US" sz="2000" b="0" dirty="0"/>
              <a:t>以 </a:t>
            </a:r>
            <a:r>
              <a:rPr lang="en-US" altLang="zh-CN" sz="2000" b="0" i="1" dirty="0">
                <a:latin typeface="Times New Roman" panose="02020603050405020304" pitchFamily="18" charset="0"/>
              </a:rPr>
              <a:t>N</a:t>
            </a:r>
            <a:r>
              <a:rPr lang="en-US" altLang="zh-CN" sz="2000" b="0" baseline="-30000" dirty="0">
                <a:latin typeface="Times New Roman" panose="02020603050405020304" pitchFamily="18" charset="0"/>
              </a:rPr>
              <a:t>0 </a:t>
            </a:r>
            <a:r>
              <a:rPr lang="zh-CN" altLang="en-US" sz="2000" b="0" dirty="0"/>
              <a:t>为界，曲线分为两个区： </a:t>
            </a:r>
            <a:endParaRPr lang="zh-CN" altLang="en-US" sz="2000" b="0" dirty="0"/>
          </a:p>
        </p:txBody>
      </p:sp>
      <p:sp>
        <p:nvSpPr>
          <p:cNvPr id="78892" name="Text Box 44"/>
          <p:cNvSpPr txBox="1">
            <a:spLocks noChangeArrowheads="1"/>
          </p:cNvSpPr>
          <p:nvPr/>
        </p:nvSpPr>
        <p:spPr bwMode="auto">
          <a:xfrm>
            <a:off x="477170" y="3653995"/>
            <a:ext cx="83947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2000" b="0" dirty="0"/>
              <a:t>      1</a:t>
            </a:r>
            <a:r>
              <a:rPr lang="zh-CN" altLang="en-US" sz="2000" b="0" dirty="0"/>
              <a:t>）</a:t>
            </a:r>
            <a:r>
              <a:rPr lang="zh-CN" altLang="en-US" sz="2000" b="0" dirty="0">
                <a:solidFill>
                  <a:srgbClr val="3333FF"/>
                </a:solidFill>
              </a:rPr>
              <a:t>无限寿命区</a:t>
            </a:r>
            <a:r>
              <a:rPr lang="zh-CN" altLang="en-US" sz="2000" dirty="0"/>
              <a:t>：</a:t>
            </a:r>
            <a:r>
              <a:rPr lang="zh-CN" altLang="en-US" sz="2000" b="0" dirty="0"/>
              <a:t>当 </a:t>
            </a:r>
            <a:r>
              <a:rPr lang="en-US" altLang="zh-CN" sz="2000" b="0" i="1" dirty="0">
                <a:latin typeface="Times New Roman" panose="02020603050405020304" pitchFamily="18" charset="0"/>
              </a:rPr>
              <a:t>N </a:t>
            </a:r>
            <a:r>
              <a:rPr lang="en-US" altLang="zh-CN" sz="2000" b="0" dirty="0"/>
              <a:t>≥ </a:t>
            </a:r>
            <a:r>
              <a:rPr lang="en-US" altLang="zh-CN" sz="2000" b="0" i="1" dirty="0">
                <a:latin typeface="Times New Roman" panose="02020603050405020304" pitchFamily="18" charset="0"/>
              </a:rPr>
              <a:t>N</a:t>
            </a:r>
            <a:r>
              <a:rPr lang="en-US" altLang="zh-CN" sz="2000" b="0" baseline="-30000" dirty="0">
                <a:latin typeface="Times New Roman" panose="02020603050405020304" pitchFamily="18" charset="0"/>
              </a:rPr>
              <a:t>0 </a:t>
            </a:r>
            <a:r>
              <a:rPr lang="zh-CN" altLang="en-US" sz="2000" b="0" dirty="0"/>
              <a:t>时，曲线为水平直线，对应的疲劳极限是一个定值，用 </a:t>
            </a:r>
            <a:r>
              <a:rPr lang="el-GR" altLang="zh-CN" sz="2000" b="0" i="1" dirty="0">
                <a:solidFill>
                  <a:schemeClr val="hlink"/>
                </a:solidFill>
              </a:rPr>
              <a:t>σ</a:t>
            </a:r>
            <a:r>
              <a:rPr lang="en-US" altLang="zh-CN" sz="2000" b="0" i="1" dirty="0">
                <a:solidFill>
                  <a:schemeClr val="hlink"/>
                </a:solidFill>
              </a:rPr>
              <a:t> </a:t>
            </a:r>
            <a:r>
              <a:rPr lang="en-US" altLang="zh-CN" sz="2000" b="0" baseline="-25000" dirty="0">
                <a:solidFill>
                  <a:schemeClr val="hlink"/>
                </a:solidFill>
              </a:rPr>
              <a:t>r</a:t>
            </a:r>
            <a:r>
              <a:rPr lang="en-US" altLang="zh-CN" sz="2000" b="0" dirty="0"/>
              <a:t> </a:t>
            </a:r>
            <a:r>
              <a:rPr lang="zh-CN" altLang="en-US" sz="2000" b="0" dirty="0"/>
              <a:t>表示。它是表征材料疲劳强度的重要指标，是疲劳设计的基本依据。 </a:t>
            </a:r>
            <a:endParaRPr lang="zh-CN" altLang="en-US" sz="2000" b="0" dirty="0"/>
          </a:p>
        </p:txBody>
      </p:sp>
      <p:grpSp>
        <p:nvGrpSpPr>
          <p:cNvPr id="78925" name="Group 77"/>
          <p:cNvGrpSpPr/>
          <p:nvPr/>
        </p:nvGrpSpPr>
        <p:grpSpPr bwMode="auto">
          <a:xfrm>
            <a:off x="5186350" y="953938"/>
            <a:ext cx="3257550" cy="1903413"/>
            <a:chOff x="1330" y="2183"/>
            <a:chExt cx="2052" cy="1199"/>
          </a:xfrm>
        </p:grpSpPr>
        <p:sp>
          <p:nvSpPr>
            <p:cNvPr id="78926" name="Line 78"/>
            <p:cNvSpPr>
              <a:spLocks noChangeShapeType="1"/>
            </p:cNvSpPr>
            <p:nvPr/>
          </p:nvSpPr>
          <p:spPr bwMode="auto">
            <a:xfrm flipV="1">
              <a:off x="2559" y="2183"/>
              <a:ext cx="0" cy="1199"/>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927" name="Line 79"/>
            <p:cNvSpPr>
              <a:spLocks noChangeShapeType="1"/>
            </p:cNvSpPr>
            <p:nvPr/>
          </p:nvSpPr>
          <p:spPr bwMode="auto">
            <a:xfrm>
              <a:off x="1330" y="2313"/>
              <a:ext cx="1219" cy="1"/>
            </a:xfrm>
            <a:prstGeom prst="line">
              <a:avLst/>
            </a:prstGeom>
            <a:noFill/>
            <a:ln w="9525">
              <a:solidFill>
                <a:schemeClr val="tx1"/>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929" name="Line 81"/>
            <p:cNvSpPr>
              <a:spLocks noChangeShapeType="1"/>
            </p:cNvSpPr>
            <p:nvPr/>
          </p:nvSpPr>
          <p:spPr bwMode="auto">
            <a:xfrm flipH="1">
              <a:off x="2542" y="2313"/>
              <a:ext cx="840" cy="1"/>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78934" name="Text Box 86"/>
          <p:cNvSpPr txBox="1">
            <a:spLocks noChangeArrowheads="1"/>
          </p:cNvSpPr>
          <p:nvPr/>
        </p:nvSpPr>
        <p:spPr bwMode="auto">
          <a:xfrm>
            <a:off x="498760" y="4869080"/>
            <a:ext cx="8597900" cy="85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buFontTx/>
              <a:buBlip>
                <a:blip r:embed="rId8"/>
              </a:buBlip>
            </a:pPr>
            <a:r>
              <a:rPr lang="en-US" altLang="zh-CN" sz="2000" b="0" dirty="0"/>
              <a:t>     </a:t>
            </a:r>
            <a:r>
              <a:rPr lang="zh-CN" altLang="en-US" sz="2000" b="0" dirty="0"/>
              <a:t>可以认为：当材料受到的应力不超过 </a:t>
            </a:r>
            <a:r>
              <a:rPr lang="el-GR" altLang="zh-CN" b="0" i="1" dirty="0">
                <a:solidFill>
                  <a:schemeClr val="hlink"/>
                </a:solidFill>
                <a:latin typeface="Times New Roman" panose="02020603050405020304" pitchFamily="18" charset="0"/>
                <a:ea typeface="宋体" panose="02010600030101010101" pitchFamily="2" charset="-122"/>
              </a:rPr>
              <a:t>σ</a:t>
            </a:r>
            <a:r>
              <a:rPr lang="en-US" altLang="zh-CN" b="0" baseline="-25000" dirty="0">
                <a:solidFill>
                  <a:schemeClr val="hlink"/>
                </a:solidFill>
                <a:latin typeface="Times New Roman" panose="02020603050405020304" pitchFamily="18" charset="0"/>
                <a:ea typeface="宋体" panose="02010600030101010101" pitchFamily="2" charset="-122"/>
              </a:rPr>
              <a:t>r</a:t>
            </a:r>
            <a:r>
              <a:rPr lang="en-US" altLang="zh-CN" sz="2000" b="0" dirty="0"/>
              <a:t> </a:t>
            </a:r>
            <a:r>
              <a:rPr lang="zh-CN" altLang="en-US" sz="2000" b="0" dirty="0"/>
              <a:t>时，则可以经受无限次的应力循环而不疲劳破坏。－－</a:t>
            </a:r>
            <a:r>
              <a:rPr lang="zh-CN" altLang="en-US" sz="2000" b="0" dirty="0">
                <a:solidFill>
                  <a:srgbClr val="3333FF"/>
                </a:solidFill>
              </a:rPr>
              <a:t>寿命是无限的</a:t>
            </a:r>
            <a:r>
              <a:rPr lang="zh-CN" altLang="en-US" sz="2000" b="0" dirty="0"/>
              <a:t>。 </a:t>
            </a:r>
            <a:endParaRPr lang="zh-CN" altLang="en-US" sz="2000" b="0" dirty="0"/>
          </a:p>
        </p:txBody>
      </p:sp>
      <p:sp>
        <p:nvSpPr>
          <p:cNvPr id="98367" name="Text Box 63"/>
          <p:cNvSpPr txBox="1">
            <a:spLocks noChangeArrowheads="1"/>
          </p:cNvSpPr>
          <p:nvPr/>
        </p:nvSpPr>
        <p:spPr bwMode="auto">
          <a:xfrm>
            <a:off x="566960" y="5814165"/>
            <a:ext cx="4546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buFontTx/>
              <a:buBlip>
                <a:blip r:embed="rId8"/>
              </a:buBlip>
            </a:pPr>
            <a:r>
              <a:rPr lang="en-US" altLang="zh-CN" sz="2000" b="0" dirty="0"/>
              <a:t>     </a:t>
            </a:r>
            <a:r>
              <a:rPr lang="zh-CN" altLang="en-US" sz="2000" b="0" dirty="0"/>
              <a:t>故称 </a:t>
            </a:r>
            <a:r>
              <a:rPr lang="el-GR" altLang="zh-CN" sz="2000" b="0" i="1" dirty="0">
                <a:solidFill>
                  <a:schemeClr val="hlink"/>
                </a:solidFill>
              </a:rPr>
              <a:t>σ</a:t>
            </a:r>
            <a:r>
              <a:rPr lang="en-US" altLang="zh-CN" sz="2000" b="0" i="1" dirty="0">
                <a:solidFill>
                  <a:schemeClr val="hlink"/>
                </a:solidFill>
              </a:rPr>
              <a:t> </a:t>
            </a:r>
            <a:r>
              <a:rPr lang="en-US" altLang="zh-CN" sz="2000" b="0" baseline="-25000" dirty="0">
                <a:solidFill>
                  <a:schemeClr val="hlink"/>
                </a:solidFill>
              </a:rPr>
              <a:t>r </a:t>
            </a:r>
            <a:r>
              <a:rPr lang="zh-CN" altLang="en-US" sz="2000" b="0" dirty="0"/>
              <a:t>为</a:t>
            </a:r>
            <a:r>
              <a:rPr lang="zh-CN" altLang="en-US" sz="2000" b="1" dirty="0">
                <a:solidFill>
                  <a:srgbClr val="3333FF"/>
                </a:solidFill>
              </a:rPr>
              <a:t>持久疲劳极限</a:t>
            </a:r>
            <a:r>
              <a:rPr lang="zh-CN" altLang="en-US" sz="2000" b="1" dirty="0"/>
              <a:t>。 </a:t>
            </a:r>
            <a:endParaRPr lang="zh-CN" altLang="en-US" sz="2000" b="1" dirty="0"/>
          </a:p>
        </p:txBody>
      </p:sp>
      <p:sp>
        <p:nvSpPr>
          <p:cNvPr id="5" name="文本框 4"/>
          <p:cNvSpPr txBox="1"/>
          <p:nvPr/>
        </p:nvSpPr>
        <p:spPr>
          <a:xfrm>
            <a:off x="5664200" y="3184525"/>
            <a:ext cx="1960880" cy="398780"/>
          </a:xfrm>
          <a:prstGeom prst="rect">
            <a:avLst/>
          </a:prstGeom>
          <a:noFill/>
        </p:spPr>
        <p:txBody>
          <a:bodyPr wrap="none" rtlCol="0" anchor="t">
            <a:spAutoFit/>
          </a:bodyPr>
          <a:lstStyle/>
          <a:p>
            <a:r>
              <a:rPr lang="zh-CN" altLang="en-US" sz="2000">
                <a:solidFill>
                  <a:srgbClr val="FF0000"/>
                </a:solidFill>
                <a:sym typeface="+mn-ea"/>
              </a:rPr>
              <a:t>材料的疲劳曲线</a:t>
            </a:r>
            <a:endParaRPr lang="zh-CN" altLang="en-US" sz="2000">
              <a:solidFill>
                <a:srgbClr val="FF0000"/>
              </a:solidFill>
              <a:sym typeface="+mn-ea"/>
            </a:endParaRPr>
          </a:p>
        </p:txBody>
      </p:sp>
      <p:sp>
        <p:nvSpPr>
          <p:cNvPr id="9" name="矩形 8"/>
          <p:cNvSpPr/>
          <p:nvPr/>
        </p:nvSpPr>
        <p:spPr>
          <a:xfrm>
            <a:off x="4617085" y="504190"/>
            <a:ext cx="360045" cy="314960"/>
          </a:xfrm>
          <a:prstGeom prst="rect">
            <a:avLst/>
          </a:prstGeom>
          <a:no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cxnSp>
        <p:nvCxnSpPr>
          <p:cNvPr id="10" name="直接连接符 9"/>
          <p:cNvCxnSpPr/>
          <p:nvPr/>
        </p:nvCxnSpPr>
        <p:spPr>
          <a:xfrm flipV="1">
            <a:off x="7153275" y="368935"/>
            <a:ext cx="0" cy="1973580"/>
          </a:xfrm>
          <a:prstGeom prst="line">
            <a:avLst/>
          </a:prstGeom>
          <a:noFill/>
          <a:ln w="9525" cap="flat" cmpd="sng" algn="ctr">
            <a:solidFill>
              <a:srgbClr val="FF0000"/>
            </a:solidFill>
            <a:prstDash val="solid"/>
            <a:round/>
            <a:headEnd type="none" w="med" len="med"/>
            <a:tailEnd type="none" w="med" len="med"/>
          </a:ln>
        </p:spPr>
      </p:cxnSp>
      <p:sp>
        <p:nvSpPr>
          <p:cNvPr id="11" name="文本框 10"/>
          <p:cNvSpPr txBox="1"/>
          <p:nvPr/>
        </p:nvSpPr>
        <p:spPr>
          <a:xfrm>
            <a:off x="5516880" y="481965"/>
            <a:ext cx="1277620" cy="337185"/>
          </a:xfrm>
          <a:prstGeom prst="rect">
            <a:avLst/>
          </a:prstGeom>
          <a:noFill/>
        </p:spPr>
        <p:txBody>
          <a:bodyPr wrap="square" rtlCol="0">
            <a:spAutoFit/>
          </a:bodyPr>
          <a:lstStyle/>
          <a:p>
            <a:r>
              <a:rPr lang="zh-CN" altLang="en-US" sz="1600">
                <a:solidFill>
                  <a:srgbClr val="FF0000"/>
                </a:solidFill>
                <a:latin typeface="黑体" panose="02010609060101010101" pitchFamily="49" charset="-122"/>
                <a:ea typeface="黑体" panose="02010609060101010101" pitchFamily="49" charset="-122"/>
              </a:rPr>
              <a:t>有限寿命区</a:t>
            </a:r>
            <a:endParaRPr lang="zh-CN" altLang="en-US" sz="1600">
              <a:solidFill>
                <a:srgbClr val="FF0000"/>
              </a:solidFill>
              <a:latin typeface="黑体" panose="02010609060101010101" pitchFamily="49" charset="-122"/>
              <a:ea typeface="黑体" panose="02010609060101010101" pitchFamily="49" charset="-122"/>
            </a:endParaRPr>
          </a:p>
        </p:txBody>
      </p:sp>
      <p:sp>
        <p:nvSpPr>
          <p:cNvPr id="14" name="文本框 13"/>
          <p:cNvSpPr txBox="1"/>
          <p:nvPr/>
        </p:nvSpPr>
        <p:spPr>
          <a:xfrm>
            <a:off x="7456805" y="526415"/>
            <a:ext cx="1277620" cy="337185"/>
          </a:xfrm>
          <a:prstGeom prst="rect">
            <a:avLst/>
          </a:prstGeom>
          <a:noFill/>
        </p:spPr>
        <p:txBody>
          <a:bodyPr wrap="square" rtlCol="0">
            <a:spAutoFit/>
          </a:bodyPr>
          <a:lstStyle/>
          <a:p>
            <a:r>
              <a:rPr lang="zh-CN" altLang="en-US" sz="1600">
                <a:solidFill>
                  <a:srgbClr val="FF0000"/>
                </a:solidFill>
                <a:latin typeface="黑体" panose="02010609060101010101" pitchFamily="49" charset="-122"/>
                <a:ea typeface="黑体" panose="02010609060101010101" pitchFamily="49" charset="-122"/>
              </a:rPr>
              <a:t>无限寿命区</a:t>
            </a:r>
            <a:endParaRPr lang="zh-CN" altLang="en-US" sz="160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8882"/>
                                        </p:tgtEl>
                                        <p:attrNameLst>
                                          <p:attrName>style.visibility</p:attrName>
                                        </p:attrNameLst>
                                      </p:cBhvr>
                                      <p:to>
                                        <p:strVal val="visible"/>
                                      </p:to>
                                    </p:set>
                                    <p:animEffect transition="in" filter="wipe(up)">
                                      <p:cBhvr>
                                        <p:cTn id="7" dur="500"/>
                                        <p:tgtEl>
                                          <p:spTgt spid="788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8888"/>
                                        </p:tgtEl>
                                        <p:attrNameLst>
                                          <p:attrName>style.visibility</p:attrName>
                                        </p:attrNameLst>
                                      </p:cBhvr>
                                      <p:to>
                                        <p:strVal val="visible"/>
                                      </p:to>
                                    </p:set>
                                    <p:animEffect transition="in" filter="wipe(left)">
                                      <p:cBhvr>
                                        <p:cTn id="12" dur="500"/>
                                        <p:tgtEl>
                                          <p:spTgt spid="788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8889"/>
                                        </p:tgtEl>
                                        <p:attrNameLst>
                                          <p:attrName>style.visibility</p:attrName>
                                        </p:attrNameLst>
                                      </p:cBhvr>
                                      <p:to>
                                        <p:strVal val="visible"/>
                                      </p:to>
                                    </p:set>
                                    <p:animEffect transition="in" filter="wipe(left)">
                                      <p:cBhvr>
                                        <p:cTn id="17" dur="500"/>
                                        <p:tgtEl>
                                          <p:spTgt spid="788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par>
                          <p:cTn id="28" fill="hold">
                            <p:stCondLst>
                              <p:cond delay="500"/>
                            </p:stCondLst>
                            <p:childTnLst>
                              <p:par>
                                <p:cTn id="29" presetID="22" presetClass="entr" presetSubtype="2"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righ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78925"/>
                                        </p:tgtEl>
                                        <p:attrNameLst>
                                          <p:attrName>style.visibility</p:attrName>
                                        </p:attrNameLst>
                                      </p:cBhvr>
                                      <p:to>
                                        <p:strVal val="visible"/>
                                      </p:to>
                                    </p:set>
                                    <p:animEffect transition="in" filter="wipe(left)">
                                      <p:cBhvr>
                                        <p:cTn id="36" dur="500"/>
                                        <p:tgtEl>
                                          <p:spTgt spid="7892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8892"/>
                                        </p:tgtEl>
                                        <p:attrNameLst>
                                          <p:attrName>style.visibility</p:attrName>
                                        </p:attrNameLst>
                                      </p:cBhvr>
                                      <p:to>
                                        <p:strVal val="visible"/>
                                      </p:to>
                                    </p:set>
                                    <p:animEffect transition="in" filter="wipe(left)">
                                      <p:cBhvr>
                                        <p:cTn id="41" dur="500"/>
                                        <p:tgtEl>
                                          <p:spTgt spid="7889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8934"/>
                                        </p:tgtEl>
                                        <p:attrNameLst>
                                          <p:attrName>style.visibility</p:attrName>
                                        </p:attrNameLst>
                                      </p:cBhvr>
                                      <p:to>
                                        <p:strVal val="visible"/>
                                      </p:to>
                                    </p:set>
                                    <p:animEffect transition="in" filter="wipe(left)">
                                      <p:cBhvr>
                                        <p:cTn id="46" dur="500"/>
                                        <p:tgtEl>
                                          <p:spTgt spid="7893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8367"/>
                                        </p:tgtEl>
                                        <p:attrNameLst>
                                          <p:attrName>style.visibility</p:attrName>
                                        </p:attrNameLst>
                                      </p:cBhvr>
                                      <p:to>
                                        <p:strVal val="visible"/>
                                      </p:to>
                                    </p:set>
                                    <p:animEffect transition="in" filter="wipe(left)">
                                      <p:cBhvr>
                                        <p:cTn id="51" dur="500"/>
                                        <p:tgtEl>
                                          <p:spTgt spid="98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82" grpId="0" bldLvl="0" animBg="1"/>
      <p:bldP spid="78888" grpId="0" bldLvl="0" animBg="1" autoUpdateAnimBg="0"/>
      <p:bldP spid="78889" grpId="0" bldLvl="0" animBg="1" autoUpdateAnimBg="0"/>
      <p:bldP spid="78892" grpId="0" bldLvl="0" animBg="1"/>
      <p:bldP spid="78934" grpId="0" bldLvl="0" animBg="1"/>
      <p:bldP spid="98367" grpId="0" bldLvl="0" animBg="1"/>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idx="4294967295"/>
          </p:nvPr>
        </p:nvSpPr>
        <p:spPr bwMode="auto">
          <a:xfrm>
            <a:off x="7467600" y="685800"/>
            <a:ext cx="1676400" cy="381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800">
                <a:solidFill>
                  <a:schemeClr val="bg1"/>
                </a:solidFill>
                <a:latin typeface="楷体_GB2312" pitchFamily="49" charset="-122"/>
                <a:ea typeface="楷体_GB2312" pitchFamily="49" charset="-122"/>
              </a:rPr>
              <a:t>疲劳曲线</a:t>
            </a:r>
            <a:r>
              <a:rPr lang="en-US" altLang="zh-CN" sz="800">
                <a:solidFill>
                  <a:schemeClr val="bg1"/>
                </a:solidFill>
                <a:latin typeface="楷体_GB2312" pitchFamily="49" charset="-122"/>
                <a:ea typeface="楷体_GB2312" pitchFamily="49" charset="-122"/>
              </a:rPr>
              <a:t>2</a:t>
            </a:r>
            <a:endParaRPr lang="en-US" altLang="zh-CN" sz="800">
              <a:solidFill>
                <a:schemeClr val="bg1"/>
              </a:solidFill>
              <a:latin typeface="楷体_GB2312" pitchFamily="49" charset="-122"/>
              <a:ea typeface="楷体_GB2312" pitchFamily="49" charset="-122"/>
            </a:endParaRPr>
          </a:p>
        </p:txBody>
      </p:sp>
      <p:pic>
        <p:nvPicPr>
          <p:cNvPr id="98308" name="Picture 4"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9100" y="6523038"/>
            <a:ext cx="287338" cy="287337"/>
          </a:xfrm>
          <a:prstGeom prst="rect">
            <a:avLst/>
          </a:prstGeom>
          <a:noFill/>
          <a:extLst>
            <a:ext uri="{909E8E84-426E-40DD-AFC4-6F175D3DCCD1}">
              <a14:hiddenFill xmlns:a14="http://schemas.microsoft.com/office/drawing/2010/main">
                <a:solidFill>
                  <a:srgbClr val="FFFFFF"/>
                </a:solidFill>
              </a14:hiddenFill>
            </a:ext>
          </a:extLst>
        </p:spPr>
      </p:pic>
      <p:pic>
        <p:nvPicPr>
          <p:cNvPr id="98309" name="Picture 5"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47088" y="6523038"/>
            <a:ext cx="287337" cy="287337"/>
          </a:xfrm>
          <a:prstGeom prst="rect">
            <a:avLst/>
          </a:prstGeom>
          <a:noFill/>
          <a:extLst>
            <a:ext uri="{909E8E84-426E-40DD-AFC4-6F175D3DCCD1}">
              <a14:hiddenFill xmlns:a14="http://schemas.microsoft.com/office/drawing/2010/main">
                <a:solidFill>
                  <a:srgbClr val="FFFFFF"/>
                </a:solidFill>
              </a14:hiddenFill>
            </a:ext>
          </a:extLst>
        </p:spPr>
      </p:pic>
      <p:pic>
        <p:nvPicPr>
          <p:cNvPr id="98310" name="Picture 6"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56663" y="6523038"/>
            <a:ext cx="287337" cy="287337"/>
          </a:xfrm>
          <a:prstGeom prst="rect">
            <a:avLst/>
          </a:prstGeom>
          <a:noFill/>
          <a:extLst>
            <a:ext uri="{909E8E84-426E-40DD-AFC4-6F175D3DCCD1}">
              <a14:hiddenFill xmlns:a14="http://schemas.microsoft.com/office/drawing/2010/main">
                <a:solidFill>
                  <a:srgbClr val="FFFFFF"/>
                </a:solidFill>
              </a14:hiddenFill>
            </a:ext>
          </a:extLst>
        </p:spPr>
      </p:pic>
      <p:sp>
        <p:nvSpPr>
          <p:cNvPr id="98334" name="Text Box 30"/>
          <p:cNvSpPr txBox="1">
            <a:spLocks noChangeArrowheads="1"/>
          </p:cNvSpPr>
          <p:nvPr/>
        </p:nvSpPr>
        <p:spPr bwMode="auto">
          <a:xfrm>
            <a:off x="207010" y="2979420"/>
            <a:ext cx="59690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Blip>
                <a:blip r:embed="rId5"/>
              </a:buBlip>
            </a:pPr>
            <a:r>
              <a:rPr lang="en-US" altLang="zh-CN" sz="2000" b="0">
                <a:latin typeface="Tahoma" panose="020B0604030504040204" pitchFamily="34" charset="0"/>
              </a:rPr>
              <a:t> </a:t>
            </a:r>
            <a:r>
              <a:rPr lang="zh-CN" altLang="en-US" sz="2000" b="0">
                <a:latin typeface="Tahoma" panose="020B0604030504040204" pitchFamily="34" charset="0"/>
              </a:rPr>
              <a:t>与曲线的两个区相对应，疲劳设计分为：</a:t>
            </a:r>
            <a:endParaRPr lang="zh-CN" altLang="en-US" sz="2000" b="0">
              <a:latin typeface="Tahoma" panose="020B0604030504040204" pitchFamily="34" charset="0"/>
            </a:endParaRPr>
          </a:p>
        </p:txBody>
      </p:sp>
      <p:sp>
        <p:nvSpPr>
          <p:cNvPr id="98326" name="Text Box 22"/>
          <p:cNvSpPr txBox="1">
            <a:spLocks noChangeArrowheads="1"/>
          </p:cNvSpPr>
          <p:nvPr/>
        </p:nvSpPr>
        <p:spPr bwMode="auto">
          <a:xfrm>
            <a:off x="95250" y="693420"/>
            <a:ext cx="5027930" cy="2011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en-US" altLang="zh-CN" sz="2000" b="0">
                <a:latin typeface="Times New Roman" panose="02020603050405020304" pitchFamily="18" charset="0"/>
              </a:rPr>
              <a:t>       2</a:t>
            </a:r>
            <a:r>
              <a:rPr lang="zh-CN" altLang="en-US" sz="2000" b="0">
                <a:latin typeface="Times New Roman" panose="02020603050405020304" pitchFamily="18" charset="0"/>
              </a:rPr>
              <a:t>）</a:t>
            </a:r>
            <a:r>
              <a:rPr lang="zh-CN" altLang="en-US" sz="2000" b="0">
                <a:solidFill>
                  <a:srgbClr val="3333FF"/>
                </a:solidFill>
              </a:rPr>
              <a:t>有限寿命区</a:t>
            </a:r>
            <a:r>
              <a:rPr lang="zh-CN" altLang="en-US" sz="2000"/>
              <a:t>： </a:t>
            </a:r>
            <a:r>
              <a:rPr lang="zh-CN" altLang="en-US" sz="2000" b="0"/>
              <a:t>非水平段（</a:t>
            </a:r>
            <a:r>
              <a:rPr lang="en-US" altLang="zh-CN" sz="2000" b="0" i="1">
                <a:latin typeface="Times New Roman" panose="02020603050405020304" pitchFamily="18" charset="0"/>
              </a:rPr>
              <a:t>N</a:t>
            </a:r>
            <a:r>
              <a:rPr lang="zh-CN" altLang="en-US" sz="2000" b="0" i="1">
                <a:latin typeface="Times New Roman" panose="02020603050405020304" pitchFamily="18" charset="0"/>
              </a:rPr>
              <a:t>＜</a:t>
            </a:r>
            <a:r>
              <a:rPr lang="en-US" altLang="zh-CN" sz="2000" b="0" i="1">
                <a:latin typeface="Times New Roman" panose="02020603050405020304" pitchFamily="18" charset="0"/>
              </a:rPr>
              <a:t>N</a:t>
            </a:r>
            <a:r>
              <a:rPr lang="en-US" altLang="zh-CN" sz="2000" b="0" baseline="-30000">
                <a:latin typeface="Times New Roman" panose="02020603050405020304" pitchFamily="18" charset="0"/>
              </a:rPr>
              <a:t>0</a:t>
            </a:r>
            <a:r>
              <a:rPr lang="zh-CN" altLang="en-US" sz="2000" b="0"/>
              <a:t>）的疲劳极限称为</a:t>
            </a:r>
            <a:r>
              <a:rPr lang="zh-CN" altLang="en-US" sz="2000">
                <a:solidFill>
                  <a:srgbClr val="FF0000"/>
                </a:solidFill>
              </a:rPr>
              <a:t>有限寿命疲劳极限</a:t>
            </a:r>
            <a:r>
              <a:rPr lang="zh-CN" altLang="en-US" sz="2000" b="0"/>
              <a:t>，用 </a:t>
            </a:r>
            <a:r>
              <a:rPr lang="el-GR" altLang="zh-CN" b="0" i="1">
                <a:solidFill>
                  <a:schemeClr val="hlink"/>
                </a:solidFill>
                <a:latin typeface="Times New Roman" panose="02020603050405020304" pitchFamily="18" charset="0"/>
                <a:ea typeface="宋体" panose="02010600030101010101" pitchFamily="2" charset="-122"/>
              </a:rPr>
              <a:t>σ</a:t>
            </a:r>
            <a:r>
              <a:rPr lang="en-US" altLang="zh-CN" b="0" i="1">
                <a:solidFill>
                  <a:schemeClr val="hlink"/>
                </a:solidFill>
                <a:latin typeface="Times New Roman" panose="02020603050405020304" pitchFamily="18" charset="0"/>
                <a:ea typeface="宋体" panose="02010600030101010101" pitchFamily="2" charset="-122"/>
              </a:rPr>
              <a:t> </a:t>
            </a:r>
            <a:r>
              <a:rPr lang="en-US" altLang="zh-CN" b="0" baseline="-25000">
                <a:solidFill>
                  <a:schemeClr val="hlink"/>
                </a:solidFill>
                <a:latin typeface="Times New Roman" panose="02020603050405020304" pitchFamily="18" charset="0"/>
                <a:ea typeface="宋体" panose="02010600030101010101" pitchFamily="2" charset="-122"/>
              </a:rPr>
              <a:t>rN</a:t>
            </a:r>
            <a:r>
              <a:rPr lang="en-US" altLang="zh-CN" sz="2000" b="0"/>
              <a:t> </a:t>
            </a:r>
            <a:r>
              <a:rPr lang="zh-CN" altLang="en-US" sz="2000" b="0"/>
              <a:t>表示 。当材料受到的工作应力超过 </a:t>
            </a:r>
            <a:r>
              <a:rPr lang="el-GR" altLang="zh-CN" b="0" i="1">
                <a:solidFill>
                  <a:schemeClr val="hlink"/>
                </a:solidFill>
                <a:latin typeface="Times New Roman" panose="02020603050405020304" pitchFamily="18" charset="0"/>
                <a:ea typeface="宋体" panose="02010600030101010101" pitchFamily="2" charset="-122"/>
              </a:rPr>
              <a:t>σ</a:t>
            </a:r>
            <a:r>
              <a:rPr lang="en-US" altLang="zh-CN" b="0" i="1">
                <a:solidFill>
                  <a:schemeClr val="hlink"/>
                </a:solidFill>
                <a:latin typeface="Times New Roman" panose="02020603050405020304" pitchFamily="18" charset="0"/>
                <a:ea typeface="宋体" panose="02010600030101010101" pitchFamily="2" charset="-122"/>
              </a:rPr>
              <a:t> </a:t>
            </a:r>
            <a:r>
              <a:rPr lang="en-US" altLang="zh-CN" b="0" baseline="-25000">
                <a:solidFill>
                  <a:schemeClr val="hlink"/>
                </a:solidFill>
                <a:latin typeface="Times New Roman" panose="02020603050405020304" pitchFamily="18" charset="0"/>
                <a:ea typeface="宋体" panose="02010600030101010101" pitchFamily="2" charset="-122"/>
              </a:rPr>
              <a:t>r</a:t>
            </a:r>
            <a:r>
              <a:rPr lang="en-US" altLang="zh-CN" sz="2000" b="0"/>
              <a:t> </a:t>
            </a:r>
            <a:r>
              <a:rPr lang="zh-CN" altLang="en-US" sz="2000" b="0"/>
              <a:t>时，在疲劳破坏之前，只能经受有限次的应力循环。－－</a:t>
            </a:r>
            <a:r>
              <a:rPr lang="zh-CN" altLang="en-US" sz="2000" b="0">
                <a:solidFill>
                  <a:srgbClr val="3333FF"/>
                </a:solidFill>
              </a:rPr>
              <a:t>寿命是有限的</a:t>
            </a:r>
            <a:r>
              <a:rPr lang="zh-CN" altLang="en-US" sz="2000" b="0"/>
              <a:t>。 </a:t>
            </a:r>
            <a:endParaRPr lang="zh-CN" altLang="en-US" sz="2000" b="0"/>
          </a:p>
        </p:txBody>
      </p:sp>
      <p:sp>
        <p:nvSpPr>
          <p:cNvPr id="98335" name="Text Box 31"/>
          <p:cNvSpPr txBox="1">
            <a:spLocks noChangeArrowheads="1"/>
          </p:cNvSpPr>
          <p:nvPr/>
        </p:nvSpPr>
        <p:spPr bwMode="auto">
          <a:xfrm>
            <a:off x="702310" y="3653790"/>
            <a:ext cx="71247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dirty="0"/>
              <a:t>1</a:t>
            </a:r>
            <a:r>
              <a:rPr lang="zh-CN" altLang="en-US" sz="2000" b="0" dirty="0"/>
              <a:t>）</a:t>
            </a:r>
            <a:r>
              <a:rPr lang="zh-CN" altLang="en-US" sz="2000" dirty="0">
                <a:solidFill>
                  <a:srgbClr val="3333FF"/>
                </a:solidFill>
              </a:rPr>
              <a:t>无限寿命设计</a:t>
            </a:r>
            <a:r>
              <a:rPr lang="zh-CN" altLang="en-US" sz="2000" b="0" dirty="0"/>
              <a:t>： </a:t>
            </a:r>
            <a:r>
              <a:rPr lang="en-US" altLang="zh-CN" sz="2000" b="0" i="1" dirty="0">
                <a:solidFill>
                  <a:srgbClr val="3333FF"/>
                </a:solidFill>
                <a:latin typeface="Times New Roman" panose="02020603050405020304" pitchFamily="18" charset="0"/>
              </a:rPr>
              <a:t>N </a:t>
            </a:r>
            <a:r>
              <a:rPr lang="en-US" altLang="zh-CN" sz="2000" b="0" dirty="0">
                <a:solidFill>
                  <a:srgbClr val="3333FF"/>
                </a:solidFill>
                <a:latin typeface="Times New Roman" panose="02020603050405020304" pitchFamily="18" charset="0"/>
              </a:rPr>
              <a:t>≥ </a:t>
            </a:r>
            <a:r>
              <a:rPr lang="en-US" altLang="zh-CN" sz="2000" b="0" i="1" dirty="0">
                <a:solidFill>
                  <a:srgbClr val="3333FF"/>
                </a:solidFill>
                <a:latin typeface="Times New Roman" panose="02020603050405020304" pitchFamily="18" charset="0"/>
              </a:rPr>
              <a:t>N</a:t>
            </a:r>
            <a:r>
              <a:rPr lang="en-US" altLang="zh-CN" sz="2000" b="0" baseline="-30000" dirty="0">
                <a:solidFill>
                  <a:srgbClr val="3333FF"/>
                </a:solidFill>
                <a:latin typeface="Times New Roman" panose="02020603050405020304" pitchFamily="18" charset="0"/>
              </a:rPr>
              <a:t>0</a:t>
            </a:r>
            <a:r>
              <a:rPr lang="en-US" altLang="zh-CN" sz="2000" b="0" baseline="-30000" dirty="0">
                <a:latin typeface="Times New Roman" panose="02020603050405020304" pitchFamily="18" charset="0"/>
              </a:rPr>
              <a:t> </a:t>
            </a:r>
            <a:r>
              <a:rPr lang="zh-CN" altLang="en-US" sz="2000" b="0" dirty="0"/>
              <a:t>时的设计。取 </a:t>
            </a:r>
            <a:r>
              <a:rPr lang="el-GR" altLang="zh-CN" b="0" i="1" dirty="0">
                <a:solidFill>
                  <a:schemeClr val="hlink"/>
                </a:solidFill>
                <a:latin typeface="Times New Roman" panose="02020603050405020304" pitchFamily="18" charset="0"/>
                <a:ea typeface="宋体" panose="02010600030101010101" pitchFamily="2" charset="-122"/>
              </a:rPr>
              <a:t>σ</a:t>
            </a:r>
            <a:r>
              <a:rPr lang="en-US" altLang="zh-CN" b="0" i="1" dirty="0">
                <a:solidFill>
                  <a:schemeClr val="hlink"/>
                </a:solidFill>
                <a:latin typeface="Times New Roman" panose="02020603050405020304" pitchFamily="18" charset="0"/>
                <a:ea typeface="宋体" panose="02010600030101010101" pitchFamily="2" charset="-122"/>
              </a:rPr>
              <a:t> </a:t>
            </a:r>
            <a:r>
              <a:rPr lang="en-US" altLang="zh-CN" b="0" baseline="-25000" dirty="0" err="1">
                <a:solidFill>
                  <a:schemeClr val="hlink"/>
                </a:solidFill>
                <a:latin typeface="Times New Roman" panose="02020603050405020304" pitchFamily="18" charset="0"/>
                <a:ea typeface="宋体" panose="02010600030101010101" pitchFamily="2" charset="-122"/>
              </a:rPr>
              <a:t>lim</a:t>
            </a:r>
            <a:r>
              <a:rPr lang="en-US" altLang="zh-CN" sz="2000" b="0" dirty="0"/>
              <a:t> </a:t>
            </a:r>
            <a:r>
              <a:rPr lang="zh-CN" altLang="en-US" sz="2000" b="0" dirty="0">
                <a:solidFill>
                  <a:srgbClr val="3333FF"/>
                </a:solidFill>
              </a:rPr>
              <a:t>＝</a:t>
            </a:r>
            <a:r>
              <a:rPr lang="zh-CN" altLang="en-US" sz="2000" b="0" dirty="0"/>
              <a:t> </a:t>
            </a:r>
            <a:r>
              <a:rPr lang="el-GR" altLang="zh-CN" b="0" i="1" dirty="0">
                <a:solidFill>
                  <a:schemeClr val="hlink"/>
                </a:solidFill>
                <a:latin typeface="Times New Roman" panose="02020603050405020304" pitchFamily="18" charset="0"/>
                <a:ea typeface="宋体" panose="02010600030101010101" pitchFamily="2" charset="-122"/>
              </a:rPr>
              <a:t>σ</a:t>
            </a:r>
            <a:r>
              <a:rPr lang="en-US" altLang="zh-CN" b="0" i="1" dirty="0">
                <a:solidFill>
                  <a:schemeClr val="hlink"/>
                </a:solidFill>
                <a:latin typeface="Times New Roman" panose="02020603050405020304" pitchFamily="18" charset="0"/>
                <a:ea typeface="宋体" panose="02010600030101010101" pitchFamily="2" charset="-122"/>
              </a:rPr>
              <a:t> </a:t>
            </a:r>
            <a:r>
              <a:rPr lang="en-US" altLang="zh-CN" b="0" baseline="-25000" dirty="0">
                <a:solidFill>
                  <a:schemeClr val="hlink"/>
                </a:solidFill>
                <a:latin typeface="Times New Roman" panose="02020603050405020304" pitchFamily="18" charset="0"/>
                <a:ea typeface="宋体" panose="02010600030101010101" pitchFamily="2" charset="-122"/>
              </a:rPr>
              <a:t>r</a:t>
            </a:r>
            <a:r>
              <a:rPr lang="en-US" altLang="zh-CN" sz="2000" b="0" dirty="0"/>
              <a:t> </a:t>
            </a:r>
            <a:r>
              <a:rPr lang="zh-CN" altLang="en-US" sz="2000" b="0" dirty="0"/>
              <a:t>。 </a:t>
            </a:r>
            <a:endParaRPr lang="zh-CN" altLang="en-US" sz="2000" b="0" dirty="0"/>
          </a:p>
        </p:txBody>
      </p:sp>
      <p:sp>
        <p:nvSpPr>
          <p:cNvPr id="98341" name="Text Box 37"/>
          <p:cNvSpPr txBox="1">
            <a:spLocks noChangeArrowheads="1"/>
          </p:cNvSpPr>
          <p:nvPr/>
        </p:nvSpPr>
        <p:spPr bwMode="auto">
          <a:xfrm>
            <a:off x="567125" y="4374005"/>
            <a:ext cx="7035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dirty="0"/>
              <a:t>2</a:t>
            </a:r>
            <a:r>
              <a:rPr lang="zh-CN" altLang="en-US" sz="2000" b="0" dirty="0"/>
              <a:t>）</a:t>
            </a:r>
            <a:r>
              <a:rPr lang="zh-CN" altLang="en-US" sz="2000" dirty="0">
                <a:solidFill>
                  <a:srgbClr val="3333FF"/>
                </a:solidFill>
              </a:rPr>
              <a:t>有限寿命设计</a:t>
            </a:r>
            <a:r>
              <a:rPr lang="zh-CN" altLang="en-US" sz="2000" b="0" dirty="0"/>
              <a:t>： </a:t>
            </a:r>
            <a:r>
              <a:rPr lang="en-US" altLang="zh-CN" sz="2000" b="0" i="1" dirty="0">
                <a:latin typeface="Times New Roman" panose="02020603050405020304" pitchFamily="18" charset="0"/>
              </a:rPr>
              <a:t>N </a:t>
            </a:r>
            <a:r>
              <a:rPr lang="zh-CN" altLang="en-US" sz="2000" b="0" dirty="0">
                <a:latin typeface="Times New Roman" panose="02020603050405020304" pitchFamily="18" charset="0"/>
              </a:rPr>
              <a:t>＜ </a:t>
            </a:r>
            <a:r>
              <a:rPr lang="en-US" altLang="zh-CN" sz="2000" b="0" i="1" dirty="0">
                <a:latin typeface="Times New Roman" panose="02020603050405020304" pitchFamily="18" charset="0"/>
              </a:rPr>
              <a:t>N</a:t>
            </a:r>
            <a:r>
              <a:rPr lang="en-US" altLang="zh-CN" sz="2000" b="0" baseline="-30000" dirty="0">
                <a:latin typeface="Times New Roman" panose="02020603050405020304" pitchFamily="18" charset="0"/>
              </a:rPr>
              <a:t>0 </a:t>
            </a:r>
            <a:r>
              <a:rPr lang="zh-CN" altLang="en-US" sz="2000" b="0" dirty="0"/>
              <a:t>时的设计。取 </a:t>
            </a:r>
            <a:r>
              <a:rPr lang="el-GR" altLang="zh-CN" b="0" i="1" dirty="0">
                <a:solidFill>
                  <a:schemeClr val="hlink"/>
                </a:solidFill>
                <a:latin typeface="Times New Roman" panose="02020603050405020304" pitchFamily="18" charset="0"/>
                <a:ea typeface="宋体" panose="02010600030101010101" pitchFamily="2" charset="-122"/>
              </a:rPr>
              <a:t>σ</a:t>
            </a:r>
            <a:r>
              <a:rPr lang="en-US" altLang="zh-CN" b="0" i="1" dirty="0">
                <a:solidFill>
                  <a:schemeClr val="hlink"/>
                </a:solidFill>
                <a:latin typeface="Times New Roman" panose="02020603050405020304" pitchFamily="18" charset="0"/>
                <a:ea typeface="宋体" panose="02010600030101010101" pitchFamily="2" charset="-122"/>
              </a:rPr>
              <a:t> </a:t>
            </a:r>
            <a:r>
              <a:rPr lang="en-US" altLang="zh-CN" b="0" baseline="-25000" dirty="0" err="1">
                <a:solidFill>
                  <a:schemeClr val="hlink"/>
                </a:solidFill>
                <a:latin typeface="Times New Roman" panose="02020603050405020304" pitchFamily="18" charset="0"/>
                <a:ea typeface="宋体" panose="02010600030101010101" pitchFamily="2" charset="-122"/>
              </a:rPr>
              <a:t>lim</a:t>
            </a:r>
            <a:r>
              <a:rPr lang="en-US" altLang="zh-CN" b="0" dirty="0">
                <a:latin typeface="Times New Roman" panose="02020603050405020304" pitchFamily="18" charset="0"/>
                <a:ea typeface="宋体" panose="02010600030101010101" pitchFamily="2" charset="-122"/>
              </a:rPr>
              <a:t> </a:t>
            </a:r>
            <a:r>
              <a:rPr lang="zh-CN" altLang="en-US" b="0" dirty="0">
                <a:solidFill>
                  <a:srgbClr val="3333FF"/>
                </a:solidFill>
                <a:latin typeface="Times New Roman" panose="02020603050405020304" pitchFamily="18" charset="0"/>
                <a:ea typeface="宋体" panose="02010600030101010101" pitchFamily="2" charset="-122"/>
              </a:rPr>
              <a:t>＝</a:t>
            </a:r>
            <a:r>
              <a:rPr lang="zh-CN" altLang="en-US" b="0" dirty="0">
                <a:latin typeface="Times New Roman" panose="02020603050405020304" pitchFamily="18" charset="0"/>
                <a:ea typeface="宋体" panose="02010600030101010101" pitchFamily="2" charset="-122"/>
              </a:rPr>
              <a:t> </a:t>
            </a:r>
            <a:r>
              <a:rPr lang="el-GR" altLang="zh-CN" b="0" i="1" dirty="0">
                <a:solidFill>
                  <a:schemeClr val="hlink"/>
                </a:solidFill>
                <a:latin typeface="Times New Roman" panose="02020603050405020304" pitchFamily="18" charset="0"/>
                <a:ea typeface="宋体" panose="02010600030101010101" pitchFamily="2" charset="-122"/>
              </a:rPr>
              <a:t>σ</a:t>
            </a:r>
            <a:r>
              <a:rPr lang="en-US" altLang="zh-CN" b="0" i="1" dirty="0">
                <a:solidFill>
                  <a:schemeClr val="hlink"/>
                </a:solidFill>
                <a:latin typeface="Times New Roman" panose="02020603050405020304" pitchFamily="18" charset="0"/>
                <a:ea typeface="宋体" panose="02010600030101010101" pitchFamily="2" charset="-122"/>
              </a:rPr>
              <a:t> </a:t>
            </a:r>
            <a:r>
              <a:rPr lang="en-US" altLang="zh-CN" b="0" baseline="-25000" dirty="0" err="1">
                <a:solidFill>
                  <a:srgbClr val="0000FF"/>
                </a:solidFill>
                <a:latin typeface="Times New Roman" panose="02020603050405020304" pitchFamily="18" charset="0"/>
                <a:ea typeface="宋体" panose="02010600030101010101" pitchFamily="2" charset="-122"/>
              </a:rPr>
              <a:t>r</a:t>
            </a:r>
            <a:r>
              <a:rPr lang="en-US" altLang="zh-CN" sz="2000" b="0" baseline="-25000" dirty="0" err="1">
                <a:solidFill>
                  <a:srgbClr val="0000FF"/>
                </a:solidFill>
              </a:rPr>
              <a:t>N</a:t>
            </a:r>
            <a:r>
              <a:rPr lang="en-US" altLang="zh-CN" sz="2000" b="0" dirty="0">
                <a:solidFill>
                  <a:srgbClr val="0000FF"/>
                </a:solidFill>
              </a:rPr>
              <a:t> </a:t>
            </a:r>
            <a:r>
              <a:rPr lang="zh-CN" altLang="en-US" sz="2000" b="0" dirty="0"/>
              <a:t>。 </a:t>
            </a:r>
            <a:endParaRPr lang="zh-CN" altLang="en-US" sz="2000" b="0" dirty="0"/>
          </a:p>
        </p:txBody>
      </p:sp>
      <p:sp>
        <p:nvSpPr>
          <p:cNvPr id="98347" name="AutoShape 43"/>
          <p:cNvSpPr/>
          <p:nvPr/>
        </p:nvSpPr>
        <p:spPr bwMode="auto">
          <a:xfrm>
            <a:off x="432435" y="3878580"/>
            <a:ext cx="88900" cy="749300"/>
          </a:xfrm>
          <a:prstGeom prst="leftBrace">
            <a:avLst>
              <a:gd name="adj1" fmla="val 7023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8372" name="Group 68"/>
          <p:cNvGrpSpPr/>
          <p:nvPr/>
        </p:nvGrpSpPr>
        <p:grpSpPr bwMode="auto">
          <a:xfrm>
            <a:off x="162210" y="5004385"/>
            <a:ext cx="8178800" cy="1111250"/>
            <a:chOff x="312" y="2608"/>
            <a:chExt cx="5152" cy="700"/>
          </a:xfrm>
        </p:grpSpPr>
        <p:sp>
          <p:nvSpPr>
            <p:cNvPr id="98349" name="Text Box 45"/>
            <p:cNvSpPr txBox="1">
              <a:spLocks noChangeArrowheads="1"/>
            </p:cNvSpPr>
            <p:nvPr/>
          </p:nvSpPr>
          <p:spPr bwMode="auto">
            <a:xfrm>
              <a:off x="312" y="2608"/>
              <a:ext cx="4592"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dirty="0">
                  <a:latin typeface="Tahoma" panose="020B0604030504040204" pitchFamily="34" charset="0"/>
                </a:rPr>
                <a:t>    </a:t>
              </a:r>
              <a:r>
                <a:rPr lang="zh-CN" altLang="en-US" sz="2000" b="1" dirty="0">
                  <a:solidFill>
                    <a:srgbClr val="FF0000"/>
                  </a:solidFill>
                  <a:latin typeface="Tahoma" panose="020B0604030504040204" pitchFamily="34" charset="0"/>
                </a:rPr>
                <a:t>设计中常用的是疲劳曲线上的 </a:t>
              </a:r>
              <a:r>
                <a:rPr lang="en-US" altLang="zh-CN" sz="2000" b="1" i="1" dirty="0">
                  <a:solidFill>
                    <a:srgbClr val="FF0000"/>
                  </a:solidFill>
                  <a:latin typeface="Times New Roman" panose="02020603050405020304" pitchFamily="18" charset="0"/>
                </a:rPr>
                <a:t>CD </a:t>
              </a:r>
              <a:r>
                <a:rPr lang="zh-CN" altLang="en-US" sz="2000" b="1" dirty="0">
                  <a:solidFill>
                    <a:srgbClr val="FF0000"/>
                  </a:solidFill>
                  <a:latin typeface="Tahoma" panose="020B0604030504040204" pitchFamily="34" charset="0"/>
                </a:rPr>
                <a:t>段，其方程为</a:t>
              </a:r>
              <a:r>
                <a:rPr lang="zh-CN" altLang="en-US" sz="2000" b="1" dirty="0">
                  <a:latin typeface="Tahoma" panose="020B0604030504040204" pitchFamily="34" charset="0"/>
                </a:rPr>
                <a:t>：</a:t>
              </a:r>
              <a:endParaRPr lang="zh-CN" altLang="en-US" sz="2000" b="1" dirty="0">
                <a:latin typeface="Tahoma" panose="020B0604030504040204" pitchFamily="34" charset="0"/>
              </a:endParaRPr>
            </a:p>
          </p:txBody>
        </p:sp>
        <p:sp>
          <p:nvSpPr>
            <p:cNvPr id="98353" name="Text Box 49"/>
            <p:cNvSpPr txBox="1">
              <a:spLocks noChangeArrowheads="1"/>
            </p:cNvSpPr>
            <p:nvPr/>
          </p:nvSpPr>
          <p:spPr bwMode="auto">
            <a:xfrm>
              <a:off x="2372" y="3000"/>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0" dirty="0">
                  <a:latin typeface="Tahoma" panose="020B0604030504040204" pitchFamily="34" charset="0"/>
                </a:rPr>
                <a:t>（常数）</a:t>
              </a:r>
              <a:endParaRPr lang="zh-CN" altLang="en-US" sz="2000" b="0" dirty="0">
                <a:latin typeface="Tahoma" panose="020B0604030504040204" pitchFamily="34" charset="0"/>
              </a:endParaRPr>
            </a:p>
          </p:txBody>
        </p:sp>
        <p:sp>
          <p:nvSpPr>
            <p:cNvPr id="98355" name="Text Box 51"/>
            <p:cNvSpPr txBox="1">
              <a:spLocks noChangeArrowheads="1"/>
            </p:cNvSpPr>
            <p:nvPr/>
          </p:nvSpPr>
          <p:spPr bwMode="auto">
            <a:xfrm>
              <a:off x="3201" y="2984"/>
              <a:ext cx="22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0">
                  <a:latin typeface="Tahoma" panose="020B0604030504040204" pitchFamily="34" charset="0"/>
                </a:rPr>
                <a:t>－－－－称为</a:t>
              </a:r>
              <a:r>
                <a:rPr lang="zh-CN" altLang="en-US" sz="2000" b="0">
                  <a:solidFill>
                    <a:srgbClr val="3333FF"/>
                  </a:solidFill>
                  <a:latin typeface="Tahoma" panose="020B0604030504040204" pitchFamily="34" charset="0"/>
                </a:rPr>
                <a:t>疲劳曲线方程</a:t>
              </a:r>
              <a:endParaRPr lang="zh-CN" altLang="en-US" sz="2000" b="0">
                <a:solidFill>
                  <a:srgbClr val="3333FF"/>
                </a:solidFill>
                <a:latin typeface="Tahoma" panose="020B0604030504040204" pitchFamily="34" charset="0"/>
              </a:endParaRPr>
            </a:p>
          </p:txBody>
        </p:sp>
        <p:graphicFrame>
          <p:nvGraphicFramePr>
            <p:cNvPr id="98371" name="Object 67"/>
            <p:cNvGraphicFramePr>
              <a:graphicFrameLocks noChangeAspect="1"/>
            </p:cNvGraphicFramePr>
            <p:nvPr/>
          </p:nvGraphicFramePr>
          <p:xfrm>
            <a:off x="1488" y="2964"/>
            <a:ext cx="1012" cy="344"/>
          </p:xfrm>
          <a:graphic>
            <a:graphicData uri="http://schemas.openxmlformats.org/presentationml/2006/ole">
              <mc:AlternateContent xmlns:mc="http://schemas.openxmlformats.org/markup-compatibility/2006">
                <mc:Choice xmlns:v="urn:schemas-microsoft-com:vml" Requires="v">
                  <p:oleObj spid="_x0000_s2" name="公式" r:id="rId6" imgW="578485" imgH="196850" progId="Equation.3">
                    <p:embed/>
                  </p:oleObj>
                </mc:Choice>
                <mc:Fallback>
                  <p:oleObj name="公式" r:id="rId6" imgW="578485" imgH="196850" progId="Equation.3">
                    <p:embed/>
                    <p:pic>
                      <p:nvPicPr>
                        <p:cNvPr id="0" name="图片 1075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8" y="2964"/>
                          <a:ext cx="1012"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41" name="Picture 24"/>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5159375" y="419100"/>
            <a:ext cx="382905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任意多边形 2"/>
          <p:cNvSpPr/>
          <p:nvPr/>
        </p:nvSpPr>
        <p:spPr>
          <a:xfrm>
            <a:off x="5447030" y="1061720"/>
            <a:ext cx="403860" cy="83820"/>
          </a:xfrm>
          <a:custGeom>
            <a:avLst/>
            <a:gdLst>
              <a:gd name="connisteX0" fmla="*/ 0 w 403860"/>
              <a:gd name="connsiteY0" fmla="*/ 1213 h 83763"/>
              <a:gd name="connisteX1" fmla="*/ 192405 w 403860"/>
              <a:gd name="connsiteY1" fmla="*/ 10738 h 83763"/>
              <a:gd name="connisteX2" fmla="*/ 403860 w 403860"/>
              <a:gd name="connsiteY2" fmla="*/ 83763 h 83763"/>
            </a:gdLst>
            <a:ahLst/>
            <a:cxnLst>
              <a:cxn ang="0">
                <a:pos x="connisteX0" y="connsiteY0"/>
              </a:cxn>
              <a:cxn ang="0">
                <a:pos x="connisteX1" y="connsiteY1"/>
              </a:cxn>
              <a:cxn ang="0">
                <a:pos x="connisteX2" y="connsiteY2"/>
              </a:cxn>
            </a:cxnLst>
            <a:rect l="l" t="t" r="r" b="b"/>
            <a:pathLst>
              <a:path w="403860" h="83763">
                <a:moveTo>
                  <a:pt x="0" y="1213"/>
                </a:moveTo>
                <a:cubicBezTo>
                  <a:pt x="34290" y="1848"/>
                  <a:pt x="111760" y="-5772"/>
                  <a:pt x="192405" y="10738"/>
                </a:cubicBezTo>
                <a:cubicBezTo>
                  <a:pt x="273050" y="27248"/>
                  <a:pt x="365125" y="69158"/>
                  <a:pt x="403860" y="83763"/>
                </a:cubicBezTo>
              </a:path>
            </a:pathLst>
          </a:custGeom>
          <a:noFill/>
          <a:ln w="28575" cap="flat" cmpd="sng" algn="ctr">
            <a:solidFill>
              <a:srgbClr val="FF0000"/>
            </a:solid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4" name="任意多边形 3"/>
          <p:cNvSpPr/>
          <p:nvPr/>
        </p:nvSpPr>
        <p:spPr>
          <a:xfrm>
            <a:off x="5852160" y="1141730"/>
            <a:ext cx="201930" cy="211455"/>
          </a:xfrm>
          <a:custGeom>
            <a:avLst/>
            <a:gdLst>
              <a:gd name="connisteX0" fmla="*/ 0 w 201930"/>
              <a:gd name="connsiteY0" fmla="*/ 0 h 211455"/>
              <a:gd name="connisteX1" fmla="*/ 128905 w 201930"/>
              <a:gd name="connsiteY1" fmla="*/ 92075 h 211455"/>
              <a:gd name="connisteX2" fmla="*/ 201930 w 201930"/>
              <a:gd name="connsiteY2" fmla="*/ 211455 h 211455"/>
            </a:gdLst>
            <a:ahLst/>
            <a:cxnLst>
              <a:cxn ang="0">
                <a:pos x="connisteX0" y="connsiteY0"/>
              </a:cxn>
              <a:cxn ang="0">
                <a:pos x="connisteX1" y="connsiteY1"/>
              </a:cxn>
              <a:cxn ang="0">
                <a:pos x="connisteX2" y="connsiteY2"/>
              </a:cxn>
            </a:cxnLst>
            <a:rect l="l" t="t" r="r" b="b"/>
            <a:pathLst>
              <a:path w="201930" h="211455">
                <a:moveTo>
                  <a:pt x="0" y="0"/>
                </a:moveTo>
                <a:cubicBezTo>
                  <a:pt x="24130" y="15875"/>
                  <a:pt x="88265" y="49530"/>
                  <a:pt x="128905" y="92075"/>
                </a:cubicBezTo>
                <a:cubicBezTo>
                  <a:pt x="169545" y="134620"/>
                  <a:pt x="189865" y="189230"/>
                  <a:pt x="201930" y="211455"/>
                </a:cubicBezTo>
              </a:path>
            </a:pathLst>
          </a:custGeom>
          <a:noFill/>
          <a:ln w="28575" cap="flat" cmpd="sng" algn="ctr">
            <a:solidFill>
              <a:schemeClr val="tx2">
                <a:lumMod val="40000"/>
                <a:lumOff val="60000"/>
              </a:schemeClr>
            </a:solid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graphicFrame>
        <p:nvGraphicFramePr>
          <p:cNvPr id="12" name="对象 11">
            <a:hlinkClick r:id="" action="ppaction://ole?verb=0"/>
          </p:cNvPr>
          <p:cNvGraphicFramePr>
            <a:graphicFrameLocks noChangeAspect="1"/>
          </p:cNvGraphicFramePr>
          <p:nvPr>
            <p:custDataLst>
              <p:tags r:id="rId10"/>
            </p:custDataLst>
          </p:nvPr>
        </p:nvGraphicFramePr>
        <p:xfrm>
          <a:off x="5922010" y="2484120"/>
          <a:ext cx="328930" cy="276860"/>
        </p:xfrm>
        <a:graphic>
          <a:graphicData uri="http://schemas.openxmlformats.org/presentationml/2006/ole">
            <mc:AlternateContent xmlns:mc="http://schemas.openxmlformats.org/markup-compatibility/2006">
              <mc:Choice xmlns:v="urn:schemas-microsoft-com:vml" Requires="v">
                <p:oleObj spid="_x0000_s5" name="" r:id="rId11" imgW="241300" imgH="203200" progId="Equation.KSEE3">
                  <p:embed/>
                </p:oleObj>
              </mc:Choice>
              <mc:Fallback>
                <p:oleObj name="" r:id="rId11" imgW="241300" imgH="203200" progId="Equation.KSEE3">
                  <p:embed/>
                  <p:pic>
                    <p:nvPicPr>
                      <p:cNvPr id="0" name="图片 1024"/>
                      <p:cNvPicPr/>
                      <p:nvPr/>
                    </p:nvPicPr>
                    <p:blipFill>
                      <a:blip r:embed="rId12"/>
                      <a:stretch>
                        <a:fillRect/>
                      </a:stretch>
                    </p:blipFill>
                    <p:spPr>
                      <a:xfrm>
                        <a:off x="5922010" y="2484120"/>
                        <a:ext cx="328930" cy="276860"/>
                      </a:xfrm>
                      <a:prstGeom prst="rect">
                        <a:avLst/>
                      </a:prstGeom>
                    </p:spPr>
                  </p:pic>
                </p:oleObj>
              </mc:Fallback>
            </mc:AlternateContent>
          </a:graphicData>
        </a:graphic>
      </p:graphicFrame>
      <p:sp>
        <p:nvSpPr>
          <p:cNvPr id="6" name="任意多边形 5"/>
          <p:cNvSpPr/>
          <p:nvPr/>
        </p:nvSpPr>
        <p:spPr>
          <a:xfrm>
            <a:off x="6062345" y="1345565"/>
            <a:ext cx="1547495" cy="974725"/>
          </a:xfrm>
          <a:custGeom>
            <a:avLst/>
            <a:gdLst>
              <a:gd name="connisteX0" fmla="*/ 0 w 1547361"/>
              <a:gd name="connsiteY0" fmla="*/ 0 h 974495"/>
              <a:gd name="connisteX1" fmla="*/ 120015 w 1547361"/>
              <a:gd name="connsiteY1" fmla="*/ 169545 h 974495"/>
              <a:gd name="connisteX2" fmla="*/ 240665 w 1547361"/>
              <a:gd name="connsiteY2" fmla="*/ 327025 h 974495"/>
              <a:gd name="connisteX3" fmla="*/ 414655 w 1547361"/>
              <a:gd name="connsiteY3" fmla="*/ 525780 h 974495"/>
              <a:gd name="connisteX4" fmla="*/ 542925 w 1547361"/>
              <a:gd name="connsiteY4" fmla="*/ 637540 h 974495"/>
              <a:gd name="connisteX5" fmla="*/ 741680 w 1547361"/>
              <a:gd name="connsiteY5" fmla="*/ 753745 h 974495"/>
              <a:gd name="connisteX6" fmla="*/ 1101725 w 1547361"/>
              <a:gd name="connsiteY6" fmla="*/ 894080 h 974495"/>
              <a:gd name="connisteX7" fmla="*/ 1428750 w 1547361"/>
              <a:gd name="connsiteY7" fmla="*/ 964565 h 974495"/>
              <a:gd name="connisteX8" fmla="*/ 1536700 w 1547361"/>
              <a:gd name="connsiteY8" fmla="*/ 972820 h 974495"/>
              <a:gd name="connisteX9" fmla="*/ 1536700 w 1547361"/>
              <a:gd name="connsiteY9" fmla="*/ 972820 h 974495"/>
              <a:gd name="connisteX10" fmla="*/ 1515745 w 1547361"/>
              <a:gd name="connsiteY10" fmla="*/ 960755 h 97449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Lst>
            <a:rect l="l" t="t" r="r" b="b"/>
            <a:pathLst>
              <a:path w="1547362" h="974495">
                <a:moveTo>
                  <a:pt x="0" y="0"/>
                </a:moveTo>
                <a:cubicBezTo>
                  <a:pt x="21590" y="30480"/>
                  <a:pt x="71755" y="104140"/>
                  <a:pt x="120015" y="169545"/>
                </a:cubicBezTo>
                <a:cubicBezTo>
                  <a:pt x="168275" y="234950"/>
                  <a:pt x="181610" y="255905"/>
                  <a:pt x="240665" y="327025"/>
                </a:cubicBezTo>
                <a:cubicBezTo>
                  <a:pt x="299720" y="398145"/>
                  <a:pt x="354330" y="463550"/>
                  <a:pt x="414655" y="525780"/>
                </a:cubicBezTo>
                <a:cubicBezTo>
                  <a:pt x="474980" y="588010"/>
                  <a:pt x="477520" y="591820"/>
                  <a:pt x="542925" y="637540"/>
                </a:cubicBezTo>
                <a:cubicBezTo>
                  <a:pt x="608330" y="683260"/>
                  <a:pt x="629920" y="702310"/>
                  <a:pt x="741680" y="753745"/>
                </a:cubicBezTo>
                <a:cubicBezTo>
                  <a:pt x="853440" y="805180"/>
                  <a:pt x="964565" y="852170"/>
                  <a:pt x="1101725" y="894080"/>
                </a:cubicBezTo>
                <a:cubicBezTo>
                  <a:pt x="1238885" y="935990"/>
                  <a:pt x="1341755" y="948690"/>
                  <a:pt x="1428750" y="964565"/>
                </a:cubicBezTo>
                <a:cubicBezTo>
                  <a:pt x="1515745" y="980440"/>
                  <a:pt x="1515110" y="970915"/>
                  <a:pt x="1536700" y="972820"/>
                </a:cubicBezTo>
                <a:cubicBezTo>
                  <a:pt x="1558290" y="974725"/>
                  <a:pt x="1541145" y="975360"/>
                  <a:pt x="1536700" y="972820"/>
                </a:cubicBezTo>
              </a:path>
            </a:pathLst>
          </a:custGeom>
          <a:noFill/>
          <a:ln w="28575" cap="flat" cmpd="sng" algn="ctr">
            <a:solidFill>
              <a:srgbClr val="00B050"/>
            </a:solid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7" name="文本框 6"/>
          <p:cNvSpPr txBox="1"/>
          <p:nvPr/>
        </p:nvSpPr>
        <p:spPr>
          <a:xfrm>
            <a:off x="5427345" y="99060"/>
            <a:ext cx="1156335" cy="429895"/>
          </a:xfrm>
          <a:prstGeom prst="rect">
            <a:avLst/>
          </a:prstGeom>
          <a:noFill/>
        </p:spPr>
        <p:txBody>
          <a:bodyPr wrap="square" rtlCol="0">
            <a:spAutoFit/>
          </a:bodyPr>
          <a:lstStyle/>
          <a:p>
            <a:r>
              <a:rPr lang="zh-CN" altLang="en-US">
                <a:solidFill>
                  <a:srgbClr val="FF0000"/>
                </a:solidFill>
              </a:rPr>
              <a:t>静应力</a:t>
            </a:r>
            <a:endParaRPr lang="zh-CN" altLang="en-US">
              <a:solidFill>
                <a:srgbClr val="FF0000"/>
              </a:solidFill>
            </a:endParaRPr>
          </a:p>
        </p:txBody>
      </p:sp>
      <p:sp>
        <p:nvSpPr>
          <p:cNvPr id="8" name="文本框 7"/>
          <p:cNvSpPr txBox="1"/>
          <p:nvPr/>
        </p:nvSpPr>
        <p:spPr>
          <a:xfrm>
            <a:off x="6057265" y="639445"/>
            <a:ext cx="1491615" cy="429895"/>
          </a:xfrm>
          <a:prstGeom prst="rect">
            <a:avLst/>
          </a:prstGeom>
          <a:noFill/>
        </p:spPr>
        <p:txBody>
          <a:bodyPr wrap="square" rtlCol="0">
            <a:spAutoFit/>
          </a:bodyPr>
          <a:lstStyle/>
          <a:p>
            <a:r>
              <a:rPr lang="zh-CN" altLang="en-US">
                <a:solidFill>
                  <a:schemeClr val="tx2">
                    <a:lumMod val="60000"/>
                    <a:lumOff val="40000"/>
                  </a:schemeClr>
                </a:solidFill>
              </a:rPr>
              <a:t>低周疲劳</a:t>
            </a:r>
            <a:endParaRPr lang="zh-CN" altLang="en-US">
              <a:solidFill>
                <a:schemeClr val="tx2">
                  <a:lumMod val="60000"/>
                  <a:lumOff val="4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8326"/>
                                        </p:tgtEl>
                                        <p:attrNameLst>
                                          <p:attrName>style.visibility</p:attrName>
                                        </p:attrNameLst>
                                      </p:cBhvr>
                                      <p:to>
                                        <p:strVal val="visible"/>
                                      </p:to>
                                    </p:set>
                                    <p:animEffect transition="in" filter="wipe(up)">
                                      <p:cBhvr>
                                        <p:cTn id="7" dur="500"/>
                                        <p:tgtEl>
                                          <p:spTgt spid="983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334"/>
                                        </p:tgtEl>
                                        <p:attrNameLst>
                                          <p:attrName>style.visibility</p:attrName>
                                        </p:attrNameLst>
                                      </p:cBhvr>
                                      <p:to>
                                        <p:strVal val="visible"/>
                                      </p:to>
                                    </p:set>
                                    <p:animEffect transition="in" filter="wipe(left)">
                                      <p:cBhvr>
                                        <p:cTn id="12" dur="500"/>
                                        <p:tgtEl>
                                          <p:spTgt spid="983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8335"/>
                                        </p:tgtEl>
                                        <p:attrNameLst>
                                          <p:attrName>style.visibility</p:attrName>
                                        </p:attrNameLst>
                                      </p:cBhvr>
                                      <p:to>
                                        <p:strVal val="visible"/>
                                      </p:to>
                                    </p:set>
                                    <p:animEffect transition="in" filter="wipe(left)">
                                      <p:cBhvr>
                                        <p:cTn id="17" dur="500"/>
                                        <p:tgtEl>
                                          <p:spTgt spid="9833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98347"/>
                                        </p:tgtEl>
                                        <p:attrNameLst>
                                          <p:attrName>style.visibility</p:attrName>
                                        </p:attrNameLst>
                                      </p:cBhvr>
                                      <p:to>
                                        <p:strVal val="visible"/>
                                      </p:to>
                                    </p:set>
                                    <p:animEffect transition="in" filter="wipe(left)">
                                      <p:cBhvr>
                                        <p:cTn id="20" dur="500"/>
                                        <p:tgtEl>
                                          <p:spTgt spid="9834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8341"/>
                                        </p:tgtEl>
                                        <p:attrNameLst>
                                          <p:attrName>style.visibility</p:attrName>
                                        </p:attrNameLst>
                                      </p:cBhvr>
                                      <p:to>
                                        <p:strVal val="visible"/>
                                      </p:to>
                                    </p:set>
                                    <p:animEffect transition="in" filter="wipe(left)">
                                      <p:cBhvr>
                                        <p:cTn id="25" dur="500"/>
                                        <p:tgtEl>
                                          <p:spTgt spid="9834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wipe(left)">
                                      <p:cBhvr>
                                        <p:cTn id="35" dur="500"/>
                                        <p:tgtEl>
                                          <p:spTgt spid="6">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98372"/>
                                        </p:tgtEl>
                                        <p:attrNameLst>
                                          <p:attrName>style.visibility</p:attrName>
                                        </p:attrNameLst>
                                      </p:cBhvr>
                                      <p:to>
                                        <p:strVal val="visible"/>
                                      </p:to>
                                    </p:set>
                                    <p:animEffect transition="in" filter="wipe(up)">
                                      <p:cBhvr>
                                        <p:cTn id="45" dur="500"/>
                                        <p:tgtEl>
                                          <p:spTgt spid="98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34" grpId="0" bldLvl="0" animBg="1" autoUpdateAnimBg="0"/>
      <p:bldP spid="98326" grpId="0" bldLvl="0" animBg="1"/>
      <p:bldP spid="98335" grpId="0" bldLvl="0" animBg="1"/>
      <p:bldP spid="98341" grpId="0" bldLvl="0" animBg="1"/>
      <p:bldP spid="98347" grpId="0" bldLvl="0" animBg="1"/>
      <p:bldP spid="3" grpId="0" bldLvl="0" animBg="1"/>
      <p:bldP spid="4"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idx="4294967295"/>
          </p:nvPr>
        </p:nvSpPr>
        <p:spPr bwMode="auto">
          <a:xfrm>
            <a:off x="6807200" y="774700"/>
            <a:ext cx="1676400" cy="381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a:solidFill>
                  <a:schemeClr val="bg1"/>
                </a:solidFill>
                <a:latin typeface="楷体_GB2312" pitchFamily="49" charset="-122"/>
                <a:ea typeface="楷体_GB2312" pitchFamily="49" charset="-122"/>
              </a:rPr>
              <a:t>疲劳曲线</a:t>
            </a:r>
            <a:r>
              <a:rPr lang="en-US" altLang="zh-CN" sz="2000">
                <a:solidFill>
                  <a:schemeClr val="bg1"/>
                </a:solidFill>
                <a:latin typeface="楷体_GB2312" pitchFamily="49" charset="-122"/>
                <a:ea typeface="楷体_GB2312" pitchFamily="49" charset="-122"/>
              </a:rPr>
              <a:t>3</a:t>
            </a:r>
            <a:endParaRPr lang="en-US" altLang="zh-CN" sz="2000">
              <a:solidFill>
                <a:schemeClr val="bg1"/>
              </a:solidFill>
              <a:latin typeface="楷体_GB2312" pitchFamily="49" charset="-122"/>
              <a:ea typeface="楷体_GB2312" pitchFamily="49" charset="-122"/>
            </a:endParaRPr>
          </a:p>
        </p:txBody>
      </p:sp>
      <p:grpSp>
        <p:nvGrpSpPr>
          <p:cNvPr id="99407" name="Group 79"/>
          <p:cNvGrpSpPr/>
          <p:nvPr/>
        </p:nvGrpSpPr>
        <p:grpSpPr bwMode="auto">
          <a:xfrm>
            <a:off x="444485" y="554460"/>
            <a:ext cx="7518400" cy="458787"/>
            <a:chOff x="576" y="457"/>
            <a:chExt cx="4736" cy="289"/>
          </a:xfrm>
        </p:grpSpPr>
        <p:sp>
          <p:nvSpPr>
            <p:cNvPr id="99360" name="Text Box 32"/>
            <p:cNvSpPr txBox="1">
              <a:spLocks noChangeArrowheads="1"/>
            </p:cNvSpPr>
            <p:nvPr/>
          </p:nvSpPr>
          <p:spPr bwMode="auto">
            <a:xfrm>
              <a:off x="576" y="480"/>
              <a:ext cx="29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0" dirty="0">
                  <a:latin typeface="Tahoma" panose="020B0604030504040204" pitchFamily="34" charset="0"/>
                </a:rPr>
                <a:t>显然，</a:t>
              </a:r>
              <a:r>
                <a:rPr lang="en-US" altLang="zh-CN" sz="2000" b="0" dirty="0">
                  <a:solidFill>
                    <a:srgbClr val="FF0000"/>
                  </a:solidFill>
                  <a:latin typeface="Tahoma" panose="020B0604030504040204" pitchFamily="34" charset="0"/>
                </a:rPr>
                <a:t>D</a:t>
              </a:r>
              <a:r>
                <a:rPr lang="zh-CN" altLang="en-US" sz="2000" b="0" dirty="0">
                  <a:solidFill>
                    <a:srgbClr val="FF0000"/>
                  </a:solidFill>
                  <a:latin typeface="Tahoma" panose="020B0604030504040204" pitchFamily="34" charset="0"/>
                </a:rPr>
                <a:t>点的坐标满足</a:t>
              </a:r>
              <a:r>
                <a:rPr lang="en-US" altLang="zh-CN" sz="2000" b="0" dirty="0">
                  <a:solidFill>
                    <a:srgbClr val="FF0000"/>
                  </a:solidFill>
                  <a:latin typeface="Tahoma" panose="020B0604030504040204" pitchFamily="34" charset="0"/>
                </a:rPr>
                <a:t>CD</a:t>
              </a:r>
              <a:r>
                <a:rPr lang="zh-CN" altLang="en-US" sz="2000" b="0" dirty="0">
                  <a:solidFill>
                    <a:srgbClr val="FF0000"/>
                  </a:solidFill>
                  <a:latin typeface="Tahoma" panose="020B0604030504040204" pitchFamily="34" charset="0"/>
                </a:rPr>
                <a:t>的方程</a:t>
              </a:r>
              <a:r>
                <a:rPr lang="zh-CN" altLang="en-US" sz="2000" b="0" dirty="0">
                  <a:latin typeface="Tahoma" panose="020B0604030504040204" pitchFamily="34" charset="0"/>
                </a:rPr>
                <a:t>，即</a:t>
              </a:r>
              <a:endParaRPr lang="zh-CN" altLang="en-US" sz="2000" b="0" dirty="0">
                <a:latin typeface="Tahoma" panose="020B0604030504040204" pitchFamily="34" charset="0"/>
              </a:endParaRPr>
            </a:p>
          </p:txBody>
        </p:sp>
        <p:graphicFrame>
          <p:nvGraphicFramePr>
            <p:cNvPr id="99361" name="Object 33"/>
            <p:cNvGraphicFramePr>
              <a:graphicFrameLocks noChangeAspect="1"/>
            </p:cNvGraphicFramePr>
            <p:nvPr/>
          </p:nvGraphicFramePr>
          <p:xfrm>
            <a:off x="3197" y="457"/>
            <a:ext cx="830" cy="289"/>
          </p:xfrm>
          <a:graphic>
            <a:graphicData uri="http://schemas.openxmlformats.org/presentationml/2006/ole">
              <mc:AlternateContent xmlns:mc="http://schemas.openxmlformats.org/markup-compatibility/2006">
                <mc:Choice xmlns:v="urn:schemas-microsoft-com:vml" Requires="v">
                  <p:oleObj spid="_x0000_s2" name="" r:id="rId1" imgW="775335" imgH="266065" progId="Equation.DSMT4">
                    <p:embed/>
                  </p:oleObj>
                </mc:Choice>
                <mc:Fallback>
                  <p:oleObj name="" r:id="rId1" imgW="775335" imgH="266065" progId="Equation.DSMT4">
                    <p:embed/>
                    <p:pic>
                      <p:nvPicPr>
                        <p:cNvPr id="0" name="图片 1087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7" y="457"/>
                          <a:ext cx="830" cy="2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63" name="Text Box 35"/>
            <p:cNvSpPr txBox="1">
              <a:spLocks noChangeArrowheads="1"/>
            </p:cNvSpPr>
            <p:nvPr/>
          </p:nvSpPr>
          <p:spPr bwMode="auto">
            <a:xfrm>
              <a:off x="3936" y="472"/>
              <a:ext cx="13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0">
                  <a:latin typeface="Tahoma" panose="020B0604030504040204" pitchFamily="34" charset="0"/>
                </a:rPr>
                <a:t>，代入上式得：</a:t>
              </a:r>
              <a:endParaRPr lang="zh-CN" altLang="en-US" sz="2000" b="0">
                <a:latin typeface="Tahoma" panose="020B0604030504040204" pitchFamily="34" charset="0"/>
              </a:endParaRPr>
            </a:p>
          </p:txBody>
        </p:sp>
      </p:grpSp>
      <p:grpSp>
        <p:nvGrpSpPr>
          <p:cNvPr id="99408" name="Group 80"/>
          <p:cNvGrpSpPr/>
          <p:nvPr/>
        </p:nvGrpSpPr>
        <p:grpSpPr bwMode="auto">
          <a:xfrm>
            <a:off x="1405890" y="1809750"/>
            <a:ext cx="3887470" cy="1012825"/>
            <a:chOff x="1013" y="1158"/>
            <a:chExt cx="2418" cy="520"/>
          </a:xfrm>
        </p:grpSpPr>
        <p:sp>
          <p:nvSpPr>
            <p:cNvPr id="99369" name="Text Box 41"/>
            <p:cNvSpPr txBox="1">
              <a:spLocks noChangeArrowheads="1"/>
            </p:cNvSpPr>
            <p:nvPr/>
          </p:nvSpPr>
          <p:spPr bwMode="auto">
            <a:xfrm>
              <a:off x="1013" y="1300"/>
              <a:ext cx="440"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0" dirty="0">
                  <a:latin typeface="Tahoma" panose="020B0604030504040204" pitchFamily="34" charset="0"/>
                </a:rPr>
                <a:t>则</a:t>
              </a:r>
              <a:endParaRPr lang="zh-CN" altLang="en-US" sz="2000" b="0" dirty="0">
                <a:latin typeface="Tahoma" panose="020B0604030504040204" pitchFamily="34" charset="0"/>
              </a:endParaRPr>
            </a:p>
          </p:txBody>
        </p:sp>
        <p:graphicFrame>
          <p:nvGraphicFramePr>
            <p:cNvPr id="99376" name="Object 48"/>
            <p:cNvGraphicFramePr>
              <a:graphicFrameLocks noChangeAspect="1"/>
            </p:cNvGraphicFramePr>
            <p:nvPr/>
          </p:nvGraphicFramePr>
          <p:xfrm>
            <a:off x="1839" y="1158"/>
            <a:ext cx="1592" cy="520"/>
          </p:xfrm>
          <a:graphic>
            <a:graphicData uri="http://schemas.openxmlformats.org/presentationml/2006/ole">
              <mc:AlternateContent xmlns:mc="http://schemas.openxmlformats.org/markup-compatibility/2006">
                <mc:Choice xmlns:v="urn:schemas-microsoft-com:vml" Requires="v">
                  <p:oleObj spid="_x0000_s3" name="公式" r:id="rId3" imgW="1099820" imgH="358775" progId="Equation.3">
                    <p:embed/>
                  </p:oleObj>
                </mc:Choice>
                <mc:Fallback>
                  <p:oleObj name="公式" r:id="rId3" imgW="1099820" imgH="358775" progId="Equation.3">
                    <p:embed/>
                    <p:pic>
                      <p:nvPicPr>
                        <p:cNvPr id="0" name="图片 1087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 y="1158"/>
                          <a:ext cx="1592" cy="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9378" name="Text Box 50"/>
          <p:cNvSpPr txBox="1">
            <a:spLocks noChangeArrowheads="1"/>
          </p:cNvSpPr>
          <p:nvPr/>
        </p:nvSpPr>
        <p:spPr bwMode="auto">
          <a:xfrm>
            <a:off x="266700" y="4851400"/>
            <a:ext cx="749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Blip>
                <a:blip r:embed="rId5"/>
              </a:buBlip>
            </a:pPr>
            <a:r>
              <a:rPr lang="zh-CN" altLang="en-US" sz="2000" b="0"/>
              <a:t>注：</a:t>
            </a:r>
            <a:r>
              <a:rPr lang="en-US" altLang="zh-CN" sz="2000" b="0"/>
              <a:t>1</a:t>
            </a:r>
            <a:r>
              <a:rPr lang="zh-CN" altLang="en-US" sz="2000" b="0"/>
              <a:t>）计算 </a:t>
            </a:r>
            <a:r>
              <a:rPr lang="en-US" altLang="zh-CN" sz="2000" b="0" i="1"/>
              <a:t>K</a:t>
            </a:r>
            <a:r>
              <a:rPr lang="en-US" altLang="zh-CN" sz="2000" b="0" baseline="-25000"/>
              <a:t>N</a:t>
            </a:r>
            <a:r>
              <a:rPr lang="en-US" altLang="zh-CN" sz="2000" b="0"/>
              <a:t> </a:t>
            </a:r>
            <a:r>
              <a:rPr lang="zh-CN" altLang="en-US" sz="2000" b="0"/>
              <a:t>时，如 </a:t>
            </a:r>
            <a:r>
              <a:rPr lang="en-US" altLang="zh-CN" sz="2000" b="0" i="1">
                <a:latin typeface="Times New Roman" panose="02020603050405020304" pitchFamily="18" charset="0"/>
              </a:rPr>
              <a:t>N </a:t>
            </a:r>
            <a:r>
              <a:rPr lang="en-US" altLang="zh-CN" sz="2000" b="0"/>
              <a:t>≥</a:t>
            </a:r>
            <a:r>
              <a:rPr lang="en-US" altLang="zh-CN" sz="2000" b="0" i="1"/>
              <a:t>N</a:t>
            </a:r>
            <a:r>
              <a:rPr lang="en-US" altLang="zh-CN" sz="2000" b="0" baseline="-25000"/>
              <a:t>0</a:t>
            </a:r>
            <a:r>
              <a:rPr lang="en-US" altLang="zh-CN" sz="2000" b="0"/>
              <a:t> </a:t>
            </a:r>
            <a:r>
              <a:rPr lang="zh-CN" altLang="en-US" sz="2000" b="0"/>
              <a:t>，则取 </a:t>
            </a:r>
            <a:r>
              <a:rPr lang="en-US" altLang="zh-CN" sz="2000" b="0" i="1">
                <a:latin typeface="Times New Roman" panose="02020603050405020304" pitchFamily="18" charset="0"/>
              </a:rPr>
              <a:t>N</a:t>
            </a:r>
            <a:r>
              <a:rPr lang="zh-CN" altLang="en-US" sz="2000" b="0"/>
              <a:t>＝ </a:t>
            </a:r>
            <a:r>
              <a:rPr lang="en-US" altLang="zh-CN" sz="2000" b="0" i="1"/>
              <a:t>N</a:t>
            </a:r>
            <a:r>
              <a:rPr lang="en-US" altLang="zh-CN" sz="2000" b="0" baseline="-25000"/>
              <a:t>0</a:t>
            </a:r>
            <a:r>
              <a:rPr lang="en-US" altLang="zh-CN" sz="2000" b="0"/>
              <a:t>    </a:t>
            </a:r>
            <a:r>
              <a:rPr lang="zh-CN" altLang="en-US" sz="2000" b="0"/>
              <a:t>。</a:t>
            </a:r>
            <a:endParaRPr lang="zh-CN" altLang="en-US" sz="2000" b="0"/>
          </a:p>
        </p:txBody>
      </p:sp>
      <p:grpSp>
        <p:nvGrpSpPr>
          <p:cNvPr id="99409" name="Group 81"/>
          <p:cNvGrpSpPr/>
          <p:nvPr/>
        </p:nvGrpSpPr>
        <p:grpSpPr bwMode="auto">
          <a:xfrm>
            <a:off x="508635" y="2822576"/>
            <a:ext cx="8126413" cy="1711326"/>
            <a:chOff x="280" y="1872"/>
            <a:chExt cx="5119" cy="1078"/>
          </a:xfrm>
        </p:grpSpPr>
        <p:sp>
          <p:nvSpPr>
            <p:cNvPr id="99374" name="Text Box 46"/>
            <p:cNvSpPr txBox="1">
              <a:spLocks noChangeArrowheads="1"/>
            </p:cNvSpPr>
            <p:nvPr/>
          </p:nvSpPr>
          <p:spPr bwMode="auto">
            <a:xfrm>
              <a:off x="280" y="1944"/>
              <a:ext cx="6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0">
                  <a:latin typeface="Tahoma" panose="020B0604030504040204" pitchFamily="34" charset="0"/>
                </a:rPr>
                <a:t>式中：</a:t>
              </a:r>
              <a:endParaRPr lang="zh-CN" altLang="en-US" sz="2000" b="0">
                <a:latin typeface="Tahoma" panose="020B0604030504040204" pitchFamily="34" charset="0"/>
              </a:endParaRPr>
            </a:p>
          </p:txBody>
        </p:sp>
        <p:sp>
          <p:nvSpPr>
            <p:cNvPr id="99375" name="Text Box 47"/>
            <p:cNvSpPr txBox="1">
              <a:spLocks noChangeArrowheads="1"/>
            </p:cNvSpPr>
            <p:nvPr/>
          </p:nvSpPr>
          <p:spPr bwMode="auto">
            <a:xfrm>
              <a:off x="1704" y="1944"/>
              <a:ext cx="13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a:latin typeface="Times New Roman" panose="02020603050405020304" pitchFamily="18" charset="0"/>
                  <a:ea typeface="宋体" panose="02010600030101010101" pitchFamily="2" charset="-122"/>
                </a:rPr>
                <a:t>——</a:t>
              </a:r>
              <a:r>
                <a:rPr lang="zh-CN" altLang="en-US" sz="2000" b="0">
                  <a:solidFill>
                    <a:srgbClr val="3333FF"/>
                  </a:solidFill>
                  <a:latin typeface="Tahoma" panose="020B0604030504040204" pitchFamily="34" charset="0"/>
                </a:rPr>
                <a:t>寿命系数</a:t>
              </a:r>
              <a:r>
                <a:rPr lang="zh-CN" altLang="en-US" sz="2000" b="0">
                  <a:latin typeface="Tahoma" panose="020B0604030504040204" pitchFamily="34" charset="0"/>
                </a:rPr>
                <a:t>；</a:t>
              </a:r>
              <a:endParaRPr lang="zh-CN" altLang="en-US" sz="2000" b="0">
                <a:latin typeface="Tahoma" panose="020B0604030504040204" pitchFamily="34" charset="0"/>
              </a:endParaRPr>
            </a:p>
          </p:txBody>
        </p:sp>
        <p:graphicFrame>
          <p:nvGraphicFramePr>
            <p:cNvPr id="99377" name="Object 49"/>
            <p:cNvGraphicFramePr>
              <a:graphicFrameLocks noChangeAspect="1"/>
            </p:cNvGraphicFramePr>
            <p:nvPr/>
          </p:nvGraphicFramePr>
          <p:xfrm>
            <a:off x="932" y="1872"/>
            <a:ext cx="720" cy="411"/>
          </p:xfrm>
          <a:graphic>
            <a:graphicData uri="http://schemas.openxmlformats.org/presentationml/2006/ole">
              <mc:AlternateContent xmlns:mc="http://schemas.openxmlformats.org/markup-compatibility/2006">
                <mc:Choice xmlns:v="urn:schemas-microsoft-com:vml" Requires="v">
                  <p:oleObj spid="_x0000_s4" name="Equation" r:id="rId6" imgW="1215390" imgH="694690" progId="Equation.3">
                    <p:embed/>
                  </p:oleObj>
                </mc:Choice>
                <mc:Fallback>
                  <p:oleObj name="Equation" r:id="rId6" imgW="1215390" imgH="694690" progId="Equation.3">
                    <p:embed/>
                    <p:pic>
                      <p:nvPicPr>
                        <p:cNvPr id="0" name="图片 1087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2" y="1872"/>
                          <a:ext cx="720"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9383" name="Rectangle 55"/>
            <p:cNvSpPr>
              <a:spLocks noChangeArrowheads="1"/>
            </p:cNvSpPr>
            <p:nvPr/>
          </p:nvSpPr>
          <p:spPr bwMode="auto">
            <a:xfrm>
              <a:off x="905" y="2370"/>
              <a:ext cx="2604"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2000" b="0" i="1" dirty="0">
                  <a:solidFill>
                    <a:srgbClr val="3333FF"/>
                  </a:solidFill>
                  <a:latin typeface="Times New Roman" panose="02020603050405020304" pitchFamily="18" charset="0"/>
                </a:rPr>
                <a:t>m</a:t>
              </a:r>
              <a:r>
                <a:rPr lang="en-US" altLang="zh-CN" sz="2000" b="0" dirty="0">
                  <a:solidFill>
                    <a:srgbClr val="3333FF"/>
                  </a:solidFill>
                  <a:latin typeface="Tahoma" panose="020B0604030504040204" pitchFamily="34" charset="0"/>
                </a:rPr>
                <a:t> </a:t>
              </a:r>
              <a:r>
                <a:rPr lang="en-US" altLang="zh-CN" sz="2000" b="0" dirty="0">
                  <a:latin typeface="宋体" panose="02010600030101010101" pitchFamily="2" charset="-122"/>
                  <a:ea typeface="宋体" panose="02010600030101010101" pitchFamily="2" charset="-122"/>
                </a:rPr>
                <a:t> </a:t>
              </a:r>
              <a:r>
                <a:rPr lang="en-US" altLang="zh-CN" sz="2000" b="0" dirty="0">
                  <a:latin typeface="Times New Roman" panose="02020603050405020304" pitchFamily="18" charset="0"/>
                  <a:ea typeface="宋体" panose="02010600030101010101" pitchFamily="2" charset="-122"/>
                </a:rPr>
                <a:t>—</a:t>
              </a:r>
              <a:r>
                <a:rPr lang="zh-CN" altLang="en-US" sz="2000" b="1" dirty="0">
                  <a:solidFill>
                    <a:srgbClr val="3333FF"/>
                  </a:solidFill>
                  <a:latin typeface="宋体" panose="02010600030101010101" pitchFamily="2" charset="-122"/>
                  <a:ea typeface="宋体" panose="02010600030101010101" pitchFamily="2" charset="-122"/>
                </a:rPr>
                <a:t>寿命指数</a:t>
              </a:r>
              <a:r>
                <a:rPr lang="zh-CN" altLang="en-US" sz="2000" dirty="0">
                  <a:latin typeface="宋体" panose="02010600030101010101" pitchFamily="2" charset="-122"/>
                  <a:ea typeface="宋体" panose="02010600030101010101" pitchFamily="2" charset="-122"/>
                </a:rPr>
                <a:t>，其值见教材</a:t>
              </a:r>
              <a:r>
                <a:rPr lang="zh-CN" altLang="en-US" sz="2000" dirty="0">
                  <a:solidFill>
                    <a:srgbClr val="CC3300"/>
                  </a:solidFill>
                  <a:latin typeface="宋体" panose="02010600030101010101" pitchFamily="2" charset="-122"/>
                  <a:ea typeface="宋体" panose="02010600030101010101" pitchFamily="2" charset="-122"/>
                </a:rPr>
                <a:t> </a:t>
              </a:r>
              <a:r>
                <a:rPr lang="en-US" altLang="zh-CN" sz="2000" dirty="0">
                  <a:solidFill>
                    <a:srgbClr val="CC3300"/>
                  </a:solidFill>
                  <a:latin typeface="宋体" panose="02010600030101010101" pitchFamily="2" charset="-122"/>
                  <a:ea typeface="宋体" panose="02010600030101010101" pitchFamily="2" charset="-122"/>
                </a:rPr>
                <a:t>P24</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p:txBody>
        </p:sp>
        <p:sp>
          <p:nvSpPr>
            <p:cNvPr id="99384" name="AutoShape 56"/>
            <p:cNvSpPr/>
            <p:nvPr/>
          </p:nvSpPr>
          <p:spPr bwMode="auto">
            <a:xfrm>
              <a:off x="808" y="2064"/>
              <a:ext cx="88" cy="800"/>
            </a:xfrm>
            <a:prstGeom prst="leftBrace">
              <a:avLst>
                <a:gd name="adj1" fmla="val 7575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386" name="Text Box 58"/>
            <p:cNvSpPr txBox="1">
              <a:spLocks noChangeArrowheads="1"/>
            </p:cNvSpPr>
            <p:nvPr/>
          </p:nvSpPr>
          <p:spPr bwMode="auto">
            <a:xfrm>
              <a:off x="839" y="2699"/>
              <a:ext cx="4560"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i="1" dirty="0">
                  <a:solidFill>
                    <a:srgbClr val="3333FF"/>
                  </a:solidFill>
                </a:rPr>
                <a:t>N</a:t>
              </a:r>
              <a:r>
                <a:rPr lang="en-US" altLang="zh-CN" sz="2000" b="0" baseline="-25000" dirty="0">
                  <a:solidFill>
                    <a:srgbClr val="3333FF"/>
                  </a:solidFill>
                </a:rPr>
                <a:t>0</a:t>
              </a:r>
              <a:r>
                <a:rPr lang="en-US" altLang="zh-CN" sz="2000" b="0" dirty="0"/>
                <a:t>  </a:t>
              </a:r>
              <a:r>
                <a:rPr lang="en-US" altLang="zh-CN" sz="2000" b="0" dirty="0">
                  <a:latin typeface="Times New Roman" panose="02020603050405020304" pitchFamily="18" charset="0"/>
                </a:rPr>
                <a:t>—</a:t>
              </a:r>
              <a:r>
                <a:rPr lang="zh-CN" altLang="en-US" sz="2000" b="0" dirty="0">
                  <a:solidFill>
                    <a:srgbClr val="3333FF"/>
                  </a:solidFill>
                </a:rPr>
                <a:t>循环基数</a:t>
              </a:r>
              <a:r>
                <a:rPr lang="zh-CN" altLang="en-US" sz="2000" b="0" dirty="0"/>
                <a:t>，其值与零件材质有关，见</a:t>
              </a:r>
              <a:r>
                <a:rPr lang="zh-CN" altLang="en-US" sz="2000" b="0" dirty="0">
                  <a:solidFill>
                    <a:schemeClr val="hlink"/>
                  </a:solidFill>
                </a:rPr>
                <a:t>教材 </a:t>
              </a:r>
              <a:r>
                <a:rPr lang="en-US" altLang="zh-CN" sz="2000" dirty="0">
                  <a:solidFill>
                    <a:srgbClr val="CC3300"/>
                  </a:solidFill>
                </a:rPr>
                <a:t>P24</a:t>
              </a:r>
              <a:r>
                <a:rPr lang="zh-CN" altLang="en-US" sz="2000" dirty="0"/>
                <a:t>。</a:t>
              </a:r>
              <a:endParaRPr lang="zh-CN" altLang="en-US" sz="2000" dirty="0"/>
            </a:p>
          </p:txBody>
        </p:sp>
      </p:grpSp>
      <p:sp>
        <p:nvSpPr>
          <p:cNvPr id="99392" name="Text Box 64"/>
          <p:cNvSpPr txBox="1">
            <a:spLocks noChangeArrowheads="1"/>
          </p:cNvSpPr>
          <p:nvPr/>
        </p:nvSpPr>
        <p:spPr bwMode="auto">
          <a:xfrm>
            <a:off x="837000" y="5319000"/>
            <a:ext cx="78613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dirty="0"/>
              <a:t> 2</a:t>
            </a:r>
            <a:r>
              <a:rPr lang="zh-CN" altLang="en-US" sz="2000" b="0" dirty="0"/>
              <a:t>）工程中常用的是对称循环</a:t>
            </a:r>
            <a:r>
              <a:rPr lang="zh-CN" altLang="en-US" sz="2000" dirty="0"/>
              <a:t>切</a:t>
            </a:r>
            <a:r>
              <a:rPr lang="zh-CN" altLang="en-US" sz="2000" b="0" dirty="0"/>
              <a:t>应力（</a:t>
            </a:r>
            <a:r>
              <a:rPr lang="en-US" altLang="zh-CN" sz="2000" b="0" i="1" dirty="0">
                <a:solidFill>
                  <a:srgbClr val="3333FF"/>
                </a:solidFill>
                <a:latin typeface="Times New Roman" panose="02020603050405020304" pitchFamily="18" charset="0"/>
              </a:rPr>
              <a:t>r </a:t>
            </a:r>
            <a:r>
              <a:rPr lang="en-US" altLang="zh-CN" sz="2000" b="0" i="1" dirty="0">
                <a:latin typeface="Times New Roman" panose="02020603050405020304" pitchFamily="18" charset="0"/>
              </a:rPr>
              <a:t> </a:t>
            </a:r>
            <a:r>
              <a:rPr lang="en-US" altLang="zh-CN" sz="2000" b="0" dirty="0">
                <a:solidFill>
                  <a:srgbClr val="3333FF"/>
                </a:solidFill>
              </a:rPr>
              <a:t>=-1</a:t>
            </a:r>
            <a:r>
              <a:rPr lang="zh-CN" altLang="en-US" sz="2000" b="0" dirty="0"/>
              <a:t>）下的疲劳极限，计</a:t>
            </a:r>
            <a:endParaRPr lang="zh-CN" altLang="en-US" sz="2000" b="0" dirty="0"/>
          </a:p>
          <a:p>
            <a:r>
              <a:rPr lang="zh-CN" altLang="en-US" sz="2000" b="0" dirty="0"/>
              <a:t>      算时，只须把</a:t>
            </a:r>
            <a:r>
              <a:rPr lang="el-GR" altLang="zh-CN" sz="2000" b="0" i="1" dirty="0">
                <a:solidFill>
                  <a:srgbClr val="3333FF"/>
                </a:solidFill>
              </a:rPr>
              <a:t>σ</a:t>
            </a:r>
            <a:r>
              <a:rPr lang="en-US" altLang="zh-CN" sz="2000" b="0" baseline="-25000" dirty="0">
                <a:solidFill>
                  <a:srgbClr val="3333FF"/>
                </a:solidFill>
              </a:rPr>
              <a:t>r</a:t>
            </a:r>
            <a:r>
              <a:rPr lang="en-US" altLang="zh-CN" sz="2000" b="0" dirty="0"/>
              <a:t>  </a:t>
            </a:r>
            <a:r>
              <a:rPr lang="zh-CN" altLang="en-US" sz="2000" b="0" dirty="0"/>
              <a:t>和 </a:t>
            </a:r>
            <a:r>
              <a:rPr lang="el-GR" altLang="zh-CN" b="0" i="1" dirty="0">
                <a:solidFill>
                  <a:srgbClr val="3333FF"/>
                </a:solidFill>
                <a:latin typeface="Times New Roman" panose="02020603050405020304" pitchFamily="18" charset="0"/>
                <a:ea typeface="宋体" panose="02010600030101010101" pitchFamily="2" charset="-122"/>
              </a:rPr>
              <a:t>σ</a:t>
            </a:r>
            <a:r>
              <a:rPr lang="en-US" altLang="zh-CN" b="0" baseline="-25000" dirty="0" err="1">
                <a:solidFill>
                  <a:srgbClr val="3333FF"/>
                </a:solidFill>
                <a:latin typeface="Times New Roman" panose="02020603050405020304" pitchFamily="18" charset="0"/>
                <a:ea typeface="宋体" panose="02010600030101010101" pitchFamily="2" charset="-122"/>
              </a:rPr>
              <a:t>rN</a:t>
            </a:r>
            <a:r>
              <a:rPr lang="en-US" altLang="zh-CN" sz="2000" b="0" dirty="0"/>
              <a:t> </a:t>
            </a:r>
            <a:r>
              <a:rPr lang="zh-CN" altLang="en-US" sz="2000" b="0" dirty="0"/>
              <a:t>换成 </a:t>
            </a:r>
            <a:r>
              <a:rPr lang="el-GR" altLang="zh-CN" b="0" i="1" dirty="0">
                <a:solidFill>
                  <a:srgbClr val="3333FF"/>
                </a:solidFill>
                <a:latin typeface="Times New Roman" panose="02020603050405020304" pitchFamily="18" charset="0"/>
                <a:ea typeface="宋体" panose="02010600030101010101" pitchFamily="2" charset="-122"/>
              </a:rPr>
              <a:t>τ</a:t>
            </a:r>
            <a:r>
              <a:rPr lang="en-US" altLang="zh-CN" dirty="0"/>
              <a:t> </a:t>
            </a:r>
            <a:r>
              <a:rPr lang="en-US" altLang="zh-CN" sz="2000" b="0" baseline="-25000" dirty="0">
                <a:solidFill>
                  <a:srgbClr val="3333FF"/>
                </a:solidFill>
                <a:latin typeface="Times New Roman" panose="02020603050405020304" pitchFamily="18" charset="0"/>
              </a:rPr>
              <a:t>-1</a:t>
            </a:r>
            <a:r>
              <a:rPr lang="en-US" altLang="zh-CN" sz="2000" b="0" dirty="0"/>
              <a:t> </a:t>
            </a:r>
            <a:r>
              <a:rPr lang="zh-CN" altLang="en-US" sz="2000" b="0" dirty="0"/>
              <a:t>和 </a:t>
            </a:r>
            <a:r>
              <a:rPr lang="el-GR" altLang="zh-CN" b="0" i="1" dirty="0">
                <a:solidFill>
                  <a:srgbClr val="3333FF"/>
                </a:solidFill>
                <a:latin typeface="Times New Roman" panose="02020603050405020304" pitchFamily="18" charset="0"/>
                <a:ea typeface="宋体" panose="02010600030101010101" pitchFamily="2" charset="-122"/>
              </a:rPr>
              <a:t>τ</a:t>
            </a:r>
            <a:r>
              <a:rPr lang="en-US" altLang="zh-CN" b="0" i="1" dirty="0">
                <a:solidFill>
                  <a:srgbClr val="3333FF"/>
                </a:solidFill>
                <a:latin typeface="Times New Roman" panose="02020603050405020304" pitchFamily="18" charset="0"/>
                <a:ea typeface="宋体" panose="02010600030101010101" pitchFamily="2" charset="-122"/>
              </a:rPr>
              <a:t> </a:t>
            </a:r>
            <a:r>
              <a:rPr lang="en-US" altLang="zh-CN" b="0" baseline="-25000" dirty="0">
                <a:solidFill>
                  <a:srgbClr val="3333FF"/>
                </a:solidFill>
                <a:latin typeface="Times New Roman" panose="02020603050405020304" pitchFamily="18" charset="0"/>
                <a:ea typeface="宋体" panose="02010600030101010101" pitchFamily="2" charset="-122"/>
              </a:rPr>
              <a:t>-1N</a:t>
            </a:r>
            <a:r>
              <a:rPr lang="en-US" altLang="zh-CN" sz="2000" b="0" dirty="0"/>
              <a:t> </a:t>
            </a:r>
            <a:r>
              <a:rPr lang="zh-CN" altLang="en-US" sz="2000" b="0" dirty="0"/>
              <a:t>即可。</a:t>
            </a:r>
            <a:endParaRPr lang="zh-CN" altLang="en-US" sz="2000" b="0" dirty="0"/>
          </a:p>
        </p:txBody>
      </p:sp>
      <p:graphicFrame>
        <p:nvGraphicFramePr>
          <p:cNvPr id="99406" name="Object 78"/>
          <p:cNvGraphicFramePr>
            <a:graphicFrameLocks noChangeAspect="1"/>
          </p:cNvGraphicFramePr>
          <p:nvPr/>
        </p:nvGraphicFramePr>
        <p:xfrm>
          <a:off x="2948190" y="1155420"/>
          <a:ext cx="2097087" cy="495300"/>
        </p:xfrm>
        <a:graphic>
          <a:graphicData uri="http://schemas.openxmlformats.org/presentationml/2006/ole">
            <mc:AlternateContent xmlns:mc="http://schemas.openxmlformats.org/markup-compatibility/2006">
              <mc:Choice xmlns:v="urn:schemas-microsoft-com:vml" Requires="v">
                <p:oleObj spid="_x0000_s5" name="公式" r:id="rId8" imgW="833120" imgH="196850" progId="Equation.3">
                  <p:embed/>
                </p:oleObj>
              </mc:Choice>
              <mc:Fallback>
                <p:oleObj name="公式" r:id="rId8" imgW="833120" imgH="196850" progId="Equation.3">
                  <p:embed/>
                  <p:pic>
                    <p:nvPicPr>
                      <p:cNvPr id="0" name="图片 10877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8190" y="1155420"/>
                        <a:ext cx="2097087"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410" name="Object 82"/>
          <p:cNvGraphicFramePr>
            <a:graphicFrameLocks noChangeAspect="1"/>
          </p:cNvGraphicFramePr>
          <p:nvPr/>
        </p:nvGraphicFramePr>
        <p:xfrm>
          <a:off x="4521200" y="3333750"/>
          <a:ext cx="101600" cy="190500"/>
        </p:xfrm>
        <a:graphic>
          <a:graphicData uri="http://schemas.openxmlformats.org/presentationml/2006/ole">
            <mc:AlternateContent xmlns:mc="http://schemas.openxmlformats.org/markup-compatibility/2006">
              <mc:Choice xmlns:v="urn:schemas-microsoft-com:vml" Requires="v">
                <p:oleObj spid="_x0000_s6" name="公式" r:id="rId10" imgW="101600" imgH="190500" progId="Equation.3">
                  <p:embed/>
                </p:oleObj>
              </mc:Choice>
              <mc:Fallback>
                <p:oleObj name="公式" r:id="rId10" imgW="101600" imgH="190500" progId="Equation.3">
                  <p:embed/>
                  <p:pic>
                    <p:nvPicPr>
                      <p:cNvPr id="0" name="图片 10877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21200" y="3333750"/>
                        <a:ext cx="1016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42"/>
          <p:cNvGraphicFramePr>
            <a:graphicFrameLocks noChangeAspect="1"/>
          </p:cNvGraphicFramePr>
          <p:nvPr/>
        </p:nvGraphicFramePr>
        <p:xfrm>
          <a:off x="5778660" y="1937990"/>
          <a:ext cx="1708150" cy="884238"/>
        </p:xfrm>
        <a:graphic>
          <a:graphicData uri="http://schemas.openxmlformats.org/presentationml/2006/ole">
            <mc:AlternateContent xmlns:mc="http://schemas.openxmlformats.org/markup-compatibility/2006">
              <mc:Choice xmlns:v="urn:schemas-microsoft-com:vml" Requires="v">
                <p:oleObj spid="_x0000_s7" name="公式" r:id="rId12" imgW="1002665" imgH="520700" progId="Equation.3">
                  <p:embed/>
                </p:oleObj>
              </mc:Choice>
              <mc:Fallback>
                <p:oleObj name="公式" r:id="rId12" imgW="1002665" imgH="520700" progId="Equation.3">
                  <p:embed/>
                  <p:pic>
                    <p:nvPicPr>
                      <p:cNvPr id="0" name="图片 10877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78660" y="1937990"/>
                        <a:ext cx="1708150" cy="884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Text Box 30"/>
          <p:cNvSpPr txBox="1">
            <a:spLocks noChangeArrowheads="1"/>
          </p:cNvSpPr>
          <p:nvPr/>
        </p:nvSpPr>
        <p:spPr bwMode="auto">
          <a:xfrm>
            <a:off x="927000" y="6129000"/>
            <a:ext cx="802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dirty="0"/>
              <a:t>3</a:t>
            </a:r>
            <a:r>
              <a:rPr lang="zh-CN" altLang="en-US" sz="2000" b="0" dirty="0"/>
              <a:t>）当</a:t>
            </a:r>
            <a:r>
              <a:rPr lang="en-US" altLang="zh-CN" sz="2000" b="0" i="1" dirty="0"/>
              <a:t>N </a:t>
            </a:r>
            <a:r>
              <a:rPr lang="zh-CN" altLang="en-US" sz="2000" b="0" dirty="0"/>
              <a:t>＜（ </a:t>
            </a:r>
            <a:r>
              <a:rPr lang="en-US" altLang="zh-CN" sz="2000" b="0" dirty="0"/>
              <a:t>10</a:t>
            </a:r>
            <a:r>
              <a:rPr lang="en-US" altLang="zh-CN" sz="2000" b="0" baseline="30000" dirty="0"/>
              <a:t>3</a:t>
            </a:r>
            <a:r>
              <a:rPr lang="en-US" altLang="zh-CN" sz="2000" b="0" dirty="0"/>
              <a:t> </a:t>
            </a:r>
            <a:r>
              <a:rPr lang="zh-CN" altLang="en-US" sz="2000" b="0" dirty="0"/>
              <a:t>～</a:t>
            </a:r>
            <a:r>
              <a:rPr lang="en-US" altLang="zh-CN" sz="2000" b="0" dirty="0"/>
              <a:t>10</a:t>
            </a:r>
            <a:r>
              <a:rPr lang="en-US" altLang="zh-CN" sz="2000" b="0" baseline="30000" dirty="0"/>
              <a:t>4</a:t>
            </a:r>
            <a:r>
              <a:rPr lang="en-US" altLang="zh-CN" sz="2000" b="0" dirty="0"/>
              <a:t>  </a:t>
            </a:r>
            <a:r>
              <a:rPr lang="zh-CN" altLang="en-US" sz="2000" b="0" dirty="0"/>
              <a:t>）时，因 </a:t>
            </a:r>
            <a:r>
              <a:rPr lang="en-US" altLang="zh-CN" sz="2000" b="0" i="1" dirty="0"/>
              <a:t>N </a:t>
            </a:r>
            <a:r>
              <a:rPr lang="zh-CN" altLang="en-US" sz="2000" b="0" dirty="0"/>
              <a:t>较小，可按静强度计算。 </a:t>
            </a:r>
            <a:endParaRPr lang="zh-CN" altLang="en-US" sz="20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406"/>
                                        </p:tgtEl>
                                        <p:attrNameLst>
                                          <p:attrName>style.visibility</p:attrName>
                                        </p:attrNameLst>
                                      </p:cBhvr>
                                      <p:to>
                                        <p:strVal val="visible"/>
                                      </p:to>
                                    </p:set>
                                    <p:animEffect transition="in" filter="wipe(left)">
                                      <p:cBhvr>
                                        <p:cTn id="7" dur="500"/>
                                        <p:tgtEl>
                                          <p:spTgt spid="994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9408"/>
                                        </p:tgtEl>
                                        <p:attrNameLst>
                                          <p:attrName>style.visibility</p:attrName>
                                        </p:attrNameLst>
                                      </p:cBhvr>
                                      <p:to>
                                        <p:strVal val="visible"/>
                                      </p:to>
                                    </p:set>
                                    <p:animEffect transition="in" filter="wipe(left)">
                                      <p:cBhvr>
                                        <p:cTn id="12" dur="500"/>
                                        <p:tgtEl>
                                          <p:spTgt spid="994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9409"/>
                                        </p:tgtEl>
                                        <p:attrNameLst>
                                          <p:attrName>style.visibility</p:attrName>
                                        </p:attrNameLst>
                                      </p:cBhvr>
                                      <p:to>
                                        <p:strVal val="visible"/>
                                      </p:to>
                                    </p:set>
                                    <p:animEffect transition="in" filter="wipe(left)">
                                      <p:cBhvr>
                                        <p:cTn id="22" dur="500"/>
                                        <p:tgtEl>
                                          <p:spTgt spid="9940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9378"/>
                                        </p:tgtEl>
                                        <p:attrNameLst>
                                          <p:attrName>style.visibility</p:attrName>
                                        </p:attrNameLst>
                                      </p:cBhvr>
                                      <p:to>
                                        <p:strVal val="visible"/>
                                      </p:to>
                                    </p:set>
                                    <p:animEffect transition="in" filter="wipe(left)">
                                      <p:cBhvr>
                                        <p:cTn id="27" dur="500"/>
                                        <p:tgtEl>
                                          <p:spTgt spid="9937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9392"/>
                                        </p:tgtEl>
                                        <p:attrNameLst>
                                          <p:attrName>style.visibility</p:attrName>
                                        </p:attrNameLst>
                                      </p:cBhvr>
                                      <p:to>
                                        <p:strVal val="visible"/>
                                      </p:to>
                                    </p:set>
                                    <p:animEffect transition="in" filter="wipe(left)">
                                      <p:cBhvr>
                                        <p:cTn id="32" dur="500"/>
                                        <p:tgtEl>
                                          <p:spTgt spid="9939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78" grpId="0"/>
      <p:bldP spid="99392" grpId="0"/>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18" name="Text Box 18"/>
          <p:cNvSpPr txBox="1"/>
          <p:nvPr/>
        </p:nvSpPr>
        <p:spPr>
          <a:xfrm>
            <a:off x="297180" y="857885"/>
            <a:ext cx="8534400" cy="1200150"/>
          </a:xfrm>
          <a:prstGeom prst="rect">
            <a:avLst/>
          </a:prstGeom>
          <a:noFill/>
          <a:ln w="9525">
            <a:noFill/>
          </a:ln>
        </p:spPr>
        <p:txBody>
          <a:bodyPr lIns="90000" tIns="46800" rIns="90000" bIns="46800" anchor="t">
            <a:spAutoFit/>
          </a:bodyPr>
          <a:lstStyle/>
          <a:p>
            <a:pPr>
              <a:lnSpc>
                <a:spcPct val="120000"/>
              </a:lnSpc>
            </a:pPr>
            <a:r>
              <a:rPr lang="en-US" altLang="zh-CN" sz="2000" dirty="0">
                <a:solidFill>
                  <a:srgbClr val="000099"/>
                </a:solidFill>
                <a:latin typeface="Tahoma" panose="020B0604030504040204" pitchFamily="34" charset="0"/>
                <a:ea typeface="华文中宋" panose="02010600040101010101" pitchFamily="2" charset="-122"/>
              </a:rPr>
              <a:t>       </a:t>
            </a:r>
            <a:r>
              <a:rPr lang="zh-CN" altLang="en-US" sz="2000" dirty="0">
                <a:solidFill>
                  <a:srgbClr val="000099"/>
                </a:solidFill>
                <a:latin typeface="Tahoma" panose="020B0604030504040204" pitchFamily="34" charset="0"/>
                <a:ea typeface="华文中宋" panose="02010600040101010101" pitchFamily="2" charset="-122"/>
              </a:rPr>
              <a:t>机械零件材料的疲劳特性除用</a:t>
            </a:r>
            <a:r>
              <a:rPr lang="en-US" altLang="zh-CN" sz="2000" i="1" dirty="0">
                <a:solidFill>
                  <a:srgbClr val="000099"/>
                </a:solidFill>
                <a:latin typeface="Symbol" panose="05050102010706020507" pitchFamily="18" charset="2"/>
                <a:ea typeface="华文中宋" panose="02010600040101010101" pitchFamily="2" charset="-122"/>
              </a:rPr>
              <a:t>s</a:t>
            </a:r>
            <a:r>
              <a:rPr lang="zh-CN" altLang="en-US" sz="2000" dirty="0">
                <a:solidFill>
                  <a:srgbClr val="000099"/>
                </a:solidFill>
                <a:latin typeface="Times New Roman" panose="02020603050405020304" pitchFamily="18" charset="0"/>
                <a:ea typeface="华文中宋" panose="02010600040101010101" pitchFamily="2" charset="-122"/>
              </a:rPr>
              <a:t>－</a:t>
            </a:r>
            <a:r>
              <a:rPr lang="en-US" altLang="zh-CN" sz="2000" i="1" dirty="0">
                <a:solidFill>
                  <a:srgbClr val="000099"/>
                </a:solidFill>
                <a:latin typeface="Times New Roman" panose="02020603050405020304" pitchFamily="18" charset="0"/>
                <a:ea typeface="华文中宋" panose="02010600040101010101" pitchFamily="2" charset="-122"/>
              </a:rPr>
              <a:t>N</a:t>
            </a:r>
            <a:r>
              <a:rPr lang="zh-CN" altLang="en-US" sz="2000" dirty="0">
                <a:solidFill>
                  <a:srgbClr val="000099"/>
                </a:solidFill>
                <a:latin typeface="Tahoma" panose="020B0604030504040204" pitchFamily="34" charset="0"/>
                <a:ea typeface="华文中宋" panose="02010600040101010101" pitchFamily="2" charset="-122"/>
              </a:rPr>
              <a:t>曲线表示外</a:t>
            </a:r>
            <a:r>
              <a:rPr lang="zh-CN" altLang="en-US" sz="2000" i="1" dirty="0">
                <a:solidFill>
                  <a:srgbClr val="000099"/>
                </a:solidFill>
                <a:latin typeface="Tahoma" panose="020B0604030504040204" pitchFamily="34" charset="0"/>
                <a:ea typeface="华文中宋" panose="02010600040101010101" pitchFamily="2" charset="-122"/>
              </a:rPr>
              <a:t>，</a:t>
            </a:r>
            <a:r>
              <a:rPr lang="zh-CN" altLang="en-US" sz="2000" dirty="0">
                <a:solidFill>
                  <a:srgbClr val="000099"/>
                </a:solidFill>
                <a:latin typeface="Tahoma" panose="020B0604030504040204" pitchFamily="34" charset="0"/>
                <a:ea typeface="华文中宋" panose="02010600040101010101" pitchFamily="2" charset="-122"/>
              </a:rPr>
              <a:t>还可用疲劳极限应力图来描述（</a:t>
            </a:r>
            <a:r>
              <a:rPr lang="zh-CN" altLang="en-US" sz="2000" dirty="0">
                <a:solidFill>
                  <a:srgbClr val="C00000"/>
                </a:solidFill>
                <a:latin typeface="Tahoma" panose="020B0604030504040204" pitchFamily="34" charset="0"/>
                <a:ea typeface="华文中宋" panose="02010600040101010101" pitchFamily="2" charset="-122"/>
              </a:rPr>
              <a:t>如下左图</a:t>
            </a:r>
            <a:r>
              <a:rPr lang="zh-CN" altLang="en-US" sz="2000" dirty="0">
                <a:solidFill>
                  <a:srgbClr val="000099"/>
                </a:solidFill>
                <a:latin typeface="Tahoma" panose="020B0604030504040204" pitchFamily="34" charset="0"/>
                <a:ea typeface="华文中宋" panose="02010600040101010101" pitchFamily="2" charset="-122"/>
              </a:rPr>
              <a:t>），该曲线也称</a:t>
            </a:r>
            <a:r>
              <a:rPr lang="zh-CN" altLang="en-US" sz="2000" dirty="0">
                <a:solidFill>
                  <a:srgbClr val="FF0000"/>
                </a:solidFill>
                <a:latin typeface="Tahoma" panose="020B0604030504040204" pitchFamily="34" charset="0"/>
                <a:ea typeface="华文中宋" panose="02010600040101010101" pitchFamily="2" charset="-122"/>
              </a:rPr>
              <a:t>等寿命曲线</a:t>
            </a:r>
            <a:r>
              <a:rPr lang="zh-CN" altLang="en-US" sz="2000" dirty="0">
                <a:solidFill>
                  <a:srgbClr val="000099"/>
                </a:solidFill>
                <a:latin typeface="Tahoma" panose="020B0604030504040204" pitchFamily="34" charset="0"/>
                <a:ea typeface="华文中宋" panose="02010600040101010101" pitchFamily="2" charset="-122"/>
              </a:rPr>
              <a:t>，表达了在一定</a:t>
            </a:r>
            <a:r>
              <a:rPr lang="zh-CN" altLang="en-US" sz="2000" dirty="0">
                <a:solidFill>
                  <a:srgbClr val="FF0000"/>
                </a:solidFill>
                <a:latin typeface="Tahoma" panose="020B0604030504040204" pitchFamily="34" charset="0"/>
                <a:ea typeface="华文中宋" panose="02010600040101010101" pitchFamily="2" charset="-122"/>
              </a:rPr>
              <a:t>应力循环次数</a:t>
            </a:r>
            <a:r>
              <a:rPr lang="en-US" altLang="zh-CN" sz="2000" dirty="0">
                <a:solidFill>
                  <a:srgbClr val="FF0000"/>
                </a:solidFill>
                <a:latin typeface="Tahoma" panose="020B0604030504040204" pitchFamily="34" charset="0"/>
                <a:ea typeface="华文中宋" panose="02010600040101010101" pitchFamily="2" charset="-122"/>
              </a:rPr>
              <a:t>N</a:t>
            </a:r>
            <a:r>
              <a:rPr lang="zh-CN" altLang="en-US" sz="2000" dirty="0">
                <a:solidFill>
                  <a:srgbClr val="000099"/>
                </a:solidFill>
                <a:latin typeface="Tahoma" panose="020B0604030504040204" pitchFamily="34" charset="0"/>
                <a:ea typeface="华文中宋" panose="02010600040101010101" pitchFamily="2" charset="-122"/>
              </a:rPr>
              <a:t>下，不同应力比</a:t>
            </a:r>
            <a:r>
              <a:rPr lang="en-US" altLang="zh-CN" sz="2000" i="1" dirty="0">
                <a:solidFill>
                  <a:srgbClr val="FF0000"/>
                </a:solidFill>
                <a:sym typeface="+mn-ea"/>
              </a:rPr>
              <a:t>r </a:t>
            </a:r>
            <a:r>
              <a:rPr lang="zh-CN" altLang="en-US" sz="2000" dirty="0">
                <a:solidFill>
                  <a:srgbClr val="000099"/>
                </a:solidFill>
                <a:latin typeface="Tahoma" panose="020B0604030504040204" pitchFamily="34" charset="0"/>
                <a:ea typeface="华文中宋" panose="02010600040101010101" pitchFamily="2" charset="-122"/>
              </a:rPr>
              <a:t>时疲劳极限的特性。</a:t>
            </a:r>
            <a:endParaRPr lang="zh-CN" altLang="en-US" sz="2000" dirty="0">
              <a:solidFill>
                <a:srgbClr val="000099"/>
              </a:solidFill>
              <a:latin typeface="Tahoma" panose="020B0604030504040204" pitchFamily="34" charset="0"/>
              <a:ea typeface="华文中宋" panose="02010600040101010101" pitchFamily="2" charset="-122"/>
            </a:endParaRPr>
          </a:p>
        </p:txBody>
      </p:sp>
      <p:pic>
        <p:nvPicPr>
          <p:cNvPr id="4" name="图片 3"/>
          <p:cNvPicPr>
            <a:picLocks noChangeAspect="1"/>
          </p:cNvPicPr>
          <p:nvPr/>
        </p:nvPicPr>
        <p:blipFill>
          <a:blip r:embed="rId1"/>
          <a:stretch>
            <a:fillRect/>
          </a:stretch>
        </p:blipFill>
        <p:spPr>
          <a:xfrm>
            <a:off x="419735" y="2127250"/>
            <a:ext cx="8107680" cy="2652395"/>
          </a:xfrm>
          <a:prstGeom prst="rect">
            <a:avLst/>
          </a:prstGeom>
          <a:noFill/>
          <a:ln w="9525">
            <a:noFill/>
          </a:ln>
        </p:spPr>
      </p:pic>
      <p:sp>
        <p:nvSpPr>
          <p:cNvPr id="24" name="Text Box 19"/>
          <p:cNvSpPr txBox="1"/>
          <p:nvPr/>
        </p:nvSpPr>
        <p:spPr>
          <a:xfrm>
            <a:off x="1018540" y="4906963"/>
            <a:ext cx="7107238" cy="403225"/>
          </a:xfrm>
          <a:prstGeom prst="rect">
            <a:avLst/>
          </a:prstGeom>
          <a:noFill/>
          <a:ln w="9525">
            <a:noFill/>
          </a:ln>
        </p:spPr>
        <p:txBody>
          <a:bodyPr wrap="none" lIns="90000" tIns="46800" rIns="90000" bIns="46800" anchor="t">
            <a:spAutoFit/>
          </a:bodyPr>
          <a:lstStyle/>
          <a:p>
            <a:r>
              <a:rPr lang="zh-CN" altLang="en-US" sz="2000" dirty="0">
                <a:solidFill>
                  <a:srgbClr val="000099"/>
                </a:solidFill>
                <a:latin typeface="Tahoma" panose="020B0604030504040204" pitchFamily="34" charset="0"/>
                <a:ea typeface="华文中宋" panose="02010600040101010101" pitchFamily="2" charset="-122"/>
              </a:rPr>
              <a:t>在工程应用中，常将该曲线用直线来近似替代（如上右图）。</a:t>
            </a:r>
            <a:endParaRPr lang="zh-CN" altLang="en-US" sz="2000" dirty="0">
              <a:solidFill>
                <a:srgbClr val="000099"/>
              </a:solidFill>
              <a:latin typeface="Tahoma" panose="020B0604030504040204" pitchFamily="34" charset="0"/>
              <a:ea typeface="华文中宋" panose="02010600040101010101" pitchFamily="2" charset="-122"/>
            </a:endParaRPr>
          </a:p>
        </p:txBody>
      </p:sp>
      <p:sp>
        <p:nvSpPr>
          <p:cNvPr id="52" name="Rectangle 17"/>
          <p:cNvSpPr>
            <a:spLocks noChangeArrowheads="1"/>
          </p:cNvSpPr>
          <p:nvPr/>
        </p:nvSpPr>
        <p:spPr bwMode="auto">
          <a:xfrm>
            <a:off x="297000" y="324000"/>
            <a:ext cx="29260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zh-CN" altLang="en-US" sz="2400" dirty="0">
                <a:solidFill>
                  <a:srgbClr val="FF0000"/>
                </a:solidFill>
                <a:latin typeface="黑体" panose="02010609060101010101" pitchFamily="49" charset="-122"/>
                <a:ea typeface="黑体" panose="02010609060101010101" pitchFamily="49" charset="-122"/>
              </a:rPr>
              <a:t>二、疲劳极限应力图</a:t>
            </a:r>
            <a:endParaRPr lang="zh-CN" altLang="en-US" sz="2400" dirty="0">
              <a:solidFill>
                <a:srgbClr val="FF0000"/>
              </a:solidFill>
              <a:latin typeface="黑体" panose="02010609060101010101" pitchFamily="49" charset="-122"/>
              <a:ea typeface="黑体" panose="02010609060101010101" pitchFamily="49" charset="-122"/>
            </a:endParaRPr>
          </a:p>
        </p:txBody>
      </p:sp>
      <p:grpSp>
        <p:nvGrpSpPr>
          <p:cNvPr id="82020" name="Group 100"/>
          <p:cNvGrpSpPr/>
          <p:nvPr/>
        </p:nvGrpSpPr>
        <p:grpSpPr bwMode="auto">
          <a:xfrm>
            <a:off x="153280" y="5438830"/>
            <a:ext cx="8648700" cy="836613"/>
            <a:chOff x="227" y="686"/>
            <a:chExt cx="5448" cy="527"/>
          </a:xfrm>
        </p:grpSpPr>
        <p:sp>
          <p:nvSpPr>
            <p:cNvPr id="81979" name="Text Box 59"/>
            <p:cNvSpPr txBox="1">
              <a:spLocks noChangeArrowheads="1"/>
            </p:cNvSpPr>
            <p:nvPr/>
          </p:nvSpPr>
          <p:spPr bwMode="auto">
            <a:xfrm>
              <a:off x="227" y="686"/>
              <a:ext cx="544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0"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极限应力线上的每个点，都表示了某个应力比下的极限应力</a:t>
              </a:r>
              <a:r>
                <a:rPr lang="el-GR" altLang="zh-CN" sz="2000" b="1" i="1" dirty="0">
                  <a:solidFill>
                    <a:srgbClr val="3333FF"/>
                  </a:solidFill>
                  <a:latin typeface="Times New Roman" panose="02020603050405020304" pitchFamily="18" charset="0"/>
                  <a:ea typeface="宋体" panose="02010600030101010101" pitchFamily="2" charset="-122"/>
                  <a:cs typeface="Times New Roman" panose="02020603050405020304" pitchFamily="18" charset="0"/>
                </a:rPr>
                <a:t>σ</a:t>
              </a:r>
              <a:r>
                <a:rPr lang="en-US" altLang="zh-CN" sz="2000" b="1" baseline="-25000" dirty="0">
                  <a:solidFill>
                    <a:srgbClr val="3333FF"/>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0" dirty="0">
                  <a:latin typeface="宋体" panose="02010600030101010101" pitchFamily="2" charset="-122"/>
                  <a:ea typeface="宋体" panose="02010600030101010101" pitchFamily="2" charset="-122"/>
                </a:rPr>
                <a:t> </a:t>
              </a:r>
              <a:r>
                <a:rPr lang="zh-CN" altLang="en-US" sz="2000" b="0" dirty="0">
                  <a:latin typeface="宋体" panose="02010600030101010101" pitchFamily="2" charset="-122"/>
                  <a:ea typeface="宋体" panose="02010600030101010101" pitchFamily="2" charset="-122"/>
                </a:rPr>
                <a:t>。</a:t>
              </a:r>
              <a:r>
                <a:rPr lang="zh-CN" altLang="en-US" sz="2000" b="0" dirty="0">
                  <a:latin typeface="Tahoma" panose="020B0604030504040204" pitchFamily="34" charset="0"/>
                </a:rPr>
                <a:t> </a:t>
              </a:r>
              <a:endParaRPr lang="zh-CN" altLang="en-US" sz="2000" b="0" dirty="0">
                <a:latin typeface="Tahoma" panose="020B0604030504040204" pitchFamily="34" charset="0"/>
              </a:endParaRPr>
            </a:p>
          </p:txBody>
        </p:sp>
        <p:graphicFrame>
          <p:nvGraphicFramePr>
            <p:cNvPr id="81983" name="Object 63"/>
            <p:cNvGraphicFramePr>
              <a:graphicFrameLocks noChangeAspect="1"/>
            </p:cNvGraphicFramePr>
            <p:nvPr/>
          </p:nvGraphicFramePr>
          <p:xfrm>
            <a:off x="2041" y="942"/>
            <a:ext cx="1126" cy="271"/>
          </p:xfrm>
          <a:graphic>
            <a:graphicData uri="http://schemas.openxmlformats.org/presentationml/2006/ole">
              <mc:AlternateContent xmlns:mc="http://schemas.openxmlformats.org/markup-compatibility/2006">
                <mc:Choice xmlns:v="urn:schemas-microsoft-com:vml" Requires="v">
                  <p:oleObj spid="_x0000_s2" name="公式" r:id="rId2" imgW="706120" imgH="173355" progId="Equation.3">
                    <p:embed/>
                  </p:oleObj>
                </mc:Choice>
                <mc:Fallback>
                  <p:oleObj name="公式" r:id="rId2" imgW="706120" imgH="173355" progId="Equation.3">
                    <p:embed/>
                    <p:pic>
                      <p:nvPicPr>
                        <p:cNvPr id="0" name="图片 11019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1" y="942"/>
                          <a:ext cx="1126"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18"/>
                                        </p:tgtEl>
                                        <p:attrNameLst>
                                          <p:attrName>style.visibility</p:attrName>
                                        </p:attrNameLst>
                                      </p:cBhvr>
                                      <p:to>
                                        <p:strVal val="visible"/>
                                      </p:to>
                                    </p:set>
                                    <p:animEffect transition="in" filter="wipe(left)">
                                      <p:cBhvr>
                                        <p:cTn id="12" dur="500"/>
                                        <p:tgtEl>
                                          <p:spTgt spid="256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2020"/>
                                        </p:tgtEl>
                                        <p:attrNameLst>
                                          <p:attrName>style.visibility</p:attrName>
                                        </p:attrNameLst>
                                      </p:cBhvr>
                                      <p:to>
                                        <p:strVal val="visible"/>
                                      </p:to>
                                    </p:set>
                                    <p:animEffect transition="in" filter="wipe(left)">
                                      <p:cBhvr>
                                        <p:cTn id="27" dur="500"/>
                                        <p:tgtEl>
                                          <p:spTgt spid="82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8" grpId="0"/>
      <p:bldP spid="24" grpId="0"/>
      <p:bldP spid="5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4719320" y="3354705"/>
          <a:ext cx="4137025" cy="2637155"/>
        </p:xfrm>
        <a:graphic>
          <a:graphicData uri="http://schemas.openxmlformats.org/presentationml/2006/ole">
            <mc:AlternateContent xmlns:mc="http://schemas.openxmlformats.org/markup-compatibility/2006">
              <mc:Choice xmlns:v="urn:schemas-microsoft-com:vml" Requires="v">
                <p:oleObj spid="_x0000_s3" name="" r:id="rId1" imgW="4133850" imgH="2635250" progId="Paint.Picture">
                  <p:embed/>
                </p:oleObj>
              </mc:Choice>
              <mc:Fallback>
                <p:oleObj name="" r:id="rId1" imgW="4133850" imgH="2635250" progId="Paint.Picture">
                  <p:embed/>
                  <p:pic>
                    <p:nvPicPr>
                      <p:cNvPr id="0" name="图片 3"/>
                      <p:cNvPicPr/>
                      <p:nvPr/>
                    </p:nvPicPr>
                    <p:blipFill>
                      <a:blip r:embed="rId2"/>
                      <a:stretch>
                        <a:fillRect/>
                      </a:stretch>
                    </p:blipFill>
                    <p:spPr>
                      <a:xfrm>
                        <a:off x="4719320" y="3354705"/>
                        <a:ext cx="4137025" cy="2637155"/>
                      </a:xfrm>
                      <a:prstGeom prst="rect">
                        <a:avLst/>
                      </a:prstGeom>
                    </p:spPr>
                  </p:pic>
                </p:oleObj>
              </mc:Fallback>
            </mc:AlternateContent>
          </a:graphicData>
        </a:graphic>
      </p:graphicFrame>
      <p:sp>
        <p:nvSpPr>
          <p:cNvPr id="3077" name="Rectangle 3"/>
          <p:cNvSpPr>
            <a:spLocks noGrp="1" noChangeArrowheads="1"/>
          </p:cNvSpPr>
          <p:nvPr>
            <p:ph type="title"/>
          </p:nvPr>
        </p:nvSpPr>
        <p:spPr bwMode="auto">
          <a:xfrm>
            <a:off x="5029200" y="762000"/>
            <a:ext cx="1905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a:solidFill>
                  <a:schemeClr val="bg1"/>
                </a:solidFill>
                <a:latin typeface="华文新魏" panose="02010800040101010101" pitchFamily="2" charset="-122"/>
                <a:ea typeface="华文新魏" panose="02010800040101010101" pitchFamily="2" charset="-122"/>
              </a:rPr>
              <a:t>极限应力线图</a:t>
            </a:r>
            <a:endParaRPr lang="zh-CN" altLang="en-US" sz="800">
              <a:solidFill>
                <a:schemeClr val="bg1"/>
              </a:solidFill>
              <a:latin typeface="华文新魏" panose="02010800040101010101" pitchFamily="2" charset="-122"/>
              <a:ea typeface="华文新魏" panose="02010800040101010101" pitchFamily="2" charset="-122"/>
            </a:endParaRPr>
          </a:p>
        </p:txBody>
      </p:sp>
      <p:pic>
        <p:nvPicPr>
          <p:cNvPr id="25614" name="Picture 14" descr="rewind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7247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5" name="Picture 15" descr="back1">
            <a:hlinkClick r:id="" action="ppaction://hlinkshowjump?jump=previous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804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0" name="Text Box 20"/>
          <p:cNvSpPr txBox="1">
            <a:spLocks noChangeArrowheads="1"/>
          </p:cNvSpPr>
          <p:nvPr/>
        </p:nvSpPr>
        <p:spPr bwMode="auto">
          <a:xfrm>
            <a:off x="587150" y="329155"/>
            <a:ext cx="8283575"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000099"/>
                </a:solidFill>
                <a:latin typeface="Times New Roman" panose="02020603050405020304" pitchFamily="18" charset="0"/>
              </a:rPr>
              <a:t>用</a:t>
            </a:r>
            <a:r>
              <a:rPr lang="en-US" altLang="zh-CN" i="1" dirty="0">
                <a:solidFill>
                  <a:srgbClr val="000099"/>
                </a:solidFill>
                <a:latin typeface="Times New Roman" panose="02020603050405020304" pitchFamily="18" charset="0"/>
              </a:rPr>
              <a:t>A</a:t>
            </a:r>
            <a:r>
              <a:rPr lang="zh-CN" altLang="en-US" i="1" dirty="0">
                <a:solidFill>
                  <a:srgbClr val="000099"/>
                </a:solidFill>
                <a:latin typeface="Times New Roman" panose="02020603050405020304" pitchFamily="18" charset="0"/>
              </a:rPr>
              <a:t>Ｇ</a:t>
            </a:r>
            <a:r>
              <a:rPr lang="en-US" altLang="zh-CN" i="1" dirty="0">
                <a:solidFill>
                  <a:srgbClr val="000099"/>
                </a:solidFill>
                <a:latin typeface="Times New Roman" panose="02020603050405020304" pitchFamily="18" charset="0"/>
              </a:rPr>
              <a:t>C</a:t>
            </a:r>
            <a:r>
              <a:rPr lang="zh-CN" altLang="en-US" dirty="0">
                <a:solidFill>
                  <a:srgbClr val="000099"/>
                </a:solidFill>
              </a:rPr>
              <a:t>折线</a:t>
            </a:r>
            <a:r>
              <a:rPr lang="zh-CN" altLang="en-US" dirty="0">
                <a:solidFill>
                  <a:srgbClr val="000099"/>
                </a:solidFill>
                <a:latin typeface="Times New Roman" panose="02020603050405020304" pitchFamily="18" charset="0"/>
              </a:rPr>
              <a:t>表示零件材料的极限应力线图是其中一种近似方法。</a:t>
            </a:r>
            <a:endParaRPr lang="zh-CN" altLang="en-US" dirty="0">
              <a:solidFill>
                <a:srgbClr val="000099"/>
              </a:solidFill>
              <a:latin typeface="Times New Roman" panose="02020603050405020304" pitchFamily="18" charset="0"/>
            </a:endParaRPr>
          </a:p>
        </p:txBody>
      </p:sp>
      <p:sp>
        <p:nvSpPr>
          <p:cNvPr id="25621" name="Text Box 21"/>
          <p:cNvSpPr txBox="1">
            <a:spLocks noChangeArrowheads="1"/>
          </p:cNvSpPr>
          <p:nvPr/>
        </p:nvSpPr>
        <p:spPr bwMode="auto">
          <a:xfrm>
            <a:off x="861385" y="825170"/>
            <a:ext cx="2585085"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i="1" dirty="0">
                <a:solidFill>
                  <a:srgbClr val="000099"/>
                </a:solidFill>
                <a:latin typeface="Times New Roman" panose="02020603050405020304" pitchFamily="18" charset="0"/>
              </a:rPr>
              <a:t>A</a:t>
            </a:r>
            <a:r>
              <a:rPr lang="zh-CN" altLang="en-US" i="1" dirty="0">
                <a:solidFill>
                  <a:srgbClr val="000099"/>
                </a:solidFill>
                <a:latin typeface="Times New Roman" panose="02020603050405020304" pitchFamily="18" charset="0"/>
              </a:rPr>
              <a:t>Ｇ</a:t>
            </a:r>
            <a:r>
              <a:rPr lang="zh-CN" altLang="en-US" dirty="0">
                <a:solidFill>
                  <a:srgbClr val="000099"/>
                </a:solidFill>
                <a:latin typeface="Times New Roman" panose="02020603050405020304" pitchFamily="18" charset="0"/>
              </a:rPr>
              <a:t>直线的方程为：</a:t>
            </a:r>
            <a:endParaRPr lang="zh-CN" altLang="en-US" dirty="0">
              <a:solidFill>
                <a:srgbClr val="000099"/>
              </a:solidFill>
              <a:latin typeface="Times New Roman" panose="02020603050405020304" pitchFamily="18" charset="0"/>
            </a:endParaRPr>
          </a:p>
        </p:txBody>
      </p:sp>
      <p:graphicFrame>
        <p:nvGraphicFramePr>
          <p:cNvPr id="25622" name="Object 22"/>
          <p:cNvGraphicFramePr>
            <a:graphicFrameLocks noChangeAspect="1"/>
          </p:cNvGraphicFramePr>
          <p:nvPr/>
        </p:nvGraphicFramePr>
        <p:xfrm>
          <a:off x="1796690" y="1390803"/>
          <a:ext cx="2002790" cy="435610"/>
        </p:xfrm>
        <a:graphic>
          <a:graphicData uri="http://schemas.openxmlformats.org/presentationml/2006/ole">
            <mc:AlternateContent xmlns:mc="http://schemas.openxmlformats.org/markup-compatibility/2006">
              <mc:Choice xmlns:v="urn:schemas-microsoft-com:vml" Requires="v">
                <p:oleObj spid="_x0000_s4" name="Equation" r:id="rId6" imgW="1054100" imgH="228600" progId="Equation.3">
                  <p:embed/>
                </p:oleObj>
              </mc:Choice>
              <mc:Fallback>
                <p:oleObj name="Equation" r:id="rId6" imgW="1054100" imgH="228600" progId="Equation.3">
                  <p:embed/>
                  <p:pic>
                    <p:nvPicPr>
                      <p:cNvPr id="0" name="Picture 77"/>
                      <p:cNvPicPr>
                        <a:picLocks noChangeAspect="1" noChangeArrowheads="1"/>
                      </p:cNvPicPr>
                      <p:nvPr/>
                    </p:nvPicPr>
                    <p:blipFill>
                      <a:blip r:embed="rId7"/>
                      <a:srcRect/>
                      <a:stretch>
                        <a:fillRect/>
                      </a:stretch>
                    </p:blipFill>
                    <p:spPr bwMode="auto">
                      <a:xfrm>
                        <a:off x="1796690" y="1390803"/>
                        <a:ext cx="2002790" cy="435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23" name="Object 23"/>
          <p:cNvGraphicFramePr>
            <a:graphicFrameLocks noChangeAspect="1"/>
          </p:cNvGraphicFramePr>
          <p:nvPr/>
        </p:nvGraphicFramePr>
        <p:xfrm>
          <a:off x="1761998" y="2380548"/>
          <a:ext cx="1595755" cy="435610"/>
        </p:xfrm>
        <a:graphic>
          <a:graphicData uri="http://schemas.openxmlformats.org/presentationml/2006/ole">
            <mc:AlternateContent xmlns:mc="http://schemas.openxmlformats.org/markup-compatibility/2006">
              <mc:Choice xmlns:v="urn:schemas-microsoft-com:vml" Requires="v">
                <p:oleObj spid="_x0000_s5" name="Equation" r:id="rId8" imgW="825500" imgH="228600" progId="Equation.3">
                  <p:embed/>
                </p:oleObj>
              </mc:Choice>
              <mc:Fallback>
                <p:oleObj name="Equation" r:id="rId8" imgW="825500" imgH="228600" progId="Equation.3">
                  <p:embed/>
                  <p:pic>
                    <p:nvPicPr>
                      <p:cNvPr id="0" name="Picture 78"/>
                      <p:cNvPicPr>
                        <a:picLocks noChangeAspect="1" noChangeArrowheads="1"/>
                      </p:cNvPicPr>
                      <p:nvPr/>
                    </p:nvPicPr>
                    <p:blipFill>
                      <a:blip r:embed="rId9"/>
                      <a:srcRect/>
                      <a:stretch>
                        <a:fillRect/>
                      </a:stretch>
                    </p:blipFill>
                    <p:spPr bwMode="auto">
                      <a:xfrm>
                        <a:off x="1761998" y="2380548"/>
                        <a:ext cx="1595755" cy="435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24" name="Rectangle 24"/>
          <p:cNvSpPr>
            <a:spLocks noChangeArrowheads="1"/>
          </p:cNvSpPr>
          <p:nvPr/>
        </p:nvSpPr>
        <p:spPr bwMode="auto">
          <a:xfrm>
            <a:off x="1256565" y="1925955"/>
            <a:ext cx="238061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i="1" dirty="0">
                <a:solidFill>
                  <a:srgbClr val="000099"/>
                </a:solidFill>
                <a:latin typeface="Times New Roman" panose="02020603050405020304" pitchFamily="18" charset="0"/>
              </a:rPr>
              <a:t>C</a:t>
            </a:r>
            <a:r>
              <a:rPr lang="zh-CN" altLang="en-US" sz="2000" i="1" dirty="0">
                <a:solidFill>
                  <a:srgbClr val="000099"/>
                </a:solidFill>
                <a:latin typeface="Times New Roman" panose="02020603050405020304" pitchFamily="18" charset="0"/>
              </a:rPr>
              <a:t>Ｇ</a:t>
            </a:r>
            <a:r>
              <a:rPr lang="zh-CN" altLang="en-US" sz="2000" dirty="0">
                <a:solidFill>
                  <a:srgbClr val="000099"/>
                </a:solidFill>
              </a:rPr>
              <a:t>直线的方程为：</a:t>
            </a:r>
            <a:endParaRPr lang="zh-CN" altLang="en-US" sz="2000" dirty="0">
              <a:solidFill>
                <a:srgbClr val="000099"/>
              </a:solidFill>
            </a:endParaRPr>
          </a:p>
        </p:txBody>
      </p:sp>
      <p:graphicFrame>
        <p:nvGraphicFramePr>
          <p:cNvPr id="25625" name="Object 25"/>
          <p:cNvGraphicFramePr>
            <a:graphicFrameLocks noChangeAspect="1"/>
          </p:cNvGraphicFramePr>
          <p:nvPr/>
        </p:nvGraphicFramePr>
        <p:xfrm>
          <a:off x="1404356" y="3868575"/>
          <a:ext cx="1882140" cy="829310"/>
        </p:xfrm>
        <a:graphic>
          <a:graphicData uri="http://schemas.openxmlformats.org/presentationml/2006/ole">
            <mc:AlternateContent xmlns:mc="http://schemas.openxmlformats.org/markup-compatibility/2006">
              <mc:Choice xmlns:v="urn:schemas-microsoft-com:vml" Requires="v">
                <p:oleObj spid="_x0000_s6" name="Equation" r:id="rId10" imgW="965200" imgH="431800" progId="Equation.3">
                  <p:embed/>
                </p:oleObj>
              </mc:Choice>
              <mc:Fallback>
                <p:oleObj name="Equation" r:id="rId10" imgW="965200" imgH="431800" progId="Equation.3">
                  <p:embed/>
                  <p:pic>
                    <p:nvPicPr>
                      <p:cNvPr id="0" name="Picture 79"/>
                      <p:cNvPicPr>
                        <a:picLocks noChangeAspect="1" noChangeArrowheads="1"/>
                      </p:cNvPicPr>
                      <p:nvPr/>
                    </p:nvPicPr>
                    <p:blipFill>
                      <a:blip r:embed="rId11"/>
                      <a:srcRect/>
                      <a:stretch>
                        <a:fillRect/>
                      </a:stretch>
                    </p:blipFill>
                    <p:spPr bwMode="auto">
                      <a:xfrm>
                        <a:off x="1404356" y="3868575"/>
                        <a:ext cx="1882140" cy="8293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26" name="Text Box 26"/>
          <p:cNvSpPr txBox="1">
            <a:spLocks noChangeArrowheads="1"/>
          </p:cNvSpPr>
          <p:nvPr/>
        </p:nvSpPr>
        <p:spPr bwMode="auto">
          <a:xfrm>
            <a:off x="387510" y="2995965"/>
            <a:ext cx="4495800" cy="90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i="1" dirty="0">
                <a:solidFill>
                  <a:srgbClr val="000099"/>
                </a:solidFill>
                <a:latin typeface="Times New Roman" panose="02020603050405020304" pitchFamily="18" charset="0"/>
              </a:rPr>
              <a:t>　　</a:t>
            </a:r>
            <a:r>
              <a:rPr lang="en-US" altLang="zh-CN" dirty="0" err="1">
                <a:solidFill>
                  <a:srgbClr val="FF0000"/>
                </a:solidFill>
                <a:latin typeface="Symbol" panose="05050102010706020507" pitchFamily="18" charset="2"/>
                <a:sym typeface="Symbol" panose="05050102010706020507" charset="0"/>
              </a:rPr>
              <a:t></a:t>
            </a:r>
            <a:r>
              <a:rPr lang="en-US" altLang="zh-CN" i="1" baseline="-25000" dirty="0" err="1">
                <a:solidFill>
                  <a:srgbClr val="FF0000"/>
                </a:solidFill>
                <a:latin typeface="Times New Roman" panose="02020603050405020304" pitchFamily="18" charset="0"/>
              </a:rPr>
              <a:t>σ</a:t>
            </a:r>
            <a:r>
              <a:rPr lang="zh-CN" altLang="en-US" dirty="0">
                <a:solidFill>
                  <a:srgbClr val="FF0000"/>
                </a:solidFill>
                <a:latin typeface="Times New Roman" panose="02020603050405020304" pitchFamily="18" charset="0"/>
              </a:rPr>
              <a:t>为试件受循环弯曲应力时的材料常数，</a:t>
            </a:r>
            <a:r>
              <a:rPr lang="zh-CN" altLang="en-US" dirty="0">
                <a:solidFill>
                  <a:srgbClr val="000099"/>
                </a:solidFill>
                <a:latin typeface="Times New Roman" panose="02020603050405020304" pitchFamily="18" charset="0"/>
              </a:rPr>
              <a:t>其值由试验及下式决定：</a:t>
            </a:r>
            <a:endParaRPr lang="zh-CN" altLang="en-US" dirty="0">
              <a:solidFill>
                <a:srgbClr val="000099"/>
              </a:solidFill>
              <a:latin typeface="Times New Roman" panose="02020603050405020304" pitchFamily="18" charset="0"/>
            </a:endParaRPr>
          </a:p>
        </p:txBody>
      </p:sp>
      <p:sp>
        <p:nvSpPr>
          <p:cNvPr id="25633" name="Text Box 33"/>
          <p:cNvSpPr txBox="1">
            <a:spLocks noChangeArrowheads="1"/>
          </p:cNvSpPr>
          <p:nvPr/>
        </p:nvSpPr>
        <p:spPr bwMode="auto">
          <a:xfrm>
            <a:off x="431800" y="4779010"/>
            <a:ext cx="3523615" cy="83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l" eaLnBrk="1" hangingPunct="1"/>
            <a:r>
              <a:rPr lang="zh-CN" altLang="en-US" sz="2400" dirty="0">
                <a:solidFill>
                  <a:srgbClr val="000099"/>
                </a:solidFill>
              </a:rPr>
              <a:t>对于碳钢：  </a:t>
            </a:r>
            <a:r>
              <a:rPr lang="en-US" altLang="zh-CN" sz="2400" dirty="0">
                <a:solidFill>
                  <a:srgbClr val="FF0000"/>
                </a:solidFill>
                <a:latin typeface="Symbol" panose="05050102010706020507" pitchFamily="18" charset="2"/>
                <a:sym typeface="Symbol" panose="05050102010706020507" charset="0"/>
              </a:rPr>
              <a:t></a:t>
            </a:r>
            <a:r>
              <a:rPr lang="en-US" altLang="zh-CN" sz="2400" i="1" baseline="-25000" dirty="0">
                <a:solidFill>
                  <a:srgbClr val="FF0000"/>
                </a:solidFill>
                <a:latin typeface="Times New Roman" panose="02020603050405020304" pitchFamily="18" charset="0"/>
              </a:rPr>
              <a:t>σ</a:t>
            </a:r>
            <a:r>
              <a:rPr lang="en-US" altLang="zh-CN" sz="2400" dirty="0">
                <a:solidFill>
                  <a:srgbClr val="FF0000"/>
                </a:solidFill>
                <a:latin typeface="Times New Roman" panose="02020603050405020304" pitchFamily="18" charset="0"/>
              </a:rPr>
              <a:t>≈0.1~0.2</a:t>
            </a:r>
            <a:r>
              <a:rPr lang="zh-CN" altLang="en-US" sz="2400" dirty="0">
                <a:solidFill>
                  <a:srgbClr val="FF0000"/>
                </a:solidFill>
              </a:rPr>
              <a:t>；</a:t>
            </a:r>
            <a:endParaRPr lang="zh-CN" altLang="en-US" sz="2400" dirty="0">
              <a:solidFill>
                <a:srgbClr val="000099"/>
              </a:solidFill>
            </a:endParaRPr>
          </a:p>
          <a:p>
            <a:pPr algn="l" eaLnBrk="1" hangingPunct="1"/>
            <a:r>
              <a:rPr lang="zh-CN" altLang="en-US" sz="2400" dirty="0">
                <a:solidFill>
                  <a:srgbClr val="000099"/>
                </a:solidFill>
              </a:rPr>
              <a:t>对于合金钢：</a:t>
            </a:r>
            <a:r>
              <a:rPr lang="en-US" altLang="zh-CN" sz="2400" dirty="0">
                <a:solidFill>
                  <a:srgbClr val="FF0000"/>
                </a:solidFill>
                <a:latin typeface="Symbol" panose="05050102010706020507" pitchFamily="18" charset="2"/>
                <a:sym typeface="Symbol" panose="05050102010706020507" charset="0"/>
              </a:rPr>
              <a:t></a:t>
            </a:r>
            <a:r>
              <a:rPr lang="en-US" altLang="zh-CN" sz="2400" i="1" baseline="-25000" dirty="0">
                <a:solidFill>
                  <a:srgbClr val="FF0000"/>
                </a:solidFill>
                <a:latin typeface="Times New Roman" panose="02020603050405020304" pitchFamily="18" charset="0"/>
              </a:rPr>
              <a:t>σ</a:t>
            </a:r>
            <a:r>
              <a:rPr lang="en-US" altLang="zh-CN" sz="2400" dirty="0">
                <a:solidFill>
                  <a:srgbClr val="FF0000"/>
                </a:solidFill>
                <a:latin typeface="Times New Roman" panose="02020603050405020304" pitchFamily="18" charset="0"/>
              </a:rPr>
              <a:t>≈0.2~0.3</a:t>
            </a:r>
            <a:r>
              <a:rPr lang="zh-CN" altLang="en-US" sz="2400" dirty="0">
                <a:solidFill>
                  <a:srgbClr val="FF0000"/>
                </a:solidFill>
              </a:rPr>
              <a:t>。</a:t>
            </a:r>
            <a:endParaRPr lang="zh-CN" altLang="en-US" sz="2400" dirty="0">
              <a:solidFill>
                <a:srgbClr val="FF0000"/>
              </a:solidFill>
            </a:endParaRPr>
          </a:p>
        </p:txBody>
      </p:sp>
      <p:grpSp>
        <p:nvGrpSpPr>
          <p:cNvPr id="18" name="Group 104"/>
          <p:cNvGrpSpPr/>
          <p:nvPr/>
        </p:nvGrpSpPr>
        <p:grpSpPr bwMode="auto">
          <a:xfrm>
            <a:off x="7327625" y="3748700"/>
            <a:ext cx="1730199" cy="855000"/>
            <a:chOff x="4200" y="2024"/>
            <a:chExt cx="1272" cy="560"/>
          </a:xfrm>
        </p:grpSpPr>
        <p:grpSp>
          <p:nvGrpSpPr>
            <p:cNvPr id="19" name="Group 76"/>
            <p:cNvGrpSpPr/>
            <p:nvPr/>
          </p:nvGrpSpPr>
          <p:grpSpPr bwMode="auto">
            <a:xfrm>
              <a:off x="4200" y="2024"/>
              <a:ext cx="1272" cy="560"/>
              <a:chOff x="472" y="2888"/>
              <a:chExt cx="1272" cy="560"/>
            </a:xfrm>
          </p:grpSpPr>
          <p:sp>
            <p:nvSpPr>
              <p:cNvPr id="21" name="Text Box 72"/>
              <p:cNvSpPr txBox="1">
                <a:spLocks noChangeArrowheads="1"/>
              </p:cNvSpPr>
              <p:nvPr/>
            </p:nvSpPr>
            <p:spPr bwMode="auto">
              <a:xfrm>
                <a:off x="670" y="2888"/>
                <a:ext cx="1074"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0" dirty="0">
                    <a:solidFill>
                      <a:srgbClr val="CC0000"/>
                    </a:solidFill>
                    <a:latin typeface="Tahoma" panose="020B0604030504040204" pitchFamily="34" charset="0"/>
                  </a:rPr>
                  <a:t>屈服极限线</a:t>
                </a:r>
                <a:endParaRPr lang="zh-CN" altLang="en-US" sz="1800" b="0" dirty="0">
                  <a:solidFill>
                    <a:srgbClr val="CC0000"/>
                  </a:solidFill>
                  <a:latin typeface="Tahoma" panose="020B0604030504040204" pitchFamily="34" charset="0"/>
                </a:endParaRPr>
              </a:p>
            </p:txBody>
          </p:sp>
          <p:sp>
            <p:nvSpPr>
              <p:cNvPr id="22" name="Line 74"/>
              <p:cNvSpPr>
                <a:spLocks noChangeShapeType="1"/>
              </p:cNvSpPr>
              <p:nvPr/>
            </p:nvSpPr>
            <p:spPr bwMode="auto">
              <a:xfrm flipV="1">
                <a:off x="472" y="3212"/>
                <a:ext cx="265" cy="2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20" name="Object 94"/>
            <p:cNvGraphicFramePr>
              <a:graphicFrameLocks noChangeAspect="1"/>
            </p:cNvGraphicFramePr>
            <p:nvPr/>
          </p:nvGraphicFramePr>
          <p:xfrm>
            <a:off x="4465" y="2230"/>
            <a:ext cx="934" cy="241"/>
          </p:xfrm>
          <a:graphic>
            <a:graphicData uri="http://schemas.openxmlformats.org/presentationml/2006/ole">
              <mc:AlternateContent xmlns:mc="http://schemas.openxmlformats.org/markup-compatibility/2006">
                <mc:Choice xmlns:v="urn:schemas-microsoft-com:vml" Requires="v">
                  <p:oleObj spid="_x0000_s7" name="公式" r:id="rId12" imgW="876300" imgH="190500" progId="Equation.3">
                    <p:embed/>
                  </p:oleObj>
                </mc:Choice>
                <mc:Fallback>
                  <p:oleObj name="公式" r:id="rId12" imgW="876300" imgH="190500" progId="Equation.3">
                    <p:embed/>
                    <p:pic>
                      <p:nvPicPr>
                        <p:cNvPr id="0" name="图片 330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65" y="2230"/>
                          <a:ext cx="934" cy="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3" name="Group 75"/>
          <p:cNvGrpSpPr/>
          <p:nvPr/>
        </p:nvGrpSpPr>
        <p:grpSpPr bwMode="auto">
          <a:xfrm>
            <a:off x="5967000" y="2889000"/>
            <a:ext cx="1845000" cy="1236300"/>
            <a:chOff x="3208" y="1824"/>
            <a:chExt cx="1384" cy="552"/>
          </a:xfrm>
        </p:grpSpPr>
        <p:sp>
          <p:nvSpPr>
            <p:cNvPr id="24" name="Text Box 71"/>
            <p:cNvSpPr txBox="1">
              <a:spLocks noChangeArrowheads="1"/>
            </p:cNvSpPr>
            <p:nvPr/>
          </p:nvSpPr>
          <p:spPr bwMode="auto">
            <a:xfrm>
              <a:off x="3552" y="1824"/>
              <a:ext cx="104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800" b="0" dirty="0">
                  <a:solidFill>
                    <a:srgbClr val="CC0000"/>
                  </a:solidFill>
                  <a:latin typeface="Tahoma" panose="020B0604030504040204" pitchFamily="34" charset="0"/>
                </a:rPr>
                <a:t>疲劳极限线</a:t>
              </a:r>
              <a:endParaRPr lang="zh-CN" altLang="en-US" sz="1800" b="0" dirty="0">
                <a:solidFill>
                  <a:srgbClr val="CC0000"/>
                </a:solidFill>
                <a:latin typeface="Tahoma" panose="020B0604030504040204" pitchFamily="34" charset="0"/>
              </a:endParaRPr>
            </a:p>
          </p:txBody>
        </p:sp>
        <p:sp>
          <p:nvSpPr>
            <p:cNvPr id="25" name="Line 73"/>
            <p:cNvSpPr>
              <a:spLocks noChangeShapeType="1"/>
            </p:cNvSpPr>
            <p:nvPr/>
          </p:nvSpPr>
          <p:spPr bwMode="auto">
            <a:xfrm flipV="1">
              <a:off x="3208" y="2032"/>
              <a:ext cx="384" cy="34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8" name="对象 7">
            <a:hlinkClick r:id="" action="ppaction://ole?verb=0"/>
          </p:cNvPr>
          <p:cNvGraphicFramePr>
            <a:graphicFrameLocks noChangeAspect="1"/>
          </p:cNvGraphicFramePr>
          <p:nvPr/>
        </p:nvGraphicFramePr>
        <p:xfrm>
          <a:off x="6496685" y="5534025"/>
          <a:ext cx="459740" cy="505460"/>
        </p:xfrm>
        <a:graphic>
          <a:graphicData uri="http://schemas.openxmlformats.org/presentationml/2006/ole">
            <mc:AlternateContent xmlns:mc="http://schemas.openxmlformats.org/markup-compatibility/2006">
              <mc:Choice xmlns:v="urn:schemas-microsoft-com:vml" Requires="v">
                <p:oleObj spid="_x0000_s9" name="" r:id="rId14" imgW="190500" imgH="228600" progId="Equation.KSEE3">
                  <p:embed/>
                </p:oleObj>
              </mc:Choice>
              <mc:Fallback>
                <p:oleObj name="" r:id="rId14" imgW="190500" imgH="228600" progId="Equation.KSEE3">
                  <p:embed/>
                  <p:pic>
                    <p:nvPicPr>
                      <p:cNvPr id="0" name="图片 1024"/>
                      <p:cNvPicPr/>
                      <p:nvPr/>
                    </p:nvPicPr>
                    <p:blipFill>
                      <a:blip r:embed="rId15"/>
                      <a:stretch>
                        <a:fillRect/>
                      </a:stretch>
                    </p:blipFill>
                    <p:spPr>
                      <a:xfrm>
                        <a:off x="6496685" y="5534025"/>
                        <a:ext cx="459740" cy="505460"/>
                      </a:xfrm>
                      <a:prstGeom prst="rect">
                        <a:avLst/>
                      </a:prstGeom>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20"/>
                                        </p:tgtEl>
                                        <p:attrNameLst>
                                          <p:attrName>style.visibility</p:attrName>
                                        </p:attrNameLst>
                                      </p:cBhvr>
                                      <p:to>
                                        <p:strVal val="visible"/>
                                      </p:to>
                                    </p:set>
                                    <p:animEffect transition="in" filter="wipe(left)">
                                      <p:cBhvr>
                                        <p:cTn id="7" dur="500"/>
                                        <p:tgtEl>
                                          <p:spTgt spid="256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21"/>
                                        </p:tgtEl>
                                        <p:attrNameLst>
                                          <p:attrName>style.visibility</p:attrName>
                                        </p:attrNameLst>
                                      </p:cBhvr>
                                      <p:to>
                                        <p:strVal val="visible"/>
                                      </p:to>
                                    </p:set>
                                    <p:animEffect transition="in" filter="wipe(left)">
                                      <p:cBhvr>
                                        <p:cTn id="17" dur="500"/>
                                        <p:tgtEl>
                                          <p:spTgt spid="25621"/>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25622"/>
                                        </p:tgtEl>
                                        <p:attrNameLst>
                                          <p:attrName>style.visibility</p:attrName>
                                        </p:attrNameLst>
                                      </p:cBhvr>
                                      <p:to>
                                        <p:strVal val="visible"/>
                                      </p:to>
                                    </p:set>
                                    <p:animEffect transition="in" filter="wipe(left)">
                                      <p:cBhvr>
                                        <p:cTn id="21" dur="500"/>
                                        <p:tgtEl>
                                          <p:spTgt spid="2562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5624"/>
                                        </p:tgtEl>
                                        <p:attrNameLst>
                                          <p:attrName>style.visibility</p:attrName>
                                        </p:attrNameLst>
                                      </p:cBhvr>
                                      <p:to>
                                        <p:strVal val="visible"/>
                                      </p:to>
                                    </p:set>
                                    <p:animEffect transition="in" filter="wipe(left)">
                                      <p:cBhvr>
                                        <p:cTn id="31" dur="500"/>
                                        <p:tgtEl>
                                          <p:spTgt spid="25624"/>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5623"/>
                                        </p:tgtEl>
                                        <p:attrNameLst>
                                          <p:attrName>style.visibility</p:attrName>
                                        </p:attrNameLst>
                                      </p:cBhvr>
                                      <p:to>
                                        <p:strVal val="visible"/>
                                      </p:to>
                                    </p:set>
                                    <p:animEffect transition="in" filter="wipe(left)">
                                      <p:cBhvr>
                                        <p:cTn id="35" dur="500"/>
                                        <p:tgtEl>
                                          <p:spTgt spid="2562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5626"/>
                                        </p:tgtEl>
                                        <p:attrNameLst>
                                          <p:attrName>style.visibility</p:attrName>
                                        </p:attrNameLst>
                                      </p:cBhvr>
                                      <p:to>
                                        <p:strVal val="visible"/>
                                      </p:to>
                                    </p:set>
                                    <p:animEffect transition="in" filter="wipe(left)">
                                      <p:cBhvr>
                                        <p:cTn id="40" dur="500"/>
                                        <p:tgtEl>
                                          <p:spTgt spid="25626"/>
                                        </p:tgtEl>
                                      </p:cBhvr>
                                    </p:animEffect>
                                  </p:childTnLst>
                                </p:cTn>
                              </p:par>
                            </p:childTnLst>
                          </p:cTn>
                        </p:par>
                        <p:par>
                          <p:cTn id="41" fill="hold">
                            <p:stCondLst>
                              <p:cond delay="500"/>
                            </p:stCondLst>
                            <p:childTnLst>
                              <p:par>
                                <p:cTn id="42" presetID="22" presetClass="entr" presetSubtype="1" fill="hold" nodeType="afterEffect">
                                  <p:stCondLst>
                                    <p:cond delay="0"/>
                                  </p:stCondLst>
                                  <p:childTnLst>
                                    <p:set>
                                      <p:cBhvr>
                                        <p:cTn id="43" dur="1" fill="hold">
                                          <p:stCondLst>
                                            <p:cond delay="0"/>
                                          </p:stCondLst>
                                        </p:cTn>
                                        <p:tgtEl>
                                          <p:spTgt spid="25625"/>
                                        </p:tgtEl>
                                        <p:attrNameLst>
                                          <p:attrName>style.visibility</p:attrName>
                                        </p:attrNameLst>
                                      </p:cBhvr>
                                      <p:to>
                                        <p:strVal val="visible"/>
                                      </p:to>
                                    </p:set>
                                    <p:animEffect transition="in" filter="wipe(up)">
                                      <p:cBhvr>
                                        <p:cTn id="44" dur="500"/>
                                        <p:tgtEl>
                                          <p:spTgt spid="2562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5633"/>
                                        </p:tgtEl>
                                        <p:attrNameLst>
                                          <p:attrName>style.visibility</p:attrName>
                                        </p:attrNameLst>
                                      </p:cBhvr>
                                      <p:to>
                                        <p:strVal val="visible"/>
                                      </p:to>
                                    </p:set>
                                    <p:animEffect transition="in" filter="wipe(left)">
                                      <p:cBhvr>
                                        <p:cTn id="49" dur="500"/>
                                        <p:tgtEl>
                                          <p:spTgt spid="25633"/>
                                        </p:tgtEl>
                                      </p:cBhvr>
                                    </p:animEffect>
                                  </p:childTnLst>
                                </p:cTn>
                              </p:par>
                            </p:childTnLst>
                          </p:cTn>
                        </p:par>
                        <p:par>
                          <p:cTn id="50" fill="hold">
                            <p:stCondLst>
                              <p:cond delay="500"/>
                            </p:stCondLst>
                            <p:childTnLst>
                              <p:par>
                                <p:cTn id="51" presetID="1" presetClass="entr" presetSubtype="0" fill="hold" nodeType="afterEffect">
                                  <p:stCondLst>
                                    <p:cond delay="0"/>
                                  </p:stCondLst>
                                  <p:childTnLst>
                                    <p:set>
                                      <p:cBhvr>
                                        <p:cTn id="52" dur="1" fill="hold">
                                          <p:stCondLst>
                                            <p:cond delay="499"/>
                                          </p:stCondLst>
                                        </p:cTn>
                                        <p:tgtEl>
                                          <p:spTgt spid="25615"/>
                                        </p:tgtEl>
                                        <p:attrNameLst>
                                          <p:attrName>style.visibility</p:attrName>
                                        </p:attrNameLst>
                                      </p:cBhvr>
                                      <p:to>
                                        <p:strVal val="visible"/>
                                      </p:to>
                                    </p:set>
                                  </p:childTnLst>
                                </p:cTn>
                              </p:par>
                            </p:childTnLst>
                          </p:cTn>
                        </p:par>
                        <p:par>
                          <p:cTn id="53" fill="hold">
                            <p:stCondLst>
                              <p:cond delay="1000"/>
                            </p:stCondLst>
                            <p:childTnLst>
                              <p:par>
                                <p:cTn id="54" presetID="2" presetClass="entr" presetSubtype="8" fill="hold" nodeType="afterEffect">
                                  <p:stCondLst>
                                    <p:cond delay="0"/>
                                  </p:stCondLst>
                                  <p:childTnLst>
                                    <p:set>
                                      <p:cBhvr>
                                        <p:cTn id="55" dur="1" fill="hold">
                                          <p:stCondLst>
                                            <p:cond delay="0"/>
                                          </p:stCondLst>
                                        </p:cTn>
                                        <p:tgtEl>
                                          <p:spTgt spid="25614"/>
                                        </p:tgtEl>
                                        <p:attrNameLst>
                                          <p:attrName>style.visibility</p:attrName>
                                        </p:attrNameLst>
                                      </p:cBhvr>
                                      <p:to>
                                        <p:strVal val="visible"/>
                                      </p:to>
                                    </p:set>
                                    <p:anim calcmode="lin" valueType="num">
                                      <p:cBhvr additive="base">
                                        <p:cTn id="56" dur="500" fill="hold"/>
                                        <p:tgtEl>
                                          <p:spTgt spid="25614"/>
                                        </p:tgtEl>
                                        <p:attrNameLst>
                                          <p:attrName>ppt_x</p:attrName>
                                        </p:attrNameLst>
                                      </p:cBhvr>
                                      <p:tavLst>
                                        <p:tav tm="0">
                                          <p:val>
                                            <p:strVal val="0-#ppt_w/2"/>
                                          </p:val>
                                        </p:tav>
                                        <p:tav tm="100000">
                                          <p:val>
                                            <p:strVal val="#ppt_x"/>
                                          </p:val>
                                        </p:tav>
                                      </p:tavLst>
                                    </p:anim>
                                    <p:anim calcmode="lin" valueType="num">
                                      <p:cBhvr additive="base">
                                        <p:cTn id="57" dur="500" fill="hold"/>
                                        <p:tgtEl>
                                          <p:spTgt spid="256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20" grpId="0" autoUpdateAnimBg="0"/>
      <p:bldP spid="25621" grpId="0" autoUpdateAnimBg="0"/>
      <p:bldP spid="25624" grpId="0" autoUpdateAnimBg="0"/>
      <p:bldP spid="25626" grpId="0" autoUpdateAnimBg="0"/>
      <p:bldP spid="25633"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01" name="Rectangle 17"/>
          <p:cNvSpPr>
            <a:spLocks noChangeArrowheads="1"/>
          </p:cNvSpPr>
          <p:nvPr/>
        </p:nvSpPr>
        <p:spPr bwMode="auto">
          <a:xfrm>
            <a:off x="207010" y="5498148"/>
            <a:ext cx="8534400"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降低应力集中可提高零件的疲劳强度。具体措施包括减缓零件几何尺寸的突然变化、增大过渡圆角半径、增加卸载结构等。</a:t>
            </a:r>
            <a:endParaRPr lang="zh-CN" altLang="en-US" sz="2000" dirty="0">
              <a:solidFill>
                <a:srgbClr val="000099"/>
              </a:solidFill>
              <a:latin typeface="Times New Roman" panose="02020603050405020304" pitchFamily="18" charset="0"/>
            </a:endParaRPr>
          </a:p>
        </p:txBody>
      </p:sp>
      <p:sp>
        <p:nvSpPr>
          <p:cNvPr id="5134" name="Rectangle 18"/>
          <p:cNvSpPr>
            <a:spLocks noChangeArrowheads="1"/>
          </p:cNvSpPr>
          <p:nvPr/>
        </p:nvSpPr>
        <p:spPr bwMode="auto">
          <a:xfrm>
            <a:off x="521960" y="1950605"/>
            <a:ext cx="8458200"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latin typeface="Times New Roman" panose="02020603050405020304" pitchFamily="18" charset="0"/>
              </a:rPr>
              <a:t>       若把零件看作理想的弹性体，当零件受载时在几何形状突然变化处</a:t>
            </a:r>
            <a:r>
              <a:rPr lang="en-US" altLang="en-US" sz="2000" dirty="0">
                <a:solidFill>
                  <a:srgbClr val="000099"/>
                </a:solidFill>
                <a:latin typeface="Times New Roman" panose="02020603050405020304" pitchFamily="18" charset="0"/>
              </a:rPr>
              <a:t>(</a:t>
            </a:r>
            <a:r>
              <a:rPr lang="zh-CN" altLang="en-US" sz="2000" dirty="0">
                <a:solidFill>
                  <a:srgbClr val="000099"/>
                </a:solidFill>
                <a:latin typeface="Times New Roman" panose="02020603050405020304" pitchFamily="18" charset="0"/>
              </a:rPr>
              <a:t>如圆角、孔、凹槽等</a:t>
            </a:r>
            <a:r>
              <a:rPr lang="en-US" altLang="en-US" sz="2000" dirty="0">
                <a:solidFill>
                  <a:srgbClr val="000099"/>
                </a:solidFill>
                <a:latin typeface="Times New Roman" panose="02020603050405020304" pitchFamily="18" charset="0"/>
              </a:rPr>
              <a:t>)</a:t>
            </a:r>
            <a:r>
              <a:rPr lang="zh-CN" altLang="en-US" sz="2000" dirty="0">
                <a:solidFill>
                  <a:srgbClr val="000099"/>
                </a:solidFill>
                <a:latin typeface="Times New Roman" panose="02020603050405020304" pitchFamily="18" charset="0"/>
              </a:rPr>
              <a:t>，要产生应力集中，常用</a:t>
            </a:r>
            <a:r>
              <a:rPr lang="zh-CN" altLang="en-US" sz="2000" dirty="0">
                <a:solidFill>
                  <a:srgbClr val="FF0000"/>
                </a:solidFill>
                <a:latin typeface="Times New Roman" panose="02020603050405020304" pitchFamily="18" charset="0"/>
              </a:rPr>
              <a:t>有效应力集中系数</a:t>
            </a:r>
            <a:r>
              <a:rPr lang="en-US" altLang="zh-CN" sz="2000" i="1" dirty="0" err="1">
                <a:solidFill>
                  <a:srgbClr val="FF0000"/>
                </a:solidFill>
                <a:latin typeface="Times New Roman" panose="02020603050405020304" pitchFamily="18" charset="0"/>
                <a:cs typeface="Times New Roman" panose="02020603050405020304" pitchFamily="18" charset="0"/>
              </a:rPr>
              <a:t>k</a:t>
            </a:r>
            <a:r>
              <a:rPr lang="en-US" altLang="zh-CN" sz="2000" i="1" baseline="-25000" dirty="0" err="1">
                <a:solidFill>
                  <a:srgbClr val="FF0000"/>
                </a:solidFill>
                <a:latin typeface="Times New Roman" panose="02020603050405020304" pitchFamily="18" charset="0"/>
              </a:rPr>
              <a:t>σ</a:t>
            </a:r>
            <a:r>
              <a:rPr lang="zh-CN" altLang="en-US" sz="2000" dirty="0">
                <a:solidFill>
                  <a:srgbClr val="000099"/>
                </a:solidFill>
                <a:latin typeface="Times New Roman" panose="02020603050405020304" pitchFamily="18" charset="0"/>
              </a:rPr>
              <a:t>考虑应力集中对疲劳强度的影响即</a:t>
            </a:r>
            <a:r>
              <a:rPr lang="en-US" altLang="zh-CN" sz="2000" dirty="0">
                <a:solidFill>
                  <a:srgbClr val="000099"/>
                </a:solidFill>
                <a:latin typeface="Times New Roman" panose="02020603050405020304" pitchFamily="18" charset="0"/>
              </a:rPr>
              <a:t>:</a:t>
            </a:r>
            <a:endParaRPr lang="en-US" altLang="zh-CN" sz="2000" dirty="0">
              <a:solidFill>
                <a:srgbClr val="000099"/>
              </a:solidFill>
              <a:latin typeface="Times New Roman" panose="02020603050405020304" pitchFamily="18" charset="0"/>
            </a:endParaRPr>
          </a:p>
        </p:txBody>
      </p:sp>
      <p:sp>
        <p:nvSpPr>
          <p:cNvPr id="67604" name="Rectangle 20"/>
          <p:cNvSpPr>
            <a:spLocks noChangeArrowheads="1"/>
          </p:cNvSpPr>
          <p:nvPr/>
        </p:nvSpPr>
        <p:spPr bwMode="auto">
          <a:xfrm>
            <a:off x="747395" y="4104005"/>
            <a:ext cx="7715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i="1" dirty="0">
                <a:solidFill>
                  <a:srgbClr val="FF0000"/>
                </a:solidFill>
                <a:latin typeface="Times New Roman" panose="02020603050405020304" pitchFamily="18" charset="0"/>
              </a:rPr>
              <a:t>α</a:t>
            </a:r>
            <a:r>
              <a:rPr lang="en-US" altLang="zh-CN" sz="2000" i="1" baseline="-25000" dirty="0">
                <a:solidFill>
                  <a:srgbClr val="FF0000"/>
                </a:solidFill>
                <a:latin typeface="Times New Roman" panose="02020603050405020304" pitchFamily="18" charset="0"/>
              </a:rPr>
              <a:t>σ</a:t>
            </a:r>
            <a:r>
              <a:rPr lang="en-US" altLang="zh-CN" sz="2000" i="1" baseline="-25000" dirty="0">
                <a:solidFill>
                  <a:srgbClr val="000099"/>
                </a:solidFill>
                <a:latin typeface="Times New Roman" panose="02020603050405020304" pitchFamily="18" charset="0"/>
              </a:rPr>
              <a:t>  </a:t>
            </a:r>
            <a:r>
              <a:rPr lang="en-US" altLang="en-US" sz="2000" dirty="0" err="1">
                <a:solidFill>
                  <a:srgbClr val="000099"/>
                </a:solidFill>
                <a:latin typeface="Times New Roman" panose="02020603050405020304" pitchFamily="18" charset="0"/>
              </a:rPr>
              <a:t>为考虑零件几何形状的理论应力集中系数</a:t>
            </a:r>
            <a:r>
              <a:rPr lang="zh-CN" altLang="en-US" sz="2000" dirty="0">
                <a:solidFill>
                  <a:srgbClr val="000099"/>
                </a:solidFill>
                <a:latin typeface="Times New Roman" panose="02020603050405020304" pitchFamily="18" charset="0"/>
              </a:rPr>
              <a:t>，</a:t>
            </a:r>
            <a:r>
              <a:rPr lang="en-US" altLang="zh-CN" sz="2000" i="1" dirty="0" err="1">
                <a:solidFill>
                  <a:srgbClr val="FF0000"/>
                </a:solidFill>
                <a:latin typeface="Times New Roman" panose="02020603050405020304" pitchFamily="18" charset="0"/>
              </a:rPr>
              <a:t>q</a:t>
            </a:r>
            <a:r>
              <a:rPr lang="zh-CN" altLang="en-US" sz="2000" dirty="0">
                <a:solidFill>
                  <a:srgbClr val="000099"/>
                </a:solidFill>
                <a:latin typeface="Times New Roman" panose="02020603050405020304" pitchFamily="18" charset="0"/>
              </a:rPr>
              <a:t>为材料的敏感系数。</a:t>
            </a:r>
            <a:endParaRPr lang="zh-CN" altLang="en-US" sz="2000" dirty="0">
              <a:solidFill>
                <a:srgbClr val="000099"/>
              </a:solidFill>
              <a:latin typeface="Times New Roman" panose="02020603050405020304" pitchFamily="18" charset="0"/>
            </a:endParaRPr>
          </a:p>
        </p:txBody>
      </p:sp>
      <p:sp>
        <p:nvSpPr>
          <p:cNvPr id="5128" name="Text Box 28"/>
          <p:cNvSpPr txBox="1">
            <a:spLocks noChangeArrowheads="1"/>
          </p:cNvSpPr>
          <p:nvPr/>
        </p:nvSpPr>
        <p:spPr bwMode="auto">
          <a:xfrm>
            <a:off x="6538913" y="62341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6" name="Rectangle 4"/>
          <p:cNvSpPr>
            <a:spLocks noChangeArrowheads="1"/>
          </p:cNvSpPr>
          <p:nvPr/>
        </p:nvSpPr>
        <p:spPr bwMode="auto">
          <a:xfrm>
            <a:off x="387000" y="1314000"/>
            <a:ext cx="26212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400" dirty="0">
                <a:solidFill>
                  <a:srgbClr val="0000FF"/>
                </a:solidFill>
                <a:latin typeface="黑体" panose="02010609060101010101" pitchFamily="49" charset="-122"/>
                <a:ea typeface="黑体" panose="02010609060101010101" pitchFamily="49" charset="-122"/>
              </a:rPr>
              <a:t>2.</a:t>
            </a:r>
            <a:r>
              <a:rPr lang="zh-CN" altLang="en-US" sz="2400" dirty="0">
                <a:solidFill>
                  <a:srgbClr val="0000FF"/>
                </a:solidFill>
                <a:latin typeface="黑体" panose="02010609060101010101" pitchFamily="49" charset="-122"/>
                <a:ea typeface="黑体" panose="02010609060101010101" pitchFamily="49" charset="-122"/>
              </a:rPr>
              <a:t>应力集中的影响</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513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5133"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33799" name="Object 7"/>
          <p:cNvGraphicFramePr>
            <a:graphicFrameLocks noChangeAspect="1"/>
          </p:cNvGraphicFramePr>
          <p:nvPr/>
        </p:nvGraphicFramePr>
        <p:xfrm>
          <a:off x="2727325" y="3338830"/>
          <a:ext cx="2433320" cy="520065"/>
        </p:xfrm>
        <a:graphic>
          <a:graphicData uri="http://schemas.openxmlformats.org/presentationml/2006/ole">
            <mc:AlternateContent xmlns:mc="http://schemas.openxmlformats.org/markup-compatibility/2006">
              <mc:Choice xmlns:v="urn:schemas-microsoft-com:vml" Requires="v">
                <p:oleObj spid="_x0000_s2" name="公式" r:id="rId1" imgW="1066800" imgH="228600" progId="Equation.3">
                  <p:embed/>
                </p:oleObj>
              </mc:Choice>
              <mc:Fallback>
                <p:oleObj name="公式" r:id="rId1" imgW="1066800" imgH="228600" progId="Equation.3">
                  <p:embed/>
                  <p:pic>
                    <p:nvPicPr>
                      <p:cNvPr id="0" name="Picture 35"/>
                      <p:cNvPicPr>
                        <a:picLocks noChangeAspect="1" noChangeArrowheads="1"/>
                      </p:cNvPicPr>
                      <p:nvPr/>
                    </p:nvPicPr>
                    <p:blipFill>
                      <a:blip r:embed="rId2"/>
                      <a:srcRect/>
                      <a:stretch>
                        <a:fillRect/>
                      </a:stretch>
                    </p:blipFill>
                    <p:spPr bwMode="auto">
                      <a:xfrm>
                        <a:off x="2727325" y="3338830"/>
                        <a:ext cx="2433320" cy="520065"/>
                      </a:xfrm>
                      <a:prstGeom prst="rect">
                        <a:avLst/>
                      </a:prstGeom>
                      <a:solidFill>
                        <a:srgbClr val="00B0F0"/>
                      </a:solidFill>
                    </p:spPr>
                  </p:pic>
                </p:oleObj>
              </mc:Fallback>
            </mc:AlternateContent>
          </a:graphicData>
        </a:graphic>
      </p:graphicFrame>
      <p:sp>
        <p:nvSpPr>
          <p:cNvPr id="17" name="Rectangle 21"/>
          <p:cNvSpPr>
            <a:spLocks noChangeArrowheads="1"/>
          </p:cNvSpPr>
          <p:nvPr/>
        </p:nvSpPr>
        <p:spPr bwMode="auto">
          <a:xfrm>
            <a:off x="1596390" y="144145"/>
            <a:ext cx="725106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1.3-3 </a:t>
            </a:r>
            <a:r>
              <a:rPr lang="zh-CN" altLang="en-US" sz="3000" dirty="0">
                <a:solidFill>
                  <a:srgbClr val="CC3300"/>
                </a:solidFill>
                <a:latin typeface="黑体" panose="02010609060101010101" pitchFamily="49" charset="-122"/>
                <a:ea typeface="黑体" panose="02010609060101010101" pitchFamily="49" charset="-122"/>
              </a:rPr>
              <a:t>影响零件疲劳强度的主要因素</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8" name="直接连接符 6"/>
          <p:cNvSpPr>
            <a:spLocks noChangeShapeType="1"/>
          </p:cNvSpPr>
          <p:nvPr/>
        </p:nvSpPr>
        <p:spPr bwMode="auto">
          <a:xfrm>
            <a:off x="0" y="729000"/>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Rectangle 4"/>
          <p:cNvSpPr>
            <a:spLocks noChangeArrowheads="1"/>
          </p:cNvSpPr>
          <p:nvPr/>
        </p:nvSpPr>
        <p:spPr bwMode="auto">
          <a:xfrm>
            <a:off x="343185" y="806635"/>
            <a:ext cx="26212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400" dirty="0">
                <a:solidFill>
                  <a:srgbClr val="0000FF"/>
                </a:solidFill>
                <a:latin typeface="黑体" panose="02010609060101010101" pitchFamily="49" charset="-122"/>
                <a:ea typeface="黑体" panose="02010609060101010101" pitchFamily="49" charset="-122"/>
              </a:rPr>
              <a:t>1.</a:t>
            </a:r>
            <a:r>
              <a:rPr lang="zh-CN" altLang="en-US" sz="2400" dirty="0">
                <a:solidFill>
                  <a:srgbClr val="0000FF"/>
                </a:solidFill>
                <a:latin typeface="黑体" panose="02010609060101010101" pitchFamily="49" charset="-122"/>
                <a:ea typeface="黑体" panose="02010609060101010101" pitchFamily="49" charset="-122"/>
              </a:rPr>
              <a:t>屈服强度的影响</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4" name="文本框 3"/>
          <p:cNvSpPr txBox="1"/>
          <p:nvPr/>
        </p:nvSpPr>
        <p:spPr>
          <a:xfrm>
            <a:off x="747395" y="4823460"/>
            <a:ext cx="3700145" cy="398780"/>
          </a:xfrm>
          <a:prstGeom prst="rect">
            <a:avLst/>
          </a:prstGeom>
          <a:noFill/>
          <a:ln>
            <a:solidFill>
              <a:srgbClr val="00B050"/>
            </a:solidFill>
          </a:ln>
        </p:spPr>
        <p:txBody>
          <a:bodyPr wrap="square" rtlCol="0">
            <a:spAutoFit/>
          </a:bodyPr>
          <a:lstStyle/>
          <a:p>
            <a:r>
              <a:rPr lang="zh-CN" altLang="en-US" sz="2000"/>
              <a:t>各参数选取见教材</a:t>
            </a:r>
            <a:r>
              <a:rPr lang="en-US" altLang="zh-CN" sz="2000"/>
              <a:t>P38~P44</a:t>
            </a:r>
            <a:endParaRPr lang="en-US" altLang="zh-CN" sz="2000"/>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1"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childTnLst>
                          </p:cTn>
                        </p:par>
                        <p:par>
                          <p:cTn id="12" fill="hold">
                            <p:stCondLst>
                              <p:cond delay="0"/>
                            </p:stCondLst>
                            <p:childTnLst>
                              <p:par>
                                <p:cTn id="13" presetID="22" presetClass="entr" presetSubtype="8"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13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379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760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76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01" grpId="0"/>
      <p:bldP spid="5134" grpId="0"/>
      <p:bldP spid="67604" grpId="0"/>
      <p:bldP spid="16" grpId="0" autoUpdateAnimBg="0"/>
      <p:bldP spid="16" grpId="1"/>
      <p:bldP spid="3" grpId="0" bldLvl="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8" name="Text Box 28"/>
          <p:cNvSpPr txBox="1">
            <a:spLocks noChangeArrowheads="1"/>
          </p:cNvSpPr>
          <p:nvPr/>
        </p:nvSpPr>
        <p:spPr bwMode="auto">
          <a:xfrm>
            <a:off x="6538913" y="62341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67614" name="Picture 30"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16" name="Picture 32"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3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5133"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22" name="Rectangle 4"/>
          <p:cNvSpPr>
            <a:spLocks noChangeArrowheads="1"/>
          </p:cNvSpPr>
          <p:nvPr/>
        </p:nvSpPr>
        <p:spPr bwMode="auto">
          <a:xfrm>
            <a:off x="386715" y="998538"/>
            <a:ext cx="35356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400" dirty="0">
                <a:solidFill>
                  <a:srgbClr val="0000FF"/>
                </a:solidFill>
                <a:latin typeface="黑体" panose="02010609060101010101" pitchFamily="49" charset="-122"/>
                <a:ea typeface="黑体" panose="02010609060101010101" pitchFamily="49" charset="-122"/>
              </a:rPr>
              <a:t>3.</a:t>
            </a:r>
            <a:r>
              <a:rPr lang="zh-CN" altLang="en-US" sz="2400" dirty="0">
                <a:solidFill>
                  <a:srgbClr val="0000FF"/>
                </a:solidFill>
                <a:latin typeface="黑体" panose="02010609060101010101" pitchFamily="49" charset="-122"/>
                <a:ea typeface="黑体" panose="02010609060101010101" pitchFamily="49" charset="-122"/>
              </a:rPr>
              <a:t>尺寸及截面形状的影响</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33803" name="Rectangle 11"/>
          <p:cNvSpPr>
            <a:spLocks noChangeArrowheads="1"/>
          </p:cNvSpPr>
          <p:nvPr/>
        </p:nvSpPr>
        <p:spPr bwMode="auto">
          <a:xfrm>
            <a:off x="386450" y="1583380"/>
            <a:ext cx="8550000" cy="1248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nSpc>
                <a:spcPct val="125000"/>
              </a:lnSpc>
            </a:pPr>
            <a:r>
              <a:rPr lang="zh-CN" altLang="en-US" sz="2000" dirty="0">
                <a:solidFill>
                  <a:srgbClr val="000099"/>
                </a:solidFill>
                <a:latin typeface="Times New Roman" panose="02020603050405020304" pitchFamily="18" charset="0"/>
              </a:rPr>
              <a:t>       零件尺寸的大小及截面形状对疲劳强度的影响可以用</a:t>
            </a:r>
            <a:r>
              <a:rPr lang="zh-CN" altLang="en-US" sz="2000" dirty="0">
                <a:solidFill>
                  <a:srgbClr val="FF0000"/>
                </a:solidFill>
                <a:latin typeface="Times New Roman" panose="02020603050405020304" pitchFamily="18" charset="0"/>
              </a:rPr>
              <a:t>尺寸及截面形状系数</a:t>
            </a:r>
            <a:r>
              <a:rPr lang="en-US" altLang="zh-CN" sz="2000" i="1" dirty="0" err="1">
                <a:solidFill>
                  <a:srgbClr val="FF0000"/>
                </a:solidFill>
                <a:latin typeface="Times New Roman" panose="02020603050405020304" pitchFamily="18" charset="0"/>
              </a:rPr>
              <a:t>ε</a:t>
            </a:r>
            <a:r>
              <a:rPr lang="en-US" altLang="zh-CN" sz="2000" i="1" baseline="-25000" dirty="0" err="1">
                <a:solidFill>
                  <a:srgbClr val="FF0000"/>
                </a:solidFill>
                <a:latin typeface="Times New Roman" panose="02020603050405020304" pitchFamily="18" charset="0"/>
              </a:rPr>
              <a:t>σ</a:t>
            </a:r>
            <a:r>
              <a:rPr lang="zh-CN" altLang="en-US" sz="2000" dirty="0">
                <a:solidFill>
                  <a:srgbClr val="000099"/>
                </a:solidFill>
                <a:latin typeface="Times New Roman" panose="02020603050405020304" pitchFamily="18" charset="0"/>
              </a:rPr>
              <a:t>来表示。当其他条件相同时，尺寸越大，对零件疲劳强度的不良影响越显著。 </a:t>
            </a:r>
            <a:endParaRPr lang="zh-CN" altLang="en-US" sz="2000" dirty="0">
              <a:solidFill>
                <a:srgbClr val="000099"/>
              </a:solidFill>
              <a:latin typeface="Times New Roman" panose="02020603050405020304" pitchFamily="18" charset="0"/>
            </a:endParaRPr>
          </a:p>
        </p:txBody>
      </p:sp>
      <p:sp>
        <p:nvSpPr>
          <p:cNvPr id="17" name="Rectangle 21"/>
          <p:cNvSpPr>
            <a:spLocks noChangeArrowheads="1"/>
          </p:cNvSpPr>
          <p:nvPr/>
        </p:nvSpPr>
        <p:spPr bwMode="auto">
          <a:xfrm>
            <a:off x="1596390" y="144145"/>
            <a:ext cx="725106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1.3-3 </a:t>
            </a:r>
            <a:r>
              <a:rPr lang="zh-CN" altLang="en-US" sz="3000" dirty="0">
                <a:solidFill>
                  <a:srgbClr val="CC3300"/>
                </a:solidFill>
                <a:latin typeface="黑体" panose="02010609060101010101" pitchFamily="49" charset="-122"/>
                <a:ea typeface="黑体" panose="02010609060101010101" pitchFamily="49" charset="-122"/>
              </a:rPr>
              <a:t>影响零件疲劳强度的主要因素</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8" name="直接连接符 6"/>
          <p:cNvSpPr>
            <a:spLocks noChangeShapeType="1"/>
          </p:cNvSpPr>
          <p:nvPr/>
        </p:nvSpPr>
        <p:spPr bwMode="auto">
          <a:xfrm>
            <a:off x="0" y="729000"/>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Rectangle 18"/>
          <p:cNvSpPr>
            <a:spLocks noChangeArrowheads="1"/>
          </p:cNvSpPr>
          <p:nvPr/>
        </p:nvSpPr>
        <p:spPr bwMode="auto">
          <a:xfrm>
            <a:off x="319860" y="3608935"/>
            <a:ext cx="8458200" cy="863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latin typeface="Times New Roman" panose="02020603050405020304" pitchFamily="18" charset="0"/>
              </a:rPr>
              <a:t>       零件加工表面质量（主要指表面粗糙度）对疲劳强度的影响可以用</a:t>
            </a:r>
            <a:r>
              <a:rPr lang="zh-CN" altLang="en-US" sz="2000" dirty="0">
                <a:solidFill>
                  <a:srgbClr val="FF0000"/>
                </a:solidFill>
                <a:latin typeface="Times New Roman" panose="02020603050405020304" pitchFamily="18" charset="0"/>
              </a:rPr>
              <a:t>表面质量系数</a:t>
            </a:r>
            <a:r>
              <a:rPr lang="en-US" altLang="zh-CN" sz="2000" i="1" dirty="0">
                <a:solidFill>
                  <a:srgbClr val="FF0000"/>
                </a:solidFill>
                <a:latin typeface="Times New Roman" panose="02020603050405020304" pitchFamily="18" charset="0"/>
              </a:rPr>
              <a:t>β</a:t>
            </a:r>
            <a:r>
              <a:rPr lang="en-US" altLang="zh-CN" sz="2000" i="1" baseline="-25000" dirty="0">
                <a:solidFill>
                  <a:srgbClr val="FF0000"/>
                </a:solidFill>
                <a:latin typeface="Times New Roman" panose="02020603050405020304" pitchFamily="18" charset="0"/>
              </a:rPr>
              <a:t>σ</a:t>
            </a:r>
            <a:r>
              <a:rPr lang="zh-CN" altLang="en-US" sz="2000" dirty="0">
                <a:solidFill>
                  <a:srgbClr val="000099"/>
                </a:solidFill>
                <a:latin typeface="Times New Roman" panose="02020603050405020304" pitchFamily="18" charset="0"/>
              </a:rPr>
              <a:t>来表示，表面愈粗糙，表面状态系数愈低</a:t>
            </a:r>
            <a:r>
              <a:rPr lang="zh-CN" altLang="en-US" sz="2000" dirty="0"/>
              <a:t>。</a:t>
            </a:r>
            <a:endParaRPr lang="zh-CN" altLang="en-US" sz="2000" dirty="0">
              <a:solidFill>
                <a:srgbClr val="000099"/>
              </a:solidFill>
              <a:latin typeface="Times New Roman" panose="02020603050405020304" pitchFamily="18" charset="0"/>
            </a:endParaRPr>
          </a:p>
        </p:txBody>
      </p:sp>
      <p:sp>
        <p:nvSpPr>
          <p:cNvPr id="5" name="Rectangle 4"/>
          <p:cNvSpPr>
            <a:spLocks noChangeArrowheads="1"/>
          </p:cNvSpPr>
          <p:nvPr/>
        </p:nvSpPr>
        <p:spPr bwMode="auto">
          <a:xfrm>
            <a:off x="364860" y="3113935"/>
            <a:ext cx="26212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400" dirty="0">
                <a:solidFill>
                  <a:srgbClr val="0000FF"/>
                </a:solidFill>
                <a:latin typeface="黑体" panose="02010609060101010101" pitchFamily="49" charset="-122"/>
                <a:ea typeface="黑体" panose="02010609060101010101" pitchFamily="49" charset="-122"/>
              </a:rPr>
              <a:t>4.</a:t>
            </a:r>
            <a:r>
              <a:rPr lang="zh-CN" altLang="en-US" sz="2400" dirty="0">
                <a:solidFill>
                  <a:srgbClr val="0000FF"/>
                </a:solidFill>
                <a:latin typeface="黑体" panose="02010609060101010101" pitchFamily="49" charset="-122"/>
                <a:ea typeface="黑体" panose="02010609060101010101" pitchFamily="49" charset="-122"/>
              </a:rPr>
              <a:t>表面质量的影响</a:t>
            </a:r>
            <a:endParaRPr lang="zh-CN" altLang="en-US" sz="2400" dirty="0">
              <a:solidFill>
                <a:srgbClr val="0000FF"/>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6" name="Rectangle 20"/>
              <p:cNvSpPr>
                <a:spLocks noChangeArrowheads="1"/>
              </p:cNvSpPr>
              <p:nvPr/>
            </p:nvSpPr>
            <p:spPr bwMode="auto">
              <a:xfrm>
                <a:off x="477000" y="5249765"/>
                <a:ext cx="8143875" cy="733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Times New Roman" panose="02020603050405020304" pitchFamily="18" charset="0"/>
                  </a:rPr>
                  <a:t>      对零件表面施行不同的强化处理，可不同程度地提高零件的疲劳强度，强化处理对疲劳强度的影响用</a:t>
                </a:r>
                <a:r>
                  <a:rPr lang="zh-CN" altLang="en-US" sz="2000" dirty="0">
                    <a:solidFill>
                      <a:srgbClr val="FF0000"/>
                    </a:solidFill>
                    <a:latin typeface="Times New Roman" panose="02020603050405020304" pitchFamily="18" charset="0"/>
                  </a:rPr>
                  <a:t>强化系数</a:t>
                </a:r>
                <a14:m>
                  <m:oMath xmlns:m="http://schemas.openxmlformats.org/officeDocument/2006/math">
                    <m:sSub>
                      <m:sSubPr>
                        <m:ctrlPr>
                          <a:rPr lang="en-US" altLang="zh-CN" sz="2000" i="1" smtClean="0">
                            <a:solidFill>
                              <a:srgbClr val="FF0000"/>
                            </a:solidFill>
                            <a:latin typeface="Cambria Math" panose="02040503050406030204" pitchFamily="18" charset="0"/>
                          </a:rPr>
                        </m:ctrlPr>
                      </m:sSubPr>
                      <m:e>
                        <m:r>
                          <a:rPr lang="zh-CN" altLang="en-US" sz="2000" i="1" smtClean="0">
                            <a:solidFill>
                              <a:srgbClr val="FF0000"/>
                            </a:solidFill>
                            <a:latin typeface="Cambria Math" panose="02040503050406030204" pitchFamily="18" charset="0"/>
                          </a:rPr>
                          <m:t>𝛽</m:t>
                        </m:r>
                      </m:e>
                      <m:sub>
                        <m:r>
                          <a:rPr lang="en-US" altLang="zh-CN" sz="2000" b="0" i="1" smtClean="0">
                            <a:solidFill>
                              <a:srgbClr val="FF0000"/>
                            </a:solidFill>
                            <a:latin typeface="Cambria Math" panose="02040503050406030204" pitchFamily="18" charset="0"/>
                          </a:rPr>
                          <m:t>𝑞</m:t>
                        </m:r>
                      </m:sub>
                    </m:sSub>
                  </m:oMath>
                </a14:m>
                <a:r>
                  <a:rPr lang="zh-CN" altLang="en-US" sz="2000" dirty="0"/>
                  <a:t>来表示。</a:t>
                </a:r>
                <a:endParaRPr lang="zh-CN" altLang="en-US" sz="2000" dirty="0">
                  <a:solidFill>
                    <a:srgbClr val="000099"/>
                  </a:solidFill>
                  <a:latin typeface="Times New Roman" panose="02020603050405020304" pitchFamily="18" charset="0"/>
                </a:endParaRPr>
              </a:p>
            </p:txBody>
          </p:sp>
        </mc:Choice>
        <mc:Fallback>
          <p:sp>
            <p:nvSpPr>
              <p:cNvPr id="6" name="Rectangle 20"/>
              <p:cNvSpPr>
                <a:spLocks noRot="1" noChangeAspect="1" noMove="1" noResize="1" noEditPoints="1" noAdjustHandles="1" noChangeArrowheads="1" noChangeShapeType="1" noTextEdit="1"/>
              </p:cNvSpPr>
              <p:nvPr/>
            </p:nvSpPr>
            <p:spPr bwMode="auto">
              <a:xfrm>
                <a:off x="477000" y="5249765"/>
                <a:ext cx="8143875" cy="733728"/>
              </a:xfrm>
              <a:prstGeom prst="rect">
                <a:avLst/>
              </a:prstGeom>
              <a:blipFill rotWithShape="1">
                <a:blip r:embed="rId4"/>
                <a:stretch>
                  <a:fillRect l="-1" t="-30" r="1" b="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3" name="Rectangle 4"/>
          <p:cNvSpPr>
            <a:spLocks noChangeArrowheads="1"/>
          </p:cNvSpPr>
          <p:nvPr/>
        </p:nvSpPr>
        <p:spPr bwMode="auto">
          <a:xfrm>
            <a:off x="387000" y="4778895"/>
            <a:ext cx="26212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400" dirty="0">
                <a:solidFill>
                  <a:srgbClr val="0000FF"/>
                </a:solidFill>
                <a:latin typeface="黑体" panose="02010609060101010101" pitchFamily="49" charset="-122"/>
                <a:ea typeface="黑体" panose="02010609060101010101" pitchFamily="49" charset="-122"/>
              </a:rPr>
              <a:t>5.</a:t>
            </a:r>
            <a:r>
              <a:rPr lang="zh-CN" altLang="en-US" sz="2400" dirty="0">
                <a:solidFill>
                  <a:srgbClr val="0000FF"/>
                </a:solidFill>
                <a:latin typeface="黑体" panose="02010609060101010101" pitchFamily="49" charset="-122"/>
                <a:ea typeface="黑体" panose="02010609060101010101" pitchFamily="49" charset="-122"/>
              </a:rPr>
              <a:t>表面强化的影响</a:t>
            </a:r>
            <a:endParaRPr lang="zh-CN" altLang="en-US" sz="2400"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7616"/>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67614"/>
                                        </p:tgtEl>
                                        <p:attrNameLst>
                                          <p:attrName>style.visibility</p:attrName>
                                        </p:attrNameLst>
                                      </p:cBhvr>
                                      <p:to>
                                        <p:strVal val="visible"/>
                                      </p:to>
                                    </p:set>
                                    <p:anim calcmode="lin" valueType="num">
                                      <p:cBhvr additive="base">
                                        <p:cTn id="10" dur="500" fill="hold"/>
                                        <p:tgtEl>
                                          <p:spTgt spid="67614"/>
                                        </p:tgtEl>
                                        <p:attrNameLst>
                                          <p:attrName>ppt_x</p:attrName>
                                        </p:attrNameLst>
                                      </p:cBhvr>
                                      <p:tavLst>
                                        <p:tav tm="0">
                                          <p:val>
                                            <p:strVal val="0-#ppt_w/2"/>
                                          </p:val>
                                        </p:tav>
                                        <p:tav tm="100000">
                                          <p:val>
                                            <p:strVal val="#ppt_x"/>
                                          </p:val>
                                        </p:tav>
                                      </p:tavLst>
                                    </p:anim>
                                    <p:anim calcmode="lin" valueType="num">
                                      <p:cBhvr additive="base">
                                        <p:cTn id="11" dur="500" fill="hold"/>
                                        <p:tgtEl>
                                          <p:spTgt spid="67614"/>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380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3803" grpId="0"/>
      <p:bldP spid="4" grpId="0" autoUpdateAnimBg="0"/>
      <p:bldP spid="5" grpId="0" autoUpdateAnimBg="0"/>
      <p:bldP spid="6" grpId="0"/>
      <p:bldP spid="1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6153"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22" name="Rectangle 4"/>
          <p:cNvSpPr>
            <a:spLocks noChangeArrowheads="1"/>
          </p:cNvSpPr>
          <p:nvPr/>
        </p:nvSpPr>
        <p:spPr bwMode="auto">
          <a:xfrm>
            <a:off x="431915" y="504150"/>
            <a:ext cx="2339102"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400" dirty="0">
                <a:solidFill>
                  <a:srgbClr val="0000FF"/>
                </a:solidFill>
                <a:latin typeface="黑体" panose="02010609060101010101" pitchFamily="49" charset="-122"/>
                <a:ea typeface="黑体" panose="02010609060101010101" pitchFamily="49" charset="-122"/>
              </a:rPr>
              <a:t>5.</a:t>
            </a:r>
            <a:r>
              <a:rPr lang="zh-CN" altLang="en-US" sz="2400" dirty="0">
                <a:solidFill>
                  <a:srgbClr val="0000FF"/>
                </a:solidFill>
                <a:latin typeface="黑体" panose="02010609060101010101" pitchFamily="49" charset="-122"/>
                <a:ea typeface="黑体" panose="02010609060101010101" pitchFamily="49" charset="-122"/>
              </a:rPr>
              <a:t>综合影响系数</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33803" name="Rectangle 11"/>
          <p:cNvSpPr>
            <a:spLocks noChangeArrowheads="1"/>
          </p:cNvSpPr>
          <p:nvPr/>
        </p:nvSpPr>
        <p:spPr bwMode="auto">
          <a:xfrm>
            <a:off x="207210" y="4373625"/>
            <a:ext cx="8858250" cy="1248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nSpc>
                <a:spcPct val="125000"/>
              </a:lnSpc>
            </a:pPr>
            <a:r>
              <a:rPr lang="zh-CN" altLang="en-US" sz="2000" dirty="0">
                <a:solidFill>
                  <a:srgbClr val="000099"/>
                </a:solidFill>
                <a:latin typeface="Times New Roman" panose="02020603050405020304" pitchFamily="18" charset="0"/>
              </a:rPr>
              <a:t>       应力集中、零件尺寸、表面质量及表面强化都</a:t>
            </a:r>
            <a:r>
              <a:rPr lang="zh-CN" altLang="en-US" sz="2000" dirty="0">
                <a:solidFill>
                  <a:srgbClr val="FF0000"/>
                </a:solidFill>
                <a:latin typeface="Times New Roman" panose="02020603050405020304" pitchFamily="18" charset="0"/>
              </a:rPr>
              <a:t>只对应力幅有影响</a:t>
            </a:r>
            <a:r>
              <a:rPr lang="zh-CN" altLang="en-US" sz="2000" dirty="0">
                <a:solidFill>
                  <a:srgbClr val="000099"/>
                </a:solidFill>
                <a:latin typeface="Times New Roman" panose="02020603050405020304" pitchFamily="18" charset="0"/>
              </a:rPr>
              <a:t>，对平均应力没有明显影响。为此，可将这四个系数合并为综合影响系数</a:t>
            </a:r>
            <a:r>
              <a:rPr lang="en-US" altLang="zh-CN" sz="2000" i="1" dirty="0" err="1">
                <a:solidFill>
                  <a:srgbClr val="000099"/>
                </a:solidFill>
                <a:latin typeface="Times New Roman" panose="02020603050405020304" pitchFamily="18" charset="0"/>
              </a:rPr>
              <a:t>K</a:t>
            </a:r>
            <a:r>
              <a:rPr lang="en-US" altLang="zh-CN" sz="2000" i="1" baseline="-25000" dirty="0" err="1">
                <a:solidFill>
                  <a:srgbClr val="000099"/>
                </a:solidFill>
                <a:latin typeface="Times New Roman" panose="02020603050405020304" pitchFamily="18" charset="0"/>
              </a:rPr>
              <a:t>σ</a:t>
            </a:r>
            <a:r>
              <a:rPr lang="zh-CN" altLang="en-US" sz="2000" dirty="0">
                <a:solidFill>
                  <a:srgbClr val="000099"/>
                </a:solidFill>
                <a:latin typeface="Times New Roman" panose="02020603050405020304" pitchFamily="18" charset="0"/>
              </a:rPr>
              <a:t>并以下式计算。</a:t>
            </a:r>
            <a:endParaRPr lang="zh-CN" altLang="en-US" sz="2000" dirty="0">
              <a:solidFill>
                <a:srgbClr val="000099"/>
              </a:solidFill>
              <a:latin typeface="Times New Roman" panose="02020603050405020304" pitchFamily="18" charset="0"/>
            </a:endParaRPr>
          </a:p>
        </p:txBody>
      </p:sp>
      <p:sp>
        <p:nvSpPr>
          <p:cNvPr id="615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47107" name="Object 3"/>
          <p:cNvGraphicFramePr>
            <a:graphicFrameLocks noChangeAspect="1"/>
          </p:cNvGraphicFramePr>
          <p:nvPr/>
        </p:nvGraphicFramePr>
        <p:xfrm>
          <a:off x="1512125" y="2449565"/>
          <a:ext cx="3330575" cy="971550"/>
        </p:xfrm>
        <a:graphic>
          <a:graphicData uri="http://schemas.openxmlformats.org/presentationml/2006/ole">
            <mc:AlternateContent xmlns:mc="http://schemas.openxmlformats.org/markup-compatibility/2006">
              <mc:Choice xmlns:v="urn:schemas-microsoft-com:vml" Requires="v">
                <p:oleObj spid="_x0000_s2" name="公式" r:id="rId1" imgW="39928800" imgH="11582400" progId="Equation.3">
                  <p:embed/>
                </p:oleObj>
              </mc:Choice>
              <mc:Fallback>
                <p:oleObj name="公式" r:id="rId1" imgW="39928800" imgH="11582400" progId="Equation.3">
                  <p:embed/>
                  <p:pic>
                    <p:nvPicPr>
                      <p:cNvPr id="0" name="Picture 34"/>
                      <p:cNvPicPr>
                        <a:picLocks noChangeAspect="1" noChangeArrowheads="1"/>
                      </p:cNvPicPr>
                      <p:nvPr/>
                    </p:nvPicPr>
                    <p:blipFill>
                      <a:blip r:embed="rId2"/>
                      <a:srcRect/>
                      <a:stretch>
                        <a:fillRect/>
                      </a:stretch>
                    </p:blipFill>
                    <p:spPr bwMode="auto">
                      <a:xfrm>
                        <a:off x="1512125" y="2449565"/>
                        <a:ext cx="3330575" cy="971550"/>
                      </a:xfrm>
                      <a:prstGeom prst="rect">
                        <a:avLst/>
                      </a:prstGeom>
                      <a:solidFill>
                        <a:srgbClr val="FFFF00"/>
                      </a:solidFill>
                    </p:spPr>
                  </p:pic>
                </p:oleObj>
              </mc:Fallback>
            </mc:AlternateContent>
          </a:graphicData>
        </a:graphic>
      </p:graphicFrame>
      <p:sp>
        <p:nvSpPr>
          <p:cNvPr id="3" name="矩形 2"/>
          <p:cNvSpPr/>
          <p:nvPr/>
        </p:nvSpPr>
        <p:spPr>
          <a:xfrm>
            <a:off x="1736490" y="1452280"/>
            <a:ext cx="2236510" cy="400110"/>
          </a:xfrm>
          <a:prstGeom prst="rect">
            <a:avLst/>
          </a:prstGeom>
        </p:spPr>
        <p:txBody>
          <a:bodyPr wrap="none">
            <a:spAutoFit/>
          </a:bodyPr>
          <a:lstStyle/>
          <a:p>
            <a:r>
              <a:rPr lang="zh-CN" altLang="en-US" sz="2000" dirty="0">
                <a:solidFill>
                  <a:srgbClr val="FF0000"/>
                </a:solidFill>
                <a:latin typeface="黑体" panose="02010609060101010101" pitchFamily="49" charset="-122"/>
                <a:ea typeface="黑体" panose="02010609060101010101" pitchFamily="49" charset="-122"/>
              </a:rPr>
              <a:t>有效应力集中系数</a:t>
            </a:r>
            <a:endParaRPr lang="zh-CN" altLang="en-US" sz="2000" dirty="0">
              <a:latin typeface="黑体" panose="02010609060101010101" pitchFamily="49" charset="-122"/>
              <a:ea typeface="黑体" panose="02010609060101010101" pitchFamily="49" charset="-122"/>
            </a:endParaRPr>
          </a:p>
        </p:txBody>
      </p:sp>
      <p:cxnSp>
        <p:nvCxnSpPr>
          <p:cNvPr id="4" name="直接箭头连接符 3"/>
          <p:cNvCxnSpPr/>
          <p:nvPr/>
        </p:nvCxnSpPr>
        <p:spPr bwMode="auto">
          <a:xfrm flipV="1">
            <a:off x="2637125" y="1854315"/>
            <a:ext cx="134620" cy="730250"/>
          </a:xfrm>
          <a:prstGeom prst="straightConnector1">
            <a:avLst/>
          </a:prstGeom>
          <a:noFill/>
          <a:ln w="19050" cap="flat" cmpd="sng" algn="ctr">
            <a:solidFill>
              <a:srgbClr val="FF0000"/>
            </a:solidFill>
            <a:prstDash val="solid"/>
            <a:round/>
            <a:headEnd type="none" w="med" len="med"/>
            <a:tailEnd type="triangle"/>
          </a:ln>
          <a:effectLst/>
        </p:spPr>
      </p:cxnSp>
      <p:cxnSp>
        <p:nvCxnSpPr>
          <p:cNvPr id="17" name="直接箭头连接符 16"/>
          <p:cNvCxnSpPr/>
          <p:nvPr/>
        </p:nvCxnSpPr>
        <p:spPr bwMode="auto">
          <a:xfrm flipH="1">
            <a:off x="2367125" y="3304565"/>
            <a:ext cx="225000" cy="315000"/>
          </a:xfrm>
          <a:prstGeom prst="straightConnector1">
            <a:avLst/>
          </a:prstGeom>
          <a:noFill/>
          <a:ln w="19050" cap="flat" cmpd="sng" algn="ctr">
            <a:solidFill>
              <a:srgbClr val="FF0000"/>
            </a:solidFill>
            <a:prstDash val="solid"/>
            <a:round/>
            <a:headEnd type="none" w="med" len="med"/>
            <a:tailEnd type="triangle"/>
          </a:ln>
          <a:effectLst/>
        </p:spPr>
      </p:cxnSp>
      <p:cxnSp>
        <p:nvCxnSpPr>
          <p:cNvPr id="20" name="直接箭头连接符 19"/>
          <p:cNvCxnSpPr/>
          <p:nvPr/>
        </p:nvCxnSpPr>
        <p:spPr bwMode="auto">
          <a:xfrm>
            <a:off x="3492125" y="3349565"/>
            <a:ext cx="270000" cy="270000"/>
          </a:xfrm>
          <a:prstGeom prst="straightConnector1">
            <a:avLst/>
          </a:prstGeom>
          <a:noFill/>
          <a:ln w="19050" cap="flat" cmpd="sng" algn="ctr">
            <a:solidFill>
              <a:srgbClr val="FF0000"/>
            </a:solidFill>
            <a:prstDash val="solid"/>
            <a:round/>
            <a:headEnd type="none" w="med" len="med"/>
            <a:tailEnd type="triangle"/>
          </a:ln>
          <a:effectLst/>
        </p:spPr>
      </p:cxnSp>
      <p:cxnSp>
        <p:nvCxnSpPr>
          <p:cNvPr id="23" name="直接箭头连接符 22"/>
          <p:cNvCxnSpPr/>
          <p:nvPr/>
        </p:nvCxnSpPr>
        <p:spPr bwMode="auto">
          <a:xfrm>
            <a:off x="4707125" y="3169565"/>
            <a:ext cx="810000" cy="180000"/>
          </a:xfrm>
          <a:prstGeom prst="straightConnector1">
            <a:avLst/>
          </a:prstGeom>
          <a:noFill/>
          <a:ln w="19050" cap="flat" cmpd="sng" algn="ctr">
            <a:solidFill>
              <a:srgbClr val="FF0000"/>
            </a:solidFill>
            <a:prstDash val="solid"/>
            <a:round/>
            <a:headEnd type="none" w="med" len="med"/>
            <a:tailEnd type="triangle"/>
          </a:ln>
          <a:effectLst/>
        </p:spPr>
      </p:cxnSp>
      <p:sp>
        <p:nvSpPr>
          <p:cNvPr id="9" name="矩形 8"/>
          <p:cNvSpPr/>
          <p:nvPr/>
        </p:nvSpPr>
        <p:spPr>
          <a:xfrm>
            <a:off x="522125" y="3619565"/>
            <a:ext cx="2492990" cy="400110"/>
          </a:xfrm>
          <a:prstGeom prst="rect">
            <a:avLst/>
          </a:prstGeom>
        </p:spPr>
        <p:txBody>
          <a:bodyPr wrap="none">
            <a:spAutoFit/>
          </a:bodyPr>
          <a:lstStyle/>
          <a:p>
            <a:r>
              <a:rPr lang="zh-CN" altLang="en-US" sz="2000" dirty="0">
                <a:solidFill>
                  <a:srgbClr val="FF0000"/>
                </a:solidFill>
                <a:latin typeface="黑体" panose="02010609060101010101" pitchFamily="49" charset="-122"/>
                <a:ea typeface="黑体" panose="02010609060101010101" pitchFamily="49" charset="-122"/>
              </a:rPr>
              <a:t>尺寸及截面形状系数</a:t>
            </a:r>
            <a:endParaRPr lang="zh-CN" altLang="en-US" sz="2000" dirty="0">
              <a:latin typeface="黑体" panose="02010609060101010101" pitchFamily="49" charset="-122"/>
              <a:ea typeface="黑体" panose="02010609060101010101" pitchFamily="49" charset="-122"/>
            </a:endParaRPr>
          </a:p>
        </p:txBody>
      </p:sp>
      <p:sp>
        <p:nvSpPr>
          <p:cNvPr id="10" name="矩形 9"/>
          <p:cNvSpPr/>
          <p:nvPr/>
        </p:nvSpPr>
        <p:spPr>
          <a:xfrm>
            <a:off x="3582125" y="3619565"/>
            <a:ext cx="1723549" cy="400110"/>
          </a:xfrm>
          <a:prstGeom prst="rect">
            <a:avLst/>
          </a:prstGeom>
        </p:spPr>
        <p:txBody>
          <a:bodyPr wrap="none">
            <a:spAutoFit/>
          </a:bodyPr>
          <a:lstStyle/>
          <a:p>
            <a:r>
              <a:rPr lang="zh-CN" altLang="en-US" sz="2000" dirty="0">
                <a:solidFill>
                  <a:srgbClr val="FF0000"/>
                </a:solidFill>
                <a:latin typeface="黑体" panose="02010609060101010101" pitchFamily="49" charset="-122"/>
                <a:ea typeface="黑体" panose="02010609060101010101" pitchFamily="49" charset="-122"/>
              </a:rPr>
              <a:t>表面质量系数</a:t>
            </a:r>
            <a:endParaRPr lang="zh-CN" altLang="en-US" sz="2000" dirty="0">
              <a:latin typeface="黑体" panose="02010609060101010101" pitchFamily="49" charset="-122"/>
              <a:ea typeface="黑体" panose="02010609060101010101" pitchFamily="49" charset="-122"/>
            </a:endParaRPr>
          </a:p>
        </p:txBody>
      </p:sp>
      <p:sp>
        <p:nvSpPr>
          <p:cNvPr id="11" name="矩形 10"/>
          <p:cNvSpPr/>
          <p:nvPr/>
        </p:nvSpPr>
        <p:spPr>
          <a:xfrm>
            <a:off x="5607125" y="3124565"/>
            <a:ext cx="1210588" cy="400110"/>
          </a:xfrm>
          <a:prstGeom prst="rect">
            <a:avLst/>
          </a:prstGeom>
        </p:spPr>
        <p:txBody>
          <a:bodyPr wrap="none">
            <a:spAutoFit/>
          </a:bodyPr>
          <a:lstStyle/>
          <a:p>
            <a:r>
              <a:rPr lang="zh-CN" altLang="en-US" sz="2000" dirty="0">
                <a:solidFill>
                  <a:srgbClr val="FF0000"/>
                </a:solidFill>
                <a:latin typeface="黑体" panose="02010609060101010101" pitchFamily="49" charset="-122"/>
                <a:ea typeface="黑体" panose="02010609060101010101" pitchFamily="49" charset="-122"/>
              </a:rPr>
              <a:t>强化系数</a:t>
            </a:r>
            <a:endParaRPr lang="zh-CN" altLang="en-US" sz="2000" dirty="0">
              <a:latin typeface="黑体" panose="02010609060101010101" pitchFamily="49" charset="-122"/>
              <a:ea typeface="黑体" panose="02010609060101010101" pitchFamily="49" charset="-122"/>
            </a:endParaRPr>
          </a:p>
        </p:txBody>
      </p:sp>
      <p:sp>
        <p:nvSpPr>
          <p:cNvPr id="12" name="文本框 11"/>
          <p:cNvSpPr txBox="1"/>
          <p:nvPr/>
        </p:nvSpPr>
        <p:spPr>
          <a:xfrm>
            <a:off x="6010940" y="2242090"/>
            <a:ext cx="2340000" cy="460375"/>
          </a:xfrm>
          <a:prstGeom prst="rect">
            <a:avLst/>
          </a:prstGeom>
          <a:solidFill>
            <a:srgbClr val="00B0F0"/>
          </a:solidFill>
        </p:spPr>
        <p:txBody>
          <a:bodyPr wrap="square" rtlCol="0">
            <a:spAutoFit/>
          </a:bodyPr>
          <a:lstStyle/>
          <a:p>
            <a:pPr algn="ctr"/>
            <a:r>
              <a:rPr lang="zh-CN" altLang="en-US" sz="2400" dirty="0">
                <a:solidFill>
                  <a:schemeClr val="bg1"/>
                </a:solidFill>
                <a:latin typeface="黑体" panose="02010609060101010101" pitchFamily="49" charset="-122"/>
                <a:ea typeface="黑体" panose="02010609060101010101" pitchFamily="49" charset="-122"/>
              </a:rPr>
              <a:t>教材</a:t>
            </a:r>
            <a:r>
              <a:rPr lang="en-US" altLang="zh-CN" sz="2400" dirty="0">
                <a:solidFill>
                  <a:schemeClr val="bg1"/>
                </a:solidFill>
                <a:latin typeface="黑体" panose="02010609060101010101" pitchFamily="49" charset="-122"/>
                <a:ea typeface="黑体" panose="02010609060101010101" pitchFamily="49" charset="-122"/>
              </a:rPr>
              <a:t>P26-27</a:t>
            </a:r>
            <a:endParaRPr lang="en-US" altLang="zh-CN" sz="2400" dirty="0">
              <a:solidFill>
                <a:schemeClr val="bg1"/>
              </a:solidFill>
              <a:latin typeface="黑体" panose="02010609060101010101" pitchFamily="49" charset="-122"/>
              <a:ea typeface="黑体" panose="02010609060101010101" pitchFamily="49" charset="-122"/>
            </a:endParaRPr>
          </a:p>
        </p:txBody>
      </p:sp>
      <p:sp>
        <p:nvSpPr>
          <p:cNvPr id="5" name="文本框 4"/>
          <p:cNvSpPr txBox="1"/>
          <p:nvPr/>
        </p:nvSpPr>
        <p:spPr>
          <a:xfrm>
            <a:off x="6011575" y="2708815"/>
            <a:ext cx="2340000" cy="460375"/>
          </a:xfrm>
          <a:prstGeom prst="rect">
            <a:avLst/>
          </a:prstGeom>
          <a:solidFill>
            <a:srgbClr val="00B0F0"/>
          </a:solidFill>
        </p:spPr>
        <p:txBody>
          <a:bodyPr wrap="square" rtlCol="0">
            <a:spAutoFit/>
          </a:bodyPr>
          <a:lstStyle/>
          <a:p>
            <a:pPr algn="ctr"/>
            <a:r>
              <a:rPr lang="zh-CN" altLang="en-US" sz="2400" dirty="0">
                <a:solidFill>
                  <a:schemeClr val="bg1"/>
                </a:solidFill>
                <a:latin typeface="黑体" panose="02010609060101010101" pitchFamily="49" charset="-122"/>
                <a:ea typeface="黑体" panose="02010609060101010101" pitchFamily="49" charset="-122"/>
              </a:rPr>
              <a:t>教材</a:t>
            </a:r>
            <a:r>
              <a:rPr lang="en-US" altLang="zh-CN" sz="2400" dirty="0">
                <a:solidFill>
                  <a:schemeClr val="bg1"/>
                </a:solidFill>
                <a:latin typeface="黑体" panose="02010609060101010101" pitchFamily="49" charset="-122"/>
                <a:ea typeface="黑体" panose="02010609060101010101" pitchFamily="49" charset="-122"/>
              </a:rPr>
              <a:t>P38-</a:t>
            </a:r>
            <a:r>
              <a:rPr lang="en-US" sz="2400" dirty="0">
                <a:solidFill>
                  <a:schemeClr val="bg1"/>
                </a:solidFill>
                <a:latin typeface="黑体" panose="02010609060101010101" pitchFamily="49" charset="-122"/>
                <a:ea typeface="黑体" panose="02010609060101010101" pitchFamily="49" charset="-122"/>
              </a:rPr>
              <a:t>44</a:t>
            </a:r>
            <a:endParaRPr lang="en-US" sz="2400"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par>
                          <p:cTn id="16" fill="hold">
                            <p:stCondLst>
                              <p:cond delay="500"/>
                            </p:stCondLst>
                            <p:childTnLst>
                              <p:par>
                                <p:cTn id="17" presetID="16" presetClass="entr" presetSubtype="37"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outVertical)">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up)">
                                      <p:cBhvr>
                                        <p:cTn id="24" dur="500"/>
                                        <p:tgtEl>
                                          <p:spTgt spid="17"/>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up)">
                                      <p:cBhvr>
                                        <p:cTn id="32" dur="500"/>
                                        <p:tgtEl>
                                          <p:spTgt spid="20"/>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up)">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left)">
                                      <p:cBhvr>
                                        <p:cTn id="40" dur="500"/>
                                        <p:tgtEl>
                                          <p:spTgt spid="23"/>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barn(outVertical)">
                                      <p:cBhvr>
                                        <p:cTn id="49"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ipe(left)">
                                      <p:cBhvr>
                                        <p:cTn id="54" dur="500"/>
                                        <p:tgtEl>
                                          <p:spTgt spid="5"/>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338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utoUpdateAnimBg="0"/>
      <p:bldP spid="33803" grpId="0" autoUpdateAnimBg="0"/>
      <p:bldP spid="9" grpId="0"/>
      <p:bldP spid="10" grpId="0"/>
      <p:bldP spid="11" grpId="0"/>
      <p:bldP spid="12" grpId="0" bldLvl="0" animBg="1"/>
      <p:bldP spid="3" grpId="0" bldLvl="0" animBg="1"/>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72000" y="21486"/>
            <a:ext cx="8697957" cy="5670000"/>
          </a:xfrm>
          <a:prstGeom prst="rect">
            <a:avLst/>
          </a:prstGeom>
        </p:spPr>
      </p:pic>
      <p:sp>
        <p:nvSpPr>
          <p:cNvPr id="5" name="文本框 4"/>
          <p:cNvSpPr txBox="1"/>
          <p:nvPr/>
        </p:nvSpPr>
        <p:spPr>
          <a:xfrm>
            <a:off x="207000" y="639000"/>
            <a:ext cx="2385000" cy="430887"/>
          </a:xfrm>
          <a:prstGeom prst="rect">
            <a:avLst/>
          </a:prstGeom>
          <a:noFill/>
        </p:spPr>
        <p:txBody>
          <a:bodyPr wrap="square" rtlCol="0">
            <a:spAutoFit/>
          </a:bodyPr>
          <a:lstStyle/>
          <a:p>
            <a:r>
              <a:rPr lang="en-US" altLang="zh-CN" dirty="0"/>
              <a:t>D/d=54/45=1.2</a:t>
            </a:r>
            <a:endParaRPr lang="zh-CN" altLang="en-US" dirty="0"/>
          </a:p>
        </p:txBody>
      </p:sp>
      <p:sp>
        <p:nvSpPr>
          <p:cNvPr id="6" name="文本框 5"/>
          <p:cNvSpPr txBox="1"/>
          <p:nvPr/>
        </p:nvSpPr>
        <p:spPr>
          <a:xfrm>
            <a:off x="252000" y="1179000"/>
            <a:ext cx="2385000" cy="430887"/>
          </a:xfrm>
          <a:prstGeom prst="rect">
            <a:avLst/>
          </a:prstGeom>
          <a:noFill/>
        </p:spPr>
        <p:txBody>
          <a:bodyPr wrap="square" rtlCol="0">
            <a:spAutoFit/>
          </a:bodyPr>
          <a:lstStyle/>
          <a:p>
            <a:r>
              <a:rPr lang="en-US" altLang="zh-CN" dirty="0"/>
              <a:t>r/d=3/45=0.067</a:t>
            </a:r>
            <a:endParaRPr lang="zh-CN" altLang="en-US" dirty="0"/>
          </a:p>
        </p:txBody>
      </p:sp>
      <p:cxnSp>
        <p:nvCxnSpPr>
          <p:cNvPr id="8" name="直接连接符 7"/>
          <p:cNvCxnSpPr/>
          <p:nvPr/>
        </p:nvCxnSpPr>
        <p:spPr bwMode="auto">
          <a:xfrm>
            <a:off x="2277000" y="4329000"/>
            <a:ext cx="3341370" cy="1905"/>
          </a:xfrm>
          <a:prstGeom prst="line">
            <a:avLst/>
          </a:prstGeom>
          <a:noFill/>
          <a:ln w="9525" cap="flat" cmpd="sng" algn="ctr">
            <a:solidFill>
              <a:srgbClr val="FF0000"/>
            </a:solidFill>
            <a:prstDash val="solid"/>
            <a:round/>
            <a:headEnd type="none" w="med" len="med"/>
            <a:tailEnd type="none" w="med" len="med"/>
          </a:ln>
          <a:effectLst/>
        </p:spPr>
      </p:cxnSp>
      <p:cxnSp>
        <p:nvCxnSpPr>
          <p:cNvPr id="11" name="直接连接符 10"/>
          <p:cNvCxnSpPr/>
          <p:nvPr/>
        </p:nvCxnSpPr>
        <p:spPr bwMode="auto">
          <a:xfrm flipV="1">
            <a:off x="2277000" y="4527330"/>
            <a:ext cx="3316605" cy="26670"/>
          </a:xfrm>
          <a:prstGeom prst="line">
            <a:avLst/>
          </a:prstGeom>
          <a:noFill/>
          <a:ln w="9525" cap="flat" cmpd="sng" algn="ctr">
            <a:solidFill>
              <a:srgbClr val="0000FF"/>
            </a:solidFill>
            <a:prstDash val="solid"/>
            <a:round/>
            <a:headEnd type="none" w="med" len="med"/>
            <a:tailEnd type="none" w="med" len="med"/>
          </a:ln>
          <a:effectLst/>
        </p:spPr>
      </p:cxnSp>
      <p:sp>
        <p:nvSpPr>
          <p:cNvPr id="13" name="文本框 12"/>
          <p:cNvSpPr txBox="1"/>
          <p:nvPr/>
        </p:nvSpPr>
        <p:spPr>
          <a:xfrm>
            <a:off x="702000" y="5679000"/>
            <a:ext cx="2565000" cy="769441"/>
          </a:xfrm>
          <a:prstGeom prst="rect">
            <a:avLst/>
          </a:prstGeom>
          <a:noFill/>
        </p:spPr>
        <p:txBody>
          <a:bodyPr wrap="square" rtlCol="0">
            <a:spAutoFit/>
          </a:bodyPr>
          <a:lstStyle/>
          <a:p>
            <a:r>
              <a:rPr lang="en-US" altLang="zh-CN" dirty="0"/>
              <a:t>0.04    2.09</a:t>
            </a:r>
            <a:endParaRPr lang="en-US" altLang="zh-CN" dirty="0"/>
          </a:p>
          <a:p>
            <a:r>
              <a:rPr lang="en-US" altLang="zh-CN" dirty="0"/>
              <a:t>0.10     1.62</a:t>
            </a:r>
            <a:endParaRPr lang="zh-CN" altLang="en-US" dirty="0"/>
          </a:p>
        </p:txBody>
      </p:sp>
      <mc:AlternateContent xmlns:mc="http://schemas.openxmlformats.org/markup-compatibility/2006">
        <mc:Choice xmlns:a14="http://schemas.microsoft.com/office/drawing/2010/main" Requires="a14">
          <p:sp>
            <p:nvSpPr>
              <p:cNvPr id="14" name="文本框 13"/>
              <p:cNvSpPr txBox="1"/>
              <p:nvPr/>
            </p:nvSpPr>
            <p:spPr>
              <a:xfrm>
                <a:off x="2727000" y="5769000"/>
                <a:ext cx="5760000" cy="430887"/>
              </a:xfrm>
              <a:prstGeom prst="rect">
                <a:avLst/>
              </a:prstGeom>
              <a:solidFill>
                <a:srgbClr val="FFFF00"/>
              </a:solidFill>
            </p:spPr>
            <p:txBody>
              <a:bodyPr wrap="square" rtlCol="0">
                <a:spAutoFit/>
              </a:bodyPr>
              <a:lstStyle/>
              <a:p>
                <a:r>
                  <a:rPr lang="zh-CN" altLang="en-US" dirty="0">
                    <a:solidFill>
                      <a:schemeClr val="accent4">
                        <a:lumMod val="50000"/>
                      </a:schemeClr>
                    </a:solidFill>
                  </a:rPr>
                  <a:t>线性插值法求得当</a:t>
                </a:r>
                <a:r>
                  <a:rPr lang="en-US" altLang="zh-CN" dirty="0">
                    <a:solidFill>
                      <a:schemeClr val="accent4">
                        <a:lumMod val="50000"/>
                      </a:schemeClr>
                    </a:solidFill>
                  </a:rPr>
                  <a:t>r/d=0.067</a:t>
                </a:r>
                <a:r>
                  <a:rPr lang="zh-CN" altLang="en-US" dirty="0">
                    <a:solidFill>
                      <a:schemeClr val="accent4">
                        <a:lumMod val="50000"/>
                      </a:schemeClr>
                    </a:solidFill>
                  </a:rPr>
                  <a:t>时</a:t>
                </a:r>
                <a:r>
                  <a:rPr lang="en-US" altLang="zh-CN" dirty="0">
                    <a:solidFill>
                      <a:schemeClr val="accent4">
                        <a:lumMod val="50000"/>
                      </a:schemeClr>
                    </a:solidFill>
                  </a:rPr>
                  <a:t>,</a:t>
                </a:r>
                <a14:m>
                  <m:oMath xmlns:m="http://schemas.openxmlformats.org/officeDocument/2006/math">
                    <m:sSub>
                      <m:sSubPr>
                        <m:ctrlPr>
                          <a:rPr lang="en-US" altLang="zh-CN" i="1" smtClean="0">
                            <a:solidFill>
                              <a:schemeClr val="accent4">
                                <a:lumMod val="50000"/>
                              </a:schemeClr>
                            </a:solidFill>
                            <a:latin typeface="Cambria Math" panose="02040503050406030204" pitchFamily="18" charset="0"/>
                          </a:rPr>
                        </m:ctrlPr>
                      </m:sSubPr>
                      <m:e>
                        <m:r>
                          <a:rPr lang="zh-CN" altLang="en-US" i="1" smtClean="0">
                            <a:solidFill>
                              <a:schemeClr val="accent4">
                                <a:lumMod val="50000"/>
                              </a:schemeClr>
                            </a:solidFill>
                            <a:latin typeface="Cambria Math" panose="02040503050406030204" pitchFamily="18" charset="0"/>
                          </a:rPr>
                          <m:t>𝛼</m:t>
                        </m:r>
                      </m:e>
                      <m:sub>
                        <m:r>
                          <a:rPr lang="zh-CN" altLang="en-US" i="1" smtClean="0">
                            <a:solidFill>
                              <a:schemeClr val="accent4">
                                <a:lumMod val="50000"/>
                              </a:schemeClr>
                            </a:solidFill>
                            <a:latin typeface="Cambria Math" panose="02040503050406030204" pitchFamily="18" charset="0"/>
                          </a:rPr>
                          <m:t>𝜎</m:t>
                        </m:r>
                      </m:sub>
                    </m:sSub>
                    <m:r>
                      <a:rPr lang="en-US" altLang="zh-CN" b="0" i="1" smtClean="0">
                        <a:solidFill>
                          <a:schemeClr val="accent4">
                            <a:lumMod val="50000"/>
                          </a:schemeClr>
                        </a:solidFill>
                        <a:latin typeface="Cambria Math" panose="02040503050406030204" pitchFamily="18" charset="0"/>
                        <a:ea typeface="Cambria Math" panose="02040503050406030204" pitchFamily="18" charset="0"/>
                      </a:rPr>
                      <m:t>≈</m:t>
                    </m:r>
                    <m:r>
                      <a:rPr lang="en-US" altLang="zh-CN" b="0" i="1" smtClean="0">
                        <a:solidFill>
                          <a:schemeClr val="accent4">
                            <a:lumMod val="50000"/>
                          </a:schemeClr>
                        </a:solidFill>
                        <a:latin typeface="Cambria Math" panose="02040503050406030204" pitchFamily="18" charset="0"/>
                      </a:rPr>
                      <m:t>1</m:t>
                    </m:r>
                    <m:r>
                      <a:rPr lang="en-US" altLang="zh-CN" b="0" i="1" smtClean="0">
                        <a:solidFill>
                          <a:schemeClr val="accent4">
                            <a:lumMod val="50000"/>
                          </a:schemeClr>
                        </a:solidFill>
                        <a:latin typeface="Cambria Math" panose="02040503050406030204" pitchFamily="18" charset="0"/>
                      </a:rPr>
                      <m:t>.</m:t>
                    </m:r>
                    <m:r>
                      <a:rPr lang="en-US" altLang="zh-CN" b="0" i="1" smtClean="0">
                        <a:solidFill>
                          <a:schemeClr val="accent4">
                            <a:lumMod val="50000"/>
                          </a:schemeClr>
                        </a:solidFill>
                        <a:latin typeface="Cambria Math" panose="02040503050406030204" pitchFamily="18" charset="0"/>
                      </a:rPr>
                      <m:t>88</m:t>
                    </m:r>
                  </m:oMath>
                </a14:m>
                <a:endParaRPr lang="zh-CN" altLang="en-US" dirty="0">
                  <a:solidFill>
                    <a:schemeClr val="accent4">
                      <a:lumMod val="50000"/>
                    </a:schemeClr>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2727000" y="5769000"/>
                <a:ext cx="5760000" cy="430887"/>
              </a:xfrm>
              <a:prstGeom prst="rect">
                <a:avLst/>
              </a:prstGeom>
              <a:blipFill rotWithShape="1">
                <a:blip r:embed="rId2"/>
                <a:stretch>
                  <a:fillRect l="-5" t="-6" r="4" b="89"/>
                </a:stretch>
              </a:blipFill>
            </p:spPr>
            <p:txBody>
              <a:bodyPr/>
              <a:lstStyle/>
              <a:p>
                <a:r>
                  <a:rPr lang="zh-CN" altLang="en-US">
                    <a:noFill/>
                  </a:rPr>
                  <a:t> </a:t>
                </a:r>
              </a:p>
            </p:txBody>
          </p:sp>
        </mc:Fallback>
      </mc:AlternateContent>
      <p:sp>
        <p:nvSpPr>
          <p:cNvPr id="2" name="矩形 1"/>
          <p:cNvSpPr/>
          <p:nvPr/>
        </p:nvSpPr>
        <p:spPr>
          <a:xfrm>
            <a:off x="2637155" y="5768975"/>
            <a:ext cx="5895340" cy="584835"/>
          </a:xfrm>
          <a:prstGeom prst="rect">
            <a:avLst/>
          </a:prstGeom>
          <a:solidFill>
            <a:schemeClr val="bg1"/>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par>
                                <p:cTn id="18" presetID="22" presetClass="entr" presetSubtype="8"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xit" presetSubtype="8" fill="hold" grpId="0" nodeType="clickEffect">
                                  <p:stCondLst>
                                    <p:cond delay="0"/>
                                  </p:stCondLst>
                                  <p:childTnLst>
                                    <p:animEffect transition="out" filter="wipe(left)">
                                      <p:cBhvr>
                                        <p:cTn id="29" dur="500"/>
                                        <p:tgtEl>
                                          <p:spTgt spid="2"/>
                                        </p:tgtEl>
                                      </p:cBhvr>
                                    </p:animEffect>
                                    <p:set>
                                      <p:cBhvr>
                                        <p:cTn id="30"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3" grpId="0"/>
      <p:bldP spid="2"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l="11368" t="9573" r="2317" b="917"/>
          <a:stretch>
            <a:fillRect/>
          </a:stretch>
        </p:blipFill>
        <p:spPr>
          <a:xfrm>
            <a:off x="657000" y="189000"/>
            <a:ext cx="7560000" cy="5577805"/>
          </a:xfrm>
          <a:prstGeom prst="rect">
            <a:avLst/>
          </a:prstGeom>
        </p:spPr>
      </p:pic>
      <p:cxnSp>
        <p:nvCxnSpPr>
          <p:cNvPr id="4" name="直接连接符 3"/>
          <p:cNvCxnSpPr/>
          <p:nvPr/>
        </p:nvCxnSpPr>
        <p:spPr bwMode="auto">
          <a:xfrm flipH="1" flipV="1">
            <a:off x="6081975" y="1483690"/>
            <a:ext cx="19685" cy="2905760"/>
          </a:xfrm>
          <a:prstGeom prst="line">
            <a:avLst/>
          </a:prstGeom>
          <a:noFill/>
          <a:ln w="9525" cap="flat" cmpd="sng" algn="ctr">
            <a:solidFill>
              <a:srgbClr val="FF0000"/>
            </a:solidFill>
            <a:prstDash val="solid"/>
            <a:round/>
            <a:headEnd type="none" w="med" len="med"/>
            <a:tailEnd type="none" w="med" len="med"/>
          </a:ln>
          <a:effectLst/>
        </p:spPr>
      </p:cxnSp>
      <p:cxnSp>
        <p:nvCxnSpPr>
          <p:cNvPr id="7" name="直接连接符 6"/>
          <p:cNvCxnSpPr/>
          <p:nvPr/>
        </p:nvCxnSpPr>
        <p:spPr bwMode="auto">
          <a:xfrm flipH="1" flipV="1">
            <a:off x="1382545" y="1417885"/>
            <a:ext cx="4815000" cy="90000"/>
          </a:xfrm>
          <a:prstGeom prst="line">
            <a:avLst/>
          </a:prstGeom>
          <a:noFill/>
          <a:ln w="9525" cap="flat" cmpd="sng" algn="ctr">
            <a:solidFill>
              <a:srgbClr val="FF0000"/>
            </a:solidFill>
            <a:prstDash val="solid"/>
            <a:round/>
            <a:headEnd type="none" w="med" len="med"/>
            <a:tailEnd type="none" w="med" len="med"/>
          </a:ln>
          <a:effectLst/>
        </p:spPr>
      </p:cxnSp>
      <mc:AlternateContent xmlns:mc="http://schemas.openxmlformats.org/markup-compatibility/2006">
        <mc:Choice xmlns:a14="http://schemas.microsoft.com/office/drawing/2010/main" Requires="a14">
          <p:sp>
            <p:nvSpPr>
              <p:cNvPr id="9" name="文本框 8"/>
              <p:cNvSpPr txBox="1"/>
              <p:nvPr/>
            </p:nvSpPr>
            <p:spPr>
              <a:xfrm>
                <a:off x="431535" y="5318450"/>
                <a:ext cx="2205000" cy="430887"/>
              </a:xfrm>
              <a:prstGeom prst="rect">
                <a:avLst/>
              </a:prstGeom>
              <a:noFill/>
            </p:spPr>
            <p:txBody>
              <a:bodyPr wrap="squar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𝑞</m:t>
                        </m:r>
                      </m:e>
                      <m:sub>
                        <m:r>
                          <a:rPr lang="zh-CN" altLang="en-US" i="1" smtClean="0">
                            <a:latin typeface="Cambria Math" panose="02040503050406030204" pitchFamily="18" charset="0"/>
                          </a:rPr>
                          <m:t>𝜎</m:t>
                        </m:r>
                      </m:sub>
                    </m:sSub>
                  </m:oMath>
                </a14:m>
                <a:r>
                  <a:rPr lang="en-US" altLang="zh-CN" dirty="0"/>
                  <a:t>=0.78</a:t>
                </a:r>
                <a:endParaRPr lang="zh-CN" altLang="en-US" dirty="0"/>
              </a:p>
            </p:txBody>
          </p:sp>
        </mc:Choice>
        <mc:Fallback>
          <p:sp>
            <p:nvSpPr>
              <p:cNvPr id="9" name="文本框 8"/>
              <p:cNvSpPr txBox="1">
                <a:spLocks noRot="1" noChangeAspect="1" noMove="1" noResize="1" noEditPoints="1" noAdjustHandles="1" noChangeArrowheads="1" noChangeShapeType="1" noTextEdit="1"/>
              </p:cNvSpPr>
              <p:nvPr/>
            </p:nvSpPr>
            <p:spPr>
              <a:xfrm>
                <a:off x="431535" y="5318450"/>
                <a:ext cx="2205000" cy="430887"/>
              </a:xfrm>
              <a:prstGeom prst="rect">
                <a:avLst/>
              </a:prstGeom>
              <a:blipFill rotWithShape="1">
                <a:blip r:embed="rId2"/>
                <a:stretch>
                  <a:fillRect l="-17" t="-75" r="1" b="11"/>
                </a:stretch>
              </a:blipFill>
            </p:spPr>
            <p:txBody>
              <a:bodyPr/>
              <a:lstStyle/>
              <a:p>
                <a:r>
                  <a:rPr lang="zh-CN" altLang="en-US">
                    <a:noFill/>
                  </a:rPr>
                  <a:t> </a:t>
                </a:r>
              </a:p>
            </p:txBody>
          </p:sp>
        </mc:Fallback>
      </mc:AlternateContent>
      <p:graphicFrame>
        <p:nvGraphicFramePr>
          <p:cNvPr id="10" name="Object 7"/>
          <p:cNvGraphicFramePr>
            <a:graphicFrameLocks noChangeAspect="1"/>
          </p:cNvGraphicFramePr>
          <p:nvPr/>
        </p:nvGraphicFramePr>
        <p:xfrm>
          <a:off x="2761615" y="6052185"/>
          <a:ext cx="1731645" cy="383540"/>
        </p:xfrm>
        <a:graphic>
          <a:graphicData uri="http://schemas.openxmlformats.org/presentationml/2006/ole">
            <mc:AlternateContent xmlns:mc="http://schemas.openxmlformats.org/markup-compatibility/2006">
              <mc:Choice xmlns:v="urn:schemas-microsoft-com:vml" Requires="v">
                <p:oleObj spid="_x0000_s3" name="公式" r:id="rId3" imgW="1117600" imgH="241300" progId="Equation.3">
                  <p:embed/>
                </p:oleObj>
              </mc:Choice>
              <mc:Fallback>
                <p:oleObj name="公式" r:id="rId3" imgW="1117600" imgH="241300" progId="Equation.3">
                  <p:embed/>
                  <p:pic>
                    <p:nvPicPr>
                      <p:cNvPr id="0" name="图片 114723"/>
                      <p:cNvPicPr>
                        <a:picLocks noChangeAspect="1" noChangeArrowheads="1"/>
                      </p:cNvPicPr>
                      <p:nvPr/>
                    </p:nvPicPr>
                    <p:blipFill>
                      <a:blip r:embed="rId4"/>
                      <a:srcRect/>
                      <a:stretch>
                        <a:fillRect/>
                      </a:stretch>
                    </p:blipFill>
                    <p:spPr bwMode="auto">
                      <a:xfrm>
                        <a:off x="2761615" y="6052185"/>
                        <a:ext cx="1731645" cy="383540"/>
                      </a:xfrm>
                      <a:prstGeom prst="rect">
                        <a:avLst/>
                      </a:prstGeom>
                      <a:solidFill>
                        <a:srgbClr val="FFFF00"/>
                      </a:solidFill>
                    </p:spPr>
                  </p:pic>
                </p:oleObj>
              </mc:Fallback>
            </mc:AlternateContent>
          </a:graphicData>
        </a:graphic>
      </p:graphicFrame>
      <p:graphicFrame>
        <p:nvGraphicFramePr>
          <p:cNvPr id="11" name="Object 7"/>
          <p:cNvGraphicFramePr>
            <a:graphicFrameLocks noChangeAspect="1"/>
          </p:cNvGraphicFramePr>
          <p:nvPr/>
        </p:nvGraphicFramePr>
        <p:xfrm>
          <a:off x="4645025" y="6052185"/>
          <a:ext cx="3446780" cy="447675"/>
        </p:xfrm>
        <a:graphic>
          <a:graphicData uri="http://schemas.openxmlformats.org/presentationml/2006/ole">
            <mc:AlternateContent xmlns:mc="http://schemas.openxmlformats.org/markup-compatibility/2006">
              <mc:Choice xmlns:v="urn:schemas-microsoft-com:vml" Requires="v">
                <p:oleObj spid="_x0000_s5" name="公式" r:id="rId5" imgW="1841500" imgH="228600" progId="Equation.3">
                  <p:embed/>
                </p:oleObj>
              </mc:Choice>
              <mc:Fallback>
                <p:oleObj name="公式" r:id="rId5" imgW="1841500" imgH="228600" progId="Equation.3">
                  <p:embed/>
                  <p:pic>
                    <p:nvPicPr>
                      <p:cNvPr id="0" name="图片 114724"/>
                      <p:cNvPicPr>
                        <a:picLocks noChangeAspect="1" noChangeArrowheads="1"/>
                      </p:cNvPicPr>
                      <p:nvPr/>
                    </p:nvPicPr>
                    <p:blipFill>
                      <a:blip r:embed="rId6"/>
                      <a:srcRect/>
                      <a:stretch>
                        <a:fillRect/>
                      </a:stretch>
                    </p:blipFill>
                    <p:spPr bwMode="auto">
                      <a:xfrm>
                        <a:off x="4645025" y="6052185"/>
                        <a:ext cx="3446780" cy="447675"/>
                      </a:xfrm>
                      <a:prstGeom prst="rect">
                        <a:avLst/>
                      </a:prstGeom>
                      <a:solidFill>
                        <a:srgbClr val="FFFF00"/>
                      </a:solidFill>
                      <a:ln>
                        <a:noFill/>
                      </a:ln>
                    </p:spPr>
                  </p:pic>
                </p:oleObj>
              </mc:Fallback>
            </mc:AlternateContent>
          </a:graphicData>
        </a:graphic>
      </p:graphicFrame>
      <p:sp>
        <p:nvSpPr>
          <p:cNvPr id="12" name="矩形 11"/>
          <p:cNvSpPr/>
          <p:nvPr/>
        </p:nvSpPr>
        <p:spPr>
          <a:xfrm>
            <a:off x="251915" y="5923305"/>
            <a:ext cx="2236510" cy="461665"/>
          </a:xfrm>
          <a:prstGeom prst="rect">
            <a:avLst/>
          </a:prstGeom>
        </p:spPr>
        <p:txBody>
          <a:bodyPr wrap="none">
            <a:spAutoFit/>
          </a:bodyPr>
          <a:lstStyle/>
          <a:p>
            <a:pPr eaLnBrk="1" hangingPunct="1">
              <a:lnSpc>
                <a:spcPct val="120000"/>
              </a:lnSpc>
              <a:spcBef>
                <a:spcPct val="20000"/>
              </a:spcBef>
              <a:buClr>
                <a:schemeClr val="hlink"/>
              </a:buClr>
              <a:buSzPct val="110000"/>
              <a:buFont typeface="Wingdings" panose="05000000000000000000" pitchFamily="2" charset="2"/>
              <a:buNone/>
            </a:pPr>
            <a:r>
              <a:rPr lang="zh-CN" altLang="en-US" sz="2000" dirty="0">
                <a:solidFill>
                  <a:srgbClr val="0000FF"/>
                </a:solidFill>
                <a:latin typeface="黑体" panose="02010609060101010101" pitchFamily="49" charset="-122"/>
                <a:ea typeface="黑体" panose="02010609060101010101" pitchFamily="49" charset="-122"/>
              </a:rPr>
              <a:t>有效应力集中系数</a:t>
            </a:r>
            <a:endParaRPr lang="zh-CN" altLang="en-US" sz="2000" dirty="0">
              <a:solidFill>
                <a:srgbClr val="0000FF"/>
              </a:solidFill>
              <a:latin typeface="黑体" panose="02010609060101010101" pitchFamily="49" charset="-122"/>
              <a:ea typeface="黑体" panose="02010609060101010101" pitchFamily="49" charset="-122"/>
            </a:endParaRPr>
          </a:p>
        </p:txBody>
      </p:sp>
      <p:sp>
        <p:nvSpPr>
          <p:cNvPr id="6" name="文本框 5"/>
          <p:cNvSpPr txBox="1"/>
          <p:nvPr/>
        </p:nvSpPr>
        <p:spPr>
          <a:xfrm>
            <a:off x="7317105" y="98425"/>
            <a:ext cx="1681480" cy="429895"/>
          </a:xfrm>
          <a:prstGeom prst="rect">
            <a:avLst/>
          </a:prstGeom>
          <a:noFill/>
        </p:spPr>
        <p:txBody>
          <a:bodyPr wrap="none" rtlCol="0" anchor="t">
            <a:spAutoFit/>
          </a:bodyPr>
          <a:lstStyle/>
          <a:p>
            <a:r>
              <a:rPr lang="zh-CN" altLang="en-US">
                <a:solidFill>
                  <a:srgbClr val="C00000"/>
                </a:solidFill>
                <a:latin typeface="Arial" panose="020B0604020202020204" pitchFamily="34" charset="0"/>
                <a:cs typeface="Arial" panose="020B0604020202020204" pitchFamily="34" charset="0"/>
              </a:rPr>
              <a:t>σ</a:t>
            </a:r>
            <a:r>
              <a:rPr lang="en-US" altLang="zh-CN" baseline="-25000">
                <a:solidFill>
                  <a:srgbClr val="C00000"/>
                </a:solidFill>
                <a:latin typeface="Arial" panose="020B0604020202020204" pitchFamily="34" charset="0"/>
                <a:cs typeface="Arial" panose="020B0604020202020204" pitchFamily="34" charset="0"/>
              </a:rPr>
              <a:t>B</a:t>
            </a:r>
            <a:r>
              <a:rPr lang="en-US" altLang="zh-CN">
                <a:solidFill>
                  <a:srgbClr val="C00000"/>
                </a:solidFill>
                <a:latin typeface="Arial" panose="020B0604020202020204" pitchFamily="34" charset="0"/>
                <a:cs typeface="Arial" panose="020B0604020202020204" pitchFamily="34" charset="0"/>
              </a:rPr>
              <a:t>=420MPa</a:t>
            </a:r>
            <a:endParaRPr lang="en-US" altLang="zh-CN">
              <a:solidFill>
                <a:srgbClr val="C00000"/>
              </a:solidFill>
              <a:latin typeface="Arial" panose="020B0604020202020204" pitchFamily="34" charset="0"/>
              <a:cs typeface="Arial" panose="020B0604020202020204" pitchFamily="34" charset="0"/>
            </a:endParaRPr>
          </a:p>
        </p:txBody>
      </p:sp>
      <p:sp>
        <p:nvSpPr>
          <p:cNvPr id="8" name="矩形 7"/>
          <p:cNvSpPr/>
          <p:nvPr/>
        </p:nvSpPr>
        <p:spPr>
          <a:xfrm>
            <a:off x="252095" y="5318760"/>
            <a:ext cx="1799590" cy="494665"/>
          </a:xfrm>
          <a:prstGeom prst="rect">
            <a:avLst/>
          </a:prstGeom>
          <a:solidFill>
            <a:schemeClr val="bg1"/>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graphicFrame>
        <p:nvGraphicFramePr>
          <p:cNvPr id="13" name="Object 7"/>
          <p:cNvGraphicFramePr>
            <a:graphicFrameLocks noChangeAspect="1"/>
          </p:cNvGraphicFramePr>
          <p:nvPr/>
        </p:nvGraphicFramePr>
        <p:xfrm>
          <a:off x="378460" y="1721803"/>
          <a:ext cx="845185" cy="323215"/>
        </p:xfrm>
        <a:graphic>
          <a:graphicData uri="http://schemas.openxmlformats.org/presentationml/2006/ole">
            <mc:AlternateContent xmlns:mc="http://schemas.openxmlformats.org/markup-compatibility/2006">
              <mc:Choice xmlns:v="urn:schemas-microsoft-com:vml" Requires="v">
                <p:oleObj spid="_x0000_s14" name="公式" r:id="rId7" imgW="545465" imgH="203200" progId="Equation.3">
                  <p:embed/>
                </p:oleObj>
              </mc:Choice>
              <mc:Fallback>
                <p:oleObj name="公式" r:id="rId7" imgW="545465" imgH="203200" progId="Equation.3">
                  <p:embed/>
                  <p:pic>
                    <p:nvPicPr>
                      <p:cNvPr id="0" name="图片 114723"/>
                      <p:cNvPicPr>
                        <a:picLocks noChangeAspect="1" noChangeArrowheads="1"/>
                      </p:cNvPicPr>
                      <p:nvPr/>
                    </p:nvPicPr>
                    <p:blipFill>
                      <a:blip r:embed="rId8"/>
                      <a:srcRect/>
                      <a:stretch>
                        <a:fillRect/>
                      </a:stretch>
                    </p:blipFill>
                    <p:spPr bwMode="auto">
                      <a:xfrm>
                        <a:off x="378460" y="1721803"/>
                        <a:ext cx="845185" cy="323215"/>
                      </a:xfrm>
                      <a:prstGeom prst="rect">
                        <a:avLst/>
                      </a:prstGeom>
                      <a:solidFill>
                        <a:srgbClr val="FFFF00"/>
                      </a:solidFill>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1090990"/>
            <a:ext cx="9144000" cy="5404163"/>
          </a:xfrm>
          <a:prstGeom prst="rect">
            <a:avLst/>
          </a:prstGeom>
        </p:spPr>
      </p:pic>
      <p:cxnSp>
        <p:nvCxnSpPr>
          <p:cNvPr id="6" name="直接连接符 5"/>
          <p:cNvCxnSpPr/>
          <p:nvPr/>
        </p:nvCxnSpPr>
        <p:spPr bwMode="auto">
          <a:xfrm flipV="1">
            <a:off x="3582000" y="4689000"/>
            <a:ext cx="0" cy="225001"/>
          </a:xfrm>
          <a:prstGeom prst="line">
            <a:avLst/>
          </a:prstGeom>
          <a:noFill/>
          <a:ln w="9525" cap="flat" cmpd="sng" algn="ctr">
            <a:solidFill>
              <a:srgbClr val="FF0000"/>
            </a:solidFill>
            <a:prstDash val="solid"/>
            <a:round/>
            <a:headEnd type="none" w="med" len="med"/>
            <a:tailEnd type="none" w="med" len="med"/>
          </a:ln>
          <a:effectLst/>
        </p:spPr>
      </p:cxnSp>
      <p:cxnSp>
        <p:nvCxnSpPr>
          <p:cNvPr id="9" name="直接连接符 8"/>
          <p:cNvCxnSpPr/>
          <p:nvPr/>
        </p:nvCxnSpPr>
        <p:spPr bwMode="auto">
          <a:xfrm flipH="1" flipV="1">
            <a:off x="3351920" y="3769732"/>
            <a:ext cx="5080" cy="1144270"/>
          </a:xfrm>
          <a:prstGeom prst="line">
            <a:avLst/>
          </a:prstGeom>
          <a:noFill/>
          <a:ln w="9525" cap="flat" cmpd="sng" algn="ctr">
            <a:solidFill>
              <a:srgbClr val="FF0000"/>
            </a:solidFill>
            <a:prstDash val="solid"/>
            <a:round/>
            <a:headEnd type="none" w="med" len="med"/>
            <a:tailEnd type="none" w="med" len="med"/>
          </a:ln>
          <a:effectLst/>
        </p:spPr>
      </p:cxnSp>
      <p:cxnSp>
        <p:nvCxnSpPr>
          <p:cNvPr id="13" name="直接连接符 12"/>
          <p:cNvCxnSpPr/>
          <p:nvPr/>
        </p:nvCxnSpPr>
        <p:spPr bwMode="auto">
          <a:xfrm flipH="1" flipV="1">
            <a:off x="1149105" y="3726305"/>
            <a:ext cx="2183130" cy="29210"/>
          </a:xfrm>
          <a:prstGeom prst="line">
            <a:avLst/>
          </a:prstGeom>
          <a:noFill/>
          <a:ln w="9525" cap="flat" cmpd="sng" algn="ctr">
            <a:solidFill>
              <a:srgbClr val="FF0000"/>
            </a:solidFill>
            <a:prstDash val="solid"/>
            <a:round/>
            <a:headEnd type="none" w="med" len="med"/>
            <a:tailEnd type="none" w="med" len="med"/>
          </a:ln>
          <a:effectLst/>
        </p:spPr>
      </p:cxnSp>
      <mc:AlternateContent xmlns:mc="http://schemas.openxmlformats.org/markup-compatibility/2006">
        <mc:Choice xmlns:a14="http://schemas.microsoft.com/office/drawing/2010/main" Requires="a14">
          <p:sp>
            <p:nvSpPr>
              <p:cNvPr id="22" name="文本框 21"/>
              <p:cNvSpPr txBox="1"/>
              <p:nvPr/>
            </p:nvSpPr>
            <p:spPr>
              <a:xfrm>
                <a:off x="3582000" y="279000"/>
                <a:ext cx="2970000" cy="430887"/>
              </a:xfrm>
              <a:prstGeom prst="rect">
                <a:avLst/>
              </a:prstGeom>
              <a:noFill/>
            </p:spPr>
            <p:txBody>
              <a:bodyPr wrap="squar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𝜎</m:t>
                        </m:r>
                      </m:sub>
                    </m:sSub>
                    <m:r>
                      <a:rPr lang="en-US" altLang="zh-CN" i="1">
                        <a:latin typeface="Cambria Math" panose="02040503050406030204" pitchFamily="18" charset="0"/>
                      </a:rPr>
                      <m:t>=</m:t>
                    </m:r>
                  </m:oMath>
                </a14:m>
                <a:r>
                  <a:rPr lang="en-US" altLang="zh-CN" dirty="0"/>
                  <a:t>0.74</a:t>
                </a:r>
                <a:endParaRPr lang="zh-CN" altLang="en-US" dirty="0"/>
              </a:p>
            </p:txBody>
          </p:sp>
        </mc:Choice>
        <mc:Fallback>
          <p:sp>
            <p:nvSpPr>
              <p:cNvPr id="22" name="文本框 21"/>
              <p:cNvSpPr txBox="1">
                <a:spLocks noRot="1" noChangeAspect="1" noMove="1" noResize="1" noEditPoints="1" noAdjustHandles="1" noChangeArrowheads="1" noChangeShapeType="1" noTextEdit="1"/>
              </p:cNvSpPr>
              <p:nvPr/>
            </p:nvSpPr>
            <p:spPr>
              <a:xfrm>
                <a:off x="3582000" y="279000"/>
                <a:ext cx="2970000" cy="430887"/>
              </a:xfrm>
              <a:prstGeom prst="rect">
                <a:avLst/>
              </a:prstGeom>
              <a:blipFill rotWithShape="1">
                <a:blip r:embed="rId2"/>
                <a:stretch>
                  <a:fillRect l="-20" t="-55" r="2" b="137"/>
                </a:stretch>
              </a:blipFill>
            </p:spPr>
            <p:txBody>
              <a:bodyPr/>
              <a:lstStyle/>
              <a:p>
                <a:r>
                  <a:rPr lang="zh-CN" altLang="en-US">
                    <a:noFill/>
                  </a:rPr>
                  <a:t> </a:t>
                </a:r>
              </a:p>
            </p:txBody>
          </p:sp>
        </mc:Fallback>
      </mc:AlternateContent>
      <p:sp>
        <p:nvSpPr>
          <p:cNvPr id="23" name="文本框 22"/>
          <p:cNvSpPr txBox="1"/>
          <p:nvPr/>
        </p:nvSpPr>
        <p:spPr>
          <a:xfrm>
            <a:off x="1736725" y="323850"/>
            <a:ext cx="1734185" cy="429895"/>
          </a:xfrm>
          <a:prstGeom prst="rect">
            <a:avLst/>
          </a:prstGeom>
          <a:noFill/>
        </p:spPr>
        <p:txBody>
          <a:bodyPr wrap="square" rtlCol="0">
            <a:spAutoFit/>
          </a:bodyPr>
          <a:lstStyle/>
          <a:p>
            <a:r>
              <a:rPr lang="en-US" altLang="zh-CN" dirty="0"/>
              <a:t>d=45mm</a:t>
            </a:r>
            <a:r>
              <a:rPr lang="zh-CN" altLang="en-US" dirty="0"/>
              <a:t>，</a:t>
            </a:r>
            <a:endParaRPr lang="zh-CN" altLang="en-US" dirty="0"/>
          </a:p>
        </p:txBody>
      </p:sp>
      <p:sp>
        <p:nvSpPr>
          <p:cNvPr id="3" name="文本框 2"/>
          <p:cNvSpPr txBox="1"/>
          <p:nvPr/>
        </p:nvSpPr>
        <p:spPr>
          <a:xfrm>
            <a:off x="1882140" y="5857240"/>
            <a:ext cx="1311910" cy="398780"/>
          </a:xfrm>
          <a:prstGeom prst="rect">
            <a:avLst/>
          </a:prstGeom>
          <a:solidFill>
            <a:schemeClr val="bg1"/>
          </a:solidFill>
        </p:spPr>
        <p:txBody>
          <a:bodyPr wrap="square" rtlCol="0">
            <a:spAutoFit/>
          </a:bodyPr>
          <a:lstStyle/>
          <a:p>
            <a:r>
              <a:rPr lang="zh-CN" altLang="en-US" sz="2000"/>
              <a:t>附图</a:t>
            </a:r>
            <a:r>
              <a:rPr lang="en-US" altLang="zh-CN" sz="2000"/>
              <a:t>1.3-2</a:t>
            </a:r>
            <a:endParaRPr lang="en-US" altLang="zh-CN" sz="2000"/>
          </a:p>
        </p:txBody>
      </p:sp>
      <p:sp>
        <p:nvSpPr>
          <p:cNvPr id="2" name="矩形 1"/>
          <p:cNvSpPr/>
          <p:nvPr/>
        </p:nvSpPr>
        <p:spPr>
          <a:xfrm>
            <a:off x="3536950" y="278765"/>
            <a:ext cx="1664970" cy="405130"/>
          </a:xfrm>
          <a:prstGeom prst="rect">
            <a:avLst/>
          </a:prstGeom>
          <a:solidFill>
            <a:schemeClr val="bg1"/>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2"/>
                                        </p:tgtEl>
                                      </p:cBhvr>
                                    </p:animEffect>
                                    <p:set>
                                      <p:cBhvr>
                                        <p:cTn id="2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由实验可知，有效应力集中、绝对尺寸和表面状态只对</a:t>
            </a:r>
            <a:r>
              <a:rPr lang="en-US" altLang="zh-CN" sz="2600" u="sng">
                <a:solidFill>
                  <a:srgbClr val="000000"/>
                </a:solidFill>
                <a:latin typeface="微软雅黑" panose="020B0503020204020204" charset="-122"/>
                <a:ea typeface="微软雅黑" panose="020B0503020204020204" charset="-122"/>
              </a:rPr>
              <a:t>                </a:t>
            </a:r>
            <a:r>
              <a:rPr lang="en-US" altLang="zh-CN" sz="2600">
                <a:solidFill>
                  <a:srgbClr val="000000"/>
                </a:solidFill>
                <a:latin typeface="微软雅黑" panose="020B0503020204020204" charset="-122"/>
                <a:ea typeface="微软雅黑" panose="020B0503020204020204" charset="-122"/>
              </a:rPr>
              <a:t> </a:t>
            </a:r>
            <a:r>
              <a:rPr lang="zh-CN" altLang="en-US" sz="2600">
                <a:solidFill>
                  <a:srgbClr val="000000"/>
                </a:solidFill>
                <a:latin typeface="微软雅黑" panose="020B0503020204020204" charset="-122"/>
                <a:ea typeface="微软雅黑" panose="020B0503020204020204" charset="-122"/>
              </a:rPr>
              <a:t>有影响。</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平均应力</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应力幅</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应力幅和平均应力</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lstStyle/>
          <a:p>
            <a:pPr lvl="0" algn="l">
              <a:buNone/>
            </a:pP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9"/>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grpSp>
        <p:nvGrpSpPr>
          <p:cNvPr id="17" name="组合 16"/>
          <p:cNvGrpSpPr/>
          <p:nvPr>
            <p:custDataLst>
              <p:tags r:id="rId10"/>
            </p:custDataLst>
          </p:nvPr>
        </p:nvGrpSpPr>
        <p:grpSpPr>
          <a:xfrm>
            <a:off x="0" y="0"/>
            <a:ext cx="9144000" cy="635000"/>
            <a:chOff x="0" y="0"/>
            <a:chExt cx="14400" cy="1000"/>
          </a:xfrm>
        </p:grpSpPr>
        <p:sp>
          <p:nvSpPr>
            <p:cNvPr id="13" name="TitleBackground"/>
            <p:cNvSpPr/>
            <p:nvPr>
              <p:custDataLst>
                <p:tags r:id="rId11"/>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2"/>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3"/>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4"/>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8E42"/>
          <p:cNvPicPr>
            <a:picLocks noChangeAspect="1"/>
          </p:cNvPicPr>
          <p:nvPr>
            <p:custDataLst>
              <p:tags r:id="rId15"/>
            </p:custDataLst>
          </p:nvPr>
        </p:nvPicPr>
        <p:blipFill>
          <a:blip r:embed="rId16"/>
          <a:stretch>
            <a:fillRect/>
          </a:stretch>
        </p:blipFill>
        <p:spPr>
          <a:xfrm>
            <a:off x="7594600" y="63500"/>
            <a:ext cx="1422400" cy="508000"/>
          </a:xfrm>
          <a:prstGeom prst="rect">
            <a:avLst/>
          </a:prstGeom>
        </p:spPr>
      </p:pic>
      <p:sp>
        <p:nvSpPr>
          <p:cNvPr id="11" name="矩形 10"/>
          <p:cNvSpPr/>
          <p:nvPr/>
        </p:nvSpPr>
        <p:spPr>
          <a:xfrm>
            <a:off x="956945" y="2646680"/>
            <a:ext cx="798195" cy="2667000"/>
          </a:xfrm>
          <a:prstGeom prst="rect">
            <a:avLst/>
          </a:prstGeom>
          <a:solidFill>
            <a:schemeClr val="bg1"/>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ustDataLst>
      <p:tags r:id="rId1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bwMode="auto">
          <a:xfrm>
            <a:off x="5029200" y="762000"/>
            <a:ext cx="1905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a:solidFill>
                  <a:schemeClr val="bg1"/>
                </a:solidFill>
                <a:latin typeface="华文新魏" panose="02010800040101010101" pitchFamily="2" charset="-122"/>
                <a:ea typeface="华文新魏" panose="02010800040101010101" pitchFamily="2" charset="-122"/>
              </a:rPr>
              <a:t>机械零件的疲劳强度计算</a:t>
            </a:r>
            <a:r>
              <a:rPr lang="en-US" altLang="zh-CN" sz="800">
                <a:solidFill>
                  <a:schemeClr val="bg1"/>
                </a:solidFill>
                <a:latin typeface="华文新魏" panose="02010800040101010101" pitchFamily="2" charset="-122"/>
                <a:ea typeface="华文新魏" panose="02010800040101010101" pitchFamily="2" charset="-122"/>
              </a:rPr>
              <a:t>1</a:t>
            </a:r>
            <a:endParaRPr lang="en-US" altLang="zh-CN" sz="800">
              <a:solidFill>
                <a:schemeClr val="bg1"/>
              </a:solidFill>
              <a:latin typeface="华文新魏" panose="02010800040101010101" pitchFamily="2" charset="-122"/>
              <a:ea typeface="华文新魏" panose="02010800040101010101" pitchFamily="2" charset="-122"/>
            </a:endParaRPr>
          </a:p>
        </p:txBody>
      </p:sp>
      <p:sp>
        <p:nvSpPr>
          <p:cNvPr id="67601" name="Rectangle 17"/>
          <p:cNvSpPr>
            <a:spLocks noChangeArrowheads="1"/>
          </p:cNvSpPr>
          <p:nvPr/>
        </p:nvSpPr>
        <p:spPr bwMode="auto">
          <a:xfrm>
            <a:off x="297000" y="1323315"/>
            <a:ext cx="8534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由于零件几何形状的变化、尺寸大小、加工质量及强化因素等的影响，使得零件的疲劳极限要小于材料试件的疲劳极限。</a:t>
            </a:r>
            <a:endParaRPr lang="zh-CN" altLang="en-US" sz="2000" dirty="0">
              <a:solidFill>
                <a:srgbClr val="000099"/>
              </a:solidFill>
              <a:latin typeface="Times New Roman" panose="02020603050405020304" pitchFamily="18" charset="0"/>
            </a:endParaRPr>
          </a:p>
        </p:txBody>
      </p:sp>
      <p:grpSp>
        <p:nvGrpSpPr>
          <p:cNvPr id="2" name="Group 33"/>
          <p:cNvGrpSpPr/>
          <p:nvPr/>
        </p:nvGrpSpPr>
        <p:grpSpPr bwMode="auto">
          <a:xfrm>
            <a:off x="343820" y="2119917"/>
            <a:ext cx="8458200" cy="1084263"/>
            <a:chOff x="236" y="1437"/>
            <a:chExt cx="5328" cy="683"/>
          </a:xfrm>
        </p:grpSpPr>
        <p:sp>
          <p:nvSpPr>
            <p:cNvPr id="4111" name="Rectangle 18"/>
            <p:cNvSpPr>
              <a:spLocks noChangeArrowheads="1"/>
            </p:cNvSpPr>
            <p:nvPr/>
          </p:nvSpPr>
          <p:spPr bwMode="auto">
            <a:xfrm>
              <a:off x="236" y="1437"/>
              <a:ext cx="5328"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以弯曲疲劳极限的</a:t>
              </a:r>
              <a:r>
                <a:rPr lang="zh-CN" altLang="en-US" sz="2000" dirty="0">
                  <a:solidFill>
                    <a:srgbClr val="FF0000"/>
                  </a:solidFill>
                  <a:latin typeface="Times New Roman" panose="02020603050405020304" pitchFamily="18" charset="0"/>
                </a:rPr>
                <a:t>综合影响系数</a:t>
              </a:r>
              <a:r>
                <a:rPr lang="zh-CN" altLang="en-US" sz="2000" i="1" dirty="0">
                  <a:solidFill>
                    <a:srgbClr val="FF0000"/>
                  </a:solidFill>
                  <a:latin typeface="Times New Roman" panose="02020603050405020304" pitchFamily="18" charset="0"/>
                </a:rPr>
                <a:t>Ｋ</a:t>
              </a:r>
              <a:r>
                <a:rPr lang="en-US" altLang="zh-CN" sz="2000" i="1" baseline="-25000" dirty="0">
                  <a:solidFill>
                    <a:srgbClr val="FF0000"/>
                  </a:solidFill>
                  <a:latin typeface="Times New Roman" panose="02020603050405020304" pitchFamily="18" charset="0"/>
                </a:rPr>
                <a:t>σ</a:t>
              </a:r>
              <a:r>
                <a:rPr lang="zh-CN" altLang="en-US" sz="2000" dirty="0">
                  <a:solidFill>
                    <a:srgbClr val="000099"/>
                  </a:solidFill>
                  <a:latin typeface="Times New Roman" panose="02020603050405020304" pitchFamily="18" charset="0"/>
                </a:rPr>
                <a:t>表示材料对称循环弯曲疲劳极限</a:t>
              </a:r>
              <a:r>
                <a:rPr lang="en-US" altLang="zh-CN" sz="2000" i="1" dirty="0">
                  <a:solidFill>
                    <a:srgbClr val="000099"/>
                  </a:solidFill>
                  <a:latin typeface="Times New Roman" panose="02020603050405020304" pitchFamily="18" charset="0"/>
                </a:rPr>
                <a:t>σ</a:t>
              </a:r>
              <a:r>
                <a:rPr lang="en-US" altLang="zh-CN" sz="2000" baseline="-25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与零件对称循环弯曲疲劳极限</a:t>
              </a:r>
              <a:r>
                <a:rPr lang="en-US" altLang="zh-CN" sz="2000" i="1" dirty="0">
                  <a:solidFill>
                    <a:srgbClr val="000099"/>
                  </a:solidFill>
                  <a:latin typeface="Times New Roman" panose="02020603050405020304" pitchFamily="18" charset="0"/>
                </a:rPr>
                <a:t>σ</a:t>
              </a:r>
              <a:r>
                <a:rPr lang="en-US" altLang="zh-CN" sz="2000" baseline="-25000" dirty="0">
                  <a:solidFill>
                    <a:srgbClr val="000099"/>
                  </a:solidFill>
                  <a:latin typeface="Times New Roman" panose="02020603050405020304" pitchFamily="18" charset="0"/>
                </a:rPr>
                <a:t>-1e</a:t>
              </a:r>
              <a:r>
                <a:rPr lang="zh-CN" altLang="en-US" sz="2000" dirty="0">
                  <a:solidFill>
                    <a:srgbClr val="000099"/>
                  </a:solidFill>
                  <a:latin typeface="Times New Roman" panose="02020603050405020304" pitchFamily="18" charset="0"/>
                </a:rPr>
                <a:t>的比值，即</a:t>
              </a:r>
              <a:endParaRPr lang="zh-CN" altLang="en-US" sz="2000" dirty="0">
                <a:solidFill>
                  <a:srgbClr val="000099"/>
                </a:solidFill>
                <a:latin typeface="Times New Roman" panose="02020603050405020304" pitchFamily="18" charset="0"/>
              </a:endParaRPr>
            </a:p>
          </p:txBody>
        </p:sp>
        <p:graphicFrame>
          <p:nvGraphicFramePr>
            <p:cNvPr id="4098" name="Object 19"/>
            <p:cNvGraphicFramePr>
              <a:graphicFrameLocks noChangeAspect="1"/>
            </p:cNvGraphicFramePr>
            <p:nvPr/>
          </p:nvGraphicFramePr>
          <p:xfrm>
            <a:off x="3523" y="1666"/>
            <a:ext cx="719" cy="454"/>
          </p:xfrm>
          <a:graphic>
            <a:graphicData uri="http://schemas.openxmlformats.org/presentationml/2006/ole">
              <mc:AlternateContent xmlns:mc="http://schemas.openxmlformats.org/markup-compatibility/2006">
                <mc:Choice xmlns:v="urn:schemas-microsoft-com:vml" Requires="v">
                  <p:oleObj spid="_x0000_s3" name="Equation" r:id="rId1" imgW="613410" imgH="393700" progId="Equation.3">
                    <p:embed/>
                  </p:oleObj>
                </mc:Choice>
                <mc:Fallback>
                  <p:oleObj name="Equation" r:id="rId1" imgW="613410" imgH="393700" progId="Equation.3">
                    <p:embed/>
                    <p:pic>
                      <p:nvPicPr>
                        <p:cNvPr id="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3" y="1666"/>
                          <a:ext cx="719" cy="454"/>
                        </a:xfrm>
                        <a:prstGeom prst="rect">
                          <a:avLst/>
                        </a:prstGeom>
                        <a:solidFill>
                          <a:srgbClr val="FFFF00"/>
                        </a:solidFill>
                      </p:spPr>
                    </p:pic>
                  </p:oleObj>
                </mc:Fallback>
              </mc:AlternateContent>
            </a:graphicData>
          </a:graphic>
        </p:graphicFrame>
      </p:grpSp>
      <p:sp>
        <p:nvSpPr>
          <p:cNvPr id="67604" name="Rectangle 20"/>
          <p:cNvSpPr>
            <a:spLocks noChangeArrowheads="1"/>
          </p:cNvSpPr>
          <p:nvPr/>
        </p:nvSpPr>
        <p:spPr bwMode="auto">
          <a:xfrm>
            <a:off x="755805" y="3230375"/>
            <a:ext cx="6370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Times New Roman" panose="02020603050405020304" pitchFamily="18" charset="0"/>
              </a:rPr>
              <a:t>在不对称循环时，</a:t>
            </a:r>
            <a:r>
              <a:rPr lang="zh-CN" altLang="en-US" sz="2000" i="1" dirty="0">
                <a:solidFill>
                  <a:srgbClr val="C00000"/>
                </a:solidFill>
                <a:latin typeface="Times New Roman" panose="02020603050405020304" pitchFamily="18" charset="0"/>
              </a:rPr>
              <a:t>Ｋ</a:t>
            </a:r>
            <a:r>
              <a:rPr lang="en-US" altLang="zh-CN" sz="2000" i="1" baseline="-25000" dirty="0">
                <a:solidFill>
                  <a:srgbClr val="C00000"/>
                </a:solidFill>
                <a:latin typeface="Times New Roman" panose="02020603050405020304" pitchFamily="18" charset="0"/>
              </a:rPr>
              <a:t>σ</a:t>
            </a:r>
            <a:r>
              <a:rPr lang="zh-CN" altLang="en-US" sz="2000" dirty="0">
                <a:solidFill>
                  <a:srgbClr val="C00000"/>
                </a:solidFill>
                <a:latin typeface="Times New Roman" panose="02020603050405020304" pitchFamily="18" charset="0"/>
              </a:rPr>
              <a:t>是试件与零件极限应力幅的比值</a:t>
            </a:r>
            <a:r>
              <a:rPr lang="zh-CN" altLang="en-US" sz="2000" dirty="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sp>
        <p:nvSpPr>
          <p:cNvPr id="67605" name="Rectangle 21"/>
          <p:cNvSpPr>
            <a:spLocks noChangeArrowheads="1"/>
          </p:cNvSpPr>
          <p:nvPr/>
        </p:nvSpPr>
        <p:spPr bwMode="auto">
          <a:xfrm>
            <a:off x="297000" y="3658065"/>
            <a:ext cx="4038600" cy="278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将零件材料的极限应力线图</a:t>
            </a:r>
            <a:endParaRPr lang="zh-CN" altLang="en-US" sz="2000" dirty="0">
              <a:solidFill>
                <a:srgbClr val="000099"/>
              </a:solidFill>
              <a:latin typeface="华文中宋" panose="02010600040101010101" pitchFamily="2" charset="-122"/>
            </a:endParaRPr>
          </a:p>
          <a:p>
            <a:pPr eaLnBrk="1" hangingPunct="1">
              <a:lnSpc>
                <a:spcPct val="125000"/>
              </a:lnSpc>
            </a:pPr>
            <a:r>
              <a:rPr lang="zh-CN" altLang="en-US" sz="2000" dirty="0">
                <a:solidFill>
                  <a:srgbClr val="000099"/>
                </a:solidFill>
                <a:latin typeface="华文中宋" panose="02010600040101010101" pitchFamily="2" charset="-122"/>
              </a:rPr>
              <a:t>中的直线</a:t>
            </a:r>
            <a:r>
              <a:rPr lang="en-US" altLang="zh-CN" sz="2000" i="1" dirty="0">
                <a:solidFill>
                  <a:srgbClr val="000099"/>
                </a:solidFill>
                <a:latin typeface="Times New Roman" panose="02020603050405020304" pitchFamily="18" charset="0"/>
              </a:rPr>
              <a:t>ADG</a:t>
            </a:r>
            <a:r>
              <a:rPr lang="zh-CN" altLang="en-US" sz="2000" dirty="0">
                <a:solidFill>
                  <a:srgbClr val="000099"/>
                </a:solidFill>
                <a:latin typeface="华文中宋" panose="02010600040101010101" pitchFamily="2" charset="-122"/>
              </a:rPr>
              <a:t>按比例向下移，</a:t>
            </a:r>
            <a:endParaRPr lang="zh-CN" altLang="en-US" sz="2000" dirty="0">
              <a:solidFill>
                <a:srgbClr val="000099"/>
              </a:solidFill>
              <a:latin typeface="华文中宋" panose="02010600040101010101" pitchFamily="2" charset="-122"/>
            </a:endParaRPr>
          </a:p>
          <a:p>
            <a:pPr eaLnBrk="1" hangingPunct="1">
              <a:lnSpc>
                <a:spcPct val="125000"/>
              </a:lnSpc>
            </a:pPr>
            <a:r>
              <a:rPr lang="zh-CN" altLang="en-US" sz="2000" dirty="0">
                <a:solidFill>
                  <a:srgbClr val="000099"/>
                </a:solidFill>
                <a:latin typeface="华文中宋" panose="02010600040101010101" pitchFamily="2" charset="-122"/>
              </a:rPr>
              <a:t>成为右图所示的直线</a:t>
            </a:r>
            <a:r>
              <a:rPr lang="en-US" altLang="zh-CN" sz="2000" i="1" dirty="0">
                <a:solidFill>
                  <a:srgbClr val="000099"/>
                </a:solidFill>
                <a:latin typeface="Times New Roman" panose="02020603050405020304" pitchFamily="18" charset="0"/>
              </a:rPr>
              <a:t>A'D'G'</a:t>
            </a:r>
            <a:r>
              <a:rPr lang="zh-CN" altLang="en-US" sz="2000" dirty="0">
                <a:solidFill>
                  <a:srgbClr val="000099"/>
                </a:solidFill>
                <a:latin typeface="华文中宋" panose="02010600040101010101" pitchFamily="2" charset="-122"/>
              </a:rPr>
              <a:t>，而极</a:t>
            </a:r>
            <a:endParaRPr lang="zh-CN" altLang="en-US" sz="2000" dirty="0">
              <a:solidFill>
                <a:srgbClr val="000099"/>
              </a:solidFill>
              <a:latin typeface="华文中宋" panose="02010600040101010101" pitchFamily="2" charset="-122"/>
            </a:endParaRPr>
          </a:p>
          <a:p>
            <a:pPr eaLnBrk="1" hangingPunct="1">
              <a:lnSpc>
                <a:spcPct val="125000"/>
              </a:lnSpc>
            </a:pPr>
            <a:r>
              <a:rPr lang="zh-CN" altLang="en-US" sz="2000" dirty="0">
                <a:solidFill>
                  <a:srgbClr val="000099"/>
                </a:solidFill>
                <a:latin typeface="华文中宋" panose="02010600040101010101" pitchFamily="2" charset="-122"/>
              </a:rPr>
              <a:t>限应力曲线的 </a:t>
            </a:r>
            <a:r>
              <a:rPr lang="en-US" altLang="zh-CN" sz="2000" i="1" dirty="0">
                <a:solidFill>
                  <a:srgbClr val="000099"/>
                </a:solidFill>
                <a:latin typeface="Times New Roman" panose="02020603050405020304" pitchFamily="18" charset="0"/>
              </a:rPr>
              <a:t>CG</a:t>
            </a:r>
            <a:r>
              <a:rPr lang="en-US" altLang="zh-CN" sz="2000" dirty="0">
                <a:solidFill>
                  <a:srgbClr val="000099"/>
                </a:solidFill>
                <a:latin typeface="Times New Roman" panose="02020603050405020304" pitchFamily="18" charset="0"/>
                <a:ea typeface="宋体" panose="02010600030101010101" pitchFamily="2" charset="-122"/>
              </a:rPr>
              <a:t> </a:t>
            </a:r>
            <a:r>
              <a:rPr lang="zh-CN" altLang="en-US" sz="2000" dirty="0">
                <a:solidFill>
                  <a:srgbClr val="000099"/>
                </a:solidFill>
                <a:latin typeface="华文中宋" panose="02010600040101010101" pitchFamily="2" charset="-122"/>
              </a:rPr>
              <a:t>部分，由于是</a:t>
            </a:r>
            <a:endParaRPr lang="zh-CN" altLang="en-US" sz="2000" dirty="0">
              <a:solidFill>
                <a:srgbClr val="000099"/>
              </a:solidFill>
              <a:latin typeface="华文中宋" panose="02010600040101010101" pitchFamily="2" charset="-122"/>
            </a:endParaRPr>
          </a:p>
          <a:p>
            <a:pPr eaLnBrk="1" hangingPunct="1">
              <a:lnSpc>
                <a:spcPct val="125000"/>
              </a:lnSpc>
            </a:pPr>
            <a:r>
              <a:rPr lang="zh-CN" altLang="en-US" sz="2000" dirty="0">
                <a:solidFill>
                  <a:srgbClr val="000099"/>
                </a:solidFill>
                <a:latin typeface="华文中宋" panose="02010600040101010101" pitchFamily="2" charset="-122"/>
              </a:rPr>
              <a:t>按照</a:t>
            </a:r>
            <a:r>
              <a:rPr lang="zh-CN" altLang="en-US" sz="2000" dirty="0">
                <a:solidFill>
                  <a:srgbClr val="FF0000"/>
                </a:solidFill>
                <a:latin typeface="华文中宋" panose="02010600040101010101" pitchFamily="2" charset="-122"/>
              </a:rPr>
              <a:t>静应力</a:t>
            </a:r>
            <a:r>
              <a:rPr lang="zh-CN" altLang="en-US" sz="2000" dirty="0">
                <a:solidFill>
                  <a:srgbClr val="000099"/>
                </a:solidFill>
                <a:latin typeface="华文中宋" panose="02010600040101010101" pitchFamily="2" charset="-122"/>
              </a:rPr>
              <a:t>的要求来考虑的，故</a:t>
            </a:r>
            <a:endParaRPr lang="zh-CN" altLang="en-US" sz="2000" dirty="0">
              <a:solidFill>
                <a:srgbClr val="000099"/>
              </a:solidFill>
              <a:latin typeface="华文中宋" panose="02010600040101010101" pitchFamily="2" charset="-122"/>
            </a:endParaRPr>
          </a:p>
          <a:p>
            <a:pPr eaLnBrk="1" hangingPunct="1">
              <a:lnSpc>
                <a:spcPct val="125000"/>
              </a:lnSpc>
            </a:pPr>
            <a:r>
              <a:rPr lang="zh-CN" altLang="en-US" sz="2000" dirty="0">
                <a:solidFill>
                  <a:srgbClr val="000099"/>
                </a:solidFill>
                <a:latin typeface="华文中宋" panose="02010600040101010101" pitchFamily="2" charset="-122"/>
              </a:rPr>
              <a:t>不须进行修正。这样就得到了</a:t>
            </a:r>
            <a:r>
              <a:rPr lang="zh-CN" altLang="en-US" sz="2000" dirty="0">
                <a:solidFill>
                  <a:srgbClr val="FF0000"/>
                </a:solidFill>
                <a:latin typeface="华文中宋" panose="02010600040101010101" pitchFamily="2" charset="-122"/>
              </a:rPr>
              <a:t>零</a:t>
            </a:r>
            <a:endParaRPr lang="zh-CN" altLang="en-US" sz="2000" dirty="0">
              <a:solidFill>
                <a:srgbClr val="FF0000"/>
              </a:solidFill>
              <a:latin typeface="华文中宋" panose="02010600040101010101" pitchFamily="2" charset="-122"/>
            </a:endParaRPr>
          </a:p>
          <a:p>
            <a:pPr eaLnBrk="1" hangingPunct="1">
              <a:lnSpc>
                <a:spcPct val="125000"/>
              </a:lnSpc>
            </a:pPr>
            <a:r>
              <a:rPr lang="zh-CN" altLang="en-US" sz="2000" dirty="0">
                <a:solidFill>
                  <a:srgbClr val="FF0000"/>
                </a:solidFill>
                <a:latin typeface="华文中宋" panose="02010600040101010101" pitchFamily="2" charset="-122"/>
              </a:rPr>
              <a:t>件的极限应力线图</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p:txBody>
      </p:sp>
      <p:sp>
        <p:nvSpPr>
          <p:cNvPr id="67612" name="Text Box 28"/>
          <p:cNvSpPr txBox="1">
            <a:spLocks noChangeArrowheads="1"/>
          </p:cNvSpPr>
          <p:nvPr/>
        </p:nvSpPr>
        <p:spPr bwMode="auto">
          <a:xfrm>
            <a:off x="6538913" y="62341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67614" name="Picture 30" descr="rewind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2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16" name="Picture 32" descr="NEXT1">
            <a:hlinkClick r:id="" action="ppaction://hlinkshowjump?jump=next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630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21"/>
          <p:cNvSpPr>
            <a:spLocks noChangeArrowheads="1"/>
          </p:cNvSpPr>
          <p:nvPr/>
        </p:nvSpPr>
        <p:spPr bwMode="auto">
          <a:xfrm>
            <a:off x="3529965" y="234315"/>
            <a:ext cx="509206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1.3-4 </a:t>
            </a:r>
            <a:r>
              <a:rPr lang="zh-CN" altLang="en-US" sz="3000" dirty="0">
                <a:solidFill>
                  <a:srgbClr val="CC3300"/>
                </a:solidFill>
                <a:latin typeface="黑体" panose="02010609060101010101" pitchFamily="49" charset="-122"/>
                <a:ea typeface="黑体" panose="02010609060101010101" pitchFamily="49" charset="-122"/>
              </a:rPr>
              <a:t>零件的疲劳强度计算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7"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8612" name="Rectangle 4"/>
          <p:cNvSpPr>
            <a:spLocks noChangeArrowheads="1"/>
          </p:cNvSpPr>
          <p:nvPr/>
        </p:nvSpPr>
        <p:spPr bwMode="auto">
          <a:xfrm>
            <a:off x="122630" y="886060"/>
            <a:ext cx="576000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zh-CN" altLang="en-US" sz="2400" dirty="0">
                <a:solidFill>
                  <a:srgbClr val="FF0000"/>
                </a:solidFill>
                <a:latin typeface="黑体" panose="02010609060101010101" pitchFamily="49" charset="-122"/>
                <a:ea typeface="黑体" panose="02010609060101010101" pitchFamily="49" charset="-122"/>
              </a:rPr>
              <a:t>（一）零件的疲劳极限应力图</a:t>
            </a:r>
            <a:endParaRPr lang="zh-CN" altLang="en-US" sz="2400" dirty="0">
              <a:solidFill>
                <a:srgbClr val="FF0000"/>
              </a:solidFill>
              <a:latin typeface="黑体" panose="02010609060101010101" pitchFamily="49" charset="-122"/>
              <a:ea typeface="黑体" panose="02010609060101010101" pitchFamily="49" charset="-122"/>
            </a:endParaRPr>
          </a:p>
        </p:txBody>
      </p:sp>
      <p:pic>
        <p:nvPicPr>
          <p:cNvPr id="15368" name="图片 18"/>
          <p:cNvPicPr>
            <a:picLocks noChangeAspect="1"/>
          </p:cNvPicPr>
          <p:nvPr/>
        </p:nvPicPr>
        <p:blipFill>
          <a:blip r:embed="rId6"/>
          <a:stretch>
            <a:fillRect/>
          </a:stretch>
        </p:blipFill>
        <p:spPr>
          <a:xfrm>
            <a:off x="4335780" y="3726815"/>
            <a:ext cx="4646295" cy="2696845"/>
          </a:xfrm>
          <a:prstGeom prst="rect">
            <a:avLst/>
          </a:prstGeom>
          <a:noFill/>
          <a:ln w="9525">
            <a:noFill/>
          </a:ln>
        </p:spPr>
      </p:pic>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left)">
                                      <p:cBhvr>
                                        <p:cTn id="7" dur="500"/>
                                        <p:tgtEl>
                                          <p:spTgt spid="686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601"/>
                                        </p:tgtEl>
                                        <p:attrNameLst>
                                          <p:attrName>style.visibility</p:attrName>
                                        </p:attrNameLst>
                                      </p:cBhvr>
                                      <p:to>
                                        <p:strVal val="visible"/>
                                      </p:to>
                                    </p:set>
                                    <p:animEffect transition="in" filter="wipe(left)">
                                      <p:cBhvr>
                                        <p:cTn id="12" dur="500"/>
                                        <p:tgtEl>
                                          <p:spTgt spid="676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67604"/>
                                        </p:tgtEl>
                                        <p:attrNameLst>
                                          <p:attrName>style.visibility</p:attrName>
                                        </p:attrNameLst>
                                      </p:cBhvr>
                                      <p:to>
                                        <p:strVal val="visible"/>
                                      </p:to>
                                    </p:set>
                                    <p:animEffect transition="in" filter="barn(outVertical)">
                                      <p:cBhvr>
                                        <p:cTn id="22" dur="500"/>
                                        <p:tgtEl>
                                          <p:spTgt spid="676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7605"/>
                                        </p:tgtEl>
                                        <p:attrNameLst>
                                          <p:attrName>style.visibility</p:attrName>
                                        </p:attrNameLst>
                                      </p:cBhvr>
                                      <p:to>
                                        <p:strVal val="visible"/>
                                      </p:to>
                                    </p:set>
                                    <p:animEffect transition="in" filter="wipe(left)">
                                      <p:cBhvr>
                                        <p:cTn id="27" dur="500"/>
                                        <p:tgtEl>
                                          <p:spTgt spid="67605"/>
                                        </p:tgtEl>
                                      </p:cBhvr>
                                    </p:animEffect>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499"/>
                                          </p:stCondLst>
                                        </p:cTn>
                                        <p:tgtEl>
                                          <p:spTgt spid="67616"/>
                                        </p:tgtEl>
                                        <p:attrNameLst>
                                          <p:attrName>style.visibility</p:attrName>
                                        </p:attrNameLst>
                                      </p:cBhvr>
                                      <p:to>
                                        <p:strVal val="visible"/>
                                      </p:to>
                                    </p:set>
                                  </p:childTnLst>
                                </p:cTn>
                              </p:par>
                            </p:childTnLst>
                          </p:cTn>
                        </p:par>
                        <p:par>
                          <p:cTn id="31" fill="hold">
                            <p:stCondLst>
                              <p:cond delay="1000"/>
                            </p:stCondLst>
                            <p:childTnLst>
                              <p:par>
                                <p:cTn id="32" presetID="2" presetClass="entr" presetSubtype="8" fill="hold" nodeType="afterEffect">
                                  <p:stCondLst>
                                    <p:cond delay="0"/>
                                  </p:stCondLst>
                                  <p:childTnLst>
                                    <p:set>
                                      <p:cBhvr>
                                        <p:cTn id="33" dur="1" fill="hold">
                                          <p:stCondLst>
                                            <p:cond delay="0"/>
                                          </p:stCondLst>
                                        </p:cTn>
                                        <p:tgtEl>
                                          <p:spTgt spid="67614"/>
                                        </p:tgtEl>
                                        <p:attrNameLst>
                                          <p:attrName>style.visibility</p:attrName>
                                        </p:attrNameLst>
                                      </p:cBhvr>
                                      <p:to>
                                        <p:strVal val="visible"/>
                                      </p:to>
                                    </p:set>
                                    <p:anim calcmode="lin" valueType="num">
                                      <p:cBhvr additive="base">
                                        <p:cTn id="34" dur="500" fill="hold"/>
                                        <p:tgtEl>
                                          <p:spTgt spid="67614"/>
                                        </p:tgtEl>
                                        <p:attrNameLst>
                                          <p:attrName>ppt_x</p:attrName>
                                        </p:attrNameLst>
                                      </p:cBhvr>
                                      <p:tavLst>
                                        <p:tav tm="0">
                                          <p:val>
                                            <p:strVal val="0-#ppt_w/2"/>
                                          </p:val>
                                        </p:tav>
                                        <p:tav tm="100000">
                                          <p:val>
                                            <p:strVal val="#ppt_x"/>
                                          </p:val>
                                        </p:tav>
                                      </p:tavLst>
                                    </p:anim>
                                    <p:anim calcmode="lin" valueType="num">
                                      <p:cBhvr additive="base">
                                        <p:cTn id="35" dur="500" fill="hold"/>
                                        <p:tgtEl>
                                          <p:spTgt spid="67614"/>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67612"/>
                                        </p:tgtEl>
                                        <p:attrNameLst>
                                          <p:attrName>style.visibility</p:attrName>
                                        </p:attrNameLst>
                                      </p:cBhvr>
                                      <p:to>
                                        <p:strVal val="visible"/>
                                      </p:to>
                                    </p:set>
                                    <p:anim calcmode="lin" valueType="num">
                                      <p:cBhvr additive="base">
                                        <p:cTn id="40" dur="500" fill="hold"/>
                                        <p:tgtEl>
                                          <p:spTgt spid="67612"/>
                                        </p:tgtEl>
                                        <p:attrNameLst>
                                          <p:attrName>ppt_x</p:attrName>
                                        </p:attrNameLst>
                                      </p:cBhvr>
                                      <p:tavLst>
                                        <p:tav tm="0">
                                          <p:val>
                                            <p:strVal val="0-#ppt_w/2"/>
                                          </p:val>
                                        </p:tav>
                                        <p:tav tm="100000">
                                          <p:val>
                                            <p:strVal val="#ppt_x"/>
                                          </p:val>
                                        </p:tav>
                                      </p:tavLst>
                                    </p:anim>
                                    <p:anim calcmode="lin" valueType="num">
                                      <p:cBhvr additive="base">
                                        <p:cTn id="41" dur="500" fill="hold"/>
                                        <p:tgtEl>
                                          <p:spTgt spid="676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01" grpId="0" autoUpdateAnimBg="0"/>
      <p:bldP spid="67604" grpId="0" autoUpdateAnimBg="0"/>
      <p:bldP spid="67605" grpId="0" autoUpdateAnimBg="0"/>
      <p:bldP spid="67612" grpId="0" autoUpdateAnimBg="0"/>
      <p:bldP spid="6861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bwMode="auto">
          <a:xfrm>
            <a:off x="5029200" y="762000"/>
            <a:ext cx="1905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a:solidFill>
                  <a:schemeClr val="bg1"/>
                </a:solidFill>
                <a:latin typeface="华文新魏" panose="02010800040101010101" pitchFamily="2" charset="-122"/>
                <a:ea typeface="华文新魏" panose="02010800040101010101" pitchFamily="2" charset="-122"/>
              </a:rPr>
              <a:t>机械零件的疲劳强度计算</a:t>
            </a:r>
            <a:r>
              <a:rPr lang="en-US" altLang="zh-CN" sz="800">
                <a:solidFill>
                  <a:schemeClr val="bg1"/>
                </a:solidFill>
                <a:latin typeface="华文新魏" panose="02010800040101010101" pitchFamily="2" charset="-122"/>
                <a:ea typeface="华文新魏" panose="02010800040101010101" pitchFamily="2" charset="-122"/>
              </a:rPr>
              <a:t>2</a:t>
            </a:r>
            <a:endParaRPr lang="en-US" altLang="zh-CN" sz="800">
              <a:solidFill>
                <a:schemeClr val="bg1"/>
              </a:solidFill>
              <a:latin typeface="华文新魏" panose="02010800040101010101" pitchFamily="2" charset="-122"/>
              <a:ea typeface="华文新魏" panose="02010800040101010101" pitchFamily="2" charset="-122"/>
            </a:endParaRPr>
          </a:p>
        </p:txBody>
      </p:sp>
      <p:sp>
        <p:nvSpPr>
          <p:cNvPr id="68612" name="Rectangle 4"/>
          <p:cNvSpPr>
            <a:spLocks noChangeArrowheads="1"/>
          </p:cNvSpPr>
          <p:nvPr/>
        </p:nvSpPr>
        <p:spPr bwMode="auto">
          <a:xfrm>
            <a:off x="152475" y="324085"/>
            <a:ext cx="576000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zh-CN" altLang="en-US" sz="2400" dirty="0">
                <a:solidFill>
                  <a:srgbClr val="FF0000"/>
                </a:solidFill>
                <a:latin typeface="黑体" panose="02010609060101010101" pitchFamily="49" charset="-122"/>
                <a:ea typeface="黑体" panose="02010609060101010101" pitchFamily="49" charset="-122"/>
              </a:rPr>
              <a:t>（二）单向稳定变应力时的疲劳强度计算</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68616" name="Rectangle 8"/>
          <p:cNvSpPr>
            <a:spLocks noChangeArrowheads="1"/>
          </p:cNvSpPr>
          <p:nvPr/>
        </p:nvSpPr>
        <p:spPr bwMode="auto">
          <a:xfrm>
            <a:off x="117210" y="953830"/>
            <a:ext cx="9753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华文中宋" panose="02010600040101010101" pitchFamily="2" charset="-122"/>
              </a:rPr>
              <a:t>　　进行零件疲劳强度计算时，首先根据零件危险截面上的 </a:t>
            </a:r>
            <a:r>
              <a:rPr lang="en-US" altLang="zh-CN" sz="2000" i="1" dirty="0" err="1">
                <a:solidFill>
                  <a:srgbClr val="FF0000"/>
                </a:solidFill>
                <a:latin typeface="Times New Roman" panose="02020603050405020304" pitchFamily="18" charset="0"/>
              </a:rPr>
              <a:t>σ</a:t>
            </a:r>
            <a:r>
              <a:rPr lang="en-US" altLang="zh-CN" sz="2000" baseline="-25000" dirty="0" err="1">
                <a:solidFill>
                  <a:srgbClr val="FF0000"/>
                </a:solidFill>
                <a:latin typeface="Times New Roman" panose="02020603050405020304" pitchFamily="18" charset="0"/>
              </a:rPr>
              <a:t>max</a:t>
            </a:r>
            <a:r>
              <a:rPr lang="en-US" altLang="zh-CN" sz="2000" baseline="-25000" dirty="0">
                <a:solidFill>
                  <a:srgbClr val="FF0000"/>
                </a:solidFill>
                <a:latin typeface="Times New Roman" panose="02020603050405020304" pitchFamily="18" charset="0"/>
              </a:rPr>
              <a:t> </a:t>
            </a:r>
            <a:r>
              <a:rPr lang="zh-CN" altLang="en-US" sz="2000" dirty="0">
                <a:solidFill>
                  <a:srgbClr val="000099"/>
                </a:solidFill>
                <a:latin typeface="华文中宋" panose="02010600040101010101" pitchFamily="2" charset="-122"/>
              </a:rPr>
              <a:t>及 </a:t>
            </a:r>
            <a:r>
              <a:rPr lang="en-US" altLang="zh-CN" sz="2000" i="1" dirty="0" err="1">
                <a:solidFill>
                  <a:srgbClr val="FF0000"/>
                </a:solidFill>
                <a:latin typeface="Times New Roman" panose="02020603050405020304" pitchFamily="18" charset="0"/>
              </a:rPr>
              <a:t>σ</a:t>
            </a:r>
            <a:r>
              <a:rPr lang="en-US" altLang="zh-CN" sz="2000" baseline="-25000" dirty="0" err="1">
                <a:solidFill>
                  <a:srgbClr val="FF0000"/>
                </a:solidFill>
                <a:latin typeface="Times New Roman" panose="02020603050405020304" pitchFamily="18" charset="0"/>
              </a:rPr>
              <a:t>min</a:t>
            </a:r>
            <a:r>
              <a:rPr lang="zh-CN" altLang="en-US" sz="2000" dirty="0">
                <a:solidFill>
                  <a:srgbClr val="000099"/>
                </a:solidFill>
                <a:latin typeface="华文中宋" panose="02010600040101010101" pitchFamily="2" charset="-122"/>
              </a:rPr>
              <a:t>确定</a:t>
            </a:r>
            <a:endParaRPr lang="zh-CN" altLang="en-US" sz="2000" dirty="0">
              <a:solidFill>
                <a:srgbClr val="000099"/>
              </a:solidFill>
              <a:latin typeface="华文中宋" panose="02010600040101010101" pitchFamily="2" charset="-122"/>
            </a:endParaRPr>
          </a:p>
          <a:p>
            <a:pPr eaLnBrk="1" hangingPunct="1">
              <a:lnSpc>
                <a:spcPct val="120000"/>
              </a:lnSpc>
            </a:pPr>
            <a:r>
              <a:rPr lang="zh-CN" altLang="en-US" sz="2000" dirty="0">
                <a:solidFill>
                  <a:srgbClr val="000099"/>
                </a:solidFill>
                <a:latin typeface="华文中宋" panose="02010600040101010101" pitchFamily="2" charset="-122"/>
              </a:rPr>
              <a:t>平均应力</a:t>
            </a:r>
            <a:r>
              <a:rPr lang="en-US" altLang="zh-CN" sz="2000" i="1" dirty="0" err="1">
                <a:solidFill>
                  <a:srgbClr val="FF0000"/>
                </a:solidFill>
                <a:latin typeface="Times New Roman" panose="02020603050405020304" pitchFamily="18" charset="0"/>
              </a:rPr>
              <a:t>σ</a:t>
            </a:r>
            <a:r>
              <a:rPr lang="en-US" altLang="zh-CN" sz="2000" baseline="-25000" dirty="0" err="1">
                <a:solidFill>
                  <a:srgbClr val="FF0000"/>
                </a:solidFill>
                <a:latin typeface="Times New Roman" panose="02020603050405020304" pitchFamily="18" charset="0"/>
              </a:rPr>
              <a:t>m</a:t>
            </a:r>
            <a:r>
              <a:rPr lang="zh-CN" altLang="en-US" sz="2000" dirty="0">
                <a:solidFill>
                  <a:srgbClr val="000099"/>
                </a:solidFill>
                <a:latin typeface="华文中宋" panose="02010600040101010101" pitchFamily="2" charset="-122"/>
              </a:rPr>
              <a:t>与应力幅</a:t>
            </a:r>
            <a:r>
              <a:rPr lang="en-US" altLang="zh-CN" sz="2000" i="1" dirty="0" err="1">
                <a:solidFill>
                  <a:srgbClr val="FF0000"/>
                </a:solidFill>
                <a:latin typeface="Times New Roman" panose="02020603050405020304" pitchFamily="18" charset="0"/>
              </a:rPr>
              <a:t>σ</a:t>
            </a:r>
            <a:r>
              <a:rPr lang="en-US" altLang="zh-CN" sz="2000" baseline="-25000" dirty="0" err="1">
                <a:solidFill>
                  <a:srgbClr val="FF0000"/>
                </a:solidFill>
                <a:latin typeface="Times New Roman" panose="02020603050405020304" pitchFamily="18" charset="0"/>
              </a:rPr>
              <a:t>a</a:t>
            </a:r>
            <a:r>
              <a:rPr lang="zh-CN" altLang="en-US" sz="2000" dirty="0">
                <a:solidFill>
                  <a:srgbClr val="000099"/>
                </a:solidFill>
                <a:latin typeface="华文中宋" panose="02010600040101010101" pitchFamily="2" charset="-122"/>
              </a:rPr>
              <a:t>，然后，在极限应力线图的坐标中标示出相应工作应</a:t>
            </a:r>
            <a:endParaRPr lang="zh-CN" altLang="en-US" sz="2000" dirty="0">
              <a:solidFill>
                <a:srgbClr val="000099"/>
              </a:solidFill>
              <a:latin typeface="华文中宋" panose="02010600040101010101" pitchFamily="2" charset="-122"/>
            </a:endParaRPr>
          </a:p>
          <a:p>
            <a:pPr eaLnBrk="1" hangingPunct="1">
              <a:lnSpc>
                <a:spcPct val="120000"/>
              </a:lnSpc>
            </a:pPr>
            <a:r>
              <a:rPr lang="zh-CN" altLang="en-US" sz="2000" dirty="0">
                <a:solidFill>
                  <a:srgbClr val="000099"/>
                </a:solidFill>
                <a:latin typeface="华文中宋" panose="02010600040101010101" pitchFamily="2" charset="-122"/>
              </a:rPr>
              <a:t>力点</a:t>
            </a:r>
            <a:r>
              <a:rPr lang="en-US" altLang="zh-CN" sz="2000" i="1" dirty="0">
                <a:solidFill>
                  <a:srgbClr val="000099"/>
                </a:solidFill>
                <a:latin typeface="华文中宋" panose="02010600040101010101" pitchFamily="2" charset="-122"/>
              </a:rPr>
              <a:t>M</a:t>
            </a:r>
            <a:r>
              <a:rPr lang="zh-CN" altLang="en-US" sz="2000" dirty="0">
                <a:solidFill>
                  <a:srgbClr val="000099"/>
                </a:solidFill>
                <a:latin typeface="华文中宋" panose="02010600040101010101" pitchFamily="2" charset="-122"/>
              </a:rPr>
              <a:t>或</a:t>
            </a:r>
            <a:r>
              <a:rPr lang="en-US" altLang="zh-CN" sz="2000" i="1" dirty="0">
                <a:solidFill>
                  <a:srgbClr val="000099"/>
                </a:solidFill>
                <a:latin typeface="华文中宋" panose="02010600040101010101" pitchFamily="2" charset="-122"/>
              </a:rPr>
              <a:t>N</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p:txBody>
      </p:sp>
      <p:sp>
        <p:nvSpPr>
          <p:cNvPr id="68622" name="Rectangle 14"/>
          <p:cNvSpPr>
            <a:spLocks noChangeArrowheads="1"/>
          </p:cNvSpPr>
          <p:nvPr/>
        </p:nvSpPr>
        <p:spPr bwMode="auto">
          <a:xfrm>
            <a:off x="228600" y="4191000"/>
            <a:ext cx="8763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根据零件工作时所受的约束来确定应力可能发生的变化规律，从而决定以哪一个点来表示</a:t>
            </a:r>
            <a:r>
              <a:rPr lang="zh-CN" altLang="en-US" sz="2000" dirty="0">
                <a:solidFill>
                  <a:srgbClr val="FF0000"/>
                </a:solidFill>
                <a:latin typeface="Times New Roman" panose="02020603050405020304" pitchFamily="18" charset="0"/>
              </a:rPr>
              <a:t>极限应力</a:t>
            </a:r>
            <a:r>
              <a:rPr lang="zh-CN" altLang="en-US" sz="2000" dirty="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a:p>
            <a:pPr eaLnBrk="1" hangingPunct="1">
              <a:lnSpc>
                <a:spcPct val="120000"/>
              </a:lnSpc>
            </a:pPr>
            <a:r>
              <a:rPr lang="zh-CN" altLang="en-US" sz="2000" dirty="0">
                <a:solidFill>
                  <a:srgbClr val="000099"/>
                </a:solidFill>
                <a:latin typeface="Times New Roman" panose="02020603050405020304" pitchFamily="18" charset="0"/>
              </a:rPr>
              <a:t>　　机械零件可能发生的典型的应力变化规律有以下三种：</a:t>
            </a:r>
            <a:endParaRPr lang="zh-CN" altLang="en-US" sz="2000" dirty="0">
              <a:solidFill>
                <a:srgbClr val="000099"/>
              </a:solidFill>
              <a:latin typeface="Times New Roman" panose="02020603050405020304" pitchFamily="18" charset="0"/>
            </a:endParaRPr>
          </a:p>
        </p:txBody>
      </p:sp>
      <p:sp>
        <p:nvSpPr>
          <p:cNvPr id="68628" name="Text Box 20"/>
          <p:cNvSpPr txBox="1">
            <a:spLocks noChangeArrowheads="1"/>
          </p:cNvSpPr>
          <p:nvPr/>
        </p:nvSpPr>
        <p:spPr bwMode="auto">
          <a:xfrm>
            <a:off x="1300480" y="5363845"/>
            <a:ext cx="29051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SzPct val="80000"/>
              <a:buFontTx/>
              <a:buBlip>
                <a:blip r:embed="rId1"/>
              </a:buBlip>
            </a:pPr>
            <a:r>
              <a:rPr lang="en-US" altLang="zh-CN" sz="2000">
                <a:solidFill>
                  <a:srgbClr val="000099"/>
                </a:solidFill>
                <a:latin typeface="Times New Roman" panose="02020603050405020304" pitchFamily="18" charset="0"/>
              </a:rPr>
              <a:t> </a:t>
            </a:r>
            <a:r>
              <a:rPr lang="zh-CN" altLang="en-US" sz="2000">
                <a:solidFill>
                  <a:srgbClr val="FF0000"/>
                </a:solidFill>
                <a:latin typeface="Times New Roman" panose="02020603050405020304" pitchFamily="18" charset="0"/>
              </a:rPr>
              <a:t>应力比为常数：</a:t>
            </a:r>
            <a:r>
              <a:rPr lang="en-US" altLang="zh-CN" sz="2000" i="1">
                <a:solidFill>
                  <a:srgbClr val="FF0000"/>
                </a:solidFill>
                <a:latin typeface="Times New Roman" panose="02020603050405020304" pitchFamily="18" charset="0"/>
              </a:rPr>
              <a:t>r=C</a:t>
            </a:r>
            <a:endParaRPr lang="en-US" altLang="zh-CN" sz="2000" i="1">
              <a:solidFill>
                <a:srgbClr val="FF0000"/>
              </a:solidFill>
              <a:latin typeface="Times New Roman" panose="02020603050405020304" pitchFamily="18" charset="0"/>
            </a:endParaRPr>
          </a:p>
          <a:p>
            <a:pPr eaLnBrk="1" hangingPunct="1">
              <a:lnSpc>
                <a:spcPct val="120000"/>
              </a:lnSpc>
              <a:buSzPct val="80000"/>
              <a:buFontTx/>
              <a:buBlip>
                <a:blip r:embed="rId1"/>
              </a:buBlip>
            </a:pPr>
            <a:r>
              <a:rPr lang="en-US" altLang="zh-CN" sz="2000">
                <a:solidFill>
                  <a:srgbClr val="000099"/>
                </a:solidFill>
                <a:latin typeface="Times New Roman" panose="02020603050405020304" pitchFamily="18" charset="0"/>
              </a:rPr>
              <a:t> </a:t>
            </a:r>
            <a:r>
              <a:rPr lang="zh-CN" altLang="en-US" sz="2000">
                <a:solidFill>
                  <a:srgbClr val="FF0000"/>
                </a:solidFill>
                <a:latin typeface="Times New Roman" panose="02020603050405020304" pitchFamily="18" charset="0"/>
              </a:rPr>
              <a:t>平均应力为常数</a:t>
            </a:r>
            <a:r>
              <a:rPr lang="en-US" altLang="zh-CN" sz="2000" i="1">
                <a:solidFill>
                  <a:srgbClr val="FF0000"/>
                </a:solidFill>
                <a:latin typeface="Times New Roman" panose="02020603050405020304" pitchFamily="18" charset="0"/>
              </a:rPr>
              <a:t>σ</a:t>
            </a:r>
            <a:r>
              <a:rPr lang="en-US" altLang="zh-CN" sz="2000" baseline="-25000">
                <a:solidFill>
                  <a:srgbClr val="FF0000"/>
                </a:solidFill>
                <a:latin typeface="Times New Roman" panose="02020603050405020304" pitchFamily="18" charset="0"/>
              </a:rPr>
              <a:t>m</a:t>
            </a:r>
            <a:r>
              <a:rPr lang="en-US" altLang="zh-CN" sz="2000" i="1">
                <a:solidFill>
                  <a:srgbClr val="FF0000"/>
                </a:solidFill>
                <a:latin typeface="Times New Roman" panose="02020603050405020304" pitchFamily="18" charset="0"/>
              </a:rPr>
              <a:t>=C</a:t>
            </a:r>
            <a:endParaRPr lang="en-US" altLang="zh-CN" sz="2000">
              <a:solidFill>
                <a:srgbClr val="FF0000"/>
              </a:solidFill>
              <a:latin typeface="Times New Roman" panose="02020603050405020304" pitchFamily="18" charset="0"/>
            </a:endParaRPr>
          </a:p>
          <a:p>
            <a:pPr eaLnBrk="1" hangingPunct="1">
              <a:lnSpc>
                <a:spcPct val="120000"/>
              </a:lnSpc>
              <a:buSzPct val="80000"/>
              <a:buFontTx/>
              <a:buBlip>
                <a:blip r:embed="rId1"/>
              </a:buBlip>
            </a:pPr>
            <a:r>
              <a:rPr lang="en-US" altLang="zh-CN" sz="2000">
                <a:solidFill>
                  <a:srgbClr val="FF0000"/>
                </a:solidFill>
                <a:latin typeface="Times New Roman" panose="02020603050405020304" pitchFamily="18" charset="0"/>
              </a:rPr>
              <a:t> </a:t>
            </a:r>
            <a:r>
              <a:rPr lang="zh-CN" altLang="en-US" sz="2000">
                <a:solidFill>
                  <a:srgbClr val="FF0000"/>
                </a:solidFill>
                <a:latin typeface="Times New Roman" panose="02020603050405020304" pitchFamily="18" charset="0"/>
              </a:rPr>
              <a:t>最小应力为常数</a:t>
            </a:r>
            <a:r>
              <a:rPr lang="en-US" altLang="zh-CN" sz="2000" i="1">
                <a:solidFill>
                  <a:srgbClr val="FF0000"/>
                </a:solidFill>
                <a:latin typeface="Times New Roman" panose="02020603050405020304" pitchFamily="18" charset="0"/>
              </a:rPr>
              <a:t>σ</a:t>
            </a:r>
            <a:r>
              <a:rPr lang="en-US" altLang="zh-CN" sz="2000" baseline="-25000">
                <a:solidFill>
                  <a:srgbClr val="FF0000"/>
                </a:solidFill>
                <a:latin typeface="Times New Roman" panose="02020603050405020304" pitchFamily="18" charset="0"/>
              </a:rPr>
              <a:t>min</a:t>
            </a:r>
            <a:r>
              <a:rPr lang="en-US" altLang="zh-CN" sz="2000" i="1">
                <a:solidFill>
                  <a:srgbClr val="FF0000"/>
                </a:solidFill>
                <a:latin typeface="Times New Roman" panose="02020603050405020304" pitchFamily="18" charset="0"/>
              </a:rPr>
              <a:t>=C</a:t>
            </a:r>
            <a:endParaRPr lang="en-US" altLang="zh-CN" sz="2000" i="1">
              <a:solidFill>
                <a:srgbClr val="FF0000"/>
              </a:solidFill>
              <a:latin typeface="Times New Roman" panose="02020603050405020304" pitchFamily="18" charset="0"/>
            </a:endParaRPr>
          </a:p>
        </p:txBody>
      </p:sp>
      <p:grpSp>
        <p:nvGrpSpPr>
          <p:cNvPr id="3" name="Group 37"/>
          <p:cNvGrpSpPr/>
          <p:nvPr/>
        </p:nvGrpSpPr>
        <p:grpSpPr bwMode="auto">
          <a:xfrm>
            <a:off x="161925" y="2033905"/>
            <a:ext cx="5181600" cy="827088"/>
            <a:chOff x="96" y="1344"/>
            <a:chExt cx="3264" cy="521"/>
          </a:xfrm>
        </p:grpSpPr>
        <p:sp>
          <p:nvSpPr>
            <p:cNvPr id="7187" name="Rectangle 16"/>
            <p:cNvSpPr>
              <a:spLocks noChangeArrowheads="1"/>
            </p:cNvSpPr>
            <p:nvPr/>
          </p:nvSpPr>
          <p:spPr bwMode="auto">
            <a:xfrm>
              <a:off x="96" y="1344"/>
              <a:ext cx="326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华文中宋" panose="02010600040101010101" pitchFamily="2" charset="-122"/>
                </a:rPr>
                <a:t>　　相应的疲劳极限应力应是极限应力曲线上的某一个点所代表的应力　　　　。</a:t>
              </a:r>
              <a:endParaRPr lang="zh-CN" altLang="en-US" sz="2000">
                <a:solidFill>
                  <a:srgbClr val="000099"/>
                </a:solidFill>
                <a:latin typeface="华文中宋" panose="02010600040101010101" pitchFamily="2" charset="-122"/>
              </a:endParaRPr>
            </a:p>
          </p:txBody>
        </p:sp>
        <p:graphicFrame>
          <p:nvGraphicFramePr>
            <p:cNvPr id="7171" name="Object 29"/>
            <p:cNvGraphicFramePr>
              <a:graphicFrameLocks noChangeAspect="1"/>
            </p:cNvGraphicFramePr>
            <p:nvPr/>
          </p:nvGraphicFramePr>
          <p:xfrm>
            <a:off x="2064" y="1629"/>
            <a:ext cx="579" cy="236"/>
          </p:xfrm>
          <a:graphic>
            <a:graphicData uri="http://schemas.openxmlformats.org/presentationml/2006/ole">
              <mc:AlternateContent xmlns:mc="http://schemas.openxmlformats.org/markup-compatibility/2006">
                <mc:Choice xmlns:v="urn:schemas-microsoft-com:vml" Requires="v">
                  <p:oleObj spid="_x0000_s2" name="Equation" r:id="rId2" imgW="509270" imgH="208280" progId="Equation.3">
                    <p:embed/>
                  </p:oleObj>
                </mc:Choice>
                <mc:Fallback>
                  <p:oleObj name="Equation" r:id="rId2" imgW="509270" imgH="208280" progId="Equation.3">
                    <p:embed/>
                    <p:pic>
                      <p:nvPicPr>
                        <p:cNvPr id="0"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4" y="1629"/>
                          <a:ext cx="57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8638" name="Text Box 30"/>
          <p:cNvSpPr txBox="1">
            <a:spLocks noChangeArrowheads="1"/>
          </p:cNvSpPr>
          <p:nvPr/>
        </p:nvSpPr>
        <p:spPr bwMode="auto">
          <a:xfrm>
            <a:off x="631825" y="2955925"/>
            <a:ext cx="399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计算安全系数及疲劳强度条件为：</a:t>
            </a:r>
            <a:endParaRPr lang="zh-CN" altLang="en-US" sz="2000" dirty="0">
              <a:solidFill>
                <a:srgbClr val="000099"/>
              </a:solidFill>
            </a:endParaRPr>
          </a:p>
        </p:txBody>
      </p:sp>
      <p:graphicFrame>
        <p:nvGraphicFramePr>
          <p:cNvPr id="68639" name="Object 31"/>
          <p:cNvGraphicFramePr>
            <a:graphicFrameLocks noChangeAspect="1"/>
          </p:cNvGraphicFramePr>
          <p:nvPr/>
        </p:nvGraphicFramePr>
        <p:xfrm>
          <a:off x="638652" y="3372485"/>
          <a:ext cx="3977640" cy="818515"/>
        </p:xfrm>
        <a:graphic>
          <a:graphicData uri="http://schemas.openxmlformats.org/presentationml/2006/ole">
            <mc:AlternateContent xmlns:mc="http://schemas.openxmlformats.org/markup-compatibility/2006">
              <mc:Choice xmlns:v="urn:schemas-microsoft-com:vml" Requires="v">
                <p:oleObj spid="_x0000_s4" name="Equation" r:id="rId4" imgW="2095500" imgH="431800" progId="Equation.3">
                  <p:embed/>
                </p:oleObj>
              </mc:Choice>
              <mc:Fallback>
                <p:oleObj name="Equation" r:id="rId4" imgW="2095500" imgH="431800" progId="Equation.3">
                  <p:embed/>
                  <p:pic>
                    <p:nvPicPr>
                      <p:cNvPr id="0" name="Picture 57"/>
                      <p:cNvPicPr>
                        <a:picLocks noChangeAspect="1" noChangeArrowheads="1"/>
                      </p:cNvPicPr>
                      <p:nvPr/>
                    </p:nvPicPr>
                    <p:blipFill>
                      <a:blip r:embed="rId5"/>
                      <a:srcRect/>
                      <a:stretch>
                        <a:fillRect/>
                      </a:stretch>
                    </p:blipFill>
                    <p:spPr bwMode="auto">
                      <a:xfrm>
                        <a:off x="638652" y="3372485"/>
                        <a:ext cx="3977640" cy="8185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41" name="Text Box 33"/>
          <p:cNvSpPr txBox="1">
            <a:spLocks noChangeArrowheads="1"/>
          </p:cNvSpPr>
          <p:nvPr/>
        </p:nvSpPr>
        <p:spPr bwMode="auto">
          <a:xfrm>
            <a:off x="7377113" y="61626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pic>
        <p:nvPicPr>
          <p:cNvPr id="68642" name="Picture 34" descr="rewind1">
            <a:hlinkClick r:id="rId6" action="ppaction://hlinksldjump"/>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43" name="Picture 35" descr="back1">
            <a:hlinkClick r:id="" action="ppaction://hlinkshowjump?jump=previousslide"/>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44" name="Picture 36" descr="NEXT1">
            <a:hlinkClick r:id="" action="ppaction://hlinkshowjump?jump=nextslide"/>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19"/>
          <p:cNvPicPr>
            <a:picLocks noChangeAspect="1"/>
          </p:cNvPicPr>
          <p:nvPr/>
        </p:nvPicPr>
        <p:blipFill>
          <a:blip r:embed="rId10"/>
          <a:stretch>
            <a:fillRect/>
          </a:stretch>
        </p:blipFill>
        <p:spPr>
          <a:xfrm>
            <a:off x="5144135" y="1772285"/>
            <a:ext cx="3598545" cy="2418715"/>
          </a:xfrm>
          <a:prstGeom prst="rect">
            <a:avLst/>
          </a:prstGeom>
          <a:noFill/>
          <a:ln w="9525">
            <a:noFill/>
          </a:ln>
        </p:spPr>
      </p:pic>
      <p:sp>
        <p:nvSpPr>
          <p:cNvPr id="5" name="椭圆 4"/>
          <p:cNvSpPr/>
          <p:nvPr/>
        </p:nvSpPr>
        <p:spPr>
          <a:xfrm>
            <a:off x="6009640" y="2931160"/>
            <a:ext cx="90170" cy="90170"/>
          </a:xfrm>
          <a:prstGeom prst="ellipse">
            <a:avLst/>
          </a:prstGeom>
          <a:solidFill>
            <a:srgbClr val="FF0000"/>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6" name="椭圆 5"/>
          <p:cNvSpPr/>
          <p:nvPr/>
        </p:nvSpPr>
        <p:spPr>
          <a:xfrm>
            <a:off x="7257415" y="3268980"/>
            <a:ext cx="90170" cy="90170"/>
          </a:xfrm>
          <a:prstGeom prst="ellipse">
            <a:avLst/>
          </a:prstGeom>
          <a:solidFill>
            <a:srgbClr val="FF0000"/>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cxnSp>
        <p:nvCxnSpPr>
          <p:cNvPr id="8" name="直接连接符 7"/>
          <p:cNvCxnSpPr/>
          <p:nvPr/>
        </p:nvCxnSpPr>
        <p:spPr>
          <a:xfrm flipV="1">
            <a:off x="5581650" y="2512695"/>
            <a:ext cx="762000" cy="1163955"/>
          </a:xfrm>
          <a:prstGeom prst="line">
            <a:avLst/>
          </a:prstGeom>
          <a:noFill/>
          <a:ln w="9525" cap="flat" cmpd="sng" algn="ctr">
            <a:solidFill>
              <a:srgbClr val="0000FF"/>
            </a:solidFill>
            <a:prstDash val="solid"/>
            <a:round/>
            <a:headEnd type="none" w="med" len="med"/>
            <a:tailEnd type="none" w="med" len="med"/>
          </a:ln>
        </p:spPr>
      </p:cxnSp>
      <p:cxnSp>
        <p:nvCxnSpPr>
          <p:cNvPr id="9" name="直接连接符 8"/>
          <p:cNvCxnSpPr/>
          <p:nvPr/>
        </p:nvCxnSpPr>
        <p:spPr>
          <a:xfrm flipV="1">
            <a:off x="5581650" y="3210560"/>
            <a:ext cx="2200910" cy="456565"/>
          </a:xfrm>
          <a:prstGeom prst="line">
            <a:avLst/>
          </a:prstGeom>
          <a:noFill/>
          <a:ln w="9525" cap="flat" cmpd="sng" algn="ctr">
            <a:solidFill>
              <a:srgbClr val="0000FF"/>
            </a:solidFill>
            <a:prstDash val="solid"/>
            <a:round/>
            <a:headEnd type="none" w="med" len="med"/>
            <a:tailEnd type="none" w="med" len="med"/>
          </a:ln>
        </p:spPr>
      </p:cxnSp>
      <p:cxnSp>
        <p:nvCxnSpPr>
          <p:cNvPr id="10" name="直接连接符 9"/>
          <p:cNvCxnSpPr/>
          <p:nvPr/>
        </p:nvCxnSpPr>
        <p:spPr>
          <a:xfrm flipH="1">
            <a:off x="5572125" y="2495550"/>
            <a:ext cx="771525" cy="0"/>
          </a:xfrm>
          <a:prstGeom prst="line">
            <a:avLst/>
          </a:prstGeom>
          <a:noFill/>
          <a:ln w="9525" cap="flat" cmpd="sng" algn="ctr">
            <a:solidFill>
              <a:srgbClr val="00B050"/>
            </a:solidFill>
            <a:prstDash val="solid"/>
            <a:round/>
            <a:headEnd type="none" w="med" len="med"/>
            <a:tailEnd type="none" w="med" len="med"/>
          </a:ln>
        </p:spPr>
      </p:cxnSp>
      <p:cxnSp>
        <p:nvCxnSpPr>
          <p:cNvPr id="11" name="直接连接符 10"/>
          <p:cNvCxnSpPr/>
          <p:nvPr/>
        </p:nvCxnSpPr>
        <p:spPr>
          <a:xfrm>
            <a:off x="6353175" y="2505075"/>
            <a:ext cx="0" cy="1162050"/>
          </a:xfrm>
          <a:prstGeom prst="line">
            <a:avLst/>
          </a:prstGeom>
          <a:noFill/>
          <a:ln w="9525" cap="flat" cmpd="sng" algn="ctr">
            <a:solidFill>
              <a:srgbClr val="00B050"/>
            </a:solidFill>
            <a:prstDash val="solid"/>
            <a:round/>
            <a:headEnd type="none" w="med" len="med"/>
            <a:tailEnd type="none" w="med" len="med"/>
          </a:ln>
        </p:spPr>
      </p:cxnSp>
      <p:graphicFrame>
        <p:nvGraphicFramePr>
          <p:cNvPr id="12" name="对象 11">
            <a:hlinkClick r:id="" action="ppaction://ole?verb="/>
          </p:cNvPr>
          <p:cNvGraphicFramePr>
            <a:graphicFrameLocks noChangeAspect="1"/>
          </p:cNvGraphicFramePr>
          <p:nvPr/>
        </p:nvGraphicFramePr>
        <p:xfrm>
          <a:off x="5330825" y="2409825"/>
          <a:ext cx="228600" cy="228600"/>
        </p:xfrm>
        <a:graphic>
          <a:graphicData uri="http://schemas.openxmlformats.org/presentationml/2006/ole">
            <mc:AlternateContent xmlns:mc="http://schemas.openxmlformats.org/markup-compatibility/2006">
              <mc:Choice xmlns:v="urn:schemas-microsoft-com:vml" Requires="v">
                <p:oleObj spid="_x0000_s1025" name="" r:id="rId11" imgW="228600" imgH="228600" progId="Equation.KSEE3">
                  <p:embed/>
                </p:oleObj>
              </mc:Choice>
              <mc:Fallback>
                <p:oleObj name="" r:id="rId11" imgW="228600" imgH="228600" progId="Equation.KSEE3">
                  <p:embed/>
                  <p:pic>
                    <p:nvPicPr>
                      <p:cNvPr id="0" name="图片 1024"/>
                      <p:cNvPicPr/>
                      <p:nvPr/>
                    </p:nvPicPr>
                    <p:blipFill>
                      <a:blip r:embed="rId12"/>
                      <a:stretch>
                        <a:fillRect/>
                      </a:stretch>
                    </p:blipFill>
                    <p:spPr>
                      <a:xfrm>
                        <a:off x="5330825" y="2409825"/>
                        <a:ext cx="228600" cy="228600"/>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6226175" y="3667125"/>
          <a:ext cx="254000" cy="228600"/>
        </p:xfrm>
        <a:graphic>
          <a:graphicData uri="http://schemas.openxmlformats.org/presentationml/2006/ole">
            <mc:AlternateContent xmlns:mc="http://schemas.openxmlformats.org/markup-compatibility/2006">
              <mc:Choice xmlns:v="urn:schemas-microsoft-com:vml" Requires="v">
                <p:oleObj spid="_x0000_s7" name="" r:id="rId13" imgW="254000" imgH="228600" progId="Equation.KSEE3">
                  <p:embed/>
                </p:oleObj>
              </mc:Choice>
              <mc:Fallback>
                <p:oleObj name="" r:id="rId13" imgW="254000" imgH="228600" progId="Equation.KSEE3">
                  <p:embed/>
                  <p:pic>
                    <p:nvPicPr>
                      <p:cNvPr id="0" name="图片 1024"/>
                      <p:cNvPicPr/>
                      <p:nvPr/>
                    </p:nvPicPr>
                    <p:blipFill>
                      <a:blip r:embed="rId14"/>
                      <a:stretch>
                        <a:fillRect/>
                      </a:stretch>
                    </p:blipFill>
                    <p:spPr>
                      <a:xfrm>
                        <a:off x="6226175" y="3667125"/>
                        <a:ext cx="254000" cy="228600"/>
                      </a:xfrm>
                      <a:prstGeom prst="rect">
                        <a:avLst/>
                      </a:prstGeom>
                    </p:spPr>
                  </p:pic>
                </p:oleObj>
              </mc:Fallback>
            </mc:AlternateContent>
          </a:graphicData>
        </a:graphic>
      </p:graphicFrame>
      <p:cxnSp>
        <p:nvCxnSpPr>
          <p:cNvPr id="14" name="直接连接符 13"/>
          <p:cNvCxnSpPr/>
          <p:nvPr/>
        </p:nvCxnSpPr>
        <p:spPr>
          <a:xfrm flipH="1">
            <a:off x="5570855" y="3210560"/>
            <a:ext cx="2200275" cy="0"/>
          </a:xfrm>
          <a:prstGeom prst="line">
            <a:avLst/>
          </a:prstGeom>
          <a:noFill/>
          <a:ln w="9525" cap="flat" cmpd="sng" algn="ctr">
            <a:solidFill>
              <a:srgbClr val="00B050"/>
            </a:solidFill>
            <a:prstDash val="solid"/>
            <a:round/>
            <a:headEnd type="none" w="med" len="med"/>
            <a:tailEnd type="none" w="med" len="med"/>
          </a:ln>
        </p:spPr>
      </p:cxnSp>
      <p:cxnSp>
        <p:nvCxnSpPr>
          <p:cNvPr id="15" name="直接连接符 14"/>
          <p:cNvCxnSpPr/>
          <p:nvPr/>
        </p:nvCxnSpPr>
        <p:spPr>
          <a:xfrm>
            <a:off x="7772400" y="3219450"/>
            <a:ext cx="0" cy="447675"/>
          </a:xfrm>
          <a:prstGeom prst="line">
            <a:avLst/>
          </a:prstGeom>
          <a:noFill/>
          <a:ln w="9525" cap="flat" cmpd="sng" algn="ctr">
            <a:solidFill>
              <a:srgbClr val="00B050"/>
            </a:solidFill>
            <a:prstDash val="solid"/>
            <a:round/>
            <a:headEnd type="none" w="med" len="med"/>
            <a:tailEnd type="none" w="med" len="med"/>
          </a:ln>
        </p:spPr>
      </p:cxn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left)">
                                      <p:cBhvr>
                                        <p:cTn id="7" dur="500"/>
                                        <p:tgtEl>
                                          <p:spTgt spid="686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8616"/>
                                        </p:tgtEl>
                                        <p:attrNameLst>
                                          <p:attrName>style.visibility</p:attrName>
                                        </p:attrNameLst>
                                      </p:cBhvr>
                                      <p:to>
                                        <p:strVal val="visible"/>
                                      </p:to>
                                    </p:set>
                                    <p:animEffect transition="in" filter="wipe(left)">
                                      <p:cBhvr>
                                        <p:cTn id="12" dur="500"/>
                                        <p:tgtEl>
                                          <p:spTgt spid="686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down)">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down)">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down)">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right)">
                                      <p:cBhvr>
                                        <p:cTn id="43" dur="500"/>
                                        <p:tgtEl>
                                          <p:spTgt spid="10"/>
                                        </p:tgtEl>
                                      </p:cBhvr>
                                    </p:animEffect>
                                  </p:childTnLst>
                                </p:cTn>
                              </p:par>
                              <p:par>
                                <p:cTn id="44" presetID="22" presetClass="entr" presetSubtype="1" fill="hold"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up)">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down)">
                                      <p:cBhvr>
                                        <p:cTn id="51" dur="500"/>
                                        <p:tgtEl>
                                          <p:spTgt spid="12"/>
                                        </p:tgtEl>
                                      </p:cBhvr>
                                    </p:animEffect>
                                  </p:childTnLst>
                                </p:cTn>
                              </p:par>
                            </p:childTnLst>
                          </p:cTn>
                        </p:par>
                        <p:par>
                          <p:cTn id="52" fill="hold">
                            <p:stCondLst>
                              <p:cond delay="500"/>
                            </p:stCondLst>
                            <p:childTnLst>
                              <p:par>
                                <p:cTn id="53" presetID="22" presetClass="entr" presetSubtype="4" fill="hold"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down)">
                                      <p:cBhvr>
                                        <p:cTn id="55" dur="500"/>
                                        <p:tgtEl>
                                          <p:spTgt spid="1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wipe(right)">
                                      <p:cBhvr>
                                        <p:cTn id="60" dur="500"/>
                                        <p:tgtEl>
                                          <p:spTgt spid="14"/>
                                        </p:tgtEl>
                                      </p:cBhvr>
                                    </p:animEffect>
                                  </p:childTnLst>
                                </p:cTn>
                              </p:par>
                              <p:par>
                                <p:cTn id="61" presetID="22" presetClass="entr" presetSubtype="1" fill="hold"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up)">
                                      <p:cBhvr>
                                        <p:cTn id="63" dur="500"/>
                                        <p:tgtEl>
                                          <p:spTgt spid="1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68638"/>
                                        </p:tgtEl>
                                        <p:attrNameLst>
                                          <p:attrName>style.visibility</p:attrName>
                                        </p:attrNameLst>
                                      </p:cBhvr>
                                      <p:to>
                                        <p:strVal val="visible"/>
                                      </p:to>
                                    </p:set>
                                    <p:animEffect transition="in" filter="wipe(left)">
                                      <p:cBhvr>
                                        <p:cTn id="68" dur="500"/>
                                        <p:tgtEl>
                                          <p:spTgt spid="68638"/>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68639"/>
                                        </p:tgtEl>
                                        <p:attrNameLst>
                                          <p:attrName>style.visibility</p:attrName>
                                        </p:attrNameLst>
                                      </p:cBhvr>
                                      <p:to>
                                        <p:strVal val="visible"/>
                                      </p:to>
                                    </p:set>
                                    <p:animEffect transition="in" filter="wipe(left)">
                                      <p:cBhvr>
                                        <p:cTn id="72" dur="500"/>
                                        <p:tgtEl>
                                          <p:spTgt spid="6863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68622"/>
                                        </p:tgtEl>
                                        <p:attrNameLst>
                                          <p:attrName>style.visibility</p:attrName>
                                        </p:attrNameLst>
                                      </p:cBhvr>
                                      <p:to>
                                        <p:strVal val="visible"/>
                                      </p:to>
                                    </p:set>
                                    <p:animEffect transition="in" filter="wipe(left)">
                                      <p:cBhvr>
                                        <p:cTn id="77" dur="500"/>
                                        <p:tgtEl>
                                          <p:spTgt spid="68622"/>
                                        </p:tgtEl>
                                      </p:cBhvr>
                                    </p:animEffect>
                                  </p:childTnLst>
                                </p:cTn>
                              </p:par>
                            </p:childTnLst>
                          </p:cTn>
                        </p:par>
                        <p:par>
                          <p:cTn id="78" fill="hold">
                            <p:stCondLst>
                              <p:cond delay="500"/>
                            </p:stCondLst>
                            <p:childTnLst>
                              <p:par>
                                <p:cTn id="79" presetID="22" presetClass="entr" presetSubtype="1" fill="hold" grpId="0" nodeType="afterEffect">
                                  <p:stCondLst>
                                    <p:cond delay="0"/>
                                  </p:stCondLst>
                                  <p:childTnLst>
                                    <p:set>
                                      <p:cBhvr>
                                        <p:cTn id="80" dur="1" fill="hold">
                                          <p:stCondLst>
                                            <p:cond delay="0"/>
                                          </p:stCondLst>
                                        </p:cTn>
                                        <p:tgtEl>
                                          <p:spTgt spid="68628"/>
                                        </p:tgtEl>
                                        <p:attrNameLst>
                                          <p:attrName>style.visibility</p:attrName>
                                        </p:attrNameLst>
                                      </p:cBhvr>
                                      <p:to>
                                        <p:strVal val="visible"/>
                                      </p:to>
                                    </p:set>
                                    <p:animEffect transition="in" filter="wipe(up)">
                                      <p:cBhvr>
                                        <p:cTn id="81" dur="500"/>
                                        <p:tgtEl>
                                          <p:spTgt spid="68628"/>
                                        </p:tgtEl>
                                      </p:cBhvr>
                                    </p:animEffect>
                                  </p:childTnLst>
                                </p:cTn>
                              </p:par>
                            </p:childTnLst>
                          </p:cTn>
                        </p:par>
                        <p:par>
                          <p:cTn id="82" fill="hold">
                            <p:stCondLst>
                              <p:cond delay="1000"/>
                            </p:stCondLst>
                            <p:childTnLst>
                              <p:par>
                                <p:cTn id="83" presetID="1" presetClass="entr" presetSubtype="0" fill="hold" nodeType="afterEffect">
                                  <p:stCondLst>
                                    <p:cond delay="0"/>
                                  </p:stCondLst>
                                  <p:childTnLst>
                                    <p:set>
                                      <p:cBhvr>
                                        <p:cTn id="84" dur="1" fill="hold">
                                          <p:stCondLst>
                                            <p:cond delay="499"/>
                                          </p:stCondLst>
                                        </p:cTn>
                                        <p:tgtEl>
                                          <p:spTgt spid="68644"/>
                                        </p:tgtEl>
                                        <p:attrNameLst>
                                          <p:attrName>style.visibility</p:attrName>
                                        </p:attrNameLst>
                                      </p:cBhvr>
                                      <p:to>
                                        <p:strVal val="visible"/>
                                      </p:to>
                                    </p:set>
                                  </p:childTnLst>
                                </p:cTn>
                              </p:par>
                            </p:childTnLst>
                          </p:cTn>
                        </p:par>
                        <p:par>
                          <p:cTn id="85" fill="hold">
                            <p:stCondLst>
                              <p:cond delay="1500"/>
                            </p:stCondLst>
                            <p:childTnLst>
                              <p:par>
                                <p:cTn id="86" presetID="1" presetClass="entr" presetSubtype="0" fill="hold" nodeType="afterEffect">
                                  <p:stCondLst>
                                    <p:cond delay="0"/>
                                  </p:stCondLst>
                                  <p:childTnLst>
                                    <p:set>
                                      <p:cBhvr>
                                        <p:cTn id="87" dur="1" fill="hold">
                                          <p:stCondLst>
                                            <p:cond delay="499"/>
                                          </p:stCondLst>
                                        </p:cTn>
                                        <p:tgtEl>
                                          <p:spTgt spid="68643"/>
                                        </p:tgtEl>
                                        <p:attrNameLst>
                                          <p:attrName>style.visibility</p:attrName>
                                        </p:attrNameLst>
                                      </p:cBhvr>
                                      <p:to>
                                        <p:strVal val="visible"/>
                                      </p:to>
                                    </p:set>
                                  </p:childTnLst>
                                </p:cTn>
                              </p:par>
                            </p:childTnLst>
                          </p:cTn>
                        </p:par>
                        <p:par>
                          <p:cTn id="88" fill="hold">
                            <p:stCondLst>
                              <p:cond delay="2000"/>
                            </p:stCondLst>
                            <p:childTnLst>
                              <p:par>
                                <p:cTn id="89" presetID="2" presetClass="entr" presetSubtype="8" fill="hold" nodeType="afterEffect">
                                  <p:stCondLst>
                                    <p:cond delay="0"/>
                                  </p:stCondLst>
                                  <p:childTnLst>
                                    <p:set>
                                      <p:cBhvr>
                                        <p:cTn id="90" dur="1" fill="hold">
                                          <p:stCondLst>
                                            <p:cond delay="0"/>
                                          </p:stCondLst>
                                        </p:cTn>
                                        <p:tgtEl>
                                          <p:spTgt spid="68642"/>
                                        </p:tgtEl>
                                        <p:attrNameLst>
                                          <p:attrName>style.visibility</p:attrName>
                                        </p:attrNameLst>
                                      </p:cBhvr>
                                      <p:to>
                                        <p:strVal val="visible"/>
                                      </p:to>
                                    </p:set>
                                    <p:anim calcmode="lin" valueType="num">
                                      <p:cBhvr additive="base">
                                        <p:cTn id="91" dur="500" fill="hold"/>
                                        <p:tgtEl>
                                          <p:spTgt spid="68642"/>
                                        </p:tgtEl>
                                        <p:attrNameLst>
                                          <p:attrName>ppt_x</p:attrName>
                                        </p:attrNameLst>
                                      </p:cBhvr>
                                      <p:tavLst>
                                        <p:tav tm="0">
                                          <p:val>
                                            <p:strVal val="0-#ppt_w/2"/>
                                          </p:val>
                                        </p:tav>
                                        <p:tav tm="100000">
                                          <p:val>
                                            <p:strVal val="#ppt_x"/>
                                          </p:val>
                                        </p:tav>
                                      </p:tavLst>
                                    </p:anim>
                                    <p:anim calcmode="lin" valueType="num">
                                      <p:cBhvr additive="base">
                                        <p:cTn id="92" dur="500" fill="hold"/>
                                        <p:tgtEl>
                                          <p:spTgt spid="68642"/>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68641"/>
                                        </p:tgtEl>
                                        <p:attrNameLst>
                                          <p:attrName>style.visibility</p:attrName>
                                        </p:attrNameLst>
                                      </p:cBhvr>
                                      <p:to>
                                        <p:strVal val="visible"/>
                                      </p:to>
                                    </p:set>
                                    <p:anim calcmode="lin" valueType="num">
                                      <p:cBhvr additive="base">
                                        <p:cTn id="97" dur="500" fill="hold"/>
                                        <p:tgtEl>
                                          <p:spTgt spid="68641"/>
                                        </p:tgtEl>
                                        <p:attrNameLst>
                                          <p:attrName>ppt_x</p:attrName>
                                        </p:attrNameLst>
                                      </p:cBhvr>
                                      <p:tavLst>
                                        <p:tav tm="0">
                                          <p:val>
                                            <p:strVal val="0-#ppt_w/2"/>
                                          </p:val>
                                        </p:tav>
                                        <p:tav tm="100000">
                                          <p:val>
                                            <p:strVal val="#ppt_x"/>
                                          </p:val>
                                        </p:tav>
                                      </p:tavLst>
                                    </p:anim>
                                    <p:anim calcmode="lin" valueType="num">
                                      <p:cBhvr additive="base">
                                        <p:cTn id="98" dur="500" fill="hold"/>
                                        <p:tgtEl>
                                          <p:spTgt spid="686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autoUpdateAnimBg="0"/>
      <p:bldP spid="68616" grpId="0" autoUpdateAnimBg="0"/>
      <p:bldP spid="68622" grpId="0" autoUpdateAnimBg="0"/>
      <p:bldP spid="68628" grpId="0" autoUpdateAnimBg="0"/>
      <p:bldP spid="68638" grpId="0" autoUpdateAnimBg="0"/>
      <p:bldP spid="68641" grpId="0" autoUpdateAnimBg="0"/>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3"/>
          <p:cNvSpPr>
            <a:spLocks noGrp="1" noChangeArrowheads="1"/>
          </p:cNvSpPr>
          <p:nvPr>
            <p:ph type="body" idx="4294967295"/>
          </p:nvPr>
        </p:nvSpPr>
        <p:spPr>
          <a:xfrm>
            <a:off x="685800" y="271463"/>
            <a:ext cx="7772400" cy="6318250"/>
          </a:xfrm>
        </p:spPr>
        <p:txBody>
          <a:bodyPr/>
          <a:lstStyle/>
          <a:p>
            <a:pPr marL="473075" indent="-473075" eaLnBrk="1" hangingPunct="1">
              <a:lnSpc>
                <a:spcPct val="130000"/>
              </a:lnSpc>
              <a:buFontTx/>
              <a:buNone/>
            </a:pPr>
            <a:r>
              <a:rPr lang="en-US" sz="2400">
                <a:latin typeface="黑体" panose="02010609060101010101" pitchFamily="49" charset="-122"/>
                <a:ea typeface="黑体" panose="02010609060101010101" pitchFamily="49" charset="-122"/>
                <a:cs typeface="黑体" panose="02010609060101010101" pitchFamily="49" charset="-122"/>
              </a:rPr>
              <a:t>a</a:t>
            </a:r>
            <a:r>
              <a:rPr lang="zh-CN" altLang="en-US" sz="2400">
                <a:latin typeface="黑体" panose="02010609060101010101" pitchFamily="49" charset="-122"/>
                <a:ea typeface="黑体" panose="02010609060101010101" pitchFamily="49" charset="-122"/>
                <a:cs typeface="黑体" panose="02010609060101010101" pitchFamily="49" charset="-122"/>
              </a:rPr>
              <a:t>）	变应力的循环特性保持不变，即</a:t>
            </a:r>
            <a:r>
              <a:rPr lang="en-US" sz="2400">
                <a:solidFill>
                  <a:srgbClr val="FF0000"/>
                </a:solidFill>
                <a:latin typeface="黑体" panose="02010609060101010101" pitchFamily="49" charset="-122"/>
                <a:ea typeface="黑体" panose="02010609060101010101" pitchFamily="49" charset="-122"/>
                <a:cs typeface="黑体" panose="02010609060101010101" pitchFamily="49" charset="-122"/>
              </a:rPr>
              <a:t>r=C</a:t>
            </a:r>
            <a:r>
              <a:rPr lang="zh-CN" altLang="en-US" sz="2400">
                <a:latin typeface="黑体" panose="02010609060101010101" pitchFamily="49" charset="-122"/>
                <a:ea typeface="黑体" panose="02010609060101010101" pitchFamily="49" charset="-122"/>
                <a:cs typeface="黑体" panose="02010609060101010101" pitchFamily="49" charset="-122"/>
              </a:rPr>
              <a:t>（例如绝大多数转轴中的应力状态）；</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pPr marL="473075" indent="-473075" eaLnBrk="1" hangingPunct="1">
              <a:buFontTx/>
              <a:buNone/>
            </a:pPr>
            <a:endParaRPr lang="zh-CN" altLang="en-US" sz="2000"/>
          </a:p>
          <a:p>
            <a:pPr marL="473075" indent="-473075" eaLnBrk="1" hangingPunct="1">
              <a:buFontTx/>
              <a:buNone/>
            </a:pPr>
            <a:endParaRPr lang="zh-CN" altLang="en-US" sz="2000"/>
          </a:p>
          <a:p>
            <a:pPr marL="473075" indent="-473075" eaLnBrk="1" hangingPunct="1">
              <a:buFontTx/>
              <a:buNone/>
            </a:pPr>
            <a:endParaRPr lang="zh-CN" altLang="en-US" sz="2000"/>
          </a:p>
          <a:p>
            <a:pPr marL="473075" indent="-473075" eaLnBrk="1" hangingPunct="1">
              <a:buFontTx/>
              <a:buNone/>
            </a:pPr>
            <a:endParaRPr lang="zh-CN" altLang="en-US" sz="2000"/>
          </a:p>
          <a:p>
            <a:pPr marL="473075" indent="-473075" eaLnBrk="1" hangingPunct="1">
              <a:buFontTx/>
              <a:buNone/>
            </a:pPr>
            <a:endParaRPr lang="zh-CN" altLang="en-US" sz="2000"/>
          </a:p>
          <a:p>
            <a:pPr marL="473075" indent="-473075" eaLnBrk="1" hangingPunct="1">
              <a:buFontTx/>
              <a:buNone/>
            </a:pPr>
            <a:endParaRPr lang="zh-CN" altLang="en-US" sz="2000"/>
          </a:p>
          <a:p>
            <a:pPr marL="473075" indent="-473075" eaLnBrk="1" hangingPunct="1">
              <a:buFontTx/>
              <a:buNone/>
            </a:pPr>
            <a:endParaRPr lang="en-US"/>
          </a:p>
        </p:txBody>
      </p:sp>
      <p:grpSp>
        <p:nvGrpSpPr>
          <p:cNvPr id="39939" name="Group 3"/>
          <p:cNvGrpSpPr/>
          <p:nvPr/>
        </p:nvGrpSpPr>
        <p:grpSpPr bwMode="auto">
          <a:xfrm>
            <a:off x="2246313" y="1335723"/>
            <a:ext cx="4719637" cy="1881187"/>
            <a:chOff x="0" y="0"/>
            <a:chExt cx="20000" cy="19993"/>
          </a:xfrm>
        </p:grpSpPr>
        <p:grpSp>
          <p:nvGrpSpPr>
            <p:cNvPr id="39940" name="Group 4"/>
            <p:cNvGrpSpPr/>
            <p:nvPr/>
          </p:nvGrpSpPr>
          <p:grpSpPr bwMode="auto">
            <a:xfrm>
              <a:off x="0" y="4429"/>
              <a:ext cx="8097" cy="9014"/>
              <a:chOff x="0" y="0"/>
              <a:chExt cx="20000" cy="19993"/>
            </a:xfrm>
          </p:grpSpPr>
          <p:sp>
            <p:nvSpPr>
              <p:cNvPr id="39941" name="Rectangle 6"/>
              <p:cNvSpPr>
                <a:spLocks noChangeArrowheads="1"/>
              </p:cNvSpPr>
              <p:nvPr/>
            </p:nvSpPr>
            <p:spPr bwMode="auto">
              <a:xfrm>
                <a:off x="2206" y="9806"/>
                <a:ext cx="14855" cy="5829"/>
              </a:xfrm>
              <a:prstGeom prst="rect">
                <a:avLst/>
              </a:prstGeom>
              <a:solidFill>
                <a:srgbClr val="CCCCCC"/>
              </a:solidFill>
              <a:ln w="9525" cmpd="sng">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39942" name="Line 7"/>
              <p:cNvSpPr>
                <a:spLocks noChangeShapeType="1"/>
              </p:cNvSpPr>
              <p:nvPr/>
            </p:nvSpPr>
            <p:spPr bwMode="auto">
              <a:xfrm flipV="1">
                <a:off x="0" y="12712"/>
                <a:ext cx="20000" cy="381"/>
              </a:xfrm>
              <a:prstGeom prst="line">
                <a:avLst/>
              </a:prstGeom>
              <a:noFill/>
              <a:ln w="9525" cmpd="sng">
                <a:solidFill>
                  <a:srgbClr val="000000"/>
                </a:solidFill>
                <a:prstDash val="sys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43" name="Line 8"/>
              <p:cNvSpPr>
                <a:spLocks noChangeShapeType="1"/>
              </p:cNvSpPr>
              <p:nvPr/>
            </p:nvSpPr>
            <p:spPr bwMode="auto">
              <a:xfrm>
                <a:off x="9848" y="1089"/>
                <a:ext cx="8" cy="8371"/>
              </a:xfrm>
              <a:prstGeom prst="line">
                <a:avLst/>
              </a:prstGeom>
              <a:noFill/>
              <a:ln w="12700" cmpd="sng">
                <a:solidFill>
                  <a:srgbClr val="FF0000"/>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44" name="Freeform 9"/>
              <p:cNvSpPr/>
              <p:nvPr/>
            </p:nvSpPr>
            <p:spPr bwMode="auto">
              <a:xfrm>
                <a:off x="3821" y="5447"/>
                <a:ext cx="1480" cy="2924"/>
              </a:xfrm>
              <a:custGeom>
                <a:avLst/>
                <a:gdLst>
                  <a:gd name="T0" fmla="*/ 0 w 20000"/>
                  <a:gd name="T1" fmla="*/ 0 h 20000"/>
                  <a:gd name="T2" fmla="*/ 0 w 20000"/>
                  <a:gd name="T3" fmla="*/ 19876 h 20000"/>
                  <a:gd name="T4" fmla="*/ 19900 w 20000"/>
                  <a:gd name="T5" fmla="*/ 19876 h 20000"/>
                  <a:gd name="T6" fmla="*/ 19900 w 20000"/>
                  <a:gd name="T7" fmla="*/ 0 h 20000"/>
                </a:gdLst>
                <a:ahLst/>
                <a:cxnLst>
                  <a:cxn ang="0">
                    <a:pos x="T0" y="T1"/>
                  </a:cxn>
                  <a:cxn ang="0">
                    <a:pos x="T2" y="T3"/>
                  </a:cxn>
                  <a:cxn ang="0">
                    <a:pos x="T4" y="T5"/>
                  </a:cxn>
                  <a:cxn ang="0">
                    <a:pos x="T6" y="T7"/>
                  </a:cxn>
                </a:cxnLst>
                <a:rect l="0" t="0" r="r" b="b"/>
                <a:pathLst>
                  <a:path w="20000" h="20000">
                    <a:moveTo>
                      <a:pt x="0" y="0"/>
                    </a:moveTo>
                    <a:lnTo>
                      <a:pt x="0" y="19876"/>
                    </a:lnTo>
                    <a:lnTo>
                      <a:pt x="19900" y="19876"/>
                    </a:lnTo>
                    <a:lnTo>
                      <a:pt x="19900" y="0"/>
                    </a:lnTo>
                  </a:path>
                </a:pathLst>
              </a:custGeom>
              <a:blipFill dpi="0" rotWithShape="0">
                <a:blip r:embed="rId1"/>
                <a:srcRect/>
                <a:tile tx="0" ty="0" sx="100000" sy="100000" flip="none" algn="tl"/>
              </a:blipFill>
              <a:ln w="3175" cap="flat" cmpd="sng">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45" name="Freeform 10"/>
              <p:cNvSpPr/>
              <p:nvPr/>
            </p:nvSpPr>
            <p:spPr bwMode="auto">
              <a:xfrm>
                <a:off x="14111" y="5447"/>
                <a:ext cx="1480" cy="2924"/>
              </a:xfrm>
              <a:custGeom>
                <a:avLst/>
                <a:gdLst>
                  <a:gd name="T0" fmla="*/ 0 w 20000"/>
                  <a:gd name="T1" fmla="*/ 0 h 20000"/>
                  <a:gd name="T2" fmla="*/ 0 w 20000"/>
                  <a:gd name="T3" fmla="*/ 19876 h 20000"/>
                  <a:gd name="T4" fmla="*/ 19900 w 20000"/>
                  <a:gd name="T5" fmla="*/ 19876 h 20000"/>
                  <a:gd name="T6" fmla="*/ 19900 w 20000"/>
                  <a:gd name="T7" fmla="*/ 0 h 20000"/>
                </a:gdLst>
                <a:ahLst/>
                <a:cxnLst>
                  <a:cxn ang="0">
                    <a:pos x="T0" y="T1"/>
                  </a:cxn>
                  <a:cxn ang="0">
                    <a:pos x="T2" y="T3"/>
                  </a:cxn>
                  <a:cxn ang="0">
                    <a:pos x="T4" y="T5"/>
                  </a:cxn>
                  <a:cxn ang="0">
                    <a:pos x="T6" y="T7"/>
                  </a:cxn>
                </a:cxnLst>
                <a:rect l="0" t="0" r="r" b="b"/>
                <a:pathLst>
                  <a:path w="20000" h="20000">
                    <a:moveTo>
                      <a:pt x="0" y="0"/>
                    </a:moveTo>
                    <a:lnTo>
                      <a:pt x="0" y="19876"/>
                    </a:lnTo>
                    <a:lnTo>
                      <a:pt x="19900" y="19876"/>
                    </a:lnTo>
                    <a:lnTo>
                      <a:pt x="19900" y="0"/>
                    </a:lnTo>
                  </a:path>
                </a:pathLst>
              </a:custGeom>
              <a:blipFill dpi="0" rotWithShape="0">
                <a:blip r:embed="rId1"/>
                <a:srcRect/>
                <a:tile tx="0" ty="0" sx="100000" sy="100000" flip="none" algn="tl"/>
              </a:blipFill>
              <a:ln w="3175" cap="flat" cmpd="sng">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46" name="Freeform 11"/>
              <p:cNvSpPr/>
              <p:nvPr/>
            </p:nvSpPr>
            <p:spPr bwMode="auto">
              <a:xfrm>
                <a:off x="3821" y="17070"/>
                <a:ext cx="1480" cy="2923"/>
              </a:xfrm>
              <a:custGeom>
                <a:avLst/>
                <a:gdLst>
                  <a:gd name="T0" fmla="*/ 0 w 20000"/>
                  <a:gd name="T1" fmla="*/ 19876 h 20000"/>
                  <a:gd name="T2" fmla="*/ 0 w 20000"/>
                  <a:gd name="T3" fmla="*/ 0 h 20000"/>
                  <a:gd name="T4" fmla="*/ 19900 w 20000"/>
                  <a:gd name="T5" fmla="*/ 0 h 20000"/>
                  <a:gd name="T6" fmla="*/ 19900 w 20000"/>
                  <a:gd name="T7" fmla="*/ 19876 h 20000"/>
                </a:gdLst>
                <a:ahLst/>
                <a:cxnLst>
                  <a:cxn ang="0">
                    <a:pos x="T0" y="T1"/>
                  </a:cxn>
                  <a:cxn ang="0">
                    <a:pos x="T2" y="T3"/>
                  </a:cxn>
                  <a:cxn ang="0">
                    <a:pos x="T4" y="T5"/>
                  </a:cxn>
                  <a:cxn ang="0">
                    <a:pos x="T6" y="T7"/>
                  </a:cxn>
                </a:cxnLst>
                <a:rect l="0" t="0" r="r" b="b"/>
                <a:pathLst>
                  <a:path w="20000" h="20000">
                    <a:moveTo>
                      <a:pt x="0" y="19876"/>
                    </a:moveTo>
                    <a:lnTo>
                      <a:pt x="0" y="0"/>
                    </a:lnTo>
                    <a:lnTo>
                      <a:pt x="19900" y="0"/>
                    </a:lnTo>
                    <a:lnTo>
                      <a:pt x="19900" y="19876"/>
                    </a:lnTo>
                  </a:path>
                </a:pathLst>
              </a:custGeom>
              <a:blipFill dpi="0" rotWithShape="0">
                <a:blip r:embed="rId1"/>
                <a:srcRect/>
                <a:tile tx="0" ty="0" sx="100000" sy="100000" flip="none" algn="tl"/>
              </a:blipFill>
              <a:ln w="3175" cap="flat" cmpd="sng">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47" name="Freeform 12"/>
              <p:cNvSpPr/>
              <p:nvPr/>
            </p:nvSpPr>
            <p:spPr bwMode="auto">
              <a:xfrm>
                <a:off x="14111" y="17070"/>
                <a:ext cx="1480" cy="2923"/>
              </a:xfrm>
              <a:custGeom>
                <a:avLst/>
                <a:gdLst>
                  <a:gd name="T0" fmla="*/ 0 w 20000"/>
                  <a:gd name="T1" fmla="*/ 19876 h 20000"/>
                  <a:gd name="T2" fmla="*/ 0 w 20000"/>
                  <a:gd name="T3" fmla="*/ 0 h 20000"/>
                  <a:gd name="T4" fmla="*/ 19900 w 20000"/>
                  <a:gd name="T5" fmla="*/ 0 h 20000"/>
                  <a:gd name="T6" fmla="*/ 19900 w 20000"/>
                  <a:gd name="T7" fmla="*/ 19876 h 20000"/>
                </a:gdLst>
                <a:ahLst/>
                <a:cxnLst>
                  <a:cxn ang="0">
                    <a:pos x="T0" y="T1"/>
                  </a:cxn>
                  <a:cxn ang="0">
                    <a:pos x="T2" y="T3"/>
                  </a:cxn>
                  <a:cxn ang="0">
                    <a:pos x="T4" y="T5"/>
                  </a:cxn>
                  <a:cxn ang="0">
                    <a:pos x="T6" y="T7"/>
                  </a:cxn>
                </a:cxnLst>
                <a:rect l="0" t="0" r="r" b="b"/>
                <a:pathLst>
                  <a:path w="20000" h="20000">
                    <a:moveTo>
                      <a:pt x="0" y="19876"/>
                    </a:moveTo>
                    <a:lnTo>
                      <a:pt x="0" y="0"/>
                    </a:lnTo>
                    <a:lnTo>
                      <a:pt x="19900" y="0"/>
                    </a:lnTo>
                    <a:lnTo>
                      <a:pt x="19900" y="19876"/>
                    </a:lnTo>
                  </a:path>
                </a:pathLst>
              </a:custGeom>
              <a:blipFill dpi="0" rotWithShape="0">
                <a:blip r:embed="rId1"/>
                <a:srcRect/>
                <a:tile tx="0" ty="0" sx="100000" sy="100000" flip="none" algn="tl"/>
              </a:blipFill>
              <a:ln w="3175" cap="flat" cmpd="sng">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48" name="Rectangle 13"/>
              <p:cNvSpPr>
                <a:spLocks noChangeArrowheads="1"/>
              </p:cNvSpPr>
              <p:nvPr/>
            </p:nvSpPr>
            <p:spPr bwMode="auto">
              <a:xfrm>
                <a:off x="10144" y="0"/>
                <a:ext cx="2653" cy="6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a:t>F</a:t>
                </a:r>
                <a:r>
                  <a:rPr lang="en-US" sz="1400" baseline="-25000"/>
                  <a:t>r</a:t>
                </a:r>
                <a:endParaRPr lang="en-US" sz="1400"/>
              </a:p>
            </p:txBody>
          </p:sp>
          <p:sp>
            <p:nvSpPr>
              <p:cNvPr id="39949" name="Line 14"/>
              <p:cNvSpPr>
                <a:spLocks noChangeShapeType="1"/>
              </p:cNvSpPr>
              <p:nvPr/>
            </p:nvSpPr>
            <p:spPr bwMode="auto">
              <a:xfrm>
                <a:off x="9848" y="1089"/>
                <a:ext cx="8" cy="8371"/>
              </a:xfrm>
              <a:prstGeom prst="line">
                <a:avLst/>
              </a:prstGeom>
              <a:noFill/>
              <a:ln w="12700" cmpd="sng">
                <a:solidFill>
                  <a:srgbClr val="FF0000"/>
                </a:solidFill>
                <a:rou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9950" name="Group 14"/>
            <p:cNvGrpSpPr/>
            <p:nvPr/>
          </p:nvGrpSpPr>
          <p:grpSpPr bwMode="auto">
            <a:xfrm>
              <a:off x="13094" y="0"/>
              <a:ext cx="6906" cy="19993"/>
              <a:chOff x="0" y="0"/>
              <a:chExt cx="20718" cy="20000"/>
            </a:xfrm>
          </p:grpSpPr>
          <p:sp>
            <p:nvSpPr>
              <p:cNvPr id="39951" name="Line 16"/>
              <p:cNvSpPr>
                <a:spLocks noChangeShapeType="1"/>
              </p:cNvSpPr>
              <p:nvPr/>
            </p:nvSpPr>
            <p:spPr bwMode="auto">
              <a:xfrm>
                <a:off x="2328" y="172"/>
                <a:ext cx="9" cy="19828"/>
              </a:xfrm>
              <a:prstGeom prst="line">
                <a:avLst/>
              </a:prstGeom>
              <a:noFill/>
              <a:ln w="9525" cmpd="sng">
                <a:solidFill>
                  <a:srgbClr val="000000"/>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52" name="Line 17"/>
              <p:cNvSpPr>
                <a:spLocks noChangeShapeType="1"/>
              </p:cNvSpPr>
              <p:nvPr/>
            </p:nvSpPr>
            <p:spPr bwMode="auto">
              <a:xfrm>
                <a:off x="2328" y="9991"/>
                <a:ext cx="16704" cy="9"/>
              </a:xfrm>
              <a:prstGeom prst="line">
                <a:avLst/>
              </a:prstGeom>
              <a:noFill/>
              <a:ln w="9525" cmpd="sng">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53" name="Rectangle 18"/>
              <p:cNvSpPr>
                <a:spLocks noChangeArrowheads="1"/>
              </p:cNvSpPr>
              <p:nvPr/>
            </p:nvSpPr>
            <p:spPr bwMode="auto">
              <a:xfrm>
                <a:off x="0" y="0"/>
                <a:ext cx="2463" cy="37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a:sym typeface="Symbol" panose="05050102010706020507" pitchFamily="18" charset="2"/>
                  </a:rPr>
                  <a:t></a:t>
                </a:r>
                <a:endParaRPr lang="en-US" sz="1400"/>
              </a:p>
            </p:txBody>
          </p:sp>
          <p:grpSp>
            <p:nvGrpSpPr>
              <p:cNvPr id="39954" name="Group 18"/>
              <p:cNvGrpSpPr/>
              <p:nvPr/>
            </p:nvGrpSpPr>
            <p:grpSpPr bwMode="auto">
              <a:xfrm>
                <a:off x="2463" y="3947"/>
                <a:ext cx="5703" cy="5913"/>
                <a:chOff x="0" y="0"/>
                <a:chExt cx="19999" cy="20000"/>
              </a:xfrm>
            </p:grpSpPr>
            <p:sp>
              <p:nvSpPr>
                <p:cNvPr id="39955" name="Arc 20"/>
                <p:cNvSpPr/>
                <p:nvPr/>
              </p:nvSpPr>
              <p:spPr bwMode="auto">
                <a:xfrm flipH="1">
                  <a:off x="0" y="27"/>
                  <a:ext cx="9763" cy="1997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56" name="Arc 21"/>
                <p:cNvSpPr/>
                <p:nvPr/>
              </p:nvSpPr>
              <p:spPr bwMode="auto">
                <a:xfrm>
                  <a:off x="10236" y="0"/>
                  <a:ext cx="9763" cy="1997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9957" name="Group 21"/>
              <p:cNvGrpSpPr/>
              <p:nvPr/>
            </p:nvGrpSpPr>
            <p:grpSpPr bwMode="auto">
              <a:xfrm>
                <a:off x="8157" y="10164"/>
                <a:ext cx="5706" cy="5913"/>
                <a:chOff x="0" y="0"/>
                <a:chExt cx="20001" cy="20000"/>
              </a:xfrm>
            </p:grpSpPr>
            <p:sp>
              <p:nvSpPr>
                <p:cNvPr id="39958" name="Arc 23"/>
                <p:cNvSpPr/>
                <p:nvPr/>
              </p:nvSpPr>
              <p:spPr bwMode="auto">
                <a:xfrm flipH="1" flipV="1">
                  <a:off x="0" y="0"/>
                  <a:ext cx="9769" cy="1997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59" name="Arc 24"/>
                <p:cNvSpPr/>
                <p:nvPr/>
              </p:nvSpPr>
              <p:spPr bwMode="auto">
                <a:xfrm flipV="1">
                  <a:off x="10242" y="27"/>
                  <a:ext cx="9759" cy="1997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9960" name="Rectangle 25"/>
              <p:cNvSpPr>
                <a:spLocks noChangeArrowheads="1"/>
              </p:cNvSpPr>
              <p:nvPr/>
            </p:nvSpPr>
            <p:spPr bwMode="auto">
              <a:xfrm>
                <a:off x="714" y="8354"/>
                <a:ext cx="1560" cy="29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a:t>0</a:t>
                </a:r>
                <a:endParaRPr lang="en-US" sz="1400"/>
              </a:p>
            </p:txBody>
          </p:sp>
          <p:sp>
            <p:nvSpPr>
              <p:cNvPr id="39961" name="Rectangle 26"/>
              <p:cNvSpPr>
                <a:spLocks noChangeArrowheads="1"/>
              </p:cNvSpPr>
              <p:nvPr/>
            </p:nvSpPr>
            <p:spPr bwMode="auto">
              <a:xfrm>
                <a:off x="19290" y="8354"/>
                <a:ext cx="1428" cy="29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a:t>t</a:t>
                </a:r>
                <a:endParaRPr lang="en-US" sz="1400"/>
              </a:p>
            </p:txBody>
          </p:sp>
          <p:grpSp>
            <p:nvGrpSpPr>
              <p:cNvPr id="39962" name="Group 26"/>
              <p:cNvGrpSpPr/>
              <p:nvPr/>
            </p:nvGrpSpPr>
            <p:grpSpPr bwMode="auto">
              <a:xfrm>
                <a:off x="2496" y="5406"/>
                <a:ext cx="11403" cy="9180"/>
                <a:chOff x="0" y="0"/>
                <a:chExt cx="20000" cy="20000"/>
              </a:xfrm>
            </p:grpSpPr>
            <p:grpSp>
              <p:nvGrpSpPr>
                <p:cNvPr id="39963" name="Group 27"/>
                <p:cNvGrpSpPr/>
                <p:nvPr/>
              </p:nvGrpSpPr>
              <p:grpSpPr bwMode="auto">
                <a:xfrm>
                  <a:off x="0" y="0"/>
                  <a:ext cx="10008" cy="9758"/>
                  <a:chOff x="0" y="0"/>
                  <a:chExt cx="20000" cy="20000"/>
                </a:xfrm>
              </p:grpSpPr>
              <p:sp>
                <p:nvSpPr>
                  <p:cNvPr id="39964" name="Arc 29"/>
                  <p:cNvSpPr/>
                  <p:nvPr/>
                </p:nvSpPr>
                <p:spPr bwMode="auto">
                  <a:xfrm flipH="1">
                    <a:off x="0" y="35"/>
                    <a:ext cx="9768" cy="1996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65" name="Arc 30"/>
                  <p:cNvSpPr/>
                  <p:nvPr/>
                </p:nvSpPr>
                <p:spPr bwMode="auto">
                  <a:xfrm>
                    <a:off x="10242" y="0"/>
                    <a:ext cx="9758" cy="1996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9966" name="Group 30"/>
                <p:cNvGrpSpPr/>
                <p:nvPr/>
              </p:nvGrpSpPr>
              <p:grpSpPr bwMode="auto">
                <a:xfrm>
                  <a:off x="9992" y="10259"/>
                  <a:ext cx="10008" cy="9741"/>
                  <a:chOff x="0" y="0"/>
                  <a:chExt cx="20000" cy="20000"/>
                </a:xfrm>
              </p:grpSpPr>
              <p:sp>
                <p:nvSpPr>
                  <p:cNvPr id="39967" name="Arc 32"/>
                  <p:cNvSpPr/>
                  <p:nvPr/>
                </p:nvSpPr>
                <p:spPr bwMode="auto">
                  <a:xfrm flipH="1" flipV="1">
                    <a:off x="0" y="0"/>
                    <a:ext cx="9758"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68" name="Arc 33"/>
                  <p:cNvSpPr/>
                  <p:nvPr/>
                </p:nvSpPr>
                <p:spPr bwMode="auto">
                  <a:xfrm flipV="1">
                    <a:off x="10232" y="0"/>
                    <a:ext cx="9768"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39969" name="Group 33"/>
              <p:cNvGrpSpPr/>
              <p:nvPr/>
            </p:nvGrpSpPr>
            <p:grpSpPr bwMode="auto">
              <a:xfrm>
                <a:off x="2496" y="6724"/>
                <a:ext cx="11403" cy="6724"/>
                <a:chOff x="0" y="0"/>
                <a:chExt cx="20000" cy="20000"/>
              </a:xfrm>
            </p:grpSpPr>
            <p:grpSp>
              <p:nvGrpSpPr>
                <p:cNvPr id="39970" name="Group 34"/>
                <p:cNvGrpSpPr/>
                <p:nvPr/>
              </p:nvGrpSpPr>
              <p:grpSpPr bwMode="auto">
                <a:xfrm>
                  <a:off x="0" y="0"/>
                  <a:ext cx="10008" cy="9771"/>
                  <a:chOff x="0" y="0"/>
                  <a:chExt cx="20000" cy="20000"/>
                </a:xfrm>
              </p:grpSpPr>
              <p:sp>
                <p:nvSpPr>
                  <p:cNvPr id="39971" name="Arc 36"/>
                  <p:cNvSpPr/>
                  <p:nvPr/>
                </p:nvSpPr>
                <p:spPr bwMode="auto">
                  <a:xfrm flipH="1">
                    <a:off x="0" y="49"/>
                    <a:ext cx="9768" cy="1995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72" name="Arc 37"/>
                  <p:cNvSpPr/>
                  <p:nvPr/>
                </p:nvSpPr>
                <p:spPr bwMode="auto">
                  <a:xfrm>
                    <a:off x="10242" y="0"/>
                    <a:ext cx="9758" cy="1995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9973" name="Group 37"/>
                <p:cNvGrpSpPr/>
                <p:nvPr/>
              </p:nvGrpSpPr>
              <p:grpSpPr bwMode="auto">
                <a:xfrm>
                  <a:off x="9992" y="10256"/>
                  <a:ext cx="10008" cy="9744"/>
                  <a:chOff x="0" y="0"/>
                  <a:chExt cx="20000" cy="20000"/>
                </a:xfrm>
              </p:grpSpPr>
              <p:sp>
                <p:nvSpPr>
                  <p:cNvPr id="39974" name="Arc 39"/>
                  <p:cNvSpPr/>
                  <p:nvPr/>
                </p:nvSpPr>
                <p:spPr bwMode="auto">
                  <a:xfrm flipH="1" flipV="1">
                    <a:off x="0" y="0"/>
                    <a:ext cx="9758"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75" name="Arc 40"/>
                  <p:cNvSpPr/>
                  <p:nvPr/>
                </p:nvSpPr>
                <p:spPr bwMode="auto">
                  <a:xfrm flipV="1">
                    <a:off x="10232" y="0"/>
                    <a:ext cx="9768"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39976" name="Rectangle 41"/>
              <p:cNvSpPr>
                <a:spLocks noChangeArrowheads="1"/>
              </p:cNvSpPr>
              <p:nvPr/>
            </p:nvSpPr>
            <p:spPr bwMode="auto">
              <a:xfrm>
                <a:off x="9105" y="1810"/>
                <a:ext cx="5901" cy="2793"/>
              </a:xfrm>
              <a:prstGeom prst="rect">
                <a:avLst/>
              </a:prstGeom>
              <a:solidFill>
                <a:srgbClr val="00FF00"/>
              </a:solidFill>
              <a:ln w="3175" cmpd="sng">
                <a:solidFill>
                  <a:srgbClr val="000000"/>
                </a:solidFill>
                <a:miter lim="800000"/>
              </a:ln>
              <a:effectLst>
                <a:outerShdw dist="57238" dir="2021404" algn="ctr" rotWithShape="0">
                  <a:srgbClr val="000000"/>
                </a:outerShdw>
              </a:effec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en-US" sz="1400"/>
                  <a:t>r=C</a:t>
                </a:r>
                <a:endParaRPr lang="en-US" sz="1400"/>
              </a:p>
            </p:txBody>
          </p:sp>
        </p:grpSp>
      </p:grpSp>
      <p:grpSp>
        <p:nvGrpSpPr>
          <p:cNvPr id="39977" name="Group 41"/>
          <p:cNvGrpSpPr/>
          <p:nvPr/>
        </p:nvGrpSpPr>
        <p:grpSpPr bwMode="auto">
          <a:xfrm>
            <a:off x="2722563" y="4392613"/>
            <a:ext cx="4327525" cy="1876425"/>
            <a:chOff x="0" y="0"/>
            <a:chExt cx="18603" cy="20000"/>
          </a:xfrm>
        </p:grpSpPr>
        <p:grpSp>
          <p:nvGrpSpPr>
            <p:cNvPr id="39978" name="Group 42"/>
            <p:cNvGrpSpPr/>
            <p:nvPr/>
          </p:nvGrpSpPr>
          <p:grpSpPr bwMode="auto">
            <a:xfrm>
              <a:off x="11280" y="0"/>
              <a:ext cx="7323" cy="19536"/>
              <a:chOff x="0" y="0"/>
              <a:chExt cx="19528" cy="20000"/>
            </a:xfrm>
          </p:grpSpPr>
          <p:sp>
            <p:nvSpPr>
              <p:cNvPr id="39979" name="Line 44"/>
              <p:cNvSpPr>
                <a:spLocks noChangeShapeType="1"/>
              </p:cNvSpPr>
              <p:nvPr/>
            </p:nvSpPr>
            <p:spPr bwMode="auto">
              <a:xfrm>
                <a:off x="2088" y="172"/>
                <a:ext cx="8" cy="19828"/>
              </a:xfrm>
              <a:prstGeom prst="line">
                <a:avLst/>
              </a:prstGeom>
              <a:noFill/>
              <a:ln w="9525" cmpd="sng">
                <a:solidFill>
                  <a:srgbClr val="000000"/>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80" name="Rectangle 45"/>
              <p:cNvSpPr>
                <a:spLocks noChangeArrowheads="1"/>
              </p:cNvSpPr>
              <p:nvPr/>
            </p:nvSpPr>
            <p:spPr bwMode="auto">
              <a:xfrm>
                <a:off x="0" y="0"/>
                <a:ext cx="2208" cy="37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200">
                    <a:sym typeface="Symbol" panose="05050102010706020507" pitchFamily="18" charset="2"/>
                  </a:rPr>
                  <a:t></a:t>
                </a:r>
                <a:endParaRPr lang="en-US" sz="1200"/>
              </a:p>
            </p:txBody>
          </p:sp>
          <p:grpSp>
            <p:nvGrpSpPr>
              <p:cNvPr id="39981" name="Group 45"/>
              <p:cNvGrpSpPr/>
              <p:nvPr/>
            </p:nvGrpSpPr>
            <p:grpSpPr bwMode="auto">
              <a:xfrm>
                <a:off x="2208" y="3948"/>
                <a:ext cx="5112" cy="5913"/>
                <a:chOff x="0" y="0"/>
                <a:chExt cx="19999" cy="20000"/>
              </a:xfrm>
            </p:grpSpPr>
            <p:sp>
              <p:nvSpPr>
                <p:cNvPr id="39982" name="Arc 47"/>
                <p:cNvSpPr/>
                <p:nvPr/>
              </p:nvSpPr>
              <p:spPr bwMode="auto">
                <a:xfrm flipH="1">
                  <a:off x="0" y="27"/>
                  <a:ext cx="9765" cy="1997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83" name="Arc 48"/>
                <p:cNvSpPr/>
                <p:nvPr/>
              </p:nvSpPr>
              <p:spPr bwMode="auto">
                <a:xfrm>
                  <a:off x="10234" y="0"/>
                  <a:ext cx="9765" cy="1997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9984" name="Group 48"/>
              <p:cNvGrpSpPr/>
              <p:nvPr/>
            </p:nvGrpSpPr>
            <p:grpSpPr bwMode="auto">
              <a:xfrm>
                <a:off x="7312" y="10164"/>
                <a:ext cx="5112" cy="5913"/>
                <a:chOff x="0" y="0"/>
                <a:chExt cx="19999" cy="20000"/>
              </a:xfrm>
            </p:grpSpPr>
            <p:sp>
              <p:nvSpPr>
                <p:cNvPr id="39985" name="Arc 50"/>
                <p:cNvSpPr/>
                <p:nvPr/>
              </p:nvSpPr>
              <p:spPr bwMode="auto">
                <a:xfrm flipH="1" flipV="1">
                  <a:off x="0" y="0"/>
                  <a:ext cx="9765" cy="1997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86" name="Arc 51"/>
                <p:cNvSpPr/>
                <p:nvPr/>
              </p:nvSpPr>
              <p:spPr bwMode="auto">
                <a:xfrm flipV="1">
                  <a:off x="10234" y="27"/>
                  <a:ext cx="9765" cy="1997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9987" name="Rectangle 52"/>
              <p:cNvSpPr>
                <a:spLocks noChangeArrowheads="1"/>
              </p:cNvSpPr>
              <p:nvPr/>
            </p:nvSpPr>
            <p:spPr bwMode="auto">
              <a:xfrm>
                <a:off x="640" y="12285"/>
                <a:ext cx="1400" cy="2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200"/>
                  <a:t>0</a:t>
                </a:r>
                <a:endParaRPr lang="en-US" sz="1200"/>
              </a:p>
            </p:txBody>
          </p:sp>
          <p:grpSp>
            <p:nvGrpSpPr>
              <p:cNvPr id="39988" name="Group 52"/>
              <p:cNvGrpSpPr/>
              <p:nvPr/>
            </p:nvGrpSpPr>
            <p:grpSpPr bwMode="auto">
              <a:xfrm>
                <a:off x="2088" y="12285"/>
                <a:ext cx="16480" cy="2948"/>
                <a:chOff x="0" y="0"/>
                <a:chExt cx="20000" cy="19900"/>
              </a:xfrm>
            </p:grpSpPr>
            <p:sp>
              <p:nvSpPr>
                <p:cNvPr id="39989" name="Line 54"/>
                <p:cNvSpPr>
                  <a:spLocks noChangeShapeType="1"/>
                </p:cNvSpPr>
                <p:nvPr/>
              </p:nvSpPr>
              <p:spPr bwMode="auto">
                <a:xfrm>
                  <a:off x="0" y="11057"/>
                  <a:ext cx="18165" cy="54"/>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90" name="Rectangle 55"/>
                <p:cNvSpPr>
                  <a:spLocks noChangeArrowheads="1"/>
                </p:cNvSpPr>
                <p:nvPr/>
              </p:nvSpPr>
              <p:spPr bwMode="auto">
                <a:xfrm>
                  <a:off x="18447" y="0"/>
                  <a:ext cx="1553" cy="1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200"/>
                    <a:t>t</a:t>
                  </a:r>
                  <a:endParaRPr lang="en-US" sz="1200"/>
                </a:p>
              </p:txBody>
            </p:sp>
          </p:grpSp>
          <p:grpSp>
            <p:nvGrpSpPr>
              <p:cNvPr id="39991" name="Group 55"/>
              <p:cNvGrpSpPr/>
              <p:nvPr/>
            </p:nvGrpSpPr>
            <p:grpSpPr bwMode="auto">
              <a:xfrm>
                <a:off x="2240" y="5405"/>
                <a:ext cx="10216" cy="9181"/>
                <a:chOff x="0" y="0"/>
                <a:chExt cx="20002" cy="19999"/>
              </a:xfrm>
            </p:grpSpPr>
            <p:grpSp>
              <p:nvGrpSpPr>
                <p:cNvPr id="39992" name="Group 56"/>
                <p:cNvGrpSpPr/>
                <p:nvPr/>
              </p:nvGrpSpPr>
              <p:grpSpPr bwMode="auto">
                <a:xfrm>
                  <a:off x="0" y="0"/>
                  <a:ext cx="10009" cy="9759"/>
                  <a:chOff x="0" y="0"/>
                  <a:chExt cx="20002" cy="20000"/>
                </a:xfrm>
              </p:grpSpPr>
              <p:sp>
                <p:nvSpPr>
                  <p:cNvPr id="39993" name="Arc 58"/>
                  <p:cNvSpPr/>
                  <p:nvPr/>
                </p:nvSpPr>
                <p:spPr bwMode="auto">
                  <a:xfrm flipH="1">
                    <a:off x="0" y="41"/>
                    <a:ext cx="9766" cy="19959"/>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94" name="Arc 59"/>
                  <p:cNvSpPr/>
                  <p:nvPr/>
                </p:nvSpPr>
                <p:spPr bwMode="auto">
                  <a:xfrm>
                    <a:off x="10236" y="0"/>
                    <a:ext cx="9766" cy="1996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9995" name="Group 59"/>
                <p:cNvGrpSpPr/>
                <p:nvPr/>
              </p:nvGrpSpPr>
              <p:grpSpPr bwMode="auto">
                <a:xfrm>
                  <a:off x="9993" y="10260"/>
                  <a:ext cx="10009" cy="9739"/>
                  <a:chOff x="0" y="0"/>
                  <a:chExt cx="20000" cy="20000"/>
                </a:xfrm>
              </p:grpSpPr>
              <p:sp>
                <p:nvSpPr>
                  <p:cNvPr id="39996" name="Arc 61"/>
                  <p:cNvSpPr/>
                  <p:nvPr/>
                </p:nvSpPr>
                <p:spPr bwMode="auto">
                  <a:xfrm flipH="1" flipV="1">
                    <a:off x="0" y="0"/>
                    <a:ext cx="9765"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97" name="Arc 62"/>
                  <p:cNvSpPr/>
                  <p:nvPr/>
                </p:nvSpPr>
                <p:spPr bwMode="auto">
                  <a:xfrm flipV="1">
                    <a:off x="10235" y="0"/>
                    <a:ext cx="9765"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39998" name="Group 62"/>
              <p:cNvGrpSpPr/>
              <p:nvPr/>
            </p:nvGrpSpPr>
            <p:grpSpPr bwMode="auto">
              <a:xfrm>
                <a:off x="2240" y="6724"/>
                <a:ext cx="10216" cy="6724"/>
                <a:chOff x="0" y="0"/>
                <a:chExt cx="20002" cy="20000"/>
              </a:xfrm>
            </p:grpSpPr>
            <p:grpSp>
              <p:nvGrpSpPr>
                <p:cNvPr id="39999" name="Group 63"/>
                <p:cNvGrpSpPr/>
                <p:nvPr/>
              </p:nvGrpSpPr>
              <p:grpSpPr bwMode="auto">
                <a:xfrm>
                  <a:off x="0" y="0"/>
                  <a:ext cx="10009" cy="9768"/>
                  <a:chOff x="0" y="0"/>
                  <a:chExt cx="20002" cy="20000"/>
                </a:xfrm>
              </p:grpSpPr>
              <p:sp>
                <p:nvSpPr>
                  <p:cNvPr id="40000" name="Arc 65"/>
                  <p:cNvSpPr/>
                  <p:nvPr/>
                </p:nvSpPr>
                <p:spPr bwMode="auto">
                  <a:xfrm flipH="1">
                    <a:off x="0" y="49"/>
                    <a:ext cx="9766" cy="1995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001" name="Arc 66"/>
                  <p:cNvSpPr/>
                  <p:nvPr/>
                </p:nvSpPr>
                <p:spPr bwMode="auto">
                  <a:xfrm>
                    <a:off x="10236" y="0"/>
                    <a:ext cx="9766" cy="1995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0002" name="Group 66"/>
                <p:cNvGrpSpPr/>
                <p:nvPr/>
              </p:nvGrpSpPr>
              <p:grpSpPr bwMode="auto">
                <a:xfrm>
                  <a:off x="9993" y="10256"/>
                  <a:ext cx="10009" cy="9744"/>
                  <a:chOff x="0" y="0"/>
                  <a:chExt cx="20000" cy="20000"/>
                </a:xfrm>
              </p:grpSpPr>
              <p:sp>
                <p:nvSpPr>
                  <p:cNvPr id="40003" name="Arc 68"/>
                  <p:cNvSpPr/>
                  <p:nvPr/>
                </p:nvSpPr>
                <p:spPr bwMode="auto">
                  <a:xfrm flipH="1" flipV="1">
                    <a:off x="0" y="0"/>
                    <a:ext cx="9765"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004" name="Arc 69"/>
                  <p:cNvSpPr/>
                  <p:nvPr/>
                </p:nvSpPr>
                <p:spPr bwMode="auto">
                  <a:xfrm flipV="1">
                    <a:off x="10235" y="0"/>
                    <a:ext cx="9765"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40005" name="Line 70"/>
              <p:cNvSpPr>
                <a:spLocks noChangeShapeType="1"/>
              </p:cNvSpPr>
              <p:nvPr/>
            </p:nvSpPr>
            <p:spPr bwMode="auto">
              <a:xfrm>
                <a:off x="2080" y="9992"/>
                <a:ext cx="12968" cy="8"/>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006" name="Line 71"/>
              <p:cNvSpPr>
                <a:spLocks noChangeShapeType="1"/>
              </p:cNvSpPr>
              <p:nvPr/>
            </p:nvSpPr>
            <p:spPr bwMode="auto">
              <a:xfrm>
                <a:off x="13920" y="9992"/>
                <a:ext cx="8" cy="3775"/>
              </a:xfrm>
              <a:prstGeom prst="line">
                <a:avLst/>
              </a:prstGeom>
              <a:noFill/>
              <a:ln w="3175" cmpd="sng">
                <a:solidFill>
                  <a:srgbClr val="000000"/>
                </a:solidFill>
                <a:round/>
                <a:headEnd type="arrow" w="sm" len="sm"/>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007" name="Rectangle 72"/>
              <p:cNvSpPr>
                <a:spLocks noChangeArrowheads="1"/>
              </p:cNvSpPr>
              <p:nvPr/>
            </p:nvSpPr>
            <p:spPr bwMode="auto">
              <a:xfrm>
                <a:off x="14240" y="9992"/>
                <a:ext cx="5288" cy="40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200">
                    <a:sym typeface="Symbol" panose="05050102010706020507" pitchFamily="18" charset="2"/>
                  </a:rPr>
                  <a:t></a:t>
                </a:r>
                <a:r>
                  <a:rPr lang="en-US" sz="1200" baseline="-25000"/>
                  <a:t>m</a:t>
                </a:r>
                <a:r>
                  <a:rPr lang="en-US" sz="1200"/>
                  <a:t>=C</a:t>
                </a:r>
                <a:endParaRPr lang="en-US" sz="1200"/>
              </a:p>
            </p:txBody>
          </p:sp>
          <p:sp>
            <p:nvSpPr>
              <p:cNvPr id="40008" name="Rectangle 73"/>
              <p:cNvSpPr>
                <a:spLocks noChangeArrowheads="1"/>
              </p:cNvSpPr>
              <p:nvPr/>
            </p:nvSpPr>
            <p:spPr bwMode="auto">
              <a:xfrm>
                <a:off x="8480" y="1474"/>
                <a:ext cx="5288" cy="2793"/>
              </a:xfrm>
              <a:prstGeom prst="rect">
                <a:avLst/>
              </a:prstGeom>
              <a:solidFill>
                <a:srgbClr val="FFFF00"/>
              </a:solidFill>
              <a:ln w="3175" cmpd="sng">
                <a:solidFill>
                  <a:srgbClr val="000000"/>
                </a:solidFill>
                <a:miter lim="800000"/>
              </a:ln>
              <a:effectLst>
                <a:outerShdw dist="57238" dir="2021404" algn="ctr" rotWithShape="0">
                  <a:srgbClr val="000000"/>
                </a:outerShdw>
              </a:effec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en-US" sz="1200">
                    <a:sym typeface="Symbol" panose="05050102010706020507" pitchFamily="18" charset="2"/>
                  </a:rPr>
                  <a:t></a:t>
                </a:r>
                <a:r>
                  <a:rPr lang="en-US" sz="1200" baseline="-25000"/>
                  <a:t>m</a:t>
                </a:r>
                <a:r>
                  <a:rPr lang="en-US" sz="1200"/>
                  <a:t>=C</a:t>
                </a:r>
                <a:endParaRPr lang="en-US" sz="1200"/>
              </a:p>
            </p:txBody>
          </p:sp>
        </p:grpSp>
        <p:grpSp>
          <p:nvGrpSpPr>
            <p:cNvPr id="40009" name="Group 73"/>
            <p:cNvGrpSpPr/>
            <p:nvPr/>
          </p:nvGrpSpPr>
          <p:grpSpPr bwMode="auto">
            <a:xfrm>
              <a:off x="0" y="1448"/>
              <a:ext cx="3183" cy="18552"/>
              <a:chOff x="0" y="0"/>
              <a:chExt cx="20000" cy="20001"/>
            </a:xfrm>
          </p:grpSpPr>
          <p:sp>
            <p:nvSpPr>
              <p:cNvPr id="40010" name="Rectangle 75"/>
              <p:cNvSpPr>
                <a:spLocks noChangeArrowheads="1"/>
              </p:cNvSpPr>
              <p:nvPr/>
            </p:nvSpPr>
            <p:spPr bwMode="auto">
              <a:xfrm>
                <a:off x="377" y="0"/>
                <a:ext cx="19623" cy="1561"/>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40011" name="Line 76"/>
              <p:cNvSpPr>
                <a:spLocks noChangeShapeType="1"/>
              </p:cNvSpPr>
              <p:nvPr/>
            </p:nvSpPr>
            <p:spPr bwMode="auto">
              <a:xfrm>
                <a:off x="0" y="1552"/>
                <a:ext cx="20000" cy="9"/>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012" name="Freeform 77"/>
              <p:cNvSpPr/>
              <p:nvPr/>
            </p:nvSpPr>
            <p:spPr bwMode="auto">
              <a:xfrm>
                <a:off x="6786" y="1552"/>
                <a:ext cx="5674" cy="10876"/>
              </a:xfrm>
              <a:custGeom>
                <a:avLst/>
                <a:gdLst>
                  <a:gd name="T0" fmla="*/ 9302 w 20000"/>
                  <a:gd name="T1" fmla="*/ 0 h 20000"/>
                  <a:gd name="T2" fmla="*/ 9302 w 20000"/>
                  <a:gd name="T3" fmla="*/ 3807 h 20000"/>
                  <a:gd name="T4" fmla="*/ 19934 w 20000"/>
                  <a:gd name="T5" fmla="*/ 5710 h 20000"/>
                  <a:gd name="T6" fmla="*/ 0 w 20000"/>
                  <a:gd name="T7" fmla="*/ 7296 h 20000"/>
                  <a:gd name="T8" fmla="*/ 18605 w 20000"/>
                  <a:gd name="T9" fmla="*/ 9516 h 20000"/>
                  <a:gd name="T10" fmla="*/ 0 w 20000"/>
                  <a:gd name="T11" fmla="*/ 11420 h 20000"/>
                  <a:gd name="T12" fmla="*/ 18605 w 20000"/>
                  <a:gd name="T13" fmla="*/ 13006 h 20000"/>
                  <a:gd name="T14" fmla="*/ 0 w 20000"/>
                  <a:gd name="T15" fmla="*/ 14909 h 20000"/>
                  <a:gd name="T16" fmla="*/ 9302 w 20000"/>
                  <a:gd name="T17" fmla="*/ 17129 h 20000"/>
                  <a:gd name="T18" fmla="*/ 9302 w 20000"/>
                  <a:gd name="T19" fmla="*/ 19984 h 2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00" h="20000">
                    <a:moveTo>
                      <a:pt x="9302" y="0"/>
                    </a:moveTo>
                    <a:lnTo>
                      <a:pt x="9302" y="3807"/>
                    </a:lnTo>
                    <a:lnTo>
                      <a:pt x="19934" y="5710"/>
                    </a:lnTo>
                    <a:lnTo>
                      <a:pt x="0" y="7296"/>
                    </a:lnTo>
                    <a:lnTo>
                      <a:pt x="18605" y="9516"/>
                    </a:lnTo>
                    <a:lnTo>
                      <a:pt x="0" y="11420"/>
                    </a:lnTo>
                    <a:lnTo>
                      <a:pt x="18605" y="13006"/>
                    </a:lnTo>
                    <a:lnTo>
                      <a:pt x="0" y="14909"/>
                    </a:lnTo>
                    <a:lnTo>
                      <a:pt x="9302" y="17129"/>
                    </a:lnTo>
                    <a:lnTo>
                      <a:pt x="9302" y="19984"/>
                    </a:lnTo>
                  </a:path>
                </a:pathLst>
              </a:custGeom>
              <a:noFill/>
              <a:ln w="3175" cap="flat"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013" name="Rectangle 78"/>
              <p:cNvSpPr>
                <a:spLocks noChangeArrowheads="1"/>
              </p:cNvSpPr>
              <p:nvPr/>
            </p:nvSpPr>
            <p:spPr bwMode="auto">
              <a:xfrm>
                <a:off x="3770" y="12419"/>
                <a:ext cx="10952" cy="3459"/>
              </a:xfrm>
              <a:prstGeom prst="rect">
                <a:avLst/>
              </a:prstGeom>
              <a:solidFill>
                <a:srgbClr val="FF0000"/>
              </a:solidFill>
              <a:ln w="3175" cmpd="sng">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40014" name="Rectangle 79"/>
              <p:cNvSpPr>
                <a:spLocks noChangeArrowheads="1"/>
              </p:cNvSpPr>
              <p:nvPr/>
            </p:nvSpPr>
            <p:spPr bwMode="auto">
              <a:xfrm>
                <a:off x="6786" y="12247"/>
                <a:ext cx="5297" cy="37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200"/>
                  <a:t>G</a:t>
                </a:r>
                <a:endParaRPr lang="en-US" sz="1200"/>
              </a:p>
            </p:txBody>
          </p:sp>
          <p:sp>
            <p:nvSpPr>
              <p:cNvPr id="40015" name="Line 80"/>
              <p:cNvSpPr>
                <a:spLocks noChangeShapeType="1"/>
              </p:cNvSpPr>
              <p:nvPr/>
            </p:nvSpPr>
            <p:spPr bwMode="auto">
              <a:xfrm>
                <a:off x="7917" y="16559"/>
                <a:ext cx="19" cy="2597"/>
              </a:xfrm>
              <a:prstGeom prst="line">
                <a:avLst/>
              </a:prstGeom>
              <a:noFill/>
              <a:ln w="9525" cmpd="sng">
                <a:solidFill>
                  <a:srgbClr val="0000FF"/>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016" name="Line 81"/>
              <p:cNvSpPr>
                <a:spLocks noChangeShapeType="1"/>
              </p:cNvSpPr>
              <p:nvPr/>
            </p:nvSpPr>
            <p:spPr bwMode="auto">
              <a:xfrm>
                <a:off x="9802" y="16560"/>
                <a:ext cx="19" cy="2596"/>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017" name="Rectangle 82"/>
              <p:cNvSpPr>
                <a:spLocks noChangeArrowheads="1"/>
              </p:cNvSpPr>
              <p:nvPr/>
            </p:nvSpPr>
            <p:spPr bwMode="auto">
              <a:xfrm>
                <a:off x="10933" y="16206"/>
                <a:ext cx="4920" cy="37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200">
                    <a:solidFill>
                      <a:srgbClr val="0000FF"/>
                    </a:solidFill>
                  </a:rPr>
                  <a:t>F</a:t>
                </a:r>
                <a:endParaRPr lang="en-US" sz="1200">
                  <a:solidFill>
                    <a:srgbClr val="0000FF"/>
                  </a:solidFill>
                </a:endParaRPr>
              </a:p>
            </p:txBody>
          </p:sp>
        </p:grpSp>
      </p:grpSp>
      <p:sp>
        <p:nvSpPr>
          <p:cNvPr id="40018" name="Text Box 83"/>
          <p:cNvSpPr txBox="1">
            <a:spLocks noChangeArrowheads="1"/>
          </p:cNvSpPr>
          <p:nvPr/>
        </p:nvSpPr>
        <p:spPr bwMode="auto">
          <a:xfrm>
            <a:off x="720725" y="3378200"/>
            <a:ext cx="8154670" cy="1050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en-US">
                <a:latin typeface="黑体" panose="02010609060101010101" pitchFamily="49" charset="-122"/>
                <a:ea typeface="黑体" panose="02010609060101010101" pitchFamily="49" charset="-122"/>
                <a:cs typeface="黑体" panose="02010609060101010101" pitchFamily="49" charset="-122"/>
              </a:rPr>
              <a:t>b</a:t>
            </a:r>
            <a:r>
              <a:rPr lang="zh-CN" altLang="en-US">
                <a:latin typeface="黑体" panose="02010609060101010101" pitchFamily="49" charset="-122"/>
                <a:ea typeface="黑体" panose="02010609060101010101" pitchFamily="49" charset="-122"/>
                <a:cs typeface="黑体" panose="02010609060101010101" pitchFamily="49" charset="-122"/>
              </a:rPr>
              <a:t>）变应力的平均应力保持不变，即</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en-US" baseline="-25000">
                <a:solidFill>
                  <a:srgbClr val="FF0000"/>
                </a:solidFill>
                <a:latin typeface="黑体" panose="02010609060101010101" pitchFamily="49" charset="-122"/>
                <a:ea typeface="黑体" panose="02010609060101010101" pitchFamily="49" charset="-122"/>
                <a:cs typeface="黑体" panose="02010609060101010101" pitchFamily="49" charset="-122"/>
              </a:rPr>
              <a:t>m</a:t>
            </a:r>
            <a:r>
              <a:rPr lang="en-US">
                <a:solidFill>
                  <a:srgbClr val="FF0000"/>
                </a:solidFill>
                <a:latin typeface="黑体" panose="02010609060101010101" pitchFamily="49" charset="-122"/>
                <a:ea typeface="黑体" panose="02010609060101010101" pitchFamily="49" charset="-122"/>
                <a:cs typeface="黑体" panose="02010609060101010101" pitchFamily="49" charset="-122"/>
              </a:rPr>
              <a:t>=C</a:t>
            </a:r>
            <a:r>
              <a:rPr lang="zh-CN" altLang="en-US">
                <a:solidFill>
                  <a:srgbClr val="FF0000"/>
                </a:solidFill>
                <a:latin typeface="黑体" panose="02010609060101010101" pitchFamily="49" charset="-122"/>
                <a:ea typeface="黑体" panose="02010609060101010101" pitchFamily="49" charset="-122"/>
                <a:cs typeface="黑体" panose="02010609060101010101" pitchFamily="49" charset="-122"/>
              </a:rPr>
              <a:t>（</a:t>
            </a:r>
            <a:r>
              <a:rPr lang="zh-CN" altLang="en-US">
                <a:latin typeface="黑体" panose="02010609060101010101" pitchFamily="49" charset="-122"/>
                <a:ea typeface="黑体" panose="02010609060101010101" pitchFamily="49" charset="-122"/>
                <a:cs typeface="黑体" panose="02010609060101010101" pitchFamily="49" charset="-122"/>
              </a:rPr>
              <a:t>例如振动着的受载弹簧中的应力状态）；</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animEffect transition="in" filter="wipe(left)">
                                      <p:cBhvr>
                                        <p:cTn id="7" dur="500"/>
                                        <p:tgtEl>
                                          <p:spTgt spid="399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939"/>
                                        </p:tgtEl>
                                        <p:attrNameLst>
                                          <p:attrName>style.visibility</p:attrName>
                                        </p:attrNameLst>
                                      </p:cBhvr>
                                      <p:to>
                                        <p:strVal val="visible"/>
                                      </p:to>
                                    </p:set>
                                    <p:animEffect transition="in" filter="wipe(left)">
                                      <p:cBhvr>
                                        <p:cTn id="12" dur="500"/>
                                        <p:tgtEl>
                                          <p:spTgt spid="399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018"/>
                                        </p:tgtEl>
                                        <p:attrNameLst>
                                          <p:attrName>style.visibility</p:attrName>
                                        </p:attrNameLst>
                                      </p:cBhvr>
                                      <p:to>
                                        <p:strVal val="visible"/>
                                      </p:to>
                                    </p:set>
                                    <p:animEffect transition="in" filter="wipe(left)">
                                      <p:cBhvr>
                                        <p:cTn id="17" dur="500"/>
                                        <p:tgtEl>
                                          <p:spTgt spid="400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9977"/>
                                        </p:tgtEl>
                                        <p:attrNameLst>
                                          <p:attrName>style.visibility</p:attrName>
                                        </p:attrNameLst>
                                      </p:cBhvr>
                                      <p:to>
                                        <p:strVal val="visible"/>
                                      </p:to>
                                    </p:set>
                                    <p:animEffect transition="in" filter="wipe(left)">
                                      <p:cBhvr>
                                        <p:cTn id="22" dur="500"/>
                                        <p:tgtEl>
                                          <p:spTgt spid="39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18" grpId="0" bldLvl="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3"/>
          <p:cNvSpPr>
            <a:spLocks noGrp="1" noChangeArrowheads="1"/>
          </p:cNvSpPr>
          <p:nvPr>
            <p:ph type="body" idx="4294967295"/>
          </p:nvPr>
        </p:nvSpPr>
        <p:spPr>
          <a:xfrm>
            <a:off x="657225" y="638810"/>
            <a:ext cx="7772400" cy="5803900"/>
          </a:xfrm>
        </p:spPr>
        <p:txBody>
          <a:bodyPr/>
          <a:lstStyle/>
          <a:p>
            <a:pPr marL="0" indent="0" algn="just" eaLnBrk="1" hangingPunct="1">
              <a:lnSpc>
                <a:spcPct val="130000"/>
              </a:lnSpc>
              <a:buFontTx/>
              <a:buNone/>
            </a:pPr>
            <a:endParaRPr lang="en-US" sz="2000"/>
          </a:p>
          <a:p>
            <a:pPr marL="0" indent="0" algn="just" eaLnBrk="1" hangingPunct="1">
              <a:lnSpc>
                <a:spcPct val="130000"/>
              </a:lnSpc>
              <a:buFontTx/>
              <a:buNone/>
            </a:pPr>
            <a:r>
              <a:rPr lang="en-US" sz="2400">
                <a:latin typeface="黑体" panose="02010609060101010101" pitchFamily="49" charset="-122"/>
                <a:ea typeface="黑体" panose="02010609060101010101" pitchFamily="49" charset="-122"/>
                <a:cs typeface="黑体" panose="02010609060101010101" pitchFamily="49" charset="-122"/>
              </a:rPr>
              <a:t>C</a:t>
            </a:r>
            <a:r>
              <a:rPr lang="zh-CN" altLang="en-US" sz="2400">
                <a:latin typeface="黑体" panose="02010609060101010101" pitchFamily="49" charset="-122"/>
                <a:ea typeface="黑体" panose="02010609060101010101" pitchFamily="49" charset="-122"/>
                <a:cs typeface="黑体" panose="02010609060101010101" pitchFamily="49" charset="-122"/>
              </a:rPr>
              <a:t>）变应力的最小应力保持不变，即</a:t>
            </a:r>
            <a:r>
              <a:rPr lang="zh-CN" altLang="en-US" sz="2400">
                <a:solidFill>
                  <a:srgbClr val="FF0000"/>
                </a:solidFill>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en-US" sz="2400" baseline="-25000">
                <a:solidFill>
                  <a:srgbClr val="FF0000"/>
                </a:solidFill>
                <a:latin typeface="黑体" panose="02010609060101010101" pitchFamily="49" charset="-122"/>
                <a:ea typeface="黑体" panose="02010609060101010101" pitchFamily="49" charset="-122"/>
                <a:cs typeface="黑体" panose="02010609060101010101" pitchFamily="49" charset="-122"/>
              </a:rPr>
              <a:t>min</a:t>
            </a:r>
            <a:r>
              <a:rPr lang="en-US" sz="2400">
                <a:solidFill>
                  <a:srgbClr val="FF0000"/>
                </a:solidFill>
                <a:latin typeface="黑体" panose="02010609060101010101" pitchFamily="49" charset="-122"/>
                <a:ea typeface="黑体" panose="02010609060101010101" pitchFamily="49" charset="-122"/>
                <a:cs typeface="黑体" panose="02010609060101010101" pitchFamily="49" charset="-122"/>
              </a:rPr>
              <a:t>=C</a:t>
            </a:r>
            <a:r>
              <a:rPr lang="zh-CN" altLang="en-US" sz="2400">
                <a:latin typeface="黑体" panose="02010609060101010101" pitchFamily="49" charset="-122"/>
                <a:ea typeface="黑体" panose="02010609060101010101" pitchFamily="49" charset="-122"/>
                <a:cs typeface="黑体" panose="02010609060101010101" pitchFamily="49" charset="-122"/>
              </a:rPr>
              <a:t>（例如紧螺栓联接中螺栓受轴向变载时的应力状态）。</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pPr marL="0" indent="0" algn="just" eaLnBrk="1" hangingPunct="1">
              <a:buFontTx/>
              <a:buNone/>
            </a:pPr>
            <a:endParaRPr lang="zh-CN" altLang="en-US" sz="2000"/>
          </a:p>
          <a:p>
            <a:pPr marL="0" indent="0" eaLnBrk="1" hangingPunct="1">
              <a:buFontTx/>
              <a:buNone/>
            </a:pPr>
            <a:endParaRPr lang="zh-CN" altLang="en-US"/>
          </a:p>
          <a:p>
            <a:pPr marL="0" indent="0" eaLnBrk="1" hangingPunct="1">
              <a:buFontTx/>
              <a:buNone/>
            </a:pPr>
            <a:endParaRPr lang="zh-CN" altLang="en-US"/>
          </a:p>
          <a:p>
            <a:pPr marL="0" indent="0" eaLnBrk="1" hangingPunct="1">
              <a:buFontTx/>
              <a:buNone/>
            </a:pPr>
            <a:endParaRPr lang="zh-CN" altLang="en-US"/>
          </a:p>
          <a:p>
            <a:pPr marL="0" indent="0" eaLnBrk="1" hangingPunct="1">
              <a:buFontTx/>
              <a:buNone/>
            </a:pPr>
            <a:endParaRPr lang="zh-CN" altLang="en-US"/>
          </a:p>
          <a:p>
            <a:pPr marL="0" indent="0" eaLnBrk="1" hangingPunct="1">
              <a:lnSpc>
                <a:spcPct val="130000"/>
              </a:lnSpc>
              <a:buFontTx/>
              <a:buNone/>
            </a:pPr>
            <a:endParaRPr lang="zh-CN" altLang="en-US"/>
          </a:p>
          <a:p>
            <a:pPr marL="0" indent="0" eaLnBrk="1" hangingPunct="1">
              <a:buFontTx/>
              <a:buNone/>
            </a:pPr>
            <a:endParaRPr lang="en-US"/>
          </a:p>
        </p:txBody>
      </p:sp>
      <p:grpSp>
        <p:nvGrpSpPr>
          <p:cNvPr id="40963" name="Group 3"/>
          <p:cNvGrpSpPr/>
          <p:nvPr/>
        </p:nvGrpSpPr>
        <p:grpSpPr bwMode="auto">
          <a:xfrm>
            <a:off x="2071053" y="2459038"/>
            <a:ext cx="5334000" cy="2147887"/>
            <a:chOff x="0" y="0"/>
            <a:chExt cx="20004" cy="19536"/>
          </a:xfrm>
        </p:grpSpPr>
        <p:grpSp>
          <p:nvGrpSpPr>
            <p:cNvPr id="40964" name="Group 4"/>
            <p:cNvGrpSpPr/>
            <p:nvPr/>
          </p:nvGrpSpPr>
          <p:grpSpPr bwMode="auto">
            <a:xfrm>
              <a:off x="0" y="2680"/>
              <a:ext cx="9165" cy="13456"/>
              <a:chOff x="0" y="0"/>
              <a:chExt cx="20003" cy="18502"/>
            </a:xfrm>
          </p:grpSpPr>
          <p:sp>
            <p:nvSpPr>
              <p:cNvPr id="40965" name="Line 6"/>
              <p:cNvSpPr>
                <a:spLocks noChangeShapeType="1"/>
              </p:cNvSpPr>
              <p:nvPr/>
            </p:nvSpPr>
            <p:spPr bwMode="auto">
              <a:xfrm>
                <a:off x="0" y="8360"/>
                <a:ext cx="3405" cy="11"/>
              </a:xfrm>
              <a:prstGeom prst="line">
                <a:avLst/>
              </a:prstGeom>
              <a:noFill/>
              <a:ln w="1905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66" name="Arc 7"/>
              <p:cNvSpPr/>
              <p:nvPr/>
            </p:nvSpPr>
            <p:spPr bwMode="auto">
              <a:xfrm flipH="1">
                <a:off x="3398" y="0"/>
                <a:ext cx="3536" cy="815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67" name="Line 8"/>
              <p:cNvSpPr>
                <a:spLocks noChangeShapeType="1"/>
              </p:cNvSpPr>
              <p:nvPr/>
            </p:nvSpPr>
            <p:spPr bwMode="auto">
              <a:xfrm>
                <a:off x="6927" y="0"/>
                <a:ext cx="6411" cy="11"/>
              </a:xfrm>
              <a:prstGeom prst="line">
                <a:avLst/>
              </a:prstGeom>
              <a:noFill/>
              <a:ln w="1905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68" name="Arc 9"/>
              <p:cNvSpPr/>
              <p:nvPr/>
            </p:nvSpPr>
            <p:spPr bwMode="auto">
              <a:xfrm>
                <a:off x="13070" y="0"/>
                <a:ext cx="3535" cy="815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69" name="Line 10"/>
              <p:cNvSpPr>
                <a:spLocks noChangeShapeType="1"/>
              </p:cNvSpPr>
              <p:nvPr/>
            </p:nvSpPr>
            <p:spPr bwMode="auto">
              <a:xfrm>
                <a:off x="16598" y="8360"/>
                <a:ext cx="3405" cy="11"/>
              </a:xfrm>
              <a:prstGeom prst="line">
                <a:avLst/>
              </a:prstGeom>
              <a:noFill/>
              <a:ln w="1905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70" name="Line 11"/>
              <p:cNvSpPr>
                <a:spLocks noChangeShapeType="1"/>
              </p:cNvSpPr>
              <p:nvPr/>
            </p:nvSpPr>
            <p:spPr bwMode="auto">
              <a:xfrm>
                <a:off x="0" y="10131"/>
                <a:ext cx="3405" cy="11"/>
              </a:xfrm>
              <a:prstGeom prst="line">
                <a:avLst/>
              </a:prstGeom>
              <a:noFill/>
              <a:ln w="1905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71" name="Arc 12"/>
              <p:cNvSpPr/>
              <p:nvPr/>
            </p:nvSpPr>
            <p:spPr bwMode="auto">
              <a:xfrm flipH="1" flipV="1">
                <a:off x="3398" y="10351"/>
                <a:ext cx="3536" cy="815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72" name="Line 13"/>
              <p:cNvSpPr>
                <a:spLocks noChangeShapeType="1"/>
              </p:cNvSpPr>
              <p:nvPr/>
            </p:nvSpPr>
            <p:spPr bwMode="auto">
              <a:xfrm>
                <a:off x="6927" y="18491"/>
                <a:ext cx="6411" cy="11"/>
              </a:xfrm>
              <a:prstGeom prst="line">
                <a:avLst/>
              </a:prstGeom>
              <a:noFill/>
              <a:ln w="1905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73" name="Arc 14"/>
              <p:cNvSpPr/>
              <p:nvPr/>
            </p:nvSpPr>
            <p:spPr bwMode="auto">
              <a:xfrm flipV="1">
                <a:off x="13069" y="10351"/>
                <a:ext cx="3536" cy="815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74" name="Line 15"/>
              <p:cNvSpPr>
                <a:spLocks noChangeShapeType="1"/>
              </p:cNvSpPr>
              <p:nvPr/>
            </p:nvSpPr>
            <p:spPr bwMode="auto">
              <a:xfrm>
                <a:off x="16598" y="10131"/>
                <a:ext cx="3405" cy="11"/>
              </a:xfrm>
              <a:prstGeom prst="line">
                <a:avLst/>
              </a:prstGeom>
              <a:noFill/>
              <a:ln w="19050"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40975" name="Group 15"/>
              <p:cNvGrpSpPr/>
              <p:nvPr/>
            </p:nvGrpSpPr>
            <p:grpSpPr bwMode="auto">
              <a:xfrm>
                <a:off x="524" y="5060"/>
                <a:ext cx="1966" cy="8591"/>
                <a:chOff x="0" y="0"/>
                <a:chExt cx="19941" cy="20000"/>
              </a:xfrm>
            </p:grpSpPr>
            <p:sp>
              <p:nvSpPr>
                <p:cNvPr id="40976" name="Line 17"/>
                <p:cNvSpPr>
                  <a:spLocks noChangeShapeType="1"/>
                </p:cNvSpPr>
                <p:nvPr/>
              </p:nvSpPr>
              <p:spPr bwMode="auto">
                <a:xfrm>
                  <a:off x="9271" y="0"/>
                  <a:ext cx="71" cy="20000"/>
                </a:xfrm>
                <a:prstGeom prst="line">
                  <a:avLst/>
                </a:prstGeom>
                <a:noFill/>
                <a:ln w="3175" cmpd="sng">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77" name="Line 18"/>
                <p:cNvSpPr>
                  <a:spLocks noChangeShapeType="1"/>
                </p:cNvSpPr>
                <p:nvPr/>
              </p:nvSpPr>
              <p:spPr bwMode="auto">
                <a:xfrm>
                  <a:off x="0" y="0"/>
                  <a:ext cx="19941" cy="26"/>
                </a:xfrm>
                <a:prstGeom prst="line">
                  <a:avLst/>
                </a:prstGeom>
                <a:noFill/>
                <a:ln w="3175" cmpd="sng">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78" name="Line 19"/>
                <p:cNvSpPr>
                  <a:spLocks noChangeShapeType="1"/>
                </p:cNvSpPr>
                <p:nvPr/>
              </p:nvSpPr>
              <p:spPr bwMode="auto">
                <a:xfrm>
                  <a:off x="0" y="19974"/>
                  <a:ext cx="19941" cy="26"/>
                </a:xfrm>
                <a:prstGeom prst="line">
                  <a:avLst/>
                </a:prstGeom>
                <a:noFill/>
                <a:ln w="3175" cmpd="sng">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0979" name="Group 19"/>
              <p:cNvGrpSpPr/>
              <p:nvPr/>
            </p:nvGrpSpPr>
            <p:grpSpPr bwMode="auto">
              <a:xfrm>
                <a:off x="17513" y="5291"/>
                <a:ext cx="1966" cy="8591"/>
                <a:chOff x="0" y="0"/>
                <a:chExt cx="19941" cy="20000"/>
              </a:xfrm>
            </p:grpSpPr>
            <p:sp>
              <p:nvSpPr>
                <p:cNvPr id="40980" name="Line 21"/>
                <p:cNvSpPr>
                  <a:spLocks noChangeShapeType="1"/>
                </p:cNvSpPr>
                <p:nvPr/>
              </p:nvSpPr>
              <p:spPr bwMode="auto">
                <a:xfrm>
                  <a:off x="9271" y="0"/>
                  <a:ext cx="71" cy="20000"/>
                </a:xfrm>
                <a:prstGeom prst="line">
                  <a:avLst/>
                </a:prstGeom>
                <a:noFill/>
                <a:ln w="3175" cmpd="sng">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81" name="Line 22"/>
                <p:cNvSpPr>
                  <a:spLocks noChangeShapeType="1"/>
                </p:cNvSpPr>
                <p:nvPr/>
              </p:nvSpPr>
              <p:spPr bwMode="auto">
                <a:xfrm>
                  <a:off x="0" y="0"/>
                  <a:ext cx="19941" cy="26"/>
                </a:xfrm>
                <a:prstGeom prst="line">
                  <a:avLst/>
                </a:prstGeom>
                <a:noFill/>
                <a:ln w="3175" cmpd="sng">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82" name="Line 23"/>
                <p:cNvSpPr>
                  <a:spLocks noChangeShapeType="1"/>
                </p:cNvSpPr>
                <p:nvPr/>
              </p:nvSpPr>
              <p:spPr bwMode="auto">
                <a:xfrm>
                  <a:off x="0" y="19974"/>
                  <a:ext cx="19941" cy="26"/>
                </a:xfrm>
                <a:prstGeom prst="line">
                  <a:avLst/>
                </a:prstGeom>
                <a:noFill/>
                <a:ln w="3175" cmpd="sng">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0983" name="Group 23"/>
              <p:cNvGrpSpPr/>
              <p:nvPr/>
            </p:nvGrpSpPr>
            <p:grpSpPr bwMode="auto">
              <a:xfrm>
                <a:off x="7580" y="0"/>
                <a:ext cx="4581" cy="4411"/>
                <a:chOff x="0" y="0"/>
                <a:chExt cx="19850" cy="20000"/>
              </a:xfrm>
            </p:grpSpPr>
            <p:sp>
              <p:nvSpPr>
                <p:cNvPr id="40984" name="Line 25"/>
                <p:cNvSpPr>
                  <a:spLocks noChangeShapeType="1"/>
                </p:cNvSpPr>
                <p:nvPr/>
              </p:nvSpPr>
              <p:spPr bwMode="auto">
                <a:xfrm>
                  <a:off x="9628" y="0"/>
                  <a:ext cx="26" cy="20000"/>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85" name="Line 26"/>
                <p:cNvSpPr>
                  <a:spLocks noChangeShapeType="1"/>
                </p:cNvSpPr>
                <p:nvPr/>
              </p:nvSpPr>
              <p:spPr bwMode="auto">
                <a:xfrm>
                  <a:off x="14724" y="0"/>
                  <a:ext cx="30" cy="20000"/>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86" name="Line 27"/>
                <p:cNvSpPr>
                  <a:spLocks noChangeShapeType="1"/>
                </p:cNvSpPr>
                <p:nvPr/>
              </p:nvSpPr>
              <p:spPr bwMode="auto">
                <a:xfrm>
                  <a:off x="19824" y="0"/>
                  <a:ext cx="26" cy="20000"/>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87" name="Line 28"/>
                <p:cNvSpPr>
                  <a:spLocks noChangeShapeType="1"/>
                </p:cNvSpPr>
                <p:nvPr/>
              </p:nvSpPr>
              <p:spPr bwMode="auto">
                <a:xfrm>
                  <a:off x="0" y="0"/>
                  <a:ext cx="30" cy="20000"/>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88" name="Line 29"/>
                <p:cNvSpPr>
                  <a:spLocks noChangeShapeType="1"/>
                </p:cNvSpPr>
                <p:nvPr/>
              </p:nvSpPr>
              <p:spPr bwMode="auto">
                <a:xfrm>
                  <a:off x="5096" y="0"/>
                  <a:ext cx="30" cy="20000"/>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0989" name="Group 29"/>
              <p:cNvGrpSpPr/>
              <p:nvPr/>
            </p:nvGrpSpPr>
            <p:grpSpPr bwMode="auto">
              <a:xfrm>
                <a:off x="7580" y="14080"/>
                <a:ext cx="4581" cy="4411"/>
                <a:chOff x="0" y="0"/>
                <a:chExt cx="19850" cy="20000"/>
              </a:xfrm>
            </p:grpSpPr>
            <p:sp>
              <p:nvSpPr>
                <p:cNvPr id="40990" name="Line 31"/>
                <p:cNvSpPr>
                  <a:spLocks noChangeShapeType="1"/>
                </p:cNvSpPr>
                <p:nvPr/>
              </p:nvSpPr>
              <p:spPr bwMode="auto">
                <a:xfrm flipV="1">
                  <a:off x="9628" y="0"/>
                  <a:ext cx="26" cy="20000"/>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91" name="Line 32"/>
                <p:cNvSpPr>
                  <a:spLocks noChangeShapeType="1"/>
                </p:cNvSpPr>
                <p:nvPr/>
              </p:nvSpPr>
              <p:spPr bwMode="auto">
                <a:xfrm flipV="1">
                  <a:off x="14724" y="0"/>
                  <a:ext cx="30" cy="20000"/>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92" name="Line 33"/>
                <p:cNvSpPr>
                  <a:spLocks noChangeShapeType="1"/>
                </p:cNvSpPr>
                <p:nvPr/>
              </p:nvSpPr>
              <p:spPr bwMode="auto">
                <a:xfrm flipV="1">
                  <a:off x="19824" y="0"/>
                  <a:ext cx="26" cy="20000"/>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93" name="Line 34"/>
                <p:cNvSpPr>
                  <a:spLocks noChangeShapeType="1"/>
                </p:cNvSpPr>
                <p:nvPr/>
              </p:nvSpPr>
              <p:spPr bwMode="auto">
                <a:xfrm flipV="1">
                  <a:off x="0" y="0"/>
                  <a:ext cx="30" cy="20000"/>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94" name="Line 35"/>
                <p:cNvSpPr>
                  <a:spLocks noChangeShapeType="1"/>
                </p:cNvSpPr>
                <p:nvPr/>
              </p:nvSpPr>
              <p:spPr bwMode="auto">
                <a:xfrm flipV="1">
                  <a:off x="5096" y="0"/>
                  <a:ext cx="30" cy="20000"/>
                </a:xfrm>
                <a:prstGeom prst="line">
                  <a:avLst/>
                </a:prstGeom>
                <a:noFill/>
                <a:ln w="9525" cmpd="sng">
                  <a:solidFill>
                    <a:srgbClr val="0000FF"/>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0995" name="Rectangle 36"/>
              <p:cNvSpPr>
                <a:spLocks noChangeArrowheads="1"/>
              </p:cNvSpPr>
              <p:nvPr/>
            </p:nvSpPr>
            <p:spPr bwMode="auto">
              <a:xfrm>
                <a:off x="6142" y="6820"/>
                <a:ext cx="7196" cy="4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r>
                  <a:rPr lang="en-US" sz="1400"/>
                  <a:t>P = 0</a:t>
                </a:r>
                <a:r>
                  <a:rPr lang="zh-CN" altLang="en-US" sz="1400"/>
                  <a:t>～</a:t>
                </a:r>
                <a:r>
                  <a:rPr lang="en-US" sz="1400"/>
                  <a:t>a</a:t>
                </a:r>
                <a:endParaRPr lang="en-US" sz="1400"/>
              </a:p>
            </p:txBody>
          </p:sp>
        </p:grpSp>
        <p:sp>
          <p:nvSpPr>
            <p:cNvPr id="40996" name="Line 37"/>
            <p:cNvSpPr>
              <a:spLocks noChangeShapeType="1"/>
            </p:cNvSpPr>
            <p:nvPr/>
          </p:nvSpPr>
          <p:spPr bwMode="auto">
            <a:xfrm>
              <a:off x="13836" y="168"/>
              <a:ext cx="3" cy="19368"/>
            </a:xfrm>
            <a:prstGeom prst="line">
              <a:avLst/>
            </a:prstGeom>
            <a:noFill/>
            <a:ln w="9525" cmpd="sng">
              <a:solidFill>
                <a:srgbClr val="000000"/>
              </a:solidFill>
              <a:round/>
              <a:head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97" name="Line 38"/>
            <p:cNvSpPr>
              <a:spLocks noChangeShapeType="1"/>
            </p:cNvSpPr>
            <p:nvPr/>
          </p:nvSpPr>
          <p:spPr bwMode="auto">
            <a:xfrm>
              <a:off x="13836" y="9760"/>
              <a:ext cx="5602" cy="8"/>
            </a:xfrm>
            <a:prstGeom prst="line">
              <a:avLst/>
            </a:prstGeom>
            <a:noFill/>
            <a:ln w="9525" cmpd="sng">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998" name="Rectangle 39"/>
            <p:cNvSpPr>
              <a:spLocks noChangeArrowheads="1"/>
            </p:cNvSpPr>
            <p:nvPr/>
          </p:nvSpPr>
          <p:spPr bwMode="auto">
            <a:xfrm>
              <a:off x="13054" y="0"/>
              <a:ext cx="827" cy="3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a:sym typeface="Symbol" panose="05050102010706020507" pitchFamily="18" charset="2"/>
                </a:rPr>
                <a:t></a:t>
              </a:r>
              <a:endParaRPr lang="en-US" sz="1400"/>
            </a:p>
          </p:txBody>
        </p:sp>
        <p:grpSp>
          <p:nvGrpSpPr>
            <p:cNvPr id="40999" name="Group 39"/>
            <p:cNvGrpSpPr/>
            <p:nvPr/>
          </p:nvGrpSpPr>
          <p:grpSpPr bwMode="auto">
            <a:xfrm>
              <a:off x="13908" y="3856"/>
              <a:ext cx="2392" cy="5776"/>
              <a:chOff x="0" y="0"/>
              <a:chExt cx="20000" cy="20000"/>
            </a:xfrm>
          </p:grpSpPr>
          <p:sp>
            <p:nvSpPr>
              <p:cNvPr id="41000" name="Arc 41"/>
              <p:cNvSpPr/>
              <p:nvPr/>
            </p:nvSpPr>
            <p:spPr bwMode="auto">
              <a:xfrm flipH="1">
                <a:off x="0" y="28"/>
                <a:ext cx="9766" cy="1997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001" name="Arc 42"/>
              <p:cNvSpPr/>
              <p:nvPr/>
            </p:nvSpPr>
            <p:spPr bwMode="auto">
              <a:xfrm>
                <a:off x="10234" y="0"/>
                <a:ext cx="9766" cy="1997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1002" name="Group 42"/>
            <p:cNvGrpSpPr/>
            <p:nvPr/>
          </p:nvGrpSpPr>
          <p:grpSpPr bwMode="auto">
            <a:xfrm>
              <a:off x="16294" y="9928"/>
              <a:ext cx="2392" cy="5776"/>
              <a:chOff x="0" y="0"/>
              <a:chExt cx="20000" cy="20000"/>
            </a:xfrm>
          </p:grpSpPr>
          <p:sp>
            <p:nvSpPr>
              <p:cNvPr id="41003" name="Arc 44"/>
              <p:cNvSpPr/>
              <p:nvPr/>
            </p:nvSpPr>
            <p:spPr bwMode="auto">
              <a:xfrm flipH="1" flipV="1">
                <a:off x="0" y="0"/>
                <a:ext cx="9766" cy="1997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004" name="Arc 45"/>
              <p:cNvSpPr/>
              <p:nvPr/>
            </p:nvSpPr>
            <p:spPr bwMode="auto">
              <a:xfrm flipV="1">
                <a:off x="10243" y="28"/>
                <a:ext cx="9757" cy="1997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1005" name="Rectangle 46"/>
            <p:cNvSpPr>
              <a:spLocks noChangeArrowheads="1"/>
            </p:cNvSpPr>
            <p:nvPr/>
          </p:nvSpPr>
          <p:spPr bwMode="auto">
            <a:xfrm>
              <a:off x="13174" y="8160"/>
              <a:ext cx="656" cy="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a:t>0</a:t>
              </a:r>
              <a:endParaRPr lang="en-US" sz="1400"/>
            </a:p>
          </p:txBody>
        </p:sp>
        <p:sp>
          <p:nvSpPr>
            <p:cNvPr id="41006" name="Rectangle 47"/>
            <p:cNvSpPr>
              <a:spLocks noChangeArrowheads="1"/>
            </p:cNvSpPr>
            <p:nvPr/>
          </p:nvSpPr>
          <p:spPr bwMode="auto">
            <a:xfrm>
              <a:off x="19525" y="8160"/>
              <a:ext cx="479" cy="28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a:t>t</a:t>
              </a:r>
              <a:endParaRPr lang="en-US" sz="1400"/>
            </a:p>
          </p:txBody>
        </p:sp>
        <p:grpSp>
          <p:nvGrpSpPr>
            <p:cNvPr id="41007" name="Group 47"/>
            <p:cNvGrpSpPr/>
            <p:nvPr/>
          </p:nvGrpSpPr>
          <p:grpSpPr bwMode="auto">
            <a:xfrm>
              <a:off x="13893" y="6880"/>
              <a:ext cx="3776" cy="8968"/>
              <a:chOff x="0" y="0"/>
              <a:chExt cx="19997" cy="20000"/>
            </a:xfrm>
          </p:grpSpPr>
          <p:grpSp>
            <p:nvGrpSpPr>
              <p:cNvPr id="41008" name="Group 48"/>
              <p:cNvGrpSpPr/>
              <p:nvPr/>
            </p:nvGrpSpPr>
            <p:grpSpPr bwMode="auto">
              <a:xfrm>
                <a:off x="0" y="0"/>
                <a:ext cx="10004" cy="9759"/>
                <a:chOff x="0" y="0"/>
                <a:chExt cx="19998" cy="20000"/>
              </a:xfrm>
            </p:grpSpPr>
            <p:sp>
              <p:nvSpPr>
                <p:cNvPr id="41009" name="Arc 50"/>
                <p:cNvSpPr/>
                <p:nvPr/>
              </p:nvSpPr>
              <p:spPr bwMode="auto">
                <a:xfrm flipH="1">
                  <a:off x="0" y="37"/>
                  <a:ext cx="9761" cy="1996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010" name="Arc 51"/>
                <p:cNvSpPr/>
                <p:nvPr/>
              </p:nvSpPr>
              <p:spPr bwMode="auto">
                <a:xfrm>
                  <a:off x="10237" y="0"/>
                  <a:ext cx="9761" cy="1996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1011" name="Group 51"/>
              <p:cNvGrpSpPr/>
              <p:nvPr/>
            </p:nvGrpSpPr>
            <p:grpSpPr bwMode="auto">
              <a:xfrm>
                <a:off x="9988" y="10259"/>
                <a:ext cx="10009" cy="9741"/>
                <a:chOff x="0" y="0"/>
                <a:chExt cx="20000" cy="20000"/>
              </a:xfrm>
            </p:grpSpPr>
            <p:sp>
              <p:nvSpPr>
                <p:cNvPr id="41012" name="Arc 53"/>
                <p:cNvSpPr/>
                <p:nvPr/>
              </p:nvSpPr>
              <p:spPr bwMode="auto">
                <a:xfrm flipH="1" flipV="1">
                  <a:off x="0" y="0"/>
                  <a:ext cx="9757"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013" name="Arc 54"/>
                <p:cNvSpPr/>
                <p:nvPr/>
              </p:nvSpPr>
              <p:spPr bwMode="auto">
                <a:xfrm flipV="1">
                  <a:off x="10233" y="0"/>
                  <a:ext cx="9767"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FF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nvGrpSpPr>
            <p:cNvPr id="41014" name="Group 54"/>
            <p:cNvGrpSpPr/>
            <p:nvPr/>
          </p:nvGrpSpPr>
          <p:grpSpPr bwMode="auto">
            <a:xfrm>
              <a:off x="13893" y="9272"/>
              <a:ext cx="2758" cy="6568"/>
              <a:chOff x="0" y="0"/>
              <a:chExt cx="19997" cy="20001"/>
            </a:xfrm>
          </p:grpSpPr>
          <p:grpSp>
            <p:nvGrpSpPr>
              <p:cNvPr id="41015" name="Group 55"/>
              <p:cNvGrpSpPr/>
              <p:nvPr/>
            </p:nvGrpSpPr>
            <p:grpSpPr bwMode="auto">
              <a:xfrm>
                <a:off x="0" y="0"/>
                <a:ext cx="10006" cy="9769"/>
                <a:chOff x="0" y="0"/>
                <a:chExt cx="19998" cy="20000"/>
              </a:xfrm>
            </p:grpSpPr>
            <p:sp>
              <p:nvSpPr>
                <p:cNvPr id="41016" name="Arc 57"/>
                <p:cNvSpPr/>
                <p:nvPr/>
              </p:nvSpPr>
              <p:spPr bwMode="auto">
                <a:xfrm flipH="1">
                  <a:off x="0" y="49"/>
                  <a:ext cx="9767" cy="1995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017" name="Arc 58"/>
                <p:cNvSpPr/>
                <p:nvPr/>
              </p:nvSpPr>
              <p:spPr bwMode="auto">
                <a:xfrm>
                  <a:off x="10245" y="0"/>
                  <a:ext cx="9753" cy="1995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1018" name="Group 58"/>
              <p:cNvGrpSpPr/>
              <p:nvPr/>
            </p:nvGrpSpPr>
            <p:grpSpPr bwMode="auto">
              <a:xfrm>
                <a:off x="9984" y="10256"/>
                <a:ext cx="10013" cy="9745"/>
                <a:chOff x="0" y="0"/>
                <a:chExt cx="19999" cy="20000"/>
              </a:xfrm>
            </p:grpSpPr>
            <p:sp>
              <p:nvSpPr>
                <p:cNvPr id="41019" name="Arc 60"/>
                <p:cNvSpPr/>
                <p:nvPr/>
              </p:nvSpPr>
              <p:spPr bwMode="auto">
                <a:xfrm flipH="1" flipV="1">
                  <a:off x="0" y="0"/>
                  <a:ext cx="9761"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020" name="Arc 61"/>
                <p:cNvSpPr/>
                <p:nvPr/>
              </p:nvSpPr>
              <p:spPr bwMode="auto">
                <a:xfrm flipV="1">
                  <a:off x="10238" y="0"/>
                  <a:ext cx="9761" cy="2000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mpd="sng">
                  <a:solidFill>
                    <a:srgbClr val="0000FF"/>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41021" name="Line 62"/>
            <p:cNvSpPr>
              <a:spLocks noChangeShapeType="1"/>
            </p:cNvSpPr>
            <p:nvPr/>
          </p:nvSpPr>
          <p:spPr bwMode="auto">
            <a:xfrm>
              <a:off x="13833" y="15840"/>
              <a:ext cx="4854" cy="8"/>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022" name="Rectangle 63"/>
            <p:cNvSpPr>
              <a:spLocks noChangeArrowheads="1"/>
            </p:cNvSpPr>
            <p:nvPr/>
          </p:nvSpPr>
          <p:spPr bwMode="auto">
            <a:xfrm>
              <a:off x="16707" y="1440"/>
              <a:ext cx="2159" cy="2888"/>
            </a:xfrm>
            <a:prstGeom prst="rect">
              <a:avLst/>
            </a:prstGeom>
            <a:solidFill>
              <a:srgbClr val="FF00FF"/>
            </a:solidFill>
            <a:ln w="12700" cmpd="sng">
              <a:solidFill>
                <a:srgbClr val="000000"/>
              </a:solidFill>
              <a:miter lim="800000"/>
            </a:ln>
            <a:effectLst>
              <a:outerShdw dist="57238" dir="2021404" algn="ctr" rotWithShape="0">
                <a:srgbClr val="000000"/>
              </a:outerShdw>
            </a:effec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a:sym typeface="Symbol" panose="05050102010706020507" pitchFamily="18" charset="2"/>
                </a:rPr>
                <a:t></a:t>
              </a:r>
              <a:r>
                <a:rPr lang="en-US" sz="1400" baseline="-25000"/>
                <a:t>min</a:t>
              </a:r>
              <a:r>
                <a:rPr lang="en-US" sz="1400"/>
                <a:t>=C</a:t>
              </a:r>
              <a:endParaRPr lang="en-US" sz="1400"/>
            </a:p>
          </p:txBody>
        </p:sp>
        <p:sp>
          <p:nvSpPr>
            <p:cNvPr id="41023" name="Rectangle 64"/>
            <p:cNvSpPr>
              <a:spLocks noChangeArrowheads="1"/>
            </p:cNvSpPr>
            <p:nvPr/>
          </p:nvSpPr>
          <p:spPr bwMode="auto">
            <a:xfrm>
              <a:off x="12516" y="13920"/>
              <a:ext cx="1619" cy="3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r>
                <a:rPr lang="en-US" sz="1400">
                  <a:sym typeface="Symbol" panose="05050102010706020507" pitchFamily="18" charset="2"/>
                </a:rPr>
                <a:t></a:t>
              </a:r>
              <a:r>
                <a:rPr lang="en-US" sz="1400" baseline="-25000"/>
                <a:t>min</a:t>
              </a:r>
              <a:endParaRPr lang="en-US" sz="1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40962">
                                            <p:txEl>
                                              <p:pRg st="1" end="1"/>
                                            </p:txEl>
                                          </p:spTgt>
                                        </p:tgtEl>
                                        <p:attrNameLst>
                                          <p:attrName>style.visibility</p:attrName>
                                        </p:attrNameLst>
                                      </p:cBhvr>
                                      <p:to>
                                        <p:strVal val="visible"/>
                                      </p:to>
                                    </p:set>
                                    <p:animEffect transition="in" filter="wipe(left)">
                                      <p:cBhvr>
                                        <p:cTn id="7" dur="500"/>
                                        <p:tgtEl>
                                          <p:spTgt spid="4096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963"/>
                                        </p:tgtEl>
                                        <p:attrNameLst>
                                          <p:attrName>style.visibility</p:attrName>
                                        </p:attrNameLst>
                                      </p:cBhvr>
                                      <p:to>
                                        <p:strVal val="visible"/>
                                      </p:to>
                                    </p:set>
                                    <p:animEffect transition="in" filter="wipe(left)">
                                      <p:cBhvr>
                                        <p:cTn id="12" dur="500"/>
                                        <p:tgtEl>
                                          <p:spTgt spid="409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4013415" y="234000"/>
            <a:ext cx="5130000" cy="490538"/>
          </a:xfrm>
          <a:ln>
            <a:miter lim="800000"/>
          </a:ln>
        </p:spPr>
        <p:txBody>
          <a:bodyPr vert="horz" wrap="square" lIns="91440" tIns="45720" rIns="91440" bIns="45720" numCol="1" anchor="t" anchorCtr="0" compatLnSpc="1"/>
          <a:lstStyle/>
          <a:p>
            <a:pPr eaLnBrk="1" hangingPunct="1">
              <a:defRPr/>
            </a:pPr>
            <a:r>
              <a:rPr lang="zh-CN" altLang="en-US" sz="2400" kern="1200" dirty="0">
                <a:solidFill>
                  <a:srgbClr val="CC3300"/>
                </a:solidFill>
                <a:latin typeface="黑体" panose="02010609060101010101" pitchFamily="49" charset="-122"/>
                <a:ea typeface="黑体" panose="02010609060101010101" pitchFamily="49" charset="-122"/>
                <a:cs typeface="+mn-cs"/>
              </a:rPr>
              <a:t>单向稳定变应力时的疲劳强度计算</a:t>
            </a:r>
            <a:endParaRPr lang="zh-CN" altLang="en-US" sz="2400" kern="1200" dirty="0">
              <a:solidFill>
                <a:srgbClr val="CC3300"/>
              </a:solidFill>
              <a:latin typeface="黑体" panose="02010609060101010101" pitchFamily="49" charset="-122"/>
              <a:ea typeface="黑体" panose="02010609060101010101" pitchFamily="49" charset="-122"/>
              <a:cs typeface="+mn-cs"/>
            </a:endParaRPr>
          </a:p>
        </p:txBody>
      </p:sp>
      <p:pic>
        <p:nvPicPr>
          <p:cNvPr id="70661" name="Picture 5" descr="NEXT1">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8566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矩形 8"/>
          <p:cNvSpPr>
            <a:spLocks noChangeArrowheads="1"/>
          </p:cNvSpPr>
          <p:nvPr/>
        </p:nvSpPr>
        <p:spPr bwMode="auto">
          <a:xfrm>
            <a:off x="522000" y="234000"/>
            <a:ext cx="1692910" cy="398780"/>
          </a:xfrm>
          <a:prstGeom prst="rect">
            <a:avLst/>
          </a:prstGeom>
          <a:solidFill>
            <a:srgbClr val="FFFF00"/>
          </a:solidFill>
          <a:ln>
            <a:noFill/>
          </a:ln>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dirty="0">
                <a:solidFill>
                  <a:srgbClr val="000099"/>
                </a:solidFill>
              </a:rPr>
              <a:t>1. </a:t>
            </a:r>
            <a:r>
              <a:rPr lang="en-US" altLang="zh-CN" sz="2000" i="1" dirty="0">
                <a:solidFill>
                  <a:srgbClr val="000099"/>
                </a:solidFill>
                <a:latin typeface="Times New Roman" panose="02020603050405020304" pitchFamily="18" charset="0"/>
                <a:cs typeface="Times New Roman" panose="02020603050405020304" pitchFamily="18" charset="0"/>
              </a:rPr>
              <a:t>r</a:t>
            </a:r>
            <a:r>
              <a:rPr lang="en-US" altLang="zh-CN" sz="2000" dirty="0">
                <a:solidFill>
                  <a:srgbClr val="000099"/>
                </a:solidFill>
              </a:rPr>
              <a:t>=</a:t>
            </a:r>
            <a:r>
              <a:rPr lang="en-US" altLang="zh-CN" sz="2000" i="1" dirty="0">
                <a:solidFill>
                  <a:srgbClr val="000099"/>
                </a:solidFill>
                <a:latin typeface="Times New Roman" panose="02020603050405020304" pitchFamily="18" charset="0"/>
                <a:cs typeface="Times New Roman" panose="02020603050405020304" pitchFamily="18" charset="0"/>
              </a:rPr>
              <a:t>C</a:t>
            </a:r>
            <a:r>
              <a:rPr lang="zh-CN" altLang="en-US" sz="2000" dirty="0">
                <a:solidFill>
                  <a:srgbClr val="000099"/>
                </a:solidFill>
              </a:rPr>
              <a:t>的情况</a:t>
            </a:r>
            <a:endParaRPr lang="zh-CN" altLang="en-US" sz="2000" dirty="0">
              <a:solidFill>
                <a:srgbClr val="000099"/>
              </a:solidFill>
            </a:endParaRPr>
          </a:p>
        </p:txBody>
      </p:sp>
      <p:sp>
        <p:nvSpPr>
          <p:cNvPr id="11272" name="Rectangle 10"/>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1273" name="Rectangle 11"/>
          <p:cNvSpPr>
            <a:spLocks noChangeArrowheads="1"/>
          </p:cNvSpPr>
          <p:nvPr/>
        </p:nvSpPr>
        <p:spPr bwMode="auto">
          <a:xfrm>
            <a:off x="0" y="828675"/>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8" name="矩形 17"/>
          <p:cNvSpPr>
            <a:spLocks noChangeArrowheads="1"/>
          </p:cNvSpPr>
          <p:nvPr/>
        </p:nvSpPr>
        <p:spPr bwMode="auto">
          <a:xfrm>
            <a:off x="252095" y="1666240"/>
            <a:ext cx="848487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sz="2000" i="1" dirty="0">
                <a:solidFill>
                  <a:srgbClr val="000099"/>
                </a:solidFill>
                <a:latin typeface="Times New Roman" panose="02020603050405020304" pitchFamily="18" charset="0"/>
                <a:cs typeface="Times New Roman" panose="02020603050405020304" pitchFamily="18" charset="0"/>
              </a:rPr>
              <a:t> </a:t>
            </a:r>
            <a:r>
              <a:rPr lang="zh-CN" altLang="en-US" sz="2000" dirty="0">
                <a:solidFill>
                  <a:srgbClr val="000099"/>
                </a:solidFill>
              </a:rPr>
              <a:t>而工作应力对应的</a:t>
            </a:r>
            <a:r>
              <a:rPr lang="zh-CN" altLang="en-US" sz="2000" dirty="0">
                <a:solidFill>
                  <a:srgbClr val="FF0000"/>
                </a:solidFill>
              </a:rPr>
              <a:t>疲劳极限应力</a:t>
            </a:r>
            <a:r>
              <a:rPr lang="zh-CN" altLang="en-US" sz="2000" dirty="0">
                <a:solidFill>
                  <a:srgbClr val="000099"/>
                </a:solidFill>
              </a:rPr>
              <a:t>是直线</a:t>
            </a:r>
            <a:r>
              <a:rPr lang="en-US" altLang="zh-CN" sz="2000" i="1" dirty="0">
                <a:solidFill>
                  <a:srgbClr val="000099"/>
                </a:solidFill>
                <a:latin typeface="Times New Roman" panose="02020603050405020304" pitchFamily="18" charset="0"/>
                <a:cs typeface="Times New Roman" panose="02020603050405020304" pitchFamily="18" charset="0"/>
              </a:rPr>
              <a:t>OM</a:t>
            </a:r>
            <a:r>
              <a:rPr lang="zh-CN" altLang="en-US" sz="2000" dirty="0">
                <a:solidFill>
                  <a:srgbClr val="000099"/>
                </a:solidFill>
              </a:rPr>
              <a:t>和</a:t>
            </a:r>
            <a:r>
              <a:rPr lang="en-US" altLang="zh-CN" sz="2000" i="1" dirty="0">
                <a:solidFill>
                  <a:srgbClr val="000099"/>
                </a:solidFill>
                <a:latin typeface="Times New Roman" panose="02020603050405020304" pitchFamily="18" charset="0"/>
                <a:cs typeface="Times New Roman" panose="02020603050405020304" pitchFamily="18" charset="0"/>
              </a:rPr>
              <a:t>ON</a:t>
            </a:r>
            <a:r>
              <a:rPr lang="zh-CN" altLang="en-US" sz="2000" dirty="0">
                <a:solidFill>
                  <a:srgbClr val="000099"/>
                </a:solidFill>
              </a:rPr>
              <a:t>与极限应力线图的交点</a:t>
            </a:r>
            <a:r>
              <a:rPr lang="en-US" altLang="zh-CN" sz="2000" i="1" dirty="0">
                <a:solidFill>
                  <a:srgbClr val="000099"/>
                </a:solidFill>
                <a:latin typeface="Times New Roman" panose="02020603050405020304" pitchFamily="18" charset="0"/>
                <a:cs typeface="Times New Roman" panose="02020603050405020304" pitchFamily="18" charset="0"/>
              </a:rPr>
              <a:t>M’</a:t>
            </a:r>
            <a:r>
              <a:rPr lang="zh-CN" altLang="en-US" sz="2000" dirty="0">
                <a:solidFill>
                  <a:srgbClr val="000099"/>
                </a:solidFill>
              </a:rPr>
              <a:t>和</a:t>
            </a:r>
            <a:r>
              <a:rPr lang="en-US" altLang="zh-CN" sz="2000" i="1" dirty="0">
                <a:solidFill>
                  <a:srgbClr val="000099"/>
                </a:solidFill>
                <a:latin typeface="Times New Roman" panose="02020603050405020304" pitchFamily="18" charset="0"/>
                <a:cs typeface="Times New Roman" panose="02020603050405020304" pitchFamily="18" charset="0"/>
              </a:rPr>
              <a:t>N’</a:t>
            </a:r>
            <a:r>
              <a:rPr lang="zh-CN" altLang="en-US" sz="2000" dirty="0">
                <a:solidFill>
                  <a:srgbClr val="000099"/>
                </a:solidFill>
              </a:rPr>
              <a:t>所代表的极限应力。</a:t>
            </a:r>
            <a:endParaRPr lang="zh-CN" altLang="en-US" sz="2000" dirty="0">
              <a:solidFill>
                <a:srgbClr val="000099"/>
              </a:solidFill>
            </a:endParaRPr>
          </a:p>
        </p:txBody>
      </p:sp>
      <p:sp>
        <p:nvSpPr>
          <p:cNvPr id="19" name="矩形 18"/>
          <p:cNvSpPr>
            <a:spLocks noChangeArrowheads="1"/>
          </p:cNvSpPr>
          <p:nvPr/>
        </p:nvSpPr>
        <p:spPr bwMode="auto">
          <a:xfrm>
            <a:off x="335905" y="2621155"/>
            <a:ext cx="3825000" cy="706755"/>
          </a:xfrm>
          <a:prstGeom prst="rect">
            <a:avLst/>
          </a:prstGeom>
          <a:solidFill>
            <a:srgbClr val="FFC000"/>
          </a:solidFill>
          <a:ln>
            <a:noFill/>
          </a:ln>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       工作应力点位于</a:t>
            </a:r>
            <a:r>
              <a:rPr lang="en-US" altLang="en-US" sz="2000" i="1" dirty="0">
                <a:solidFill>
                  <a:srgbClr val="000099"/>
                </a:solidFill>
                <a:latin typeface="Times New Roman" panose="02020603050405020304" pitchFamily="18" charset="0"/>
                <a:cs typeface="Times New Roman" panose="02020603050405020304" pitchFamily="18" charset="0"/>
              </a:rPr>
              <a:t>OA'</a:t>
            </a:r>
            <a:r>
              <a:rPr lang="en-US" altLang="zh-CN" sz="2000" i="1" dirty="0">
                <a:solidFill>
                  <a:srgbClr val="000099"/>
                </a:solidFill>
                <a:latin typeface="Times New Roman" panose="02020603050405020304" pitchFamily="18" charset="0"/>
                <a:cs typeface="Times New Roman" panose="02020603050405020304" pitchFamily="18" charset="0"/>
              </a:rPr>
              <a:t>G'</a:t>
            </a:r>
            <a:r>
              <a:rPr lang="zh-CN" altLang="en-US" sz="2000" dirty="0">
                <a:solidFill>
                  <a:srgbClr val="000099"/>
                </a:solidFill>
              </a:rPr>
              <a:t>区域时，零件的疲劳强度条件是：</a:t>
            </a:r>
            <a:endParaRPr lang="zh-CN" altLang="en-US" sz="2000" dirty="0">
              <a:solidFill>
                <a:srgbClr val="000099"/>
              </a:solidFill>
            </a:endParaRPr>
          </a:p>
        </p:txBody>
      </p:sp>
      <p:sp>
        <p:nvSpPr>
          <p:cNvPr id="11276" name="Rectangle 18"/>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14353" name="Object 17"/>
          <p:cNvGraphicFramePr>
            <a:graphicFrameLocks noChangeAspect="1"/>
          </p:cNvGraphicFramePr>
          <p:nvPr/>
        </p:nvGraphicFramePr>
        <p:xfrm>
          <a:off x="342265" y="3563620"/>
          <a:ext cx="3859530" cy="833755"/>
        </p:xfrm>
        <a:graphic>
          <a:graphicData uri="http://schemas.openxmlformats.org/presentationml/2006/ole">
            <mc:AlternateContent xmlns:mc="http://schemas.openxmlformats.org/markup-compatibility/2006">
              <mc:Choice xmlns:v="urn:schemas-microsoft-com:vml" Requires="v">
                <p:oleObj spid="_x0000_s2" name="公式" r:id="rId2" imgW="2400300" imgH="431800" progId="Equation.3">
                  <p:embed/>
                </p:oleObj>
              </mc:Choice>
              <mc:Fallback>
                <p:oleObj name="公式" r:id="rId2" imgW="2400300" imgH="431800" progId="Equation.3">
                  <p:embed/>
                  <p:pic>
                    <p:nvPicPr>
                      <p:cNvPr id="0" name="Picture 66"/>
                      <p:cNvPicPr>
                        <a:picLocks noChangeAspect="1" noChangeArrowheads="1"/>
                      </p:cNvPicPr>
                      <p:nvPr/>
                    </p:nvPicPr>
                    <p:blipFill>
                      <a:blip r:embed="rId3"/>
                      <a:srcRect/>
                      <a:stretch>
                        <a:fillRect/>
                      </a:stretch>
                    </p:blipFill>
                    <p:spPr bwMode="auto">
                      <a:xfrm>
                        <a:off x="342265" y="3563620"/>
                        <a:ext cx="3859530" cy="833755"/>
                      </a:xfrm>
                      <a:prstGeom prst="rect">
                        <a:avLst/>
                      </a:prstGeom>
                      <a:noFill/>
                      <a:ln w="19050">
                        <a:solidFill>
                          <a:srgbClr val="FFC000"/>
                        </a:solidFill>
                      </a:ln>
                    </p:spPr>
                  </p:pic>
                </p:oleObj>
              </mc:Fallback>
            </mc:AlternateContent>
          </a:graphicData>
        </a:graphic>
      </p:graphicFrame>
      <p:sp>
        <p:nvSpPr>
          <p:cNvPr id="11278" name="Rectangle 20"/>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14355" name="Object 19"/>
          <p:cNvGraphicFramePr>
            <a:graphicFrameLocks noChangeAspect="1"/>
          </p:cNvGraphicFramePr>
          <p:nvPr/>
        </p:nvGraphicFramePr>
        <p:xfrm>
          <a:off x="4013200" y="5588635"/>
          <a:ext cx="3803015" cy="793750"/>
        </p:xfrm>
        <a:graphic>
          <a:graphicData uri="http://schemas.openxmlformats.org/presentationml/2006/ole">
            <mc:AlternateContent xmlns:mc="http://schemas.openxmlformats.org/markup-compatibility/2006">
              <mc:Choice xmlns:v="urn:schemas-microsoft-com:vml" Requires="v">
                <p:oleObj spid="_x0000_s3" name="公式" r:id="rId4" imgW="2108200" imgH="431800" progId="Equation.3">
                  <p:embed/>
                </p:oleObj>
              </mc:Choice>
              <mc:Fallback>
                <p:oleObj name="公式" r:id="rId4" imgW="2108200" imgH="431800" progId="Equation.3">
                  <p:embed/>
                  <p:pic>
                    <p:nvPicPr>
                      <p:cNvPr id="0" name="Picture 67"/>
                      <p:cNvPicPr>
                        <a:picLocks noChangeAspect="1" noChangeArrowheads="1"/>
                      </p:cNvPicPr>
                      <p:nvPr/>
                    </p:nvPicPr>
                    <p:blipFill>
                      <a:blip r:embed="rId5"/>
                      <a:srcRect/>
                      <a:stretch>
                        <a:fillRect/>
                      </a:stretch>
                    </p:blipFill>
                    <p:spPr bwMode="auto">
                      <a:xfrm>
                        <a:off x="4013200" y="5588635"/>
                        <a:ext cx="3803015" cy="793750"/>
                      </a:xfrm>
                      <a:prstGeom prst="rect">
                        <a:avLst/>
                      </a:prstGeom>
                      <a:noFill/>
                      <a:ln w="19050">
                        <a:solidFill>
                          <a:srgbClr val="00B050"/>
                        </a:solidFill>
                      </a:ln>
                    </p:spPr>
                  </p:pic>
                </p:oleObj>
              </mc:Fallback>
            </mc:AlternateContent>
          </a:graphicData>
        </a:graphic>
      </p:graphicFrame>
      <p:sp>
        <p:nvSpPr>
          <p:cNvPr id="11280"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文本框 3"/>
          <p:cNvSpPr txBox="1"/>
          <p:nvPr/>
        </p:nvSpPr>
        <p:spPr>
          <a:xfrm>
            <a:off x="-153035" y="843915"/>
            <a:ext cx="8517255" cy="429895"/>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当</a:t>
            </a:r>
            <a:r>
              <a:rPr lang="en-US" altLang="zh-CN" sz="2000" i="1" dirty="0">
                <a:solidFill>
                  <a:srgbClr val="FF0000"/>
                </a:solidFill>
                <a:latin typeface="黑体" panose="02010609060101010101" pitchFamily="49" charset="-122"/>
                <a:ea typeface="黑体" panose="02010609060101010101" pitchFamily="49" charset="-122"/>
              </a:rPr>
              <a:t>r=C</a:t>
            </a:r>
            <a:r>
              <a:rPr lang="en-US" altLang="zh-CN" sz="2000" i="1"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时，需找到一个其</a:t>
            </a:r>
            <a:r>
              <a:rPr lang="zh-CN" altLang="en-US" sz="2000" dirty="0">
                <a:solidFill>
                  <a:srgbClr val="FF0000"/>
                </a:solidFill>
                <a:latin typeface="黑体" panose="02010609060101010101" pitchFamily="49" charset="-122"/>
                <a:ea typeface="黑体" panose="02010609060101010101" pitchFamily="49" charset="-122"/>
              </a:rPr>
              <a:t>应力比</a:t>
            </a:r>
            <a:r>
              <a:rPr lang="en-US" altLang="zh-CN" sz="2000" dirty="0">
                <a:solidFill>
                  <a:srgbClr val="FF0000"/>
                </a:solidFill>
                <a:latin typeface="黑体" panose="02010609060101010101" pitchFamily="49" charset="-122"/>
                <a:ea typeface="黑体" panose="02010609060101010101" pitchFamily="49" charset="-122"/>
              </a:rPr>
              <a:t>r</a:t>
            </a:r>
            <a:r>
              <a:rPr lang="zh-CN" altLang="en-US" sz="2000" dirty="0">
                <a:latin typeface="黑体" panose="02010609060101010101" pitchFamily="49" charset="-122"/>
                <a:ea typeface="黑体" panose="02010609060101010101" pitchFamily="49" charset="-122"/>
              </a:rPr>
              <a:t>与零件工作应力比相同的极限应力值。</a:t>
            </a:r>
            <a:endParaRPr lang="zh-CN" altLang="en-US" sz="2000" dirty="0">
              <a:latin typeface="黑体" panose="02010609060101010101" pitchFamily="49" charset="-122"/>
              <a:ea typeface="黑体" panose="02010609060101010101" pitchFamily="49" charset="-122"/>
            </a:endParaRPr>
          </a:p>
        </p:txBody>
      </p:sp>
      <p:pic>
        <p:nvPicPr>
          <p:cNvPr id="20" name="图片 19"/>
          <p:cNvPicPr>
            <a:picLocks noChangeAspect="1"/>
          </p:cNvPicPr>
          <p:nvPr/>
        </p:nvPicPr>
        <p:blipFill>
          <a:blip r:embed="rId6"/>
          <a:stretch>
            <a:fillRect/>
          </a:stretch>
        </p:blipFill>
        <p:spPr>
          <a:xfrm>
            <a:off x="4437380" y="2753995"/>
            <a:ext cx="4501515" cy="2755900"/>
          </a:xfrm>
          <a:prstGeom prst="rect">
            <a:avLst/>
          </a:prstGeom>
          <a:noFill/>
          <a:ln w="9525">
            <a:noFill/>
          </a:ln>
        </p:spPr>
      </p:pic>
      <p:graphicFrame>
        <p:nvGraphicFramePr>
          <p:cNvPr id="6" name="对象 5"/>
          <p:cNvGraphicFramePr/>
          <p:nvPr/>
        </p:nvGraphicFramePr>
        <p:xfrm>
          <a:off x="1511935" y="4598670"/>
          <a:ext cx="2264410" cy="577850"/>
        </p:xfrm>
        <a:graphic>
          <a:graphicData uri="http://schemas.openxmlformats.org/presentationml/2006/ole">
            <mc:AlternateContent xmlns:mc="http://schemas.openxmlformats.org/markup-compatibility/2006">
              <mc:Choice xmlns:v="urn:schemas-microsoft-com:vml" Requires="v">
                <p:oleObj spid="_x0000_s5" name="" r:id="rId7" imgW="1898650" imgH="419100" progId="Paint.Picture">
                  <p:embed/>
                </p:oleObj>
              </mc:Choice>
              <mc:Fallback>
                <p:oleObj name="" r:id="rId7" imgW="1898650" imgH="419100" progId="Paint.Picture">
                  <p:embed/>
                  <p:pic>
                    <p:nvPicPr>
                      <p:cNvPr id="0" name="图片 6"/>
                      <p:cNvPicPr/>
                      <p:nvPr/>
                    </p:nvPicPr>
                    <p:blipFill>
                      <a:blip r:embed="rId8"/>
                      <a:stretch>
                        <a:fillRect/>
                      </a:stretch>
                    </p:blipFill>
                    <p:spPr>
                      <a:xfrm>
                        <a:off x="1511935" y="4598670"/>
                        <a:ext cx="2264410" cy="577850"/>
                      </a:xfrm>
                      <a:prstGeom prst="rect">
                        <a:avLst/>
                      </a:prstGeom>
                      <a:ln w="15875">
                        <a:solidFill>
                          <a:schemeClr val="tx2">
                            <a:lumMod val="60000"/>
                            <a:lumOff val="40000"/>
                          </a:schemeClr>
                        </a:solidFill>
                      </a:ln>
                    </p:spPr>
                  </p:pic>
                </p:oleObj>
              </mc:Fallback>
            </mc:AlternateContent>
          </a:graphicData>
        </a:graphic>
      </p:graphicFrame>
      <p:sp>
        <p:nvSpPr>
          <p:cNvPr id="8" name="文本框 7"/>
          <p:cNvSpPr txBox="1"/>
          <p:nvPr/>
        </p:nvSpPr>
        <p:spPr>
          <a:xfrm>
            <a:off x="960120" y="4612005"/>
            <a:ext cx="788670" cy="429895"/>
          </a:xfrm>
          <a:prstGeom prst="rect">
            <a:avLst/>
          </a:prstGeom>
          <a:noFill/>
        </p:spPr>
        <p:txBody>
          <a:bodyPr wrap="square" rtlCol="0">
            <a:spAutoFit/>
          </a:bodyPr>
          <a:lstStyle/>
          <a:p>
            <a:r>
              <a:rPr lang="zh-CN" altLang="en-US"/>
              <a:t>且</a:t>
            </a:r>
            <a:endParaRPr lang="zh-CN" altLang="en-US"/>
          </a:p>
        </p:txBody>
      </p:sp>
      <p:sp>
        <p:nvSpPr>
          <p:cNvPr id="7" name="椭圆 6"/>
          <p:cNvSpPr/>
          <p:nvPr/>
        </p:nvSpPr>
        <p:spPr>
          <a:xfrm>
            <a:off x="5555615" y="4193540"/>
            <a:ext cx="75565" cy="75565"/>
          </a:xfrm>
          <a:prstGeom prst="ellipse">
            <a:avLst/>
          </a:prstGeom>
          <a:solidFill>
            <a:srgbClr val="FF0000"/>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9" name="椭圆 8"/>
          <p:cNvSpPr/>
          <p:nvPr/>
        </p:nvSpPr>
        <p:spPr>
          <a:xfrm>
            <a:off x="7176770" y="4552950"/>
            <a:ext cx="75565" cy="75565"/>
          </a:xfrm>
          <a:prstGeom prst="ellipse">
            <a:avLst/>
          </a:prstGeom>
          <a:solidFill>
            <a:srgbClr val="FF0000"/>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cxnSp>
        <p:nvCxnSpPr>
          <p:cNvPr id="10" name="直接连接符 9"/>
          <p:cNvCxnSpPr/>
          <p:nvPr/>
        </p:nvCxnSpPr>
        <p:spPr>
          <a:xfrm flipV="1">
            <a:off x="4988560" y="3661410"/>
            <a:ext cx="1019810" cy="1420495"/>
          </a:xfrm>
          <a:prstGeom prst="line">
            <a:avLst/>
          </a:prstGeom>
          <a:noFill/>
          <a:ln w="19050" cap="flat" cmpd="sng" algn="ctr">
            <a:solidFill>
              <a:srgbClr val="FF0000"/>
            </a:solidFill>
            <a:prstDash val="solid"/>
            <a:round/>
            <a:headEnd type="none" w="med" len="med"/>
            <a:tailEnd type="none" w="med" len="med"/>
          </a:ln>
        </p:spPr>
      </p:cxnSp>
      <p:cxnSp>
        <p:nvCxnSpPr>
          <p:cNvPr id="11" name="直接连接符 10"/>
          <p:cNvCxnSpPr/>
          <p:nvPr/>
        </p:nvCxnSpPr>
        <p:spPr>
          <a:xfrm flipV="1">
            <a:off x="5022215" y="4497070"/>
            <a:ext cx="2723515" cy="584835"/>
          </a:xfrm>
          <a:prstGeom prst="line">
            <a:avLst/>
          </a:prstGeom>
          <a:noFill/>
          <a:ln w="19050" cap="flat" cmpd="sng" algn="ctr">
            <a:solidFill>
              <a:srgbClr val="FF0000"/>
            </a:solidFill>
            <a:prstDash val="solid"/>
            <a:round/>
            <a:headEnd type="none" w="med" len="med"/>
            <a:tailEnd type="none" w="med" len="med"/>
          </a:ln>
        </p:spPr>
      </p:cxnSp>
      <mc:AlternateContent xmlns:mc="http://schemas.openxmlformats.org/markup-compatibility/2006">
        <mc:Choice xmlns:a14="http://schemas.microsoft.com/office/drawing/2010/main" Requires="a14">
          <p:sp>
            <p:nvSpPr>
              <p:cNvPr id="22" name="矩形 21"/>
              <p:cNvSpPr>
                <a:spLocks noChangeArrowheads="1"/>
              </p:cNvSpPr>
              <p:nvPr/>
            </p:nvSpPr>
            <p:spPr bwMode="auto">
              <a:xfrm>
                <a:off x="252255" y="5499170"/>
                <a:ext cx="3571875" cy="1014730"/>
              </a:xfrm>
              <a:prstGeom prst="rect">
                <a:avLst/>
              </a:prstGeom>
              <a:solidFill>
                <a:srgbClr val="92D050"/>
              </a:solidFill>
              <a:ln>
                <a:noFill/>
              </a:ln>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    工作应力点位于</a:t>
                </a:r>
                <a:r>
                  <a:rPr lang="en-US" altLang="en-US" sz="2000" i="1" dirty="0">
                    <a:solidFill>
                      <a:srgbClr val="000099"/>
                    </a:solidFill>
                    <a:latin typeface="Times New Roman" panose="02020603050405020304" pitchFamily="18" charset="0"/>
                    <a:cs typeface="Times New Roman" panose="02020603050405020304" pitchFamily="18" charset="0"/>
                  </a:rPr>
                  <a:t>O</a:t>
                </a:r>
                <a:r>
                  <a:rPr lang="en-US" altLang="zh-CN" sz="2000" i="1" dirty="0">
                    <a:solidFill>
                      <a:srgbClr val="000099"/>
                    </a:solidFill>
                    <a:latin typeface="Times New Roman" panose="02020603050405020304" pitchFamily="18" charset="0"/>
                    <a:cs typeface="Times New Roman" panose="02020603050405020304" pitchFamily="18" charset="0"/>
                  </a:rPr>
                  <a:t>G</a:t>
                </a:r>
                <a:r>
                  <a:rPr lang="en-US" altLang="en-US" sz="2000" i="1" dirty="0">
                    <a:solidFill>
                      <a:srgbClr val="000099"/>
                    </a:solidFill>
                    <a:latin typeface="Times New Roman" panose="02020603050405020304" pitchFamily="18" charset="0"/>
                    <a:cs typeface="Times New Roman" panose="02020603050405020304" pitchFamily="18" charset="0"/>
                  </a:rPr>
                  <a:t>C</a:t>
                </a:r>
                <a:r>
                  <a:rPr lang="zh-CN" altLang="en-US" sz="2000" dirty="0">
                    <a:solidFill>
                      <a:srgbClr val="000099"/>
                    </a:solidFill>
                  </a:rPr>
                  <a:t>区域时，极限应力为屈服强度</a:t>
                </a:r>
                <a14:m>
                  <m:oMath xmlns:m="http://schemas.openxmlformats.org/officeDocument/2006/math">
                    <m:sSub>
                      <m:sSubPr>
                        <m:ctrlPr>
                          <a:rPr lang="en-US" altLang="zh-CN" sz="2000" i="1" smtClean="0">
                            <a:solidFill>
                              <a:srgbClr val="000099"/>
                            </a:solidFill>
                            <a:latin typeface="Cambria Math" panose="02040503050406030204" pitchFamily="18" charset="0"/>
                          </a:rPr>
                        </m:ctrlPr>
                      </m:sSubPr>
                      <m:e>
                        <m:r>
                          <a:rPr lang="zh-CN" altLang="en-US" sz="2000" i="1" smtClean="0">
                            <a:solidFill>
                              <a:srgbClr val="000099"/>
                            </a:solidFill>
                            <a:latin typeface="Cambria Math" panose="02040503050406030204" pitchFamily="18" charset="0"/>
                          </a:rPr>
                          <m:t>𝜎</m:t>
                        </m:r>
                      </m:e>
                      <m:sub>
                        <m:r>
                          <a:rPr lang="en-US" altLang="zh-CN" sz="2000" b="0" i="1" smtClean="0">
                            <a:solidFill>
                              <a:srgbClr val="000099"/>
                            </a:solidFill>
                            <a:latin typeface="Cambria Math" panose="02040503050406030204" pitchFamily="18" charset="0"/>
                          </a:rPr>
                          <m:t>𝑆</m:t>
                        </m:r>
                      </m:sub>
                    </m:sSub>
                  </m:oMath>
                </a14:m>
                <a:r>
                  <a:rPr lang="zh-CN" altLang="en-US" sz="2000" baseline="-25000" dirty="0">
                    <a:solidFill>
                      <a:srgbClr val="000099"/>
                    </a:solidFill>
                  </a:rPr>
                  <a:t>，</a:t>
                </a:r>
                <a:r>
                  <a:rPr lang="zh-CN" altLang="en-US" sz="2000" dirty="0">
                    <a:solidFill>
                      <a:srgbClr val="000099"/>
                    </a:solidFill>
                  </a:rPr>
                  <a:t>零件的强度条件是：</a:t>
                </a:r>
                <a:endParaRPr lang="zh-CN" altLang="en-US" sz="2000" dirty="0">
                  <a:solidFill>
                    <a:srgbClr val="000099"/>
                  </a:solidFill>
                </a:endParaRPr>
              </a:p>
            </p:txBody>
          </p:sp>
        </mc:Choice>
        <mc:Fallback>
          <p:sp>
            <p:nvSpPr>
              <p:cNvPr id="22" name="矩形 21"/>
              <p:cNvSpPr>
                <a:spLocks noRot="1" noChangeAspect="1" noMove="1" noResize="1" noEditPoints="1" noAdjustHandles="1" noChangeArrowheads="1" noChangeShapeType="1" noTextEdit="1"/>
              </p:cNvSpPr>
              <p:nvPr/>
            </p:nvSpPr>
            <p:spPr bwMode="auto">
              <a:xfrm>
                <a:off x="252255" y="5499170"/>
                <a:ext cx="3571875" cy="1014730"/>
              </a:xfrm>
              <a:prstGeom prst="rect">
                <a:avLst/>
              </a:prstGeom>
              <a:blipFill rotWithShape="1">
                <a:blip r:embed="rId9"/>
                <a:stretch>
                  <a:fillRect l="-4" t="-7" r="4" b="7"/>
                </a:stretch>
              </a:blipFill>
              <a:ln>
                <a:noFill/>
              </a:ln>
            </p:spPr>
            <p:txBody>
              <a:bodyPr/>
              <a:lstStyle/>
              <a:p>
                <a:r>
                  <a:rPr lang="zh-CN" altLang="en-US">
                    <a:noFill/>
                  </a:rPr>
                  <a:t> </a:t>
                </a:r>
              </a:p>
            </p:txBody>
          </p:sp>
        </mc:Fallback>
      </mc:AlternateContent>
      <p:sp>
        <p:nvSpPr>
          <p:cNvPr id="12" name="矩形 11"/>
          <p:cNvSpPr/>
          <p:nvPr/>
        </p:nvSpPr>
        <p:spPr>
          <a:xfrm>
            <a:off x="252095" y="5482590"/>
            <a:ext cx="3600450" cy="1052830"/>
          </a:xfrm>
          <a:prstGeom prst="rect">
            <a:avLst/>
          </a:prstGeom>
          <a:solidFill>
            <a:schemeClr val="bg1"/>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3" name="矩形 12"/>
          <p:cNvSpPr>
            <a:spLocks noChangeArrowheads="1"/>
          </p:cNvSpPr>
          <p:nvPr/>
        </p:nvSpPr>
        <p:spPr bwMode="auto">
          <a:xfrm>
            <a:off x="252095" y="1289050"/>
            <a:ext cx="9116060" cy="47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sz="2000" i="1" dirty="0">
                <a:solidFill>
                  <a:srgbClr val="000099"/>
                </a:solidFill>
                <a:latin typeface="Times New Roman" panose="02020603050405020304" pitchFamily="18" charset="0"/>
                <a:cs typeface="Times New Roman" panose="02020603050405020304" pitchFamily="18" charset="0"/>
              </a:rPr>
              <a:t> </a:t>
            </a:r>
            <a:r>
              <a:rPr lang="en-US" altLang="zh-CN" sz="2000" i="1" dirty="0">
                <a:solidFill>
                  <a:srgbClr val="FF0000"/>
                </a:solidFill>
                <a:latin typeface="Times New Roman" panose="02020603050405020304" pitchFamily="18" charset="0"/>
                <a:cs typeface="Times New Roman" panose="02020603050405020304" pitchFamily="18" charset="0"/>
              </a:rPr>
              <a:t>M</a:t>
            </a:r>
            <a:r>
              <a:rPr lang="zh-CN" altLang="en-US" sz="2000" dirty="0">
                <a:solidFill>
                  <a:srgbClr val="FF0000"/>
                </a:solidFill>
              </a:rPr>
              <a:t>、</a:t>
            </a:r>
            <a:r>
              <a:rPr lang="en-US" altLang="zh-CN" sz="2000" i="1" dirty="0">
                <a:solidFill>
                  <a:srgbClr val="FF0000"/>
                </a:solidFill>
                <a:latin typeface="Times New Roman" panose="02020603050405020304" pitchFamily="18" charset="0"/>
                <a:cs typeface="Times New Roman" panose="02020603050405020304" pitchFamily="18" charset="0"/>
              </a:rPr>
              <a:t>N</a:t>
            </a:r>
            <a:r>
              <a:rPr lang="zh-CN" altLang="en-US" sz="2000" dirty="0">
                <a:solidFill>
                  <a:srgbClr val="000099"/>
                </a:solidFill>
              </a:rPr>
              <a:t>点代表零件的工作应力，</a:t>
            </a:r>
            <a:r>
              <a:rPr lang="zh-CN" altLang="en-US" sz="2000" dirty="0">
                <a:solidFill>
                  <a:srgbClr val="FF0000"/>
                </a:solidFill>
                <a:latin typeface="Times New Roman" panose="02020603050405020304" pitchFamily="18" charset="0"/>
                <a:cs typeface="Times New Roman" panose="02020603050405020304" pitchFamily="18" charset="0"/>
                <a:sym typeface="+mn-ea"/>
              </a:rPr>
              <a:t>当</a:t>
            </a:r>
            <a:r>
              <a:rPr lang="en-US" altLang="zh-CN" sz="2000" dirty="0">
                <a:solidFill>
                  <a:srgbClr val="FF0000"/>
                </a:solidFill>
                <a:latin typeface="Times New Roman" panose="02020603050405020304" pitchFamily="18" charset="0"/>
                <a:cs typeface="Times New Roman" panose="02020603050405020304" pitchFamily="18" charset="0"/>
                <a:sym typeface="+mn-ea"/>
              </a:rPr>
              <a:t>r</a:t>
            </a:r>
            <a:r>
              <a:rPr lang="zh-CN" altLang="en-US" sz="2000" dirty="0">
                <a:solidFill>
                  <a:srgbClr val="FF0000"/>
                </a:solidFill>
                <a:latin typeface="Times New Roman" panose="02020603050405020304" pitchFamily="18" charset="0"/>
                <a:cs typeface="Times New Roman" panose="02020603050405020304" pitchFamily="18" charset="0"/>
                <a:sym typeface="+mn-ea"/>
              </a:rPr>
              <a:t>为常数时</a:t>
            </a:r>
            <a:r>
              <a:rPr lang="zh-CN" altLang="en-US" sz="2000" i="1" dirty="0">
                <a:solidFill>
                  <a:srgbClr val="000099"/>
                </a:solidFill>
                <a:latin typeface="Times New Roman" panose="02020603050405020304" pitchFamily="18" charset="0"/>
                <a:cs typeface="Times New Roman" panose="02020603050405020304" pitchFamily="18" charset="0"/>
                <a:sym typeface="+mn-ea"/>
              </a:rPr>
              <a:t>，</a:t>
            </a:r>
            <a:r>
              <a:rPr lang="zh-CN" altLang="en-US" sz="2000" dirty="0">
                <a:solidFill>
                  <a:srgbClr val="000099"/>
                </a:solidFill>
                <a:sym typeface="+mn-ea"/>
              </a:rPr>
              <a:t>直线</a:t>
            </a:r>
            <a:r>
              <a:rPr lang="en-US" altLang="zh-CN" sz="2000" i="1" dirty="0">
                <a:solidFill>
                  <a:srgbClr val="000099"/>
                </a:solidFill>
                <a:latin typeface="Times New Roman" panose="02020603050405020304" pitchFamily="18" charset="0"/>
                <a:cs typeface="Times New Roman" panose="02020603050405020304" pitchFamily="18" charset="0"/>
                <a:sym typeface="+mn-ea"/>
              </a:rPr>
              <a:t>OM</a:t>
            </a:r>
            <a:r>
              <a:rPr lang="zh-CN" altLang="en-US" sz="2000" dirty="0">
                <a:solidFill>
                  <a:srgbClr val="000099"/>
                </a:solidFill>
                <a:sym typeface="+mn-ea"/>
              </a:rPr>
              <a:t>和</a:t>
            </a:r>
            <a:r>
              <a:rPr lang="en-US" altLang="zh-CN" sz="2000" i="1" dirty="0">
                <a:solidFill>
                  <a:srgbClr val="000099"/>
                </a:solidFill>
                <a:latin typeface="Times New Roman" panose="02020603050405020304" pitchFamily="18" charset="0"/>
                <a:cs typeface="Times New Roman" panose="02020603050405020304" pitchFamily="18" charset="0"/>
                <a:sym typeface="+mn-ea"/>
              </a:rPr>
              <a:t>ON</a:t>
            </a:r>
            <a:r>
              <a:rPr lang="zh-CN" altLang="en-US" sz="2000" i="1" dirty="0">
                <a:solidFill>
                  <a:srgbClr val="000099"/>
                </a:solidFill>
                <a:latin typeface="Times New Roman" panose="02020603050405020304" pitchFamily="18" charset="0"/>
                <a:cs typeface="Times New Roman" panose="02020603050405020304" pitchFamily="18" charset="0"/>
                <a:sym typeface="+mn-ea"/>
              </a:rPr>
              <a:t>具</a:t>
            </a:r>
            <a:r>
              <a:rPr lang="zh-CN" altLang="en-US" sz="2000" dirty="0">
                <a:solidFill>
                  <a:srgbClr val="000099"/>
                </a:solidFill>
                <a:latin typeface="Times New Roman" panose="02020603050405020304" pitchFamily="18" charset="0"/>
                <a:cs typeface="Times New Roman" panose="02020603050405020304" pitchFamily="18" charset="0"/>
                <a:sym typeface="+mn-ea"/>
              </a:rPr>
              <a:t>有相同的应力比</a:t>
            </a:r>
            <a:r>
              <a:rPr lang="zh-CN" altLang="en-US" sz="2000" i="1" dirty="0">
                <a:solidFill>
                  <a:srgbClr val="000099"/>
                </a:solidFill>
                <a:latin typeface="Times New Roman" panose="02020603050405020304" pitchFamily="18" charset="0"/>
                <a:cs typeface="Times New Roman" panose="02020603050405020304" pitchFamily="18" charset="0"/>
                <a:sym typeface="+mn-ea"/>
              </a:rPr>
              <a:t>，</a:t>
            </a:r>
            <a:endParaRPr lang="zh-CN" altLang="en-US" sz="2000" dirty="0">
              <a:solidFill>
                <a:srgbClr val="000099"/>
              </a:solidFill>
            </a:endParaRPr>
          </a:p>
        </p:txBody>
      </p:sp>
      <p:cxnSp>
        <p:nvCxnSpPr>
          <p:cNvPr id="14" name="直接连接符 13"/>
          <p:cNvCxnSpPr/>
          <p:nvPr/>
        </p:nvCxnSpPr>
        <p:spPr>
          <a:xfrm>
            <a:off x="5022215" y="4587875"/>
            <a:ext cx="2228850" cy="0"/>
          </a:xfrm>
          <a:prstGeom prst="line">
            <a:avLst/>
          </a:prstGeom>
          <a:noFill/>
          <a:ln w="9525" cap="flat" cmpd="sng" algn="ctr">
            <a:solidFill>
              <a:srgbClr val="C00000"/>
            </a:solidFill>
            <a:prstDash val="solid"/>
            <a:round/>
            <a:headEnd type="none" w="med" len="med"/>
            <a:tailEnd type="none" w="med" len="med"/>
          </a:ln>
        </p:spPr>
      </p:cxnSp>
      <p:cxnSp>
        <p:nvCxnSpPr>
          <p:cNvPr id="15" name="直接连接符 14"/>
          <p:cNvCxnSpPr/>
          <p:nvPr/>
        </p:nvCxnSpPr>
        <p:spPr>
          <a:xfrm>
            <a:off x="7233285" y="4623435"/>
            <a:ext cx="0" cy="457835"/>
          </a:xfrm>
          <a:prstGeom prst="line">
            <a:avLst/>
          </a:prstGeom>
          <a:noFill/>
          <a:ln w="9525" cap="flat" cmpd="sng" algn="ctr">
            <a:solidFill>
              <a:srgbClr val="C0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down)">
                                      <p:cBhvr>
                                        <p:cTn id="21" dur="500"/>
                                        <p:tgtEl>
                                          <p:spTgt spid="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3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left)">
                                      <p:cBhvr>
                                        <p:cTn id="49" dur="500"/>
                                        <p:tgtEl>
                                          <p:spTgt spid="8"/>
                                        </p:tgtEl>
                                      </p:cBhvr>
                                    </p:animEffect>
                                  </p:childTnLst>
                                </p:cTn>
                              </p:par>
                              <p:par>
                                <p:cTn id="50" presetID="22" presetClass="entr" presetSubtype="8" fill="hold" nodeType="with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lef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xit" presetSubtype="1" fill="hold" grpId="0" nodeType="clickEffect">
                                  <p:stCondLst>
                                    <p:cond delay="0"/>
                                  </p:stCondLst>
                                  <p:childTnLst>
                                    <p:animEffect transition="out" filter="wipe(up)">
                                      <p:cBhvr>
                                        <p:cTn id="56" dur="500"/>
                                        <p:tgtEl>
                                          <p:spTgt spid="12"/>
                                        </p:tgtEl>
                                      </p:cBhvr>
                                    </p:animEffect>
                                    <p:set>
                                      <p:cBhvr>
                                        <p:cTn id="57" dur="1" fill="hold">
                                          <p:stCondLst>
                                            <p:cond delay="499"/>
                                          </p:stCondLst>
                                        </p:cTn>
                                        <p:tgtEl>
                                          <p:spTgt spid="12"/>
                                        </p:tgtEl>
                                        <p:attrNameLst>
                                          <p:attrName>style.visibility</p:attrName>
                                        </p:attrNameLst>
                                      </p:cBhvr>
                                      <p:to>
                                        <p:strVal val="hidden"/>
                                      </p:to>
                                    </p:set>
                                  </p:childTnLst>
                                </p:cTn>
                              </p:par>
                            </p:childTnLst>
                          </p:cTn>
                        </p:par>
                        <p:par>
                          <p:cTn id="58" fill="hold">
                            <p:stCondLst>
                              <p:cond delay="500"/>
                            </p:stCondLst>
                            <p:childTnLst>
                              <p:par>
                                <p:cTn id="59" presetID="1" presetClass="entr" presetSubtype="0" fill="hold" nodeType="afterEffect">
                                  <p:stCondLst>
                                    <p:cond delay="0"/>
                                  </p:stCondLst>
                                  <p:childTnLst>
                                    <p:set>
                                      <p:cBhvr>
                                        <p:cTn id="60" dur="1" fill="hold">
                                          <p:stCondLst>
                                            <p:cond delay="0"/>
                                          </p:stCondLst>
                                        </p:cTn>
                                        <p:tgtEl>
                                          <p:spTgt spid="1435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wipe(up)">
                                      <p:cBhvr>
                                        <p:cTn id="65" dur="500"/>
                                        <p:tgtEl>
                                          <p:spTgt spid="1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2" fill="hold"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right)">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nodeType="clickEffect">
                                  <p:stCondLst>
                                    <p:cond delay="0"/>
                                  </p:stCondLst>
                                  <p:childTnLst>
                                    <p:set>
                                      <p:cBhvr>
                                        <p:cTn id="74" dur="1" fill="hold">
                                          <p:stCondLst>
                                            <p:cond delay="0"/>
                                          </p:stCondLst>
                                        </p:cTn>
                                        <p:tgtEl>
                                          <p:spTgt spid="70661"/>
                                        </p:tgtEl>
                                        <p:attrNameLst>
                                          <p:attrName>style.visibility</p:attrName>
                                        </p:attrNameLst>
                                      </p:cBhvr>
                                      <p:to>
                                        <p:strVal val="visible"/>
                                      </p:to>
                                    </p:set>
                                    <p:anim calcmode="lin" valueType="num">
                                      <p:cBhvr additive="base">
                                        <p:cTn id="75" dur="500" fill="hold"/>
                                        <p:tgtEl>
                                          <p:spTgt spid="70661"/>
                                        </p:tgtEl>
                                        <p:attrNameLst>
                                          <p:attrName>ppt_x</p:attrName>
                                        </p:attrNameLst>
                                      </p:cBhvr>
                                      <p:tavLst>
                                        <p:tav tm="0">
                                          <p:val>
                                            <p:strVal val="0-#ppt_w/2"/>
                                          </p:val>
                                        </p:tav>
                                        <p:tav tm="100000">
                                          <p:val>
                                            <p:strVal val="#ppt_x"/>
                                          </p:val>
                                        </p:tav>
                                      </p:tavLst>
                                    </p:anim>
                                    <p:anim calcmode="lin" valueType="num">
                                      <p:cBhvr additive="base">
                                        <p:cTn id="76" dur="500" fill="hold"/>
                                        <p:tgtEl>
                                          <p:spTgt spid="706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bldLvl="0" animBg="1"/>
      <p:bldP spid="8" grpId="0"/>
      <p:bldP spid="4" grpId="0"/>
      <p:bldP spid="7" grpId="0" animBg="1"/>
      <p:bldP spid="9" grpId="0" animBg="1"/>
      <p:bldP spid="12" grpId="0" animBg="1"/>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4032000" y="189000"/>
            <a:ext cx="4904125" cy="490538"/>
          </a:xfrm>
          <a:ln>
            <a:miter lim="800000"/>
          </a:ln>
        </p:spPr>
        <p:txBody>
          <a:bodyPr vert="horz" wrap="square" lIns="91440" tIns="45720" rIns="91440" bIns="45720" numCol="1" anchor="t" anchorCtr="0" compatLnSpc="1"/>
          <a:lstStyle/>
          <a:p>
            <a:pPr eaLnBrk="1" hangingPunct="1">
              <a:defRPr/>
            </a:pPr>
            <a:r>
              <a:rPr lang="zh-CN" altLang="en-US" sz="2400" kern="1200" dirty="0">
                <a:solidFill>
                  <a:srgbClr val="CC3300"/>
                </a:solidFill>
                <a:latin typeface="黑体" panose="02010609060101010101" pitchFamily="49" charset="-122"/>
                <a:ea typeface="黑体" panose="02010609060101010101" pitchFamily="49" charset="-122"/>
                <a:cs typeface="+mn-cs"/>
              </a:rPr>
              <a:t>单向稳定变应力时的疲劳强度计算</a:t>
            </a:r>
            <a:endParaRPr lang="zh-CN" altLang="en-US" sz="2400" kern="1200" dirty="0">
              <a:solidFill>
                <a:srgbClr val="CC3300"/>
              </a:solidFill>
              <a:latin typeface="黑体" panose="02010609060101010101" pitchFamily="49" charset="-122"/>
              <a:ea typeface="黑体" panose="02010609060101010101" pitchFamily="49" charset="-122"/>
              <a:cs typeface="+mn-cs"/>
            </a:endParaRPr>
          </a:p>
        </p:txBody>
      </p:sp>
      <p:pic>
        <p:nvPicPr>
          <p:cNvPr id="70661" name="Picture 5" descr="NEXT1">
            <a:hlinkClick r:id="" action="ppaction://hlinkshowjump?jump=nex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8566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矩形 8"/>
          <p:cNvSpPr>
            <a:spLocks noChangeArrowheads="1"/>
          </p:cNvSpPr>
          <p:nvPr/>
        </p:nvSpPr>
        <p:spPr bwMode="auto">
          <a:xfrm>
            <a:off x="342265" y="278765"/>
            <a:ext cx="1922780" cy="398780"/>
          </a:xfrm>
          <a:prstGeom prst="rect">
            <a:avLst/>
          </a:prstGeom>
          <a:solidFill>
            <a:srgbClr val="FFFF00"/>
          </a:solidFill>
          <a:ln>
            <a:noFill/>
          </a:ln>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dirty="0">
                <a:solidFill>
                  <a:srgbClr val="000099"/>
                </a:solidFill>
              </a:rPr>
              <a:t>2. </a:t>
            </a:r>
            <a:r>
              <a:rPr lang="en-US" altLang="zh-CN" sz="2000" i="1" dirty="0">
                <a:solidFill>
                  <a:srgbClr val="000099"/>
                </a:solidFill>
                <a:latin typeface="Times New Roman" panose="02020603050405020304" pitchFamily="18" charset="0"/>
                <a:cs typeface="Times New Roman" panose="02020603050405020304" pitchFamily="18" charset="0"/>
              </a:rPr>
              <a:t>σ</a:t>
            </a:r>
            <a:r>
              <a:rPr lang="en-US" altLang="zh-CN" sz="2000" baseline="-25000" dirty="0">
                <a:solidFill>
                  <a:srgbClr val="000099"/>
                </a:solidFill>
              </a:rPr>
              <a:t>m</a:t>
            </a:r>
            <a:r>
              <a:rPr lang="en-US" altLang="zh-CN" sz="2000" dirty="0">
                <a:solidFill>
                  <a:srgbClr val="000099"/>
                </a:solidFill>
              </a:rPr>
              <a:t>=</a:t>
            </a:r>
            <a:r>
              <a:rPr lang="en-US" altLang="zh-CN" sz="2000" i="1" dirty="0">
                <a:solidFill>
                  <a:srgbClr val="000099"/>
                </a:solidFill>
                <a:latin typeface="Times New Roman" panose="02020603050405020304" pitchFamily="18" charset="0"/>
                <a:cs typeface="Times New Roman" panose="02020603050405020304" pitchFamily="18" charset="0"/>
              </a:rPr>
              <a:t>C</a:t>
            </a:r>
            <a:r>
              <a:rPr lang="zh-CN" altLang="en-US" sz="2000" dirty="0">
                <a:solidFill>
                  <a:srgbClr val="000099"/>
                </a:solidFill>
              </a:rPr>
              <a:t>的情况</a:t>
            </a:r>
            <a:endParaRPr lang="zh-CN" altLang="en-US" sz="2000" dirty="0">
              <a:solidFill>
                <a:srgbClr val="000099"/>
              </a:solidFill>
            </a:endParaRPr>
          </a:p>
        </p:txBody>
      </p:sp>
      <p:sp>
        <p:nvSpPr>
          <p:cNvPr id="12295" name="Rectangle 10"/>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2296" name="Rectangle 11"/>
          <p:cNvSpPr>
            <a:spLocks noChangeArrowheads="1"/>
          </p:cNvSpPr>
          <p:nvPr/>
        </p:nvSpPr>
        <p:spPr bwMode="auto">
          <a:xfrm>
            <a:off x="0" y="828675"/>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8" name="矩形 17"/>
          <p:cNvSpPr>
            <a:spLocks noChangeArrowheads="1"/>
          </p:cNvSpPr>
          <p:nvPr/>
        </p:nvSpPr>
        <p:spPr bwMode="auto">
          <a:xfrm>
            <a:off x="342265" y="828675"/>
            <a:ext cx="4105275" cy="1245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sz="2000" dirty="0">
                <a:solidFill>
                  <a:srgbClr val="000099"/>
                </a:solidFill>
                <a:latin typeface="Times New Roman" panose="02020603050405020304" pitchFamily="18" charset="0"/>
                <a:cs typeface="Times New Roman" panose="02020603050405020304" pitchFamily="18" charset="0"/>
              </a:rPr>
              <a:t>      </a:t>
            </a:r>
            <a:r>
              <a:rPr lang="zh-CN" altLang="en-US" sz="2000" dirty="0">
                <a:solidFill>
                  <a:srgbClr val="000099"/>
                </a:solidFill>
                <a:latin typeface="黑体" panose="02010609060101010101" pitchFamily="49" charset="-122"/>
                <a:ea typeface="黑体" panose="02010609060101010101" pitchFamily="49" charset="-122"/>
                <a:cs typeface="Times New Roman" panose="02020603050405020304" pitchFamily="18" charset="0"/>
              </a:rPr>
              <a:t>当</a:t>
            </a:r>
            <a:r>
              <a:rPr lang="en-US" altLang="zh-CN" sz="2000" i="1" dirty="0" err="1">
                <a:solidFill>
                  <a:srgbClr val="FF0000"/>
                </a:solidFill>
                <a:latin typeface="黑体" panose="02010609060101010101" pitchFamily="49" charset="-122"/>
                <a:ea typeface="黑体" panose="02010609060101010101" pitchFamily="49" charset="-122"/>
                <a:cs typeface="Times New Roman" panose="02020603050405020304" pitchFamily="18" charset="0"/>
              </a:rPr>
              <a:t>σ</a:t>
            </a:r>
            <a:r>
              <a:rPr lang="en-US" altLang="zh-CN" sz="2000" baseline="-25000" dirty="0" err="1">
                <a:solidFill>
                  <a:srgbClr val="FF0000"/>
                </a:solidFill>
                <a:latin typeface="黑体" panose="02010609060101010101" pitchFamily="49" charset="-122"/>
                <a:ea typeface="黑体" panose="02010609060101010101" pitchFamily="49" charset="-122"/>
              </a:rPr>
              <a:t>m</a:t>
            </a:r>
            <a:r>
              <a:rPr lang="en-US" altLang="zh-CN" sz="2000" dirty="0">
                <a:solidFill>
                  <a:srgbClr val="FF0000"/>
                </a:solidFill>
                <a:latin typeface="黑体" panose="02010609060101010101" pitchFamily="49" charset="-122"/>
                <a:ea typeface="黑体" panose="02010609060101010101" pitchFamily="49" charset="-122"/>
              </a:rPr>
              <a:t>=</a:t>
            </a:r>
            <a:r>
              <a:rPr lang="en-US" altLang="zh-CN" sz="2000" i="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C </a:t>
            </a:r>
            <a:r>
              <a:rPr lang="zh-CN" altLang="en-US" sz="2000" dirty="0">
                <a:solidFill>
                  <a:srgbClr val="000099"/>
                </a:solidFill>
                <a:latin typeface="黑体" panose="02010609060101010101" pitchFamily="49" charset="-122"/>
                <a:ea typeface="黑体" panose="02010609060101010101" pitchFamily="49" charset="-122"/>
                <a:cs typeface="Times New Roman" panose="02020603050405020304" pitchFamily="18" charset="0"/>
              </a:rPr>
              <a:t>时，</a:t>
            </a:r>
            <a:r>
              <a:rPr lang="zh-CN" altLang="en-US" sz="2000" dirty="0">
                <a:solidFill>
                  <a:srgbClr val="000099"/>
                </a:solidFill>
                <a:latin typeface="黑体" panose="02010609060101010101" pitchFamily="49" charset="-122"/>
                <a:ea typeface="黑体" panose="02010609060101010101" pitchFamily="49" charset="-122"/>
              </a:rPr>
              <a:t>需找到一个其平均应力与零件工作应力点</a:t>
            </a:r>
            <a:r>
              <a:rPr lang="en-US" altLang="en-US"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M</a:t>
            </a:r>
            <a:r>
              <a:rPr lang="zh-CN" altLang="en-US" sz="2000" dirty="0">
                <a:solidFill>
                  <a:srgbClr val="000099"/>
                </a:solidFill>
                <a:latin typeface="黑体" panose="02010609060101010101" pitchFamily="49" charset="-122"/>
                <a:ea typeface="黑体" panose="02010609060101010101" pitchFamily="49" charset="-122"/>
              </a:rPr>
              <a:t>（或</a:t>
            </a:r>
            <a:r>
              <a:rPr lang="en-US" altLang="en-US" sz="2000" i="1" dirty="0">
                <a:solidFill>
                  <a:srgbClr val="000099"/>
                </a:solidFill>
                <a:latin typeface="黑体" panose="02010609060101010101" pitchFamily="49" charset="-122"/>
                <a:ea typeface="黑体" panose="02010609060101010101" pitchFamily="49" charset="-122"/>
              </a:rPr>
              <a:t>N</a:t>
            </a:r>
            <a:r>
              <a:rPr lang="zh-CN" altLang="en-US" sz="2000" dirty="0">
                <a:solidFill>
                  <a:srgbClr val="000099"/>
                </a:solidFill>
                <a:latin typeface="黑体" panose="02010609060101010101" pitchFamily="49" charset="-122"/>
                <a:ea typeface="黑体" panose="02010609060101010101" pitchFamily="49" charset="-122"/>
              </a:rPr>
              <a:t>）的平均应力相同的极限应力</a:t>
            </a:r>
            <a:r>
              <a:rPr lang="zh-CN" altLang="en-US" sz="2000" dirty="0">
                <a:latin typeface="黑体" panose="02010609060101010101" pitchFamily="49" charset="-122"/>
                <a:ea typeface="黑体" panose="02010609060101010101" pitchFamily="49" charset="-122"/>
              </a:rPr>
              <a:t>。</a:t>
            </a:r>
            <a:endParaRPr lang="zh-CN" altLang="en-US" sz="2000" dirty="0">
              <a:solidFill>
                <a:srgbClr val="000099"/>
              </a:solidFill>
              <a:latin typeface="黑体" panose="02010609060101010101" pitchFamily="49" charset="-122"/>
              <a:ea typeface="黑体" panose="02010609060101010101" pitchFamily="49" charset="-122"/>
            </a:endParaRPr>
          </a:p>
        </p:txBody>
      </p:sp>
      <p:sp>
        <p:nvSpPr>
          <p:cNvPr id="19" name="矩形 18"/>
          <p:cNvSpPr>
            <a:spLocks noChangeArrowheads="1"/>
          </p:cNvSpPr>
          <p:nvPr/>
        </p:nvSpPr>
        <p:spPr bwMode="auto">
          <a:xfrm>
            <a:off x="431800" y="2458720"/>
            <a:ext cx="3820160" cy="706755"/>
          </a:xfrm>
          <a:prstGeom prst="rect">
            <a:avLst/>
          </a:prstGeom>
          <a:solidFill>
            <a:srgbClr val="FFC000"/>
          </a:solidFill>
          <a:ln>
            <a:noFill/>
          </a:ln>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  </a:t>
            </a:r>
            <a:r>
              <a:rPr lang="zh-CN" altLang="en-US" sz="2000" dirty="0">
                <a:solidFill>
                  <a:srgbClr val="000099"/>
                </a:solidFill>
                <a:latin typeface="黑体" panose="02010609060101010101" pitchFamily="49" charset="-122"/>
                <a:ea typeface="黑体" panose="02010609060101010101" pitchFamily="49" charset="-122"/>
              </a:rPr>
              <a:t>工作应力点位于</a:t>
            </a:r>
            <a:r>
              <a:rPr lang="en-US" altLang="en-US"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OA'</a:t>
            </a:r>
            <a:r>
              <a:rPr lang="en-US" altLang="zh-CN"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G'H</a:t>
            </a:r>
            <a:r>
              <a:rPr lang="zh-CN" altLang="en-US" sz="2000" dirty="0">
                <a:solidFill>
                  <a:srgbClr val="000099"/>
                </a:solidFill>
                <a:latin typeface="黑体" panose="02010609060101010101" pitchFamily="49" charset="-122"/>
                <a:ea typeface="黑体" panose="02010609060101010101" pitchFamily="49" charset="-122"/>
              </a:rPr>
              <a:t>区域时，零件的疲劳强度条件是：</a:t>
            </a:r>
            <a:endParaRPr lang="zh-CN" altLang="en-US" sz="2000" dirty="0">
              <a:solidFill>
                <a:srgbClr val="000099"/>
              </a:solidFill>
              <a:latin typeface="黑体" panose="02010609060101010101" pitchFamily="49" charset="-122"/>
              <a:ea typeface="黑体" panose="02010609060101010101" pitchFamily="49" charset="-122"/>
            </a:endParaRPr>
          </a:p>
        </p:txBody>
      </p:sp>
      <p:sp>
        <p:nvSpPr>
          <p:cNvPr id="12299" name="Rectangle 18"/>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mc:AlternateContent xmlns:mc="http://schemas.openxmlformats.org/markup-compatibility/2006">
        <mc:Choice xmlns:a14="http://schemas.microsoft.com/office/drawing/2010/main" Requires="a14">
          <p:sp>
            <p:nvSpPr>
              <p:cNvPr id="22" name="矩形 21"/>
              <p:cNvSpPr>
                <a:spLocks noChangeArrowheads="1"/>
              </p:cNvSpPr>
              <p:nvPr/>
            </p:nvSpPr>
            <p:spPr bwMode="auto">
              <a:xfrm>
                <a:off x="342085" y="5454170"/>
                <a:ext cx="3600000" cy="1014730"/>
              </a:xfrm>
              <a:prstGeom prst="rect">
                <a:avLst/>
              </a:prstGeom>
              <a:solidFill>
                <a:srgbClr val="92D050"/>
              </a:solidFill>
              <a:ln>
                <a:noFill/>
              </a:ln>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    </a:t>
                </a:r>
                <a:r>
                  <a:rPr lang="zh-CN" altLang="en-US" sz="2000" dirty="0">
                    <a:solidFill>
                      <a:srgbClr val="000099"/>
                    </a:solidFill>
                    <a:latin typeface="黑体" panose="02010609060101010101" pitchFamily="49" charset="-122"/>
                    <a:ea typeface="黑体" panose="02010609060101010101" pitchFamily="49" charset="-122"/>
                  </a:rPr>
                  <a:t>工作应力点位于</a:t>
                </a:r>
                <a:r>
                  <a:rPr lang="en-US" altLang="zh-CN" sz="2000" i="1" dirty="0">
                    <a:solidFill>
                      <a:srgbClr val="000099"/>
                    </a:solidFill>
                    <a:latin typeface="黑体" panose="02010609060101010101" pitchFamily="49" charset="-122"/>
                    <a:ea typeface="黑体" panose="02010609060101010101" pitchFamily="49" charset="-122"/>
                  </a:rPr>
                  <a:t>H</a:t>
                </a:r>
                <a:r>
                  <a:rPr lang="en-US" altLang="zh-CN"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G</a:t>
                </a:r>
                <a:r>
                  <a:rPr lang="en-US" altLang="en-US"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C </a:t>
                </a:r>
                <a:r>
                  <a:rPr lang="zh-CN" altLang="en-US" sz="2000" dirty="0">
                    <a:solidFill>
                      <a:srgbClr val="000099"/>
                    </a:solidFill>
                    <a:latin typeface="黑体" panose="02010609060101010101" pitchFamily="49" charset="-122"/>
                    <a:ea typeface="黑体" panose="02010609060101010101" pitchFamily="49" charset="-122"/>
                  </a:rPr>
                  <a:t>区域时，极限应力为屈服强度</a:t>
                </a:r>
                <a14:m>
                  <m:oMath xmlns:m="http://schemas.openxmlformats.org/officeDocument/2006/math">
                    <m:sSub>
                      <m:sSubPr>
                        <m:ctrlPr>
                          <a:rPr lang="en-US" altLang="zh-CN" sz="2000" i="1" smtClean="0">
                            <a:solidFill>
                              <a:srgbClr val="000099"/>
                            </a:solidFill>
                            <a:latin typeface="Cambria Math" panose="02040503050406030204" pitchFamily="18" charset="0"/>
                          </a:rPr>
                        </m:ctrlPr>
                      </m:sSubPr>
                      <m:e>
                        <m:r>
                          <a:rPr lang="zh-CN" altLang="en-US" sz="2000" i="1" smtClean="0">
                            <a:solidFill>
                              <a:srgbClr val="000099"/>
                            </a:solidFill>
                            <a:latin typeface="Cambria Math" panose="02040503050406030204" pitchFamily="18" charset="0"/>
                          </a:rPr>
                          <m:t>𝜎</m:t>
                        </m:r>
                      </m:e>
                      <m:sub>
                        <m:r>
                          <a:rPr lang="en-US" altLang="zh-CN" sz="2000" b="0" i="1" smtClean="0">
                            <a:solidFill>
                              <a:srgbClr val="000099"/>
                            </a:solidFill>
                            <a:latin typeface="Cambria Math" panose="02040503050406030204" pitchFamily="18" charset="0"/>
                          </a:rPr>
                          <m:t>𝑆</m:t>
                        </m:r>
                      </m:sub>
                    </m:sSub>
                  </m:oMath>
                </a14:m>
                <a:r>
                  <a:rPr lang="zh-CN" altLang="en-US" sz="2000" baseline="-25000" dirty="0">
                    <a:solidFill>
                      <a:srgbClr val="000099"/>
                    </a:solidFill>
                    <a:latin typeface="黑体" panose="02010609060101010101" pitchFamily="49" charset="-122"/>
                    <a:ea typeface="黑体" panose="02010609060101010101" pitchFamily="49" charset="-122"/>
                  </a:rPr>
                  <a:t>，</a:t>
                </a:r>
                <a:r>
                  <a:rPr lang="zh-CN" altLang="en-US" sz="2000" dirty="0">
                    <a:solidFill>
                      <a:srgbClr val="000099"/>
                    </a:solidFill>
                    <a:latin typeface="黑体" panose="02010609060101010101" pitchFamily="49" charset="-122"/>
                    <a:ea typeface="黑体" panose="02010609060101010101" pitchFamily="49" charset="-122"/>
                  </a:rPr>
                  <a:t>零件的强度条件是：</a:t>
                </a:r>
                <a:endParaRPr lang="zh-CN" altLang="en-US" sz="2000" dirty="0">
                  <a:solidFill>
                    <a:srgbClr val="000099"/>
                  </a:solidFill>
                  <a:latin typeface="黑体" panose="02010609060101010101" pitchFamily="49" charset="-122"/>
                  <a:ea typeface="黑体" panose="02010609060101010101" pitchFamily="49" charset="-122"/>
                </a:endParaRPr>
              </a:p>
            </p:txBody>
          </p:sp>
        </mc:Choice>
        <mc:Fallback>
          <p:sp>
            <p:nvSpPr>
              <p:cNvPr id="22" name="矩形 21"/>
              <p:cNvSpPr>
                <a:spLocks noRot="1" noChangeAspect="1" noMove="1" noResize="1" noEditPoints="1" noAdjustHandles="1" noChangeArrowheads="1" noChangeShapeType="1" noTextEdit="1"/>
              </p:cNvSpPr>
              <p:nvPr/>
            </p:nvSpPr>
            <p:spPr bwMode="auto">
              <a:xfrm>
                <a:off x="342085" y="5454170"/>
                <a:ext cx="3600000" cy="1014730"/>
              </a:xfrm>
              <a:prstGeom prst="rect">
                <a:avLst/>
              </a:prstGeom>
              <a:blipFill rotWithShape="1">
                <a:blip r:embed="rId2"/>
                <a:stretch>
                  <a:fillRect l="-13" t="-15" r="-1676" b="15"/>
                </a:stretch>
              </a:blipFill>
              <a:ln>
                <a:noFill/>
              </a:ln>
            </p:spPr>
            <p:txBody>
              <a:bodyPr/>
              <a:lstStyle/>
              <a:p>
                <a:r>
                  <a:rPr lang="zh-CN" altLang="en-US">
                    <a:noFill/>
                  </a:rPr>
                  <a:t> </a:t>
                </a:r>
              </a:p>
            </p:txBody>
          </p:sp>
        </mc:Fallback>
      </mc:AlternateContent>
      <p:sp>
        <p:nvSpPr>
          <p:cNvPr id="12301" name="Rectangle 20"/>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14355" name="Object 4"/>
          <p:cNvGraphicFramePr>
            <a:graphicFrameLocks noChangeAspect="1"/>
          </p:cNvGraphicFramePr>
          <p:nvPr/>
        </p:nvGraphicFramePr>
        <p:xfrm>
          <a:off x="4032250" y="5777865"/>
          <a:ext cx="3324860" cy="745490"/>
        </p:xfrm>
        <a:graphic>
          <a:graphicData uri="http://schemas.openxmlformats.org/presentationml/2006/ole">
            <mc:AlternateContent xmlns:mc="http://schemas.openxmlformats.org/markup-compatibility/2006">
              <mc:Choice xmlns:v="urn:schemas-microsoft-com:vml" Requires="v">
                <p:oleObj spid="_x0000_s2" name="公式" r:id="rId3" imgW="2070100" imgH="431800" progId="Equation.3">
                  <p:embed/>
                </p:oleObj>
              </mc:Choice>
              <mc:Fallback>
                <p:oleObj name="公式" r:id="rId3" imgW="2070100" imgH="431800" progId="Equation.3">
                  <p:embed/>
                  <p:pic>
                    <p:nvPicPr>
                      <p:cNvPr id="0" name="Picture 49"/>
                      <p:cNvPicPr>
                        <a:picLocks noChangeAspect="1" noChangeArrowheads="1"/>
                      </p:cNvPicPr>
                      <p:nvPr/>
                    </p:nvPicPr>
                    <p:blipFill>
                      <a:blip r:embed="rId4"/>
                      <a:srcRect/>
                      <a:stretch>
                        <a:fillRect/>
                      </a:stretch>
                    </p:blipFill>
                    <p:spPr bwMode="auto">
                      <a:xfrm>
                        <a:off x="4032250" y="5777865"/>
                        <a:ext cx="3324860" cy="745490"/>
                      </a:xfrm>
                      <a:prstGeom prst="rect">
                        <a:avLst/>
                      </a:prstGeom>
                      <a:noFill/>
                      <a:ln w="19050">
                        <a:solidFill>
                          <a:srgbClr val="92D050"/>
                        </a:solidFill>
                      </a:ln>
                    </p:spPr>
                  </p:pic>
                </p:oleObj>
              </mc:Fallback>
            </mc:AlternateContent>
          </a:graphicData>
        </a:graphic>
      </p:graphicFrame>
      <p:sp>
        <p:nvSpPr>
          <p:cNvPr id="12303" name="Rectangle 7"/>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48134" name="Object 6"/>
          <p:cNvGraphicFramePr>
            <a:graphicFrameLocks noChangeAspect="1"/>
          </p:cNvGraphicFramePr>
          <p:nvPr/>
        </p:nvGraphicFramePr>
        <p:xfrm>
          <a:off x="521970" y="3550285"/>
          <a:ext cx="4577080" cy="732790"/>
        </p:xfrm>
        <a:graphic>
          <a:graphicData uri="http://schemas.openxmlformats.org/presentationml/2006/ole">
            <mc:AlternateContent xmlns:mc="http://schemas.openxmlformats.org/markup-compatibility/2006">
              <mc:Choice xmlns:v="urn:schemas-microsoft-com:vml" Requires="v">
                <p:oleObj spid="_x0000_s3" name="公式" r:id="rId5" imgW="2705100" imgH="431800" progId="Equation.3">
                  <p:embed/>
                </p:oleObj>
              </mc:Choice>
              <mc:Fallback>
                <p:oleObj name="公式" r:id="rId5" imgW="2705100" imgH="431800" progId="Equation.3">
                  <p:embed/>
                  <p:pic>
                    <p:nvPicPr>
                      <p:cNvPr id="0" name="Picture 50"/>
                      <p:cNvPicPr>
                        <a:picLocks noChangeAspect="1" noChangeArrowheads="1"/>
                      </p:cNvPicPr>
                      <p:nvPr/>
                    </p:nvPicPr>
                    <p:blipFill>
                      <a:blip r:embed="rId6"/>
                      <a:srcRect/>
                      <a:stretch>
                        <a:fillRect/>
                      </a:stretch>
                    </p:blipFill>
                    <p:spPr bwMode="auto">
                      <a:xfrm>
                        <a:off x="521970" y="3550285"/>
                        <a:ext cx="4577080" cy="732790"/>
                      </a:xfrm>
                      <a:prstGeom prst="rect">
                        <a:avLst/>
                      </a:prstGeom>
                      <a:noFill/>
                      <a:ln w="19050">
                        <a:solidFill>
                          <a:srgbClr val="FFC000"/>
                        </a:solidFill>
                      </a:ln>
                    </p:spPr>
                  </p:pic>
                </p:oleObj>
              </mc:Fallback>
            </mc:AlternateContent>
          </a:graphicData>
        </a:graphic>
      </p:graphicFrame>
      <p:sp>
        <p:nvSpPr>
          <p:cNvPr id="12304"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7" name="图片 16"/>
          <p:cNvPicPr>
            <a:picLocks noChangeAspect="1"/>
          </p:cNvPicPr>
          <p:nvPr/>
        </p:nvPicPr>
        <p:blipFill>
          <a:blip r:embed="rId7"/>
          <a:stretch>
            <a:fillRect/>
          </a:stretch>
        </p:blipFill>
        <p:spPr>
          <a:xfrm>
            <a:off x="4447540" y="788035"/>
            <a:ext cx="4696460" cy="2740025"/>
          </a:xfrm>
          <a:prstGeom prst="rect">
            <a:avLst/>
          </a:prstGeom>
          <a:noFill/>
          <a:ln w="9525">
            <a:noFill/>
          </a:ln>
        </p:spPr>
      </p:pic>
      <p:sp>
        <p:nvSpPr>
          <p:cNvPr id="7" name="文本框 6"/>
          <p:cNvSpPr txBox="1">
            <a:spLocks noRot="1" noChangeAspect="1" noEditPoints="1" noTextEdit="1"/>
          </p:cNvSpPr>
          <p:nvPr/>
        </p:nvSpPr>
        <p:spPr>
          <a:xfrm>
            <a:off x="4662170" y="4823460"/>
            <a:ext cx="3825240" cy="814705"/>
          </a:xfrm>
          <a:prstGeom prst="rect">
            <a:avLst/>
          </a:prstGeom>
          <a:blipFill rotWithShape="1">
            <a:blip r:embed="rId8"/>
            <a:stretch>
              <a:fillRect/>
            </a:stretch>
          </a:blipFill>
          <a:ln w="9525">
            <a:solidFill>
              <a:srgbClr val="0000FF"/>
            </a:solidFill>
          </a:ln>
        </p:spPr>
        <p:txBody>
          <a:bodyPr anchor="t"/>
          <a:lstStyle/>
          <a:p>
            <a:pPr eaLnBrk="0" hangingPunct="0"/>
            <a:endParaRPr>
              <a:latin typeface="Tahoma" panose="020B0604030504040204" pitchFamily="34" charset="0"/>
              <a:ea typeface="华文中宋" panose="02010600040101010101" pitchFamily="2" charset="-122"/>
            </a:endParaRPr>
          </a:p>
        </p:txBody>
      </p:sp>
      <p:sp>
        <p:nvSpPr>
          <p:cNvPr id="4" name="文本框 3"/>
          <p:cNvSpPr txBox="1"/>
          <p:nvPr/>
        </p:nvSpPr>
        <p:spPr>
          <a:xfrm>
            <a:off x="476885" y="4418965"/>
            <a:ext cx="6986905" cy="398780"/>
          </a:xfrm>
          <a:prstGeom prst="rect">
            <a:avLst/>
          </a:prstGeom>
          <a:noFill/>
        </p:spPr>
        <p:txBody>
          <a:bodyPr wrap="square" rtlCol="0">
            <a:spAutoFit/>
          </a:bodyPr>
          <a:lstStyle/>
          <a:p>
            <a:r>
              <a:rPr lang="zh-CN" altLang="en-US" sz="2000">
                <a:latin typeface="黑体" panose="02010609060101010101" pitchFamily="49" charset="-122"/>
                <a:ea typeface="黑体" panose="02010609060101010101" pitchFamily="49" charset="-122"/>
                <a:cs typeface="黑体" panose="02010609060101010101" pitchFamily="49" charset="-122"/>
              </a:rPr>
              <a:t>由于最大应力安全系数</a:t>
            </a:r>
            <a:r>
              <a:rPr lang="en-US" altLang="zh-CN" sz="2000">
                <a:latin typeface="黑体" panose="02010609060101010101" pitchFamily="49" charset="-122"/>
                <a:ea typeface="黑体" panose="02010609060101010101" pitchFamily="49" charset="-122"/>
                <a:cs typeface="黑体" panose="02010609060101010101" pitchFamily="49" charset="-122"/>
              </a:rPr>
              <a:t>S</a:t>
            </a:r>
            <a:r>
              <a:rPr lang="en-US" altLang="zh-CN" sz="2000" baseline="-25000">
                <a:latin typeface="黑体" panose="02010609060101010101" pitchFamily="49" charset="-122"/>
                <a:ea typeface="黑体" panose="02010609060101010101" pitchFamily="49" charset="-122"/>
                <a:cs typeface="黑体" panose="02010609060101010101" pitchFamily="49" charset="-122"/>
              </a:rPr>
              <a:t>σ </a:t>
            </a:r>
            <a:r>
              <a:rPr lang="zh-CN" altLang="en-US" sz="2000">
                <a:latin typeface="黑体" panose="02010609060101010101" pitchFamily="49" charset="-122"/>
                <a:ea typeface="黑体" panose="02010609060101010101" pitchFamily="49" charset="-122"/>
                <a:cs typeface="黑体" panose="02010609060101010101" pitchFamily="49" charset="-122"/>
              </a:rPr>
              <a:t>和应力幅安全系数</a:t>
            </a:r>
            <a:r>
              <a:rPr lang="en-US" altLang="zh-CN" sz="2000">
                <a:latin typeface="黑体" panose="02010609060101010101" pitchFamily="49" charset="-122"/>
                <a:ea typeface="黑体" panose="02010609060101010101" pitchFamily="49" charset="-122"/>
                <a:cs typeface="黑体" panose="02010609060101010101" pitchFamily="49" charset="-122"/>
              </a:rPr>
              <a:t>S</a:t>
            </a:r>
            <a:r>
              <a:rPr lang="en-US" altLang="zh-CN" sz="2000" baseline="-25000">
                <a:latin typeface="黑体" panose="02010609060101010101" pitchFamily="49" charset="-122"/>
                <a:ea typeface="黑体" panose="02010609060101010101" pitchFamily="49" charset="-122"/>
                <a:cs typeface="黑体" panose="02010609060101010101" pitchFamily="49" charset="-122"/>
              </a:rPr>
              <a:t>σa</a:t>
            </a:r>
            <a:r>
              <a:rPr lang="zh-CN" altLang="en-US" sz="2000">
                <a:latin typeface="黑体" panose="02010609060101010101" pitchFamily="49" charset="-122"/>
                <a:ea typeface="黑体" panose="02010609060101010101" pitchFamily="49" charset="-122"/>
                <a:cs typeface="黑体" panose="02010609060101010101" pitchFamily="49" charset="-122"/>
              </a:rPr>
              <a:t>是不相等的，</a:t>
            </a:r>
            <a:endParaRPr lang="zh-CN" altLang="en-US" sz="2000">
              <a:latin typeface="黑体" panose="02010609060101010101" pitchFamily="49" charset="-122"/>
              <a:ea typeface="黑体" panose="02010609060101010101" pitchFamily="49" charset="-122"/>
              <a:cs typeface="黑体" panose="02010609060101010101" pitchFamily="49" charset="-122"/>
              <a:sym typeface="+mn-ea"/>
            </a:endParaRPr>
          </a:p>
        </p:txBody>
      </p:sp>
      <p:grpSp>
        <p:nvGrpSpPr>
          <p:cNvPr id="8" name="组合 7"/>
          <p:cNvGrpSpPr/>
          <p:nvPr/>
        </p:nvGrpSpPr>
        <p:grpSpPr>
          <a:xfrm>
            <a:off x="4414520" y="892175"/>
            <a:ext cx="4652010" cy="2687320"/>
            <a:chOff x="3537" y="3283"/>
            <a:chExt cx="7326" cy="4232"/>
          </a:xfrm>
        </p:grpSpPr>
        <p:graphicFrame>
          <p:nvGraphicFramePr>
            <p:cNvPr id="5" name="对象 4"/>
            <p:cNvGraphicFramePr/>
            <p:nvPr>
              <p:custDataLst>
                <p:tags r:id="rId9"/>
              </p:custDataLst>
            </p:nvPr>
          </p:nvGraphicFramePr>
          <p:xfrm>
            <a:off x="3537" y="3283"/>
            <a:ext cx="7326" cy="4233"/>
          </p:xfrm>
          <a:graphic>
            <a:graphicData uri="http://schemas.openxmlformats.org/presentationml/2006/ole">
              <mc:AlternateContent xmlns:mc="http://schemas.openxmlformats.org/markup-compatibility/2006">
                <mc:Choice xmlns:v="urn:schemas-microsoft-com:vml" Requires="v">
                  <p:oleObj spid="_x0000_s6" name="" r:id="rId10" imgW="4648200" imgH="2686050" progId="Paint.Picture">
                    <p:embed/>
                  </p:oleObj>
                </mc:Choice>
                <mc:Fallback>
                  <p:oleObj name="" r:id="rId10" imgW="4648200" imgH="2686050" progId="Paint.Picture">
                    <p:embed/>
                    <p:pic>
                      <p:nvPicPr>
                        <p:cNvPr id="0" name="图片 4"/>
                        <p:cNvPicPr/>
                        <p:nvPr/>
                      </p:nvPicPr>
                      <p:blipFill>
                        <a:blip r:embed="rId11"/>
                        <a:stretch>
                          <a:fillRect/>
                        </a:stretch>
                      </p:blipFill>
                      <p:spPr>
                        <a:xfrm>
                          <a:off x="3537" y="3283"/>
                          <a:ext cx="7326" cy="4233"/>
                        </a:xfrm>
                        <a:prstGeom prst="rect">
                          <a:avLst/>
                        </a:prstGeom>
                      </p:spPr>
                    </p:pic>
                  </p:oleObj>
                </mc:Fallback>
              </mc:AlternateContent>
            </a:graphicData>
          </a:graphic>
        </p:graphicFrame>
        <p:cxnSp>
          <p:nvCxnSpPr>
            <p:cNvPr id="9" name="直接连接符 8"/>
            <p:cNvCxnSpPr/>
            <p:nvPr>
              <p:custDataLst>
                <p:tags r:id="rId12"/>
              </p:custDataLst>
            </p:nvPr>
          </p:nvCxnSpPr>
          <p:spPr>
            <a:xfrm>
              <a:off x="5078" y="4346"/>
              <a:ext cx="369" cy="79"/>
            </a:xfrm>
            <a:prstGeom prst="line">
              <a:avLst/>
            </a:prstGeom>
            <a:noFill/>
            <a:ln w="38100" cap="flat" cmpd="sng" algn="ctr">
              <a:solidFill>
                <a:schemeClr val="tx1">
                  <a:lumMod val="50000"/>
                </a:schemeClr>
              </a:solidFill>
              <a:prstDash val="solid"/>
              <a:round/>
              <a:headEnd type="none" w="med" len="med"/>
              <a:tailEnd type="none" w="med" len="med"/>
            </a:ln>
          </p:spPr>
        </p:cxnSp>
        <p:cxnSp>
          <p:nvCxnSpPr>
            <p:cNvPr id="10" name="直接连接符 9"/>
            <p:cNvCxnSpPr/>
            <p:nvPr>
              <p:custDataLst>
                <p:tags r:id="rId13"/>
              </p:custDataLst>
            </p:nvPr>
          </p:nvCxnSpPr>
          <p:spPr>
            <a:xfrm>
              <a:off x="8184" y="5215"/>
              <a:ext cx="342" cy="342"/>
            </a:xfrm>
            <a:prstGeom prst="line">
              <a:avLst/>
            </a:prstGeom>
            <a:noFill/>
            <a:ln w="28575" cap="flat" cmpd="sng" algn="ctr">
              <a:solidFill>
                <a:schemeClr val="tx1">
                  <a:lumMod val="50000"/>
                </a:schemeClr>
              </a:solidFill>
              <a:prstDash val="solid"/>
              <a:round/>
              <a:headEnd type="none" w="med" len="med"/>
              <a:tailEnd type="none" w="med" len="med"/>
            </a:ln>
          </p:spPr>
        </p:cxnSp>
      </p:grpSp>
      <p:cxnSp>
        <p:nvCxnSpPr>
          <p:cNvPr id="11" name="直接连接符 10"/>
          <p:cNvCxnSpPr/>
          <p:nvPr/>
        </p:nvCxnSpPr>
        <p:spPr>
          <a:xfrm flipV="1">
            <a:off x="5493385" y="1567180"/>
            <a:ext cx="0" cy="1470660"/>
          </a:xfrm>
          <a:prstGeom prst="line">
            <a:avLst/>
          </a:prstGeom>
          <a:noFill/>
          <a:ln w="9525" cap="flat" cmpd="sng" algn="ctr">
            <a:solidFill>
              <a:srgbClr val="FF0000"/>
            </a:solidFill>
            <a:prstDash val="solid"/>
            <a:round/>
            <a:headEnd type="none" w="med" len="med"/>
            <a:tailEnd type="none" w="med" len="med"/>
          </a:ln>
        </p:spPr>
      </p:cxnSp>
      <p:cxnSp>
        <p:nvCxnSpPr>
          <p:cNvPr id="12" name="直接连接符 11"/>
          <p:cNvCxnSpPr/>
          <p:nvPr/>
        </p:nvCxnSpPr>
        <p:spPr>
          <a:xfrm flipH="1" flipV="1">
            <a:off x="7465695" y="2202180"/>
            <a:ext cx="8255" cy="835660"/>
          </a:xfrm>
          <a:prstGeom prst="line">
            <a:avLst/>
          </a:prstGeom>
          <a:noFill/>
          <a:ln w="9525" cap="flat" cmpd="sng" algn="ctr">
            <a:solidFill>
              <a:srgbClr val="FF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par>
                                <p:cTn id="23" presetID="22" presetClass="entr" presetSubtype="4"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xit" presetSubtype="4" fill="hold" nodeType="clickEffect">
                                  <p:stCondLst>
                                    <p:cond delay="0"/>
                                  </p:stCondLst>
                                  <p:childTnLst>
                                    <p:animEffect transition="out" filter="wipe(down)">
                                      <p:cBhvr>
                                        <p:cTn id="29" dur="500"/>
                                        <p:tgtEl>
                                          <p:spTgt spid="12"/>
                                        </p:tgtEl>
                                      </p:cBhvr>
                                    </p:animEffect>
                                    <p:set>
                                      <p:cBhvr>
                                        <p:cTn id="30" dur="1" fill="hold">
                                          <p:stCondLst>
                                            <p:cond delay="499"/>
                                          </p:stCondLst>
                                        </p:cTn>
                                        <p:tgtEl>
                                          <p:spTgt spid="12"/>
                                        </p:tgtEl>
                                        <p:attrNameLst>
                                          <p:attrName>style.visibility</p:attrName>
                                        </p:attrNameLst>
                                      </p:cBhvr>
                                      <p:to>
                                        <p:strVal val="hidden"/>
                                      </p:to>
                                    </p:set>
                                  </p:childTnLst>
                                </p:cTn>
                              </p:par>
                              <p:par>
                                <p:cTn id="31" presetID="22" presetClass="exit" presetSubtype="4" fill="hold" nodeType="withEffect">
                                  <p:stCondLst>
                                    <p:cond delay="0"/>
                                  </p:stCondLst>
                                  <p:childTnLst>
                                    <p:animEffect transition="out" filter="wipe(down)">
                                      <p:cBhvr>
                                        <p:cTn id="32" dur="500"/>
                                        <p:tgtEl>
                                          <p:spTgt spid="11"/>
                                        </p:tgtEl>
                                      </p:cBhvr>
                                    </p:animEffect>
                                    <p:set>
                                      <p:cBhvr>
                                        <p:cTn id="33" dur="1" fill="hold">
                                          <p:stCondLst>
                                            <p:cond delay="499"/>
                                          </p:stCondLst>
                                        </p:cTn>
                                        <p:tgtEl>
                                          <p:spTgt spid="11"/>
                                        </p:tgtEl>
                                        <p:attrNameLst>
                                          <p:attrName>style.visibility</p:attrName>
                                        </p:attrNameLst>
                                      </p:cBhvr>
                                      <p:to>
                                        <p:strVal val="hidden"/>
                                      </p:to>
                                    </p:set>
                                  </p:childTnLst>
                                </p:cTn>
                              </p:par>
                            </p:childTnLst>
                          </p:cTn>
                        </p:par>
                        <p:par>
                          <p:cTn id="34" fill="hold">
                            <p:stCondLst>
                              <p:cond delay="500"/>
                            </p:stCondLst>
                            <p:childTnLst>
                              <p:par>
                                <p:cTn id="35" presetID="22" presetClass="exit" presetSubtype="4" fill="hold" nodeType="afterEffect">
                                  <p:stCondLst>
                                    <p:cond delay="0"/>
                                  </p:stCondLst>
                                  <p:childTnLst>
                                    <p:animEffect transition="out" filter="wipe(down)">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813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ipe(left)">
                                      <p:cBhvr>
                                        <p:cTn id="55" dur="500"/>
                                        <p:tgtEl>
                                          <p:spTgt spid="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left)">
                                      <p:cBhvr>
                                        <p:cTn id="60" dur="500"/>
                                        <p:tgtEl>
                                          <p:spTgt spid="22"/>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435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nodeType="clickEffect">
                                  <p:stCondLst>
                                    <p:cond delay="0"/>
                                  </p:stCondLst>
                                  <p:childTnLst>
                                    <p:set>
                                      <p:cBhvr>
                                        <p:cTn id="68" dur="1" fill="hold">
                                          <p:stCondLst>
                                            <p:cond delay="0"/>
                                          </p:stCondLst>
                                        </p:cTn>
                                        <p:tgtEl>
                                          <p:spTgt spid="70661"/>
                                        </p:tgtEl>
                                        <p:attrNameLst>
                                          <p:attrName>style.visibility</p:attrName>
                                        </p:attrNameLst>
                                      </p:cBhvr>
                                      <p:to>
                                        <p:strVal val="visible"/>
                                      </p:to>
                                    </p:set>
                                    <p:anim calcmode="lin" valueType="num">
                                      <p:cBhvr additive="base">
                                        <p:cTn id="69" dur="500" fill="hold"/>
                                        <p:tgtEl>
                                          <p:spTgt spid="70661"/>
                                        </p:tgtEl>
                                        <p:attrNameLst>
                                          <p:attrName>ppt_x</p:attrName>
                                        </p:attrNameLst>
                                      </p:cBhvr>
                                      <p:tavLst>
                                        <p:tav tm="0">
                                          <p:val>
                                            <p:strVal val="0-#ppt_w/2"/>
                                          </p:val>
                                        </p:tav>
                                        <p:tav tm="100000">
                                          <p:val>
                                            <p:strVal val="#ppt_x"/>
                                          </p:val>
                                        </p:tav>
                                      </p:tavLst>
                                    </p:anim>
                                    <p:anim calcmode="lin" valueType="num">
                                      <p:cBhvr additive="base">
                                        <p:cTn id="70" dur="500" fill="hold"/>
                                        <p:tgtEl>
                                          <p:spTgt spid="706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bldLvl="0" animBg="1"/>
      <p:bldP spid="22" grpId="0" bldLvl="0" animBg="1"/>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4212000" y="234000"/>
            <a:ext cx="4859125" cy="490538"/>
          </a:xfrm>
          <a:ln>
            <a:miter lim="800000"/>
          </a:ln>
        </p:spPr>
        <p:txBody>
          <a:bodyPr vert="horz" wrap="square" lIns="91440" tIns="45720" rIns="91440" bIns="45720" numCol="1" anchor="t" anchorCtr="0" compatLnSpc="1"/>
          <a:lstStyle/>
          <a:p>
            <a:pPr eaLnBrk="1" hangingPunct="1">
              <a:defRPr/>
            </a:pPr>
            <a:r>
              <a:rPr lang="zh-CN" altLang="en-US" sz="2400" kern="1200" dirty="0">
                <a:solidFill>
                  <a:srgbClr val="CC3300"/>
                </a:solidFill>
                <a:latin typeface="黑体" panose="02010609060101010101" pitchFamily="49" charset="-122"/>
                <a:ea typeface="黑体" panose="02010609060101010101" pitchFamily="49" charset="-122"/>
                <a:cs typeface="+mn-cs"/>
              </a:rPr>
              <a:t>单向稳定变应力时的疲劳强度计算</a:t>
            </a:r>
            <a:endParaRPr lang="zh-CN" altLang="en-US" sz="2400" kern="1200" dirty="0">
              <a:solidFill>
                <a:srgbClr val="CC3300"/>
              </a:solidFill>
              <a:latin typeface="黑体" panose="02010609060101010101" pitchFamily="49" charset="-122"/>
              <a:ea typeface="黑体" panose="02010609060101010101" pitchFamily="49" charset="-122"/>
              <a:cs typeface="+mn-cs"/>
            </a:endParaRPr>
          </a:p>
        </p:txBody>
      </p:sp>
      <p:sp>
        <p:nvSpPr>
          <p:cNvPr id="13317" name="矩形 8"/>
          <p:cNvSpPr>
            <a:spLocks noChangeArrowheads="1"/>
          </p:cNvSpPr>
          <p:nvPr/>
        </p:nvSpPr>
        <p:spPr bwMode="auto">
          <a:xfrm>
            <a:off x="342000" y="279000"/>
            <a:ext cx="1931987" cy="400050"/>
          </a:xfrm>
          <a:prstGeom prst="rect">
            <a:avLst/>
          </a:prstGeom>
          <a:solidFill>
            <a:srgbClr val="FFFF00"/>
          </a:solidFill>
          <a:ln>
            <a:noFill/>
          </a:ln>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dirty="0">
                <a:solidFill>
                  <a:srgbClr val="000099"/>
                </a:solidFill>
              </a:rPr>
              <a:t>3.</a:t>
            </a:r>
            <a:r>
              <a:rPr lang="en-US" altLang="zh-CN" sz="2000" i="1" dirty="0">
                <a:solidFill>
                  <a:srgbClr val="000099"/>
                </a:solidFill>
                <a:latin typeface="Times New Roman" panose="02020603050405020304" pitchFamily="18" charset="0"/>
                <a:cs typeface="Times New Roman" panose="02020603050405020304" pitchFamily="18" charset="0"/>
              </a:rPr>
              <a:t>σ</a:t>
            </a:r>
            <a:r>
              <a:rPr lang="en-US" altLang="zh-CN" sz="2000" baseline="-25000" dirty="0">
                <a:solidFill>
                  <a:srgbClr val="000099"/>
                </a:solidFill>
              </a:rPr>
              <a:t>min</a:t>
            </a:r>
            <a:r>
              <a:rPr lang="en-US" altLang="zh-CN" sz="2000" dirty="0">
                <a:solidFill>
                  <a:srgbClr val="000099"/>
                </a:solidFill>
              </a:rPr>
              <a:t>=</a:t>
            </a:r>
            <a:r>
              <a:rPr lang="en-US" altLang="zh-CN" sz="2000" i="1" dirty="0">
                <a:solidFill>
                  <a:srgbClr val="000099"/>
                </a:solidFill>
                <a:latin typeface="Times New Roman" panose="02020603050405020304" pitchFamily="18" charset="0"/>
                <a:cs typeface="Times New Roman" panose="02020603050405020304" pitchFamily="18" charset="0"/>
              </a:rPr>
              <a:t>C</a:t>
            </a:r>
            <a:r>
              <a:rPr lang="zh-CN" altLang="en-US" sz="2000" dirty="0">
                <a:solidFill>
                  <a:srgbClr val="000099"/>
                </a:solidFill>
              </a:rPr>
              <a:t>的情况</a:t>
            </a:r>
            <a:endParaRPr lang="zh-CN" altLang="en-US" sz="2000" dirty="0">
              <a:solidFill>
                <a:srgbClr val="000099"/>
              </a:solidFill>
            </a:endParaRPr>
          </a:p>
        </p:txBody>
      </p:sp>
      <p:sp>
        <p:nvSpPr>
          <p:cNvPr id="13318" name="Rectangle 10"/>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19" name="Rectangle 11"/>
          <p:cNvSpPr>
            <a:spLocks noChangeArrowheads="1"/>
          </p:cNvSpPr>
          <p:nvPr/>
        </p:nvSpPr>
        <p:spPr bwMode="auto">
          <a:xfrm>
            <a:off x="0" y="828675"/>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8" name="矩形 17"/>
          <p:cNvSpPr>
            <a:spLocks noChangeArrowheads="1"/>
          </p:cNvSpPr>
          <p:nvPr/>
        </p:nvSpPr>
        <p:spPr bwMode="auto">
          <a:xfrm>
            <a:off x="342265" y="1043940"/>
            <a:ext cx="3820160" cy="166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    </a:t>
            </a:r>
            <a:r>
              <a:rPr lang="zh-CN" altLang="en-US" sz="2000" dirty="0">
                <a:solidFill>
                  <a:srgbClr val="000099"/>
                </a:solidFill>
                <a:latin typeface="黑体" panose="02010609060101010101" pitchFamily="49" charset="-122"/>
                <a:ea typeface="黑体" panose="02010609060101010101" pitchFamily="49" charset="-122"/>
                <a:cs typeface="Times New Roman" panose="02020603050405020304" pitchFamily="18" charset="0"/>
              </a:rPr>
              <a:t>当</a:t>
            </a:r>
            <a:r>
              <a:rPr lang="en-US" altLang="zh-CN" sz="2000" i="1" dirty="0" err="1">
                <a:solidFill>
                  <a:srgbClr val="FF0000"/>
                </a:solidFill>
                <a:latin typeface="黑体" panose="02010609060101010101" pitchFamily="49" charset="-122"/>
                <a:ea typeface="黑体" panose="02010609060101010101" pitchFamily="49" charset="-122"/>
                <a:cs typeface="Times New Roman" panose="02020603050405020304" pitchFamily="18" charset="0"/>
              </a:rPr>
              <a:t>σ</a:t>
            </a:r>
            <a:r>
              <a:rPr lang="en-US" altLang="zh-CN" sz="2000" baseline="-25000" dirty="0" err="1">
                <a:solidFill>
                  <a:srgbClr val="FF0000"/>
                </a:solidFill>
                <a:latin typeface="黑体" panose="02010609060101010101" pitchFamily="49" charset="-122"/>
                <a:ea typeface="黑体" panose="02010609060101010101" pitchFamily="49" charset="-122"/>
              </a:rPr>
              <a:t>min</a:t>
            </a:r>
            <a:r>
              <a:rPr lang="en-US" altLang="zh-CN" sz="2000" dirty="0">
                <a:solidFill>
                  <a:srgbClr val="FF0000"/>
                </a:solidFill>
                <a:latin typeface="黑体" panose="02010609060101010101" pitchFamily="49" charset="-122"/>
                <a:ea typeface="黑体" panose="02010609060101010101" pitchFamily="49" charset="-122"/>
              </a:rPr>
              <a:t>=</a:t>
            </a:r>
            <a:r>
              <a:rPr lang="en-US" altLang="zh-CN" sz="2000" i="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C </a:t>
            </a:r>
            <a:r>
              <a:rPr lang="zh-CN" altLang="en-US" sz="2000" dirty="0">
                <a:solidFill>
                  <a:srgbClr val="000099"/>
                </a:solidFill>
                <a:latin typeface="黑体" panose="02010609060101010101" pitchFamily="49" charset="-122"/>
                <a:ea typeface="黑体" panose="02010609060101010101" pitchFamily="49" charset="-122"/>
                <a:cs typeface="Times New Roman" panose="02020603050405020304" pitchFamily="18" charset="0"/>
              </a:rPr>
              <a:t>时，</a:t>
            </a:r>
            <a:r>
              <a:rPr lang="zh-CN" altLang="en-US" sz="2000" dirty="0">
                <a:solidFill>
                  <a:srgbClr val="000099"/>
                </a:solidFill>
                <a:latin typeface="黑体" panose="02010609060101010101" pitchFamily="49" charset="-122"/>
                <a:ea typeface="黑体" panose="02010609060101010101" pitchFamily="49" charset="-122"/>
              </a:rPr>
              <a:t>需找到一个其最小应力与零件工作应力点</a:t>
            </a:r>
            <a:r>
              <a:rPr lang="en-US" altLang="en-US"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M</a:t>
            </a:r>
            <a:r>
              <a:rPr lang="zh-CN" altLang="en-US" sz="2000" dirty="0">
                <a:solidFill>
                  <a:srgbClr val="000099"/>
                </a:solidFill>
                <a:latin typeface="黑体" panose="02010609060101010101" pitchFamily="49" charset="-122"/>
                <a:ea typeface="黑体" panose="02010609060101010101" pitchFamily="49" charset="-122"/>
              </a:rPr>
              <a:t>（或</a:t>
            </a:r>
            <a:r>
              <a:rPr lang="en-US" altLang="en-US" sz="2000" i="1" dirty="0">
                <a:solidFill>
                  <a:srgbClr val="000099"/>
                </a:solidFill>
                <a:latin typeface="黑体" panose="02010609060101010101" pitchFamily="49" charset="-122"/>
                <a:ea typeface="黑体" panose="02010609060101010101" pitchFamily="49" charset="-122"/>
              </a:rPr>
              <a:t>N</a:t>
            </a:r>
            <a:r>
              <a:rPr lang="zh-CN" altLang="en-US" sz="2000" dirty="0">
                <a:solidFill>
                  <a:srgbClr val="000099"/>
                </a:solidFill>
                <a:latin typeface="黑体" panose="02010609060101010101" pitchFamily="49" charset="-122"/>
                <a:ea typeface="黑体" panose="02010609060101010101" pitchFamily="49" charset="-122"/>
              </a:rPr>
              <a:t>）的最小应力相同的极限应力</a:t>
            </a:r>
            <a:r>
              <a:rPr lang="zh-CN" altLang="en-US" sz="2000" dirty="0">
                <a:latin typeface="黑体" panose="02010609060101010101" pitchFamily="49" charset="-122"/>
                <a:ea typeface="黑体" panose="02010609060101010101" pitchFamily="49" charset="-122"/>
              </a:rPr>
              <a:t>。</a:t>
            </a:r>
            <a:endParaRPr lang="zh-CN" altLang="en-US" sz="2000" dirty="0">
              <a:solidFill>
                <a:srgbClr val="000099"/>
              </a:solidFill>
              <a:latin typeface="黑体" panose="02010609060101010101" pitchFamily="49" charset="-122"/>
              <a:ea typeface="黑体" panose="02010609060101010101" pitchFamily="49" charset="-122"/>
            </a:endParaRPr>
          </a:p>
        </p:txBody>
      </p:sp>
      <p:sp>
        <p:nvSpPr>
          <p:cNvPr id="19" name="矩形 18"/>
          <p:cNvSpPr>
            <a:spLocks noChangeArrowheads="1"/>
          </p:cNvSpPr>
          <p:nvPr/>
        </p:nvSpPr>
        <p:spPr bwMode="auto">
          <a:xfrm>
            <a:off x="386715" y="2860040"/>
            <a:ext cx="3291840" cy="706755"/>
          </a:xfrm>
          <a:prstGeom prst="rect">
            <a:avLst/>
          </a:prstGeom>
          <a:solidFill>
            <a:srgbClr val="FFC000"/>
          </a:solidFill>
          <a:ln>
            <a:noFill/>
          </a:ln>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   </a:t>
            </a:r>
            <a:r>
              <a:rPr lang="zh-CN" altLang="en-US" sz="2000" dirty="0">
                <a:solidFill>
                  <a:srgbClr val="000099"/>
                </a:solidFill>
                <a:latin typeface="黑体" panose="02010609060101010101" pitchFamily="49" charset="-122"/>
                <a:ea typeface="黑体" panose="02010609060101010101" pitchFamily="49" charset="-122"/>
              </a:rPr>
              <a:t>工作应力点位于</a:t>
            </a:r>
            <a:r>
              <a:rPr lang="en-US" altLang="en-US"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O</a:t>
            </a:r>
            <a:r>
              <a:rPr lang="en-US" altLang="zh-CN"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A</a:t>
            </a:r>
            <a:r>
              <a:rPr lang="en-US" altLang="zh-CN"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GI</a:t>
            </a:r>
            <a:r>
              <a:rPr lang="zh-CN" altLang="en-US" sz="2000" dirty="0">
                <a:solidFill>
                  <a:srgbClr val="000099"/>
                </a:solidFill>
                <a:latin typeface="黑体" panose="02010609060101010101" pitchFamily="49" charset="-122"/>
                <a:ea typeface="黑体" panose="02010609060101010101" pitchFamily="49" charset="-122"/>
              </a:rPr>
              <a:t>区域时，零件的疲劳强度条件是：</a:t>
            </a:r>
            <a:endParaRPr lang="zh-CN" altLang="en-US" sz="2000" dirty="0">
              <a:solidFill>
                <a:srgbClr val="000099"/>
              </a:solidFill>
              <a:latin typeface="黑体" panose="02010609060101010101" pitchFamily="49" charset="-122"/>
              <a:ea typeface="黑体" panose="02010609060101010101" pitchFamily="49" charset="-122"/>
            </a:endParaRPr>
          </a:p>
        </p:txBody>
      </p:sp>
      <p:sp>
        <p:nvSpPr>
          <p:cNvPr id="13322" name="Rectangle 18"/>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mc:AlternateContent xmlns:mc="http://schemas.openxmlformats.org/markup-compatibility/2006">
        <mc:Choice xmlns:a14="http://schemas.microsoft.com/office/drawing/2010/main" Requires="a14">
          <p:sp>
            <p:nvSpPr>
              <p:cNvPr id="22" name="矩形 21"/>
              <p:cNvSpPr>
                <a:spLocks noChangeArrowheads="1"/>
              </p:cNvSpPr>
              <p:nvPr/>
            </p:nvSpPr>
            <p:spPr bwMode="auto">
              <a:xfrm>
                <a:off x="162170" y="5454000"/>
                <a:ext cx="3786764" cy="1014730"/>
              </a:xfrm>
              <a:prstGeom prst="rect">
                <a:avLst/>
              </a:prstGeom>
              <a:solidFill>
                <a:srgbClr val="92D050"/>
              </a:solidFill>
              <a:ln>
                <a:noFill/>
              </a:ln>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    </a:t>
                </a:r>
                <a:r>
                  <a:rPr lang="zh-CN" altLang="en-US" sz="2000" dirty="0">
                    <a:solidFill>
                      <a:srgbClr val="000099"/>
                    </a:solidFill>
                    <a:latin typeface="黑体" panose="02010609060101010101" pitchFamily="49" charset="-122"/>
                    <a:ea typeface="黑体" panose="02010609060101010101" pitchFamily="49" charset="-122"/>
                  </a:rPr>
                  <a:t>工作应力点位于</a:t>
                </a:r>
                <a:r>
                  <a:rPr lang="en-US" altLang="zh-CN"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IG</a:t>
                </a:r>
                <a:r>
                  <a:rPr lang="en-US" altLang="en-US" sz="2000"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C </a:t>
                </a:r>
                <a:r>
                  <a:rPr lang="zh-CN" altLang="en-US" sz="2000" dirty="0">
                    <a:solidFill>
                      <a:srgbClr val="000099"/>
                    </a:solidFill>
                    <a:latin typeface="黑体" panose="02010609060101010101" pitchFamily="49" charset="-122"/>
                    <a:ea typeface="黑体" panose="02010609060101010101" pitchFamily="49" charset="-122"/>
                  </a:rPr>
                  <a:t>区域时，极限应力为屈服强度</a:t>
                </a:r>
                <a14:m>
                  <m:oMath xmlns:m="http://schemas.openxmlformats.org/officeDocument/2006/math">
                    <m:sSub>
                      <m:sSubPr>
                        <m:ctrlPr>
                          <a:rPr lang="en-US" altLang="zh-CN" sz="2000" i="1" smtClean="0">
                            <a:solidFill>
                              <a:srgbClr val="000099"/>
                            </a:solidFill>
                            <a:latin typeface="Cambria Math" panose="02040503050406030204" pitchFamily="18" charset="0"/>
                            <a:ea typeface="黑体" panose="02010609060101010101" pitchFamily="49" charset="-122"/>
                          </a:rPr>
                        </m:ctrlPr>
                      </m:sSubPr>
                      <m:e>
                        <m:r>
                          <a:rPr lang="zh-CN" altLang="en-US" sz="2000" i="1" smtClean="0">
                            <a:solidFill>
                              <a:srgbClr val="000099"/>
                            </a:solidFill>
                            <a:latin typeface="Cambria Math" panose="02040503050406030204" pitchFamily="18" charset="0"/>
                            <a:ea typeface="黑体" panose="02010609060101010101" pitchFamily="49" charset="-122"/>
                          </a:rPr>
                          <m:t>𝜎</m:t>
                        </m:r>
                      </m:e>
                      <m:sub>
                        <m:r>
                          <a:rPr lang="en-US" altLang="zh-CN" sz="2000" b="0" i="1" smtClean="0">
                            <a:solidFill>
                              <a:srgbClr val="000099"/>
                            </a:solidFill>
                            <a:latin typeface="Cambria Math" panose="02040503050406030204" pitchFamily="18" charset="0"/>
                            <a:ea typeface="黑体" panose="02010609060101010101" pitchFamily="49" charset="-122"/>
                          </a:rPr>
                          <m:t>𝑆</m:t>
                        </m:r>
                      </m:sub>
                    </m:sSub>
                  </m:oMath>
                </a14:m>
                <a:r>
                  <a:rPr lang="zh-CN" altLang="en-US" sz="2000" baseline="-25000" dirty="0">
                    <a:solidFill>
                      <a:srgbClr val="000099"/>
                    </a:solidFill>
                    <a:latin typeface="黑体" panose="02010609060101010101" pitchFamily="49" charset="-122"/>
                    <a:ea typeface="黑体" panose="02010609060101010101" pitchFamily="49" charset="-122"/>
                  </a:rPr>
                  <a:t>，</a:t>
                </a:r>
                <a:r>
                  <a:rPr lang="zh-CN" altLang="en-US" sz="2000" dirty="0">
                    <a:solidFill>
                      <a:srgbClr val="000099"/>
                    </a:solidFill>
                    <a:latin typeface="黑体" panose="02010609060101010101" pitchFamily="49" charset="-122"/>
                    <a:ea typeface="黑体" panose="02010609060101010101" pitchFamily="49" charset="-122"/>
                  </a:rPr>
                  <a:t>零件的强度条件是：</a:t>
                </a:r>
                <a:endParaRPr lang="zh-CN" altLang="en-US" sz="2000" dirty="0">
                  <a:solidFill>
                    <a:srgbClr val="000099"/>
                  </a:solidFill>
                  <a:latin typeface="黑体" panose="02010609060101010101" pitchFamily="49" charset="-122"/>
                  <a:ea typeface="黑体" panose="02010609060101010101" pitchFamily="49" charset="-122"/>
                </a:endParaRPr>
              </a:p>
            </p:txBody>
          </p:sp>
        </mc:Choice>
        <mc:Fallback>
          <p:sp>
            <p:nvSpPr>
              <p:cNvPr id="22" name="矩形 21"/>
              <p:cNvSpPr>
                <a:spLocks noRot="1" noChangeAspect="1" noMove="1" noResize="1" noEditPoints="1" noAdjustHandles="1" noChangeArrowheads="1" noChangeShapeType="1" noTextEdit="1"/>
              </p:cNvSpPr>
              <p:nvPr/>
            </p:nvSpPr>
            <p:spPr bwMode="auto">
              <a:xfrm>
                <a:off x="162170" y="5454000"/>
                <a:ext cx="3786764" cy="1014730"/>
              </a:xfrm>
              <a:prstGeom prst="rect">
                <a:avLst/>
              </a:prstGeom>
              <a:blipFill rotWithShape="1">
                <a:blip r:embed="rId1"/>
                <a:stretch>
                  <a:fillRect l="-6" t="-61" r="13" b="61"/>
                </a:stretch>
              </a:blipFill>
              <a:ln>
                <a:noFill/>
              </a:ln>
            </p:spPr>
            <p:txBody>
              <a:bodyPr/>
              <a:lstStyle/>
              <a:p>
                <a:r>
                  <a:rPr lang="zh-CN" altLang="en-US">
                    <a:noFill/>
                  </a:rPr>
                  <a:t> </a:t>
                </a:r>
              </a:p>
            </p:txBody>
          </p:sp>
        </mc:Fallback>
      </mc:AlternateContent>
      <p:sp>
        <p:nvSpPr>
          <p:cNvPr id="13324" name="Rectangle 20"/>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14355" name="Object 2"/>
          <p:cNvGraphicFramePr>
            <a:graphicFrameLocks noChangeAspect="1"/>
          </p:cNvGraphicFramePr>
          <p:nvPr/>
        </p:nvGraphicFramePr>
        <p:xfrm>
          <a:off x="4077335" y="5391785"/>
          <a:ext cx="3831590" cy="886460"/>
        </p:xfrm>
        <a:graphic>
          <a:graphicData uri="http://schemas.openxmlformats.org/presentationml/2006/ole">
            <mc:AlternateContent xmlns:mc="http://schemas.openxmlformats.org/markup-compatibility/2006">
              <mc:Choice xmlns:v="urn:schemas-microsoft-com:vml" Requires="v">
                <p:oleObj spid="_x0000_s2" name="公式" r:id="rId2" imgW="2082800" imgH="431800" progId="Equation.3">
                  <p:embed/>
                </p:oleObj>
              </mc:Choice>
              <mc:Fallback>
                <p:oleObj name="公式" r:id="rId2" imgW="2082800" imgH="431800" progId="Equation.3">
                  <p:embed/>
                  <p:pic>
                    <p:nvPicPr>
                      <p:cNvPr id="0" name="Picture 54"/>
                      <p:cNvPicPr>
                        <a:picLocks noChangeAspect="1" noChangeArrowheads="1"/>
                      </p:cNvPicPr>
                      <p:nvPr/>
                    </p:nvPicPr>
                    <p:blipFill>
                      <a:blip r:embed="rId3"/>
                      <a:srcRect/>
                      <a:stretch>
                        <a:fillRect/>
                      </a:stretch>
                    </p:blipFill>
                    <p:spPr bwMode="auto">
                      <a:xfrm>
                        <a:off x="4077335" y="5391785"/>
                        <a:ext cx="3831590" cy="886460"/>
                      </a:xfrm>
                      <a:prstGeom prst="rect">
                        <a:avLst/>
                      </a:prstGeom>
                      <a:noFill/>
                      <a:ln w="19050">
                        <a:solidFill>
                          <a:srgbClr val="92D050"/>
                        </a:solidFill>
                      </a:ln>
                    </p:spPr>
                  </p:pic>
                </p:oleObj>
              </mc:Fallback>
            </mc:AlternateContent>
          </a:graphicData>
        </a:graphic>
      </p:graphicFrame>
      <p:sp>
        <p:nvSpPr>
          <p:cNvPr id="13325" name="Rectangle 7"/>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pic>
        <p:nvPicPr>
          <p:cNvPr id="4915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22000" y="1134000"/>
            <a:ext cx="4757738"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7" name="Rectangle 6"/>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49157" name="Object 5"/>
          <p:cNvGraphicFramePr>
            <a:graphicFrameLocks noChangeAspect="1"/>
          </p:cNvGraphicFramePr>
          <p:nvPr/>
        </p:nvGraphicFramePr>
        <p:xfrm>
          <a:off x="1647190" y="3923665"/>
          <a:ext cx="5039995" cy="894715"/>
        </p:xfrm>
        <a:graphic>
          <a:graphicData uri="http://schemas.openxmlformats.org/presentationml/2006/ole">
            <mc:AlternateContent xmlns:mc="http://schemas.openxmlformats.org/markup-compatibility/2006">
              <mc:Choice xmlns:v="urn:schemas-microsoft-com:vml" Requires="v">
                <p:oleObj spid="_x0000_s3" name="公式" r:id="rId5" imgW="2501900" imgH="457200" progId="Equation.3">
                  <p:embed/>
                </p:oleObj>
              </mc:Choice>
              <mc:Fallback>
                <p:oleObj name="公式" r:id="rId5" imgW="2501900" imgH="457200" progId="Equation.3">
                  <p:embed/>
                  <p:pic>
                    <p:nvPicPr>
                      <p:cNvPr id="0" name="Picture 55"/>
                      <p:cNvPicPr>
                        <a:picLocks noChangeAspect="1" noChangeArrowheads="1"/>
                      </p:cNvPicPr>
                      <p:nvPr/>
                    </p:nvPicPr>
                    <p:blipFill>
                      <a:blip r:embed="rId6"/>
                      <a:srcRect/>
                      <a:stretch>
                        <a:fillRect/>
                      </a:stretch>
                    </p:blipFill>
                    <p:spPr bwMode="auto">
                      <a:xfrm>
                        <a:off x="1647190" y="3923665"/>
                        <a:ext cx="5039995" cy="894715"/>
                      </a:xfrm>
                      <a:prstGeom prst="rect">
                        <a:avLst/>
                      </a:prstGeom>
                      <a:noFill/>
                      <a:ln w="19050">
                        <a:solidFill>
                          <a:srgbClr val="FFC000"/>
                        </a:solidFill>
                      </a:ln>
                    </p:spPr>
                  </p:pic>
                </p:oleObj>
              </mc:Fallback>
            </mc:AlternateContent>
          </a:graphicData>
        </a:graphic>
      </p:graphicFrame>
      <p:sp>
        <p:nvSpPr>
          <p:cNvPr id="21" name="矩形 8"/>
          <p:cNvSpPr>
            <a:spLocks noChangeArrowheads="1"/>
          </p:cNvSpPr>
          <p:nvPr/>
        </p:nvSpPr>
        <p:spPr bwMode="auto">
          <a:xfrm>
            <a:off x="8286750" y="6357938"/>
            <a:ext cx="857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hlinkClick r:id="rId7" action="ppaction://hlinksldjump"/>
              </a:rPr>
              <a:t>返回</a:t>
            </a:r>
            <a:endParaRPr lang="zh-CN" altLang="en-US" sz="2000">
              <a:solidFill>
                <a:srgbClr val="000099"/>
              </a:solidFill>
            </a:endParaRPr>
          </a:p>
        </p:txBody>
      </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cxnSp>
        <p:nvCxnSpPr>
          <p:cNvPr id="4" name="直接连接符 3"/>
          <p:cNvCxnSpPr/>
          <p:nvPr/>
        </p:nvCxnSpPr>
        <p:spPr>
          <a:xfrm>
            <a:off x="5433060" y="2175510"/>
            <a:ext cx="0" cy="749300"/>
          </a:xfrm>
          <a:prstGeom prst="line">
            <a:avLst/>
          </a:prstGeom>
          <a:noFill/>
          <a:ln w="19050" cap="flat" cmpd="sng" algn="ctr">
            <a:solidFill>
              <a:srgbClr val="FF0000"/>
            </a:solidFill>
            <a:prstDash val="solid"/>
            <a:round/>
            <a:headEnd type="none" w="med" len="med"/>
            <a:tailEnd type="none" w="med" len="med"/>
          </a:ln>
        </p:spPr>
      </p:cxnSp>
      <p:cxnSp>
        <p:nvCxnSpPr>
          <p:cNvPr id="5" name="直接连接符 4"/>
          <p:cNvCxnSpPr/>
          <p:nvPr/>
        </p:nvCxnSpPr>
        <p:spPr>
          <a:xfrm flipH="1">
            <a:off x="5094605" y="2201545"/>
            <a:ext cx="338455" cy="0"/>
          </a:xfrm>
          <a:prstGeom prst="line">
            <a:avLst/>
          </a:prstGeom>
          <a:noFill/>
          <a:ln w="19050" cap="flat" cmpd="sng" algn="ctr">
            <a:solidFill>
              <a:srgbClr val="FF0000"/>
            </a:solidFill>
            <a:prstDash val="solid"/>
            <a:round/>
            <a:headEnd type="none" w="med" len="med"/>
            <a:tailEnd type="none" w="med" len="med"/>
          </a:ln>
        </p:spPr>
      </p:cxnSp>
      <p:cxnSp>
        <p:nvCxnSpPr>
          <p:cNvPr id="6" name="直接连接符 5"/>
          <p:cNvCxnSpPr/>
          <p:nvPr/>
        </p:nvCxnSpPr>
        <p:spPr>
          <a:xfrm flipV="1">
            <a:off x="4730750" y="1739900"/>
            <a:ext cx="1186815" cy="1169670"/>
          </a:xfrm>
          <a:prstGeom prst="line">
            <a:avLst/>
          </a:prstGeom>
          <a:noFill/>
          <a:ln w="9525" cap="flat" cmpd="sng" algn="ctr">
            <a:solidFill>
              <a:srgbClr val="0000FF"/>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9156"/>
                                        </p:tgtEl>
                                        <p:attrNameLst>
                                          <p:attrName>style.visibility</p:attrName>
                                        </p:attrNameLst>
                                      </p:cBhvr>
                                      <p:to>
                                        <p:strVal val="visible"/>
                                      </p:to>
                                    </p:set>
                                    <p:animEffect transition="in" filter="wipe(left)">
                                      <p:cBhvr>
                                        <p:cTn id="12" dur="500"/>
                                        <p:tgtEl>
                                          <p:spTgt spid="491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1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nodeType="afterEffect">
                                  <p:stCondLst>
                                    <p:cond delay="0"/>
                                  </p:stCondLst>
                                  <p:childTnLst>
                                    <p:set>
                                      <p:cBhvr>
                                        <p:cTn id="41" dur="1" fill="hold">
                                          <p:stCondLst>
                                            <p:cond delay="0"/>
                                          </p:stCondLst>
                                        </p:cTn>
                                        <p:tgtEl>
                                          <p:spTgt spid="14355"/>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grpId="0" nodeType="after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bldLvl="0" animBg="1"/>
      <p:bldP spid="22" grpId="0" bldLvl="0" animBg="1"/>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4212000" y="234000"/>
            <a:ext cx="4859125" cy="490538"/>
          </a:xfrm>
          <a:ln>
            <a:miter lim="800000"/>
          </a:ln>
        </p:spPr>
        <p:txBody>
          <a:bodyPr vert="horz" wrap="square" lIns="91440" tIns="45720" rIns="91440" bIns="45720" numCol="1" anchor="t" anchorCtr="0" compatLnSpc="1"/>
          <a:lstStyle/>
          <a:p>
            <a:pPr eaLnBrk="1" hangingPunct="1">
              <a:defRPr/>
            </a:pPr>
            <a:r>
              <a:rPr lang="zh-CN" altLang="en-US" sz="2400" kern="1200" dirty="0">
                <a:solidFill>
                  <a:srgbClr val="CC3300"/>
                </a:solidFill>
                <a:latin typeface="黑体" panose="02010609060101010101" pitchFamily="49" charset="-122"/>
                <a:ea typeface="黑体" panose="02010609060101010101" pitchFamily="49" charset="-122"/>
                <a:cs typeface="+mn-cs"/>
              </a:rPr>
              <a:t>单向稳定变应力时的疲劳强度计算</a:t>
            </a:r>
            <a:endParaRPr lang="zh-CN" altLang="en-US" sz="2400" kern="1200" dirty="0">
              <a:solidFill>
                <a:srgbClr val="CC3300"/>
              </a:solidFill>
              <a:latin typeface="黑体" panose="02010609060101010101" pitchFamily="49" charset="-122"/>
              <a:ea typeface="黑体" panose="02010609060101010101" pitchFamily="49" charset="-122"/>
              <a:cs typeface="+mn-cs"/>
            </a:endParaRPr>
          </a:p>
        </p:txBody>
      </p:sp>
      <p:sp>
        <p:nvSpPr>
          <p:cNvPr id="13317" name="矩形 8"/>
          <p:cNvSpPr>
            <a:spLocks noChangeArrowheads="1"/>
          </p:cNvSpPr>
          <p:nvPr/>
        </p:nvSpPr>
        <p:spPr bwMode="auto">
          <a:xfrm>
            <a:off x="342000" y="279000"/>
            <a:ext cx="2681605" cy="398780"/>
          </a:xfrm>
          <a:prstGeom prst="rect">
            <a:avLst/>
          </a:prstGeom>
          <a:solidFill>
            <a:srgbClr val="FFFF00"/>
          </a:solidFill>
          <a:ln>
            <a:noFill/>
          </a:ln>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dirty="0">
                <a:solidFill>
                  <a:srgbClr val="000099"/>
                </a:solidFill>
              </a:rPr>
              <a:t>4.</a:t>
            </a:r>
            <a:r>
              <a:rPr lang="zh-CN" altLang="en-US" sz="2000" dirty="0">
                <a:solidFill>
                  <a:srgbClr val="000099"/>
                </a:solidFill>
              </a:rPr>
              <a:t>等效对称循环变应力</a:t>
            </a:r>
            <a:endParaRPr lang="zh-CN" altLang="en-US" sz="2000" dirty="0">
              <a:solidFill>
                <a:srgbClr val="000099"/>
              </a:solidFill>
            </a:endParaRPr>
          </a:p>
        </p:txBody>
      </p:sp>
      <p:sp>
        <p:nvSpPr>
          <p:cNvPr id="13318" name="Rectangle 10"/>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19" name="Rectangle 11"/>
          <p:cNvSpPr>
            <a:spLocks noChangeArrowheads="1"/>
          </p:cNvSpPr>
          <p:nvPr/>
        </p:nvSpPr>
        <p:spPr bwMode="auto">
          <a:xfrm>
            <a:off x="0" y="828675"/>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22" name="Rectangle 18"/>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24" name="Rectangle 20"/>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14355" name="Object 2"/>
          <p:cNvGraphicFramePr>
            <a:graphicFrameLocks noChangeAspect="1"/>
          </p:cNvGraphicFramePr>
          <p:nvPr/>
        </p:nvGraphicFramePr>
        <p:xfrm>
          <a:off x="3465195" y="5148580"/>
          <a:ext cx="1403350" cy="1116965"/>
        </p:xfrm>
        <a:graphic>
          <a:graphicData uri="http://schemas.openxmlformats.org/presentationml/2006/ole">
            <mc:AlternateContent xmlns:mc="http://schemas.openxmlformats.org/markup-compatibility/2006">
              <mc:Choice xmlns:v="urn:schemas-microsoft-com:vml" Requires="v">
                <p:oleObj spid="_x0000_s2" name="公式" r:id="rId1" imgW="584200" imgH="431800" progId="Equation.3">
                  <p:embed/>
                </p:oleObj>
              </mc:Choice>
              <mc:Fallback>
                <p:oleObj name="公式" r:id="rId1" imgW="584200" imgH="431800" progId="Equation.3">
                  <p:embed/>
                  <p:pic>
                    <p:nvPicPr>
                      <p:cNvPr id="0" name="图片 112731"/>
                      <p:cNvPicPr>
                        <a:picLocks noChangeAspect="1" noChangeArrowheads="1"/>
                      </p:cNvPicPr>
                      <p:nvPr/>
                    </p:nvPicPr>
                    <p:blipFill>
                      <a:blip r:embed="rId2"/>
                      <a:srcRect/>
                      <a:stretch>
                        <a:fillRect/>
                      </a:stretch>
                    </p:blipFill>
                    <p:spPr bwMode="auto">
                      <a:xfrm>
                        <a:off x="3465195" y="5148580"/>
                        <a:ext cx="1403350" cy="1116965"/>
                      </a:xfrm>
                      <a:prstGeom prst="rect">
                        <a:avLst/>
                      </a:prstGeom>
                      <a:noFill/>
                      <a:ln w="19050">
                        <a:solidFill>
                          <a:srgbClr val="92D050"/>
                        </a:solidFill>
                      </a:ln>
                    </p:spPr>
                  </p:pic>
                </p:oleObj>
              </mc:Fallback>
            </mc:AlternateContent>
          </a:graphicData>
        </a:graphic>
      </p:graphicFrame>
      <p:sp>
        <p:nvSpPr>
          <p:cNvPr id="13325" name="Rectangle 7"/>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27" name="Rectangle 6"/>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49157" name="Object 5"/>
          <p:cNvGraphicFramePr>
            <a:graphicFrameLocks noChangeAspect="1"/>
          </p:cNvGraphicFramePr>
          <p:nvPr/>
        </p:nvGraphicFramePr>
        <p:xfrm>
          <a:off x="1945950" y="4383570"/>
          <a:ext cx="3391519" cy="585000"/>
        </p:xfrm>
        <a:graphic>
          <a:graphicData uri="http://schemas.openxmlformats.org/presentationml/2006/ole">
            <mc:AlternateContent xmlns:mc="http://schemas.openxmlformats.org/markup-compatibility/2006">
              <mc:Choice xmlns:v="urn:schemas-microsoft-com:vml" Requires="v">
                <p:oleObj spid="_x0000_s3" name="公式" r:id="rId3" imgW="32308800" imgH="5791200" progId="Equation.3">
                  <p:embed/>
                </p:oleObj>
              </mc:Choice>
              <mc:Fallback>
                <p:oleObj name="公式" r:id="rId3" imgW="32308800" imgH="5791200" progId="Equation.3">
                  <p:embed/>
                  <p:pic>
                    <p:nvPicPr>
                      <p:cNvPr id="0" name="图片 112732"/>
                      <p:cNvPicPr>
                        <a:picLocks noChangeAspect="1" noChangeArrowheads="1"/>
                      </p:cNvPicPr>
                      <p:nvPr/>
                    </p:nvPicPr>
                    <p:blipFill>
                      <a:blip r:embed="rId4"/>
                      <a:srcRect/>
                      <a:stretch>
                        <a:fillRect/>
                      </a:stretch>
                    </p:blipFill>
                    <p:spPr bwMode="auto">
                      <a:xfrm>
                        <a:off x="1945950" y="4383570"/>
                        <a:ext cx="3391519" cy="585000"/>
                      </a:xfrm>
                      <a:prstGeom prst="rect">
                        <a:avLst/>
                      </a:prstGeom>
                      <a:noFill/>
                      <a:ln w="19050">
                        <a:solidFill>
                          <a:srgbClr val="FFC000"/>
                        </a:solidFill>
                      </a:ln>
                    </p:spPr>
                  </p:pic>
                </p:oleObj>
              </mc:Fallback>
            </mc:AlternateContent>
          </a:graphicData>
        </a:graphic>
      </p:graphicFrame>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0" name="Object 17"/>
          <p:cNvGraphicFramePr>
            <a:graphicFrameLocks noChangeAspect="1"/>
          </p:cNvGraphicFramePr>
          <p:nvPr/>
        </p:nvGraphicFramePr>
        <p:xfrm>
          <a:off x="2075815" y="1522730"/>
          <a:ext cx="4701540" cy="1051560"/>
        </p:xfrm>
        <a:graphic>
          <a:graphicData uri="http://schemas.openxmlformats.org/presentationml/2006/ole">
            <mc:AlternateContent xmlns:mc="http://schemas.openxmlformats.org/markup-compatibility/2006">
              <mc:Choice xmlns:v="urn:schemas-microsoft-com:vml" Requires="v">
                <p:oleObj spid="_x0000_s4" name="公式" r:id="rId5" imgW="2311400" imgH="431800" progId="Equation.3">
                  <p:embed/>
                </p:oleObj>
              </mc:Choice>
              <mc:Fallback>
                <p:oleObj name="公式" r:id="rId5" imgW="2311400" imgH="431800" progId="Equation.3">
                  <p:embed/>
                  <p:pic>
                    <p:nvPicPr>
                      <p:cNvPr id="0" name="图片 112733"/>
                      <p:cNvPicPr>
                        <a:picLocks noChangeAspect="1" noChangeArrowheads="1"/>
                      </p:cNvPicPr>
                      <p:nvPr/>
                    </p:nvPicPr>
                    <p:blipFill>
                      <a:blip r:embed="rId6"/>
                      <a:srcRect/>
                      <a:stretch>
                        <a:fillRect/>
                      </a:stretch>
                    </p:blipFill>
                    <p:spPr bwMode="auto">
                      <a:xfrm>
                        <a:off x="2075815" y="1522730"/>
                        <a:ext cx="4701540" cy="1051560"/>
                      </a:xfrm>
                      <a:prstGeom prst="rect">
                        <a:avLst/>
                      </a:prstGeom>
                      <a:noFill/>
                      <a:ln w="19050">
                        <a:noFill/>
                      </a:ln>
                    </p:spPr>
                  </p:pic>
                </p:oleObj>
              </mc:Fallback>
            </mc:AlternateContent>
          </a:graphicData>
        </a:graphic>
      </p:graphicFrame>
      <p:sp>
        <p:nvSpPr>
          <p:cNvPr id="5" name="矩形 4"/>
          <p:cNvSpPr/>
          <p:nvPr/>
        </p:nvSpPr>
        <p:spPr>
          <a:xfrm>
            <a:off x="3042000" y="999000"/>
            <a:ext cx="4905000" cy="429895"/>
          </a:xfrm>
          <a:prstGeom prst="rect">
            <a:avLst/>
          </a:prstGeom>
          <a:solidFill>
            <a:schemeClr val="accent2">
              <a:lumMod val="40000"/>
              <a:lumOff val="60000"/>
            </a:schemeClr>
          </a:solidFill>
        </p:spPr>
        <p:txBody>
          <a:bodyPr wrap="square">
            <a:spAutoFit/>
          </a:bodyPr>
          <a:lstStyle/>
          <a:p>
            <a:r>
              <a:rPr lang="zh-CN" altLang="en-US" dirty="0">
                <a:solidFill>
                  <a:srgbClr val="000099"/>
                </a:solidFill>
                <a:latin typeface="黑体" panose="02010609060101010101" pitchFamily="49" charset="-122"/>
                <a:ea typeface="黑体" panose="02010609060101010101" pitchFamily="49" charset="-122"/>
                <a:cs typeface="Times New Roman" panose="02020603050405020304" pitchFamily="18" charset="0"/>
              </a:rPr>
              <a:t>为材料的对称循环弯曲疲劳极限</a:t>
            </a:r>
            <a:endParaRPr lang="zh-CN" altLang="en-US" dirty="0"/>
          </a:p>
        </p:txBody>
      </p:sp>
      <p:sp>
        <p:nvSpPr>
          <p:cNvPr id="6" name="矩形 5"/>
          <p:cNvSpPr/>
          <p:nvPr/>
        </p:nvSpPr>
        <p:spPr bwMode="auto">
          <a:xfrm>
            <a:off x="4502150" y="2103755"/>
            <a:ext cx="835025" cy="447675"/>
          </a:xfrm>
          <a:prstGeom prst="rect">
            <a:avLst/>
          </a:prstGeom>
          <a:noFill/>
          <a:ln w="19050" cap="flat" cmpd="sng" algn="ctr">
            <a:solidFill>
              <a:srgbClr val="FFC000"/>
            </a:solidFill>
            <a:prstDash val="solid"/>
            <a:round/>
            <a:headEnd type="none" w="med" len="med"/>
            <a:tailEnd type="none" w="med" len="med"/>
          </a:ln>
          <a:effectLst/>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23" name="矩形 22"/>
          <p:cNvSpPr>
            <a:spLocks noChangeArrowheads="1"/>
          </p:cNvSpPr>
          <p:nvPr/>
        </p:nvSpPr>
        <p:spPr bwMode="auto">
          <a:xfrm>
            <a:off x="4212235" y="2891460"/>
            <a:ext cx="1458000" cy="457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dirty="0">
                <a:solidFill>
                  <a:srgbClr val="EB6623"/>
                </a:solidFill>
                <a:latin typeface="黑体" panose="02010609060101010101" pitchFamily="49" charset="-122"/>
                <a:ea typeface="黑体" panose="02010609060101010101" pitchFamily="49" charset="-122"/>
              </a:rPr>
              <a:t>应力幅</a:t>
            </a:r>
            <a:endParaRPr lang="zh-CN" altLang="en-US" dirty="0">
              <a:solidFill>
                <a:srgbClr val="EB6623"/>
              </a:solidFill>
              <a:latin typeface="黑体" panose="02010609060101010101" pitchFamily="49" charset="-122"/>
              <a:ea typeface="黑体" panose="02010609060101010101" pitchFamily="49" charset="-122"/>
            </a:endParaRPr>
          </a:p>
        </p:txBody>
      </p:sp>
      <p:sp>
        <p:nvSpPr>
          <p:cNvPr id="24" name="矩形 23"/>
          <p:cNvSpPr>
            <a:spLocks noChangeArrowheads="1"/>
          </p:cNvSpPr>
          <p:nvPr/>
        </p:nvSpPr>
        <p:spPr bwMode="auto">
          <a:xfrm>
            <a:off x="2075815" y="3501390"/>
            <a:ext cx="6455410" cy="475615"/>
          </a:xfrm>
          <a:prstGeom prst="rect">
            <a:avLst/>
          </a:prstGeom>
          <a:noFill/>
          <a:ln>
            <a:solidFill>
              <a:srgbClr val="C00000"/>
            </a:solidFill>
          </a:ln>
          <a:extLst>
            <a:ext uri="{909E8E84-426E-40DD-AFC4-6F175D3DCCD1}">
              <a14:hiddenFill xmlns:a14="http://schemas.microsoft.com/office/drawing/2010/mai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14:hiddenFill>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latin typeface="黑体" panose="02010609060101010101" pitchFamily="49" charset="-122"/>
                <a:ea typeface="黑体" panose="02010609060101010101" pitchFamily="49" charset="-122"/>
              </a:rPr>
              <a:t>与原来作用的不对称循环变应力等效的对称循环变应力</a:t>
            </a:r>
            <a:r>
              <a:rPr lang="zh-CN" altLang="en-US" sz="2000" dirty="0">
                <a:latin typeface="黑体" panose="02010609060101010101" pitchFamily="49" charset="-122"/>
                <a:ea typeface="黑体" panose="02010609060101010101" pitchFamily="49" charset="-122"/>
              </a:rPr>
              <a:t>。</a:t>
            </a:r>
            <a:endParaRPr lang="zh-CN" altLang="en-US" sz="2000" dirty="0">
              <a:solidFill>
                <a:srgbClr val="000099"/>
              </a:solidFill>
              <a:latin typeface="黑体" panose="02010609060101010101" pitchFamily="49" charset="-122"/>
              <a:ea typeface="黑体" panose="02010609060101010101" pitchFamily="49" charset="-122"/>
            </a:endParaRPr>
          </a:p>
        </p:txBody>
      </p:sp>
      <p:cxnSp>
        <p:nvCxnSpPr>
          <p:cNvPr id="7" name="直接连接符 6"/>
          <p:cNvCxnSpPr/>
          <p:nvPr/>
        </p:nvCxnSpPr>
        <p:spPr bwMode="auto">
          <a:xfrm>
            <a:off x="4707000" y="2574000"/>
            <a:ext cx="1485000" cy="0"/>
          </a:xfrm>
          <a:prstGeom prst="line">
            <a:avLst/>
          </a:prstGeom>
          <a:noFill/>
          <a:ln w="28575" cap="flat" cmpd="sng" algn="ctr">
            <a:solidFill>
              <a:srgbClr val="FF0000"/>
            </a:solidFill>
            <a:prstDash val="solid"/>
            <a:round/>
            <a:headEnd type="none" w="med" len="med"/>
            <a:tailEnd type="none" w="med" len="med"/>
          </a:ln>
          <a:effectLst/>
        </p:spPr>
      </p:cxnSp>
      <p:cxnSp>
        <p:nvCxnSpPr>
          <p:cNvPr id="8" name="直接箭头连接符 7"/>
          <p:cNvCxnSpPr/>
          <p:nvPr/>
        </p:nvCxnSpPr>
        <p:spPr bwMode="auto">
          <a:xfrm flipV="1">
            <a:off x="5337000" y="1449000"/>
            <a:ext cx="90000" cy="315000"/>
          </a:xfrm>
          <a:prstGeom prst="straightConnector1">
            <a:avLst/>
          </a:prstGeom>
          <a:noFill/>
          <a:ln w="9525" cap="flat" cmpd="sng" algn="ctr">
            <a:solidFill>
              <a:srgbClr val="FF0000"/>
            </a:solidFill>
            <a:prstDash val="solid"/>
            <a:round/>
            <a:headEnd type="none" w="med" len="med"/>
            <a:tailEnd type="triangle"/>
          </a:ln>
          <a:effectLst/>
        </p:spPr>
      </p:cxnSp>
      <p:cxnSp>
        <p:nvCxnSpPr>
          <p:cNvPr id="10" name="直接箭头连接符 9"/>
          <p:cNvCxnSpPr/>
          <p:nvPr/>
        </p:nvCxnSpPr>
        <p:spPr bwMode="auto">
          <a:xfrm>
            <a:off x="5174730" y="2597200"/>
            <a:ext cx="124460" cy="579755"/>
          </a:xfrm>
          <a:prstGeom prst="straightConnector1">
            <a:avLst/>
          </a:prstGeom>
          <a:noFill/>
          <a:ln w="19050" cap="flat" cmpd="sng" algn="ctr">
            <a:solidFill>
              <a:srgbClr val="FFC000"/>
            </a:solidFill>
            <a:prstDash val="solid"/>
            <a:round/>
            <a:headEnd type="none" w="med" len="med"/>
            <a:tailEnd type="triangle"/>
          </a:ln>
          <a:effectLst/>
        </p:spPr>
      </p:cxnSp>
      <p:sp>
        <p:nvSpPr>
          <p:cNvPr id="11" name="文本框 10"/>
          <p:cNvSpPr txBox="1"/>
          <p:nvPr/>
        </p:nvSpPr>
        <p:spPr>
          <a:xfrm>
            <a:off x="1242000" y="4959000"/>
            <a:ext cx="2655000" cy="430887"/>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计算安全系数：</a:t>
            </a:r>
            <a:endParaRPr lang="zh-CN" altLang="en-US" dirty="0">
              <a:latin typeface="黑体" panose="02010609060101010101" pitchFamily="49" charset="-122"/>
              <a:ea typeface="黑体" panose="02010609060101010101" pitchFamily="49" charset="-122"/>
            </a:endParaRPr>
          </a:p>
        </p:txBody>
      </p:sp>
      <p:sp>
        <p:nvSpPr>
          <p:cNvPr id="9" name="文本框 8"/>
          <p:cNvSpPr txBox="1"/>
          <p:nvPr/>
        </p:nvSpPr>
        <p:spPr>
          <a:xfrm>
            <a:off x="6191885" y="4301490"/>
            <a:ext cx="2448560" cy="429895"/>
          </a:xfrm>
          <a:prstGeom prst="rect">
            <a:avLst/>
          </a:prstGeom>
          <a:solidFill>
            <a:schemeClr val="accent1">
              <a:lumMod val="20000"/>
              <a:lumOff val="80000"/>
            </a:schemeClr>
          </a:solidFill>
          <a:ln>
            <a:solidFill>
              <a:srgbClr val="C00000"/>
            </a:solidFill>
          </a:ln>
        </p:spPr>
        <p:txBody>
          <a:bodyPr wrap="square" rtlCol="0">
            <a:spAutoFit/>
          </a:bodyPr>
          <a:lstStyle/>
          <a:p>
            <a:r>
              <a:rPr lang="en-US" altLang="zh-CN" b="1">
                <a:solidFill>
                  <a:schemeClr val="accent4">
                    <a:lumMod val="75000"/>
                  </a:schemeClr>
                </a:solidFill>
              </a:rPr>
              <a:t>  </a:t>
            </a:r>
            <a:r>
              <a:rPr lang="zh-CN" altLang="en-US" b="1">
                <a:solidFill>
                  <a:schemeClr val="accent4">
                    <a:lumMod val="75000"/>
                  </a:schemeClr>
                </a:solidFill>
              </a:rPr>
              <a:t>应力的等效转化</a:t>
            </a:r>
            <a:endParaRPr lang="zh-CN" altLang="en-US" b="1">
              <a:solidFill>
                <a:schemeClr val="accent4">
                  <a:lumMod val="75000"/>
                </a:schemeClr>
              </a:solidFill>
            </a:endParaRPr>
          </a:p>
        </p:txBody>
      </p:sp>
      <p:cxnSp>
        <p:nvCxnSpPr>
          <p:cNvPr id="12" name="直接箭头连接符 11"/>
          <p:cNvCxnSpPr/>
          <p:nvPr/>
        </p:nvCxnSpPr>
        <p:spPr>
          <a:xfrm>
            <a:off x="5782945" y="2574290"/>
            <a:ext cx="568960" cy="869950"/>
          </a:xfrm>
          <a:prstGeom prst="straightConnector1">
            <a:avLst/>
          </a:prstGeom>
          <a:noFill/>
          <a:ln w="28575" cap="flat" cmpd="sng" algn="ctr">
            <a:solidFill>
              <a:srgbClr val="C00000"/>
            </a:solidFill>
            <a:prstDash val="solid"/>
            <a:round/>
            <a:headEnd type="none" w="med" len="med"/>
            <a:tailEnd type="arrow" w="med" len="med"/>
          </a:ln>
        </p:spPr>
      </p:cxnSp>
      <p:sp>
        <p:nvSpPr>
          <p:cNvPr id="13" name="文本框 12"/>
          <p:cNvSpPr txBox="1"/>
          <p:nvPr/>
        </p:nvSpPr>
        <p:spPr>
          <a:xfrm>
            <a:off x="887730" y="4383405"/>
            <a:ext cx="1188085" cy="429895"/>
          </a:xfrm>
          <a:prstGeom prst="rect">
            <a:avLst/>
          </a:prstGeom>
          <a:noFill/>
        </p:spPr>
        <p:txBody>
          <a:bodyPr wrap="square" rtlCol="0">
            <a:spAutoFit/>
          </a:bodyPr>
          <a:lstStyle/>
          <a:p>
            <a:r>
              <a:rPr lang="zh-CN" altLang="en-US">
                <a:solidFill>
                  <a:srgbClr val="C00000"/>
                </a:solidFill>
              </a:rPr>
              <a:t>应力幅</a:t>
            </a:r>
            <a:endParaRPr lang="zh-CN" altLang="en-US">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500"/>
                                        <p:tgtEl>
                                          <p:spTgt spid="6"/>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left)">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up)">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left)">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left)">
                                      <p:cBhvr>
                                        <p:cTn id="53" dur="500"/>
                                        <p:tgtEl>
                                          <p:spTgt spid="13"/>
                                        </p:tgtEl>
                                      </p:cBhvr>
                                    </p:animEffect>
                                  </p:childTnLst>
                                </p:cTn>
                              </p:par>
                            </p:childTnLst>
                          </p:cTn>
                        </p:par>
                        <p:par>
                          <p:cTn id="54" fill="hold">
                            <p:stCondLst>
                              <p:cond delay="500"/>
                            </p:stCondLst>
                            <p:childTnLst>
                              <p:par>
                                <p:cTn id="55" presetID="1" presetClass="entr" presetSubtype="0" fill="hold" nodeType="afterEffect">
                                  <p:stCondLst>
                                    <p:cond delay="0"/>
                                  </p:stCondLst>
                                  <p:childTnLst>
                                    <p:set>
                                      <p:cBhvr>
                                        <p:cTn id="56" dur="1" fill="hold">
                                          <p:stCondLst>
                                            <p:cond delay="0"/>
                                          </p:stCondLst>
                                        </p:cTn>
                                        <p:tgtEl>
                                          <p:spTgt spid="4915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wipe(left)">
                                      <p:cBhvr>
                                        <p:cTn id="61" dur="500"/>
                                        <p:tgtEl>
                                          <p:spTgt spid="11"/>
                                        </p:tgtEl>
                                      </p:cBhvr>
                                    </p:animEffect>
                                  </p:childTnLst>
                                </p:cTn>
                              </p:par>
                            </p:childTnLst>
                          </p:cTn>
                        </p:par>
                        <p:par>
                          <p:cTn id="62" fill="hold">
                            <p:stCondLst>
                              <p:cond delay="500"/>
                            </p:stCondLst>
                            <p:childTnLst>
                              <p:par>
                                <p:cTn id="63" presetID="1" presetClass="entr" presetSubtype="0" fill="hold" nodeType="afterEffect">
                                  <p:stCondLst>
                                    <p:cond delay="0"/>
                                  </p:stCondLst>
                                  <p:childTnLst>
                                    <p:set>
                                      <p:cBhvr>
                                        <p:cTn id="64" dur="1" fill="hold">
                                          <p:stCondLst>
                                            <p:cond delay="0"/>
                                          </p:stCondLst>
                                        </p:cTn>
                                        <p:tgtEl>
                                          <p:spTgt spid="143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bldLvl="0" animBg="1"/>
      <p:bldP spid="11" grpId="0"/>
      <p:bldP spid="7" grpId="0"/>
      <p:bldP spid="9" grpId="0" bldLvl="0" animBg="1"/>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4212000" y="234000"/>
            <a:ext cx="4859125" cy="490538"/>
          </a:xfrm>
          <a:ln>
            <a:miter lim="800000"/>
          </a:ln>
        </p:spPr>
        <p:txBody>
          <a:bodyPr vert="horz" wrap="square" lIns="91440" tIns="45720" rIns="91440" bIns="45720" numCol="1" anchor="t" anchorCtr="0" compatLnSpc="1"/>
          <a:lstStyle/>
          <a:p>
            <a:pPr eaLnBrk="1" hangingPunct="1">
              <a:defRPr/>
            </a:pPr>
            <a:r>
              <a:rPr lang="zh-CN" altLang="en-US" sz="2400" kern="1200" dirty="0">
                <a:solidFill>
                  <a:srgbClr val="CC3300"/>
                </a:solidFill>
                <a:latin typeface="黑体" panose="02010609060101010101" pitchFamily="49" charset="-122"/>
                <a:ea typeface="黑体" panose="02010609060101010101" pitchFamily="49" charset="-122"/>
                <a:cs typeface="+mn-cs"/>
              </a:rPr>
              <a:t>单向稳定变应力时的疲劳强度计算</a:t>
            </a:r>
            <a:endParaRPr lang="zh-CN" altLang="en-US" sz="2400" kern="1200" dirty="0">
              <a:solidFill>
                <a:srgbClr val="CC3300"/>
              </a:solidFill>
              <a:latin typeface="黑体" panose="02010609060101010101" pitchFamily="49" charset="-122"/>
              <a:ea typeface="黑体" panose="02010609060101010101" pitchFamily="49" charset="-122"/>
              <a:cs typeface="+mn-cs"/>
            </a:endParaRPr>
          </a:p>
        </p:txBody>
      </p:sp>
      <p:sp>
        <p:nvSpPr>
          <p:cNvPr id="13317" name="矩形 8"/>
          <p:cNvSpPr>
            <a:spLocks noChangeArrowheads="1"/>
          </p:cNvSpPr>
          <p:nvPr/>
        </p:nvSpPr>
        <p:spPr bwMode="auto">
          <a:xfrm>
            <a:off x="342000" y="279000"/>
            <a:ext cx="2684145" cy="398780"/>
          </a:xfrm>
          <a:prstGeom prst="rect">
            <a:avLst/>
          </a:prstGeom>
          <a:solidFill>
            <a:srgbClr val="FFFF00"/>
          </a:solidFill>
          <a:ln>
            <a:noFill/>
          </a:ln>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dirty="0">
                <a:solidFill>
                  <a:srgbClr val="000099"/>
                </a:solidFill>
              </a:rPr>
              <a:t>5.</a:t>
            </a:r>
            <a:r>
              <a:rPr lang="zh-CN" altLang="en-US" sz="2000" dirty="0">
                <a:solidFill>
                  <a:srgbClr val="000099"/>
                </a:solidFill>
              </a:rPr>
              <a:t>按有限疲劳寿命设计</a:t>
            </a:r>
            <a:endParaRPr lang="zh-CN" altLang="en-US" sz="2000" dirty="0">
              <a:solidFill>
                <a:srgbClr val="000099"/>
              </a:solidFill>
            </a:endParaRPr>
          </a:p>
        </p:txBody>
      </p:sp>
      <p:sp>
        <p:nvSpPr>
          <p:cNvPr id="13318" name="Rectangle 10"/>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19" name="Rectangle 11"/>
          <p:cNvSpPr>
            <a:spLocks noChangeArrowheads="1"/>
          </p:cNvSpPr>
          <p:nvPr/>
        </p:nvSpPr>
        <p:spPr bwMode="auto">
          <a:xfrm>
            <a:off x="0" y="828675"/>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22" name="Rectangle 18"/>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24" name="Rectangle 20"/>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25" name="Rectangle 7"/>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27" name="Rectangle 6"/>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6" name="文本框 5"/>
          <p:cNvSpPr txBox="1"/>
          <p:nvPr/>
        </p:nvSpPr>
        <p:spPr>
          <a:xfrm>
            <a:off x="1553845" y="4446270"/>
            <a:ext cx="4424045" cy="460375"/>
          </a:xfrm>
          <a:prstGeom prst="rect">
            <a:avLst/>
          </a:prstGeom>
          <a:solidFill>
            <a:srgbClr val="92D050"/>
          </a:solidFill>
          <a:effectLst>
            <a:outerShdw blurRad="50800" dist="38100" dir="18900000" algn="bl" rotWithShape="0">
              <a:prstClr val="black">
                <a:alpha val="40000"/>
              </a:prstClr>
            </a:outerShdw>
          </a:effectLst>
        </p:spPr>
        <p:txBody>
          <a:bodyPr wrap="square" rtlCol="0">
            <a:spAutoFit/>
          </a:bodyPr>
          <a:lstStyle/>
          <a:p>
            <a:r>
              <a:rPr lang="zh-CN" altLang="en-US" sz="2400">
                <a:latin typeface="黑体" panose="02010609060101010101" pitchFamily="49" charset="-122"/>
                <a:ea typeface="黑体" panose="02010609060101010101" pitchFamily="49" charset="-122"/>
                <a:cs typeface="黑体" panose="02010609060101010101" pitchFamily="49" charset="-122"/>
              </a:rPr>
              <a:t>许用安全系数 见</a:t>
            </a:r>
            <a:r>
              <a:rPr lang="en-US" altLang="zh-CN" sz="2400">
                <a:latin typeface="黑体" panose="02010609060101010101" pitchFamily="49" charset="-122"/>
                <a:ea typeface="黑体" panose="02010609060101010101" pitchFamily="49" charset="-122"/>
                <a:cs typeface="黑体" panose="02010609060101010101" pitchFamily="49" charset="-122"/>
              </a:rPr>
              <a:t>P31 </a:t>
            </a:r>
            <a:r>
              <a:rPr lang="zh-CN" altLang="en-US" sz="2400">
                <a:latin typeface="黑体" panose="02010609060101010101" pitchFamily="49" charset="-122"/>
                <a:ea typeface="黑体" panose="02010609060101010101" pitchFamily="49" charset="-122"/>
                <a:cs typeface="黑体" panose="02010609060101010101" pitchFamily="49" charset="-122"/>
              </a:rPr>
              <a:t>表</a:t>
            </a:r>
            <a:r>
              <a:rPr lang="en-US" altLang="zh-CN" sz="2400">
                <a:latin typeface="黑体" panose="02010609060101010101" pitchFamily="49" charset="-122"/>
                <a:ea typeface="黑体" panose="02010609060101010101" pitchFamily="49" charset="-122"/>
                <a:cs typeface="黑体" panose="02010609060101010101" pitchFamily="49" charset="-122"/>
              </a:rPr>
              <a:t>1.3-1</a:t>
            </a:r>
            <a:endParaRPr lang="en-US" altLang="zh-CN" sz="2400">
              <a:latin typeface="黑体" panose="02010609060101010101" pitchFamily="49" charset="-122"/>
              <a:ea typeface="黑体" panose="02010609060101010101" pitchFamily="49" charset="-122"/>
              <a:cs typeface="黑体" panose="02010609060101010101" pitchFamily="49" charset="-122"/>
            </a:endParaRPr>
          </a:p>
        </p:txBody>
      </p:sp>
      <p:sp>
        <p:nvSpPr>
          <p:cNvPr id="4" name="文本框 3"/>
          <p:cNvSpPr txBox="1"/>
          <p:nvPr/>
        </p:nvSpPr>
        <p:spPr>
          <a:xfrm>
            <a:off x="723265" y="1085850"/>
            <a:ext cx="8124825" cy="1198880"/>
          </a:xfrm>
          <a:prstGeom prst="rect">
            <a:avLst/>
          </a:prstGeom>
          <a:noFill/>
        </p:spPr>
        <p:txBody>
          <a:bodyPr wrap="square" rtlCol="0">
            <a:spAutoFit/>
          </a:bodyPr>
          <a:lstStyle/>
          <a:p>
            <a:pPr eaLnBrk="1" latinLnBrk="0" hangingPunct="1">
              <a:lnSpc>
                <a:spcPct val="150000"/>
              </a:lnSpc>
            </a:pPr>
            <a:r>
              <a:rPr lang="en-US" altLang="zh-CN" sz="2400"/>
              <a:t>     </a:t>
            </a:r>
            <a:r>
              <a:rPr lang="zh-CN" altLang="en-US" sz="2400"/>
              <a:t>零件应力循环次数在</a:t>
            </a:r>
            <a:r>
              <a:rPr lang="en-US" altLang="zh-CN" sz="2400"/>
              <a:t>10</a:t>
            </a:r>
            <a:r>
              <a:rPr lang="en-US" altLang="zh-CN" sz="2400" baseline="30000"/>
              <a:t>4</a:t>
            </a:r>
            <a:r>
              <a:rPr lang="en-US" altLang="zh-CN" sz="2400"/>
              <a:t>&lt;N&lt;N</a:t>
            </a:r>
            <a:r>
              <a:rPr lang="en-US" altLang="zh-CN" sz="2400" baseline="-25000"/>
              <a:t>0</a:t>
            </a:r>
            <a:r>
              <a:rPr lang="zh-CN" altLang="en-US" sz="2400"/>
              <a:t>时，应当以有限寿命疲劳极限</a:t>
            </a:r>
            <a:r>
              <a:rPr lang="zh-CN" altLang="en-US" sz="2400">
                <a:solidFill>
                  <a:srgbClr val="FF0000"/>
                </a:solidFill>
                <a:sym typeface="Symbol" panose="05050102010706020507" charset="0"/>
              </a:rPr>
              <a:t></a:t>
            </a:r>
            <a:r>
              <a:rPr lang="en-US" altLang="zh-CN" sz="2400" baseline="-25000">
                <a:solidFill>
                  <a:srgbClr val="FF0000"/>
                </a:solidFill>
                <a:sym typeface="Symbol" panose="05050102010706020507" charset="0"/>
              </a:rPr>
              <a:t>rN </a:t>
            </a:r>
            <a:r>
              <a:rPr lang="zh-CN" altLang="en-US" sz="2400"/>
              <a:t>代替 无限寿命疲劳极限 </a:t>
            </a:r>
            <a:r>
              <a:rPr lang="zh-CN" altLang="en-US" sz="2400">
                <a:solidFill>
                  <a:srgbClr val="FF0000"/>
                </a:solidFill>
                <a:sym typeface="Symbol" panose="05050102010706020507" charset="0"/>
              </a:rPr>
              <a:t></a:t>
            </a:r>
            <a:r>
              <a:rPr lang="en-US" altLang="zh-CN" sz="2400" baseline="-25000">
                <a:solidFill>
                  <a:srgbClr val="FF0000"/>
                </a:solidFill>
                <a:sym typeface="Symbol" panose="05050102010706020507" charset="0"/>
              </a:rPr>
              <a:t>r</a:t>
            </a:r>
            <a:r>
              <a:rPr lang="zh-CN" altLang="en-US" sz="2400"/>
              <a:t>：</a:t>
            </a:r>
            <a:endParaRPr lang="zh-CN" altLang="en-US" sz="2400"/>
          </a:p>
        </p:txBody>
      </p:sp>
      <p:graphicFrame>
        <p:nvGraphicFramePr>
          <p:cNvPr id="14353" name="Object 17"/>
          <p:cNvGraphicFramePr>
            <a:graphicFrameLocks noChangeAspect="1"/>
          </p:cNvGraphicFramePr>
          <p:nvPr/>
        </p:nvGraphicFramePr>
        <p:xfrm>
          <a:off x="1933575" y="2548890"/>
          <a:ext cx="5276850" cy="1066800"/>
        </p:xfrm>
        <a:graphic>
          <a:graphicData uri="http://schemas.openxmlformats.org/presentationml/2006/ole">
            <mc:AlternateContent xmlns:mc="http://schemas.openxmlformats.org/markup-compatibility/2006">
              <mc:Choice xmlns:v="urn:schemas-microsoft-com:vml" Requires="v">
                <p:oleObj spid="_x0000_s2" name="公式" r:id="rId1" imgW="2565400" imgH="431800" progId="Equation.3">
                  <p:embed/>
                </p:oleObj>
              </mc:Choice>
              <mc:Fallback>
                <p:oleObj name="公式" r:id="rId1" imgW="2565400" imgH="431800" progId="Equation.3">
                  <p:embed/>
                  <p:pic>
                    <p:nvPicPr>
                      <p:cNvPr id="0" name="Picture 66"/>
                      <p:cNvPicPr>
                        <a:picLocks noChangeAspect="1" noChangeArrowheads="1"/>
                      </p:cNvPicPr>
                      <p:nvPr/>
                    </p:nvPicPr>
                    <p:blipFill>
                      <a:blip r:embed="rId2"/>
                      <a:srcRect/>
                      <a:stretch>
                        <a:fillRect/>
                      </a:stretch>
                    </p:blipFill>
                    <p:spPr bwMode="auto">
                      <a:xfrm>
                        <a:off x="1933575" y="2548890"/>
                        <a:ext cx="5276850" cy="1066800"/>
                      </a:xfrm>
                      <a:prstGeom prst="rect">
                        <a:avLst/>
                      </a:prstGeom>
                      <a:noFill/>
                      <a:ln w="19050">
                        <a:solidFill>
                          <a:srgbClr val="FFC000"/>
                        </a:solid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type="title"/>
          </p:nvPr>
        </p:nvSpPr>
        <p:spPr>
          <a:xfrm>
            <a:off x="7235825" y="836613"/>
            <a:ext cx="1450975" cy="220662"/>
          </a:xfrm>
          <a:noFill/>
          <a:ln>
            <a:noFill/>
          </a:ln>
        </p:spPr>
        <p:txBody>
          <a:bodyPr anchor="t"/>
          <a:lstStyle/>
          <a:p>
            <a:pPr eaLnBrk="1" hangingPunct="1"/>
            <a:r>
              <a:rPr lang="zh-CN" altLang="en-US" sz="800" dirty="0">
                <a:solidFill>
                  <a:schemeClr val="bg1"/>
                </a:solidFill>
                <a:latin typeface="华文新魏" panose="02010800040101010101" pitchFamily="2" charset="-122"/>
                <a:ea typeface="华文新魏" panose="02010800040101010101" pitchFamily="2" charset="-122"/>
              </a:rPr>
              <a:t>机械零件的疲劳强度计算</a:t>
            </a:r>
            <a:r>
              <a:rPr lang="en-US" altLang="zh-CN" sz="800" dirty="0">
                <a:solidFill>
                  <a:schemeClr val="bg1"/>
                </a:solidFill>
                <a:latin typeface="华文新魏" panose="02010800040101010101" pitchFamily="2" charset="-122"/>
                <a:ea typeface="华文新魏" panose="02010800040101010101" pitchFamily="2" charset="-122"/>
              </a:rPr>
              <a:t>2</a:t>
            </a:r>
            <a:endParaRPr lang="en-US" altLang="zh-CN" sz="800" dirty="0">
              <a:solidFill>
                <a:schemeClr val="bg1"/>
              </a:solidFill>
              <a:latin typeface="华文新魏" panose="02010800040101010101" pitchFamily="2" charset="-122"/>
              <a:ea typeface="华文新魏" panose="02010800040101010101" pitchFamily="2" charset="-122"/>
            </a:endParaRPr>
          </a:p>
        </p:txBody>
      </p:sp>
      <p:sp>
        <p:nvSpPr>
          <p:cNvPr id="22530" name="Rectangle 3"/>
          <p:cNvSpPr/>
          <p:nvPr/>
        </p:nvSpPr>
        <p:spPr>
          <a:xfrm>
            <a:off x="3581400" y="76200"/>
            <a:ext cx="4730750" cy="762000"/>
          </a:xfrm>
          <a:prstGeom prst="rect">
            <a:avLst/>
          </a:prstGeom>
          <a:noFill/>
          <a:ln w="9525">
            <a:noFill/>
          </a:ln>
        </p:spPr>
        <p:txBody>
          <a:bodyPr tIns="18000" anchor="ctr" anchorCtr="1"/>
          <a:lstStyle/>
          <a:p>
            <a:r>
              <a:rPr lang="zh-CN" altLang="en-US" sz="3000" dirty="0">
                <a:solidFill>
                  <a:srgbClr val="CC3300"/>
                </a:solidFill>
                <a:latin typeface="黑体" panose="02010609060101010101" pitchFamily="49" charset="-122"/>
                <a:ea typeface="黑体" panose="02010609060101010101" pitchFamily="49" charset="-122"/>
              </a:rPr>
              <a:t>零件的疲劳强度计算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8612" name="Rectangle 4"/>
          <p:cNvSpPr/>
          <p:nvPr/>
        </p:nvSpPr>
        <p:spPr>
          <a:xfrm>
            <a:off x="246063" y="739775"/>
            <a:ext cx="4502150" cy="460375"/>
          </a:xfrm>
          <a:prstGeom prst="rect">
            <a:avLst/>
          </a:prstGeom>
          <a:noFill/>
          <a:ln w="9525">
            <a:noFill/>
          </a:ln>
        </p:spPr>
        <p:txBody>
          <a:bodyPr anchor="t">
            <a:spAutoFit/>
          </a:bodyPr>
          <a:lstStyle/>
          <a:p>
            <a:pPr>
              <a:lnSpc>
                <a:spcPct val="120000"/>
              </a:lnSpc>
              <a:spcBef>
                <a:spcPct val="20000"/>
              </a:spcBef>
              <a:buClr>
                <a:schemeClr val="hlink"/>
              </a:buClr>
              <a:buSzPct val="110000"/>
              <a:buFont typeface="Wingdings" panose="05000000000000000000" pitchFamily="2" charset="2"/>
            </a:pPr>
            <a:r>
              <a:rPr lang="zh-CN" altLang="en-US" sz="2000" dirty="0">
                <a:solidFill>
                  <a:srgbClr val="000099"/>
                </a:solidFill>
                <a:latin typeface="Tahoma" panose="020B0604030504040204" pitchFamily="34" charset="0"/>
                <a:ea typeface="华文中宋" panose="02010600040101010101" pitchFamily="2" charset="-122"/>
              </a:rPr>
              <a:t>   </a:t>
            </a:r>
            <a:endParaRPr lang="zh-CN" altLang="en-US" sz="2000" dirty="0">
              <a:solidFill>
                <a:srgbClr val="FF0000"/>
              </a:solidFill>
              <a:latin typeface="Tahoma" panose="020B0604030504040204" pitchFamily="34" charset="0"/>
              <a:ea typeface="华文中宋" panose="02010600040101010101" pitchFamily="2" charset="-122"/>
            </a:endParaRPr>
          </a:p>
        </p:txBody>
      </p:sp>
      <p:sp>
        <p:nvSpPr>
          <p:cNvPr id="22532" name="Rectangle 14"/>
          <p:cNvSpPr/>
          <p:nvPr/>
        </p:nvSpPr>
        <p:spPr>
          <a:xfrm>
            <a:off x="130175" y="4164013"/>
            <a:ext cx="8763000" cy="431800"/>
          </a:xfrm>
          <a:prstGeom prst="rect">
            <a:avLst/>
          </a:prstGeom>
          <a:noFill/>
          <a:ln w="9525">
            <a:noFill/>
          </a:ln>
        </p:spPr>
        <p:txBody>
          <a:bodyPr lIns="90000" tIns="46800" rIns="90000" bIns="46800" anchor="t">
            <a:spAutoFit/>
          </a:bodyPr>
          <a:lstStyle/>
          <a:p>
            <a:pPr>
              <a:lnSpc>
                <a:spcPct val="120000"/>
              </a:lnSpc>
            </a:pPr>
            <a:r>
              <a:rPr lang="en-US" altLang="zh-CN" sz="2000" dirty="0">
                <a:solidFill>
                  <a:srgbClr val="000099"/>
                </a:solidFill>
                <a:latin typeface="Times New Roman" panose="02020603050405020304" pitchFamily="18" charset="0"/>
                <a:ea typeface="华文中宋" panose="02010600040101010101" pitchFamily="2" charset="-122"/>
              </a:rPr>
              <a:t>        </a:t>
            </a:r>
            <a:endParaRPr lang="zh-CN" altLang="en-US" sz="2000" dirty="0">
              <a:solidFill>
                <a:srgbClr val="000099"/>
              </a:solidFill>
              <a:latin typeface="Times New Roman" panose="02020603050405020304" pitchFamily="18" charset="0"/>
              <a:ea typeface="华文中宋" panose="02010600040101010101" pitchFamily="2" charset="-122"/>
            </a:endParaRPr>
          </a:p>
        </p:txBody>
      </p:sp>
      <p:sp>
        <p:nvSpPr>
          <p:cNvPr id="22533" name="Text Box 33"/>
          <p:cNvSpPr txBox="1"/>
          <p:nvPr/>
        </p:nvSpPr>
        <p:spPr>
          <a:xfrm>
            <a:off x="7377113" y="6162675"/>
            <a:ext cx="460375" cy="427038"/>
          </a:xfrm>
          <a:prstGeom prst="rect">
            <a:avLst/>
          </a:prstGeom>
          <a:noFill/>
          <a:ln w="9525">
            <a:noFill/>
          </a:ln>
        </p:spPr>
        <p:txBody>
          <a:bodyPr wrap="none" lIns="90000" tIns="46800" rIns="90000" bIns="46800" anchor="t">
            <a:spAutoFit/>
          </a:bodyPr>
          <a:lstStyle/>
          <a:p>
            <a:r>
              <a:rPr lang="zh-CN" altLang="en-US" dirty="0">
                <a:latin typeface="Tahoma" panose="020B0604030504040204" pitchFamily="34" charset="0"/>
                <a:ea typeface="华文中宋" panose="02010600040101010101" pitchFamily="2" charset="-122"/>
              </a:rPr>
              <a:t>　</a:t>
            </a:r>
            <a:endParaRPr lang="zh-CN" altLang="en-US" dirty="0">
              <a:latin typeface="Tahoma" panose="020B0604030504040204" pitchFamily="34" charset="0"/>
              <a:ea typeface="华文中宋" panose="02010600040101010101" pitchFamily="2" charset="-122"/>
            </a:endParaRPr>
          </a:p>
        </p:txBody>
      </p:sp>
      <p:pic>
        <p:nvPicPr>
          <p:cNvPr id="68642" name="Picture 34"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68643" name="Picture 35"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68644" name="Picture 36"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2" name="文本框 1"/>
          <p:cNvSpPr txBox="1">
            <a:spLocks noRot="1" noChangeAspect="1" noMove="1" noResize="1" noEditPoints="1" noAdjustHandles="1" noChangeArrowheads="1" noChangeShapeType="1" noTextEdit="1"/>
          </p:cNvSpPr>
          <p:nvPr/>
        </p:nvSpPr>
        <p:spPr>
          <a:xfrm>
            <a:off x="342265" y="1718945"/>
            <a:ext cx="8443595" cy="1238250"/>
          </a:xfrm>
          <a:prstGeom prst="rect">
            <a:avLst/>
          </a:prstGeom>
          <a:blipFill>
            <a:blip r:embed="rId5"/>
            <a:stretch>
              <a:fillRect l="-785" t="-1070" r="-863" b="-8556"/>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4" name="文本框 3"/>
          <p:cNvSpPr txBox="1">
            <a:spLocks noRot="1" noChangeAspect="1" noEditPoints="1" noTextEdit="1"/>
          </p:cNvSpPr>
          <p:nvPr/>
        </p:nvSpPr>
        <p:spPr>
          <a:xfrm>
            <a:off x="1217930" y="3325495"/>
            <a:ext cx="7115175" cy="854075"/>
          </a:xfrm>
          <a:prstGeom prst="rect">
            <a:avLst/>
          </a:prstGeom>
          <a:blipFill rotWithShape="1">
            <a:blip r:embed="rId6"/>
            <a:stretch>
              <a:fillRect/>
            </a:stretch>
          </a:blipFill>
          <a:ln w="9525">
            <a:noFill/>
          </a:ln>
        </p:spPr>
        <p:txBody>
          <a:bodyPr anchor="t"/>
          <a:lstStyle/>
          <a:p>
            <a:pPr eaLnBrk="0" hangingPunct="0"/>
            <a:endParaRPr>
              <a:latin typeface="Tahoma" panose="020B0604030504040204" pitchFamily="34" charset="0"/>
              <a:ea typeface="华文中宋" panose="02010600040101010101" pitchFamily="2" charset="-122"/>
            </a:endParaRPr>
          </a:p>
        </p:txBody>
      </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文本框 2"/>
          <p:cNvSpPr txBox="1"/>
          <p:nvPr/>
        </p:nvSpPr>
        <p:spPr>
          <a:xfrm>
            <a:off x="567055" y="863600"/>
            <a:ext cx="1948815" cy="534035"/>
          </a:xfrm>
          <a:prstGeom prst="rect">
            <a:avLst/>
          </a:prstGeom>
          <a:noFill/>
        </p:spPr>
        <p:txBody>
          <a:bodyPr wrap="square" rtlCol="0">
            <a:spAutoFit/>
          </a:bodyPr>
          <a:lstStyle/>
          <a:p>
            <a:pPr algn="l">
              <a:lnSpc>
                <a:spcPct val="120000"/>
              </a:lnSpc>
              <a:spcBef>
                <a:spcPct val="20000"/>
              </a:spcBef>
              <a:buClr>
                <a:schemeClr val="hlink"/>
              </a:buClr>
              <a:buSzPct val="110000"/>
              <a:buFont typeface="Wingdings" panose="05000000000000000000" pitchFamily="2" charset="2"/>
            </a:pPr>
            <a:r>
              <a:rPr lang="zh-CN" altLang="en-US" sz="2000" dirty="0">
                <a:solidFill>
                  <a:srgbClr val="FF0000"/>
                </a:solidFill>
                <a:sym typeface="+mn-ea"/>
              </a:rPr>
              <a:t> </a:t>
            </a:r>
            <a:r>
              <a:rPr lang="en-US" altLang="zh-CN" sz="2400" dirty="0">
                <a:solidFill>
                  <a:srgbClr val="FF0000"/>
                </a:solidFill>
                <a:sym typeface="+mn-ea"/>
              </a:rPr>
              <a:t>6. </a:t>
            </a:r>
            <a:r>
              <a:rPr lang="zh-CN" altLang="en-US" sz="2400" dirty="0">
                <a:solidFill>
                  <a:srgbClr val="FF0000"/>
                </a:solidFill>
                <a:sym typeface="+mn-ea"/>
              </a:rPr>
              <a:t>特别注意</a:t>
            </a:r>
            <a:endParaRPr lang="zh-CN" altLang="en-US" sz="2400" dirty="0">
              <a:solidFill>
                <a:srgbClr val="FF0000"/>
              </a:solidFill>
              <a:latin typeface="Tahoma" panose="020B0604030504040204" pitchFamily="34" charset="0"/>
              <a:ea typeface="华文中宋" panose="0201060004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left)">
                                      <p:cBhvr>
                                        <p:cTn id="7" dur="500"/>
                                        <p:tgtEl>
                                          <p:spTgt spid="68612"/>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68644"/>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499"/>
                                          </p:stCondLst>
                                        </p:cTn>
                                        <p:tgtEl>
                                          <p:spTgt spid="68643"/>
                                        </p:tgtEl>
                                        <p:attrNameLst>
                                          <p:attrName>style.visibility</p:attrName>
                                        </p:attrNameLst>
                                      </p:cBhvr>
                                      <p:to>
                                        <p:strVal val="visible"/>
                                      </p:to>
                                    </p:set>
                                  </p:childTnLst>
                                </p:cTn>
                              </p:par>
                            </p:childTnLst>
                          </p:cTn>
                        </p:par>
                        <p:par>
                          <p:cTn id="14" fill="hold">
                            <p:stCondLst>
                              <p:cond delay="1500"/>
                            </p:stCondLst>
                            <p:childTnLst>
                              <p:par>
                                <p:cTn id="15" presetID="2" presetClass="entr" presetSubtype="8" fill="hold" nodeType="afterEffect">
                                  <p:stCondLst>
                                    <p:cond delay="0"/>
                                  </p:stCondLst>
                                  <p:childTnLst>
                                    <p:set>
                                      <p:cBhvr>
                                        <p:cTn id="16" dur="1" fill="hold">
                                          <p:stCondLst>
                                            <p:cond delay="0"/>
                                          </p:stCondLst>
                                        </p:cTn>
                                        <p:tgtEl>
                                          <p:spTgt spid="68642"/>
                                        </p:tgtEl>
                                        <p:attrNameLst>
                                          <p:attrName>style.visibility</p:attrName>
                                        </p:attrNameLst>
                                      </p:cBhvr>
                                      <p:to>
                                        <p:strVal val="visible"/>
                                      </p:to>
                                    </p:set>
                                    <p:anim calcmode="lin" valueType="num">
                                      <p:cBhvr additive="base">
                                        <p:cTn id="17" dur="500" fill="hold"/>
                                        <p:tgtEl>
                                          <p:spTgt spid="68642"/>
                                        </p:tgtEl>
                                        <p:attrNameLst>
                                          <p:attrName>ppt_x</p:attrName>
                                        </p:attrNameLst>
                                      </p:cBhvr>
                                      <p:tavLst>
                                        <p:tav tm="0">
                                          <p:val>
                                            <p:strVal val="0-#ppt_w/2"/>
                                          </p:val>
                                        </p:tav>
                                        <p:tav tm="100000">
                                          <p:val>
                                            <p:strVal val="#ppt_x"/>
                                          </p:val>
                                        </p:tav>
                                      </p:tavLst>
                                    </p:anim>
                                    <p:anim calcmode="lin" valueType="num">
                                      <p:cBhvr additive="base">
                                        <p:cTn id="18" dur="500" fill="hold"/>
                                        <p:tgtEl>
                                          <p:spTgt spid="6864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a:spLocks noRot="1" noChangeAspect="1" noMove="1" noResize="1" noEditPoints="1" noAdjustHandles="1" noChangeArrowheads="1" noChangeShapeType="1" noTextEdit="1"/>
          </p:cNvSpPr>
          <p:nvPr/>
        </p:nvSpPr>
        <p:spPr>
          <a:xfrm>
            <a:off x="324485" y="1282700"/>
            <a:ext cx="8583930" cy="3444875"/>
          </a:xfrm>
          <a:prstGeom prst="rect">
            <a:avLst/>
          </a:prstGeom>
          <a:blipFill>
            <a:blip r:embed="rId1"/>
            <a:stretch>
              <a:fillRect l="-762" b="-2519"/>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4" name="文本框 3"/>
          <p:cNvSpPr txBox="1"/>
          <p:nvPr/>
        </p:nvSpPr>
        <p:spPr>
          <a:xfrm>
            <a:off x="387000" y="278620"/>
            <a:ext cx="1530000" cy="429895"/>
          </a:xfrm>
          <a:prstGeom prst="rect">
            <a:avLst/>
          </a:prstGeom>
          <a:noFill/>
        </p:spPr>
        <p:txBody>
          <a:bodyPr wrap="square" rtlCol="0">
            <a:spAutoFit/>
          </a:bodyPr>
          <a:lstStyle/>
          <a:p>
            <a:r>
              <a:rPr lang="zh-CN" altLang="en-US" dirty="0">
                <a:solidFill>
                  <a:srgbClr val="FF0000"/>
                </a:solidFill>
              </a:rPr>
              <a:t>教材</a:t>
            </a:r>
            <a:r>
              <a:rPr lang="en-US" altLang="zh-CN" dirty="0">
                <a:solidFill>
                  <a:srgbClr val="FF0000"/>
                </a:solidFill>
              </a:rPr>
              <a:t>P31</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701830" y="1546320"/>
            <a:ext cx="900000" cy="430887"/>
          </a:xfrm>
          <a:prstGeom prst="rect">
            <a:avLst/>
          </a:prstGeom>
          <a:noFill/>
        </p:spPr>
        <p:txBody>
          <a:bodyPr wrap="square" rtlCol="0">
            <a:spAutoFit/>
          </a:bodyPr>
          <a:lstStyle/>
          <a:p>
            <a:r>
              <a:rPr lang="zh-CN" altLang="en-US" dirty="0"/>
              <a:t>解：</a:t>
            </a:r>
            <a:endParaRPr lang="zh-CN" altLang="en-US" dirty="0"/>
          </a:p>
        </p:txBody>
      </p:sp>
      <p:sp>
        <p:nvSpPr>
          <p:cNvPr id="2" name="文本框 1"/>
          <p:cNvSpPr txBox="1"/>
          <p:nvPr/>
        </p:nvSpPr>
        <p:spPr>
          <a:xfrm>
            <a:off x="882015" y="593725"/>
            <a:ext cx="4753610" cy="460375"/>
          </a:xfrm>
          <a:prstGeom prst="rect">
            <a:avLst/>
          </a:prstGeom>
          <a:noFill/>
        </p:spPr>
        <p:txBody>
          <a:bodyPr wrap="square" rtlCol="0">
            <a:spAutoFit/>
          </a:bodyPr>
          <a:lstStyle/>
          <a:p>
            <a:r>
              <a:rPr lang="zh-CN" altLang="en-US" sz="2400">
                <a:solidFill>
                  <a:srgbClr val="0000FF"/>
                </a:solidFill>
                <a:latin typeface="黑体" panose="02010609060101010101" pitchFamily="49" charset="-122"/>
                <a:ea typeface="黑体" panose="02010609060101010101" pitchFamily="49" charset="-122"/>
                <a:cs typeface="黑体" panose="02010609060101010101" pitchFamily="49" charset="-122"/>
              </a:rPr>
              <a:t>例题</a:t>
            </a:r>
            <a:r>
              <a:rPr lang="en-US" altLang="zh-CN" sz="2400">
                <a:solidFill>
                  <a:srgbClr val="0000FF"/>
                </a:solidFill>
                <a:latin typeface="黑体" panose="02010609060101010101" pitchFamily="49" charset="-122"/>
                <a:ea typeface="黑体" panose="02010609060101010101" pitchFamily="49" charset="-122"/>
                <a:cs typeface="黑体" panose="02010609060101010101" pitchFamily="49" charset="-122"/>
              </a:rPr>
              <a:t>1.3-1</a:t>
            </a:r>
            <a:endParaRPr lang="en-US" altLang="zh-CN" sz="2400">
              <a:solidFill>
                <a:srgbClr val="0000FF"/>
              </a:solidFill>
              <a:latin typeface="黑体" panose="02010609060101010101" pitchFamily="49" charset="-122"/>
              <a:ea typeface="黑体" panose="02010609060101010101" pitchFamily="49" charset="-122"/>
              <a:cs typeface="黑体" panose="02010609060101010101" pitchFamily="49" charset="-122"/>
            </a:endParaRPr>
          </a:p>
        </p:txBody>
      </p:sp>
      <p:sp>
        <p:nvSpPr>
          <p:cNvPr id="11" name="文本框 10"/>
          <p:cNvSpPr txBox="1"/>
          <p:nvPr/>
        </p:nvSpPr>
        <p:spPr>
          <a:xfrm>
            <a:off x="1492885" y="1546225"/>
            <a:ext cx="7242810" cy="429895"/>
          </a:xfrm>
          <a:prstGeom prst="rect">
            <a:avLst/>
          </a:prstGeom>
          <a:noFill/>
        </p:spPr>
        <p:txBody>
          <a:bodyPr wrap="square" rtlCol="0">
            <a:spAutoFit/>
          </a:bodyPr>
          <a:lstStyle/>
          <a:p>
            <a:r>
              <a:rPr lang="en-US" altLang="zh-CN"/>
              <a:t>1</a:t>
            </a:r>
            <a:r>
              <a:rPr lang="zh-CN" altLang="en-US"/>
              <a:t>、根据已知条件计算材料</a:t>
            </a:r>
            <a:r>
              <a:rPr lang="zh-CN" altLang="en-US"/>
              <a:t>的应力比、应力幅、平均应力；</a:t>
            </a:r>
            <a:endParaRPr lang="zh-CN" altLang="en-US"/>
          </a:p>
        </p:txBody>
      </p:sp>
      <p:sp>
        <p:nvSpPr>
          <p:cNvPr id="12" name="文本框 11"/>
          <p:cNvSpPr txBox="1"/>
          <p:nvPr/>
        </p:nvSpPr>
        <p:spPr>
          <a:xfrm>
            <a:off x="1492885" y="2113915"/>
            <a:ext cx="6805295" cy="429895"/>
          </a:xfrm>
          <a:prstGeom prst="rect">
            <a:avLst/>
          </a:prstGeom>
          <a:noFill/>
        </p:spPr>
        <p:txBody>
          <a:bodyPr wrap="square" rtlCol="0">
            <a:spAutoFit/>
          </a:bodyPr>
          <a:lstStyle/>
          <a:p>
            <a:r>
              <a:rPr lang="en-US" altLang="zh-CN"/>
              <a:t>2</a:t>
            </a:r>
            <a:r>
              <a:rPr lang="zh-CN" altLang="en-US"/>
              <a:t>、计算综合影响系数；</a:t>
            </a:r>
            <a:endParaRPr lang="zh-CN" altLang="en-US"/>
          </a:p>
        </p:txBody>
      </p:sp>
      <p:sp>
        <p:nvSpPr>
          <p:cNvPr id="13" name="文本框 12"/>
          <p:cNvSpPr txBox="1"/>
          <p:nvPr/>
        </p:nvSpPr>
        <p:spPr>
          <a:xfrm>
            <a:off x="1466850" y="2799080"/>
            <a:ext cx="6805295" cy="429895"/>
          </a:xfrm>
          <a:prstGeom prst="rect">
            <a:avLst/>
          </a:prstGeom>
          <a:noFill/>
        </p:spPr>
        <p:txBody>
          <a:bodyPr wrap="square" rtlCol="0">
            <a:spAutoFit/>
          </a:bodyPr>
          <a:lstStyle/>
          <a:p>
            <a:r>
              <a:rPr lang="en-US" altLang="zh-CN"/>
              <a:t>3</a:t>
            </a:r>
            <a:r>
              <a:rPr lang="zh-CN" altLang="en-US"/>
              <a:t>、画出材料的疲劳极限应力图；</a:t>
            </a:r>
            <a:endParaRPr lang="zh-CN" altLang="en-US"/>
          </a:p>
        </p:txBody>
      </p:sp>
      <p:sp>
        <p:nvSpPr>
          <p:cNvPr id="14" name="文本框 13"/>
          <p:cNvSpPr txBox="1"/>
          <p:nvPr/>
        </p:nvSpPr>
        <p:spPr>
          <a:xfrm>
            <a:off x="1466850" y="3429000"/>
            <a:ext cx="6805295" cy="429895"/>
          </a:xfrm>
          <a:prstGeom prst="rect">
            <a:avLst/>
          </a:prstGeom>
          <a:noFill/>
        </p:spPr>
        <p:txBody>
          <a:bodyPr wrap="square" rtlCol="0">
            <a:spAutoFit/>
          </a:bodyPr>
          <a:lstStyle/>
          <a:p>
            <a:r>
              <a:rPr lang="en-US" altLang="zh-CN"/>
              <a:t>4</a:t>
            </a:r>
            <a:r>
              <a:rPr lang="zh-CN" altLang="en-US"/>
              <a:t>、画出零件的疲劳极限应力图；</a:t>
            </a:r>
            <a:endParaRPr lang="zh-CN" altLang="en-US"/>
          </a:p>
        </p:txBody>
      </p:sp>
      <p:sp>
        <p:nvSpPr>
          <p:cNvPr id="15" name="文本框 14"/>
          <p:cNvSpPr txBox="1"/>
          <p:nvPr/>
        </p:nvSpPr>
        <p:spPr>
          <a:xfrm>
            <a:off x="1492885" y="4109085"/>
            <a:ext cx="4213225" cy="429895"/>
          </a:xfrm>
          <a:prstGeom prst="rect">
            <a:avLst/>
          </a:prstGeom>
          <a:noFill/>
        </p:spPr>
        <p:txBody>
          <a:bodyPr wrap="square" rtlCol="0">
            <a:spAutoFit/>
          </a:bodyPr>
          <a:lstStyle/>
          <a:p>
            <a:r>
              <a:rPr lang="en-US" altLang="zh-CN"/>
              <a:t>5</a:t>
            </a:r>
            <a:r>
              <a:rPr lang="zh-CN" altLang="en-US"/>
              <a:t>、用图解法校核</a:t>
            </a:r>
            <a:r>
              <a:rPr lang="zh-CN" altLang="en-US">
                <a:sym typeface="+mn-ea"/>
              </a:rPr>
              <a:t>强度</a:t>
            </a:r>
            <a:endParaRPr lang="zh-CN" altLang="en-US">
              <a:sym typeface="+mn-ea"/>
            </a:endParaRPr>
          </a:p>
        </p:txBody>
      </p:sp>
      <p:sp>
        <p:nvSpPr>
          <p:cNvPr id="16" name="文本框 15"/>
          <p:cNvSpPr txBox="1"/>
          <p:nvPr/>
        </p:nvSpPr>
        <p:spPr>
          <a:xfrm>
            <a:off x="1529080" y="4744085"/>
            <a:ext cx="4213225" cy="429895"/>
          </a:xfrm>
          <a:prstGeom prst="rect">
            <a:avLst/>
          </a:prstGeom>
          <a:noFill/>
        </p:spPr>
        <p:txBody>
          <a:bodyPr wrap="square" rtlCol="0">
            <a:spAutoFit/>
          </a:bodyPr>
          <a:lstStyle/>
          <a:p>
            <a:r>
              <a:rPr lang="en-US" altLang="zh-CN"/>
              <a:t>6</a:t>
            </a:r>
            <a:r>
              <a:rPr lang="zh-CN" altLang="en-US"/>
              <a:t>、用计算法校核强度</a:t>
            </a:r>
            <a:endParaRPr lang="zh-CN" altLang="en-US"/>
          </a:p>
        </p:txBody>
      </p:sp>
      <p:sp>
        <p:nvSpPr>
          <p:cNvPr id="17" name="文本框 16"/>
          <p:cNvSpPr txBox="1"/>
          <p:nvPr/>
        </p:nvSpPr>
        <p:spPr>
          <a:xfrm>
            <a:off x="1529080" y="5311775"/>
            <a:ext cx="5377815" cy="429895"/>
          </a:xfrm>
          <a:prstGeom prst="rect">
            <a:avLst/>
          </a:prstGeom>
          <a:noFill/>
        </p:spPr>
        <p:txBody>
          <a:bodyPr wrap="square" rtlCol="0">
            <a:spAutoFit/>
          </a:bodyPr>
          <a:lstStyle/>
          <a:p>
            <a:r>
              <a:rPr lang="en-US" altLang="zh-CN"/>
              <a:t>7</a:t>
            </a:r>
            <a:r>
              <a:rPr lang="zh-CN" altLang="en-US"/>
              <a:t>、零件按有限寿命设计时的安全系数</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7235825" y="836613"/>
            <a:ext cx="1450975" cy="220662"/>
          </a:xfrm>
          <a:noFill/>
          <a:ln>
            <a:noFill/>
          </a:ln>
        </p:spPr>
        <p:txBody>
          <a:bodyPr anchor="t"/>
          <a:lstStyle/>
          <a:p>
            <a:pPr eaLnBrk="1" hangingPunct="1"/>
            <a:r>
              <a:rPr lang="zh-CN" altLang="en-US" sz="800" dirty="0">
                <a:solidFill>
                  <a:schemeClr val="bg1"/>
                </a:solidFill>
                <a:latin typeface="华文新魏" panose="02010800040101010101" pitchFamily="2" charset="-122"/>
                <a:ea typeface="华文新魏" panose="02010800040101010101" pitchFamily="2" charset="-122"/>
              </a:rPr>
              <a:t>机械零件的疲劳强度计算</a:t>
            </a:r>
            <a:r>
              <a:rPr lang="en-US" altLang="zh-CN" sz="800" dirty="0">
                <a:solidFill>
                  <a:schemeClr val="bg1"/>
                </a:solidFill>
                <a:latin typeface="华文新魏" panose="02010800040101010101" pitchFamily="2" charset="-122"/>
                <a:ea typeface="华文新魏" panose="02010800040101010101" pitchFamily="2" charset="-122"/>
              </a:rPr>
              <a:t>2</a:t>
            </a:r>
            <a:endParaRPr lang="en-US" altLang="zh-CN" sz="800" dirty="0">
              <a:solidFill>
                <a:schemeClr val="bg1"/>
              </a:solidFill>
              <a:latin typeface="华文新魏" panose="02010800040101010101" pitchFamily="2" charset="-122"/>
              <a:ea typeface="华文新魏" panose="02010800040101010101" pitchFamily="2" charset="-122"/>
            </a:endParaRPr>
          </a:p>
        </p:txBody>
      </p:sp>
      <p:sp>
        <p:nvSpPr>
          <p:cNvPr id="23554" name="Rectangle 3"/>
          <p:cNvSpPr/>
          <p:nvPr/>
        </p:nvSpPr>
        <p:spPr>
          <a:xfrm>
            <a:off x="3581400" y="76200"/>
            <a:ext cx="4730750" cy="762000"/>
          </a:xfrm>
          <a:prstGeom prst="rect">
            <a:avLst/>
          </a:prstGeom>
          <a:noFill/>
          <a:ln w="9525">
            <a:noFill/>
          </a:ln>
        </p:spPr>
        <p:txBody>
          <a:bodyPr tIns="18000" anchor="ctr" anchorCtr="1"/>
          <a:lstStyle/>
          <a:p>
            <a:r>
              <a:rPr lang="zh-CN" altLang="en-US" sz="3000" dirty="0">
                <a:solidFill>
                  <a:srgbClr val="CC3300"/>
                </a:solidFill>
                <a:latin typeface="黑体" panose="02010609060101010101" pitchFamily="49" charset="-122"/>
                <a:ea typeface="黑体" panose="02010609060101010101" pitchFamily="49" charset="-122"/>
              </a:rPr>
              <a:t>零件的疲劳强度计算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3555" name="Rectangle 14"/>
          <p:cNvSpPr/>
          <p:nvPr/>
        </p:nvSpPr>
        <p:spPr>
          <a:xfrm>
            <a:off x="228600" y="4191000"/>
            <a:ext cx="8763000" cy="431800"/>
          </a:xfrm>
          <a:prstGeom prst="rect">
            <a:avLst/>
          </a:prstGeom>
          <a:noFill/>
          <a:ln w="9525">
            <a:noFill/>
          </a:ln>
        </p:spPr>
        <p:txBody>
          <a:bodyPr lIns="90000" tIns="46800" rIns="90000" bIns="46800" anchor="t">
            <a:spAutoFit/>
          </a:bodyPr>
          <a:lstStyle/>
          <a:p>
            <a:pPr>
              <a:lnSpc>
                <a:spcPct val="120000"/>
              </a:lnSpc>
            </a:pPr>
            <a:r>
              <a:rPr lang="en-US" altLang="zh-CN" sz="2000" dirty="0">
                <a:solidFill>
                  <a:srgbClr val="000099"/>
                </a:solidFill>
                <a:latin typeface="Times New Roman" panose="02020603050405020304" pitchFamily="18" charset="0"/>
                <a:ea typeface="华文中宋" panose="02010600040101010101" pitchFamily="2" charset="-122"/>
              </a:rPr>
              <a:t>        </a:t>
            </a:r>
            <a:endParaRPr lang="zh-CN" altLang="en-US" sz="2000" dirty="0">
              <a:solidFill>
                <a:srgbClr val="000099"/>
              </a:solidFill>
              <a:latin typeface="Times New Roman" panose="02020603050405020304" pitchFamily="18" charset="0"/>
              <a:ea typeface="华文中宋" panose="02010600040101010101" pitchFamily="2" charset="-122"/>
            </a:endParaRPr>
          </a:p>
        </p:txBody>
      </p:sp>
      <p:sp>
        <p:nvSpPr>
          <p:cNvPr id="23556" name="Text Box 33"/>
          <p:cNvSpPr txBox="1"/>
          <p:nvPr/>
        </p:nvSpPr>
        <p:spPr>
          <a:xfrm>
            <a:off x="7377113" y="6162675"/>
            <a:ext cx="460375" cy="427038"/>
          </a:xfrm>
          <a:prstGeom prst="rect">
            <a:avLst/>
          </a:prstGeom>
          <a:noFill/>
          <a:ln w="9525">
            <a:noFill/>
          </a:ln>
        </p:spPr>
        <p:txBody>
          <a:bodyPr wrap="none" lIns="90000" tIns="46800" rIns="90000" bIns="46800" anchor="t">
            <a:spAutoFit/>
          </a:bodyPr>
          <a:lstStyle/>
          <a:p>
            <a:r>
              <a:rPr lang="zh-CN" altLang="en-US" dirty="0">
                <a:latin typeface="Tahoma" panose="020B0604030504040204" pitchFamily="34" charset="0"/>
                <a:ea typeface="华文中宋" panose="02010600040101010101" pitchFamily="2" charset="-122"/>
              </a:rPr>
              <a:t>　</a:t>
            </a:r>
            <a:endParaRPr lang="zh-CN" altLang="en-US" dirty="0">
              <a:latin typeface="Tahoma" panose="020B0604030504040204" pitchFamily="34" charset="0"/>
              <a:ea typeface="华文中宋" panose="02010600040101010101" pitchFamily="2" charset="-122"/>
            </a:endParaRPr>
          </a:p>
        </p:txBody>
      </p:sp>
      <p:pic>
        <p:nvPicPr>
          <p:cNvPr id="68642" name="Picture 34"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68643" name="Picture 35"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68644" name="Picture 36"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2" name="文本框 1"/>
          <p:cNvSpPr txBox="1">
            <a:spLocks noRot="1" noChangeAspect="1" noMove="1" noResize="1" noEditPoints="1" noAdjustHandles="1" noChangeArrowheads="1" noChangeShapeType="1" noTextEdit="1"/>
          </p:cNvSpPr>
          <p:nvPr/>
        </p:nvSpPr>
        <p:spPr>
          <a:xfrm>
            <a:off x="578485" y="831215"/>
            <a:ext cx="7768590" cy="6574155"/>
          </a:xfrm>
          <a:prstGeom prst="rect">
            <a:avLst/>
          </a:prstGeom>
          <a:blipFill>
            <a:blip r:embed="rId5"/>
            <a:stretch>
              <a:fillRect l="-706"/>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864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68643"/>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68642"/>
                                        </p:tgtEl>
                                        <p:attrNameLst>
                                          <p:attrName>style.visibility</p:attrName>
                                        </p:attrNameLst>
                                      </p:cBhvr>
                                      <p:to>
                                        <p:strVal val="visible"/>
                                      </p:to>
                                    </p:set>
                                    <p:anim calcmode="lin" valueType="num">
                                      <p:cBhvr additive="base">
                                        <p:cTn id="13" dur="500" fill="hold"/>
                                        <p:tgtEl>
                                          <p:spTgt spid="68642"/>
                                        </p:tgtEl>
                                        <p:attrNameLst>
                                          <p:attrName>ppt_x</p:attrName>
                                        </p:attrNameLst>
                                      </p:cBhvr>
                                      <p:tavLst>
                                        <p:tav tm="0">
                                          <p:val>
                                            <p:strVal val="0-#ppt_w/2"/>
                                          </p:val>
                                        </p:tav>
                                        <p:tav tm="100000">
                                          <p:val>
                                            <p:strVal val="#ppt_x"/>
                                          </p:val>
                                        </p:tav>
                                      </p:tavLst>
                                    </p:anim>
                                    <p:anim calcmode="lin" valueType="num">
                                      <p:cBhvr additive="base">
                                        <p:cTn id="14" dur="500" fill="hold"/>
                                        <p:tgtEl>
                                          <p:spTgt spid="6864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a:xfrm>
            <a:off x="7235825" y="836613"/>
            <a:ext cx="1450975" cy="220662"/>
          </a:xfrm>
          <a:noFill/>
          <a:ln>
            <a:noFill/>
          </a:ln>
        </p:spPr>
        <p:txBody>
          <a:bodyPr anchor="t"/>
          <a:lstStyle/>
          <a:p>
            <a:pPr eaLnBrk="1" hangingPunct="1"/>
            <a:r>
              <a:rPr lang="zh-CN" altLang="en-US" sz="800" dirty="0">
                <a:solidFill>
                  <a:schemeClr val="bg1"/>
                </a:solidFill>
                <a:latin typeface="华文新魏" panose="02010800040101010101" pitchFamily="2" charset="-122"/>
                <a:ea typeface="华文新魏" panose="02010800040101010101" pitchFamily="2" charset="-122"/>
              </a:rPr>
              <a:t>机械零件的疲劳强度计算</a:t>
            </a:r>
            <a:r>
              <a:rPr lang="en-US" altLang="zh-CN" sz="800" dirty="0">
                <a:solidFill>
                  <a:schemeClr val="bg1"/>
                </a:solidFill>
                <a:latin typeface="华文新魏" panose="02010800040101010101" pitchFamily="2" charset="-122"/>
                <a:ea typeface="华文新魏" panose="02010800040101010101" pitchFamily="2" charset="-122"/>
              </a:rPr>
              <a:t>2</a:t>
            </a:r>
            <a:endParaRPr lang="en-US" altLang="zh-CN" sz="800" dirty="0">
              <a:solidFill>
                <a:schemeClr val="bg1"/>
              </a:solidFill>
              <a:latin typeface="华文新魏" panose="02010800040101010101" pitchFamily="2" charset="-122"/>
              <a:ea typeface="华文新魏" panose="02010800040101010101" pitchFamily="2" charset="-122"/>
            </a:endParaRPr>
          </a:p>
        </p:txBody>
      </p:sp>
      <p:sp>
        <p:nvSpPr>
          <p:cNvPr id="24578" name="Rectangle 3"/>
          <p:cNvSpPr/>
          <p:nvPr/>
        </p:nvSpPr>
        <p:spPr>
          <a:xfrm>
            <a:off x="3581400" y="76200"/>
            <a:ext cx="4730750" cy="762000"/>
          </a:xfrm>
          <a:prstGeom prst="rect">
            <a:avLst/>
          </a:prstGeom>
          <a:noFill/>
          <a:ln w="9525">
            <a:noFill/>
          </a:ln>
        </p:spPr>
        <p:txBody>
          <a:bodyPr tIns="18000" anchor="ctr" anchorCtr="1"/>
          <a:lstStyle/>
          <a:p>
            <a:r>
              <a:rPr lang="zh-CN" altLang="en-US" sz="3000" dirty="0">
                <a:solidFill>
                  <a:srgbClr val="CC3300"/>
                </a:solidFill>
                <a:latin typeface="黑体" panose="02010609060101010101" pitchFamily="49" charset="-122"/>
                <a:ea typeface="黑体" panose="02010609060101010101" pitchFamily="49" charset="-122"/>
              </a:rPr>
              <a:t>零件的疲劳强度计算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4579" name="Rectangle 14"/>
          <p:cNvSpPr/>
          <p:nvPr/>
        </p:nvSpPr>
        <p:spPr>
          <a:xfrm>
            <a:off x="228600" y="4191000"/>
            <a:ext cx="8763000" cy="431800"/>
          </a:xfrm>
          <a:prstGeom prst="rect">
            <a:avLst/>
          </a:prstGeom>
          <a:noFill/>
          <a:ln w="9525">
            <a:noFill/>
          </a:ln>
        </p:spPr>
        <p:txBody>
          <a:bodyPr lIns="90000" tIns="46800" rIns="90000" bIns="46800" anchor="t">
            <a:spAutoFit/>
          </a:bodyPr>
          <a:lstStyle/>
          <a:p>
            <a:pPr>
              <a:lnSpc>
                <a:spcPct val="120000"/>
              </a:lnSpc>
            </a:pPr>
            <a:r>
              <a:rPr lang="en-US" altLang="zh-CN" sz="2000" dirty="0">
                <a:solidFill>
                  <a:srgbClr val="000099"/>
                </a:solidFill>
                <a:latin typeface="Times New Roman" panose="02020603050405020304" pitchFamily="18" charset="0"/>
                <a:ea typeface="华文中宋" panose="02010600040101010101" pitchFamily="2" charset="-122"/>
              </a:rPr>
              <a:t>        </a:t>
            </a:r>
            <a:endParaRPr lang="zh-CN" altLang="en-US" sz="2000" dirty="0">
              <a:solidFill>
                <a:srgbClr val="000099"/>
              </a:solidFill>
              <a:latin typeface="Times New Roman" panose="02020603050405020304" pitchFamily="18" charset="0"/>
              <a:ea typeface="华文中宋" panose="02010600040101010101" pitchFamily="2" charset="-122"/>
            </a:endParaRPr>
          </a:p>
        </p:txBody>
      </p:sp>
      <p:sp>
        <p:nvSpPr>
          <p:cNvPr id="24580" name="Text Box 33"/>
          <p:cNvSpPr txBox="1"/>
          <p:nvPr/>
        </p:nvSpPr>
        <p:spPr>
          <a:xfrm>
            <a:off x="7377113" y="6162675"/>
            <a:ext cx="460375" cy="427038"/>
          </a:xfrm>
          <a:prstGeom prst="rect">
            <a:avLst/>
          </a:prstGeom>
          <a:noFill/>
          <a:ln w="9525">
            <a:noFill/>
          </a:ln>
        </p:spPr>
        <p:txBody>
          <a:bodyPr wrap="none" lIns="90000" tIns="46800" rIns="90000" bIns="46800" anchor="t">
            <a:spAutoFit/>
          </a:bodyPr>
          <a:lstStyle/>
          <a:p>
            <a:r>
              <a:rPr lang="zh-CN" altLang="en-US" dirty="0">
                <a:latin typeface="Tahoma" panose="020B0604030504040204" pitchFamily="34" charset="0"/>
                <a:ea typeface="华文中宋" panose="02010600040101010101" pitchFamily="2" charset="-122"/>
              </a:rPr>
              <a:t>　</a:t>
            </a:r>
            <a:endParaRPr lang="zh-CN" altLang="en-US" dirty="0">
              <a:latin typeface="Tahoma" panose="020B0604030504040204" pitchFamily="34" charset="0"/>
              <a:ea typeface="华文中宋" panose="02010600040101010101" pitchFamily="2" charset="-122"/>
            </a:endParaRPr>
          </a:p>
        </p:txBody>
      </p:sp>
      <p:pic>
        <p:nvPicPr>
          <p:cNvPr id="68642" name="Picture 34"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68643" name="Picture 35"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68644" name="Picture 36"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2" name="文本框 1"/>
          <p:cNvSpPr txBox="1">
            <a:spLocks noRot="1" noChangeAspect="1" noMove="1" noResize="1" noEditPoints="1" noAdjustHandles="1" noChangeArrowheads="1" noChangeShapeType="1" noTextEdit="1"/>
          </p:cNvSpPr>
          <p:nvPr/>
        </p:nvSpPr>
        <p:spPr>
          <a:xfrm>
            <a:off x="487834" y="836613"/>
            <a:ext cx="7844953" cy="913071"/>
          </a:xfrm>
          <a:prstGeom prst="rect">
            <a:avLst/>
          </a:prstGeom>
          <a:blipFill>
            <a:blip r:embed="rId5"/>
            <a:stretch>
              <a:fillRect l="-622" r="-78" b="-2667"/>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pic>
        <p:nvPicPr>
          <p:cNvPr id="10" name="图片 9"/>
          <p:cNvPicPr>
            <a:picLocks noChangeAspect="1"/>
          </p:cNvPicPr>
          <p:nvPr/>
        </p:nvPicPr>
        <p:blipFill>
          <a:blip r:embed="rId6"/>
          <a:stretch>
            <a:fillRect/>
          </a:stretch>
        </p:blipFill>
        <p:spPr>
          <a:xfrm>
            <a:off x="1835150" y="1830388"/>
            <a:ext cx="4976813" cy="3097212"/>
          </a:xfrm>
          <a:prstGeom prst="rect">
            <a:avLst/>
          </a:prstGeom>
          <a:noFill/>
          <a:ln w="9525">
            <a:noFill/>
          </a:ln>
        </p:spPr>
      </p:pic>
      <p:sp>
        <p:nvSpPr>
          <p:cNvPr id="3" name="文本框 2"/>
          <p:cNvSpPr txBox="1">
            <a:spLocks noRot="1" noChangeAspect="1" noMove="1" noResize="1" noEditPoints="1" noAdjustHandles="1" noChangeArrowheads="1" noChangeShapeType="1" noTextEdit="1"/>
          </p:cNvSpPr>
          <p:nvPr/>
        </p:nvSpPr>
        <p:spPr>
          <a:xfrm>
            <a:off x="708696" y="4883408"/>
            <a:ext cx="7823744" cy="1246494"/>
          </a:xfrm>
          <a:prstGeom prst="rect">
            <a:avLst/>
          </a:prstGeom>
          <a:blipFill>
            <a:blip r:embed="rId7"/>
            <a:stretch>
              <a:fillRect l="-623" b="-6829"/>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cxnSp>
        <p:nvCxnSpPr>
          <p:cNvPr id="4" name="直接连接符 3"/>
          <p:cNvCxnSpPr/>
          <p:nvPr/>
        </p:nvCxnSpPr>
        <p:spPr>
          <a:xfrm>
            <a:off x="2953385" y="2479675"/>
            <a:ext cx="1700530" cy="276860"/>
          </a:xfrm>
          <a:prstGeom prst="line">
            <a:avLst/>
          </a:prstGeom>
          <a:noFill/>
          <a:ln w="19050" cap="flat" cmpd="sng" algn="ctr">
            <a:solidFill>
              <a:srgbClr val="FF0000"/>
            </a:solidFill>
            <a:prstDash val="solid"/>
            <a:round/>
            <a:headEnd type="none" w="med" len="med"/>
            <a:tailEnd type="none" w="med" len="med"/>
          </a:ln>
        </p:spPr>
      </p:cxnSp>
      <p:cxnSp>
        <p:nvCxnSpPr>
          <p:cNvPr id="5" name="直接连接符 4"/>
          <p:cNvCxnSpPr/>
          <p:nvPr/>
        </p:nvCxnSpPr>
        <p:spPr>
          <a:xfrm>
            <a:off x="4669155" y="2761615"/>
            <a:ext cx="1449070" cy="1242695"/>
          </a:xfrm>
          <a:prstGeom prst="line">
            <a:avLst/>
          </a:prstGeom>
          <a:noFill/>
          <a:ln w="19050" cap="flat" cmpd="sng" algn="ctr">
            <a:solidFill>
              <a:srgbClr val="FF0000"/>
            </a:solidFill>
            <a:prstDash val="solid"/>
            <a:round/>
            <a:headEnd type="none" w="med" len="med"/>
            <a:tailEnd type="none" w="med" len="med"/>
          </a:ln>
        </p:spPr>
      </p:cxn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864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68643"/>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68642"/>
                                        </p:tgtEl>
                                        <p:attrNameLst>
                                          <p:attrName>style.visibility</p:attrName>
                                        </p:attrNameLst>
                                      </p:cBhvr>
                                      <p:to>
                                        <p:strVal val="visible"/>
                                      </p:to>
                                    </p:set>
                                    <p:anim calcmode="lin" valueType="num">
                                      <p:cBhvr additive="base">
                                        <p:cTn id="13" dur="500" fill="hold"/>
                                        <p:tgtEl>
                                          <p:spTgt spid="68642"/>
                                        </p:tgtEl>
                                        <p:attrNameLst>
                                          <p:attrName>ppt_x</p:attrName>
                                        </p:attrNameLst>
                                      </p:cBhvr>
                                      <p:tavLst>
                                        <p:tav tm="0">
                                          <p:val>
                                            <p:strVal val="0-#ppt_w/2"/>
                                          </p:val>
                                        </p:tav>
                                        <p:tav tm="100000">
                                          <p:val>
                                            <p:strVal val="#ppt_x"/>
                                          </p:val>
                                        </p:tav>
                                      </p:tavLst>
                                    </p:anim>
                                    <p:anim calcmode="lin" valueType="num">
                                      <p:cBhvr additive="base">
                                        <p:cTn id="14" dur="500" fill="hold"/>
                                        <p:tgtEl>
                                          <p:spTgt spid="6864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par>
                          <p:cTn id="35" fill="hold">
                            <p:stCondLst>
                              <p:cond delay="500"/>
                            </p:stCondLst>
                            <p:childTnLst>
                              <p:par>
                                <p:cTn id="36" presetID="22" presetClass="entr" presetSubtype="1" fill="hold" nodeType="after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up)">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a:xfrm>
            <a:off x="7235825" y="836613"/>
            <a:ext cx="1450975" cy="220662"/>
          </a:xfrm>
          <a:noFill/>
          <a:ln>
            <a:noFill/>
          </a:ln>
        </p:spPr>
        <p:txBody>
          <a:bodyPr anchor="t"/>
          <a:lstStyle/>
          <a:p>
            <a:pPr eaLnBrk="1" hangingPunct="1"/>
            <a:r>
              <a:rPr lang="zh-CN" altLang="en-US" sz="800" dirty="0">
                <a:solidFill>
                  <a:schemeClr val="bg1"/>
                </a:solidFill>
                <a:latin typeface="华文新魏" panose="02010800040101010101" pitchFamily="2" charset="-122"/>
                <a:ea typeface="华文新魏" panose="02010800040101010101" pitchFamily="2" charset="-122"/>
              </a:rPr>
              <a:t>机械零件的疲劳强度计算</a:t>
            </a:r>
            <a:r>
              <a:rPr lang="en-US" altLang="zh-CN" sz="800" dirty="0">
                <a:solidFill>
                  <a:schemeClr val="bg1"/>
                </a:solidFill>
                <a:latin typeface="华文新魏" panose="02010800040101010101" pitchFamily="2" charset="-122"/>
                <a:ea typeface="华文新魏" panose="02010800040101010101" pitchFamily="2" charset="-122"/>
              </a:rPr>
              <a:t>2</a:t>
            </a:r>
            <a:endParaRPr lang="en-US" altLang="zh-CN" sz="800" dirty="0">
              <a:solidFill>
                <a:schemeClr val="bg1"/>
              </a:solidFill>
              <a:latin typeface="华文新魏" panose="02010800040101010101" pitchFamily="2" charset="-122"/>
              <a:ea typeface="华文新魏" panose="02010800040101010101" pitchFamily="2" charset="-122"/>
            </a:endParaRPr>
          </a:p>
        </p:txBody>
      </p:sp>
      <p:sp>
        <p:nvSpPr>
          <p:cNvPr id="25602" name="Rectangle 3"/>
          <p:cNvSpPr/>
          <p:nvPr/>
        </p:nvSpPr>
        <p:spPr>
          <a:xfrm>
            <a:off x="3581400" y="76200"/>
            <a:ext cx="4730750" cy="762000"/>
          </a:xfrm>
          <a:prstGeom prst="rect">
            <a:avLst/>
          </a:prstGeom>
          <a:noFill/>
          <a:ln w="9525">
            <a:noFill/>
          </a:ln>
        </p:spPr>
        <p:txBody>
          <a:bodyPr tIns="18000" anchor="ctr" anchorCtr="1"/>
          <a:lstStyle/>
          <a:p>
            <a:r>
              <a:rPr lang="zh-CN" altLang="en-US" sz="3000" dirty="0">
                <a:solidFill>
                  <a:srgbClr val="CC3300"/>
                </a:solidFill>
                <a:latin typeface="黑体" panose="02010609060101010101" pitchFamily="49" charset="-122"/>
                <a:ea typeface="黑体" panose="02010609060101010101" pitchFamily="49" charset="-122"/>
              </a:rPr>
              <a:t>零件的疲劳强度计算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5603" name="Rectangle 14"/>
          <p:cNvSpPr/>
          <p:nvPr/>
        </p:nvSpPr>
        <p:spPr>
          <a:xfrm>
            <a:off x="228600" y="4191000"/>
            <a:ext cx="8763000" cy="431800"/>
          </a:xfrm>
          <a:prstGeom prst="rect">
            <a:avLst/>
          </a:prstGeom>
          <a:noFill/>
          <a:ln w="9525">
            <a:noFill/>
          </a:ln>
        </p:spPr>
        <p:txBody>
          <a:bodyPr lIns="90000" tIns="46800" rIns="90000" bIns="46800" anchor="t">
            <a:spAutoFit/>
          </a:bodyPr>
          <a:lstStyle/>
          <a:p>
            <a:pPr>
              <a:lnSpc>
                <a:spcPct val="120000"/>
              </a:lnSpc>
            </a:pPr>
            <a:r>
              <a:rPr lang="en-US" altLang="zh-CN" sz="2000" dirty="0">
                <a:solidFill>
                  <a:srgbClr val="000099"/>
                </a:solidFill>
                <a:latin typeface="Times New Roman" panose="02020603050405020304" pitchFamily="18" charset="0"/>
                <a:ea typeface="华文中宋" panose="02010600040101010101" pitchFamily="2" charset="-122"/>
              </a:rPr>
              <a:t>        </a:t>
            </a:r>
            <a:endParaRPr lang="zh-CN" altLang="en-US" sz="2000" dirty="0">
              <a:solidFill>
                <a:srgbClr val="000099"/>
              </a:solidFill>
              <a:latin typeface="Times New Roman" panose="02020603050405020304" pitchFamily="18" charset="0"/>
              <a:ea typeface="华文中宋" panose="02010600040101010101" pitchFamily="2" charset="-122"/>
            </a:endParaRPr>
          </a:p>
        </p:txBody>
      </p:sp>
      <p:sp>
        <p:nvSpPr>
          <p:cNvPr id="25604" name="Text Box 33"/>
          <p:cNvSpPr txBox="1"/>
          <p:nvPr/>
        </p:nvSpPr>
        <p:spPr>
          <a:xfrm>
            <a:off x="7377113" y="6162675"/>
            <a:ext cx="460375" cy="427038"/>
          </a:xfrm>
          <a:prstGeom prst="rect">
            <a:avLst/>
          </a:prstGeom>
          <a:noFill/>
          <a:ln w="9525">
            <a:noFill/>
          </a:ln>
        </p:spPr>
        <p:txBody>
          <a:bodyPr wrap="none" lIns="90000" tIns="46800" rIns="90000" bIns="46800" anchor="t">
            <a:spAutoFit/>
          </a:bodyPr>
          <a:lstStyle/>
          <a:p>
            <a:r>
              <a:rPr lang="zh-CN" altLang="en-US" dirty="0">
                <a:latin typeface="Tahoma" panose="020B0604030504040204" pitchFamily="34" charset="0"/>
                <a:ea typeface="华文中宋" panose="02010600040101010101" pitchFamily="2" charset="-122"/>
              </a:rPr>
              <a:t>　</a:t>
            </a:r>
            <a:endParaRPr lang="zh-CN" altLang="en-US" dirty="0">
              <a:latin typeface="Tahoma" panose="020B0604030504040204" pitchFamily="34" charset="0"/>
              <a:ea typeface="华文中宋" panose="02010600040101010101" pitchFamily="2" charset="-122"/>
            </a:endParaRPr>
          </a:p>
        </p:txBody>
      </p:sp>
      <p:pic>
        <p:nvPicPr>
          <p:cNvPr id="68642" name="Picture 34"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68643" name="Picture 35"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68644" name="Picture 36"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2" name="文本框 1"/>
          <p:cNvSpPr txBox="1">
            <a:spLocks noRot="1" noChangeAspect="1" noMove="1" noResize="1" noEditPoints="1" noAdjustHandles="1" noChangeArrowheads="1" noChangeShapeType="1" noTextEdit="1"/>
          </p:cNvSpPr>
          <p:nvPr/>
        </p:nvSpPr>
        <p:spPr>
          <a:xfrm>
            <a:off x="542798" y="766124"/>
            <a:ext cx="7900589" cy="1204497"/>
          </a:xfrm>
          <a:prstGeom prst="rect">
            <a:avLst/>
          </a:prstGeom>
          <a:blipFill>
            <a:blip r:embed="rId5"/>
            <a:stretch>
              <a:fillRect l="-617" t="-2538" r="-77" b="-7614"/>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pic>
        <p:nvPicPr>
          <p:cNvPr id="10" name="图片 9"/>
          <p:cNvPicPr>
            <a:picLocks noChangeAspect="1"/>
          </p:cNvPicPr>
          <p:nvPr/>
        </p:nvPicPr>
        <p:blipFill>
          <a:blip r:embed="rId6"/>
          <a:stretch>
            <a:fillRect/>
          </a:stretch>
        </p:blipFill>
        <p:spPr>
          <a:xfrm>
            <a:off x="1835150" y="1970088"/>
            <a:ext cx="4681538" cy="2886075"/>
          </a:xfrm>
          <a:prstGeom prst="rect">
            <a:avLst/>
          </a:prstGeom>
          <a:noFill/>
          <a:ln w="9525">
            <a:noFill/>
          </a:ln>
        </p:spPr>
      </p:pic>
      <p:sp>
        <p:nvSpPr>
          <p:cNvPr id="3" name="文本框 2"/>
          <p:cNvSpPr txBox="1">
            <a:spLocks noRot="1" noChangeAspect="1" noMove="1" noResize="1" noEditPoints="1" noAdjustHandles="1" noChangeArrowheads="1" noChangeShapeType="1" noTextEdit="1"/>
          </p:cNvSpPr>
          <p:nvPr/>
        </p:nvSpPr>
        <p:spPr>
          <a:xfrm>
            <a:off x="542798" y="4739743"/>
            <a:ext cx="7967760" cy="2015934"/>
          </a:xfrm>
          <a:prstGeom prst="rect">
            <a:avLst/>
          </a:prstGeom>
          <a:blipFill>
            <a:blip r:embed="rId7"/>
            <a:stretch>
              <a:fillRect l="-612" r="-612"/>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864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68643"/>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68642"/>
                                        </p:tgtEl>
                                        <p:attrNameLst>
                                          <p:attrName>style.visibility</p:attrName>
                                        </p:attrNameLst>
                                      </p:cBhvr>
                                      <p:to>
                                        <p:strVal val="visible"/>
                                      </p:to>
                                    </p:set>
                                    <p:anim calcmode="lin" valueType="num">
                                      <p:cBhvr additive="base">
                                        <p:cTn id="13" dur="500" fill="hold"/>
                                        <p:tgtEl>
                                          <p:spTgt spid="68642"/>
                                        </p:tgtEl>
                                        <p:attrNameLst>
                                          <p:attrName>ppt_x</p:attrName>
                                        </p:attrNameLst>
                                      </p:cBhvr>
                                      <p:tavLst>
                                        <p:tav tm="0">
                                          <p:val>
                                            <p:strVal val="0-#ppt_w/2"/>
                                          </p:val>
                                        </p:tav>
                                        <p:tav tm="100000">
                                          <p:val>
                                            <p:strVal val="#ppt_x"/>
                                          </p:val>
                                        </p:tav>
                                      </p:tavLst>
                                    </p:anim>
                                    <p:anim calcmode="lin" valueType="num">
                                      <p:cBhvr additive="base">
                                        <p:cTn id="14" dur="500" fill="hold"/>
                                        <p:tgtEl>
                                          <p:spTgt spid="6864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a:xfrm>
            <a:off x="7235825" y="836613"/>
            <a:ext cx="1450975" cy="220662"/>
          </a:xfrm>
          <a:noFill/>
          <a:ln>
            <a:noFill/>
          </a:ln>
        </p:spPr>
        <p:txBody>
          <a:bodyPr anchor="t"/>
          <a:lstStyle/>
          <a:p>
            <a:pPr eaLnBrk="1" hangingPunct="1"/>
            <a:r>
              <a:rPr lang="zh-CN" altLang="en-US" sz="800" dirty="0">
                <a:solidFill>
                  <a:schemeClr val="bg1"/>
                </a:solidFill>
                <a:latin typeface="华文新魏" panose="02010800040101010101" pitchFamily="2" charset="-122"/>
                <a:ea typeface="华文新魏" panose="02010800040101010101" pitchFamily="2" charset="-122"/>
              </a:rPr>
              <a:t>机械零件的疲劳强度计算</a:t>
            </a:r>
            <a:r>
              <a:rPr lang="en-US" altLang="zh-CN" sz="800" dirty="0">
                <a:solidFill>
                  <a:schemeClr val="bg1"/>
                </a:solidFill>
                <a:latin typeface="华文新魏" panose="02010800040101010101" pitchFamily="2" charset="-122"/>
                <a:ea typeface="华文新魏" panose="02010800040101010101" pitchFamily="2" charset="-122"/>
              </a:rPr>
              <a:t>2</a:t>
            </a:r>
            <a:endParaRPr lang="en-US" altLang="zh-CN" sz="800" dirty="0">
              <a:solidFill>
                <a:schemeClr val="bg1"/>
              </a:solidFill>
              <a:latin typeface="华文新魏" panose="02010800040101010101" pitchFamily="2" charset="-122"/>
              <a:ea typeface="华文新魏" panose="02010800040101010101" pitchFamily="2" charset="-122"/>
            </a:endParaRPr>
          </a:p>
        </p:txBody>
      </p:sp>
      <p:sp>
        <p:nvSpPr>
          <p:cNvPr id="26626" name="Rectangle 3"/>
          <p:cNvSpPr/>
          <p:nvPr/>
        </p:nvSpPr>
        <p:spPr>
          <a:xfrm>
            <a:off x="3581400" y="76200"/>
            <a:ext cx="4730750" cy="762000"/>
          </a:xfrm>
          <a:prstGeom prst="rect">
            <a:avLst/>
          </a:prstGeom>
          <a:noFill/>
          <a:ln w="9525">
            <a:noFill/>
          </a:ln>
        </p:spPr>
        <p:txBody>
          <a:bodyPr tIns="18000" anchor="ctr" anchorCtr="1"/>
          <a:lstStyle/>
          <a:p>
            <a:r>
              <a:rPr lang="zh-CN" altLang="en-US" sz="3000" dirty="0">
                <a:solidFill>
                  <a:srgbClr val="CC3300"/>
                </a:solidFill>
                <a:latin typeface="黑体" panose="02010609060101010101" pitchFamily="49" charset="-122"/>
                <a:ea typeface="黑体" panose="02010609060101010101" pitchFamily="49" charset="-122"/>
              </a:rPr>
              <a:t>零件的疲劳强度计算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6627" name="Text Box 33"/>
          <p:cNvSpPr txBox="1"/>
          <p:nvPr/>
        </p:nvSpPr>
        <p:spPr>
          <a:xfrm>
            <a:off x="7377113" y="6162675"/>
            <a:ext cx="460375" cy="427038"/>
          </a:xfrm>
          <a:prstGeom prst="rect">
            <a:avLst/>
          </a:prstGeom>
          <a:noFill/>
          <a:ln w="9525">
            <a:noFill/>
          </a:ln>
        </p:spPr>
        <p:txBody>
          <a:bodyPr wrap="none" lIns="90000" tIns="46800" rIns="90000" bIns="46800" anchor="t">
            <a:spAutoFit/>
          </a:bodyPr>
          <a:lstStyle/>
          <a:p>
            <a:r>
              <a:rPr lang="zh-CN" altLang="en-US" dirty="0">
                <a:latin typeface="Tahoma" panose="020B0604030504040204" pitchFamily="34" charset="0"/>
                <a:ea typeface="华文中宋" panose="02010600040101010101" pitchFamily="2" charset="-122"/>
              </a:rPr>
              <a:t>　</a:t>
            </a:r>
            <a:endParaRPr lang="zh-CN" altLang="en-US" dirty="0">
              <a:latin typeface="Tahoma" panose="020B0604030504040204" pitchFamily="34" charset="0"/>
              <a:ea typeface="华文中宋" panose="02010600040101010101" pitchFamily="2" charset="-122"/>
            </a:endParaRPr>
          </a:p>
        </p:txBody>
      </p:sp>
      <p:pic>
        <p:nvPicPr>
          <p:cNvPr id="68642" name="Picture 34"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68643" name="Picture 35"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68644" name="Picture 36"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2" name="文本框 1"/>
          <p:cNvSpPr txBox="1">
            <a:spLocks noRot="1" noChangeAspect="1" noEditPoints="1" noTextEdit="1"/>
          </p:cNvSpPr>
          <p:nvPr/>
        </p:nvSpPr>
        <p:spPr>
          <a:xfrm>
            <a:off x="576263" y="947738"/>
            <a:ext cx="7899400" cy="2335212"/>
          </a:xfrm>
          <a:prstGeom prst="rect">
            <a:avLst/>
          </a:prstGeom>
          <a:blipFill rotWithShape="1">
            <a:blip r:embed="rId5"/>
            <a:stretch>
              <a:fillRect/>
            </a:stretch>
          </a:blipFill>
          <a:ln w="9525">
            <a:noFill/>
          </a:ln>
        </p:spPr>
        <p:txBody>
          <a:bodyPr anchor="t"/>
          <a:lstStyle/>
          <a:p>
            <a:pPr eaLnBrk="0" hangingPunct="0"/>
            <a:endParaRPr>
              <a:latin typeface="Tahoma" panose="020B0604030504040204" pitchFamily="34" charset="0"/>
              <a:ea typeface="华文中宋" panose="02010600040101010101" pitchFamily="2" charset="-122"/>
            </a:endParaRPr>
          </a:p>
        </p:txBody>
      </p:sp>
      <p:sp>
        <p:nvSpPr>
          <p:cNvPr id="3" name="文本框 2"/>
          <p:cNvSpPr txBox="1">
            <a:spLocks noRot="1" noChangeAspect="1" noMove="1" noResize="1" noEditPoints="1" noAdjustHandles="1" noChangeArrowheads="1" noChangeShapeType="1" noTextEdit="1"/>
          </p:cNvSpPr>
          <p:nvPr/>
        </p:nvSpPr>
        <p:spPr>
          <a:xfrm>
            <a:off x="773160" y="3335484"/>
            <a:ext cx="7967761" cy="3806171"/>
          </a:xfrm>
          <a:prstGeom prst="rect">
            <a:avLst/>
          </a:prstGeom>
          <a:blipFill>
            <a:blip r:embed="rId6"/>
            <a:stretch>
              <a:fillRect l="-689"/>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cxnSp>
        <p:nvCxnSpPr>
          <p:cNvPr id="4" name="直接连接符 3"/>
          <p:cNvCxnSpPr/>
          <p:nvPr/>
        </p:nvCxnSpPr>
        <p:spPr>
          <a:xfrm flipV="1">
            <a:off x="910590" y="1478280"/>
            <a:ext cx="2792730" cy="20320"/>
          </a:xfrm>
          <a:prstGeom prst="line">
            <a:avLst/>
          </a:prstGeom>
          <a:noFill/>
          <a:ln w="19050" cap="flat" cmpd="sng" algn="ctr">
            <a:solidFill>
              <a:schemeClr val="tx2">
                <a:lumMod val="60000"/>
                <a:lumOff val="40000"/>
              </a:schemeClr>
            </a:solidFill>
            <a:prstDash val="solid"/>
            <a:round/>
            <a:headEnd type="none" w="med" len="med"/>
            <a:tailEnd type="none" w="med" len="med"/>
          </a:ln>
        </p:spPr>
      </p:cxn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8644"/>
                                        </p:tgtEl>
                                        <p:attrNameLst>
                                          <p:attrName>style.visibility</p:attrName>
                                        </p:attrNameLst>
                                      </p:cBhvr>
                                      <p:to>
                                        <p:strVal val="visible"/>
                                      </p:to>
                                    </p:set>
                                  </p:childTnLst>
                                </p:cTn>
                              </p:par>
                            </p:childTnLst>
                          </p:cTn>
                        </p:par>
                        <p:par>
                          <p:cTn id="7" fill="hold">
                            <p:stCondLst>
                              <p:cond delay="500"/>
                            </p:stCondLst>
                            <p:childTnLst>
                              <p:par>
                                <p:cTn id="8" presetID="22" presetClass="entr" presetSubtype="8"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499"/>
                                          </p:stCondLst>
                                        </p:cTn>
                                        <p:tgtEl>
                                          <p:spTgt spid="68643"/>
                                        </p:tgtEl>
                                        <p:attrNameLst>
                                          <p:attrName>style.visibility</p:attrName>
                                        </p:attrNameLst>
                                      </p:cBhvr>
                                      <p:to>
                                        <p:strVal val="visible"/>
                                      </p:to>
                                    </p:set>
                                  </p:childTnLst>
                                </p:cTn>
                              </p:par>
                            </p:childTnLst>
                          </p:cTn>
                        </p:par>
                        <p:par>
                          <p:cTn id="14" fill="hold">
                            <p:stCondLst>
                              <p:cond delay="1500"/>
                            </p:stCondLst>
                            <p:childTnLst>
                              <p:par>
                                <p:cTn id="15" presetID="2" presetClass="entr" presetSubtype="8" fill="hold" nodeType="afterEffect">
                                  <p:stCondLst>
                                    <p:cond delay="0"/>
                                  </p:stCondLst>
                                  <p:childTnLst>
                                    <p:set>
                                      <p:cBhvr>
                                        <p:cTn id="16" dur="1" fill="hold">
                                          <p:stCondLst>
                                            <p:cond delay="0"/>
                                          </p:stCondLst>
                                        </p:cTn>
                                        <p:tgtEl>
                                          <p:spTgt spid="68642"/>
                                        </p:tgtEl>
                                        <p:attrNameLst>
                                          <p:attrName>style.visibility</p:attrName>
                                        </p:attrNameLst>
                                      </p:cBhvr>
                                      <p:to>
                                        <p:strVal val="visible"/>
                                      </p:to>
                                    </p:set>
                                    <p:anim calcmode="lin" valueType="num">
                                      <p:cBhvr additive="base">
                                        <p:cTn id="17" dur="500" fill="hold"/>
                                        <p:tgtEl>
                                          <p:spTgt spid="68642"/>
                                        </p:tgtEl>
                                        <p:attrNameLst>
                                          <p:attrName>ppt_x</p:attrName>
                                        </p:attrNameLst>
                                      </p:cBhvr>
                                      <p:tavLst>
                                        <p:tav tm="0">
                                          <p:val>
                                            <p:strVal val="0-#ppt_w/2"/>
                                          </p:val>
                                        </p:tav>
                                        <p:tav tm="100000">
                                          <p:val>
                                            <p:strVal val="#ppt_x"/>
                                          </p:val>
                                        </p:tav>
                                      </p:tavLst>
                                    </p:anim>
                                    <p:anim calcmode="lin" valueType="num">
                                      <p:cBhvr additive="base">
                                        <p:cTn id="18" dur="500" fill="hold"/>
                                        <p:tgtEl>
                                          <p:spTgt spid="6864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477000" y="2124000"/>
            <a:ext cx="3429000"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buFontTx/>
              <a:buNone/>
            </a:pPr>
            <a:r>
              <a:rPr lang="en-US" altLang="zh-CN" sz="2400" dirty="0">
                <a:solidFill>
                  <a:srgbClr val="0000FF"/>
                </a:solidFill>
                <a:latin typeface="黑体" panose="02010609060101010101" pitchFamily="49" charset="-122"/>
                <a:ea typeface="黑体" panose="02010609060101010101" pitchFamily="49" charset="-122"/>
              </a:rPr>
              <a:t>1</a:t>
            </a:r>
            <a:r>
              <a:rPr lang="zh-CN" altLang="en-US" sz="2400" dirty="0">
                <a:solidFill>
                  <a:srgbClr val="0000FF"/>
                </a:solidFill>
                <a:latin typeface="黑体" panose="02010609060101010101" pitchFamily="49" charset="-122"/>
                <a:ea typeface="黑体" panose="02010609060101010101" pitchFamily="49" charset="-122"/>
              </a:rPr>
              <a:t>、疲劳损伤累积概念</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5" name="Text Box 5"/>
          <p:cNvSpPr txBox="1">
            <a:spLocks noChangeArrowheads="1"/>
          </p:cNvSpPr>
          <p:nvPr/>
        </p:nvSpPr>
        <p:spPr bwMode="auto">
          <a:xfrm>
            <a:off x="792000" y="2754000"/>
            <a:ext cx="8593412"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buNone/>
            </a:pPr>
            <a:r>
              <a:rPr lang="en-US" altLang="zh-CN" sz="2400" dirty="0">
                <a:latin typeface="黑体" panose="02010609060101010101" pitchFamily="49" charset="-122"/>
                <a:ea typeface="黑体" panose="02010609060101010101" pitchFamily="49" charset="-122"/>
              </a:rPr>
              <a:t>(1)</a:t>
            </a:r>
            <a:r>
              <a:rPr lang="zh-CN" altLang="en-US" sz="2400" dirty="0">
                <a:solidFill>
                  <a:srgbClr val="C00000"/>
                </a:solidFill>
                <a:latin typeface="黑体" panose="02010609060101010101" pitchFamily="49" charset="-122"/>
                <a:ea typeface="黑体" panose="02010609060101010101" pitchFamily="49" charset="-122"/>
              </a:rPr>
              <a:t>高于</a:t>
            </a:r>
            <a:r>
              <a:rPr lang="zh-CN" altLang="en-US" sz="2400" dirty="0">
                <a:solidFill>
                  <a:srgbClr val="0000FF"/>
                </a:solidFill>
                <a:latin typeface="黑体" panose="02010609060101010101" pitchFamily="49" charset="-122"/>
                <a:ea typeface="黑体" panose="02010609060101010101" pitchFamily="49" charset="-122"/>
              </a:rPr>
              <a:t>疲劳极限的应力</a:t>
            </a:r>
            <a:r>
              <a:rPr lang="zh-CN" altLang="en-US" sz="2400" dirty="0">
                <a:latin typeface="黑体" panose="02010609060101010101" pitchFamily="49" charset="-122"/>
                <a:ea typeface="黑体" panose="02010609060101010101" pitchFamily="49" charset="-122"/>
              </a:rPr>
              <a:t>每一循环材料均产生损伤</a:t>
            </a:r>
            <a:r>
              <a:rPr lang="en-US" altLang="zh-CN"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p:txBody>
      </p:sp>
      <p:sp>
        <p:nvSpPr>
          <p:cNvPr id="6" name="Text Box 65"/>
          <p:cNvSpPr txBox="1">
            <a:spLocks noChangeArrowheads="1"/>
          </p:cNvSpPr>
          <p:nvPr/>
        </p:nvSpPr>
        <p:spPr bwMode="auto">
          <a:xfrm>
            <a:off x="747000" y="3294000"/>
            <a:ext cx="5688013"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buNone/>
            </a:pP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损伤累积到一定程度，材料疲劳破坏。</a:t>
            </a:r>
            <a:endParaRPr lang="zh-CN" altLang="en-US" sz="2400" dirty="0">
              <a:latin typeface="黑体" panose="02010609060101010101" pitchFamily="49" charset="-122"/>
              <a:ea typeface="黑体" panose="02010609060101010101" pitchFamily="49" charset="-122"/>
            </a:endParaRPr>
          </a:p>
        </p:txBody>
      </p:sp>
      <p:sp>
        <p:nvSpPr>
          <p:cNvPr id="7" name="Text Box 7"/>
          <p:cNvSpPr txBox="1">
            <a:spLocks noChangeArrowheads="1"/>
          </p:cNvSpPr>
          <p:nvPr/>
        </p:nvSpPr>
        <p:spPr bwMode="auto">
          <a:xfrm>
            <a:off x="747000" y="4554000"/>
            <a:ext cx="6626225" cy="1017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buFontTx/>
              <a:buNone/>
            </a:pPr>
            <a:r>
              <a:rPr lang="en-US" altLang="zh-CN" sz="1800" b="1" dirty="0">
                <a:latin typeface="宋体" panose="02010600030101010101" pitchFamily="2" charset="-122"/>
              </a:rPr>
              <a:t>(</a:t>
            </a:r>
            <a:r>
              <a:rPr lang="en-US" altLang="zh-CN" sz="2400" dirty="0">
                <a:latin typeface="黑体" panose="02010609060101010101" pitchFamily="49" charset="-122"/>
                <a:ea typeface="黑体" panose="02010609060101010101" pitchFamily="49" charset="-122"/>
              </a:rPr>
              <a:t>1)</a:t>
            </a:r>
            <a:r>
              <a:rPr lang="zh-CN" altLang="en-US" sz="2400" dirty="0">
                <a:solidFill>
                  <a:srgbClr val="FF0000"/>
                </a:solidFill>
                <a:latin typeface="黑体" panose="02010609060101010101" pitchFamily="49" charset="-122"/>
                <a:ea typeface="黑体" panose="02010609060101010101" pitchFamily="49" charset="-122"/>
              </a:rPr>
              <a:t>材料在各级应力作用下产生的疲劳损伤独立</a:t>
            </a:r>
            <a:r>
              <a:rPr lang="en-US" altLang="zh-CN" sz="2400" dirty="0">
                <a:solidFill>
                  <a:srgbClr val="FF0000"/>
                </a:solidFill>
                <a:latin typeface="黑体" panose="02010609060101010101" pitchFamily="49" charset="-122"/>
                <a:ea typeface="黑体" panose="02010609060101010101" pitchFamily="49" charset="-122"/>
              </a:rPr>
              <a:t>;</a:t>
            </a:r>
            <a:endParaRPr lang="en-US" altLang="zh-CN" sz="2400" dirty="0">
              <a:solidFill>
                <a:srgbClr val="FF0000"/>
              </a:solidFill>
              <a:latin typeface="黑体" panose="02010609060101010101" pitchFamily="49" charset="-122"/>
              <a:ea typeface="黑体" panose="02010609060101010101" pitchFamily="49" charset="-122"/>
            </a:endParaRPr>
          </a:p>
          <a:p>
            <a:pPr eaLnBrk="1" fontAlgn="ctr" hangingPunct="1">
              <a:spcBef>
                <a:spcPct val="50000"/>
              </a:spcBef>
              <a:buFontTx/>
              <a:buNone/>
            </a:pPr>
            <a:r>
              <a:rPr lang="en-US" altLang="zh-CN" sz="2400" dirty="0">
                <a:latin typeface="黑体" panose="02010609060101010101" pitchFamily="49" charset="-122"/>
                <a:ea typeface="黑体" panose="02010609060101010101" pitchFamily="49" charset="-122"/>
              </a:rPr>
              <a:t>(2)</a:t>
            </a:r>
            <a:r>
              <a:rPr lang="zh-CN" altLang="en-US" sz="2400" dirty="0">
                <a:solidFill>
                  <a:srgbClr val="FF0000"/>
                </a:solidFill>
                <a:latin typeface="黑体" panose="02010609060101010101" pitchFamily="49" charset="-122"/>
                <a:ea typeface="黑体" panose="02010609060101010101" pitchFamily="49" charset="-122"/>
              </a:rPr>
              <a:t>总损伤线性累积</a:t>
            </a:r>
            <a:r>
              <a:rPr lang="zh-CN" altLang="en-US" sz="2400" dirty="0">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p:txBody>
      </p:sp>
      <p:sp>
        <p:nvSpPr>
          <p:cNvPr id="8" name="Text Box 8"/>
          <p:cNvSpPr txBox="1">
            <a:spLocks noChangeArrowheads="1"/>
          </p:cNvSpPr>
          <p:nvPr/>
        </p:nvSpPr>
        <p:spPr bwMode="auto">
          <a:xfrm>
            <a:off x="522000" y="3924000"/>
            <a:ext cx="6480000"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fontAlgn="ctr" hangingPunct="1">
              <a:spcBef>
                <a:spcPct val="50000"/>
              </a:spcBef>
              <a:buFontTx/>
              <a:buNone/>
            </a:pPr>
            <a:r>
              <a:rPr lang="en-US" altLang="zh-CN" sz="2400" dirty="0">
                <a:solidFill>
                  <a:srgbClr val="0000FF"/>
                </a:solidFill>
                <a:latin typeface="黑体" panose="02010609060101010101" pitchFamily="49" charset="-122"/>
                <a:ea typeface="黑体" panose="02010609060101010101" pitchFamily="49" charset="-122"/>
              </a:rPr>
              <a:t>2</a:t>
            </a:r>
            <a:r>
              <a:rPr lang="zh-CN" altLang="en-US" sz="2400" dirty="0">
                <a:solidFill>
                  <a:srgbClr val="0000FF"/>
                </a:solidFill>
                <a:latin typeface="黑体" panose="02010609060101010101" pitchFamily="49" charset="-122"/>
                <a:ea typeface="黑体" panose="02010609060101010101" pitchFamily="49" charset="-122"/>
              </a:rPr>
              <a:t>、疲劳损伤线性累积假说（</a:t>
            </a:r>
            <a:r>
              <a:rPr lang="en-US" altLang="zh-CN" sz="2400" dirty="0">
                <a:solidFill>
                  <a:srgbClr val="0000FF"/>
                </a:solidFill>
                <a:latin typeface="黑体" panose="02010609060101010101" pitchFamily="49" charset="-122"/>
                <a:ea typeface="黑体" panose="02010609060101010101" pitchFamily="49" charset="-122"/>
              </a:rPr>
              <a:t>Miner</a:t>
            </a:r>
            <a:r>
              <a:rPr lang="zh-CN" altLang="en-US" sz="2400" dirty="0">
                <a:solidFill>
                  <a:srgbClr val="0000FF"/>
                </a:solidFill>
                <a:latin typeface="黑体" panose="02010609060101010101" pitchFamily="49" charset="-122"/>
                <a:ea typeface="黑体" panose="02010609060101010101" pitchFamily="49" charset="-122"/>
              </a:rPr>
              <a:t>法则）</a:t>
            </a:r>
            <a:endParaRPr lang="zh-CN" altLang="en-US" sz="2400" dirty="0">
              <a:solidFill>
                <a:srgbClr val="0000FF"/>
              </a:solidFill>
              <a:latin typeface="黑体" panose="02010609060101010101" pitchFamily="49" charset="-122"/>
              <a:ea typeface="黑体" panose="02010609060101010101" pitchFamily="49" charset="-122"/>
            </a:endParaRPr>
          </a:p>
        </p:txBody>
      </p:sp>
      <p:graphicFrame>
        <p:nvGraphicFramePr>
          <p:cNvPr id="9" name="Object 45"/>
          <p:cNvGraphicFramePr>
            <a:graphicFrameLocks noChangeAspect="1"/>
          </p:cNvGraphicFramePr>
          <p:nvPr/>
        </p:nvGraphicFramePr>
        <p:xfrm>
          <a:off x="801990" y="5643270"/>
          <a:ext cx="3465000" cy="890588"/>
        </p:xfrm>
        <a:graphic>
          <a:graphicData uri="http://schemas.openxmlformats.org/presentationml/2006/ole">
            <mc:AlternateContent xmlns:mc="http://schemas.openxmlformats.org/markup-compatibility/2006">
              <mc:Choice xmlns:v="urn:schemas-microsoft-com:vml" Requires="v">
                <p:oleObj spid="_x0000_s2" name="公式" r:id="rId1" imgW="40233600" imgH="10363200" progId="Equation.3">
                  <p:embed/>
                </p:oleObj>
              </mc:Choice>
              <mc:Fallback>
                <p:oleObj name="公式" r:id="rId1" imgW="40233600" imgH="10363200" progId="Equation.3">
                  <p:embed/>
                  <p:pic>
                    <p:nvPicPr>
                      <p:cNvPr id="0" name="图片 113717"/>
                      <p:cNvPicPr>
                        <a:picLocks noChangeAspect="1" noChangeArrowheads="1"/>
                      </p:cNvPicPr>
                      <p:nvPr/>
                    </p:nvPicPr>
                    <p:blipFill>
                      <a:blip r:embed="rId2"/>
                      <a:srcRect/>
                      <a:stretch>
                        <a:fillRect/>
                      </a:stretch>
                    </p:blipFill>
                    <p:spPr bwMode="auto">
                      <a:xfrm>
                        <a:off x="801990" y="5643270"/>
                        <a:ext cx="3465000" cy="890588"/>
                      </a:xfrm>
                      <a:prstGeom prst="rect">
                        <a:avLst/>
                      </a:prstGeom>
                      <a:noFill/>
                      <a:ln>
                        <a:noFill/>
                      </a:ln>
                      <a:effectLst/>
                    </p:spPr>
                  </p:pic>
                </p:oleObj>
              </mc:Fallback>
            </mc:AlternateContent>
          </a:graphicData>
        </a:graphic>
      </p:graphicFrame>
      <p:graphicFrame>
        <p:nvGraphicFramePr>
          <p:cNvPr id="10" name="Object 46"/>
          <p:cNvGraphicFramePr>
            <a:graphicFrameLocks noChangeAspect="1"/>
          </p:cNvGraphicFramePr>
          <p:nvPr/>
        </p:nvGraphicFramePr>
        <p:xfrm>
          <a:off x="4507145" y="5481075"/>
          <a:ext cx="1823413" cy="1215000"/>
        </p:xfrm>
        <a:graphic>
          <a:graphicData uri="http://schemas.openxmlformats.org/presentationml/2006/ole">
            <mc:AlternateContent xmlns:mc="http://schemas.openxmlformats.org/markup-compatibility/2006">
              <mc:Choice xmlns:v="urn:schemas-microsoft-com:vml" Requires="v">
                <p:oleObj spid="_x0000_s3" name="公式" r:id="rId3" imgW="647700" imgH="431800" progId="Equation.3">
                  <p:embed/>
                </p:oleObj>
              </mc:Choice>
              <mc:Fallback>
                <p:oleObj name="公式" r:id="rId3" imgW="647700" imgH="431800" progId="Equation.3">
                  <p:embed/>
                  <p:pic>
                    <p:nvPicPr>
                      <p:cNvPr id="0" name="图片 1137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7145" y="5481075"/>
                        <a:ext cx="1823413" cy="1215000"/>
                      </a:xfrm>
                      <a:prstGeom prst="rect">
                        <a:avLst/>
                      </a:prstGeom>
                      <a:noFill/>
                      <a:ln>
                        <a:noFill/>
                      </a:ln>
                      <a:effectLst/>
                    </p:spPr>
                  </p:pic>
                </p:oleObj>
              </mc:Fallback>
            </mc:AlternateContent>
          </a:graphicData>
        </a:graphic>
      </p:graphicFrame>
      <p:sp>
        <p:nvSpPr>
          <p:cNvPr id="11" name="Rectangle 3"/>
          <p:cNvSpPr>
            <a:spLocks noChangeArrowheads="1"/>
          </p:cNvSpPr>
          <p:nvPr/>
        </p:nvSpPr>
        <p:spPr bwMode="auto">
          <a:xfrm>
            <a:off x="36830" y="143510"/>
            <a:ext cx="790638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CC3300"/>
                </a:solidFill>
                <a:latin typeface="黑体" panose="02010609060101010101" pitchFamily="49" charset="-122"/>
                <a:ea typeface="黑体" panose="02010609060101010101" pitchFamily="49" charset="-122"/>
              </a:rPr>
              <a:t>（三）、单向规律性非稳定变应力时的疲劳强度计算</a:t>
            </a:r>
            <a:endParaRPr lang="zh-CN" altLang="en-US" sz="2400" dirty="0">
              <a:solidFill>
                <a:srgbClr val="CC3300"/>
              </a:solidFill>
              <a:latin typeface="黑体" panose="02010609060101010101" pitchFamily="49" charset="-122"/>
              <a:ea typeface="黑体" panose="02010609060101010101" pitchFamily="49" charset="-122"/>
            </a:endParaRPr>
          </a:p>
        </p:txBody>
      </p:sp>
      <p:grpSp>
        <p:nvGrpSpPr>
          <p:cNvPr id="12" name="Group 67"/>
          <p:cNvGrpSpPr/>
          <p:nvPr/>
        </p:nvGrpSpPr>
        <p:grpSpPr bwMode="auto">
          <a:xfrm>
            <a:off x="3810000" y="1073150"/>
            <a:ext cx="3940175" cy="396875"/>
            <a:chOff x="2400" y="710"/>
            <a:chExt cx="2482" cy="250"/>
          </a:xfrm>
        </p:grpSpPr>
        <p:sp>
          <p:nvSpPr>
            <p:cNvPr id="13" name="Rectangle 30"/>
            <p:cNvSpPr>
              <a:spLocks noChangeArrowheads="1"/>
            </p:cNvSpPr>
            <p:nvPr/>
          </p:nvSpPr>
          <p:spPr bwMode="auto">
            <a:xfrm>
              <a:off x="2688" y="710"/>
              <a:ext cx="2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用统计方法进行疲劳强度计算</a:t>
              </a:r>
              <a:endParaRPr lang="zh-CN" altLang="en-US" sz="2000">
                <a:solidFill>
                  <a:srgbClr val="000099"/>
                </a:solidFill>
              </a:endParaRPr>
            </a:p>
          </p:txBody>
        </p:sp>
        <p:sp>
          <p:nvSpPr>
            <p:cNvPr id="14" name="AutoShape 50"/>
            <p:cNvSpPr>
              <a:spLocks noChangeArrowheads="1"/>
            </p:cNvSpPr>
            <p:nvPr/>
          </p:nvSpPr>
          <p:spPr bwMode="auto">
            <a:xfrm>
              <a:off x="2400" y="816"/>
              <a:ext cx="227" cy="91"/>
            </a:xfrm>
            <a:prstGeom prst="rightArrow">
              <a:avLst>
                <a:gd name="adj1" fmla="val 50000"/>
                <a:gd name="adj2" fmla="val 62363"/>
              </a:avLst>
            </a:prstGeom>
            <a:solidFill>
              <a:srgbClr val="CC3300"/>
            </a:solidFill>
            <a:ln w="9525">
              <a:solidFill>
                <a:srgbClr val="CC3300"/>
              </a:solidFill>
              <a:miter lim="800000"/>
            </a:ln>
          </p:spPr>
          <p:txBody>
            <a:bodyPr wrap="none" lIns="90000" tIns="46800" rIns="90000" bIns="46800"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pSp>
      <p:grpSp>
        <p:nvGrpSpPr>
          <p:cNvPr id="15" name="Group 69"/>
          <p:cNvGrpSpPr/>
          <p:nvPr/>
        </p:nvGrpSpPr>
        <p:grpSpPr bwMode="auto">
          <a:xfrm>
            <a:off x="809625" y="1073150"/>
            <a:ext cx="2978150" cy="817563"/>
            <a:chOff x="510" y="676"/>
            <a:chExt cx="1876" cy="515"/>
          </a:xfrm>
        </p:grpSpPr>
        <p:sp>
          <p:nvSpPr>
            <p:cNvPr id="16" name="Rectangle 26"/>
            <p:cNvSpPr>
              <a:spLocks noChangeArrowheads="1"/>
            </p:cNvSpPr>
            <p:nvPr/>
          </p:nvSpPr>
          <p:spPr bwMode="auto">
            <a:xfrm>
              <a:off x="510" y="825"/>
              <a:ext cx="10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Times New Roman" panose="02020603050405020304" pitchFamily="18" charset="0"/>
                </a:rPr>
                <a:t>不稳定变应力</a:t>
              </a:r>
              <a:endParaRPr lang="zh-CN" altLang="en-US" sz="2000" dirty="0">
                <a:solidFill>
                  <a:srgbClr val="000099"/>
                </a:solidFill>
                <a:latin typeface="Times New Roman" panose="02020603050405020304" pitchFamily="18" charset="0"/>
              </a:endParaRPr>
            </a:p>
          </p:txBody>
        </p:sp>
        <p:sp>
          <p:nvSpPr>
            <p:cNvPr id="17" name="AutoShape 37"/>
            <p:cNvSpPr/>
            <p:nvPr/>
          </p:nvSpPr>
          <p:spPr bwMode="auto">
            <a:xfrm>
              <a:off x="1536" y="825"/>
              <a:ext cx="96" cy="288"/>
            </a:xfrm>
            <a:prstGeom prst="leftBrace">
              <a:avLst>
                <a:gd name="adj1" fmla="val 20111"/>
                <a:gd name="adj2" fmla="val 46741"/>
              </a:avLst>
            </a:prstGeom>
            <a:noFill/>
            <a:ln w="9525">
              <a:solidFill>
                <a:srgbClr val="000099"/>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zh-CN">
                <a:solidFill>
                  <a:srgbClr val="000099"/>
                </a:solidFill>
              </a:endParaRPr>
            </a:p>
          </p:txBody>
        </p:sp>
        <p:sp>
          <p:nvSpPr>
            <p:cNvPr id="18" name="Rectangle 28"/>
            <p:cNvSpPr>
              <a:spLocks noChangeArrowheads="1"/>
            </p:cNvSpPr>
            <p:nvPr/>
          </p:nvSpPr>
          <p:spPr bwMode="auto">
            <a:xfrm>
              <a:off x="1632" y="676"/>
              <a:ext cx="7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非规律性</a:t>
              </a:r>
              <a:endParaRPr lang="zh-CN" altLang="en-US" sz="2000">
                <a:solidFill>
                  <a:srgbClr val="000099"/>
                </a:solidFill>
                <a:latin typeface="Times New Roman" panose="02020603050405020304" pitchFamily="18" charset="0"/>
              </a:endParaRPr>
            </a:p>
          </p:txBody>
        </p:sp>
        <p:sp>
          <p:nvSpPr>
            <p:cNvPr id="19" name="Rectangle 29"/>
            <p:cNvSpPr>
              <a:spLocks noChangeArrowheads="1"/>
            </p:cNvSpPr>
            <p:nvPr/>
          </p:nvSpPr>
          <p:spPr bwMode="auto">
            <a:xfrm>
              <a:off x="1632" y="941"/>
              <a:ext cx="5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规律性</a:t>
              </a:r>
              <a:endParaRPr lang="zh-CN" altLang="en-US" sz="2000">
                <a:solidFill>
                  <a:srgbClr val="000099"/>
                </a:solidFill>
                <a:latin typeface="Times New Roman" panose="02020603050405020304" pitchFamily="18" charset="0"/>
              </a:endParaRPr>
            </a:p>
          </p:txBody>
        </p:sp>
      </p:grpSp>
      <p:grpSp>
        <p:nvGrpSpPr>
          <p:cNvPr id="20" name="Group 68"/>
          <p:cNvGrpSpPr/>
          <p:nvPr/>
        </p:nvGrpSpPr>
        <p:grpSpPr bwMode="auto">
          <a:xfrm>
            <a:off x="3810000" y="1484313"/>
            <a:ext cx="4448175" cy="396875"/>
            <a:chOff x="2400" y="998"/>
            <a:chExt cx="2802" cy="250"/>
          </a:xfrm>
        </p:grpSpPr>
        <p:sp>
          <p:nvSpPr>
            <p:cNvPr id="21" name="AutoShape 51"/>
            <p:cNvSpPr>
              <a:spLocks noChangeArrowheads="1"/>
            </p:cNvSpPr>
            <p:nvPr/>
          </p:nvSpPr>
          <p:spPr bwMode="auto">
            <a:xfrm>
              <a:off x="2400" y="1104"/>
              <a:ext cx="227" cy="91"/>
            </a:xfrm>
            <a:prstGeom prst="rightArrow">
              <a:avLst>
                <a:gd name="adj1" fmla="val 50000"/>
                <a:gd name="adj2" fmla="val 62363"/>
              </a:avLst>
            </a:prstGeom>
            <a:solidFill>
              <a:srgbClr val="CC3300"/>
            </a:solidFill>
            <a:ln w="9525">
              <a:solidFill>
                <a:srgbClr val="CC3300"/>
              </a:solidFill>
              <a:miter lim="800000"/>
            </a:ln>
          </p:spPr>
          <p:txBody>
            <a:bodyPr wrap="none" lIns="90000" tIns="46800" rIns="90000" bIns="46800"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22" name="Rectangle 31"/>
            <p:cNvSpPr>
              <a:spLocks noChangeArrowheads="1"/>
            </p:cNvSpPr>
            <p:nvPr/>
          </p:nvSpPr>
          <p:spPr bwMode="auto">
            <a:xfrm>
              <a:off x="2688" y="998"/>
              <a:ext cx="25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按</a:t>
              </a:r>
              <a:r>
                <a:rPr lang="zh-CN" altLang="en-US" sz="2000" dirty="0">
                  <a:solidFill>
                    <a:srgbClr val="FF0000"/>
                  </a:solidFill>
                </a:rPr>
                <a:t>损伤累</a:t>
              </a:r>
              <a:r>
                <a:rPr lang="zh-CN" altLang="en-US" sz="2000" dirty="0">
                  <a:solidFill>
                    <a:srgbClr val="FF0000"/>
                  </a:solidFill>
                  <a:latin typeface="Times New Roman" panose="02020603050405020304" pitchFamily="18" charset="0"/>
                </a:rPr>
                <a:t>积</a:t>
              </a:r>
              <a:r>
                <a:rPr lang="zh-CN" altLang="en-US" sz="2000" dirty="0">
                  <a:solidFill>
                    <a:srgbClr val="FF0000"/>
                  </a:solidFill>
                </a:rPr>
                <a:t>假说</a:t>
              </a:r>
              <a:r>
                <a:rPr lang="zh-CN" altLang="en-US" sz="2000" dirty="0">
                  <a:solidFill>
                    <a:srgbClr val="000099"/>
                  </a:solidFill>
                </a:rPr>
                <a:t>进行疲劳强度计算</a:t>
              </a:r>
              <a:endParaRPr lang="zh-CN" altLang="en-US" sz="2000" dirty="0">
                <a:solidFill>
                  <a:srgbClr val="000099"/>
                </a:solidFill>
              </a:endParaRPr>
            </a:p>
          </p:txBody>
        </p:sp>
      </p:grpSp>
      <p:sp>
        <p:nvSpPr>
          <p:cNvPr id="13329" name="直接连接符 6"/>
          <p:cNvSpPr>
            <a:spLocks noChangeShapeType="1"/>
          </p:cNvSpPr>
          <p:nvPr/>
        </p:nvSpPr>
        <p:spPr bwMode="auto">
          <a:xfrm>
            <a:off x="0" y="905510"/>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1000"/>
                                        <p:tgtEl>
                                          <p:spTgt spid="5"/>
                                        </p:tgtEl>
                                      </p:cBhvr>
                                    </p:animEffect>
                                  </p:childTnLst>
                                </p:cTn>
                              </p:par>
                            </p:childTnLst>
                          </p:cTn>
                        </p:par>
                        <p:par>
                          <p:cTn id="28" fill="hold">
                            <p:stCondLst>
                              <p:cond delay="1000"/>
                            </p:stCondLst>
                            <p:childTnLst>
                              <p:par>
                                <p:cTn id="29" presetID="22" presetClass="entr" presetSubtype="1"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up)">
                                      <p:cBhvr>
                                        <p:cTn id="31" dur="10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up)">
                                      <p:cBhvr>
                                        <p:cTn id="36" dur="1000"/>
                                        <p:tgtEl>
                                          <p:spTgt spid="8"/>
                                        </p:tgtEl>
                                      </p:cBhvr>
                                    </p:animEffect>
                                  </p:childTnLst>
                                </p:cTn>
                              </p:par>
                            </p:childTnLst>
                          </p:cTn>
                        </p:par>
                        <p:par>
                          <p:cTn id="37" fill="hold">
                            <p:stCondLst>
                              <p:cond delay="1000"/>
                            </p:stCondLst>
                            <p:childTnLst>
                              <p:par>
                                <p:cTn id="38" presetID="22" presetClass="entr" presetSubtype="1" fill="hold" grpId="0"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up)">
                                      <p:cBhvr>
                                        <p:cTn id="40" dur="10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left)">
                                      <p:cBhvr>
                                        <p:cTn id="5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1"/>
          <p:cNvGrpSpPr/>
          <p:nvPr/>
        </p:nvGrpSpPr>
        <p:grpSpPr bwMode="auto">
          <a:xfrm>
            <a:off x="657000" y="459000"/>
            <a:ext cx="7820025" cy="2676525"/>
            <a:chOff x="528" y="1104"/>
            <a:chExt cx="4926" cy="1686"/>
          </a:xfrm>
        </p:grpSpPr>
        <p:pic>
          <p:nvPicPr>
            <p:cNvPr id="9242" name="Picture 65" descr="T"/>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28" y="1104"/>
              <a:ext cx="2592" cy="1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43" name="Text Box 70"/>
            <p:cNvSpPr txBox="1">
              <a:spLocks noChangeArrowheads="1"/>
            </p:cNvSpPr>
            <p:nvPr/>
          </p:nvSpPr>
          <p:spPr bwMode="auto">
            <a:xfrm>
              <a:off x="786" y="2557"/>
              <a:ext cx="205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a:solidFill>
                    <a:srgbClr val="000099"/>
                  </a:solidFill>
                </a:rPr>
                <a:t>规律性不稳定变应力示意图</a:t>
              </a:r>
              <a:endParaRPr lang="zh-CN" altLang="en-US" sz="1800">
                <a:solidFill>
                  <a:srgbClr val="000099"/>
                </a:solidFill>
              </a:endParaRPr>
            </a:p>
          </p:txBody>
        </p:sp>
        <p:sp>
          <p:nvSpPr>
            <p:cNvPr id="4" name="Text Box 70"/>
            <p:cNvSpPr txBox="1">
              <a:spLocks noChangeArrowheads="1"/>
            </p:cNvSpPr>
            <p:nvPr/>
          </p:nvSpPr>
          <p:spPr bwMode="auto">
            <a:xfrm>
              <a:off x="3396" y="2557"/>
              <a:ext cx="205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800">
                  <a:solidFill>
                    <a:srgbClr val="000099"/>
                  </a:solidFill>
                </a:rPr>
                <a:t>规律性不稳定变在</a:t>
              </a:r>
              <a:r>
                <a:rPr lang="en-US" altLang="zh-CN" sz="1800">
                  <a:solidFill>
                    <a:srgbClr val="000099"/>
                  </a:solidFill>
                </a:rPr>
                <a:t>       </a:t>
              </a:r>
              <a:r>
                <a:rPr lang="zh-CN" altLang="en-US" sz="1800">
                  <a:solidFill>
                    <a:srgbClr val="000099"/>
                  </a:solidFill>
                </a:rPr>
                <a:t>曲线上</a:t>
              </a:r>
              <a:endParaRPr lang="zh-CN" altLang="en-US" sz="1800">
                <a:solidFill>
                  <a:srgbClr val="000099"/>
                </a:solidFill>
              </a:endParaRPr>
            </a:p>
          </p:txBody>
        </p:sp>
      </p:grpSp>
      <p:sp>
        <p:nvSpPr>
          <p:cNvPr id="59424" name="Rectangle 32"/>
          <p:cNvSpPr>
            <a:spLocks noChangeArrowheads="1"/>
          </p:cNvSpPr>
          <p:nvPr/>
        </p:nvSpPr>
        <p:spPr bwMode="auto">
          <a:xfrm>
            <a:off x="207000" y="3474000"/>
            <a:ext cx="873283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a:t>
            </a:r>
            <a:r>
              <a:rPr lang="zh-CN" altLang="en-US" dirty="0">
                <a:solidFill>
                  <a:srgbClr val="000099"/>
                </a:solidFill>
                <a:latin typeface="黑体" panose="02010609060101010101" pitchFamily="49" charset="-122"/>
                <a:ea typeface="黑体" panose="02010609060101010101" pitchFamily="49" charset="-122"/>
              </a:rPr>
              <a:t>若应力每循环一次都对材料的破坏起相同的作用，则应力 </a:t>
            </a:r>
            <a:r>
              <a:rPr lang="en-US" altLang="zh-CN" i="1" dirty="0">
                <a:solidFill>
                  <a:srgbClr val="000099"/>
                </a:solidFill>
                <a:latin typeface="黑体" panose="02010609060101010101" pitchFamily="49" charset="-122"/>
                <a:ea typeface="黑体" panose="02010609060101010101" pitchFamily="49" charset="-122"/>
              </a:rPr>
              <a:t>σ</a:t>
            </a:r>
            <a:r>
              <a:rPr lang="en-US" altLang="zh-CN" baseline="-25000" dirty="0">
                <a:solidFill>
                  <a:srgbClr val="000099"/>
                </a:solidFill>
                <a:latin typeface="黑体" panose="02010609060101010101" pitchFamily="49" charset="-122"/>
                <a:ea typeface="黑体" panose="02010609060101010101" pitchFamily="49" charset="-122"/>
              </a:rPr>
              <a:t>1 </a:t>
            </a:r>
            <a:r>
              <a:rPr lang="zh-CN" altLang="en-US" dirty="0">
                <a:solidFill>
                  <a:srgbClr val="000099"/>
                </a:solidFill>
                <a:latin typeface="黑体" panose="02010609060101010101" pitchFamily="49" charset="-122"/>
                <a:ea typeface="黑体" panose="02010609060101010101" pitchFamily="49" charset="-122"/>
              </a:rPr>
              <a:t>每循环一次对材料的损伤率即为</a:t>
            </a:r>
            <a:r>
              <a:rPr lang="en-US" altLang="zh-CN" dirty="0">
                <a:solidFill>
                  <a:srgbClr val="000099"/>
                </a:solidFill>
                <a:latin typeface="黑体" panose="02010609060101010101" pitchFamily="49" charset="-122"/>
                <a:ea typeface="黑体" panose="02010609060101010101" pitchFamily="49" charset="-122"/>
              </a:rPr>
              <a:t>1/</a:t>
            </a:r>
            <a:r>
              <a:rPr lang="en-US" altLang="zh-CN" i="1" dirty="0">
                <a:solidFill>
                  <a:srgbClr val="000099"/>
                </a:solidFill>
                <a:latin typeface="黑体" panose="02010609060101010101" pitchFamily="49" charset="-122"/>
                <a:ea typeface="黑体" panose="02010609060101010101" pitchFamily="49" charset="-122"/>
              </a:rPr>
              <a:t>N</a:t>
            </a:r>
            <a:r>
              <a:rPr lang="en-US" altLang="zh-CN" baseline="-25000" dirty="0">
                <a:solidFill>
                  <a:srgbClr val="000099"/>
                </a:solidFill>
                <a:latin typeface="黑体" panose="02010609060101010101" pitchFamily="49" charset="-122"/>
                <a:ea typeface="黑体" panose="02010609060101010101" pitchFamily="49" charset="-122"/>
              </a:rPr>
              <a:t>1</a:t>
            </a:r>
            <a:r>
              <a:rPr lang="zh-CN" altLang="en-US" dirty="0">
                <a:solidFill>
                  <a:srgbClr val="000099"/>
                </a:solidFill>
                <a:latin typeface="黑体" panose="02010609060101010101" pitchFamily="49" charset="-122"/>
                <a:ea typeface="黑体" panose="02010609060101010101" pitchFamily="49" charset="-122"/>
              </a:rPr>
              <a:t>，而循环了</a:t>
            </a:r>
            <a:r>
              <a:rPr lang="en-US" altLang="zh-CN" i="1" dirty="0">
                <a:solidFill>
                  <a:srgbClr val="000099"/>
                </a:solidFill>
                <a:latin typeface="黑体" panose="02010609060101010101" pitchFamily="49" charset="-122"/>
                <a:ea typeface="黑体" panose="02010609060101010101" pitchFamily="49" charset="-122"/>
              </a:rPr>
              <a:t>n</a:t>
            </a:r>
            <a:r>
              <a:rPr lang="en-US" altLang="zh-CN" baseline="-25000" dirty="0">
                <a:solidFill>
                  <a:srgbClr val="000099"/>
                </a:solidFill>
                <a:latin typeface="黑体" panose="02010609060101010101" pitchFamily="49" charset="-122"/>
                <a:ea typeface="黑体" panose="02010609060101010101" pitchFamily="49" charset="-122"/>
              </a:rPr>
              <a:t>1</a:t>
            </a:r>
            <a:r>
              <a:rPr lang="zh-CN" altLang="en-US" dirty="0">
                <a:solidFill>
                  <a:srgbClr val="000099"/>
                </a:solidFill>
                <a:latin typeface="黑体" panose="02010609060101010101" pitchFamily="49" charset="-122"/>
                <a:ea typeface="黑体" panose="02010609060101010101" pitchFamily="49" charset="-122"/>
              </a:rPr>
              <a:t>次的</a:t>
            </a:r>
            <a:r>
              <a:rPr lang="en-US" altLang="zh-CN" i="1" dirty="0">
                <a:solidFill>
                  <a:srgbClr val="000099"/>
                </a:solidFill>
                <a:latin typeface="黑体" panose="02010609060101010101" pitchFamily="49" charset="-122"/>
                <a:ea typeface="黑体" panose="02010609060101010101" pitchFamily="49" charset="-122"/>
              </a:rPr>
              <a:t>σ</a:t>
            </a:r>
            <a:r>
              <a:rPr lang="en-US" altLang="zh-CN" baseline="-25000" dirty="0">
                <a:solidFill>
                  <a:srgbClr val="000099"/>
                </a:solidFill>
                <a:latin typeface="黑体" panose="02010609060101010101" pitchFamily="49" charset="-122"/>
                <a:ea typeface="黑体" panose="02010609060101010101" pitchFamily="49" charset="-122"/>
              </a:rPr>
              <a:t>1</a:t>
            </a:r>
            <a:r>
              <a:rPr lang="zh-CN" altLang="en-US" dirty="0">
                <a:solidFill>
                  <a:srgbClr val="000099"/>
                </a:solidFill>
                <a:latin typeface="黑体" panose="02010609060101010101" pitchFamily="49" charset="-122"/>
                <a:ea typeface="黑体" panose="02010609060101010101" pitchFamily="49" charset="-122"/>
              </a:rPr>
              <a:t>对材料的损伤率即为</a:t>
            </a:r>
            <a:r>
              <a:rPr lang="en-US" altLang="zh-CN" i="1" dirty="0">
                <a:solidFill>
                  <a:srgbClr val="000099"/>
                </a:solidFill>
                <a:latin typeface="黑体" panose="02010609060101010101" pitchFamily="49" charset="-122"/>
                <a:ea typeface="黑体" panose="02010609060101010101" pitchFamily="49" charset="-122"/>
              </a:rPr>
              <a:t>n</a:t>
            </a:r>
            <a:r>
              <a:rPr lang="en-US" altLang="zh-CN" baseline="-25000" dirty="0">
                <a:solidFill>
                  <a:srgbClr val="000099"/>
                </a:solidFill>
                <a:latin typeface="黑体" panose="02010609060101010101" pitchFamily="49" charset="-122"/>
                <a:ea typeface="黑体" panose="02010609060101010101" pitchFamily="49" charset="-122"/>
              </a:rPr>
              <a:t>1</a:t>
            </a:r>
            <a:r>
              <a:rPr lang="en-US" altLang="zh-CN" dirty="0">
                <a:solidFill>
                  <a:srgbClr val="000099"/>
                </a:solidFill>
                <a:latin typeface="黑体" panose="02010609060101010101" pitchFamily="49" charset="-122"/>
                <a:ea typeface="黑体" panose="02010609060101010101" pitchFamily="49" charset="-122"/>
              </a:rPr>
              <a:t>/</a:t>
            </a:r>
            <a:r>
              <a:rPr lang="en-US" altLang="zh-CN" i="1" dirty="0">
                <a:solidFill>
                  <a:srgbClr val="000099"/>
                </a:solidFill>
                <a:latin typeface="黑体" panose="02010609060101010101" pitchFamily="49" charset="-122"/>
                <a:ea typeface="黑体" panose="02010609060101010101" pitchFamily="49" charset="-122"/>
              </a:rPr>
              <a:t>N</a:t>
            </a:r>
            <a:r>
              <a:rPr lang="en-US" altLang="zh-CN" baseline="-25000" dirty="0">
                <a:solidFill>
                  <a:srgbClr val="000099"/>
                </a:solidFill>
                <a:latin typeface="黑体" panose="02010609060101010101" pitchFamily="49" charset="-122"/>
                <a:ea typeface="黑体" panose="02010609060101010101" pitchFamily="49" charset="-122"/>
              </a:rPr>
              <a:t>1</a:t>
            </a:r>
            <a:r>
              <a:rPr lang="zh-CN" altLang="en-US" dirty="0">
                <a:solidFill>
                  <a:srgbClr val="000099"/>
                </a:solidFill>
                <a:latin typeface="黑体" panose="02010609060101010101" pitchFamily="49" charset="-122"/>
                <a:ea typeface="黑体" panose="02010609060101010101" pitchFamily="49" charset="-122"/>
              </a:rPr>
              <a:t>。如此类推，循环了</a:t>
            </a:r>
            <a:r>
              <a:rPr lang="en-US" altLang="zh-CN" i="1" dirty="0">
                <a:solidFill>
                  <a:srgbClr val="000099"/>
                </a:solidFill>
                <a:latin typeface="黑体" panose="02010609060101010101" pitchFamily="49" charset="-122"/>
                <a:ea typeface="黑体" panose="02010609060101010101" pitchFamily="49" charset="-122"/>
              </a:rPr>
              <a:t>n</a:t>
            </a:r>
            <a:r>
              <a:rPr lang="en-US" altLang="zh-CN" baseline="-25000" dirty="0">
                <a:solidFill>
                  <a:srgbClr val="000099"/>
                </a:solidFill>
                <a:latin typeface="黑体" panose="02010609060101010101" pitchFamily="49" charset="-122"/>
                <a:ea typeface="黑体" panose="02010609060101010101" pitchFamily="49" charset="-122"/>
              </a:rPr>
              <a:t>2</a:t>
            </a:r>
            <a:r>
              <a:rPr lang="zh-CN" altLang="en-US" dirty="0">
                <a:solidFill>
                  <a:srgbClr val="000099"/>
                </a:solidFill>
                <a:latin typeface="黑体" panose="02010609060101010101" pitchFamily="49" charset="-122"/>
                <a:ea typeface="黑体" panose="02010609060101010101" pitchFamily="49" charset="-122"/>
              </a:rPr>
              <a:t>次的</a:t>
            </a:r>
            <a:r>
              <a:rPr lang="en-US" altLang="zh-CN" i="1" dirty="0">
                <a:solidFill>
                  <a:srgbClr val="000099"/>
                </a:solidFill>
                <a:latin typeface="黑体" panose="02010609060101010101" pitchFamily="49" charset="-122"/>
                <a:ea typeface="黑体" panose="02010609060101010101" pitchFamily="49" charset="-122"/>
              </a:rPr>
              <a:t>σ</a:t>
            </a:r>
            <a:r>
              <a:rPr lang="en-US" altLang="zh-CN" baseline="-25000" dirty="0">
                <a:solidFill>
                  <a:srgbClr val="000099"/>
                </a:solidFill>
                <a:latin typeface="黑体" panose="02010609060101010101" pitchFamily="49" charset="-122"/>
                <a:ea typeface="黑体" panose="02010609060101010101" pitchFamily="49" charset="-122"/>
              </a:rPr>
              <a:t>2</a:t>
            </a:r>
            <a:r>
              <a:rPr lang="zh-CN" altLang="en-US" dirty="0">
                <a:solidFill>
                  <a:srgbClr val="000099"/>
                </a:solidFill>
                <a:latin typeface="黑体" panose="02010609060101010101" pitchFamily="49" charset="-122"/>
                <a:ea typeface="黑体" panose="02010609060101010101" pitchFamily="49" charset="-122"/>
              </a:rPr>
              <a:t>对材料的损伤率即为</a:t>
            </a:r>
            <a:r>
              <a:rPr lang="en-US" altLang="zh-CN" i="1" dirty="0">
                <a:solidFill>
                  <a:srgbClr val="000099"/>
                </a:solidFill>
                <a:latin typeface="黑体" panose="02010609060101010101" pitchFamily="49" charset="-122"/>
                <a:ea typeface="黑体" panose="02010609060101010101" pitchFamily="49" charset="-122"/>
              </a:rPr>
              <a:t>n</a:t>
            </a:r>
            <a:r>
              <a:rPr lang="en-US" altLang="zh-CN" baseline="-25000" dirty="0">
                <a:solidFill>
                  <a:srgbClr val="000099"/>
                </a:solidFill>
                <a:latin typeface="黑体" panose="02010609060101010101" pitchFamily="49" charset="-122"/>
                <a:ea typeface="黑体" panose="02010609060101010101" pitchFamily="49" charset="-122"/>
              </a:rPr>
              <a:t>2</a:t>
            </a:r>
            <a:r>
              <a:rPr lang="en-US" altLang="zh-CN" dirty="0">
                <a:solidFill>
                  <a:srgbClr val="000099"/>
                </a:solidFill>
                <a:latin typeface="黑体" panose="02010609060101010101" pitchFamily="49" charset="-122"/>
                <a:ea typeface="黑体" panose="02010609060101010101" pitchFamily="49" charset="-122"/>
              </a:rPr>
              <a:t>/</a:t>
            </a:r>
            <a:r>
              <a:rPr lang="en-US" altLang="zh-CN" i="1" dirty="0">
                <a:solidFill>
                  <a:srgbClr val="000099"/>
                </a:solidFill>
                <a:latin typeface="黑体" panose="02010609060101010101" pitchFamily="49" charset="-122"/>
                <a:ea typeface="黑体" panose="02010609060101010101" pitchFamily="49" charset="-122"/>
              </a:rPr>
              <a:t>N</a:t>
            </a:r>
            <a:r>
              <a:rPr lang="en-US" altLang="zh-CN" baseline="-25000" dirty="0">
                <a:solidFill>
                  <a:srgbClr val="000099"/>
                </a:solidFill>
                <a:latin typeface="黑体" panose="02010609060101010101" pitchFamily="49" charset="-122"/>
                <a:ea typeface="黑体" panose="02010609060101010101" pitchFamily="49" charset="-122"/>
              </a:rPr>
              <a:t>2</a:t>
            </a:r>
            <a:r>
              <a:rPr lang="zh-CN" altLang="en-US" dirty="0">
                <a:solidFill>
                  <a:srgbClr val="000099"/>
                </a:solidFill>
                <a:latin typeface="黑体" panose="02010609060101010101" pitchFamily="49" charset="-122"/>
                <a:ea typeface="黑体" panose="02010609060101010101" pitchFamily="49" charset="-122"/>
              </a:rPr>
              <a:t>，</a:t>
            </a:r>
            <a:r>
              <a:rPr lang="en-US" altLang="zh-CN" dirty="0">
                <a:solidFill>
                  <a:srgbClr val="000099"/>
                </a:solidFill>
                <a:latin typeface="黑体" panose="02010609060101010101" pitchFamily="49" charset="-122"/>
                <a:ea typeface="黑体" panose="02010609060101010101" pitchFamily="49" charset="-122"/>
              </a:rPr>
              <a:t>……</a:t>
            </a:r>
            <a:r>
              <a:rPr lang="zh-CN" altLang="en-US" dirty="0">
                <a:solidFill>
                  <a:srgbClr val="000099"/>
                </a:solidFill>
                <a:latin typeface="黑体" panose="02010609060101010101" pitchFamily="49" charset="-122"/>
                <a:ea typeface="黑体" panose="02010609060101010101" pitchFamily="49" charset="-122"/>
              </a:rPr>
              <a:t>。</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59426" name="Text Box 34"/>
          <p:cNvSpPr txBox="1">
            <a:spLocks noChangeArrowheads="1"/>
          </p:cNvSpPr>
          <p:nvPr/>
        </p:nvSpPr>
        <p:spPr bwMode="auto">
          <a:xfrm>
            <a:off x="297000" y="5139000"/>
            <a:ext cx="8740191"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000099"/>
                </a:solidFill>
                <a:latin typeface="黑体" panose="02010609060101010101" pitchFamily="49" charset="-122"/>
                <a:ea typeface="黑体" panose="02010609060101010101" pitchFamily="49" charset="-122"/>
              </a:rPr>
              <a:t>当损伤率达到</a:t>
            </a:r>
            <a:r>
              <a:rPr lang="en-US" altLang="zh-CN" dirty="0">
                <a:solidFill>
                  <a:srgbClr val="000099"/>
                </a:solidFill>
                <a:latin typeface="黑体" panose="02010609060101010101" pitchFamily="49" charset="-122"/>
                <a:ea typeface="黑体" panose="02010609060101010101" pitchFamily="49" charset="-122"/>
              </a:rPr>
              <a:t>100%</a:t>
            </a:r>
            <a:r>
              <a:rPr lang="zh-CN" altLang="en-US" dirty="0">
                <a:solidFill>
                  <a:srgbClr val="000099"/>
                </a:solidFill>
                <a:latin typeface="黑体" panose="02010609060101010101" pitchFamily="49" charset="-122"/>
                <a:ea typeface="黑体" panose="02010609060101010101" pitchFamily="49" charset="-122"/>
              </a:rPr>
              <a:t>时，材料即发生疲劳破坏，故对应于极限状况有：</a:t>
            </a:r>
            <a:endParaRPr lang="zh-CN" altLang="en-US" dirty="0">
              <a:solidFill>
                <a:srgbClr val="000099"/>
              </a:solidFill>
              <a:latin typeface="黑体" panose="02010609060101010101" pitchFamily="49" charset="-122"/>
              <a:ea typeface="黑体" panose="02010609060101010101" pitchFamily="49" charset="-122"/>
            </a:endParaRPr>
          </a:p>
        </p:txBody>
      </p:sp>
      <p:graphicFrame>
        <p:nvGraphicFramePr>
          <p:cNvPr id="59427" name="Object 35"/>
          <p:cNvGraphicFramePr>
            <a:graphicFrameLocks noChangeAspect="1"/>
          </p:cNvGraphicFramePr>
          <p:nvPr/>
        </p:nvGraphicFramePr>
        <p:xfrm>
          <a:off x="2727000" y="5634000"/>
          <a:ext cx="2541509" cy="945000"/>
        </p:xfrm>
        <a:graphic>
          <a:graphicData uri="http://schemas.openxmlformats.org/presentationml/2006/ole">
            <mc:AlternateContent xmlns:mc="http://schemas.openxmlformats.org/markup-compatibility/2006">
              <mc:Choice xmlns:v="urn:schemas-microsoft-com:vml" Requires="v">
                <p:oleObj spid="_x0000_s3" name="Equation" r:id="rId2" imgW="1042035" imgH="393700" progId="Equation.3">
                  <p:embed/>
                </p:oleObj>
              </mc:Choice>
              <mc:Fallback>
                <p:oleObj name="Equation" r:id="rId2" imgW="1042035" imgH="393700" progId="Equation.3">
                  <p:embed/>
                  <p:pic>
                    <p:nvPicPr>
                      <p:cNvPr id="0" name="Picture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7000" y="5634000"/>
                        <a:ext cx="2541509" cy="945000"/>
                      </a:xfrm>
                      <a:prstGeom prst="rect">
                        <a:avLst/>
                      </a:prstGeom>
                      <a:noFill/>
                    </p:spPr>
                  </p:pic>
                </p:oleObj>
              </mc:Fallback>
            </mc:AlternateContent>
          </a:graphicData>
        </a:graphic>
      </p:graphicFrame>
      <p:sp>
        <p:nvSpPr>
          <p:cNvPr id="9224" name="AutoShape 38"/>
          <p:cNvSpPr>
            <a:spLocks noChangeArrowheads="1"/>
          </p:cNvSpPr>
          <p:nvPr/>
        </p:nvSpPr>
        <p:spPr bwMode="auto">
          <a:xfrm>
            <a:off x="5746200" y="2418000"/>
            <a:ext cx="976313" cy="485775"/>
          </a:xfrm>
          <a:prstGeom prst="rightArrow">
            <a:avLst>
              <a:gd name="adj1" fmla="val 50000"/>
              <a:gd name="adj2" fmla="val 5024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pic>
        <p:nvPicPr>
          <p:cNvPr id="59458" name="Picture 66" descr="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7000" y="594000"/>
            <a:ext cx="3581400" cy="213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9" name="Text Box 72"/>
          <p:cNvSpPr txBox="1">
            <a:spLocks noChangeArrowheads="1"/>
          </p:cNvSpPr>
          <p:nvPr/>
        </p:nvSpPr>
        <p:spPr bwMode="auto">
          <a:xfrm>
            <a:off x="7910513" y="63150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pic>
        <p:nvPicPr>
          <p:cNvPr id="59465" name="Picture 73" descr="rewind1">
            <a:hlinkClick r:id="rId5" action="ppaction://hlinksldjump"/>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24800"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66" name="Picture 74" descr="back1">
            <a:hlinkClick r:id="" action="ppaction://hlinkshowjump?jump=previousslide"/>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3278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67" name="Picture 75" descr="NEXT1">
            <a:hlinkClick r:id="" action="ppaction://hlinkshowjump?jump=nextslide"/>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423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7059295" y="2719705"/>
            <a:ext cx="537210" cy="466090"/>
          </a:xfrm>
          <a:prstGeom prst="rect">
            <a:avLst/>
          </a:prstGeom>
          <a:noFill/>
        </p:spPr>
        <p:txBody>
          <a:bodyPr wrap="none" rtlCol="0" anchor="t">
            <a:noAutofit/>
          </a:bodyPr>
          <a:p>
            <a:r>
              <a:rPr lang="zh-CN" altLang="en-US">
                <a:latin typeface="Arial" panose="020B0604020202020204" pitchFamily="34" charset="0"/>
                <a:cs typeface="Arial" panose="020B0604020202020204" pitchFamily="34" charset="0"/>
              </a:rPr>
              <a:t>σ</a:t>
            </a:r>
            <a:r>
              <a:rPr lang="en-US" altLang="zh-CN">
                <a:latin typeface="Arial" panose="020B0604020202020204" pitchFamily="34" charset="0"/>
                <a:cs typeface="Arial" panose="020B0604020202020204" pitchFamily="34" charset="0"/>
              </a:rPr>
              <a:t>-</a:t>
            </a:r>
            <a:r>
              <a:rPr lang="en-US" altLang="zh-CN" sz="1800">
                <a:latin typeface="Arial" panose="020B0604020202020204" pitchFamily="34" charset="0"/>
                <a:cs typeface="Arial" panose="020B0604020202020204" pitchFamily="34" charset="0"/>
              </a:rPr>
              <a:t>N</a:t>
            </a:r>
            <a:endParaRPr lang="en-US" altLang="zh-CN" sz="1800">
              <a:latin typeface="Arial" panose="020B0604020202020204" pitchFamily="34" charset="0"/>
              <a:cs typeface="Arial" panose="020B0604020202020204" pitchFamily="34"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5" fill="hold" nodeType="clickEffect">
                                  <p:stCondLst>
                                    <p:cond delay="0"/>
                                  </p:stCondLst>
                                  <p:childTnLst>
                                    <p:set>
                                      <p:cBhvr>
                                        <p:cTn id="14" dur="1" fill="hold">
                                          <p:stCondLst>
                                            <p:cond delay="0"/>
                                          </p:stCondLst>
                                        </p:cTn>
                                        <p:tgtEl>
                                          <p:spTgt spid="59458"/>
                                        </p:tgtEl>
                                        <p:attrNameLst>
                                          <p:attrName>style.visibility</p:attrName>
                                        </p:attrNameLst>
                                      </p:cBhvr>
                                      <p:to>
                                        <p:strVal val="visible"/>
                                      </p:to>
                                    </p:set>
                                    <p:animEffect transition="in" filter="blinds(vertical)">
                                      <p:cBhvr>
                                        <p:cTn id="15" dur="500"/>
                                        <p:tgtEl>
                                          <p:spTgt spid="59458"/>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42" fill="hold" grpId="0" nodeType="clickEffect">
                                  <p:stCondLst>
                                    <p:cond delay="0"/>
                                  </p:stCondLst>
                                  <p:childTnLst>
                                    <p:set>
                                      <p:cBhvr>
                                        <p:cTn id="19" dur="1" fill="hold">
                                          <p:stCondLst>
                                            <p:cond delay="0"/>
                                          </p:stCondLst>
                                        </p:cTn>
                                        <p:tgtEl>
                                          <p:spTgt spid="59424"/>
                                        </p:tgtEl>
                                        <p:attrNameLst>
                                          <p:attrName>style.visibility</p:attrName>
                                        </p:attrNameLst>
                                      </p:cBhvr>
                                      <p:to>
                                        <p:strVal val="visible"/>
                                      </p:to>
                                    </p:set>
                                    <p:animEffect transition="in" filter="barn(outHorizontal)">
                                      <p:cBhvr>
                                        <p:cTn id="20" dur="500"/>
                                        <p:tgtEl>
                                          <p:spTgt spid="5942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9426"/>
                                        </p:tgtEl>
                                        <p:attrNameLst>
                                          <p:attrName>style.visibility</p:attrName>
                                        </p:attrNameLst>
                                      </p:cBhvr>
                                      <p:to>
                                        <p:strVal val="visible"/>
                                      </p:to>
                                    </p:set>
                                    <p:animEffect transition="in" filter="wipe(left)">
                                      <p:cBhvr>
                                        <p:cTn id="25" dur="500"/>
                                        <p:tgtEl>
                                          <p:spTgt spid="59426"/>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59427"/>
                                        </p:tgtEl>
                                        <p:attrNameLst>
                                          <p:attrName>style.visibility</p:attrName>
                                        </p:attrNameLst>
                                      </p:cBhvr>
                                      <p:to>
                                        <p:strVal val="visible"/>
                                      </p:to>
                                    </p:set>
                                    <p:animEffect transition="in" filter="wipe(left)">
                                      <p:cBhvr>
                                        <p:cTn id="29" dur="500"/>
                                        <p:tgtEl>
                                          <p:spTgt spid="59427"/>
                                        </p:tgtEl>
                                      </p:cBhvr>
                                    </p:animEffect>
                                  </p:childTnLst>
                                </p:cTn>
                              </p:par>
                            </p:childTnLst>
                          </p:cTn>
                        </p:par>
                        <p:par>
                          <p:cTn id="30" fill="hold">
                            <p:stCondLst>
                              <p:cond delay="1000"/>
                            </p:stCondLst>
                            <p:childTnLst>
                              <p:par>
                                <p:cTn id="31" presetID="1" presetClass="entr" presetSubtype="0" fill="hold" nodeType="afterEffect">
                                  <p:stCondLst>
                                    <p:cond delay="0"/>
                                  </p:stCondLst>
                                  <p:childTnLst>
                                    <p:set>
                                      <p:cBhvr>
                                        <p:cTn id="32" dur="1" fill="hold">
                                          <p:stCondLst>
                                            <p:cond delay="499"/>
                                          </p:stCondLst>
                                        </p:cTn>
                                        <p:tgtEl>
                                          <p:spTgt spid="59467"/>
                                        </p:tgtEl>
                                        <p:attrNameLst>
                                          <p:attrName>style.visibility</p:attrName>
                                        </p:attrNameLst>
                                      </p:cBhvr>
                                      <p:to>
                                        <p:strVal val="visible"/>
                                      </p:to>
                                    </p:set>
                                  </p:childTnLst>
                                </p:cTn>
                              </p:par>
                            </p:childTnLst>
                          </p:cTn>
                        </p:par>
                        <p:par>
                          <p:cTn id="33" fill="hold">
                            <p:stCondLst>
                              <p:cond delay="1500"/>
                            </p:stCondLst>
                            <p:childTnLst>
                              <p:par>
                                <p:cTn id="34" presetID="1" presetClass="entr" presetSubtype="0" fill="hold" nodeType="afterEffect">
                                  <p:stCondLst>
                                    <p:cond delay="0"/>
                                  </p:stCondLst>
                                  <p:childTnLst>
                                    <p:set>
                                      <p:cBhvr>
                                        <p:cTn id="35" dur="1" fill="hold">
                                          <p:stCondLst>
                                            <p:cond delay="499"/>
                                          </p:stCondLst>
                                        </p:cTn>
                                        <p:tgtEl>
                                          <p:spTgt spid="59466"/>
                                        </p:tgtEl>
                                        <p:attrNameLst>
                                          <p:attrName>style.visibility</p:attrName>
                                        </p:attrNameLst>
                                      </p:cBhvr>
                                      <p:to>
                                        <p:strVal val="visible"/>
                                      </p:to>
                                    </p:set>
                                  </p:childTnLst>
                                </p:cTn>
                              </p:par>
                            </p:childTnLst>
                          </p:cTn>
                        </p:par>
                        <p:par>
                          <p:cTn id="36" fill="hold">
                            <p:stCondLst>
                              <p:cond delay="2000"/>
                            </p:stCondLst>
                            <p:childTnLst>
                              <p:par>
                                <p:cTn id="37" presetID="2" presetClass="entr" presetSubtype="8" fill="hold" nodeType="afterEffect">
                                  <p:stCondLst>
                                    <p:cond delay="0"/>
                                  </p:stCondLst>
                                  <p:childTnLst>
                                    <p:set>
                                      <p:cBhvr>
                                        <p:cTn id="38" dur="1" fill="hold">
                                          <p:stCondLst>
                                            <p:cond delay="0"/>
                                          </p:stCondLst>
                                        </p:cTn>
                                        <p:tgtEl>
                                          <p:spTgt spid="59465"/>
                                        </p:tgtEl>
                                        <p:attrNameLst>
                                          <p:attrName>style.visibility</p:attrName>
                                        </p:attrNameLst>
                                      </p:cBhvr>
                                      <p:to>
                                        <p:strVal val="visible"/>
                                      </p:to>
                                    </p:set>
                                    <p:anim calcmode="lin" valueType="num">
                                      <p:cBhvr additive="base">
                                        <p:cTn id="39" dur="500" fill="hold"/>
                                        <p:tgtEl>
                                          <p:spTgt spid="59465"/>
                                        </p:tgtEl>
                                        <p:attrNameLst>
                                          <p:attrName>ppt_x</p:attrName>
                                        </p:attrNameLst>
                                      </p:cBhvr>
                                      <p:tavLst>
                                        <p:tav tm="0">
                                          <p:val>
                                            <p:strVal val="0-#ppt_w/2"/>
                                          </p:val>
                                        </p:tav>
                                        <p:tav tm="100000">
                                          <p:val>
                                            <p:strVal val="#ppt_x"/>
                                          </p:val>
                                        </p:tav>
                                      </p:tavLst>
                                    </p:anim>
                                    <p:anim calcmode="lin" valueType="num">
                                      <p:cBhvr additive="base">
                                        <p:cTn id="40" dur="500" fill="hold"/>
                                        <p:tgtEl>
                                          <p:spTgt spid="594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4" grpId="0" autoUpdateAnimBg="0"/>
      <p:bldP spid="59426" grpId="0" autoUpdateAnimBg="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 name="AutoShape 38"/>
          <p:cNvSpPr>
            <a:spLocks noChangeArrowheads="1"/>
          </p:cNvSpPr>
          <p:nvPr/>
        </p:nvSpPr>
        <p:spPr bwMode="auto">
          <a:xfrm>
            <a:off x="5791200" y="3048000"/>
            <a:ext cx="976313" cy="485775"/>
          </a:xfrm>
          <a:prstGeom prst="rightArrow">
            <a:avLst>
              <a:gd name="adj1" fmla="val 50000"/>
              <a:gd name="adj2" fmla="val 5024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0251" name="Text Box 72"/>
          <p:cNvSpPr txBox="1">
            <a:spLocks noChangeArrowheads="1"/>
          </p:cNvSpPr>
          <p:nvPr/>
        </p:nvSpPr>
        <p:spPr bwMode="auto">
          <a:xfrm>
            <a:off x="7910513" y="6315075"/>
            <a:ext cx="460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t>　</a:t>
            </a:r>
            <a:endParaRPr lang="zh-CN" altLang="en-US"/>
          </a:p>
        </p:txBody>
      </p:sp>
      <p:sp>
        <p:nvSpPr>
          <p:cNvPr id="10255"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0256" name="Rectangle 10"/>
          <p:cNvSpPr>
            <a:spLocks noChangeArrowheads="1"/>
          </p:cNvSpPr>
          <p:nvPr/>
        </p:nvSpPr>
        <p:spPr bwMode="auto">
          <a:xfrm>
            <a:off x="0" y="200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0258" name="Rectangle 19"/>
          <p:cNvSpPr>
            <a:spLocks noChangeArrowheads="1"/>
          </p:cNvSpPr>
          <p:nvPr/>
        </p:nvSpPr>
        <p:spPr bwMode="auto">
          <a:xfrm>
            <a:off x="0" y="0"/>
            <a:ext cx="9144000" cy="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0259"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46100" name="Object 20"/>
          <p:cNvGraphicFramePr>
            <a:graphicFrameLocks noChangeAspect="1"/>
          </p:cNvGraphicFramePr>
          <p:nvPr/>
        </p:nvGraphicFramePr>
        <p:xfrm>
          <a:off x="1287000" y="504000"/>
          <a:ext cx="6287013" cy="945000"/>
        </p:xfrm>
        <a:graphic>
          <a:graphicData uri="http://schemas.openxmlformats.org/presentationml/2006/ole">
            <mc:AlternateContent xmlns:mc="http://schemas.openxmlformats.org/markup-compatibility/2006">
              <mc:Choice xmlns:v="urn:schemas-microsoft-com:vml" Requires="v">
                <p:oleObj spid="_x0000_s2" name="公式" r:id="rId1" imgW="83210400" imgH="12496800" progId="Equation.3">
                  <p:embed/>
                </p:oleObj>
              </mc:Choice>
              <mc:Fallback>
                <p:oleObj name="公式" r:id="rId1" imgW="83210400" imgH="12496800" progId="Equation.3">
                  <p:embed/>
                  <p:pic>
                    <p:nvPicPr>
                      <p:cNvPr id="0" name="Picture 151"/>
                      <p:cNvPicPr>
                        <a:picLocks noChangeAspect="1" noChangeArrowheads="1"/>
                      </p:cNvPicPr>
                      <p:nvPr/>
                    </p:nvPicPr>
                    <p:blipFill>
                      <a:blip r:embed="rId2"/>
                      <a:srcRect/>
                      <a:stretch>
                        <a:fillRect/>
                      </a:stretch>
                    </p:blipFill>
                    <p:spPr bwMode="auto">
                      <a:xfrm>
                        <a:off x="1287000" y="504000"/>
                        <a:ext cx="6287013" cy="945000"/>
                      </a:xfrm>
                      <a:prstGeom prst="rect">
                        <a:avLst/>
                      </a:prstGeom>
                      <a:noFill/>
                    </p:spPr>
                  </p:pic>
                </p:oleObj>
              </mc:Fallback>
            </mc:AlternateContent>
          </a:graphicData>
        </a:graphic>
      </p:graphicFrame>
      <p:sp>
        <p:nvSpPr>
          <p:cNvPr id="10260"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0261" name="Rectangle 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0262" name="Rectangle 26"/>
          <p:cNvSpPr>
            <a:spLocks noChangeArrowheads="1"/>
          </p:cNvSpPr>
          <p:nvPr/>
        </p:nvSpPr>
        <p:spPr bwMode="auto">
          <a:xfrm>
            <a:off x="0" y="466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0264"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46110" name="Object 30"/>
          <p:cNvGraphicFramePr>
            <a:graphicFrameLocks noChangeAspect="1"/>
          </p:cNvGraphicFramePr>
          <p:nvPr/>
        </p:nvGraphicFramePr>
        <p:xfrm>
          <a:off x="4122000" y="3744000"/>
          <a:ext cx="2849688" cy="1035000"/>
        </p:xfrm>
        <a:graphic>
          <a:graphicData uri="http://schemas.openxmlformats.org/presentationml/2006/ole">
            <mc:AlternateContent xmlns:mc="http://schemas.openxmlformats.org/markup-compatibility/2006">
              <mc:Choice xmlns:v="urn:schemas-microsoft-com:vml" Requires="v">
                <p:oleObj spid="_x0000_s3" name="公式" r:id="rId3" imgW="32613600" imgH="11887200" progId="Equation.3">
                  <p:embed/>
                </p:oleObj>
              </mc:Choice>
              <mc:Fallback>
                <p:oleObj name="公式" r:id="rId3" imgW="32613600" imgH="11887200" progId="Equation.3">
                  <p:embed/>
                  <p:pic>
                    <p:nvPicPr>
                      <p:cNvPr id="0" name="Picture 154"/>
                      <p:cNvPicPr>
                        <a:picLocks noChangeAspect="1" noChangeArrowheads="1"/>
                      </p:cNvPicPr>
                      <p:nvPr/>
                    </p:nvPicPr>
                    <p:blipFill>
                      <a:blip r:embed="rId4"/>
                      <a:srcRect/>
                      <a:stretch>
                        <a:fillRect/>
                      </a:stretch>
                    </p:blipFill>
                    <p:spPr bwMode="auto">
                      <a:xfrm>
                        <a:off x="4122000" y="3744000"/>
                        <a:ext cx="2849688" cy="1035000"/>
                      </a:xfrm>
                      <a:prstGeom prst="rect">
                        <a:avLst/>
                      </a:prstGeom>
                      <a:noFill/>
                    </p:spPr>
                  </p:pic>
                </p:oleObj>
              </mc:Fallback>
            </mc:AlternateContent>
          </a:graphicData>
        </a:graphic>
      </p:graphicFrame>
      <p:sp>
        <p:nvSpPr>
          <p:cNvPr id="10265" name="Rectangle 32"/>
          <p:cNvSpPr>
            <a:spLocks noChangeArrowheads="1"/>
          </p:cNvSpPr>
          <p:nvPr/>
        </p:nvSpPr>
        <p:spPr bwMode="auto">
          <a:xfrm>
            <a:off x="0" y="457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0266" name="Rectangle 3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46113" name="Object 33"/>
          <p:cNvGraphicFramePr>
            <a:graphicFrameLocks noChangeAspect="1"/>
          </p:cNvGraphicFramePr>
          <p:nvPr/>
        </p:nvGraphicFramePr>
        <p:xfrm>
          <a:off x="4436745" y="5053965"/>
          <a:ext cx="2123440" cy="977265"/>
        </p:xfrm>
        <a:graphic>
          <a:graphicData uri="http://schemas.openxmlformats.org/presentationml/2006/ole">
            <mc:AlternateContent xmlns:mc="http://schemas.openxmlformats.org/markup-compatibility/2006">
              <mc:Choice xmlns:v="urn:schemas-microsoft-com:vml" Requires="v">
                <p:oleObj spid="_x0000_s4" name="公式" r:id="rId5" imgW="939800" imgH="431800" progId="Equation.3">
                  <p:embed/>
                </p:oleObj>
              </mc:Choice>
              <mc:Fallback>
                <p:oleObj name="公式" r:id="rId5" imgW="939800" imgH="431800" progId="Equation.3">
                  <p:embed/>
                  <p:pic>
                    <p:nvPicPr>
                      <p:cNvPr id="0" name="Picture 155"/>
                      <p:cNvPicPr>
                        <a:picLocks noChangeAspect="1" noChangeArrowheads="1"/>
                      </p:cNvPicPr>
                      <p:nvPr/>
                    </p:nvPicPr>
                    <p:blipFill>
                      <a:blip r:embed="rId6"/>
                      <a:srcRect/>
                      <a:stretch>
                        <a:fillRect/>
                      </a:stretch>
                    </p:blipFill>
                    <p:spPr bwMode="auto">
                      <a:xfrm>
                        <a:off x="4436745" y="5053965"/>
                        <a:ext cx="2123440" cy="977265"/>
                      </a:xfrm>
                      <a:prstGeom prst="rect">
                        <a:avLst/>
                      </a:prstGeom>
                      <a:noFill/>
                    </p:spPr>
                  </p:pic>
                </p:oleObj>
              </mc:Fallback>
            </mc:AlternateContent>
          </a:graphicData>
        </a:graphic>
      </p:graphicFrame>
      <p:sp>
        <p:nvSpPr>
          <p:cNvPr id="62" name="矩形 61"/>
          <p:cNvSpPr>
            <a:spLocks noChangeArrowheads="1"/>
          </p:cNvSpPr>
          <p:nvPr/>
        </p:nvSpPr>
        <p:spPr bwMode="auto">
          <a:xfrm>
            <a:off x="567000" y="4869000"/>
            <a:ext cx="3786187" cy="457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dirty="0">
                <a:solidFill>
                  <a:srgbClr val="000099"/>
                </a:solidFill>
                <a:latin typeface="黑体" panose="02010609060101010101" pitchFamily="49" charset="-122"/>
                <a:ea typeface="黑体" panose="02010609060101010101" pitchFamily="49" charset="-122"/>
              </a:rPr>
              <a:t>则零件的计算安全系数</a:t>
            </a:r>
            <a:r>
              <a:rPr lang="en-US" altLang="zh-CN" i="1" dirty="0" err="1">
                <a:solidFill>
                  <a:srgbClr val="000099"/>
                </a:solidFill>
                <a:latin typeface="黑体" panose="02010609060101010101" pitchFamily="49" charset="-122"/>
                <a:ea typeface="黑体" panose="02010609060101010101" pitchFamily="49" charset="-122"/>
              </a:rPr>
              <a:t>S</a:t>
            </a:r>
            <a:r>
              <a:rPr lang="en-US" altLang="zh-CN" i="1" baseline="-25000" dirty="0" err="1">
                <a:solidFill>
                  <a:srgbClr val="000099"/>
                </a:solidFill>
                <a:latin typeface="黑体" panose="02010609060101010101" pitchFamily="49" charset="-122"/>
                <a:ea typeface="黑体" panose="02010609060101010101" pitchFamily="49" charset="-122"/>
              </a:rPr>
              <a:t>ca</a:t>
            </a:r>
            <a:r>
              <a:rPr lang="zh-CN" altLang="en-US" dirty="0">
                <a:solidFill>
                  <a:srgbClr val="000099"/>
                </a:solidFill>
                <a:latin typeface="黑体" panose="02010609060101010101" pitchFamily="49" charset="-122"/>
                <a:ea typeface="黑体" panose="02010609060101010101" pitchFamily="49" charset="-122"/>
              </a:rPr>
              <a:t>为：</a:t>
            </a:r>
            <a:endParaRPr lang="zh-CN" altLang="en-US" dirty="0">
              <a:solidFill>
                <a:srgbClr val="000099"/>
              </a:solidFill>
              <a:latin typeface="黑体" panose="02010609060101010101" pitchFamily="49" charset="-122"/>
              <a:ea typeface="黑体" panose="02010609060101010101" pitchFamily="49" charset="-122"/>
            </a:endParaRPr>
          </a:p>
        </p:txBody>
      </p:sp>
      <p:graphicFrame>
        <p:nvGraphicFramePr>
          <p:cNvPr id="27" name="Object 22"/>
          <p:cNvGraphicFramePr>
            <a:graphicFrameLocks noChangeAspect="1"/>
          </p:cNvGraphicFramePr>
          <p:nvPr/>
        </p:nvGraphicFramePr>
        <p:xfrm>
          <a:off x="1557000" y="2214000"/>
          <a:ext cx="5760000" cy="1139060"/>
        </p:xfrm>
        <a:graphic>
          <a:graphicData uri="http://schemas.openxmlformats.org/presentationml/2006/ole">
            <mc:AlternateContent xmlns:mc="http://schemas.openxmlformats.org/markup-compatibility/2006">
              <mc:Choice xmlns:v="urn:schemas-microsoft-com:vml" Requires="v">
                <p:oleObj spid="_x0000_s5" name="公式" r:id="rId7" imgW="79552800" imgH="15849600" progId="Equation.3">
                  <p:embed/>
                </p:oleObj>
              </mc:Choice>
              <mc:Fallback>
                <p:oleObj name="公式" r:id="rId7" imgW="79552800" imgH="15849600" progId="Equation.3">
                  <p:embed/>
                  <p:pic>
                    <p:nvPicPr>
                      <p:cNvPr id="0" name="图片 10618"/>
                      <p:cNvPicPr>
                        <a:picLocks noChangeAspect="1" noChangeArrowheads="1"/>
                      </p:cNvPicPr>
                      <p:nvPr/>
                    </p:nvPicPr>
                    <p:blipFill>
                      <a:blip r:embed="rId8"/>
                      <a:srcRect/>
                      <a:stretch>
                        <a:fillRect/>
                      </a:stretch>
                    </p:blipFill>
                    <p:spPr bwMode="auto">
                      <a:xfrm>
                        <a:off x="1557000" y="2214000"/>
                        <a:ext cx="5760000" cy="1139060"/>
                      </a:xfrm>
                      <a:prstGeom prst="rect">
                        <a:avLst/>
                      </a:prstGeom>
                      <a:noFill/>
                    </p:spPr>
                  </p:pic>
                </p:oleObj>
              </mc:Fallback>
            </mc:AlternateContent>
          </a:graphicData>
        </a:graphic>
      </p:graphicFrame>
      <p:sp>
        <p:nvSpPr>
          <p:cNvPr id="6" name="文本框 5"/>
          <p:cNvSpPr txBox="1"/>
          <p:nvPr/>
        </p:nvSpPr>
        <p:spPr>
          <a:xfrm>
            <a:off x="522000" y="4014000"/>
            <a:ext cx="3510000" cy="430887"/>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不稳定变应力的计算应力：</a:t>
            </a:r>
            <a:endParaRPr lang="zh-CN" altLang="en-US" dirty="0">
              <a:latin typeface="黑体" panose="02010609060101010101" pitchFamily="49" charset="-122"/>
              <a:ea typeface="黑体" panose="02010609060101010101" pitchFamily="49" charset="-122"/>
            </a:endParaRPr>
          </a:p>
        </p:txBody>
      </p:sp>
      <p:sp>
        <p:nvSpPr>
          <p:cNvPr id="7" name="文本框 6"/>
          <p:cNvSpPr txBox="1"/>
          <p:nvPr/>
        </p:nvSpPr>
        <p:spPr>
          <a:xfrm>
            <a:off x="792000" y="1944000"/>
            <a:ext cx="3645000" cy="430887"/>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不稳定变应力的极限条件：</a:t>
            </a:r>
            <a:endParaRPr lang="zh-CN" altLang="en-US" dirty="0">
              <a:latin typeface="黑体" panose="02010609060101010101" pitchFamily="49" charset="-122"/>
              <a:ea typeface="黑体" panose="02010609060101010101"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461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2"/>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46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7" grpId="0"/>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Rot="1" noChangeAspect="1" noMove="1" noResize="1" noEditPoints="1" noAdjustHandles="1" noChangeArrowheads="1" noChangeShapeType="1" noTextEdit="1"/>
          </p:cNvSpPr>
          <p:nvPr/>
        </p:nvSpPr>
        <p:spPr>
          <a:xfrm>
            <a:off x="72390" y="762000"/>
            <a:ext cx="6007100" cy="4163060"/>
          </a:xfrm>
          <a:prstGeom prst="rect">
            <a:avLst/>
          </a:prstGeom>
          <a:blipFill>
            <a:blip r:embed="rId1"/>
            <a:stretch>
              <a:fillRect l="-1149" r="-1022"/>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pic>
        <p:nvPicPr>
          <p:cNvPr id="30721" name="图片 17"/>
          <p:cNvPicPr>
            <a:picLocks noChangeAspect="1"/>
          </p:cNvPicPr>
          <p:nvPr/>
        </p:nvPicPr>
        <p:blipFill>
          <a:blip r:embed="rId2"/>
          <a:stretch>
            <a:fillRect/>
          </a:stretch>
        </p:blipFill>
        <p:spPr>
          <a:xfrm>
            <a:off x="5785485" y="3608705"/>
            <a:ext cx="3053715" cy="2585085"/>
          </a:xfrm>
          <a:prstGeom prst="rect">
            <a:avLst/>
          </a:prstGeom>
          <a:noFill/>
          <a:ln w="9525">
            <a:noFill/>
          </a:ln>
        </p:spPr>
      </p:pic>
      <p:sp>
        <p:nvSpPr>
          <p:cNvPr id="30737" name="文本框 11"/>
          <p:cNvSpPr txBox="1"/>
          <p:nvPr/>
        </p:nvSpPr>
        <p:spPr>
          <a:xfrm>
            <a:off x="5480685" y="6373495"/>
            <a:ext cx="3663315" cy="368300"/>
          </a:xfrm>
          <a:prstGeom prst="rect">
            <a:avLst/>
          </a:prstGeom>
          <a:noFill/>
          <a:ln w="9525">
            <a:noFill/>
          </a:ln>
        </p:spPr>
        <p:txBody>
          <a:bodyPr wrap="square" anchor="t">
            <a:spAutoFit/>
          </a:bodyPr>
          <a:lstStyle/>
          <a:p>
            <a:pPr eaLnBrk="0" hangingPunct="0"/>
            <a:r>
              <a:rPr lang="zh-CN" altLang="zh-CN" sz="1800" b="1" dirty="0">
                <a:latin typeface="Tahoma" panose="020B0604030504040204" pitchFamily="34" charset="0"/>
                <a:ea typeface="华文中宋" panose="02010600040101010101" pitchFamily="2" charset="-122"/>
              </a:rPr>
              <a:t>图</a:t>
            </a:r>
            <a:r>
              <a:rPr lang="en-US" altLang="zh-CN" sz="1800" b="1" dirty="0">
                <a:latin typeface="Tahoma" panose="020B0604030504040204" pitchFamily="34" charset="0"/>
                <a:ea typeface="华文中宋" panose="02010600040101010101" pitchFamily="2" charset="-122"/>
              </a:rPr>
              <a:t>1.3-16 </a:t>
            </a:r>
            <a:r>
              <a:rPr lang="zh-CN" altLang="zh-CN" sz="1800" b="1" dirty="0">
                <a:latin typeface="Tahoma" panose="020B0604030504040204" pitchFamily="34" charset="0"/>
                <a:ea typeface="华文中宋" panose="02010600040101010101" pitchFamily="2" charset="-122"/>
              </a:rPr>
              <a:t>转轴的非稳定变应力图</a:t>
            </a:r>
            <a:endParaRPr lang="zh-CN" altLang="en-US" sz="1800" b="1" dirty="0">
              <a:latin typeface="Tahoma" panose="020B0604030504040204" pitchFamily="34" charset="0"/>
              <a:ea typeface="华文中宋" panose="02010600040101010101" pitchFamily="2" charset="-122"/>
            </a:endParaRPr>
          </a:p>
        </p:txBody>
      </p:sp>
      <p:sp>
        <p:nvSpPr>
          <p:cNvPr id="34818" name="Rectangle 3"/>
          <p:cNvSpPr/>
          <p:nvPr/>
        </p:nvSpPr>
        <p:spPr>
          <a:xfrm>
            <a:off x="4188460" y="0"/>
            <a:ext cx="4730750" cy="762000"/>
          </a:xfrm>
          <a:prstGeom prst="rect">
            <a:avLst/>
          </a:prstGeom>
          <a:noFill/>
          <a:ln w="9525">
            <a:noFill/>
          </a:ln>
        </p:spPr>
        <p:txBody>
          <a:bodyPr tIns="18000" anchor="ctr" anchorCtr="1"/>
          <a:lstStyle/>
          <a:p>
            <a:r>
              <a:rPr lang="zh-CN" altLang="en-US" sz="3000" dirty="0">
                <a:solidFill>
                  <a:srgbClr val="CC3300"/>
                </a:solidFill>
                <a:latin typeface="黑体" panose="02010609060101010101" pitchFamily="49" charset="-122"/>
                <a:ea typeface="黑体" panose="02010609060101010101" pitchFamily="49" charset="-122"/>
              </a:rPr>
              <a:t>零件的疲劳强度计算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21"/>
                                        </p:tgtEl>
                                        <p:attrNameLst>
                                          <p:attrName>style.visibility</p:attrName>
                                        </p:attrNameLst>
                                      </p:cBhvr>
                                      <p:to>
                                        <p:strVal val="visible"/>
                                      </p:to>
                                    </p:set>
                                    <p:animEffect transition="in" filter="wipe(left)">
                                      <p:cBhvr>
                                        <p:cTn id="12" dur="500"/>
                                        <p:tgtEl>
                                          <p:spTgt spid="307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37"/>
                                        </p:tgtEl>
                                        <p:attrNameLst>
                                          <p:attrName>style.visibility</p:attrName>
                                        </p:attrNameLst>
                                      </p:cBhvr>
                                      <p:to>
                                        <p:strVal val="visible"/>
                                      </p:to>
                                    </p:set>
                                    <p:animEffect transition="in" filter="wipe(left)">
                                      <p:cBhvr>
                                        <p:cTn id="17" dur="500"/>
                                        <p:tgtEl>
                                          <p:spTgt spid="30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a:xfrm>
            <a:off x="7956550" y="765175"/>
            <a:ext cx="730250" cy="292100"/>
          </a:xfrm>
          <a:noFill/>
          <a:ln>
            <a:noFill/>
          </a:ln>
        </p:spPr>
        <p:txBody>
          <a:bodyPr anchor="t"/>
          <a:lstStyle/>
          <a:p>
            <a:pPr eaLnBrk="1" hangingPunct="1"/>
            <a:r>
              <a:rPr lang="zh-CN" altLang="en-US" sz="800" dirty="0">
                <a:solidFill>
                  <a:schemeClr val="bg1"/>
                </a:solidFill>
                <a:latin typeface="华文新魏" panose="02010800040101010101" pitchFamily="2" charset="-122"/>
                <a:ea typeface="华文新魏" panose="02010800040101010101" pitchFamily="2" charset="-122"/>
              </a:rPr>
              <a:t>机械零件的疲劳强度计算</a:t>
            </a:r>
            <a:r>
              <a:rPr lang="en-US" altLang="zh-CN" sz="800" dirty="0">
                <a:solidFill>
                  <a:schemeClr val="bg1"/>
                </a:solidFill>
                <a:latin typeface="华文新魏" panose="02010800040101010101" pitchFamily="2" charset="-122"/>
                <a:ea typeface="华文新魏" panose="02010800040101010101" pitchFamily="2" charset="-122"/>
              </a:rPr>
              <a:t>3</a:t>
            </a:r>
            <a:endParaRPr lang="en-US" altLang="zh-CN" sz="800" dirty="0">
              <a:solidFill>
                <a:schemeClr val="bg1"/>
              </a:solidFill>
              <a:latin typeface="华文新魏" panose="02010800040101010101" pitchFamily="2" charset="-122"/>
              <a:ea typeface="华文新魏" panose="02010800040101010101" pitchFamily="2" charset="-122"/>
            </a:endParaRPr>
          </a:p>
        </p:txBody>
      </p:sp>
      <p:sp>
        <p:nvSpPr>
          <p:cNvPr id="34818" name="Rectangle 3"/>
          <p:cNvSpPr/>
          <p:nvPr/>
        </p:nvSpPr>
        <p:spPr>
          <a:xfrm>
            <a:off x="3581400" y="76200"/>
            <a:ext cx="4730750" cy="762000"/>
          </a:xfrm>
          <a:prstGeom prst="rect">
            <a:avLst/>
          </a:prstGeom>
          <a:noFill/>
          <a:ln w="9525">
            <a:noFill/>
          </a:ln>
        </p:spPr>
        <p:txBody>
          <a:bodyPr tIns="18000" anchor="ctr" anchorCtr="1"/>
          <a:lstStyle/>
          <a:p>
            <a:r>
              <a:rPr lang="zh-CN" altLang="en-US" sz="3000" dirty="0">
                <a:solidFill>
                  <a:srgbClr val="CC3300"/>
                </a:solidFill>
                <a:latin typeface="黑体" panose="02010609060101010101" pitchFamily="49" charset="-122"/>
                <a:ea typeface="黑体" panose="02010609060101010101" pitchFamily="49" charset="-122"/>
              </a:rPr>
              <a:t>零件的疲劳强度计算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4819" name="AutoShape 38"/>
          <p:cNvSpPr/>
          <p:nvPr/>
        </p:nvSpPr>
        <p:spPr>
          <a:xfrm>
            <a:off x="5791200" y="3048000"/>
            <a:ext cx="976313" cy="485775"/>
          </a:xfrm>
          <a:prstGeom prst="rightArrow">
            <a:avLst>
              <a:gd name="adj1" fmla="val 50000"/>
              <a:gd name="adj2" fmla="val 50235"/>
            </a:avLst>
          </a:prstGeom>
          <a:noFill/>
          <a:ln w="9525">
            <a:noFill/>
          </a:ln>
        </p:spPr>
        <p:txBody>
          <a:bodyPr wrap="none" lIns="90000" tIns="46800" rIns="90000" bIns="46800" anchor="ctr"/>
          <a:lstStyle/>
          <a:p>
            <a:endParaRPr lang="zh-CN" altLang="en-US" dirty="0">
              <a:latin typeface="Tahoma" panose="020B0604030504040204" pitchFamily="34" charset="0"/>
              <a:ea typeface="华文中宋" panose="02010600040101010101" pitchFamily="2" charset="-122"/>
            </a:endParaRPr>
          </a:p>
        </p:txBody>
      </p:sp>
      <p:sp>
        <p:nvSpPr>
          <p:cNvPr id="59464" name="Text Box 72"/>
          <p:cNvSpPr txBox="1"/>
          <p:nvPr/>
        </p:nvSpPr>
        <p:spPr>
          <a:xfrm>
            <a:off x="7910513" y="6315075"/>
            <a:ext cx="460375" cy="427038"/>
          </a:xfrm>
          <a:prstGeom prst="rect">
            <a:avLst/>
          </a:prstGeom>
          <a:noFill/>
          <a:ln w="9525">
            <a:noFill/>
          </a:ln>
        </p:spPr>
        <p:txBody>
          <a:bodyPr wrap="none" lIns="90000" tIns="46800" rIns="90000" bIns="46800" anchor="t">
            <a:spAutoFit/>
          </a:bodyPr>
          <a:lstStyle/>
          <a:p>
            <a:r>
              <a:rPr lang="zh-CN" altLang="en-US" dirty="0">
                <a:latin typeface="Tahoma" panose="020B0604030504040204" pitchFamily="34" charset="0"/>
                <a:ea typeface="华文中宋" panose="02010600040101010101" pitchFamily="2" charset="-122"/>
              </a:rPr>
              <a:t>　</a:t>
            </a:r>
            <a:endParaRPr lang="zh-CN" altLang="en-US" dirty="0">
              <a:latin typeface="Tahoma" panose="020B0604030504040204" pitchFamily="34" charset="0"/>
              <a:ea typeface="华文中宋" panose="02010600040101010101" pitchFamily="2" charset="-122"/>
            </a:endParaRPr>
          </a:p>
        </p:txBody>
      </p:sp>
      <p:pic>
        <p:nvPicPr>
          <p:cNvPr id="59465" name="Picture 73"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59466" name="Picture 74"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59467" name="Picture 75"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34824" name="Rectangle 15"/>
          <p:cNvSpPr/>
          <p:nvPr/>
        </p:nvSpPr>
        <p:spPr>
          <a:xfrm>
            <a:off x="1763713" y="2205038"/>
            <a:ext cx="9144000" cy="0"/>
          </a:xfrm>
          <a:prstGeom prst="rect">
            <a:avLst/>
          </a:prstGeom>
          <a:noFill/>
          <a:ln w="9525">
            <a:noFill/>
          </a:ln>
        </p:spPr>
        <p:txBody>
          <a:bodyPr wrap="none" lIns="90000" tIns="46800" rIns="90000" bIns="46800" anchor="ctr">
            <a:spAutoFit/>
          </a:bodyPr>
          <a:lstStyle/>
          <a:p>
            <a:pPr eaLnBrk="0" hangingPunct="0"/>
            <a:endParaRPr lang="zh-CN" altLang="en-US" dirty="0">
              <a:latin typeface="Tahoma" panose="020B0604030504040204" pitchFamily="34" charset="0"/>
              <a:ea typeface="华文中宋" panose="02010600040101010101" pitchFamily="2" charset="-122"/>
            </a:endParaRPr>
          </a:p>
        </p:txBody>
      </p:sp>
      <p:sp>
        <p:nvSpPr>
          <p:cNvPr id="34825" name="Rectangle 19"/>
          <p:cNvSpPr/>
          <p:nvPr/>
        </p:nvSpPr>
        <p:spPr>
          <a:xfrm>
            <a:off x="2124075" y="2817813"/>
            <a:ext cx="9904413" cy="46037"/>
          </a:xfrm>
          <a:prstGeom prst="rect">
            <a:avLst/>
          </a:prstGeom>
          <a:noFill/>
          <a:ln w="9525">
            <a:noFill/>
          </a:ln>
        </p:spPr>
        <p:txBody>
          <a:bodyPr lIns="90000" tIns="46800" rIns="90000" bIns="46800" anchor="ctr">
            <a:spAutoFit/>
          </a:bodyPr>
          <a:lstStyle/>
          <a:p>
            <a:pPr eaLnBrk="0" hangingPunct="0"/>
            <a:endParaRPr lang="zh-CN" altLang="en-US" dirty="0">
              <a:latin typeface="Tahoma" panose="020B0604030504040204" pitchFamily="34" charset="0"/>
              <a:ea typeface="华文中宋" panose="02010600040101010101" pitchFamily="2" charset="-122"/>
            </a:endParaRPr>
          </a:p>
        </p:txBody>
      </p:sp>
      <p:sp>
        <p:nvSpPr>
          <p:cNvPr id="34826" name="Rectangle 23"/>
          <p:cNvSpPr/>
          <p:nvPr/>
        </p:nvSpPr>
        <p:spPr>
          <a:xfrm>
            <a:off x="755650" y="3343275"/>
            <a:ext cx="10009188" cy="0"/>
          </a:xfrm>
          <a:prstGeom prst="rect">
            <a:avLst/>
          </a:prstGeom>
          <a:noFill/>
          <a:ln w="9525">
            <a:noFill/>
          </a:ln>
        </p:spPr>
        <p:txBody>
          <a:bodyPr lIns="90000" tIns="46800" rIns="90000" bIns="46800" anchor="ctr">
            <a:spAutoFit/>
          </a:bodyPr>
          <a:lstStyle/>
          <a:p>
            <a:pPr eaLnBrk="0" hangingPunct="0"/>
            <a:endParaRPr lang="zh-CN" altLang="en-US" dirty="0">
              <a:latin typeface="Tahoma" panose="020B0604030504040204" pitchFamily="34" charset="0"/>
              <a:ea typeface="华文中宋" panose="02010600040101010101" pitchFamily="2" charset="-122"/>
            </a:endParaRPr>
          </a:p>
        </p:txBody>
      </p:sp>
      <p:sp>
        <p:nvSpPr>
          <p:cNvPr id="34827" name="Rectangle 26"/>
          <p:cNvSpPr/>
          <p:nvPr/>
        </p:nvSpPr>
        <p:spPr>
          <a:xfrm>
            <a:off x="1530350" y="4278313"/>
            <a:ext cx="9144000" cy="0"/>
          </a:xfrm>
          <a:prstGeom prst="rect">
            <a:avLst/>
          </a:prstGeom>
          <a:noFill/>
          <a:ln w="9525">
            <a:noFill/>
          </a:ln>
        </p:spPr>
        <p:txBody>
          <a:bodyPr wrap="none" lIns="90000" tIns="46800" rIns="90000" bIns="46800" anchor="ctr">
            <a:spAutoFit/>
          </a:bodyPr>
          <a:lstStyle/>
          <a:p>
            <a:pPr eaLnBrk="0" hangingPunct="0"/>
            <a:endParaRPr lang="zh-CN" altLang="en-US" dirty="0">
              <a:latin typeface="Tahoma" panose="020B0604030504040204" pitchFamily="34" charset="0"/>
              <a:ea typeface="华文中宋" panose="02010600040101010101" pitchFamily="2" charset="-122"/>
            </a:endParaRPr>
          </a:p>
        </p:txBody>
      </p:sp>
      <p:sp>
        <p:nvSpPr>
          <p:cNvPr id="34828" name="Rectangle 38"/>
          <p:cNvSpPr/>
          <p:nvPr/>
        </p:nvSpPr>
        <p:spPr>
          <a:xfrm>
            <a:off x="5043170" y="4831080"/>
            <a:ext cx="6196013" cy="185738"/>
          </a:xfrm>
          <a:prstGeom prst="rect">
            <a:avLst/>
          </a:prstGeom>
          <a:noFill/>
          <a:ln w="9525">
            <a:noFill/>
          </a:ln>
        </p:spPr>
        <p:txBody>
          <a:bodyPr lIns="90000" tIns="46800" rIns="90000" bIns="46800" anchor="ctr">
            <a:spAutoFit/>
          </a:bodyPr>
          <a:lstStyle/>
          <a:p>
            <a:pPr eaLnBrk="0" hangingPunct="0"/>
            <a:r>
              <a:rPr lang="zh-CN" altLang="zh-CN" sz="600" dirty="0">
                <a:latin typeface="Tahoma" panose="020B0604030504040204" pitchFamily="34" charset="0"/>
                <a:ea typeface="华文中宋" panose="02010600040101010101" pitchFamily="2" charset="-122"/>
              </a:rPr>
              <a:t> </a:t>
            </a:r>
            <a:endParaRPr lang="zh-CN" altLang="zh-CN" dirty="0">
              <a:latin typeface="Tahoma" panose="020B0604030504040204" pitchFamily="34" charset="0"/>
              <a:ea typeface="华文中宋" panose="02010600040101010101" pitchFamily="2" charset="-122"/>
            </a:endParaRPr>
          </a:p>
        </p:txBody>
      </p:sp>
      <p:sp>
        <p:nvSpPr>
          <p:cNvPr id="6" name="矩形 5"/>
          <p:cNvSpPr>
            <a:spLocks noRot="1" noChangeAspect="1" noMove="1" noResize="1" noEditPoints="1" noAdjustHandles="1" noChangeArrowheads="1" noChangeShapeType="1" noTextEdit="1"/>
          </p:cNvSpPr>
          <p:nvPr/>
        </p:nvSpPr>
        <p:spPr>
          <a:xfrm>
            <a:off x="285115" y="838200"/>
            <a:ext cx="5591810" cy="3263265"/>
          </a:xfrm>
          <a:prstGeom prst="rect">
            <a:avLst/>
          </a:prstGeom>
          <a:blipFill>
            <a:blip r:embed="rId5"/>
            <a:stretch>
              <a:fillRect l="-1022" r="-1149"/>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pic>
        <p:nvPicPr>
          <p:cNvPr id="30721" name="图片 17"/>
          <p:cNvPicPr>
            <a:picLocks noChangeAspect="1"/>
          </p:cNvPicPr>
          <p:nvPr/>
        </p:nvPicPr>
        <p:blipFill>
          <a:blip r:embed="rId6"/>
          <a:stretch>
            <a:fillRect/>
          </a:stretch>
        </p:blipFill>
        <p:spPr>
          <a:xfrm>
            <a:off x="5993765" y="1356995"/>
            <a:ext cx="2913063" cy="2465388"/>
          </a:xfrm>
          <a:prstGeom prst="rect">
            <a:avLst/>
          </a:prstGeom>
          <a:noFill/>
          <a:ln w="9525">
            <a:noFill/>
          </a:ln>
        </p:spPr>
      </p:pic>
      <p:sp>
        <p:nvSpPr>
          <p:cNvPr id="2" name="文本框 1"/>
          <p:cNvSpPr txBox="1">
            <a:spLocks noRot="1" noChangeAspect="1" noMove="1" noResize="1" noEditPoints="1" noAdjustHandles="1" noChangeArrowheads="1" noChangeShapeType="1" noTextEdit="1"/>
          </p:cNvSpPr>
          <p:nvPr/>
        </p:nvSpPr>
        <p:spPr>
          <a:xfrm>
            <a:off x="436880" y="3822700"/>
            <a:ext cx="8510270" cy="2412365"/>
          </a:xfrm>
          <a:prstGeom prst="rect">
            <a:avLst/>
          </a:prstGeom>
          <a:blipFill>
            <a:blip r:embed="rId7"/>
            <a:stretch>
              <a:fillRect l="-686"/>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946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9466"/>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9465"/>
                                        </p:tgtEl>
                                        <p:attrNameLst>
                                          <p:attrName>style.visibility</p:attrName>
                                        </p:attrNameLst>
                                      </p:cBhvr>
                                      <p:to>
                                        <p:strVal val="visible"/>
                                      </p:to>
                                    </p:set>
                                    <p:anim calcmode="lin" valueType="num">
                                      <p:cBhvr additive="base">
                                        <p:cTn id="13" dur="500" fill="hold"/>
                                        <p:tgtEl>
                                          <p:spTgt spid="59465"/>
                                        </p:tgtEl>
                                        <p:attrNameLst>
                                          <p:attrName>ppt_x</p:attrName>
                                        </p:attrNameLst>
                                      </p:cBhvr>
                                      <p:tavLst>
                                        <p:tav tm="0">
                                          <p:val>
                                            <p:strVal val="0-#ppt_w/2"/>
                                          </p:val>
                                        </p:tav>
                                        <p:tav tm="100000">
                                          <p:val>
                                            <p:strVal val="#ppt_x"/>
                                          </p:val>
                                        </p:tav>
                                      </p:tavLst>
                                    </p:anim>
                                    <p:anim calcmode="lin" valueType="num">
                                      <p:cBhvr additive="base">
                                        <p:cTn id="14" dur="500" fill="hold"/>
                                        <p:tgtEl>
                                          <p:spTgt spid="5946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9464"/>
                                        </p:tgtEl>
                                        <p:attrNameLst>
                                          <p:attrName>style.visibility</p:attrName>
                                        </p:attrNameLst>
                                      </p:cBhvr>
                                      <p:to>
                                        <p:strVal val="visible"/>
                                      </p:to>
                                    </p:set>
                                    <p:anim calcmode="lin" valueType="num">
                                      <p:cBhvr additive="base">
                                        <p:cTn id="19" dur="500" fill="hold"/>
                                        <p:tgtEl>
                                          <p:spTgt spid="59464"/>
                                        </p:tgtEl>
                                        <p:attrNameLst>
                                          <p:attrName>ppt_x</p:attrName>
                                        </p:attrNameLst>
                                      </p:cBhvr>
                                      <p:tavLst>
                                        <p:tav tm="0">
                                          <p:val>
                                            <p:strVal val="0-#ppt_w/2"/>
                                          </p:val>
                                        </p:tav>
                                        <p:tav tm="100000">
                                          <p:val>
                                            <p:strVal val="#ppt_x"/>
                                          </p:val>
                                        </p:tav>
                                      </p:tavLst>
                                    </p:anim>
                                    <p:anim calcmode="lin" valueType="num">
                                      <p:cBhvr additive="base">
                                        <p:cTn id="20" dur="500" fill="hold"/>
                                        <p:tgtEl>
                                          <p:spTgt spid="5946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0721"/>
                                        </p:tgtEl>
                                        <p:attrNameLst>
                                          <p:attrName>style.visibility</p:attrName>
                                        </p:attrNameLst>
                                      </p:cBhvr>
                                      <p:to>
                                        <p:strVal val="visible"/>
                                      </p:to>
                                    </p:set>
                                    <p:animEffect transition="in" filter="wipe(left)">
                                      <p:cBhvr>
                                        <p:cTn id="30" dur="500"/>
                                        <p:tgtEl>
                                          <p:spTgt spid="307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6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p:cNvSpPr>
          <p:nvPr>
            <p:ph type="title"/>
          </p:nvPr>
        </p:nvSpPr>
        <p:spPr>
          <a:xfrm>
            <a:off x="7956550" y="765175"/>
            <a:ext cx="730250" cy="292100"/>
          </a:xfrm>
          <a:noFill/>
          <a:ln>
            <a:noFill/>
          </a:ln>
        </p:spPr>
        <p:txBody>
          <a:bodyPr anchor="t"/>
          <a:lstStyle/>
          <a:p>
            <a:pPr eaLnBrk="1" hangingPunct="1"/>
            <a:r>
              <a:rPr lang="zh-CN" altLang="en-US" sz="800" dirty="0">
                <a:solidFill>
                  <a:schemeClr val="bg1"/>
                </a:solidFill>
                <a:latin typeface="华文新魏" panose="02010800040101010101" pitchFamily="2" charset="-122"/>
                <a:ea typeface="华文新魏" panose="02010800040101010101" pitchFamily="2" charset="-122"/>
              </a:rPr>
              <a:t>机械零件的疲劳强度计算</a:t>
            </a:r>
            <a:r>
              <a:rPr lang="en-US" altLang="zh-CN" sz="800" dirty="0">
                <a:solidFill>
                  <a:schemeClr val="bg1"/>
                </a:solidFill>
                <a:latin typeface="华文新魏" panose="02010800040101010101" pitchFamily="2" charset="-122"/>
                <a:ea typeface="华文新魏" panose="02010800040101010101" pitchFamily="2" charset="-122"/>
              </a:rPr>
              <a:t>3</a:t>
            </a:r>
            <a:endParaRPr lang="en-US" altLang="zh-CN" sz="800" dirty="0">
              <a:solidFill>
                <a:schemeClr val="bg1"/>
              </a:solidFill>
              <a:latin typeface="华文新魏" panose="02010800040101010101" pitchFamily="2" charset="-122"/>
              <a:ea typeface="华文新魏" panose="02010800040101010101" pitchFamily="2" charset="-122"/>
            </a:endParaRPr>
          </a:p>
        </p:txBody>
      </p:sp>
      <p:sp>
        <p:nvSpPr>
          <p:cNvPr id="36866" name="Rectangle 3"/>
          <p:cNvSpPr/>
          <p:nvPr/>
        </p:nvSpPr>
        <p:spPr>
          <a:xfrm>
            <a:off x="3581400" y="76200"/>
            <a:ext cx="4730750" cy="762000"/>
          </a:xfrm>
          <a:prstGeom prst="rect">
            <a:avLst/>
          </a:prstGeom>
          <a:noFill/>
          <a:ln w="9525">
            <a:noFill/>
          </a:ln>
        </p:spPr>
        <p:txBody>
          <a:bodyPr tIns="18000" anchor="ctr" anchorCtr="1"/>
          <a:lstStyle/>
          <a:p>
            <a:r>
              <a:rPr lang="zh-CN" altLang="en-US" sz="3000" dirty="0">
                <a:solidFill>
                  <a:srgbClr val="CC3300"/>
                </a:solidFill>
                <a:latin typeface="黑体" panose="02010609060101010101" pitchFamily="49" charset="-122"/>
                <a:ea typeface="黑体" panose="02010609060101010101" pitchFamily="49" charset="-122"/>
              </a:rPr>
              <a:t>零件的疲劳强度计算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6867" name="AutoShape 38"/>
          <p:cNvSpPr/>
          <p:nvPr/>
        </p:nvSpPr>
        <p:spPr>
          <a:xfrm>
            <a:off x="5791200" y="3048000"/>
            <a:ext cx="976313" cy="485775"/>
          </a:xfrm>
          <a:prstGeom prst="rightArrow">
            <a:avLst>
              <a:gd name="adj1" fmla="val 50000"/>
              <a:gd name="adj2" fmla="val 50235"/>
            </a:avLst>
          </a:prstGeom>
          <a:noFill/>
          <a:ln w="9525">
            <a:noFill/>
          </a:ln>
        </p:spPr>
        <p:txBody>
          <a:bodyPr wrap="none" lIns="90000" tIns="46800" rIns="90000" bIns="46800" anchor="ctr"/>
          <a:lstStyle/>
          <a:p>
            <a:endParaRPr lang="zh-CN" altLang="en-US" dirty="0">
              <a:latin typeface="Tahoma" panose="020B0604030504040204" pitchFamily="34" charset="0"/>
              <a:ea typeface="华文中宋" panose="02010600040101010101" pitchFamily="2" charset="-122"/>
            </a:endParaRPr>
          </a:p>
        </p:txBody>
      </p:sp>
      <p:sp>
        <p:nvSpPr>
          <p:cNvPr id="59464" name="Text Box 72"/>
          <p:cNvSpPr txBox="1"/>
          <p:nvPr/>
        </p:nvSpPr>
        <p:spPr>
          <a:xfrm>
            <a:off x="7910513" y="6315075"/>
            <a:ext cx="460375" cy="427038"/>
          </a:xfrm>
          <a:prstGeom prst="rect">
            <a:avLst/>
          </a:prstGeom>
          <a:noFill/>
          <a:ln w="9525">
            <a:noFill/>
          </a:ln>
        </p:spPr>
        <p:txBody>
          <a:bodyPr wrap="none" lIns="90000" tIns="46800" rIns="90000" bIns="46800" anchor="t">
            <a:spAutoFit/>
          </a:bodyPr>
          <a:lstStyle/>
          <a:p>
            <a:r>
              <a:rPr lang="zh-CN" altLang="en-US" dirty="0">
                <a:latin typeface="Tahoma" panose="020B0604030504040204" pitchFamily="34" charset="0"/>
                <a:ea typeface="华文中宋" panose="02010600040101010101" pitchFamily="2" charset="-122"/>
              </a:rPr>
              <a:t>　</a:t>
            </a:r>
            <a:endParaRPr lang="zh-CN" altLang="en-US" dirty="0">
              <a:latin typeface="Tahoma" panose="020B0604030504040204" pitchFamily="34" charset="0"/>
              <a:ea typeface="华文中宋" panose="02010600040101010101" pitchFamily="2" charset="-122"/>
            </a:endParaRPr>
          </a:p>
        </p:txBody>
      </p:sp>
      <p:pic>
        <p:nvPicPr>
          <p:cNvPr id="59465" name="Picture 73"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59466" name="Picture 74"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59467" name="Picture 75"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36872" name="Rectangle 15"/>
          <p:cNvSpPr/>
          <p:nvPr/>
        </p:nvSpPr>
        <p:spPr>
          <a:xfrm>
            <a:off x="1706563" y="2133600"/>
            <a:ext cx="9144000" cy="0"/>
          </a:xfrm>
          <a:prstGeom prst="rect">
            <a:avLst/>
          </a:prstGeom>
          <a:noFill/>
          <a:ln w="9525">
            <a:noFill/>
          </a:ln>
        </p:spPr>
        <p:txBody>
          <a:bodyPr wrap="none" lIns="90000" tIns="46800" rIns="90000" bIns="46800" anchor="ctr">
            <a:spAutoFit/>
          </a:bodyPr>
          <a:lstStyle/>
          <a:p>
            <a:pPr eaLnBrk="0" hangingPunct="0"/>
            <a:endParaRPr lang="zh-CN" altLang="en-US" dirty="0">
              <a:latin typeface="Tahoma" panose="020B0604030504040204" pitchFamily="34" charset="0"/>
              <a:ea typeface="华文中宋" panose="02010600040101010101" pitchFamily="2" charset="-122"/>
            </a:endParaRPr>
          </a:p>
        </p:txBody>
      </p:sp>
      <p:sp>
        <p:nvSpPr>
          <p:cNvPr id="36873" name="Rectangle 19"/>
          <p:cNvSpPr/>
          <p:nvPr/>
        </p:nvSpPr>
        <p:spPr>
          <a:xfrm>
            <a:off x="2195513" y="2855913"/>
            <a:ext cx="9904412" cy="46037"/>
          </a:xfrm>
          <a:prstGeom prst="rect">
            <a:avLst/>
          </a:prstGeom>
          <a:noFill/>
          <a:ln w="9525">
            <a:noFill/>
          </a:ln>
        </p:spPr>
        <p:txBody>
          <a:bodyPr lIns="90000" tIns="46800" rIns="90000" bIns="46800" anchor="ctr">
            <a:spAutoFit/>
          </a:bodyPr>
          <a:lstStyle/>
          <a:p>
            <a:pPr eaLnBrk="0" hangingPunct="0"/>
            <a:endParaRPr lang="zh-CN" altLang="en-US" dirty="0">
              <a:latin typeface="Tahoma" panose="020B0604030504040204" pitchFamily="34" charset="0"/>
              <a:ea typeface="华文中宋" panose="02010600040101010101" pitchFamily="2" charset="-122"/>
            </a:endParaRPr>
          </a:p>
        </p:txBody>
      </p:sp>
      <p:sp>
        <p:nvSpPr>
          <p:cNvPr id="36874" name="Rectangle 23"/>
          <p:cNvSpPr/>
          <p:nvPr/>
        </p:nvSpPr>
        <p:spPr>
          <a:xfrm>
            <a:off x="755650" y="3343275"/>
            <a:ext cx="10009188" cy="0"/>
          </a:xfrm>
          <a:prstGeom prst="rect">
            <a:avLst/>
          </a:prstGeom>
          <a:noFill/>
          <a:ln w="9525">
            <a:noFill/>
          </a:ln>
        </p:spPr>
        <p:txBody>
          <a:bodyPr lIns="90000" tIns="46800" rIns="90000" bIns="46800" anchor="ctr">
            <a:spAutoFit/>
          </a:bodyPr>
          <a:lstStyle/>
          <a:p>
            <a:pPr eaLnBrk="0" hangingPunct="0"/>
            <a:endParaRPr lang="zh-CN" altLang="en-US" dirty="0">
              <a:latin typeface="Tahoma" panose="020B0604030504040204" pitchFamily="34" charset="0"/>
              <a:ea typeface="华文中宋" panose="02010600040101010101" pitchFamily="2" charset="-122"/>
            </a:endParaRPr>
          </a:p>
        </p:txBody>
      </p:sp>
      <p:sp>
        <p:nvSpPr>
          <p:cNvPr id="36875" name="Rectangle 26"/>
          <p:cNvSpPr/>
          <p:nvPr/>
        </p:nvSpPr>
        <p:spPr>
          <a:xfrm>
            <a:off x="1530350" y="4278313"/>
            <a:ext cx="9144000" cy="0"/>
          </a:xfrm>
          <a:prstGeom prst="rect">
            <a:avLst/>
          </a:prstGeom>
          <a:noFill/>
          <a:ln w="9525">
            <a:noFill/>
          </a:ln>
        </p:spPr>
        <p:txBody>
          <a:bodyPr wrap="none" lIns="90000" tIns="46800" rIns="90000" bIns="46800" anchor="ctr">
            <a:spAutoFit/>
          </a:bodyPr>
          <a:lstStyle/>
          <a:p>
            <a:pPr eaLnBrk="0" hangingPunct="0"/>
            <a:endParaRPr lang="zh-CN" altLang="en-US" dirty="0">
              <a:latin typeface="Tahoma" panose="020B0604030504040204" pitchFamily="34" charset="0"/>
              <a:ea typeface="华文中宋" panose="02010600040101010101" pitchFamily="2" charset="-122"/>
            </a:endParaRPr>
          </a:p>
        </p:txBody>
      </p:sp>
      <p:sp>
        <p:nvSpPr>
          <p:cNvPr id="36876" name="Rectangle 38"/>
          <p:cNvSpPr/>
          <p:nvPr/>
        </p:nvSpPr>
        <p:spPr>
          <a:xfrm>
            <a:off x="5048250" y="4826000"/>
            <a:ext cx="6196013" cy="185738"/>
          </a:xfrm>
          <a:prstGeom prst="rect">
            <a:avLst/>
          </a:prstGeom>
          <a:noFill/>
          <a:ln w="9525">
            <a:noFill/>
          </a:ln>
        </p:spPr>
        <p:txBody>
          <a:bodyPr lIns="90000" tIns="46800" rIns="90000" bIns="46800" anchor="ctr">
            <a:spAutoFit/>
          </a:bodyPr>
          <a:lstStyle/>
          <a:p>
            <a:pPr eaLnBrk="0" hangingPunct="0"/>
            <a:r>
              <a:rPr lang="zh-CN" altLang="zh-CN" sz="600" dirty="0">
                <a:latin typeface="Tahoma" panose="020B0604030504040204" pitchFamily="34" charset="0"/>
                <a:ea typeface="华文中宋" panose="02010600040101010101" pitchFamily="2" charset="-122"/>
              </a:rPr>
              <a:t> </a:t>
            </a:r>
            <a:endParaRPr lang="zh-CN" altLang="zh-CN" dirty="0">
              <a:latin typeface="Tahoma" panose="020B0604030504040204" pitchFamily="34" charset="0"/>
              <a:ea typeface="华文中宋" panose="02010600040101010101" pitchFamily="2" charset="-122"/>
            </a:endParaRPr>
          </a:p>
        </p:txBody>
      </p:sp>
      <p:sp>
        <p:nvSpPr>
          <p:cNvPr id="2" name="文本框 1"/>
          <p:cNvSpPr txBox="1"/>
          <p:nvPr/>
        </p:nvSpPr>
        <p:spPr>
          <a:xfrm>
            <a:off x="1176655" y="1081405"/>
            <a:ext cx="7308215" cy="475615"/>
          </a:xfrm>
          <a:prstGeom prst="rect">
            <a:avLst/>
          </a:prstGeom>
          <a:noFill/>
          <a:ln w="9525">
            <a:noFill/>
          </a:ln>
        </p:spPr>
        <p:txBody>
          <a:bodyPr wrap="square" anchor="t">
            <a:spAutoFit/>
          </a:bodyPr>
          <a:lstStyle/>
          <a:p>
            <a:pPr eaLnBrk="0" hangingPunct="0">
              <a:lnSpc>
                <a:spcPts val="3000"/>
              </a:lnSpc>
            </a:pPr>
            <a:r>
              <a:rPr lang="zh-CN" altLang="zh-CN" sz="2000" dirty="0">
                <a:latin typeface="Tahoma" panose="020B0604030504040204" pitchFamily="34" charset="0"/>
                <a:ea typeface="华文中宋" panose="02010600040101010101" pitchFamily="2" charset="-122"/>
              </a:rPr>
              <a:t>由式（</a:t>
            </a:r>
            <a:r>
              <a:rPr lang="en-US" altLang="zh-CN" sz="2000" dirty="0">
                <a:latin typeface="Tahoma" panose="020B0604030504040204" pitchFamily="34" charset="0"/>
                <a:ea typeface="华文中宋" panose="02010600040101010101" pitchFamily="2" charset="-122"/>
              </a:rPr>
              <a:t>1.3-34</a:t>
            </a:r>
            <a:r>
              <a:rPr lang="zh-CN" altLang="zh-CN" sz="2000" dirty="0">
                <a:latin typeface="Tahoma" panose="020B0604030504040204" pitchFamily="34" charset="0"/>
                <a:ea typeface="华文中宋" panose="02010600040101010101" pitchFamily="2" charset="-122"/>
              </a:rPr>
              <a:t>）得计算应力为</a:t>
            </a:r>
            <a:endParaRPr lang="zh-CN" altLang="zh-CN" sz="2000" dirty="0">
              <a:latin typeface="Tahoma" panose="020B0604030504040204" pitchFamily="34" charset="0"/>
              <a:ea typeface="华文中宋" panose="02010600040101010101" pitchFamily="2" charset="-122"/>
            </a:endParaRPr>
          </a:p>
        </p:txBody>
      </p:sp>
      <p:sp>
        <p:nvSpPr>
          <p:cNvPr id="9" name="文本框 8"/>
          <p:cNvSpPr txBox="1">
            <a:spLocks noRot="1" noChangeAspect="1" noEditPoints="1" noTextEdit="1"/>
          </p:cNvSpPr>
          <p:nvPr/>
        </p:nvSpPr>
        <p:spPr>
          <a:xfrm>
            <a:off x="-632460" y="1578610"/>
            <a:ext cx="6512560" cy="1323340"/>
          </a:xfrm>
          <a:prstGeom prst="rect">
            <a:avLst/>
          </a:prstGeom>
          <a:blipFill rotWithShape="1">
            <a:blip r:embed="rId5"/>
            <a:stretch>
              <a:fillRect/>
            </a:stretch>
          </a:blipFill>
          <a:ln w="9525">
            <a:noFill/>
          </a:ln>
        </p:spPr>
        <p:txBody>
          <a:bodyPr anchor="t"/>
          <a:lstStyle/>
          <a:p>
            <a:pPr eaLnBrk="0" hangingPunct="0"/>
            <a:endParaRPr>
              <a:latin typeface="Tahoma" panose="020B0604030504040204" pitchFamily="34" charset="0"/>
              <a:ea typeface="华文中宋" panose="02010600040101010101" pitchFamily="2" charset="-122"/>
            </a:endParaRPr>
          </a:p>
        </p:txBody>
      </p:sp>
      <p:sp>
        <p:nvSpPr>
          <p:cNvPr id="10" name="文本框 9"/>
          <p:cNvSpPr txBox="1">
            <a:spLocks noRot="1" noChangeAspect="1" noEditPoints="1" noTextEdit="1"/>
          </p:cNvSpPr>
          <p:nvPr/>
        </p:nvSpPr>
        <p:spPr>
          <a:xfrm>
            <a:off x="1684020" y="3015298"/>
            <a:ext cx="7459663" cy="655637"/>
          </a:xfrm>
          <a:prstGeom prst="rect">
            <a:avLst/>
          </a:prstGeom>
          <a:blipFill rotWithShape="1">
            <a:blip r:embed="rId6"/>
            <a:stretch>
              <a:fillRect/>
            </a:stretch>
          </a:blipFill>
          <a:ln w="9525">
            <a:noFill/>
          </a:ln>
        </p:spPr>
        <p:txBody>
          <a:bodyPr anchor="t"/>
          <a:lstStyle/>
          <a:p>
            <a:pPr eaLnBrk="0" hangingPunct="0"/>
            <a:endParaRPr>
              <a:latin typeface="Tahoma" panose="020B0604030504040204" pitchFamily="34" charset="0"/>
              <a:ea typeface="华文中宋" panose="02010600040101010101" pitchFamily="2" charset="-122"/>
            </a:endParaRPr>
          </a:p>
        </p:txBody>
      </p:sp>
      <p:sp>
        <p:nvSpPr>
          <p:cNvPr id="11" name="文本框 10"/>
          <p:cNvSpPr txBox="1">
            <a:spLocks noRot="1" noChangeAspect="1" noMove="1" noResize="1" noEditPoints="1" noAdjustHandles="1" noChangeArrowheads="1" noChangeShapeType="1" noTextEdit="1"/>
          </p:cNvSpPr>
          <p:nvPr/>
        </p:nvSpPr>
        <p:spPr>
          <a:xfrm>
            <a:off x="1129030" y="3924935"/>
            <a:ext cx="8014970" cy="1987550"/>
          </a:xfrm>
          <a:prstGeom prst="rect">
            <a:avLst/>
          </a:prstGeom>
          <a:blipFill>
            <a:blip r:embed="rId7"/>
            <a:stretch>
              <a:fillRect l="-741" b="-2239"/>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5946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9466"/>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59465"/>
                                        </p:tgtEl>
                                        <p:attrNameLst>
                                          <p:attrName>style.visibility</p:attrName>
                                        </p:attrNameLst>
                                      </p:cBhvr>
                                      <p:to>
                                        <p:strVal val="visible"/>
                                      </p:to>
                                    </p:set>
                                    <p:anim calcmode="lin" valueType="num">
                                      <p:cBhvr additive="base">
                                        <p:cTn id="13" dur="500" fill="hold"/>
                                        <p:tgtEl>
                                          <p:spTgt spid="59465"/>
                                        </p:tgtEl>
                                        <p:attrNameLst>
                                          <p:attrName>ppt_x</p:attrName>
                                        </p:attrNameLst>
                                      </p:cBhvr>
                                      <p:tavLst>
                                        <p:tav tm="0">
                                          <p:val>
                                            <p:strVal val="0-#ppt_w/2"/>
                                          </p:val>
                                        </p:tav>
                                        <p:tav tm="100000">
                                          <p:val>
                                            <p:strVal val="#ppt_x"/>
                                          </p:val>
                                        </p:tav>
                                      </p:tavLst>
                                    </p:anim>
                                    <p:anim calcmode="lin" valueType="num">
                                      <p:cBhvr additive="base">
                                        <p:cTn id="14" dur="500" fill="hold"/>
                                        <p:tgtEl>
                                          <p:spTgt spid="5946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9464"/>
                                        </p:tgtEl>
                                        <p:attrNameLst>
                                          <p:attrName>style.visibility</p:attrName>
                                        </p:attrNameLst>
                                      </p:cBhvr>
                                      <p:to>
                                        <p:strVal val="visible"/>
                                      </p:to>
                                    </p:set>
                                    <p:anim calcmode="lin" valueType="num">
                                      <p:cBhvr additive="base">
                                        <p:cTn id="19" dur="500" fill="hold"/>
                                        <p:tgtEl>
                                          <p:spTgt spid="59464"/>
                                        </p:tgtEl>
                                        <p:attrNameLst>
                                          <p:attrName>ppt_x</p:attrName>
                                        </p:attrNameLst>
                                      </p:cBhvr>
                                      <p:tavLst>
                                        <p:tav tm="0">
                                          <p:val>
                                            <p:strVal val="0-#ppt_w/2"/>
                                          </p:val>
                                        </p:tav>
                                        <p:tav tm="100000">
                                          <p:val>
                                            <p:strVal val="#ppt_x"/>
                                          </p:val>
                                        </p:tav>
                                      </p:tavLst>
                                    </p:anim>
                                    <p:anim calcmode="lin" valueType="num">
                                      <p:cBhvr additive="base">
                                        <p:cTn id="20" dur="500" fill="hold"/>
                                        <p:tgtEl>
                                          <p:spTgt spid="5946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64" grpId="0"/>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bwMode="auto">
          <a:xfrm>
            <a:off x="5029200" y="762000"/>
            <a:ext cx="1905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a:solidFill>
                  <a:schemeClr val="bg1"/>
                </a:solidFill>
                <a:latin typeface="华文新魏" panose="02010800040101010101" pitchFamily="2" charset="-122"/>
                <a:ea typeface="华文新魏" panose="02010800040101010101" pitchFamily="2" charset="-122"/>
              </a:rPr>
              <a:t>机械零件的疲劳强度计算</a:t>
            </a:r>
            <a:r>
              <a:rPr lang="en-US" altLang="zh-CN" sz="800">
                <a:solidFill>
                  <a:schemeClr val="bg1"/>
                </a:solidFill>
                <a:latin typeface="华文新魏" panose="02010800040101010101" pitchFamily="2" charset="-122"/>
                <a:ea typeface="华文新魏" panose="02010800040101010101" pitchFamily="2" charset="-122"/>
              </a:rPr>
              <a:t>4</a:t>
            </a:r>
            <a:endParaRPr lang="en-US" altLang="zh-CN" sz="800">
              <a:solidFill>
                <a:schemeClr val="bg1"/>
              </a:solidFill>
              <a:latin typeface="华文新魏" panose="02010800040101010101" pitchFamily="2" charset="-122"/>
              <a:ea typeface="华文新魏" panose="02010800040101010101" pitchFamily="2" charset="-122"/>
            </a:endParaRPr>
          </a:p>
        </p:txBody>
      </p:sp>
      <p:sp>
        <p:nvSpPr>
          <p:cNvPr id="69655" name="Text Box 23"/>
          <p:cNvSpPr txBox="1">
            <a:spLocks noChangeArrowheads="1"/>
          </p:cNvSpPr>
          <p:nvPr/>
        </p:nvSpPr>
        <p:spPr bwMode="auto">
          <a:xfrm>
            <a:off x="71755" y="278765"/>
            <a:ext cx="79883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FF0000"/>
                </a:solidFill>
                <a:latin typeface="黑体" panose="02010609060101010101" pitchFamily="49" charset="-122"/>
                <a:ea typeface="黑体" panose="02010609060101010101" pitchFamily="49" charset="-122"/>
              </a:rPr>
              <a:t>（四）双向稳定变应力时的疲劳强度计算</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69656" name="Rectangle 24"/>
          <p:cNvSpPr>
            <a:spLocks noChangeArrowheads="1"/>
          </p:cNvSpPr>
          <p:nvPr/>
        </p:nvSpPr>
        <p:spPr bwMode="auto">
          <a:xfrm>
            <a:off x="207000" y="819000"/>
            <a:ext cx="8763000" cy="83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当零件上同时作用有同相位同周期的稳定对称循环变应力</a:t>
            </a:r>
            <a:r>
              <a:rPr lang="en-US" altLang="zh-CN" sz="2000" i="1" dirty="0" err="1">
                <a:solidFill>
                  <a:srgbClr val="000099"/>
                </a:solidFill>
                <a:latin typeface="Symbol" panose="05050102010706020507" pitchFamily="18" charset="2"/>
              </a:rPr>
              <a:t>s</a:t>
            </a:r>
            <a:r>
              <a:rPr lang="en-US" altLang="zh-CN" sz="2000" baseline="-25000" dirty="0" err="1">
                <a:solidFill>
                  <a:srgbClr val="000099"/>
                </a:solidFill>
                <a:latin typeface="华文中宋" panose="02010600040101010101" pitchFamily="2" charset="-122"/>
              </a:rPr>
              <a:t>a</a:t>
            </a:r>
            <a:r>
              <a:rPr lang="en-US" altLang="zh-CN" sz="2000" baseline="-25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和</a:t>
            </a:r>
            <a:r>
              <a:rPr lang="en-US" altLang="zh-CN" sz="2000" i="1" dirty="0">
                <a:solidFill>
                  <a:srgbClr val="000099"/>
                </a:solidFill>
                <a:latin typeface="Symbol" panose="05050102010706020507" pitchFamily="18" charset="2"/>
              </a:rPr>
              <a:t>t</a:t>
            </a:r>
            <a:r>
              <a:rPr lang="en-US" altLang="zh-CN" sz="2000" baseline="-25000" dirty="0">
                <a:solidFill>
                  <a:srgbClr val="000099"/>
                </a:solidFill>
                <a:latin typeface="华文中宋" panose="02010600040101010101" pitchFamily="2" charset="-122"/>
              </a:rPr>
              <a:t>a</a:t>
            </a:r>
            <a:r>
              <a:rPr lang="zh-CN" altLang="en-US" sz="2000" dirty="0">
                <a:solidFill>
                  <a:srgbClr val="000099"/>
                </a:solidFill>
                <a:latin typeface="华文中宋" panose="02010600040101010101" pitchFamily="2" charset="-122"/>
              </a:rPr>
              <a:t>时，由实验得出的极限应力关系式为：</a:t>
            </a:r>
            <a:endParaRPr lang="zh-CN" altLang="en-US" sz="2000" dirty="0">
              <a:solidFill>
                <a:srgbClr val="000099"/>
              </a:solidFill>
              <a:latin typeface="华文中宋" panose="02010600040101010101" pitchFamily="2" charset="-122"/>
            </a:endParaRPr>
          </a:p>
        </p:txBody>
      </p:sp>
      <p:graphicFrame>
        <p:nvGraphicFramePr>
          <p:cNvPr id="69657" name="Object 25"/>
          <p:cNvGraphicFramePr/>
          <p:nvPr/>
        </p:nvGraphicFramePr>
        <p:xfrm>
          <a:off x="2142000" y="1674000"/>
          <a:ext cx="2159000" cy="792163"/>
        </p:xfrm>
        <a:graphic>
          <a:graphicData uri="http://schemas.openxmlformats.org/presentationml/2006/ole">
            <mc:AlternateContent xmlns:mc="http://schemas.openxmlformats.org/markup-compatibility/2006">
              <mc:Choice xmlns:v="urn:schemas-microsoft-com:vml" Requires="v">
                <p:oleObj spid="_x0000_s2" name="Equation" r:id="rId1" imgW="1191895" imgH="462915" progId="Equation.3">
                  <p:embed/>
                </p:oleObj>
              </mc:Choice>
              <mc:Fallback>
                <p:oleObj name="Equation" r:id="rId1" imgW="1191895" imgH="462915" progId="Equation.3">
                  <p:embed/>
                  <p:pic>
                    <p:nvPicPr>
                      <p:cNvPr id="0" name="Picture 7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2000" y="1674000"/>
                        <a:ext cx="2159000" cy="792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658" name="Text Box 26"/>
          <p:cNvSpPr txBox="1">
            <a:spLocks noChangeArrowheads="1"/>
          </p:cNvSpPr>
          <p:nvPr/>
        </p:nvSpPr>
        <p:spPr bwMode="auto">
          <a:xfrm>
            <a:off x="342000" y="2394000"/>
            <a:ext cx="533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华文中宋" panose="02010600040101010101" pitchFamily="2" charset="-122"/>
              </a:rPr>
              <a:t>式中 </a:t>
            </a:r>
            <a:r>
              <a:rPr lang="en-US" altLang="zh-CN" sz="2000" i="1" dirty="0">
                <a:solidFill>
                  <a:srgbClr val="000099"/>
                </a:solidFill>
                <a:latin typeface="Symbol" panose="05050102010706020507" pitchFamily="18" charset="2"/>
              </a:rPr>
              <a:t>t</a:t>
            </a:r>
            <a:r>
              <a:rPr lang="en-US" altLang="zh-CN" sz="2000" baseline="-25000" dirty="0">
                <a:solidFill>
                  <a:srgbClr val="000099"/>
                </a:solidFill>
                <a:latin typeface="Times New Roman" panose="02020603050405020304" pitchFamily="18" charset="0"/>
              </a:rPr>
              <a:t>a</a:t>
            </a:r>
            <a:r>
              <a:rPr lang="en-US" altLang="zh-CN"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及</a:t>
            </a:r>
            <a:r>
              <a:rPr lang="en-US" altLang="zh-CN" sz="2000" i="1" dirty="0" err="1">
                <a:solidFill>
                  <a:srgbClr val="000099"/>
                </a:solidFill>
                <a:latin typeface="Symbol" panose="05050102010706020507" pitchFamily="18" charset="2"/>
              </a:rPr>
              <a:t>s</a:t>
            </a:r>
            <a:r>
              <a:rPr lang="en-US" altLang="zh-CN" sz="2000" baseline="-25000" dirty="0" err="1">
                <a:solidFill>
                  <a:srgbClr val="000099"/>
                </a:solidFill>
                <a:latin typeface="Times New Roman" panose="02020603050405020304" pitchFamily="18" charset="0"/>
              </a:rPr>
              <a:t>a</a:t>
            </a:r>
            <a:r>
              <a:rPr lang="en-US" altLang="zh-CN"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为同时作用的切向及法向应力</a:t>
            </a:r>
            <a:endParaRPr lang="zh-CN" altLang="en-US" sz="2000" dirty="0">
              <a:solidFill>
                <a:srgbClr val="000099"/>
              </a:solidFill>
              <a:latin typeface="华文中宋" panose="02010600040101010101" pitchFamily="2" charset="-122"/>
            </a:endParaRPr>
          </a:p>
          <a:p>
            <a:pPr eaLnBrk="1" hangingPunct="1">
              <a:lnSpc>
                <a:spcPct val="120000"/>
              </a:lnSpc>
            </a:pPr>
            <a:r>
              <a:rPr lang="zh-CN" altLang="en-US" sz="2000" dirty="0">
                <a:solidFill>
                  <a:srgbClr val="000099"/>
                </a:solidFill>
                <a:latin typeface="华文中宋" panose="02010600040101010101" pitchFamily="2" charset="-122"/>
              </a:rPr>
              <a:t>幅的极限值</a:t>
            </a:r>
            <a:r>
              <a:rPr lang="zh-CN" altLang="en-US" dirty="0">
                <a:solidFill>
                  <a:srgbClr val="000099"/>
                </a:solidFill>
              </a:rPr>
              <a:t>。</a:t>
            </a:r>
            <a:endParaRPr lang="zh-CN" altLang="en-US" dirty="0">
              <a:solidFill>
                <a:srgbClr val="000099"/>
              </a:solidFill>
            </a:endParaRPr>
          </a:p>
        </p:txBody>
      </p:sp>
      <p:sp>
        <p:nvSpPr>
          <p:cNvPr id="69662" name="Rectangle 30"/>
          <p:cNvSpPr>
            <a:spLocks noChangeArrowheads="1"/>
          </p:cNvSpPr>
          <p:nvPr/>
        </p:nvSpPr>
        <p:spPr bwMode="auto">
          <a:xfrm>
            <a:off x="342265" y="4340543"/>
            <a:ext cx="8915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latin typeface="华文中宋" panose="02010600040101010101" pitchFamily="2" charset="-122"/>
              </a:rPr>
              <a:t>若作用于零件上的应力幅</a:t>
            </a:r>
            <a:r>
              <a:rPr lang="en-US" altLang="zh-CN" sz="2000" i="1" dirty="0" err="1">
                <a:solidFill>
                  <a:srgbClr val="000099"/>
                </a:solidFill>
                <a:latin typeface="Symbol" panose="05050102010706020507" pitchFamily="18" charset="2"/>
              </a:rPr>
              <a:t>s</a:t>
            </a:r>
            <a:r>
              <a:rPr lang="en-US" altLang="zh-CN" sz="2000" baseline="-25000" dirty="0" err="1">
                <a:solidFill>
                  <a:srgbClr val="000099"/>
                </a:solidFill>
                <a:latin typeface="Times New Roman" panose="02020603050405020304" pitchFamily="18" charset="0"/>
              </a:rPr>
              <a:t>a</a:t>
            </a:r>
            <a:r>
              <a:rPr lang="zh-CN" altLang="en-US" sz="2000" dirty="0">
                <a:solidFill>
                  <a:srgbClr val="000099"/>
                </a:solidFill>
                <a:latin typeface="华文中宋" panose="02010600040101010101" pitchFamily="2" charset="-122"/>
              </a:rPr>
              <a:t>及</a:t>
            </a:r>
            <a:r>
              <a:rPr lang="en-US" altLang="zh-CN" sz="2000" i="1" dirty="0">
                <a:solidFill>
                  <a:srgbClr val="000099"/>
                </a:solidFill>
                <a:latin typeface="Symbol" panose="05050102010706020507" pitchFamily="18" charset="2"/>
              </a:rPr>
              <a:t>t</a:t>
            </a:r>
            <a:r>
              <a:rPr lang="en-US" altLang="zh-CN" sz="2000" baseline="-25000" dirty="0">
                <a:solidFill>
                  <a:srgbClr val="000099"/>
                </a:solidFill>
                <a:latin typeface="Times New Roman" panose="02020603050405020304" pitchFamily="18" charset="0"/>
              </a:rPr>
              <a:t>a</a:t>
            </a:r>
            <a:r>
              <a:rPr lang="zh-CN" altLang="en-US" sz="2000" dirty="0">
                <a:solidFill>
                  <a:srgbClr val="000099"/>
                </a:solidFill>
                <a:latin typeface="华文中宋" panose="02010600040101010101" pitchFamily="2" charset="-122"/>
              </a:rPr>
              <a:t>如图中</a:t>
            </a:r>
            <a:r>
              <a:rPr lang="en-US" altLang="zh-CN" sz="2000" dirty="0">
                <a:solidFill>
                  <a:srgbClr val="FF0000"/>
                </a:solidFill>
                <a:latin typeface="华文中宋" panose="02010600040101010101" pitchFamily="2" charset="-122"/>
              </a:rPr>
              <a:t>M</a:t>
            </a:r>
            <a:r>
              <a:rPr lang="zh-CN" altLang="en-US" sz="2000" dirty="0">
                <a:solidFill>
                  <a:srgbClr val="000099"/>
                </a:solidFill>
                <a:latin typeface="华文中宋" panose="02010600040101010101" pitchFamily="2" charset="-122"/>
              </a:rPr>
              <a:t>点表示，则由于此工作应力点在</a:t>
            </a:r>
            <a:endParaRPr lang="zh-CN" altLang="en-US" sz="2000" dirty="0">
              <a:solidFill>
                <a:srgbClr val="000099"/>
              </a:solidFill>
              <a:latin typeface="华文中宋" panose="02010600040101010101" pitchFamily="2" charset="-122"/>
            </a:endParaRPr>
          </a:p>
          <a:p>
            <a:pPr eaLnBrk="1" hangingPunct="1">
              <a:lnSpc>
                <a:spcPct val="125000"/>
              </a:lnSpc>
            </a:pPr>
            <a:r>
              <a:rPr lang="zh-CN" altLang="en-US" sz="2000" dirty="0">
                <a:solidFill>
                  <a:srgbClr val="000099"/>
                </a:solidFill>
                <a:latin typeface="华文中宋" panose="02010600040101010101" pitchFamily="2" charset="-122"/>
              </a:rPr>
              <a:t>极限以内，未达到极限条件，因而是安全的。</a:t>
            </a:r>
            <a:endParaRPr lang="zh-CN" altLang="en-US" sz="2000" dirty="0">
              <a:solidFill>
                <a:srgbClr val="000099"/>
              </a:solidFill>
              <a:latin typeface="华文中宋" panose="02010600040101010101" pitchFamily="2" charset="-122"/>
            </a:endParaRPr>
          </a:p>
        </p:txBody>
      </p:sp>
      <p:sp>
        <p:nvSpPr>
          <p:cNvPr id="69663" name="Rectangle 31"/>
          <p:cNvSpPr>
            <a:spLocks noChangeArrowheads="1"/>
          </p:cNvSpPr>
          <p:nvPr/>
        </p:nvSpPr>
        <p:spPr bwMode="auto">
          <a:xfrm>
            <a:off x="214313" y="3214688"/>
            <a:ext cx="5257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由于是对称循环变应力，故应力幅即为最大应力。弧线 </a:t>
            </a:r>
            <a:r>
              <a:rPr lang="en-US" altLang="zh-CN" sz="2000" i="1" dirty="0">
                <a:solidFill>
                  <a:srgbClr val="000099"/>
                </a:solidFill>
                <a:latin typeface="Times New Roman" panose="02020603050405020304" pitchFamily="18" charset="0"/>
              </a:rPr>
              <a:t>AM</a:t>
            </a:r>
            <a:r>
              <a:rPr lang="en-US" altLang="zh-CN" sz="2000" i="1"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solidFill>
                  <a:srgbClr val="000099"/>
                </a:solidFill>
                <a:latin typeface="Times New Roman" panose="02020603050405020304" pitchFamily="18" charset="0"/>
              </a:rPr>
              <a:t>B </a:t>
            </a:r>
            <a:r>
              <a:rPr lang="zh-CN" altLang="en-US" sz="2000" dirty="0">
                <a:solidFill>
                  <a:srgbClr val="000099"/>
                </a:solidFill>
                <a:latin typeface="华文中宋" panose="02010600040101010101" pitchFamily="2" charset="-122"/>
              </a:rPr>
              <a:t>上任何一个点即代表一对极限应力</a:t>
            </a:r>
            <a:r>
              <a:rPr lang="en-US" altLang="zh-CN" sz="2000" i="1" dirty="0" err="1">
                <a:solidFill>
                  <a:srgbClr val="000099"/>
                </a:solidFill>
                <a:latin typeface="Times New Roman" panose="02020603050405020304" pitchFamily="18" charset="0"/>
              </a:rPr>
              <a:t>σ</a:t>
            </a:r>
            <a:r>
              <a:rPr lang="en-US" altLang="zh-CN" sz="2000" baseline="-25000" dirty="0" err="1">
                <a:solidFill>
                  <a:srgbClr val="000099"/>
                </a:solidFill>
                <a:latin typeface="Times New Roman" panose="02020603050405020304" pitchFamily="18" charset="0"/>
              </a:rPr>
              <a:t>a</a:t>
            </a:r>
            <a:r>
              <a:rPr lang="en-US" altLang="zh-CN"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及</a:t>
            </a:r>
            <a:r>
              <a:rPr lang="en-US" altLang="zh-CN" sz="2000" i="1" dirty="0" err="1">
                <a:solidFill>
                  <a:srgbClr val="000099"/>
                </a:solidFill>
                <a:latin typeface="Times New Roman" panose="02020603050405020304" pitchFamily="18" charset="0"/>
              </a:rPr>
              <a:t>τ</a:t>
            </a:r>
            <a:r>
              <a:rPr lang="en-US" altLang="zh-CN" sz="2000" baseline="-25000" dirty="0" err="1">
                <a:solidFill>
                  <a:srgbClr val="000099"/>
                </a:solidFill>
                <a:latin typeface="Times New Roman" panose="02020603050405020304" pitchFamily="18" charset="0"/>
              </a:rPr>
              <a:t>a</a:t>
            </a:r>
            <a:r>
              <a:rPr lang="en-US" altLang="zh-CN" sz="2000"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p:txBody>
      </p:sp>
      <p:grpSp>
        <p:nvGrpSpPr>
          <p:cNvPr id="3" name="Group 47"/>
          <p:cNvGrpSpPr/>
          <p:nvPr/>
        </p:nvGrpSpPr>
        <p:grpSpPr bwMode="auto">
          <a:xfrm>
            <a:off x="207250" y="5043835"/>
            <a:ext cx="4397375" cy="733425"/>
            <a:chOff x="495" y="3195"/>
            <a:chExt cx="2770" cy="462"/>
          </a:xfrm>
          <a:solidFill>
            <a:srgbClr val="FFC000"/>
          </a:solidFill>
        </p:grpSpPr>
        <p:sp>
          <p:nvSpPr>
            <p:cNvPr id="8213" name="Text Box 40"/>
            <p:cNvSpPr txBox="1">
              <a:spLocks noChangeArrowheads="1"/>
            </p:cNvSpPr>
            <p:nvPr/>
          </p:nvSpPr>
          <p:spPr bwMode="auto">
            <a:xfrm>
              <a:off x="495" y="3285"/>
              <a:ext cx="1245" cy="2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FF0000"/>
                  </a:solidFill>
                </a:rPr>
                <a:t>计算安全系数：</a:t>
              </a:r>
              <a:endParaRPr lang="zh-CN" altLang="en-US" sz="2000" dirty="0">
                <a:solidFill>
                  <a:srgbClr val="FF0000"/>
                </a:solidFill>
              </a:endParaRPr>
            </a:p>
          </p:txBody>
        </p:sp>
        <p:graphicFrame>
          <p:nvGraphicFramePr>
            <p:cNvPr id="8196" name="Object 41"/>
            <p:cNvGraphicFramePr/>
            <p:nvPr/>
          </p:nvGraphicFramePr>
          <p:xfrm>
            <a:off x="1771" y="3195"/>
            <a:ext cx="1494" cy="462"/>
          </p:xfrm>
          <a:graphic>
            <a:graphicData uri="http://schemas.openxmlformats.org/presentationml/2006/ole">
              <mc:AlternateContent xmlns:mc="http://schemas.openxmlformats.org/markup-compatibility/2006">
                <mc:Choice xmlns:v="urn:schemas-microsoft-com:vml" Requires="v">
                  <p:oleObj spid="_x0000_s4" name="Equation" r:id="rId3" imgW="1308100" imgH="427990" progId="Equation.3">
                    <p:embed/>
                  </p:oleObj>
                </mc:Choice>
                <mc:Fallback>
                  <p:oleObj name="Equation" r:id="rId3" imgW="1308100" imgH="427990" progId="Equation.3">
                    <p:embed/>
                    <p:pic>
                      <p:nvPicPr>
                        <p:cNvPr id="0" name="Picture 7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1" y="3195"/>
                          <a:ext cx="1494" cy="462"/>
                        </a:xfrm>
                        <a:prstGeom prst="rect">
                          <a:avLst/>
                        </a:prstGeom>
                        <a:solidFill>
                          <a:srgbClr val="FFC000"/>
                        </a:solidFill>
                      </p:spPr>
                    </p:pic>
                  </p:oleObj>
                </mc:Fallback>
              </mc:AlternateContent>
            </a:graphicData>
          </a:graphic>
        </p:graphicFrame>
      </p:grpSp>
      <p:pic>
        <p:nvPicPr>
          <p:cNvPr id="33796"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29935" y="1456690"/>
            <a:ext cx="2955925" cy="2688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23"/>
          <p:cNvSpPr txBox="1">
            <a:spLocks noChangeArrowheads="1"/>
          </p:cNvSpPr>
          <p:nvPr/>
        </p:nvSpPr>
        <p:spPr bwMode="auto">
          <a:xfrm>
            <a:off x="357188" y="5715000"/>
            <a:ext cx="659447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当零件上所承受的两个变应力均为不对称循环的变应力时</a:t>
            </a:r>
            <a:endParaRPr lang="zh-CN" altLang="en-US" sz="2000" dirty="0">
              <a:solidFill>
                <a:srgbClr val="000099"/>
              </a:solidFill>
            </a:endParaRPr>
          </a:p>
        </p:txBody>
      </p:sp>
      <p:sp>
        <p:nvSpPr>
          <p:cNvPr id="8210"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33797" name="Object 5"/>
          <p:cNvGraphicFramePr>
            <a:graphicFrameLocks noChangeAspect="1"/>
          </p:cNvGraphicFramePr>
          <p:nvPr/>
        </p:nvGraphicFramePr>
        <p:xfrm>
          <a:off x="1287000" y="6000750"/>
          <a:ext cx="4908550" cy="857250"/>
        </p:xfrm>
        <a:graphic>
          <a:graphicData uri="http://schemas.openxmlformats.org/presentationml/2006/ole">
            <mc:AlternateContent xmlns:mc="http://schemas.openxmlformats.org/markup-compatibility/2006">
              <mc:Choice xmlns:v="urn:schemas-microsoft-com:vml" Requires="v">
                <p:oleObj spid="_x0000_s5" name="公式" r:id="rId6" imgW="2451100" imgH="431800" progId="Equation.3">
                  <p:embed/>
                </p:oleObj>
              </mc:Choice>
              <mc:Fallback>
                <p:oleObj name="公式" r:id="rId6" imgW="2451100" imgH="431800" progId="Equation.3">
                  <p:embed/>
                  <p:pic>
                    <p:nvPicPr>
                      <p:cNvPr id="0" name="Picture 7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7000" y="6000750"/>
                        <a:ext cx="4908550"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47"/>
          <p:cNvGrpSpPr/>
          <p:nvPr/>
        </p:nvGrpSpPr>
        <p:grpSpPr bwMode="auto">
          <a:xfrm>
            <a:off x="5139295" y="5007322"/>
            <a:ext cx="3646488" cy="806450"/>
            <a:chOff x="495" y="3172"/>
            <a:chExt cx="2297" cy="508"/>
          </a:xfrm>
          <a:solidFill>
            <a:srgbClr val="FFC000"/>
          </a:solidFill>
        </p:grpSpPr>
        <p:sp>
          <p:nvSpPr>
            <p:cNvPr id="7" name="Text Box 40"/>
            <p:cNvSpPr txBox="1">
              <a:spLocks noChangeArrowheads="1"/>
            </p:cNvSpPr>
            <p:nvPr/>
          </p:nvSpPr>
          <p:spPr bwMode="auto">
            <a:xfrm>
              <a:off x="495" y="3285"/>
              <a:ext cx="913" cy="25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FF0000"/>
                  </a:solidFill>
                </a:rPr>
                <a:t>强度条件：</a:t>
              </a:r>
              <a:endParaRPr lang="zh-CN" altLang="en-US" sz="2000" dirty="0">
                <a:solidFill>
                  <a:srgbClr val="FF0000"/>
                </a:solidFill>
              </a:endParaRPr>
            </a:p>
          </p:txBody>
        </p:sp>
        <p:graphicFrame>
          <p:nvGraphicFramePr>
            <p:cNvPr id="8" name="Object 41"/>
            <p:cNvGraphicFramePr/>
            <p:nvPr/>
          </p:nvGraphicFramePr>
          <p:xfrm>
            <a:off x="1327" y="3172"/>
            <a:ext cx="1465" cy="508"/>
          </p:xfrm>
          <a:graphic>
            <a:graphicData uri="http://schemas.openxmlformats.org/presentationml/2006/ole">
              <mc:AlternateContent xmlns:mc="http://schemas.openxmlformats.org/markup-compatibility/2006">
                <mc:Choice xmlns:v="urn:schemas-microsoft-com:vml" Requires="v">
                  <p:oleObj spid="_x0000_s9" name="Equation" r:id="rId8" imgW="1282700" imgH="469900" progId="Equation.3">
                    <p:embed/>
                  </p:oleObj>
                </mc:Choice>
                <mc:Fallback>
                  <p:oleObj name="Equation" r:id="rId8" imgW="1282700" imgH="469900" progId="Equation.3">
                    <p:embed/>
                    <p:pic>
                      <p:nvPicPr>
                        <p:cNvPr id="0" name="Picture 71"/>
                        <p:cNvPicPr>
                          <a:picLocks noChangeArrowheads="1"/>
                        </p:cNvPicPr>
                        <p:nvPr/>
                      </p:nvPicPr>
                      <p:blipFill>
                        <a:blip r:embed="rId9"/>
                        <a:srcRect/>
                        <a:stretch>
                          <a:fillRect/>
                        </a:stretch>
                      </p:blipFill>
                      <p:spPr bwMode="auto">
                        <a:xfrm>
                          <a:off x="1327" y="3172"/>
                          <a:ext cx="1465" cy="508"/>
                        </a:xfrm>
                        <a:prstGeom prst="rect">
                          <a:avLst/>
                        </a:prstGeom>
                        <a:solidFill>
                          <a:srgbClr val="FFC000"/>
                        </a:solidFill>
                      </p:spPr>
                    </p:pic>
                  </p:oleObj>
                </mc:Fallback>
              </mc:AlternateContent>
            </a:graphicData>
          </a:graphic>
        </p:graphicFrame>
      </p:grpSp>
      <p:sp>
        <p:nvSpPr>
          <p:cNvPr id="13329"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9655"/>
                                        </p:tgtEl>
                                        <p:attrNameLst>
                                          <p:attrName>style.visibility</p:attrName>
                                        </p:attrNameLst>
                                      </p:cBhvr>
                                      <p:to>
                                        <p:strVal val="visible"/>
                                      </p:to>
                                    </p:set>
                                    <p:animEffect transition="in" filter="wipe(left)">
                                      <p:cBhvr>
                                        <p:cTn id="7" dur="500"/>
                                        <p:tgtEl>
                                          <p:spTgt spid="6965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69656"/>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33796"/>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499"/>
                                          </p:stCondLst>
                                        </p:cTn>
                                        <p:tgtEl>
                                          <p:spTgt spid="6965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9658"/>
                                        </p:tgtEl>
                                        <p:attrNameLst>
                                          <p:attrName>style.visibility</p:attrName>
                                        </p:attrNameLst>
                                      </p:cBhvr>
                                      <p:to>
                                        <p:strVal val="visible"/>
                                      </p:to>
                                    </p:set>
                                    <p:animEffect transition="in" filter="wipe(left)">
                                      <p:cBhvr>
                                        <p:cTn id="22" dur="500"/>
                                        <p:tgtEl>
                                          <p:spTgt spid="696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9663"/>
                                        </p:tgtEl>
                                        <p:attrNameLst>
                                          <p:attrName>style.visibility</p:attrName>
                                        </p:attrNameLst>
                                      </p:cBhvr>
                                      <p:to>
                                        <p:strVal val="visible"/>
                                      </p:to>
                                    </p:set>
                                    <p:animEffect transition="in" filter="wipe(left)">
                                      <p:cBhvr>
                                        <p:cTn id="27" dur="500"/>
                                        <p:tgtEl>
                                          <p:spTgt spid="696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9662"/>
                                        </p:tgtEl>
                                        <p:attrNameLst>
                                          <p:attrName>style.visibility</p:attrName>
                                        </p:attrNameLst>
                                      </p:cBhvr>
                                      <p:to>
                                        <p:strVal val="visible"/>
                                      </p:to>
                                    </p:set>
                                    <p:animEffect transition="in" filter="wipe(left)">
                                      <p:cBhvr>
                                        <p:cTn id="32" dur="500"/>
                                        <p:tgtEl>
                                          <p:spTgt spid="69662"/>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slide(fromBottom)">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nodeType="afterEffect">
                                  <p:stCondLst>
                                    <p:cond delay="0"/>
                                  </p:stCondLst>
                                  <p:childTnLst>
                                    <p:set>
                                      <p:cBhvr>
                                        <p:cTn id="49" dur="1" fill="hold">
                                          <p:stCondLst>
                                            <p:cond delay="0"/>
                                          </p:stCondLst>
                                        </p:cTn>
                                        <p:tgtEl>
                                          <p:spTgt spid="337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55" grpId="0" autoUpdateAnimBg="0"/>
      <p:bldP spid="69656" grpId="0" autoUpdateAnimBg="0"/>
      <p:bldP spid="69658" grpId="0" autoUpdateAnimBg="0"/>
      <p:bldP spid="69662" grpId="0" autoUpdateAnimBg="0"/>
      <p:bldP spid="69663" grpId="0" autoUpdateAnimBg="0"/>
      <p:bldP spid="2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63105" y="3008215"/>
            <a:ext cx="7947000" cy="2491283"/>
          </a:xfrm>
          <a:prstGeom prst="rect">
            <a:avLst/>
          </a:prstGeom>
        </p:spPr>
      </p:pic>
      <p:sp>
        <p:nvSpPr>
          <p:cNvPr id="5" name="Rectangle 21"/>
          <p:cNvSpPr>
            <a:spLocks noChangeArrowheads="1"/>
          </p:cNvSpPr>
          <p:nvPr/>
        </p:nvSpPr>
        <p:spPr bwMode="auto">
          <a:xfrm>
            <a:off x="3852000" y="234000"/>
            <a:ext cx="4770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1.3-5 </a:t>
            </a:r>
            <a:r>
              <a:rPr lang="zh-CN" altLang="en-US" sz="3000" dirty="0">
                <a:solidFill>
                  <a:srgbClr val="CC3300"/>
                </a:solidFill>
                <a:latin typeface="黑体" panose="02010609060101010101" pitchFamily="49" charset="-122"/>
                <a:ea typeface="黑体" panose="02010609060101010101" pitchFamily="49" charset="-122"/>
              </a:rPr>
              <a:t>机械零件的接触强度</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6"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 name="文本框 6"/>
          <p:cNvSpPr txBox="1"/>
          <p:nvPr/>
        </p:nvSpPr>
        <p:spPr>
          <a:xfrm>
            <a:off x="3578105" y="5753215"/>
            <a:ext cx="2475000" cy="400110"/>
          </a:xfrm>
          <a:prstGeom prst="rect">
            <a:avLst/>
          </a:prstGeom>
          <a:solidFill>
            <a:srgbClr val="FFFF00"/>
          </a:solidFill>
        </p:spPr>
        <p:txBody>
          <a:bodyPr wrap="square" rtlCol="0">
            <a:spAutoFit/>
          </a:bodyPr>
          <a:lstStyle/>
          <a:p>
            <a:r>
              <a:rPr lang="zh-CN" altLang="en-US" sz="2000" dirty="0">
                <a:latin typeface="黑体" panose="02010609060101010101" pitchFamily="49" charset="-122"/>
                <a:ea typeface="黑体" panose="02010609060101010101" pitchFamily="49" charset="-122"/>
              </a:rPr>
              <a:t>几种曲面接触情况</a:t>
            </a:r>
            <a:endParaRPr lang="zh-CN" altLang="en-US" sz="2000" dirty="0">
              <a:latin typeface="黑体" panose="02010609060101010101" pitchFamily="49" charset="-122"/>
              <a:ea typeface="黑体" panose="02010609060101010101" pitchFamily="49" charset="-122"/>
            </a:endParaRPr>
          </a:p>
        </p:txBody>
      </p:sp>
      <p:sp>
        <p:nvSpPr>
          <p:cNvPr id="9" name="圆角矩形 8"/>
          <p:cNvSpPr/>
          <p:nvPr/>
        </p:nvSpPr>
        <p:spPr bwMode="auto">
          <a:xfrm>
            <a:off x="2948105" y="2648215"/>
            <a:ext cx="1035000" cy="630000"/>
          </a:xfrm>
          <a:prstGeom prst="roundRect">
            <a:avLst/>
          </a:prstGeom>
          <a:solidFill>
            <a:srgbClr val="00B0F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线接触</a:t>
            </a:r>
            <a:endPar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10" name="圆角矩形 9"/>
          <p:cNvSpPr/>
          <p:nvPr/>
        </p:nvSpPr>
        <p:spPr bwMode="auto">
          <a:xfrm>
            <a:off x="6458105" y="2648215"/>
            <a:ext cx="1035000" cy="630000"/>
          </a:xfrm>
          <a:prstGeom prst="roundRect">
            <a:avLst/>
          </a:prstGeom>
          <a:solidFill>
            <a:srgbClr val="00B0F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点接触</a:t>
            </a:r>
            <a:endPar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cxnSp>
        <p:nvCxnSpPr>
          <p:cNvPr id="12" name="直接箭头连接符 11"/>
          <p:cNvCxnSpPr/>
          <p:nvPr/>
        </p:nvCxnSpPr>
        <p:spPr bwMode="auto">
          <a:xfrm flipV="1">
            <a:off x="2453105" y="3233215"/>
            <a:ext cx="720000" cy="405000"/>
          </a:xfrm>
          <a:prstGeom prst="straightConnector1">
            <a:avLst/>
          </a:prstGeom>
          <a:noFill/>
          <a:ln w="19050" cap="flat" cmpd="sng" algn="ctr">
            <a:solidFill>
              <a:srgbClr val="0000FF"/>
            </a:solidFill>
            <a:prstDash val="solid"/>
            <a:round/>
            <a:headEnd type="triangle" w="med" len="med"/>
            <a:tailEnd type="none" w="med" len="med"/>
          </a:ln>
          <a:effectLst/>
        </p:spPr>
      </p:cxnSp>
      <p:cxnSp>
        <p:nvCxnSpPr>
          <p:cNvPr id="13" name="直接箭头连接符 12"/>
          <p:cNvCxnSpPr/>
          <p:nvPr/>
        </p:nvCxnSpPr>
        <p:spPr bwMode="auto">
          <a:xfrm flipH="1" flipV="1">
            <a:off x="3758105" y="3233215"/>
            <a:ext cx="360000" cy="1035000"/>
          </a:xfrm>
          <a:prstGeom prst="straightConnector1">
            <a:avLst/>
          </a:prstGeom>
          <a:noFill/>
          <a:ln w="19050" cap="flat" cmpd="sng" algn="ctr">
            <a:solidFill>
              <a:srgbClr val="0000FF"/>
            </a:solidFill>
            <a:prstDash val="solid"/>
            <a:round/>
            <a:headEnd type="triangle" w="med" len="med"/>
            <a:tailEnd type="none" w="med" len="med"/>
          </a:ln>
          <a:effectLst/>
        </p:spPr>
      </p:cxnSp>
      <p:cxnSp>
        <p:nvCxnSpPr>
          <p:cNvPr id="15" name="直接箭头连接符 14"/>
          <p:cNvCxnSpPr/>
          <p:nvPr/>
        </p:nvCxnSpPr>
        <p:spPr bwMode="auto">
          <a:xfrm flipH="1" flipV="1">
            <a:off x="7268105" y="3188215"/>
            <a:ext cx="450000" cy="1080000"/>
          </a:xfrm>
          <a:prstGeom prst="straightConnector1">
            <a:avLst/>
          </a:prstGeom>
          <a:noFill/>
          <a:ln w="19050" cap="flat" cmpd="sng" algn="ctr">
            <a:solidFill>
              <a:srgbClr val="0000FF"/>
            </a:solidFill>
            <a:prstDash val="solid"/>
            <a:round/>
            <a:headEnd type="triangle" w="med" len="med"/>
            <a:tailEnd type="none" w="med" len="med"/>
          </a:ln>
          <a:effectLst/>
        </p:spPr>
      </p:cxnSp>
      <p:cxnSp>
        <p:nvCxnSpPr>
          <p:cNvPr id="17" name="直接箭头连接符 16"/>
          <p:cNvCxnSpPr/>
          <p:nvPr/>
        </p:nvCxnSpPr>
        <p:spPr bwMode="auto">
          <a:xfrm flipV="1">
            <a:off x="6278105" y="3278215"/>
            <a:ext cx="405000" cy="540000"/>
          </a:xfrm>
          <a:prstGeom prst="straightConnector1">
            <a:avLst/>
          </a:prstGeom>
          <a:noFill/>
          <a:ln w="19050" cap="flat" cmpd="sng" algn="ctr">
            <a:solidFill>
              <a:srgbClr val="0000FF"/>
            </a:solidFill>
            <a:prstDash val="solid"/>
            <a:round/>
            <a:headEnd type="triangle" w="med" len="med"/>
            <a:tailEnd type="none" w="med" len="med"/>
          </a:ln>
          <a:effectLst/>
        </p:spPr>
      </p:cxnSp>
      <p:sp>
        <p:nvSpPr>
          <p:cNvPr id="19" name="圆角矩形 18"/>
          <p:cNvSpPr/>
          <p:nvPr/>
        </p:nvSpPr>
        <p:spPr bwMode="auto">
          <a:xfrm>
            <a:off x="1958105" y="5618215"/>
            <a:ext cx="1035000" cy="630000"/>
          </a:xfrm>
          <a:prstGeom prst="roundRect">
            <a:avLst/>
          </a:prstGeom>
          <a:solidFill>
            <a:srgbClr val="92D05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外接触</a:t>
            </a:r>
            <a:endPar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20" name="圆角矩形 19"/>
          <p:cNvSpPr/>
          <p:nvPr/>
        </p:nvSpPr>
        <p:spPr bwMode="auto">
          <a:xfrm>
            <a:off x="6458105" y="5573215"/>
            <a:ext cx="1035000" cy="630000"/>
          </a:xfrm>
          <a:prstGeom prst="roundRect">
            <a:avLst/>
          </a:prstGeom>
          <a:solidFill>
            <a:srgbClr val="92D05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内接触</a:t>
            </a:r>
            <a:endParaRPr kumimoji="1"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cxnSp>
        <p:nvCxnSpPr>
          <p:cNvPr id="21" name="直接箭头连接符 20"/>
          <p:cNvCxnSpPr/>
          <p:nvPr/>
        </p:nvCxnSpPr>
        <p:spPr bwMode="auto">
          <a:xfrm>
            <a:off x="1958105" y="4673215"/>
            <a:ext cx="270000" cy="900000"/>
          </a:xfrm>
          <a:prstGeom prst="straightConnector1">
            <a:avLst/>
          </a:prstGeom>
          <a:noFill/>
          <a:ln w="19050" cap="flat" cmpd="sng" algn="ctr">
            <a:solidFill>
              <a:srgbClr val="00B050"/>
            </a:solidFill>
            <a:prstDash val="solid"/>
            <a:round/>
            <a:headEnd type="triangle" w="med" len="med"/>
            <a:tailEnd type="none" w="med" len="med"/>
          </a:ln>
          <a:effectLst/>
        </p:spPr>
      </p:cxnSp>
      <p:cxnSp>
        <p:nvCxnSpPr>
          <p:cNvPr id="26" name="直接箭头连接符 25"/>
          <p:cNvCxnSpPr/>
          <p:nvPr/>
        </p:nvCxnSpPr>
        <p:spPr bwMode="auto">
          <a:xfrm flipH="1">
            <a:off x="2543105" y="4718215"/>
            <a:ext cx="3105000" cy="900000"/>
          </a:xfrm>
          <a:prstGeom prst="straightConnector1">
            <a:avLst/>
          </a:prstGeom>
          <a:noFill/>
          <a:ln w="19050" cap="flat" cmpd="sng" algn="ctr">
            <a:solidFill>
              <a:srgbClr val="00B050"/>
            </a:solidFill>
            <a:prstDash val="solid"/>
            <a:round/>
            <a:headEnd type="triangle" w="med" len="med"/>
            <a:tailEnd type="none" w="med" len="med"/>
          </a:ln>
          <a:effectLst/>
        </p:spPr>
      </p:cxnSp>
      <p:cxnSp>
        <p:nvCxnSpPr>
          <p:cNvPr id="28" name="直接箭头连接符 27"/>
          <p:cNvCxnSpPr/>
          <p:nvPr/>
        </p:nvCxnSpPr>
        <p:spPr bwMode="auto">
          <a:xfrm>
            <a:off x="4388105" y="4673215"/>
            <a:ext cx="2250000" cy="810000"/>
          </a:xfrm>
          <a:prstGeom prst="straightConnector1">
            <a:avLst/>
          </a:prstGeom>
          <a:noFill/>
          <a:ln w="19050" cap="flat" cmpd="sng" algn="ctr">
            <a:solidFill>
              <a:srgbClr val="00B050"/>
            </a:solidFill>
            <a:prstDash val="solid"/>
            <a:round/>
            <a:headEnd type="triangle" w="med" len="med"/>
            <a:tailEnd type="none" w="med" len="med"/>
          </a:ln>
          <a:effectLst/>
        </p:spPr>
      </p:cxnSp>
      <p:cxnSp>
        <p:nvCxnSpPr>
          <p:cNvPr id="31" name="直接箭头连接符 30"/>
          <p:cNvCxnSpPr/>
          <p:nvPr/>
        </p:nvCxnSpPr>
        <p:spPr bwMode="auto">
          <a:xfrm flipH="1">
            <a:off x="6908105" y="4673215"/>
            <a:ext cx="720000" cy="900000"/>
          </a:xfrm>
          <a:prstGeom prst="straightConnector1">
            <a:avLst/>
          </a:prstGeom>
          <a:noFill/>
          <a:ln w="19050" cap="flat" cmpd="sng" algn="ctr">
            <a:solidFill>
              <a:srgbClr val="00B050"/>
            </a:solidFill>
            <a:prstDash val="solid"/>
            <a:round/>
            <a:headEnd type="triangle" w="med" len="med"/>
            <a:tailEnd type="none" w="med" len="med"/>
          </a:ln>
          <a:effectLst/>
        </p:spPr>
      </p:cxnSp>
      <p:sp>
        <p:nvSpPr>
          <p:cNvPr id="35" name="文本框 34"/>
          <p:cNvSpPr txBox="1"/>
          <p:nvPr/>
        </p:nvSpPr>
        <p:spPr>
          <a:xfrm>
            <a:off x="207000" y="1044000"/>
            <a:ext cx="3600000" cy="461665"/>
          </a:xfrm>
          <a:prstGeom prst="rect">
            <a:avLst/>
          </a:prstGeom>
          <a:noFill/>
        </p:spPr>
        <p:txBody>
          <a:bodyPr wrap="square" rtlCol="0">
            <a:spAutoFit/>
          </a:bodyPr>
          <a:lstStyle/>
          <a:p>
            <a:r>
              <a:rPr lang="zh-CN" altLang="en-US" sz="2400" dirty="0">
                <a:solidFill>
                  <a:srgbClr val="FF0000"/>
                </a:solidFill>
                <a:latin typeface="黑体" panose="02010609060101010101" pitchFamily="49" charset="-122"/>
                <a:ea typeface="黑体" panose="02010609060101010101" pitchFamily="49" charset="-122"/>
              </a:rPr>
              <a:t>一、异形面接触分类</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2" name="文本框 1"/>
          <p:cNvSpPr txBox="1"/>
          <p:nvPr/>
        </p:nvSpPr>
        <p:spPr>
          <a:xfrm>
            <a:off x="3503295" y="889635"/>
            <a:ext cx="5243830" cy="768350"/>
          </a:xfrm>
          <a:prstGeom prst="rect">
            <a:avLst/>
          </a:prstGeom>
          <a:noFill/>
        </p:spPr>
        <p:txBody>
          <a:bodyPr wrap="square" rtlCol="0">
            <a:spAutoFit/>
          </a:bodyPr>
          <a:p>
            <a:r>
              <a:rPr lang="zh-CN" altLang="en-US"/>
              <a:t>共形面接触：两相互接触面的几何形态完全相同，处处贴合如平面与平面相接触。</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par>
                                <p:cTn id="13" presetID="22" presetClass="entr" presetSubtype="4"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down)">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down)">
                                      <p:cBhvr>
                                        <p:cTn id="23" dur="500"/>
                                        <p:tgtEl>
                                          <p:spTgt spid="17"/>
                                        </p:tgtEl>
                                      </p:cBhvr>
                                    </p:animEffect>
                                  </p:childTnLst>
                                </p:cTn>
                              </p:par>
                              <p:par>
                                <p:cTn id="24" presetID="22" presetClass="entr" presetSubtype="4"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down)">
                                      <p:cBhvr>
                                        <p:cTn id="26" dur="500"/>
                                        <p:tgtEl>
                                          <p:spTgt spid="15"/>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down)">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up)">
                                      <p:cBhvr>
                                        <p:cTn id="34" dur="500"/>
                                        <p:tgtEl>
                                          <p:spTgt spid="21"/>
                                        </p:tgtEl>
                                      </p:cBhvr>
                                    </p:animEffect>
                                  </p:childTnLst>
                                </p:cTn>
                              </p:par>
                              <p:par>
                                <p:cTn id="35" presetID="22" presetClass="entr" presetSubtype="1"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up)">
                                      <p:cBhvr>
                                        <p:cTn id="37" dur="500"/>
                                        <p:tgtEl>
                                          <p:spTgt spid="26"/>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up)">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wipe(up)">
                                      <p:cBhvr>
                                        <p:cTn id="45" dur="500"/>
                                        <p:tgtEl>
                                          <p:spTgt spid="31"/>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up)">
                                      <p:cBhvr>
                                        <p:cTn id="48" dur="500"/>
                                        <p:tgtEl>
                                          <p:spTgt spid="20"/>
                                        </p:tgtEl>
                                      </p:cBhvr>
                                    </p:animEffect>
                                  </p:childTnLst>
                                </p:cTn>
                              </p:par>
                              <p:par>
                                <p:cTn id="49" presetID="22" presetClass="entr" presetSubtype="1"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up)">
                                      <p:cBhvr>
                                        <p:cTn id="5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9" grpId="0" bldLvl="0" animBg="1"/>
      <p:bldP spid="20"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bwMode="auto">
          <a:xfrm>
            <a:off x="5052060" y="765175"/>
            <a:ext cx="1905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a:solidFill>
                  <a:schemeClr val="bg1"/>
                </a:solidFill>
                <a:latin typeface="华文新魏" panose="02010800040101010101" pitchFamily="2" charset="-122"/>
                <a:ea typeface="华文新魏" panose="02010800040101010101" pitchFamily="2" charset="-122"/>
              </a:rPr>
              <a:t>机械零件的疲劳强度计算</a:t>
            </a:r>
            <a:r>
              <a:rPr lang="en-US" altLang="zh-CN" sz="800">
                <a:solidFill>
                  <a:schemeClr val="bg1"/>
                </a:solidFill>
                <a:latin typeface="华文新魏" panose="02010800040101010101" pitchFamily="2" charset="-122"/>
                <a:ea typeface="华文新魏" panose="02010800040101010101" pitchFamily="2" charset="-122"/>
              </a:rPr>
              <a:t>1</a:t>
            </a:r>
            <a:endParaRPr lang="en-US" altLang="zh-CN" sz="800">
              <a:solidFill>
                <a:schemeClr val="bg1"/>
              </a:solidFill>
              <a:latin typeface="华文新魏" panose="02010800040101010101" pitchFamily="2" charset="-122"/>
              <a:ea typeface="华文新魏" panose="02010800040101010101" pitchFamily="2" charset="-122"/>
            </a:endParaRPr>
          </a:p>
        </p:txBody>
      </p:sp>
      <p:sp>
        <p:nvSpPr>
          <p:cNvPr id="67601" name="Rectangle 17"/>
          <p:cNvSpPr>
            <a:spLocks noChangeArrowheads="1"/>
          </p:cNvSpPr>
          <p:nvPr/>
        </p:nvSpPr>
        <p:spPr bwMode="auto">
          <a:xfrm>
            <a:off x="387000" y="1464790"/>
            <a:ext cx="8534400" cy="907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rPr>
              <a:t>        </a:t>
            </a:r>
            <a:r>
              <a:rPr lang="zh-CN" altLang="en-US" dirty="0">
                <a:solidFill>
                  <a:srgbClr val="000099"/>
                </a:solidFill>
                <a:latin typeface="黑体" panose="02010609060101010101" pitchFamily="49" charset="-122"/>
                <a:ea typeface="黑体" panose="02010609060101010101" pitchFamily="49" charset="-122"/>
              </a:rPr>
              <a:t>两零件在接触面上沿接触宽度不同点处材料发生的弹性位移量在连心线方向上不相同，接触表面上所承受的压应力也各处不同。</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4111" name="Rectangle 18"/>
          <p:cNvSpPr>
            <a:spLocks noChangeArrowheads="1"/>
          </p:cNvSpPr>
          <p:nvPr/>
        </p:nvSpPr>
        <p:spPr bwMode="auto">
          <a:xfrm>
            <a:off x="304800" y="1939927"/>
            <a:ext cx="8458200" cy="43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rPr>
              <a:t>       </a:t>
            </a:r>
            <a:endParaRPr lang="zh-CN" altLang="en-US" sz="2000" dirty="0">
              <a:solidFill>
                <a:srgbClr val="000099"/>
              </a:solidFill>
              <a:latin typeface="Times New Roman" panose="02020603050405020304" pitchFamily="18" charset="0"/>
            </a:endParaRPr>
          </a:p>
        </p:txBody>
      </p:sp>
      <p:sp>
        <p:nvSpPr>
          <p:cNvPr id="67604" name="Rectangle 20"/>
          <p:cNvSpPr>
            <a:spLocks noChangeArrowheads="1"/>
          </p:cNvSpPr>
          <p:nvPr/>
        </p:nvSpPr>
        <p:spPr bwMode="auto">
          <a:xfrm>
            <a:off x="972000" y="2349000"/>
            <a:ext cx="5535000"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000099"/>
                </a:solidFill>
                <a:latin typeface="黑体" panose="02010609060101010101" pitchFamily="49" charset="-122"/>
                <a:ea typeface="黑体" panose="02010609060101010101" pitchFamily="49" charset="-122"/>
              </a:rPr>
              <a:t>最大压应力称为接触应力。</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67612" name="Text Box 28"/>
          <p:cNvSpPr txBox="1">
            <a:spLocks noChangeArrowheads="1"/>
          </p:cNvSpPr>
          <p:nvPr/>
        </p:nvSpPr>
        <p:spPr bwMode="auto">
          <a:xfrm>
            <a:off x="6538913" y="6234113"/>
            <a:ext cx="2682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6" name="Rectangle 21"/>
          <p:cNvSpPr>
            <a:spLocks noChangeArrowheads="1"/>
          </p:cNvSpPr>
          <p:nvPr/>
        </p:nvSpPr>
        <p:spPr bwMode="auto">
          <a:xfrm>
            <a:off x="3852000" y="234000"/>
            <a:ext cx="4770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1.3-5 </a:t>
            </a:r>
            <a:r>
              <a:rPr lang="zh-CN" altLang="en-US" sz="3000" dirty="0">
                <a:solidFill>
                  <a:srgbClr val="CC3300"/>
                </a:solidFill>
                <a:latin typeface="黑体" panose="02010609060101010101" pitchFamily="49" charset="-122"/>
                <a:ea typeface="黑体" panose="02010609060101010101" pitchFamily="49" charset="-122"/>
              </a:rPr>
              <a:t>机械零件的接触强度</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7" name="直接连接符 6"/>
          <p:cNvSpPr>
            <a:spLocks noChangeShapeType="1"/>
          </p:cNvSpPr>
          <p:nvPr/>
        </p:nvSpPr>
        <p:spPr bwMode="auto">
          <a:xfrm>
            <a:off x="0" y="765175"/>
            <a:ext cx="9144000" cy="0"/>
          </a:xfrm>
          <a:prstGeom prst="line">
            <a:avLst/>
          </a:prstGeom>
          <a:noFill/>
          <a:ln w="28575">
            <a:solidFill>
              <a:srgbClr val="EB6623"/>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文本框 2"/>
          <p:cNvSpPr txBox="1"/>
          <p:nvPr/>
        </p:nvSpPr>
        <p:spPr>
          <a:xfrm>
            <a:off x="297000" y="864000"/>
            <a:ext cx="2700000" cy="461665"/>
          </a:xfrm>
          <a:prstGeom prst="rect">
            <a:avLst/>
          </a:prstGeom>
          <a:noFill/>
        </p:spPr>
        <p:txBody>
          <a:bodyPr wrap="square" rtlCol="0">
            <a:spAutoFit/>
          </a:bodyPr>
          <a:lstStyle/>
          <a:p>
            <a:r>
              <a:rPr lang="zh-CN" altLang="en-US" sz="2400" dirty="0">
                <a:solidFill>
                  <a:srgbClr val="FF0000"/>
                </a:solidFill>
                <a:latin typeface="黑体" panose="02010609060101010101" pitchFamily="49" charset="-122"/>
                <a:ea typeface="黑体" panose="02010609060101010101" pitchFamily="49" charset="-122"/>
              </a:rPr>
              <a:t>二、接触应力</a:t>
            </a:r>
            <a:endParaRPr lang="zh-CN" altLang="en-US" sz="2400" dirty="0">
              <a:solidFill>
                <a:srgbClr val="FF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6200000">
            <a:off x="2952927" y="1313074"/>
            <a:ext cx="3418147" cy="6660000"/>
          </a:xfrm>
          <a:prstGeom prst="rect">
            <a:avLst/>
          </a:prstGeom>
        </p:spPr>
      </p:pic>
      <p:sp>
        <p:nvSpPr>
          <p:cNvPr id="4" name="文本框 3"/>
          <p:cNvSpPr txBox="1"/>
          <p:nvPr/>
        </p:nvSpPr>
        <p:spPr>
          <a:xfrm>
            <a:off x="2142000" y="6309000"/>
            <a:ext cx="4815000" cy="400110"/>
          </a:xfrm>
          <a:prstGeom prst="rect">
            <a:avLst/>
          </a:prstGeom>
          <a:noFill/>
        </p:spPr>
        <p:txBody>
          <a:bodyPr wrap="square" rtlCol="0">
            <a:spAutoFit/>
          </a:bodyPr>
          <a:lstStyle/>
          <a:p>
            <a:r>
              <a:rPr lang="zh-CN" altLang="en-US" sz="2000" dirty="0">
                <a:solidFill>
                  <a:srgbClr val="0000FF"/>
                </a:solidFill>
                <a:latin typeface="黑体" panose="02010609060101010101" pitchFamily="49" charset="-122"/>
                <a:ea typeface="黑体" panose="02010609060101010101" pitchFamily="49" charset="-122"/>
              </a:rPr>
              <a:t>两圆柱表面接触受力后的变形与应力分布</a:t>
            </a:r>
            <a:endParaRPr lang="zh-CN" altLang="en-US" sz="2000" dirty="0">
              <a:solidFill>
                <a:srgbClr val="0000FF"/>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601"/>
                                        </p:tgtEl>
                                        <p:attrNameLst>
                                          <p:attrName>style.visibility</p:attrName>
                                        </p:attrNameLst>
                                      </p:cBhvr>
                                      <p:to>
                                        <p:strVal val="visible"/>
                                      </p:to>
                                    </p:set>
                                    <p:animEffect transition="in" filter="wipe(left)">
                                      <p:cBhvr>
                                        <p:cTn id="7" dur="500"/>
                                        <p:tgtEl>
                                          <p:spTgt spid="6760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67604"/>
                                        </p:tgtEl>
                                        <p:attrNameLst>
                                          <p:attrName>style.visibility</p:attrName>
                                        </p:attrNameLst>
                                      </p:cBhvr>
                                      <p:to>
                                        <p:strVal val="visible"/>
                                      </p:to>
                                    </p:set>
                                    <p:animEffect transition="in" filter="barn(outVertical)">
                                      <p:cBhvr>
                                        <p:cTn id="12" dur="500"/>
                                        <p:tgtEl>
                                          <p:spTgt spid="6760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7612"/>
                                        </p:tgtEl>
                                        <p:attrNameLst>
                                          <p:attrName>style.visibility</p:attrName>
                                        </p:attrNameLst>
                                      </p:cBhvr>
                                      <p:to>
                                        <p:strVal val="visible"/>
                                      </p:to>
                                    </p:set>
                                    <p:anim calcmode="lin" valueType="num">
                                      <p:cBhvr additive="base">
                                        <p:cTn id="17" dur="500" fill="hold"/>
                                        <p:tgtEl>
                                          <p:spTgt spid="67612"/>
                                        </p:tgtEl>
                                        <p:attrNameLst>
                                          <p:attrName>ppt_x</p:attrName>
                                        </p:attrNameLst>
                                      </p:cBhvr>
                                      <p:tavLst>
                                        <p:tav tm="0">
                                          <p:val>
                                            <p:strVal val="0-#ppt_w/2"/>
                                          </p:val>
                                        </p:tav>
                                        <p:tav tm="100000">
                                          <p:val>
                                            <p:strVal val="#ppt_x"/>
                                          </p:val>
                                        </p:tav>
                                      </p:tavLst>
                                    </p:anim>
                                    <p:anim calcmode="lin" valueType="num">
                                      <p:cBhvr additive="base">
                                        <p:cTn id="18" dur="500" fill="hold"/>
                                        <p:tgtEl>
                                          <p:spTgt spid="676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01" grpId="0" autoUpdateAnimBg="0"/>
      <p:bldP spid="67604" grpId="0" autoUpdateAnimBg="0"/>
      <p:bldP spid="67612"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657000" y="1944000"/>
          <a:ext cx="3530132" cy="2048015"/>
        </p:xfrm>
        <a:graphic>
          <a:graphicData uri="http://schemas.openxmlformats.org/presentationml/2006/ole">
            <mc:AlternateContent xmlns:mc="http://schemas.openxmlformats.org/markup-compatibility/2006">
              <mc:Choice xmlns:v="urn:schemas-microsoft-com:vml" Requires="v">
                <p:oleObj spid="_x0000_s2" name="公式" r:id="rId1" imgW="1663700" imgH="965200" progId="Equation.KSEE3">
                  <p:embed/>
                </p:oleObj>
              </mc:Choice>
              <mc:Fallback>
                <p:oleObj name="公式" r:id="rId1" imgW="1663700" imgH="965200" progId="Equation.KSEE3">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000" y="1944000"/>
                        <a:ext cx="3530132" cy="20480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702215" y="1044255"/>
            <a:ext cx="4590000" cy="430887"/>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接触应力计算公式：</a:t>
            </a:r>
            <a:endParaRPr lang="zh-CN" altLang="en-US" dirty="0">
              <a:latin typeface="黑体" panose="02010609060101010101" pitchFamily="49" charset="-122"/>
              <a:ea typeface="黑体" panose="02010609060101010101" pitchFamily="49" charset="-122"/>
            </a:endParaRPr>
          </a:p>
        </p:txBody>
      </p:sp>
      <p:sp>
        <p:nvSpPr>
          <p:cNvPr id="6" name="TextBox 5"/>
          <p:cNvSpPr txBox="1"/>
          <p:nvPr/>
        </p:nvSpPr>
        <p:spPr>
          <a:xfrm>
            <a:off x="1208475" y="5275270"/>
            <a:ext cx="3870000" cy="430887"/>
          </a:xfrm>
          <a:prstGeom prst="rect">
            <a:avLst/>
          </a:prstGeom>
          <a:solidFill>
            <a:srgbClr val="FFFF00"/>
          </a:solidFill>
        </p:spPr>
        <p:txBody>
          <a:bodyPr wrap="square" rtlCol="0">
            <a:spAutoFit/>
          </a:bodyPr>
          <a:lstStyle/>
          <a:p>
            <a:r>
              <a:rPr lang="zh-CN" altLang="en-US" dirty="0">
                <a:latin typeface="黑体" panose="02010609060101010101" pitchFamily="49" charset="-122"/>
                <a:ea typeface="黑体" panose="02010609060101010101" pitchFamily="49" charset="-122"/>
              </a:rPr>
              <a:t>接触应力也称为赫兹应力</a:t>
            </a:r>
            <a:endParaRPr lang="zh-CN" altLang="en-US" dirty="0">
              <a:latin typeface="黑体" panose="02010609060101010101" pitchFamily="49" charset="-122"/>
              <a:ea typeface="黑体" panose="02010609060101010101" pitchFamily="49" charset="-122"/>
            </a:endParaRPr>
          </a:p>
        </p:txBody>
      </p:sp>
      <p:sp>
        <p:nvSpPr>
          <p:cNvPr id="12" name="TextBox 11"/>
          <p:cNvSpPr txBox="1"/>
          <p:nvPr/>
        </p:nvSpPr>
        <p:spPr>
          <a:xfrm>
            <a:off x="4977000" y="1314000"/>
            <a:ext cx="3987000" cy="400110"/>
          </a:xfrm>
          <a:prstGeom prst="rect">
            <a:avLst/>
          </a:prstGeom>
          <a:noFill/>
        </p:spPr>
        <p:txBody>
          <a:bodyPr wrap="square" rtlCol="0">
            <a:spAutoFit/>
          </a:bodyPr>
          <a:lstStyle/>
          <a:p>
            <a:r>
              <a:rPr lang="en-US" altLang="zh-CN" sz="2000" dirty="0">
                <a:latin typeface="黑体" panose="02010609060101010101" pitchFamily="49" charset="-122"/>
                <a:ea typeface="黑体" panose="02010609060101010101" pitchFamily="49" charset="-122"/>
              </a:rPr>
              <a:t>F——</a:t>
            </a:r>
            <a:r>
              <a:rPr lang="zh-CN" altLang="en-US" sz="2000" dirty="0">
                <a:latin typeface="黑体" panose="02010609060101010101" pitchFamily="49" charset="-122"/>
                <a:ea typeface="黑体" panose="02010609060101010101" pitchFamily="49" charset="-122"/>
              </a:rPr>
              <a:t>作用于接触面上的总压力</a:t>
            </a:r>
            <a:endParaRPr lang="zh-CN" altLang="en-US" sz="2000" dirty="0">
              <a:latin typeface="黑体" panose="02010609060101010101" pitchFamily="49" charset="-122"/>
              <a:ea typeface="黑体" panose="02010609060101010101" pitchFamily="49" charset="-122"/>
            </a:endParaRPr>
          </a:p>
        </p:txBody>
      </p:sp>
      <p:sp>
        <p:nvSpPr>
          <p:cNvPr id="13" name="TextBox 12"/>
          <p:cNvSpPr txBox="1"/>
          <p:nvPr/>
        </p:nvSpPr>
        <p:spPr>
          <a:xfrm>
            <a:off x="4977000" y="1764000"/>
            <a:ext cx="3987000" cy="400110"/>
          </a:xfrm>
          <a:prstGeom prst="rect">
            <a:avLst/>
          </a:prstGeom>
          <a:noFill/>
        </p:spPr>
        <p:txBody>
          <a:bodyPr wrap="square" rtlCol="0">
            <a:spAutoFit/>
          </a:bodyPr>
          <a:lstStyle/>
          <a:p>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初始接触线长度</a:t>
            </a:r>
            <a:endParaRPr lang="zh-CN" altLang="en-US" sz="2000" dirty="0">
              <a:latin typeface="黑体" panose="02010609060101010101" pitchFamily="49" charset="-122"/>
              <a:ea typeface="黑体" panose="02010609060101010101" pitchFamily="49" charset="-122"/>
            </a:endParaRPr>
          </a:p>
        </p:txBody>
      </p:sp>
      <p:grpSp>
        <p:nvGrpSpPr>
          <p:cNvPr id="16" name="组合 15"/>
          <p:cNvGrpSpPr/>
          <p:nvPr>
            <p:custDataLst>
              <p:tags r:id="rId3"/>
            </p:custDataLst>
          </p:nvPr>
        </p:nvGrpSpPr>
        <p:grpSpPr>
          <a:xfrm>
            <a:off x="4887000" y="2349000"/>
            <a:ext cx="4005000" cy="797886"/>
            <a:chOff x="4887000" y="2349000"/>
            <a:chExt cx="4005000" cy="797886"/>
          </a:xfrm>
        </p:grpSpPr>
        <p:sp>
          <p:nvSpPr>
            <p:cNvPr id="14" name="TextBox 13"/>
            <p:cNvSpPr txBox="1"/>
            <p:nvPr>
              <p:custDataLst>
                <p:tags r:id="rId4"/>
              </p:custDataLst>
            </p:nvPr>
          </p:nvSpPr>
          <p:spPr>
            <a:xfrm>
              <a:off x="5742000" y="2439000"/>
              <a:ext cx="3150000" cy="707886"/>
            </a:xfrm>
            <a:prstGeom prst="rect">
              <a:avLst/>
            </a:prstGeom>
            <a:noFill/>
          </p:spPr>
          <p:txBody>
            <a:bodyPr wrap="square" rtlCol="0">
              <a:spAutoFit/>
            </a:bodyPr>
            <a:lstStyle/>
            <a:p>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零件</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和零件</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初始</a:t>
              </a:r>
              <a:endParaRPr lang="en-US" altLang="zh-CN" sz="2000" dirty="0">
                <a:latin typeface="黑体" panose="02010609060101010101" pitchFamily="49" charset="-122"/>
                <a:ea typeface="黑体" panose="02010609060101010101" pitchFamily="49" charset="-122"/>
              </a:endParaRPr>
            </a:p>
            <a:p>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接触处的曲率半径</a:t>
              </a:r>
              <a:endParaRPr lang="zh-CN" altLang="en-US" sz="2000" dirty="0">
                <a:latin typeface="黑体" panose="02010609060101010101" pitchFamily="49" charset="-122"/>
                <a:ea typeface="黑体" panose="02010609060101010101" pitchFamily="49" charset="-122"/>
              </a:endParaRPr>
            </a:p>
          </p:txBody>
        </p:sp>
        <p:graphicFrame>
          <p:nvGraphicFramePr>
            <p:cNvPr id="15" name="对象 14"/>
            <p:cNvGraphicFramePr>
              <a:graphicFrameLocks noChangeAspect="1"/>
            </p:cNvGraphicFramePr>
            <p:nvPr>
              <p:custDataLst>
                <p:tags r:id="rId5"/>
              </p:custDataLst>
            </p:nvPr>
          </p:nvGraphicFramePr>
          <p:xfrm>
            <a:off x="4887000" y="2349000"/>
            <a:ext cx="895659" cy="422950"/>
          </p:xfrm>
          <a:graphic>
            <a:graphicData uri="http://schemas.openxmlformats.org/presentationml/2006/ole">
              <mc:AlternateContent xmlns:mc="http://schemas.openxmlformats.org/markup-compatibility/2006">
                <mc:Choice xmlns:v="urn:schemas-microsoft-com:vml" Requires="v">
                  <p:oleObj spid="_x0000_s3" name="公式" r:id="rId6" imgW="457200" imgH="215900" progId="Equation.KSEE3">
                    <p:embed/>
                  </p:oleObj>
                </mc:Choice>
                <mc:Fallback>
                  <p:oleObj name="公式" r:id="rId6" imgW="457200" imgH="215900" progId="Equation.KSEE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87000" y="2349000"/>
                          <a:ext cx="895659" cy="42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7" name="组合 16"/>
          <p:cNvGrpSpPr/>
          <p:nvPr>
            <p:custDataLst>
              <p:tags r:id="rId8"/>
            </p:custDataLst>
          </p:nvPr>
        </p:nvGrpSpPr>
        <p:grpSpPr>
          <a:xfrm>
            <a:off x="4977000" y="3294000"/>
            <a:ext cx="4005000" cy="797886"/>
            <a:chOff x="4887000" y="2349000"/>
            <a:chExt cx="4005000" cy="797886"/>
          </a:xfrm>
        </p:grpSpPr>
        <p:sp>
          <p:nvSpPr>
            <p:cNvPr id="18" name="TextBox 17"/>
            <p:cNvSpPr txBox="1"/>
            <p:nvPr>
              <p:custDataLst>
                <p:tags r:id="rId9"/>
              </p:custDataLst>
            </p:nvPr>
          </p:nvSpPr>
          <p:spPr>
            <a:xfrm>
              <a:off x="5742000" y="2439000"/>
              <a:ext cx="3150000" cy="707886"/>
            </a:xfrm>
            <a:prstGeom prst="rect">
              <a:avLst/>
            </a:prstGeom>
            <a:noFill/>
          </p:spPr>
          <p:txBody>
            <a:bodyPr wrap="square" rtlCol="0">
              <a:spAutoFit/>
            </a:bodyPr>
            <a:lstStyle/>
            <a:p>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零件</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和零件</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材料的</a:t>
              </a:r>
              <a:endParaRPr lang="en-US" altLang="zh-CN" sz="2000" dirty="0">
                <a:latin typeface="黑体" panose="02010609060101010101" pitchFamily="49" charset="-122"/>
                <a:ea typeface="黑体" panose="02010609060101010101" pitchFamily="49" charset="-122"/>
              </a:endParaRPr>
            </a:p>
            <a:p>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泊松比</a:t>
              </a:r>
              <a:endParaRPr lang="zh-CN" altLang="en-US" sz="2000" dirty="0">
                <a:latin typeface="黑体" panose="02010609060101010101" pitchFamily="49" charset="-122"/>
                <a:ea typeface="黑体" panose="02010609060101010101" pitchFamily="49" charset="-122"/>
              </a:endParaRPr>
            </a:p>
          </p:txBody>
        </p:sp>
        <p:graphicFrame>
          <p:nvGraphicFramePr>
            <p:cNvPr id="19" name="对象 18"/>
            <p:cNvGraphicFramePr>
              <a:graphicFrameLocks noChangeAspect="1"/>
            </p:cNvGraphicFramePr>
            <p:nvPr>
              <p:custDataLst>
                <p:tags r:id="rId10"/>
              </p:custDataLst>
            </p:nvPr>
          </p:nvGraphicFramePr>
          <p:xfrm>
            <a:off x="4887000" y="2349000"/>
            <a:ext cx="895659" cy="422950"/>
          </p:xfrm>
          <a:graphic>
            <a:graphicData uri="http://schemas.openxmlformats.org/presentationml/2006/ole">
              <mc:AlternateContent xmlns:mc="http://schemas.openxmlformats.org/markup-compatibility/2006">
                <mc:Choice xmlns:v="urn:schemas-microsoft-com:vml" Requires="v">
                  <p:oleObj spid="_x0000_s7" name="公式" r:id="rId11" imgW="457200" imgH="215900" progId="Equation.KSEE3">
                    <p:embed/>
                  </p:oleObj>
                </mc:Choice>
                <mc:Fallback>
                  <p:oleObj name="公式" r:id="rId11" imgW="457200" imgH="215900" progId="Equation.KSEE3">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87000" y="2349000"/>
                          <a:ext cx="895659" cy="42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0" name="组合 19"/>
          <p:cNvGrpSpPr/>
          <p:nvPr>
            <p:custDataLst>
              <p:tags r:id="rId13"/>
            </p:custDataLst>
          </p:nvPr>
        </p:nvGrpSpPr>
        <p:grpSpPr>
          <a:xfrm>
            <a:off x="4932000" y="4239000"/>
            <a:ext cx="4005000" cy="797886"/>
            <a:chOff x="4887000" y="2349000"/>
            <a:chExt cx="4005000" cy="797886"/>
          </a:xfrm>
        </p:grpSpPr>
        <p:sp>
          <p:nvSpPr>
            <p:cNvPr id="21" name="TextBox 20"/>
            <p:cNvSpPr txBox="1"/>
            <p:nvPr>
              <p:custDataLst>
                <p:tags r:id="rId14"/>
              </p:custDataLst>
            </p:nvPr>
          </p:nvSpPr>
          <p:spPr>
            <a:xfrm>
              <a:off x="5742000" y="2439000"/>
              <a:ext cx="3150000" cy="707886"/>
            </a:xfrm>
            <a:prstGeom prst="rect">
              <a:avLst/>
            </a:prstGeom>
            <a:noFill/>
          </p:spPr>
          <p:txBody>
            <a:bodyPr wrap="square" rtlCol="0">
              <a:spAutoFit/>
            </a:bodyPr>
            <a:lstStyle/>
            <a:p>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零件</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和零件</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材料的</a:t>
              </a:r>
              <a:endParaRPr lang="en-US" altLang="zh-CN" sz="2000" dirty="0">
                <a:latin typeface="黑体" panose="02010609060101010101" pitchFamily="49" charset="-122"/>
                <a:ea typeface="黑体" panose="02010609060101010101" pitchFamily="49" charset="-122"/>
              </a:endParaRPr>
            </a:p>
            <a:p>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弹性模量</a:t>
              </a:r>
              <a:endParaRPr lang="zh-CN" altLang="en-US" sz="2000" dirty="0">
                <a:latin typeface="黑体" panose="02010609060101010101" pitchFamily="49" charset="-122"/>
                <a:ea typeface="黑体" panose="02010609060101010101" pitchFamily="49" charset="-122"/>
              </a:endParaRPr>
            </a:p>
          </p:txBody>
        </p:sp>
        <p:graphicFrame>
          <p:nvGraphicFramePr>
            <p:cNvPr id="22" name="对象 21"/>
            <p:cNvGraphicFramePr>
              <a:graphicFrameLocks noChangeAspect="1"/>
            </p:cNvGraphicFramePr>
            <p:nvPr>
              <p:custDataLst>
                <p:tags r:id="rId15"/>
              </p:custDataLst>
            </p:nvPr>
          </p:nvGraphicFramePr>
          <p:xfrm>
            <a:off x="4887000" y="2349000"/>
            <a:ext cx="895659" cy="422950"/>
          </p:xfrm>
          <a:graphic>
            <a:graphicData uri="http://schemas.openxmlformats.org/presentationml/2006/ole">
              <mc:AlternateContent xmlns:mc="http://schemas.openxmlformats.org/markup-compatibility/2006">
                <mc:Choice xmlns:v="urn:schemas-microsoft-com:vml" Requires="v">
                  <p:oleObj spid="_x0000_s8" name="公式" r:id="rId16" imgW="457200" imgH="215900" progId="Equation.KSEE3">
                    <p:embed/>
                  </p:oleObj>
                </mc:Choice>
                <mc:Fallback>
                  <p:oleObj name="公式" r:id="rId16" imgW="457200" imgH="215900" progId="Equation.KSEE3">
                    <p:embed/>
                    <p:pic>
                      <p:nvPicPr>
                        <p:cNvPr id="0" name="Picture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87000" y="2349000"/>
                          <a:ext cx="895659" cy="42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2" grpId="0"/>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a:spLocks noRot="1" noChangeAspect="1" noMove="1" noResize="1" noEditPoints="1" noAdjustHandles="1" noChangeArrowheads="1" noChangeShapeType="1" noTextEdit="1"/>
          </p:cNvSpPr>
          <p:nvPr/>
        </p:nvSpPr>
        <p:spPr>
          <a:xfrm>
            <a:off x="457890" y="478934"/>
            <a:ext cx="8227640" cy="1209628"/>
          </a:xfrm>
          <a:prstGeom prst="rect">
            <a:avLst/>
          </a:prstGeom>
          <a:blipFill>
            <a:blip r:embed="rId1"/>
            <a:stretch>
              <a:fillRect l="-741" r="-519" b="-8586"/>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8" name="矩形 7"/>
          <p:cNvSpPr>
            <a:spLocks noRot="1" noChangeAspect="1" noMove="1" noResize="1" noEditPoints="1" noAdjustHandles="1" noChangeArrowheads="1" noChangeShapeType="1" noTextEdit="1"/>
          </p:cNvSpPr>
          <p:nvPr/>
        </p:nvSpPr>
        <p:spPr>
          <a:xfrm>
            <a:off x="2741295" y="1937385"/>
            <a:ext cx="3612515" cy="485140"/>
          </a:xfrm>
          <a:prstGeom prst="rect">
            <a:avLst/>
          </a:prstGeom>
          <a:blipFill>
            <a:blip r:embed="rId2"/>
            <a:stretch>
              <a:fillRect b="-16667"/>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9" name="文本框 8"/>
          <p:cNvSpPr txBox="1">
            <a:spLocks noRot="1" noChangeAspect="1" noMove="1" noResize="1" noEditPoints="1" noAdjustHandles="1" noChangeArrowheads="1" noChangeShapeType="1" noTextEdit="1"/>
          </p:cNvSpPr>
          <p:nvPr/>
        </p:nvSpPr>
        <p:spPr>
          <a:xfrm>
            <a:off x="218440" y="2603500"/>
            <a:ext cx="8706485" cy="755015"/>
          </a:xfrm>
          <a:prstGeom prst="rect">
            <a:avLst/>
          </a:prstGeom>
          <a:blipFill>
            <a:blip r:embed="rId3"/>
            <a:stretch>
              <a:fillRect l="-746" t="-5172" b="-14655"/>
            </a:stretch>
          </a:blipFill>
        </p:spPr>
        <p:txBody>
          <a:bodyPr/>
          <a:lstStyle/>
          <a:p>
            <a:pPr marR="0" defTabSz="914400" eaLnBrk="0" hangingPunct="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0" name="矩形 9"/>
          <p:cNvSpPr>
            <a:spLocks noRot="1" noChangeAspect="1" noMove="1" noResize="1" noEditPoints="1" noAdjustHandles="1" noChangeArrowheads="1" noChangeShapeType="1" noTextEdit="1"/>
          </p:cNvSpPr>
          <p:nvPr/>
        </p:nvSpPr>
        <p:spPr>
          <a:xfrm>
            <a:off x="2515235" y="3505200"/>
            <a:ext cx="3268345" cy="570865"/>
          </a:xfrm>
          <a:prstGeom prst="rect">
            <a:avLst/>
          </a:prstGeom>
          <a:blipFill>
            <a:blip r:embed="rId4"/>
            <a:stretch>
              <a:fillRect b="-6061"/>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0" showMasterPhAnim="0">
  <p:cSld>
    <p:spTree>
      <p:nvGrpSpPr>
        <p:cNvPr id="1" name=""/>
        <p:cNvGrpSpPr/>
        <p:nvPr/>
      </p:nvGrpSpPr>
      <p:grpSpPr>
        <a:xfrm>
          <a:off x="0" y="0"/>
          <a:ext cx="0" cy="0"/>
          <a:chOff x="0" y="0"/>
          <a:chExt cx="0" cy="0"/>
        </a:xfrm>
      </p:grpSpPr>
      <p:sp>
        <p:nvSpPr>
          <p:cNvPr id="67587" name="Rectangle 5"/>
          <p:cNvSpPr>
            <a:spLocks noGrp="1" noChangeArrowheads="1"/>
          </p:cNvSpPr>
          <p:nvPr>
            <p:ph type="body" idx="4294967295"/>
          </p:nvPr>
        </p:nvSpPr>
        <p:spPr>
          <a:xfrm>
            <a:off x="611915" y="1043660"/>
            <a:ext cx="7772400" cy="4876800"/>
          </a:xfrm>
          <a:prstGeom prst="rect">
            <a:avLst/>
          </a:prstGeom>
        </p:spPr>
        <p:txBody>
          <a:bodyPr/>
          <a:lstStyle/>
          <a:p>
            <a:pPr algn="just" eaLnBrk="1" hangingPunct="1">
              <a:lnSpc>
                <a:spcPct val="140000"/>
              </a:lnSpc>
              <a:buFontTx/>
              <a:buNone/>
            </a:pPr>
            <a:r>
              <a:rPr lang="en-US" sz="2000" dirty="0"/>
              <a:t>1</a:t>
            </a:r>
            <a:r>
              <a:rPr lang="zh-CN" altLang="en-US" sz="2000" dirty="0"/>
              <a:t>、</a:t>
            </a:r>
            <a:r>
              <a:rPr lang="zh-CN" altLang="en-US" sz="2200" dirty="0">
                <a:latin typeface="黑体" panose="02010609060101010101" pitchFamily="49" charset="-122"/>
                <a:ea typeface="黑体" panose="02010609060101010101" pitchFamily="49" charset="-122"/>
              </a:rPr>
              <a:t>在解决变应力下零件的强度问题叫疲劳强度。</a:t>
            </a:r>
            <a:endParaRPr lang="zh-CN" altLang="en-US" sz="2200" dirty="0">
              <a:latin typeface="黑体" panose="02010609060101010101" pitchFamily="49" charset="-122"/>
              <a:ea typeface="黑体" panose="02010609060101010101" pitchFamily="49" charset="-122"/>
            </a:endParaRPr>
          </a:p>
          <a:p>
            <a:pPr algn="just" eaLnBrk="1" hangingPunct="1">
              <a:lnSpc>
                <a:spcPct val="140000"/>
              </a:lnSpc>
              <a:buFontTx/>
              <a:buNone/>
            </a:pPr>
            <a:r>
              <a:rPr lang="zh-CN" altLang="en-US" sz="2200" dirty="0">
                <a:latin typeface="黑体" panose="02010609060101010101" pitchFamily="49" charset="-122"/>
                <a:ea typeface="黑体" panose="02010609060101010101" pitchFamily="49" charset="-122"/>
              </a:rPr>
              <a:t>      零件里通常作用的都是变应力，所以其应用更为广泛。</a:t>
            </a:r>
            <a:endParaRPr lang="zh-CN" altLang="en-US" sz="2200" dirty="0">
              <a:latin typeface="黑体" panose="02010609060101010101" pitchFamily="49" charset="-122"/>
              <a:ea typeface="黑体" panose="02010609060101010101" pitchFamily="49" charset="-122"/>
            </a:endParaRPr>
          </a:p>
          <a:p>
            <a:pPr algn="just" eaLnBrk="1" hangingPunct="1">
              <a:lnSpc>
                <a:spcPct val="140000"/>
              </a:lnSpc>
              <a:buFontTx/>
              <a:buNone/>
            </a:pPr>
            <a:r>
              <a:rPr lang="en-US"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、疲劳强度和哪些因素有关 </a:t>
            </a:r>
            <a:r>
              <a:rPr lang="en-US" sz="2200" dirty="0">
                <a:latin typeface="黑体" panose="02010609060101010101" pitchFamily="49" charset="-122"/>
                <a:ea typeface="黑体" panose="02010609060101010101" pitchFamily="49" charset="-122"/>
              </a:rPr>
              <a:t>= f</a:t>
            </a:r>
            <a:r>
              <a:rPr lang="zh-CN" altLang="en-US" sz="2200" dirty="0">
                <a:latin typeface="黑体" panose="02010609060101010101" pitchFamily="49" charset="-122"/>
                <a:ea typeface="黑体" panose="02010609060101010101" pitchFamily="49" charset="-122"/>
              </a:rPr>
              <a:t>（</a:t>
            </a:r>
            <a:r>
              <a:rPr lang="en-US" sz="2200" dirty="0">
                <a:latin typeface="黑体" panose="02010609060101010101" pitchFamily="49" charset="-122"/>
                <a:ea typeface="黑体" panose="02010609060101010101" pitchFamily="49" charset="-122"/>
              </a:rPr>
              <a:t>N</a:t>
            </a:r>
            <a:r>
              <a:rPr lang="zh-CN" altLang="en-US" sz="2200" dirty="0">
                <a:latin typeface="黑体" panose="02010609060101010101" pitchFamily="49" charset="-122"/>
                <a:ea typeface="黑体" panose="02010609060101010101" pitchFamily="49" charset="-122"/>
              </a:rPr>
              <a:t>，</a:t>
            </a:r>
            <a:r>
              <a:rPr lang="en-US" sz="2200" dirty="0">
                <a:latin typeface="黑体" panose="02010609060101010101" pitchFamily="49" charset="-122"/>
                <a:ea typeface="黑体" panose="02010609060101010101" pitchFamily="49" charset="-122"/>
              </a:rPr>
              <a:t>r</a:t>
            </a:r>
            <a:r>
              <a:rPr lang="zh-CN" altLang="en-US" sz="2200" dirty="0">
                <a:latin typeface="黑体" panose="02010609060101010101" pitchFamily="49" charset="-122"/>
                <a:ea typeface="黑体" panose="02010609060101010101" pitchFamily="49" charset="-122"/>
              </a:rPr>
              <a:t>，</a:t>
            </a:r>
            <a:r>
              <a:rPr lang="en-US" sz="2200" dirty="0">
                <a:latin typeface="黑体" panose="02010609060101010101" pitchFamily="49" charset="-122"/>
                <a:ea typeface="黑体" panose="02010609060101010101" pitchFamily="49" charset="-122"/>
              </a:rPr>
              <a:t>K</a:t>
            </a:r>
            <a:r>
              <a:rPr lang="en-US" sz="2200" baseline="-25000" dirty="0">
                <a:latin typeface="黑体" panose="02010609060101010101" pitchFamily="49" charset="-122"/>
                <a:ea typeface="黑体" panose="02010609060101010101" pitchFamily="49" charset="-122"/>
                <a:sym typeface="Symbol" panose="05050102010706020507" pitchFamily="18" charset="2"/>
              </a:rPr>
              <a:t></a:t>
            </a:r>
            <a:r>
              <a:rPr lang="zh-CN" altLang="en-US" sz="2200" dirty="0">
                <a:latin typeface="黑体" panose="02010609060101010101" pitchFamily="49" charset="-122"/>
                <a:ea typeface="黑体" panose="02010609060101010101" pitchFamily="49" charset="-122"/>
              </a:rPr>
              <a:t>，材料，形式）</a:t>
            </a:r>
            <a:endParaRPr lang="zh-CN" altLang="en-US" sz="2200" dirty="0">
              <a:latin typeface="黑体" panose="02010609060101010101" pitchFamily="49" charset="-122"/>
              <a:ea typeface="黑体" panose="02010609060101010101" pitchFamily="49" charset="-122"/>
            </a:endParaRPr>
          </a:p>
          <a:p>
            <a:pPr algn="just" eaLnBrk="1" hangingPunct="1">
              <a:lnSpc>
                <a:spcPct val="140000"/>
              </a:lnSpc>
              <a:buFontTx/>
              <a:buNone/>
            </a:pPr>
            <a:r>
              <a:rPr lang="zh-CN" altLang="en-US" sz="2200" dirty="0">
                <a:latin typeface="黑体" panose="02010609060101010101" pitchFamily="49" charset="-122"/>
                <a:ea typeface="黑体" panose="02010609060101010101" pitchFamily="49" charset="-122"/>
              </a:rPr>
              <a:t>    疲劳强度比静强度复杂得多。</a:t>
            </a:r>
            <a:endParaRPr lang="zh-CN" altLang="en-US" sz="2200" dirty="0">
              <a:latin typeface="黑体" panose="02010609060101010101" pitchFamily="49" charset="-122"/>
              <a:ea typeface="黑体" panose="02010609060101010101" pitchFamily="49" charset="-122"/>
            </a:endParaRPr>
          </a:p>
          <a:p>
            <a:pPr algn="just" eaLnBrk="1" hangingPunct="1">
              <a:lnSpc>
                <a:spcPct val="140000"/>
              </a:lnSpc>
              <a:buFontTx/>
              <a:buNone/>
            </a:pPr>
            <a:r>
              <a:rPr lang="en-US"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．三大理论一假说：</a:t>
            </a:r>
            <a:endParaRPr lang="zh-CN" altLang="en-US" sz="2200" dirty="0">
              <a:latin typeface="黑体" panose="02010609060101010101" pitchFamily="49" charset="-122"/>
              <a:ea typeface="黑体" panose="02010609060101010101" pitchFamily="49" charset="-122"/>
            </a:endParaRPr>
          </a:p>
          <a:p>
            <a:pPr algn="just" eaLnBrk="1" hangingPunct="1">
              <a:lnSpc>
                <a:spcPct val="140000"/>
              </a:lnSpc>
              <a:buFontTx/>
              <a:buNone/>
            </a:pPr>
            <a:r>
              <a:rPr lang="zh-CN" altLang="en-US" sz="2200" dirty="0">
                <a:latin typeface="黑体" panose="02010609060101010101" pitchFamily="49" charset="-122"/>
                <a:ea typeface="黑体" panose="02010609060101010101" pitchFamily="49" charset="-122"/>
              </a:rPr>
              <a:t>     疲劳曲线</a:t>
            </a:r>
            <a:r>
              <a:rPr lang="en-US"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解决对称循环变应力的强度计算问题；</a:t>
            </a:r>
            <a:endParaRPr lang="zh-CN" altLang="en-US" sz="2200" dirty="0">
              <a:latin typeface="黑体" panose="02010609060101010101" pitchFamily="49" charset="-122"/>
              <a:ea typeface="黑体" panose="02010609060101010101" pitchFamily="49" charset="-122"/>
            </a:endParaRPr>
          </a:p>
          <a:p>
            <a:pPr algn="just" eaLnBrk="1" hangingPunct="1">
              <a:lnSpc>
                <a:spcPct val="140000"/>
              </a:lnSpc>
              <a:buFontTx/>
              <a:buNone/>
            </a:pPr>
            <a:r>
              <a:rPr lang="zh-CN" altLang="en-US" sz="2200" dirty="0">
                <a:latin typeface="黑体" panose="02010609060101010101" pitchFamily="49" charset="-122"/>
                <a:ea typeface="黑体" panose="02010609060101010101" pitchFamily="49" charset="-122"/>
              </a:rPr>
              <a:t>     极限应力图</a:t>
            </a:r>
            <a:r>
              <a:rPr lang="en-US"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对称</a:t>
            </a:r>
            <a:r>
              <a:rPr lang="zh-CN" altLang="en-US" sz="2200" dirty="0">
                <a:latin typeface="黑体" panose="02010609060101010101" pitchFamily="49" charset="-122"/>
                <a:ea typeface="黑体" panose="02010609060101010101" pitchFamily="49" charset="-122"/>
                <a:sym typeface="Symbol" panose="05050102010706020507" pitchFamily="18" charset="2"/>
              </a:rPr>
              <a:t></a:t>
            </a:r>
            <a:r>
              <a:rPr lang="zh-CN" altLang="en-US" sz="2200" dirty="0">
                <a:latin typeface="黑体" panose="02010609060101010101" pitchFamily="49" charset="-122"/>
                <a:ea typeface="黑体" panose="02010609060101010101" pitchFamily="49" charset="-122"/>
              </a:rPr>
              <a:t>非对称的关系；</a:t>
            </a:r>
            <a:endParaRPr lang="zh-CN" altLang="en-US" sz="2200" dirty="0">
              <a:latin typeface="黑体" panose="02010609060101010101" pitchFamily="49" charset="-122"/>
              <a:ea typeface="黑体" panose="02010609060101010101" pitchFamily="49" charset="-122"/>
            </a:endParaRPr>
          </a:p>
          <a:p>
            <a:pPr algn="just" eaLnBrk="1" hangingPunct="1">
              <a:lnSpc>
                <a:spcPct val="140000"/>
              </a:lnSpc>
              <a:buFontTx/>
              <a:buNone/>
            </a:pPr>
            <a:r>
              <a:rPr lang="zh-CN" altLang="en-US" sz="2200" dirty="0">
                <a:latin typeface="黑体" panose="02010609060101010101" pitchFamily="49" charset="-122"/>
                <a:ea typeface="黑体" panose="02010609060101010101" pitchFamily="49" charset="-122"/>
              </a:rPr>
              <a:t>     复合（双向）极限应力图</a:t>
            </a:r>
            <a:r>
              <a:rPr lang="en-US"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复合和简单应力的关系；</a:t>
            </a:r>
            <a:endParaRPr lang="zh-CN" altLang="en-US" sz="2200" dirty="0">
              <a:latin typeface="黑体" panose="02010609060101010101" pitchFamily="49" charset="-122"/>
              <a:ea typeface="黑体" panose="02010609060101010101" pitchFamily="49" charset="-122"/>
            </a:endParaRPr>
          </a:p>
          <a:p>
            <a:pPr algn="just" eaLnBrk="1" hangingPunct="1">
              <a:lnSpc>
                <a:spcPct val="140000"/>
              </a:lnSpc>
              <a:buFontTx/>
              <a:buNone/>
            </a:pPr>
            <a:r>
              <a:rPr lang="zh-CN" altLang="en-US" sz="2200" dirty="0">
                <a:latin typeface="黑体" panose="02010609060101010101" pitchFamily="49" charset="-122"/>
                <a:ea typeface="黑体" panose="02010609060101010101" pitchFamily="49" charset="-122"/>
              </a:rPr>
              <a:t>     </a:t>
            </a:r>
            <a:r>
              <a:rPr lang="en-US" sz="2200" dirty="0">
                <a:latin typeface="黑体" panose="02010609060101010101" pitchFamily="49" charset="-122"/>
                <a:ea typeface="黑体" panose="02010609060101010101" pitchFamily="49" charset="-122"/>
              </a:rPr>
              <a:t>Miner</a:t>
            </a:r>
            <a:r>
              <a:rPr lang="zh-CN" altLang="en-US" sz="2200" dirty="0">
                <a:latin typeface="黑体" panose="02010609060101010101" pitchFamily="49" charset="-122"/>
                <a:ea typeface="黑体" panose="02010609060101010101" pitchFamily="49" charset="-122"/>
              </a:rPr>
              <a:t>法则</a:t>
            </a:r>
            <a:r>
              <a:rPr lang="en-US"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稳定和非稳定应力的关系；</a:t>
            </a:r>
            <a:endParaRPr lang="zh-CN" altLang="en-US" sz="2200" dirty="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 calcmode="lin" valueType="num">
                                      <p:cBhvr additive="base">
                                        <p:cTn id="7" dur="500" fill="hold"/>
                                        <p:tgtEl>
                                          <p:spTgt spid="675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75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7587">
                                            <p:txEl>
                                              <p:pRg st="1" end="1"/>
                                            </p:txEl>
                                          </p:spTgt>
                                        </p:tgtEl>
                                        <p:attrNameLst>
                                          <p:attrName>style.visibility</p:attrName>
                                        </p:attrNameLst>
                                      </p:cBhvr>
                                      <p:to>
                                        <p:strVal val="visible"/>
                                      </p:to>
                                    </p:set>
                                    <p:anim calcmode="lin" valueType="num">
                                      <p:cBhvr additive="base">
                                        <p:cTn id="13" dur="500" fill="hold"/>
                                        <p:tgtEl>
                                          <p:spTgt spid="675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75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7587">
                                            <p:txEl>
                                              <p:pRg st="2" end="2"/>
                                            </p:txEl>
                                          </p:spTgt>
                                        </p:tgtEl>
                                        <p:attrNameLst>
                                          <p:attrName>style.visibility</p:attrName>
                                        </p:attrNameLst>
                                      </p:cBhvr>
                                      <p:to>
                                        <p:strVal val="visible"/>
                                      </p:to>
                                    </p:set>
                                    <p:anim calcmode="lin" valueType="num">
                                      <p:cBhvr additive="base">
                                        <p:cTn id="19" dur="500" fill="hold"/>
                                        <p:tgtEl>
                                          <p:spTgt spid="675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75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7587">
                                            <p:txEl>
                                              <p:pRg st="3" end="3"/>
                                            </p:txEl>
                                          </p:spTgt>
                                        </p:tgtEl>
                                        <p:attrNameLst>
                                          <p:attrName>style.visibility</p:attrName>
                                        </p:attrNameLst>
                                      </p:cBhvr>
                                      <p:to>
                                        <p:strVal val="visible"/>
                                      </p:to>
                                    </p:set>
                                    <p:anim calcmode="lin" valueType="num">
                                      <p:cBhvr additive="base">
                                        <p:cTn id="25" dur="500" fill="hold"/>
                                        <p:tgtEl>
                                          <p:spTgt spid="6758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75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7587">
                                            <p:txEl>
                                              <p:pRg st="4" end="4"/>
                                            </p:txEl>
                                          </p:spTgt>
                                        </p:tgtEl>
                                        <p:attrNameLst>
                                          <p:attrName>style.visibility</p:attrName>
                                        </p:attrNameLst>
                                      </p:cBhvr>
                                      <p:to>
                                        <p:strVal val="visible"/>
                                      </p:to>
                                    </p:set>
                                    <p:anim calcmode="lin" valueType="num">
                                      <p:cBhvr additive="base">
                                        <p:cTn id="31" dur="500" fill="hold"/>
                                        <p:tgtEl>
                                          <p:spTgt spid="6758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758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67587">
                                            <p:txEl>
                                              <p:pRg st="5" end="5"/>
                                            </p:txEl>
                                          </p:spTgt>
                                        </p:tgtEl>
                                        <p:attrNameLst>
                                          <p:attrName>style.visibility</p:attrName>
                                        </p:attrNameLst>
                                      </p:cBhvr>
                                      <p:to>
                                        <p:strVal val="visible"/>
                                      </p:to>
                                    </p:set>
                                    <p:anim calcmode="lin" valueType="num">
                                      <p:cBhvr additive="base">
                                        <p:cTn id="37" dur="500" fill="hold"/>
                                        <p:tgtEl>
                                          <p:spTgt spid="6758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758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67587">
                                            <p:txEl>
                                              <p:pRg st="6" end="6"/>
                                            </p:txEl>
                                          </p:spTgt>
                                        </p:tgtEl>
                                        <p:attrNameLst>
                                          <p:attrName>style.visibility</p:attrName>
                                        </p:attrNameLst>
                                      </p:cBhvr>
                                      <p:to>
                                        <p:strVal val="visible"/>
                                      </p:to>
                                    </p:set>
                                    <p:anim calcmode="lin" valueType="num">
                                      <p:cBhvr additive="base">
                                        <p:cTn id="43" dur="500" fill="hold"/>
                                        <p:tgtEl>
                                          <p:spTgt spid="67587">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6758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67587">
                                            <p:txEl>
                                              <p:pRg st="7" end="7"/>
                                            </p:txEl>
                                          </p:spTgt>
                                        </p:tgtEl>
                                        <p:attrNameLst>
                                          <p:attrName>style.visibility</p:attrName>
                                        </p:attrNameLst>
                                      </p:cBhvr>
                                      <p:to>
                                        <p:strVal val="visible"/>
                                      </p:to>
                                    </p:set>
                                    <p:anim calcmode="lin" valueType="num">
                                      <p:cBhvr additive="base">
                                        <p:cTn id="49" dur="500" fill="hold"/>
                                        <p:tgtEl>
                                          <p:spTgt spid="67587">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6758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67587">
                                            <p:txEl>
                                              <p:pRg st="8" end="8"/>
                                            </p:txEl>
                                          </p:spTgt>
                                        </p:tgtEl>
                                        <p:attrNameLst>
                                          <p:attrName>style.visibility</p:attrName>
                                        </p:attrNameLst>
                                      </p:cBhvr>
                                      <p:to>
                                        <p:strVal val="visible"/>
                                      </p:to>
                                    </p:set>
                                    <p:anim calcmode="lin" valueType="num">
                                      <p:cBhvr additive="base">
                                        <p:cTn id="55" dur="500" fill="hold"/>
                                        <p:tgtEl>
                                          <p:spTgt spid="67587">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6758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autoUpdateAnimBg="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文本框 2"/>
          <p:cNvSpPr txBox="1"/>
          <p:nvPr>
            <p:custDataLst>
              <p:tags r:id="rId1"/>
            </p:custDataLst>
          </p:nvPr>
        </p:nvSpPr>
        <p:spPr>
          <a:xfrm>
            <a:off x="788988" y="490538"/>
            <a:ext cx="7315200" cy="2143125"/>
          </a:xfrm>
          <a:prstGeom prst="rect">
            <a:avLst/>
          </a:prstGeom>
          <a:noFill/>
          <a:ln w="9525">
            <a:noFill/>
          </a:ln>
        </p:spPr>
        <p:txBody>
          <a:bodyPr wrap="square" anchor="ctr" anchorCtr="0"/>
          <a:lstStyle/>
          <a:p>
            <a:pPr eaLnBrk="0" hangingPunct="0"/>
            <a:r>
              <a:rPr lang="en-US" altLang="zh-CN" sz="2400" dirty="0">
                <a:latin typeface="Tahoma" panose="020B0604030504040204" pitchFamily="34" charset="0"/>
                <a:ea typeface="华文中宋" panose="02010600040101010101" pitchFamily="2" charset="-122"/>
              </a:rPr>
              <a:t>1</a:t>
            </a:r>
            <a:r>
              <a:rPr lang="zh-CN" altLang="en-US" sz="2400" dirty="0">
                <a:latin typeface="Tahoma" panose="020B0604030504040204" pitchFamily="34" charset="0"/>
                <a:ea typeface="华文中宋" panose="02010600040101010101" pitchFamily="2" charset="-122"/>
              </a:rPr>
              <a:t>、下列</a:t>
            </a:r>
            <a:r>
              <a:rPr lang="en-US" altLang="zh-CN" sz="2400" dirty="0">
                <a:latin typeface="Tahoma" panose="020B0604030504040204" pitchFamily="34" charset="0"/>
                <a:ea typeface="华文中宋" panose="02010600040101010101" pitchFamily="2" charset="-122"/>
              </a:rPr>
              <a:t>4</a:t>
            </a:r>
            <a:r>
              <a:rPr lang="zh-CN" altLang="en-US" sz="2400" dirty="0">
                <a:latin typeface="Tahoma" panose="020B0604030504040204" pitchFamily="34" charset="0"/>
                <a:ea typeface="华文中宋" panose="02010600040101010101" pitchFamily="2" charset="-122"/>
              </a:rPr>
              <a:t>图分别表示各种应力随时间变化的图形，图（</a:t>
            </a:r>
            <a:r>
              <a:rPr lang="en-US" altLang="zh-CN" sz="2400" dirty="0">
                <a:latin typeface="Tahoma" panose="020B0604030504040204" pitchFamily="34" charset="0"/>
                <a:ea typeface="华文中宋" panose="02010600040101010101" pitchFamily="2" charset="-122"/>
              </a:rPr>
              <a:t>a)</a:t>
            </a:r>
            <a:r>
              <a:rPr lang="zh-CN" altLang="en-US" sz="2400" dirty="0">
                <a:latin typeface="Tahoma" panose="020B0604030504040204" pitchFamily="34" charset="0"/>
                <a:ea typeface="华文中宋" panose="02010600040101010101" pitchFamily="2" charset="-122"/>
              </a:rPr>
              <a:t>为 </a:t>
            </a:r>
            <a:r>
              <a:rPr lang="zh-CN" altLang="en-US" sz="2400" dirty="0">
                <a:solidFill>
                  <a:srgbClr val="639EF4"/>
                </a:solidFill>
                <a:latin typeface="Tahoma" panose="020B0604030504040204" pitchFamily="34" charset="0"/>
                <a:ea typeface="华文中宋" panose="02010600040101010101" pitchFamily="2" charset="-122"/>
              </a:rPr>
              <a:t>[填空1]</a:t>
            </a:r>
            <a:r>
              <a:rPr lang="zh-CN" altLang="en-US" sz="2400" dirty="0">
                <a:latin typeface="Tahoma" panose="020B0604030504040204" pitchFamily="34" charset="0"/>
                <a:ea typeface="华文中宋" panose="02010600040101010101" pitchFamily="2" charset="-122"/>
              </a:rPr>
              <a:t> ，图</a:t>
            </a:r>
            <a:r>
              <a:rPr lang="en-US" altLang="zh-CN" sz="2400" dirty="0">
                <a:latin typeface="Tahoma" panose="020B0604030504040204" pitchFamily="34" charset="0"/>
                <a:ea typeface="华文中宋" panose="02010600040101010101" pitchFamily="2" charset="-122"/>
              </a:rPr>
              <a:t>(b)</a:t>
            </a:r>
            <a:r>
              <a:rPr lang="zh-CN" altLang="en-US" sz="2400" dirty="0">
                <a:latin typeface="Tahoma" panose="020B0604030504040204" pitchFamily="34" charset="0"/>
                <a:ea typeface="华文中宋" panose="02010600040101010101" pitchFamily="2" charset="-122"/>
              </a:rPr>
              <a:t>为 </a:t>
            </a:r>
            <a:r>
              <a:rPr lang="zh-CN" altLang="en-US" sz="2400" dirty="0">
                <a:solidFill>
                  <a:srgbClr val="639EF4"/>
                </a:solidFill>
                <a:latin typeface="Tahoma" panose="020B0604030504040204" pitchFamily="34" charset="0"/>
                <a:ea typeface="华文中宋" panose="02010600040101010101" pitchFamily="2" charset="-122"/>
              </a:rPr>
              <a:t>[填空2]</a:t>
            </a:r>
            <a:r>
              <a:rPr lang="zh-CN" altLang="en-US" sz="2400" dirty="0">
                <a:latin typeface="Tahoma" panose="020B0604030504040204" pitchFamily="34" charset="0"/>
                <a:ea typeface="华文中宋" panose="02010600040101010101" pitchFamily="2" charset="-122"/>
              </a:rPr>
              <a:t> ，图</a:t>
            </a:r>
            <a:r>
              <a:rPr lang="en-US" altLang="zh-CN" sz="2400" dirty="0">
                <a:latin typeface="Tahoma" panose="020B0604030504040204" pitchFamily="34" charset="0"/>
                <a:ea typeface="华文中宋" panose="02010600040101010101" pitchFamily="2" charset="-122"/>
              </a:rPr>
              <a:t>(c)</a:t>
            </a:r>
            <a:r>
              <a:rPr lang="zh-CN" altLang="en-US" sz="2400" dirty="0">
                <a:latin typeface="Tahoma" panose="020B0604030504040204" pitchFamily="34" charset="0"/>
                <a:ea typeface="华文中宋" panose="02010600040101010101" pitchFamily="2" charset="-122"/>
              </a:rPr>
              <a:t>为 </a:t>
            </a:r>
            <a:r>
              <a:rPr lang="zh-CN" altLang="en-US" sz="2400" dirty="0">
                <a:solidFill>
                  <a:srgbClr val="639EF4"/>
                </a:solidFill>
                <a:latin typeface="Tahoma" panose="020B0604030504040204" pitchFamily="34" charset="0"/>
                <a:ea typeface="华文中宋" panose="02010600040101010101" pitchFamily="2" charset="-122"/>
              </a:rPr>
              <a:t>[填空3]</a:t>
            </a:r>
            <a:r>
              <a:rPr lang="zh-CN" altLang="en-US" sz="2400" dirty="0">
                <a:latin typeface="Tahoma" panose="020B0604030504040204" pitchFamily="34" charset="0"/>
                <a:ea typeface="华文中宋" panose="02010600040101010101" pitchFamily="2" charset="-122"/>
              </a:rPr>
              <a:t> ，图</a:t>
            </a:r>
            <a:r>
              <a:rPr lang="en-US" altLang="zh-CN" sz="2400" dirty="0">
                <a:latin typeface="Tahoma" panose="020B0604030504040204" pitchFamily="34" charset="0"/>
                <a:ea typeface="华文中宋" panose="02010600040101010101" pitchFamily="2" charset="-122"/>
              </a:rPr>
              <a:t>(d)</a:t>
            </a:r>
            <a:r>
              <a:rPr lang="zh-CN" altLang="en-US" sz="2400" dirty="0">
                <a:latin typeface="Tahoma" panose="020B0604030504040204" pitchFamily="34" charset="0"/>
                <a:ea typeface="华文中宋" panose="02010600040101010101" pitchFamily="2" charset="-122"/>
              </a:rPr>
              <a:t>为 </a:t>
            </a:r>
            <a:r>
              <a:rPr lang="zh-CN" altLang="en-US" sz="2400" dirty="0">
                <a:solidFill>
                  <a:srgbClr val="639EF4"/>
                </a:solidFill>
                <a:latin typeface="Tahoma" panose="020B0604030504040204" pitchFamily="34" charset="0"/>
                <a:ea typeface="华文中宋" panose="02010600040101010101" pitchFamily="2" charset="-122"/>
              </a:rPr>
              <a:t>[填空4]</a:t>
            </a:r>
            <a:r>
              <a:rPr lang="zh-CN" altLang="en-US" sz="2400" dirty="0">
                <a:latin typeface="Tahoma" panose="020B0604030504040204" pitchFamily="34" charset="0"/>
                <a:ea typeface="华文中宋" panose="02010600040101010101" pitchFamily="2" charset="-122"/>
              </a:rPr>
              <a:t> 。</a:t>
            </a:r>
            <a:endParaRPr lang="zh-CN" altLang="en-US" sz="2400" dirty="0">
              <a:solidFill>
                <a:srgbClr val="000000"/>
              </a:solidFill>
              <a:latin typeface="微软雅黑" panose="020B0503020204020204" charset="-122"/>
              <a:ea typeface="微软雅黑" panose="020B0503020204020204" charset="-122"/>
            </a:endParaRPr>
          </a:p>
        </p:txBody>
      </p:sp>
      <p:sp>
        <p:nvSpPr>
          <p:cNvPr id="9218" name="圆角矩形 3"/>
          <p:cNvSpPr/>
          <p:nvPr>
            <p:custDataLst>
              <p:tags r:id="rId2"/>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round/>
            <a:headEnd type="none" w="med" len="med"/>
            <a:tailEnd type="none" w="med" len="med"/>
          </a:ln>
        </p:spPr>
        <p:txBody>
          <a:bodyPr wrap="square" lIns="90000" tIns="46800" rIns="90000" bIns="46800" anchor="ctr" anchorCtr="1"/>
          <a:lstStyle/>
          <a:p>
            <a:pPr>
              <a:buSzTx/>
            </a:pP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sp>
        <p:nvSpPr>
          <p:cNvPr id="9219" name="矩形 9"/>
          <p:cNvSpPr/>
          <p:nvPr>
            <p:custDataLst>
              <p:tags r:id="rId3"/>
            </p:custDataLst>
          </p:nvPr>
        </p:nvSpPr>
        <p:spPr>
          <a:xfrm>
            <a:off x="0" y="5848350"/>
            <a:ext cx="9144000" cy="366713"/>
          </a:xfrm>
          <a:prstGeom prst="rect">
            <a:avLst/>
          </a:prstGeom>
          <a:solidFill>
            <a:srgbClr val="FBFAEF"/>
          </a:solidFill>
          <a:ln w="9525">
            <a:noFill/>
          </a:ln>
        </p:spPr>
        <p:txBody>
          <a:bodyPr wrap="none" lIns="90000" tIns="46800" rIns="90000" bIns="46800" anchor="ctr" anchorCtr="1"/>
          <a:lstStyle/>
          <a:p>
            <a:pPr>
              <a:buSzTx/>
            </a:pPr>
            <a:r>
              <a:rPr lang="zh-CN" altLang="en-US" sz="1200">
                <a:solidFill>
                  <a:srgbClr val="F84F41"/>
                </a:solidFill>
                <a:latin typeface="微软雅黑" panose="020B0503020204020204" charset="-122"/>
                <a:ea typeface="微软雅黑" panose="020B0503020204020204" charset="-122"/>
              </a:rPr>
              <a:t>正常使用填空题需3.0以上版本雨课堂</a:t>
            </a:r>
            <a:endParaRPr lang="zh-CN" altLang="en-US" sz="1200">
              <a:solidFill>
                <a:srgbClr val="F84F41"/>
              </a:solidFill>
              <a:latin typeface="微软雅黑" panose="020B0503020204020204" charset="-122"/>
              <a:ea typeface="微软雅黑" panose="020B0503020204020204" charset="-122"/>
            </a:endParaRPr>
          </a:p>
        </p:txBody>
      </p:sp>
      <p:grpSp>
        <p:nvGrpSpPr>
          <p:cNvPr id="9220" name="Group 4"/>
          <p:cNvGrpSpPr/>
          <p:nvPr/>
        </p:nvGrpSpPr>
        <p:grpSpPr>
          <a:xfrm>
            <a:off x="1917700" y="2174875"/>
            <a:ext cx="5029200" cy="3835400"/>
            <a:chOff x="0" y="0"/>
            <a:chExt cx="7481" cy="6039"/>
          </a:xfrm>
        </p:grpSpPr>
        <p:grpSp>
          <p:nvGrpSpPr>
            <p:cNvPr id="9221" name="Group 5"/>
            <p:cNvGrpSpPr/>
            <p:nvPr/>
          </p:nvGrpSpPr>
          <p:grpSpPr>
            <a:xfrm>
              <a:off x="80" y="0"/>
              <a:ext cx="7401" cy="2979"/>
              <a:chOff x="0" y="0"/>
              <a:chExt cx="20000" cy="20853"/>
            </a:xfrm>
          </p:grpSpPr>
          <p:grpSp>
            <p:nvGrpSpPr>
              <p:cNvPr id="9222" name="Group 6"/>
              <p:cNvGrpSpPr/>
              <p:nvPr/>
            </p:nvGrpSpPr>
            <p:grpSpPr>
              <a:xfrm>
                <a:off x="0" y="0"/>
                <a:ext cx="20000" cy="17500"/>
                <a:chOff x="0" y="0"/>
                <a:chExt cx="20000" cy="21251"/>
              </a:xfrm>
            </p:grpSpPr>
            <p:grpSp>
              <p:nvGrpSpPr>
                <p:cNvPr id="9223" name="Group 7"/>
                <p:cNvGrpSpPr/>
                <p:nvPr/>
              </p:nvGrpSpPr>
              <p:grpSpPr>
                <a:xfrm>
                  <a:off x="0" y="0"/>
                  <a:ext cx="8488" cy="20588"/>
                  <a:chOff x="0" y="0"/>
                  <a:chExt cx="20001" cy="21800"/>
                </a:xfrm>
              </p:grpSpPr>
              <p:sp>
                <p:nvSpPr>
                  <p:cNvPr id="9224" name="Line 25"/>
                  <p:cNvSpPr/>
                  <p:nvPr/>
                </p:nvSpPr>
                <p:spPr>
                  <a:xfrm>
                    <a:off x="4713" y="10802"/>
                    <a:ext cx="10193" cy="18"/>
                  </a:xfrm>
                  <a:prstGeom prst="line">
                    <a:avLst/>
                  </a:prstGeom>
                  <a:ln w="12700" cap="flat" cmpd="sng">
                    <a:solidFill>
                      <a:srgbClr val="0000FF"/>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25" name="Line 26"/>
                  <p:cNvSpPr/>
                  <p:nvPr/>
                </p:nvSpPr>
                <p:spPr>
                  <a:xfrm>
                    <a:off x="1784" y="10"/>
                    <a:ext cx="7" cy="21790"/>
                  </a:xfrm>
                  <a:prstGeom prst="line">
                    <a:avLst/>
                  </a:prstGeom>
                  <a:ln w="9525" cap="flat" cmpd="sng">
                    <a:solidFill>
                      <a:srgbClr val="000000"/>
                    </a:solidFill>
                    <a:prstDash val="solid"/>
                    <a:round/>
                    <a:headEnd type="triangle" w="sm" len="sm"/>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26" name="Line 27"/>
                  <p:cNvSpPr/>
                  <p:nvPr/>
                </p:nvSpPr>
                <p:spPr>
                  <a:xfrm>
                    <a:off x="1784" y="15130"/>
                    <a:ext cx="16433" cy="10"/>
                  </a:xfrm>
                  <a:prstGeom prst="line">
                    <a:avLst/>
                  </a:prstGeom>
                  <a:ln w="9525" cap="flat" cmpd="sng">
                    <a:solidFill>
                      <a:srgbClr val="000000"/>
                    </a:solidFill>
                    <a:prstDash val="solid"/>
                    <a:round/>
                    <a:headEnd type="none" w="med" len="med"/>
                    <a:tailEnd type="triangle"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27" name="Line 28"/>
                  <p:cNvSpPr/>
                  <p:nvPr/>
                </p:nvSpPr>
                <p:spPr>
                  <a:xfrm>
                    <a:off x="11970" y="10810"/>
                    <a:ext cx="7" cy="4510"/>
                  </a:xfrm>
                  <a:prstGeom prst="line">
                    <a:avLst/>
                  </a:prstGeom>
                  <a:ln w="3175" cap="flat" cmpd="sng">
                    <a:solidFill>
                      <a:srgbClr val="000000"/>
                    </a:solidFill>
                    <a:prstDash val="solid"/>
                    <a:round/>
                    <a:headEnd type="arrow" w="sm" len="sm"/>
                    <a:tailEnd type="arrow"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28" name="Rectangle 29"/>
                  <p:cNvSpPr/>
                  <p:nvPr/>
                </p:nvSpPr>
                <p:spPr>
                  <a:xfrm>
                    <a:off x="0" y="0"/>
                    <a:ext cx="2427" cy="4142"/>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endParaRPr lang="en-US" altLang="zh-CN" sz="1400">
                      <a:latin typeface="Times New Roman" panose="02020603050405020304" pitchFamily="18" charset="0"/>
                      <a:ea typeface="宋体" panose="02010600030101010101" pitchFamily="2" charset="-122"/>
                    </a:endParaRPr>
                  </a:p>
                </p:txBody>
              </p:sp>
              <p:sp>
                <p:nvSpPr>
                  <p:cNvPr id="9229" name="Rectangle 30"/>
                  <p:cNvSpPr/>
                  <p:nvPr/>
                </p:nvSpPr>
                <p:spPr>
                  <a:xfrm>
                    <a:off x="509" y="13150"/>
                    <a:ext cx="1534" cy="325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0</a:t>
                    </a:r>
                    <a:endParaRPr lang="en-US" altLang="zh-CN" sz="1400">
                      <a:latin typeface="Times New Roman" panose="02020603050405020304" pitchFamily="18" charset="0"/>
                      <a:ea typeface="宋体" panose="02010600030101010101" pitchFamily="2" charset="-122"/>
                    </a:endParaRPr>
                  </a:p>
                </p:txBody>
              </p:sp>
              <p:sp>
                <p:nvSpPr>
                  <p:cNvPr id="9230" name="Rectangle 31"/>
                  <p:cNvSpPr/>
                  <p:nvPr/>
                </p:nvSpPr>
                <p:spPr>
                  <a:xfrm>
                    <a:off x="18592" y="12970"/>
                    <a:ext cx="1409" cy="324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t</a:t>
                    </a:r>
                    <a:endParaRPr lang="en-US" altLang="zh-CN" sz="1400">
                      <a:latin typeface="Times New Roman" panose="02020603050405020304" pitchFamily="18" charset="0"/>
                      <a:ea typeface="宋体" panose="02010600030101010101" pitchFamily="2" charset="-122"/>
                    </a:endParaRPr>
                  </a:p>
                </p:txBody>
              </p:sp>
              <p:sp>
                <p:nvSpPr>
                  <p:cNvPr id="9231" name="Rectangle 32"/>
                  <p:cNvSpPr/>
                  <p:nvPr/>
                </p:nvSpPr>
                <p:spPr>
                  <a:xfrm>
                    <a:off x="12225" y="10800"/>
                    <a:ext cx="3829" cy="343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max</a:t>
                    </a:r>
                    <a:endParaRPr lang="en-US" altLang="zh-CN" sz="1400">
                      <a:latin typeface="Times New Roman" panose="02020603050405020304" pitchFamily="18" charset="0"/>
                      <a:ea typeface="宋体" panose="02010600030101010101" pitchFamily="2" charset="-122"/>
                    </a:endParaRPr>
                  </a:p>
                </p:txBody>
              </p:sp>
              <p:sp>
                <p:nvSpPr>
                  <p:cNvPr id="9232" name="Line 33"/>
                  <p:cNvSpPr/>
                  <p:nvPr/>
                </p:nvSpPr>
                <p:spPr>
                  <a:xfrm flipH="1">
                    <a:off x="1784" y="10800"/>
                    <a:ext cx="2933" cy="4330"/>
                  </a:xfrm>
                  <a:prstGeom prst="line">
                    <a:avLst/>
                  </a:prstGeom>
                  <a:ln w="12700" cap="flat" cmpd="sng">
                    <a:solidFill>
                      <a:srgbClr val="0000FF"/>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grpSp>
            <p:grpSp>
              <p:nvGrpSpPr>
                <p:cNvPr id="9233" name="Group 17"/>
                <p:cNvGrpSpPr/>
                <p:nvPr/>
              </p:nvGrpSpPr>
              <p:grpSpPr>
                <a:xfrm>
                  <a:off x="11188" y="162"/>
                  <a:ext cx="8812" cy="21089"/>
                  <a:chOff x="0" y="0"/>
                  <a:chExt cx="20000" cy="21089"/>
                </a:xfrm>
              </p:grpSpPr>
              <p:sp>
                <p:nvSpPr>
                  <p:cNvPr id="9234" name="Line 35"/>
                  <p:cNvSpPr/>
                  <p:nvPr/>
                </p:nvSpPr>
                <p:spPr>
                  <a:xfrm>
                    <a:off x="2331" y="9180"/>
                    <a:ext cx="12517" cy="8"/>
                  </a:xfrm>
                  <a:prstGeom prst="line">
                    <a:avLst/>
                  </a:prstGeom>
                  <a:ln w="3175" cap="flat" cmpd="sng">
                    <a:solidFill>
                      <a:srgbClr val="000000"/>
                    </a:solidFill>
                    <a:prstDash val="sysDashDot"/>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35" name="Line 36"/>
                  <p:cNvSpPr/>
                  <p:nvPr/>
                </p:nvSpPr>
                <p:spPr>
                  <a:xfrm>
                    <a:off x="2206" y="510"/>
                    <a:ext cx="7" cy="20579"/>
                  </a:xfrm>
                  <a:prstGeom prst="line">
                    <a:avLst/>
                  </a:prstGeom>
                  <a:ln w="9525" cap="flat" cmpd="sng">
                    <a:solidFill>
                      <a:srgbClr val="000000"/>
                    </a:solidFill>
                    <a:prstDash val="solid"/>
                    <a:round/>
                    <a:headEnd type="triangle" w="sm" len="sm"/>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36" name="Line 37"/>
                  <p:cNvSpPr/>
                  <p:nvPr/>
                </p:nvSpPr>
                <p:spPr>
                  <a:xfrm>
                    <a:off x="2206" y="18360"/>
                    <a:ext cx="15831" cy="9"/>
                  </a:xfrm>
                  <a:prstGeom prst="line">
                    <a:avLst/>
                  </a:prstGeom>
                  <a:ln w="9525" cap="flat" cmpd="sng">
                    <a:solidFill>
                      <a:srgbClr val="000000"/>
                    </a:solidFill>
                    <a:prstDash val="solid"/>
                    <a:round/>
                    <a:headEnd type="none" w="med" len="med"/>
                    <a:tailEnd type="triangle"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37" name="Line 38"/>
                  <p:cNvSpPr/>
                  <p:nvPr/>
                </p:nvSpPr>
                <p:spPr>
                  <a:xfrm>
                    <a:off x="14106" y="9180"/>
                    <a:ext cx="7" cy="9359"/>
                  </a:xfrm>
                  <a:prstGeom prst="line">
                    <a:avLst/>
                  </a:prstGeom>
                  <a:ln w="3175" cap="flat" cmpd="sng">
                    <a:solidFill>
                      <a:srgbClr val="000000"/>
                    </a:solidFill>
                    <a:prstDash val="solid"/>
                    <a:round/>
                    <a:headEnd type="arrow" w="sm" len="sm"/>
                    <a:tailEnd type="arrow"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38" name="Line 39"/>
                  <p:cNvSpPr/>
                  <p:nvPr/>
                </p:nvSpPr>
                <p:spPr>
                  <a:xfrm>
                    <a:off x="3679" y="2550"/>
                    <a:ext cx="13500" cy="8"/>
                  </a:xfrm>
                  <a:prstGeom prst="line">
                    <a:avLst/>
                  </a:prstGeom>
                  <a:ln w="317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39" name="Line 40"/>
                  <p:cNvSpPr/>
                  <p:nvPr/>
                </p:nvSpPr>
                <p:spPr>
                  <a:xfrm>
                    <a:off x="16437" y="2550"/>
                    <a:ext cx="4" cy="15819"/>
                  </a:xfrm>
                  <a:prstGeom prst="line">
                    <a:avLst/>
                  </a:prstGeom>
                  <a:ln w="3175" cap="flat" cmpd="sng">
                    <a:solidFill>
                      <a:srgbClr val="000000"/>
                    </a:solidFill>
                    <a:prstDash val="solid"/>
                    <a:round/>
                    <a:headEnd type="arrow" w="sm" len="sm"/>
                    <a:tailEnd type="arrow"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40" name="Rectangle 41"/>
                  <p:cNvSpPr/>
                  <p:nvPr/>
                </p:nvSpPr>
                <p:spPr>
                  <a:xfrm>
                    <a:off x="0" y="0"/>
                    <a:ext cx="2335" cy="391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endParaRPr lang="en-US" altLang="zh-CN" sz="1400">
                      <a:latin typeface="Times New Roman" panose="02020603050405020304" pitchFamily="18" charset="0"/>
                      <a:ea typeface="宋体" panose="02010600030101010101" pitchFamily="2" charset="-122"/>
                    </a:endParaRPr>
                  </a:p>
                </p:txBody>
              </p:sp>
              <p:sp>
                <p:nvSpPr>
                  <p:cNvPr id="9241" name="Rectangle 42"/>
                  <p:cNvSpPr/>
                  <p:nvPr/>
                </p:nvSpPr>
                <p:spPr>
                  <a:xfrm>
                    <a:off x="980" y="16652"/>
                    <a:ext cx="1478" cy="306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0</a:t>
                    </a:r>
                    <a:endParaRPr lang="en-US" altLang="zh-CN" sz="1400">
                      <a:latin typeface="Times New Roman" panose="02020603050405020304" pitchFamily="18" charset="0"/>
                      <a:ea typeface="宋体" panose="02010600030101010101" pitchFamily="2" charset="-122"/>
                    </a:endParaRPr>
                  </a:p>
                </p:txBody>
              </p:sp>
              <p:sp>
                <p:nvSpPr>
                  <p:cNvPr id="9242" name="Rectangle 43"/>
                  <p:cNvSpPr/>
                  <p:nvPr/>
                </p:nvSpPr>
                <p:spPr>
                  <a:xfrm>
                    <a:off x="18398" y="16482"/>
                    <a:ext cx="1357" cy="306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t</a:t>
                    </a:r>
                    <a:endParaRPr lang="en-US" altLang="zh-CN" sz="1400">
                      <a:latin typeface="Times New Roman" panose="02020603050405020304" pitchFamily="18" charset="0"/>
                      <a:ea typeface="宋体" panose="02010600030101010101" pitchFamily="2" charset="-122"/>
                    </a:endParaRPr>
                  </a:p>
                </p:txBody>
              </p:sp>
              <p:sp>
                <p:nvSpPr>
                  <p:cNvPr id="9243" name="Rectangle 44"/>
                  <p:cNvSpPr/>
                  <p:nvPr/>
                </p:nvSpPr>
                <p:spPr>
                  <a:xfrm>
                    <a:off x="16682" y="8840"/>
                    <a:ext cx="3318" cy="3409"/>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max</a:t>
                    </a:r>
                    <a:endParaRPr lang="en-US" altLang="zh-CN" sz="1400">
                      <a:latin typeface="Times New Roman" panose="02020603050405020304" pitchFamily="18" charset="0"/>
                      <a:ea typeface="宋体" panose="02010600030101010101" pitchFamily="2" charset="-122"/>
                    </a:endParaRPr>
                  </a:p>
                </p:txBody>
              </p:sp>
              <p:sp>
                <p:nvSpPr>
                  <p:cNvPr id="9244" name="Rectangle 45"/>
                  <p:cNvSpPr/>
                  <p:nvPr/>
                </p:nvSpPr>
                <p:spPr>
                  <a:xfrm>
                    <a:off x="14228" y="12070"/>
                    <a:ext cx="2215" cy="3239"/>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m</a:t>
                    </a:r>
                    <a:endParaRPr lang="en-US" altLang="zh-CN" sz="1400">
                      <a:latin typeface="Times New Roman" panose="02020603050405020304" pitchFamily="18" charset="0"/>
                      <a:ea typeface="宋体" panose="02010600030101010101" pitchFamily="2" charset="-122"/>
                    </a:endParaRPr>
                  </a:p>
                </p:txBody>
              </p:sp>
              <p:sp>
                <p:nvSpPr>
                  <p:cNvPr id="9245" name="Rectangle 46"/>
                  <p:cNvSpPr/>
                  <p:nvPr/>
                </p:nvSpPr>
                <p:spPr>
                  <a:xfrm>
                    <a:off x="8709" y="14790"/>
                    <a:ext cx="2828" cy="408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min</a:t>
                    </a:r>
                    <a:endParaRPr lang="en-US" altLang="zh-CN" sz="1400">
                      <a:latin typeface="Times New Roman" panose="02020603050405020304" pitchFamily="18" charset="0"/>
                      <a:ea typeface="宋体" panose="02010600030101010101" pitchFamily="2" charset="-122"/>
                    </a:endParaRPr>
                  </a:p>
                </p:txBody>
              </p:sp>
              <p:grpSp>
                <p:nvGrpSpPr>
                  <p:cNvPr id="9246" name="Group 30"/>
                  <p:cNvGrpSpPr/>
                  <p:nvPr/>
                </p:nvGrpSpPr>
                <p:grpSpPr>
                  <a:xfrm>
                    <a:off x="2299" y="2720"/>
                    <a:ext cx="10586" cy="12759"/>
                    <a:chOff x="0" y="0"/>
                    <a:chExt cx="20003" cy="20000"/>
                  </a:xfrm>
                </p:grpSpPr>
                <p:grpSp>
                  <p:nvGrpSpPr>
                    <p:cNvPr id="9247" name="Group 31"/>
                    <p:cNvGrpSpPr/>
                    <p:nvPr/>
                  </p:nvGrpSpPr>
                  <p:grpSpPr>
                    <a:xfrm>
                      <a:off x="0" y="0"/>
                      <a:ext cx="4996" cy="9620"/>
                      <a:chOff x="0" y="0"/>
                      <a:chExt cx="20004" cy="20000"/>
                    </a:xfrm>
                  </p:grpSpPr>
                  <p:sp>
                    <p:nvSpPr>
                      <p:cNvPr id="9248" name="Arc 49"/>
                      <p:cNvSpPr/>
                      <p:nvPr/>
                    </p:nvSpPr>
                    <p:spPr>
                      <a:xfrm flipH="1">
                        <a:off x="0" y="27"/>
                        <a:ext cx="9790" cy="19973"/>
                      </a:xfrm>
                      <a:custGeom>
                        <a:avLst/>
                        <a:gdLst/>
                        <a:ahLst/>
                        <a:cxnLst>
                          <a:cxn ang="0">
                            <a:pos x="0" y="0"/>
                          </a:cxn>
                          <a:cxn ang="0">
                            <a:pos x="9790" y="19973"/>
                          </a:cxn>
                          <a:cxn ang="0">
                            <a:pos x="0" y="0"/>
                          </a:cxn>
                          <a:cxn ang="0">
                            <a:pos x="9790" y="19973"/>
                          </a:cxn>
                          <a:cxn ang="0">
                            <a:pos x="0" y="19973"/>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49" name="Arc 50"/>
                      <p:cNvSpPr/>
                      <p:nvPr/>
                    </p:nvSpPr>
                    <p:spPr>
                      <a:xfrm>
                        <a:off x="10222" y="0"/>
                        <a:ext cx="9782" cy="19971"/>
                      </a:xfrm>
                      <a:custGeom>
                        <a:avLst/>
                        <a:gdLst/>
                        <a:ahLst/>
                        <a:cxnLst>
                          <a:cxn ang="0">
                            <a:pos x="0" y="0"/>
                          </a:cxn>
                          <a:cxn ang="0">
                            <a:pos x="9782" y="19971"/>
                          </a:cxn>
                          <a:cxn ang="0">
                            <a:pos x="0" y="0"/>
                          </a:cxn>
                          <a:cxn ang="0">
                            <a:pos x="9782" y="19971"/>
                          </a:cxn>
                          <a:cxn ang="0">
                            <a:pos x="0" y="19971"/>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grpSp>
                <p:grpSp>
                  <p:nvGrpSpPr>
                    <p:cNvPr id="9250" name="Group 34"/>
                    <p:cNvGrpSpPr/>
                    <p:nvPr/>
                  </p:nvGrpSpPr>
                  <p:grpSpPr>
                    <a:xfrm>
                      <a:off x="4996" y="10112"/>
                      <a:ext cx="5005" cy="9622"/>
                      <a:chOff x="0" y="0"/>
                      <a:chExt cx="20000" cy="20000"/>
                    </a:xfrm>
                  </p:grpSpPr>
                  <p:sp>
                    <p:nvSpPr>
                      <p:cNvPr id="9251" name="Arc 52"/>
                      <p:cNvSpPr/>
                      <p:nvPr/>
                    </p:nvSpPr>
                    <p:spPr>
                      <a:xfrm flipH="1" flipV="1">
                        <a:off x="0" y="0"/>
                        <a:ext cx="9770" cy="19971"/>
                      </a:xfrm>
                      <a:custGeom>
                        <a:avLst/>
                        <a:gdLst/>
                        <a:ahLst/>
                        <a:cxnLst>
                          <a:cxn ang="0">
                            <a:pos x="0" y="0"/>
                          </a:cxn>
                          <a:cxn ang="0">
                            <a:pos x="9770" y="19971"/>
                          </a:cxn>
                          <a:cxn ang="0">
                            <a:pos x="0" y="0"/>
                          </a:cxn>
                          <a:cxn ang="0">
                            <a:pos x="9770" y="19971"/>
                          </a:cxn>
                          <a:cxn ang="0">
                            <a:pos x="0" y="19971"/>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52" name="Arc 53"/>
                      <p:cNvSpPr/>
                      <p:nvPr/>
                    </p:nvSpPr>
                    <p:spPr>
                      <a:xfrm flipV="1">
                        <a:off x="10230" y="29"/>
                        <a:ext cx="9770" cy="19971"/>
                      </a:xfrm>
                      <a:custGeom>
                        <a:avLst/>
                        <a:gdLst/>
                        <a:ahLst/>
                        <a:cxnLst>
                          <a:cxn ang="0">
                            <a:pos x="0" y="0"/>
                          </a:cxn>
                          <a:cxn ang="0">
                            <a:pos x="9770" y="19971"/>
                          </a:cxn>
                          <a:cxn ang="0">
                            <a:pos x="0" y="0"/>
                          </a:cxn>
                          <a:cxn ang="0">
                            <a:pos x="9770" y="19971"/>
                          </a:cxn>
                          <a:cxn ang="0">
                            <a:pos x="0" y="19971"/>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grpSp>
                <p:sp>
                  <p:nvSpPr>
                    <p:cNvPr id="9253" name="Arc 54"/>
                    <p:cNvSpPr/>
                    <p:nvPr/>
                  </p:nvSpPr>
                  <p:spPr>
                    <a:xfrm flipH="1">
                      <a:off x="9988" y="279"/>
                      <a:ext cx="2449" cy="9608"/>
                    </a:xfrm>
                    <a:custGeom>
                      <a:avLst/>
                      <a:gdLst/>
                      <a:ahLst/>
                      <a:cxnLst>
                        <a:cxn ang="0">
                          <a:pos x="0" y="0"/>
                        </a:cxn>
                        <a:cxn ang="0">
                          <a:pos x="2449" y="9608"/>
                        </a:cxn>
                        <a:cxn ang="0">
                          <a:pos x="0" y="0"/>
                        </a:cxn>
                        <a:cxn ang="0">
                          <a:pos x="2449" y="9608"/>
                        </a:cxn>
                        <a:cxn ang="0">
                          <a:pos x="0" y="9608"/>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54" name="Arc 55"/>
                    <p:cNvSpPr/>
                    <p:nvPr/>
                  </p:nvSpPr>
                  <p:spPr>
                    <a:xfrm>
                      <a:off x="12552" y="266"/>
                      <a:ext cx="2445" cy="9606"/>
                    </a:xfrm>
                    <a:custGeom>
                      <a:avLst/>
                      <a:gdLst/>
                      <a:ahLst/>
                      <a:cxnLst>
                        <a:cxn ang="0">
                          <a:pos x="0" y="0"/>
                        </a:cxn>
                        <a:cxn ang="0">
                          <a:pos x="2445" y="9606"/>
                        </a:cxn>
                        <a:cxn ang="0">
                          <a:pos x="0" y="0"/>
                        </a:cxn>
                        <a:cxn ang="0">
                          <a:pos x="2445" y="9606"/>
                        </a:cxn>
                        <a:cxn ang="0">
                          <a:pos x="0" y="9606"/>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55" name="Arc 56"/>
                    <p:cNvSpPr/>
                    <p:nvPr/>
                  </p:nvSpPr>
                  <p:spPr>
                    <a:xfrm flipH="1" flipV="1">
                      <a:off x="14984" y="10379"/>
                      <a:ext cx="2445" cy="9607"/>
                    </a:xfrm>
                    <a:custGeom>
                      <a:avLst/>
                      <a:gdLst/>
                      <a:ahLst/>
                      <a:cxnLst>
                        <a:cxn ang="0">
                          <a:pos x="0" y="0"/>
                        </a:cxn>
                        <a:cxn ang="0">
                          <a:pos x="2445" y="9607"/>
                        </a:cxn>
                        <a:cxn ang="0">
                          <a:pos x="0" y="0"/>
                        </a:cxn>
                        <a:cxn ang="0">
                          <a:pos x="2445" y="9607"/>
                        </a:cxn>
                        <a:cxn ang="0">
                          <a:pos x="0" y="9607"/>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56" name="Arc 57"/>
                    <p:cNvSpPr/>
                    <p:nvPr/>
                  </p:nvSpPr>
                  <p:spPr>
                    <a:xfrm flipV="1">
                      <a:off x="17557" y="10393"/>
                      <a:ext cx="2446" cy="9607"/>
                    </a:xfrm>
                    <a:custGeom>
                      <a:avLst/>
                      <a:gdLst/>
                      <a:ahLst/>
                      <a:cxnLst>
                        <a:cxn ang="0">
                          <a:pos x="0" y="0"/>
                        </a:cxn>
                        <a:cxn ang="0">
                          <a:pos x="2446" y="9607"/>
                        </a:cxn>
                        <a:cxn ang="0">
                          <a:pos x="0" y="0"/>
                        </a:cxn>
                        <a:cxn ang="0">
                          <a:pos x="2446" y="9607"/>
                        </a:cxn>
                        <a:cxn ang="0">
                          <a:pos x="0" y="9607"/>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grpSp>
              <p:sp>
                <p:nvSpPr>
                  <p:cNvPr id="9257" name="Line 58"/>
                  <p:cNvSpPr/>
                  <p:nvPr/>
                </p:nvSpPr>
                <p:spPr>
                  <a:xfrm>
                    <a:off x="6378" y="15300"/>
                    <a:ext cx="3073" cy="9"/>
                  </a:xfrm>
                  <a:prstGeom prst="line">
                    <a:avLst/>
                  </a:prstGeom>
                  <a:ln w="317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58" name="Line 59"/>
                  <p:cNvSpPr/>
                  <p:nvPr/>
                </p:nvSpPr>
                <p:spPr>
                  <a:xfrm>
                    <a:off x="8586" y="9180"/>
                    <a:ext cx="7" cy="6129"/>
                  </a:xfrm>
                  <a:prstGeom prst="line">
                    <a:avLst/>
                  </a:prstGeom>
                  <a:ln w="3175" cap="flat" cmpd="sng">
                    <a:solidFill>
                      <a:srgbClr val="000000"/>
                    </a:solidFill>
                    <a:prstDash val="solid"/>
                    <a:round/>
                    <a:headEnd type="arrow" w="sm" len="sm"/>
                    <a:tailEnd type="arrow"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59" name="Line 60"/>
                  <p:cNvSpPr/>
                  <p:nvPr/>
                </p:nvSpPr>
                <p:spPr>
                  <a:xfrm>
                    <a:off x="8586" y="15300"/>
                    <a:ext cx="7" cy="3069"/>
                  </a:xfrm>
                  <a:prstGeom prst="line">
                    <a:avLst/>
                  </a:prstGeom>
                  <a:ln w="3175" cap="flat" cmpd="sng">
                    <a:solidFill>
                      <a:srgbClr val="000000"/>
                    </a:solidFill>
                    <a:prstDash val="solid"/>
                    <a:round/>
                    <a:headEnd type="arrow" w="sm" len="sm"/>
                    <a:tailEnd type="arrow"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60" name="Rectangle 61"/>
                  <p:cNvSpPr/>
                  <p:nvPr/>
                </p:nvSpPr>
                <p:spPr>
                  <a:xfrm>
                    <a:off x="8586" y="10370"/>
                    <a:ext cx="2090" cy="3919"/>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a</a:t>
                    </a:r>
                    <a:endParaRPr lang="en-US" altLang="zh-CN" sz="1400">
                      <a:latin typeface="Times New Roman" panose="02020603050405020304" pitchFamily="18" charset="0"/>
                      <a:ea typeface="宋体" panose="02010600030101010101" pitchFamily="2" charset="-122"/>
                    </a:endParaRPr>
                  </a:p>
                </p:txBody>
              </p:sp>
            </p:grpSp>
          </p:grpSp>
          <p:sp>
            <p:nvSpPr>
              <p:cNvPr id="9261" name="Rectangle 62"/>
              <p:cNvSpPr/>
              <p:nvPr/>
            </p:nvSpPr>
            <p:spPr>
              <a:xfrm>
                <a:off x="3297" y="17906"/>
                <a:ext cx="1624" cy="2667"/>
              </a:xfrm>
              <a:prstGeom prst="rect">
                <a:avLst/>
              </a:prstGeom>
              <a:noFill/>
              <a:ln w="9525">
                <a:noFill/>
              </a:ln>
            </p:spPr>
            <p:txBody>
              <a:bodyPr lIns="12700" tIns="12700" rIns="12700" bIns="12700" anchor="t" anchorCtr="0"/>
              <a:lstStyle/>
              <a:p>
                <a:pPr algn="ctr" eaLnBrk="0" hangingPunct="0"/>
                <a:r>
                  <a:rPr lang="en-US" altLang="zh-CN" sz="1400">
                    <a:latin typeface="Times New Roman" panose="02020603050405020304" pitchFamily="18" charset="0"/>
                    <a:ea typeface="宋体" panose="02010600030101010101" pitchFamily="2" charset="-122"/>
                  </a:rPr>
                  <a:t>a)</a:t>
                </a:r>
                <a:endParaRPr lang="en-US" altLang="zh-CN" sz="1400">
                  <a:latin typeface="Times New Roman" panose="02020603050405020304" pitchFamily="18" charset="0"/>
                  <a:ea typeface="宋体" panose="02010600030101010101" pitchFamily="2" charset="-122"/>
                </a:endParaRPr>
              </a:p>
            </p:txBody>
          </p:sp>
          <p:sp>
            <p:nvSpPr>
              <p:cNvPr id="9262" name="Rectangle 63"/>
              <p:cNvSpPr/>
              <p:nvPr/>
            </p:nvSpPr>
            <p:spPr>
              <a:xfrm>
                <a:off x="15133" y="17766"/>
                <a:ext cx="868" cy="3087"/>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b)</a:t>
                </a:r>
                <a:endParaRPr lang="en-US" altLang="zh-CN" sz="1400">
                  <a:latin typeface="Times New Roman" panose="02020603050405020304" pitchFamily="18" charset="0"/>
                  <a:ea typeface="宋体" panose="02010600030101010101" pitchFamily="2" charset="-122"/>
                </a:endParaRPr>
              </a:p>
            </p:txBody>
          </p:sp>
        </p:grpSp>
        <p:grpSp>
          <p:nvGrpSpPr>
            <p:cNvPr id="9263" name="Group 47"/>
            <p:cNvGrpSpPr/>
            <p:nvPr/>
          </p:nvGrpSpPr>
          <p:grpSpPr>
            <a:xfrm>
              <a:off x="0" y="3159"/>
              <a:ext cx="7441" cy="2880"/>
              <a:chOff x="0" y="0"/>
              <a:chExt cx="20005" cy="20160"/>
            </a:xfrm>
          </p:grpSpPr>
          <p:grpSp>
            <p:nvGrpSpPr>
              <p:cNvPr id="9264" name="Group 48"/>
              <p:cNvGrpSpPr/>
              <p:nvPr/>
            </p:nvGrpSpPr>
            <p:grpSpPr>
              <a:xfrm>
                <a:off x="0" y="0"/>
                <a:ext cx="20005" cy="17234"/>
                <a:chOff x="0" y="0"/>
                <a:chExt cx="20005" cy="19696"/>
              </a:xfrm>
            </p:grpSpPr>
            <p:grpSp>
              <p:nvGrpSpPr>
                <p:cNvPr id="9265" name="Group 49"/>
                <p:cNvGrpSpPr/>
                <p:nvPr/>
              </p:nvGrpSpPr>
              <p:grpSpPr>
                <a:xfrm>
                  <a:off x="0" y="0"/>
                  <a:ext cx="8767" cy="19368"/>
                  <a:chOff x="0" y="0"/>
                  <a:chExt cx="20004" cy="19368"/>
                </a:xfrm>
              </p:grpSpPr>
              <p:sp>
                <p:nvSpPr>
                  <p:cNvPr id="9266" name="Line 67"/>
                  <p:cNvSpPr/>
                  <p:nvPr/>
                </p:nvSpPr>
                <p:spPr>
                  <a:xfrm>
                    <a:off x="2332" y="9280"/>
                    <a:ext cx="12518" cy="8"/>
                  </a:xfrm>
                  <a:prstGeom prst="line">
                    <a:avLst/>
                  </a:prstGeom>
                  <a:ln w="9525" cap="flat" cmpd="sng">
                    <a:solidFill>
                      <a:srgbClr val="000000"/>
                    </a:solidFill>
                    <a:prstDash val="sysDashDot"/>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67" name="Line 68"/>
                  <p:cNvSpPr/>
                  <p:nvPr/>
                </p:nvSpPr>
                <p:spPr>
                  <a:xfrm>
                    <a:off x="2209" y="0"/>
                    <a:ext cx="7" cy="19368"/>
                  </a:xfrm>
                  <a:prstGeom prst="line">
                    <a:avLst/>
                  </a:prstGeom>
                  <a:ln w="9525" cap="flat" cmpd="sng">
                    <a:solidFill>
                      <a:srgbClr val="000000"/>
                    </a:solidFill>
                    <a:prstDash val="solid"/>
                    <a:round/>
                    <a:headEnd type="triangle" w="sm" len="sm"/>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68" name="Line 69"/>
                  <p:cNvSpPr/>
                  <p:nvPr/>
                </p:nvSpPr>
                <p:spPr>
                  <a:xfrm>
                    <a:off x="2209" y="15048"/>
                    <a:ext cx="15831" cy="8"/>
                  </a:xfrm>
                  <a:prstGeom prst="line">
                    <a:avLst/>
                  </a:prstGeom>
                  <a:ln w="9525" cap="flat" cmpd="sng">
                    <a:solidFill>
                      <a:srgbClr val="000000"/>
                    </a:solidFill>
                    <a:prstDash val="solid"/>
                    <a:round/>
                    <a:headEnd type="none" w="med" len="med"/>
                    <a:tailEnd type="triangle"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69" name="Line 70"/>
                  <p:cNvSpPr/>
                  <p:nvPr/>
                </p:nvSpPr>
                <p:spPr>
                  <a:xfrm>
                    <a:off x="14108" y="9280"/>
                    <a:ext cx="7" cy="5936"/>
                  </a:xfrm>
                  <a:prstGeom prst="line">
                    <a:avLst/>
                  </a:prstGeom>
                  <a:ln w="3175" cap="flat" cmpd="sng">
                    <a:solidFill>
                      <a:srgbClr val="000000"/>
                    </a:solidFill>
                    <a:prstDash val="solid"/>
                    <a:round/>
                    <a:headEnd type="arrow" w="sm" len="sm"/>
                    <a:tailEnd type="arrow"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70" name="Line 71"/>
                  <p:cNvSpPr/>
                  <p:nvPr/>
                </p:nvSpPr>
                <p:spPr>
                  <a:xfrm>
                    <a:off x="4295" y="3040"/>
                    <a:ext cx="12887" cy="8"/>
                  </a:xfrm>
                  <a:prstGeom prst="line">
                    <a:avLst/>
                  </a:prstGeom>
                  <a:ln w="317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71" name="Line 72"/>
                  <p:cNvSpPr/>
                  <p:nvPr/>
                </p:nvSpPr>
                <p:spPr>
                  <a:xfrm>
                    <a:off x="16438" y="3040"/>
                    <a:ext cx="7" cy="12016"/>
                  </a:xfrm>
                  <a:prstGeom prst="line">
                    <a:avLst/>
                  </a:prstGeom>
                  <a:ln w="3175" cap="flat" cmpd="sng">
                    <a:solidFill>
                      <a:srgbClr val="000000"/>
                    </a:solidFill>
                    <a:prstDash val="solid"/>
                    <a:round/>
                    <a:headEnd type="arrow" w="sm" len="sm"/>
                    <a:tailEnd type="arrow"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72" name="Rectangle 73"/>
                  <p:cNvSpPr/>
                  <p:nvPr/>
                </p:nvSpPr>
                <p:spPr>
                  <a:xfrm>
                    <a:off x="0" y="640"/>
                    <a:ext cx="2337" cy="368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endParaRPr lang="en-US" altLang="zh-CN" sz="1400">
                      <a:latin typeface="Times New Roman" panose="02020603050405020304" pitchFamily="18" charset="0"/>
                      <a:ea typeface="宋体" panose="02010600030101010101" pitchFamily="2" charset="-122"/>
                    </a:endParaRPr>
                  </a:p>
                </p:txBody>
              </p:sp>
              <p:sp>
                <p:nvSpPr>
                  <p:cNvPr id="9273" name="Rectangle 74"/>
                  <p:cNvSpPr/>
                  <p:nvPr/>
                </p:nvSpPr>
                <p:spPr>
                  <a:xfrm>
                    <a:off x="981" y="13288"/>
                    <a:ext cx="1479" cy="288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0</a:t>
                    </a:r>
                    <a:endParaRPr lang="en-US" altLang="zh-CN" sz="1400">
                      <a:latin typeface="Times New Roman" panose="02020603050405020304" pitchFamily="18" charset="0"/>
                      <a:ea typeface="宋体" panose="02010600030101010101" pitchFamily="2" charset="-122"/>
                    </a:endParaRPr>
                  </a:p>
                </p:txBody>
              </p:sp>
              <p:sp>
                <p:nvSpPr>
                  <p:cNvPr id="9274" name="Rectangle 75"/>
                  <p:cNvSpPr/>
                  <p:nvPr/>
                </p:nvSpPr>
                <p:spPr>
                  <a:xfrm>
                    <a:off x="18403" y="13128"/>
                    <a:ext cx="1355" cy="288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t</a:t>
                    </a:r>
                    <a:endParaRPr lang="en-US" altLang="zh-CN" sz="1400">
                      <a:latin typeface="Times New Roman" panose="02020603050405020304" pitchFamily="18" charset="0"/>
                      <a:ea typeface="宋体" panose="02010600030101010101" pitchFamily="2" charset="-122"/>
                    </a:endParaRPr>
                  </a:p>
                </p:txBody>
              </p:sp>
              <p:sp>
                <p:nvSpPr>
                  <p:cNvPr id="9275" name="Rectangle 76"/>
                  <p:cNvSpPr/>
                  <p:nvPr/>
                </p:nvSpPr>
                <p:spPr>
                  <a:xfrm>
                    <a:off x="16684" y="7200"/>
                    <a:ext cx="3320" cy="320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max</a:t>
                    </a:r>
                    <a:endParaRPr lang="en-US" altLang="zh-CN" sz="1400">
                      <a:latin typeface="Times New Roman" panose="02020603050405020304" pitchFamily="18" charset="0"/>
                      <a:ea typeface="宋体" panose="02010600030101010101" pitchFamily="2" charset="-122"/>
                    </a:endParaRPr>
                  </a:p>
                </p:txBody>
              </p:sp>
              <p:sp>
                <p:nvSpPr>
                  <p:cNvPr id="9276" name="Rectangle 77"/>
                  <p:cNvSpPr/>
                  <p:nvPr/>
                </p:nvSpPr>
                <p:spPr>
                  <a:xfrm>
                    <a:off x="14231" y="10400"/>
                    <a:ext cx="2216" cy="304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m</a:t>
                    </a:r>
                    <a:endParaRPr lang="en-US" altLang="zh-CN" sz="1400">
                      <a:latin typeface="Times New Roman" panose="02020603050405020304" pitchFamily="18" charset="0"/>
                      <a:ea typeface="宋体" panose="02010600030101010101" pitchFamily="2" charset="-122"/>
                    </a:endParaRPr>
                  </a:p>
                </p:txBody>
              </p:sp>
              <p:sp>
                <p:nvSpPr>
                  <p:cNvPr id="9277" name="Rectangle 78"/>
                  <p:cNvSpPr/>
                  <p:nvPr/>
                </p:nvSpPr>
                <p:spPr>
                  <a:xfrm>
                    <a:off x="5399" y="14408"/>
                    <a:ext cx="4545" cy="384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min</a:t>
                    </a:r>
                    <a:r>
                      <a:rPr lang="en-US" altLang="zh-CN" sz="1400">
                        <a:latin typeface="Times New Roman" panose="02020603050405020304" pitchFamily="18" charset="0"/>
                        <a:ea typeface="宋体" panose="02010600030101010101" pitchFamily="2" charset="-122"/>
                      </a:rPr>
                      <a:t>=0</a:t>
                    </a:r>
                    <a:endParaRPr lang="en-US" altLang="zh-CN" sz="1400">
                      <a:latin typeface="Times New Roman" panose="02020603050405020304" pitchFamily="18" charset="0"/>
                      <a:ea typeface="宋体" panose="02010600030101010101" pitchFamily="2" charset="-122"/>
                    </a:endParaRPr>
                  </a:p>
                </p:txBody>
              </p:sp>
              <p:grpSp>
                <p:nvGrpSpPr>
                  <p:cNvPr id="9278" name="Group 62"/>
                  <p:cNvGrpSpPr/>
                  <p:nvPr/>
                </p:nvGrpSpPr>
                <p:grpSpPr>
                  <a:xfrm>
                    <a:off x="2332" y="3200"/>
                    <a:ext cx="10678" cy="12008"/>
                    <a:chOff x="0" y="0"/>
                    <a:chExt cx="20004" cy="19999"/>
                  </a:xfrm>
                </p:grpSpPr>
                <p:grpSp>
                  <p:nvGrpSpPr>
                    <p:cNvPr id="9279" name="Group 63"/>
                    <p:cNvGrpSpPr/>
                    <p:nvPr/>
                  </p:nvGrpSpPr>
                  <p:grpSpPr>
                    <a:xfrm>
                      <a:off x="2008" y="0"/>
                      <a:ext cx="8033" cy="19733"/>
                      <a:chOff x="0" y="0"/>
                      <a:chExt cx="20003" cy="20000"/>
                    </a:xfrm>
                  </p:grpSpPr>
                  <p:grpSp>
                    <p:nvGrpSpPr>
                      <p:cNvPr id="9280" name="Group 64"/>
                      <p:cNvGrpSpPr/>
                      <p:nvPr/>
                    </p:nvGrpSpPr>
                    <p:grpSpPr>
                      <a:xfrm>
                        <a:off x="0" y="0"/>
                        <a:ext cx="9988" cy="9750"/>
                        <a:chOff x="0" y="0"/>
                        <a:chExt cx="20005" cy="20000"/>
                      </a:xfrm>
                    </p:grpSpPr>
                    <p:sp>
                      <p:nvSpPr>
                        <p:cNvPr id="9281" name="Arc 82"/>
                        <p:cNvSpPr/>
                        <p:nvPr/>
                      </p:nvSpPr>
                      <p:spPr>
                        <a:xfrm flipH="1">
                          <a:off x="0" y="27"/>
                          <a:ext cx="9810" cy="19973"/>
                        </a:xfrm>
                        <a:custGeom>
                          <a:avLst/>
                          <a:gdLst/>
                          <a:ahLst/>
                          <a:cxnLst>
                            <a:cxn ang="0">
                              <a:pos x="0" y="0"/>
                            </a:cxn>
                            <a:cxn ang="0">
                              <a:pos x="9810" y="19973"/>
                            </a:cxn>
                            <a:cxn ang="0">
                              <a:pos x="0" y="0"/>
                            </a:cxn>
                            <a:cxn ang="0">
                              <a:pos x="9810" y="19973"/>
                            </a:cxn>
                            <a:cxn ang="0">
                              <a:pos x="0" y="19973"/>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82" name="Arc 83"/>
                        <p:cNvSpPr/>
                        <p:nvPr/>
                      </p:nvSpPr>
                      <p:spPr>
                        <a:xfrm>
                          <a:off x="10215" y="0"/>
                          <a:ext cx="9790" cy="19973"/>
                        </a:xfrm>
                        <a:custGeom>
                          <a:avLst/>
                          <a:gdLst/>
                          <a:ahLst/>
                          <a:cxnLst>
                            <a:cxn ang="0">
                              <a:pos x="0" y="0"/>
                            </a:cxn>
                            <a:cxn ang="0">
                              <a:pos x="9790" y="19973"/>
                            </a:cxn>
                            <a:cxn ang="0">
                              <a:pos x="0" y="0"/>
                            </a:cxn>
                            <a:cxn ang="0">
                              <a:pos x="9790" y="19973"/>
                            </a:cxn>
                            <a:cxn ang="0">
                              <a:pos x="0" y="19973"/>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grpSp>
                  <p:grpSp>
                    <p:nvGrpSpPr>
                      <p:cNvPr id="9283" name="Group 67"/>
                      <p:cNvGrpSpPr/>
                      <p:nvPr/>
                    </p:nvGrpSpPr>
                    <p:grpSpPr>
                      <a:xfrm>
                        <a:off x="9988" y="10250"/>
                        <a:ext cx="10015" cy="9750"/>
                        <a:chOff x="0" y="0"/>
                        <a:chExt cx="19999" cy="20000"/>
                      </a:xfrm>
                    </p:grpSpPr>
                    <p:sp>
                      <p:nvSpPr>
                        <p:cNvPr id="9284" name="Arc 85"/>
                        <p:cNvSpPr/>
                        <p:nvPr/>
                      </p:nvSpPr>
                      <p:spPr>
                        <a:xfrm flipH="1" flipV="1">
                          <a:off x="0" y="0"/>
                          <a:ext cx="9771" cy="19973"/>
                        </a:xfrm>
                        <a:custGeom>
                          <a:avLst/>
                          <a:gdLst/>
                          <a:ahLst/>
                          <a:cxnLst>
                            <a:cxn ang="0">
                              <a:pos x="0" y="0"/>
                            </a:cxn>
                            <a:cxn ang="0">
                              <a:pos x="9771" y="19973"/>
                            </a:cxn>
                            <a:cxn ang="0">
                              <a:pos x="0" y="0"/>
                            </a:cxn>
                            <a:cxn ang="0">
                              <a:pos x="9771" y="19973"/>
                            </a:cxn>
                            <a:cxn ang="0">
                              <a:pos x="0" y="19973"/>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85" name="Arc 86"/>
                        <p:cNvSpPr/>
                        <p:nvPr/>
                      </p:nvSpPr>
                      <p:spPr>
                        <a:xfrm flipV="1">
                          <a:off x="10238" y="27"/>
                          <a:ext cx="9761" cy="19973"/>
                        </a:xfrm>
                        <a:custGeom>
                          <a:avLst/>
                          <a:gdLst/>
                          <a:ahLst/>
                          <a:cxnLst>
                            <a:cxn ang="0">
                              <a:pos x="0" y="0"/>
                            </a:cxn>
                            <a:cxn ang="0">
                              <a:pos x="9761" y="19973"/>
                            </a:cxn>
                            <a:cxn ang="0">
                              <a:pos x="0" y="0"/>
                            </a:cxn>
                            <a:cxn ang="0">
                              <a:pos x="9761" y="19973"/>
                            </a:cxn>
                            <a:cxn ang="0">
                              <a:pos x="0" y="19973"/>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grpSp>
                </p:grpSp>
                <p:sp>
                  <p:nvSpPr>
                    <p:cNvPr id="9286" name="Arc 87"/>
                    <p:cNvSpPr/>
                    <p:nvPr/>
                  </p:nvSpPr>
                  <p:spPr>
                    <a:xfrm flipH="1">
                      <a:off x="10032" y="280"/>
                      <a:ext cx="1961" cy="9606"/>
                    </a:xfrm>
                    <a:custGeom>
                      <a:avLst/>
                      <a:gdLst/>
                      <a:ahLst/>
                      <a:cxnLst>
                        <a:cxn ang="0">
                          <a:pos x="0" y="0"/>
                        </a:cxn>
                        <a:cxn ang="0">
                          <a:pos x="1961" y="9606"/>
                        </a:cxn>
                        <a:cxn ang="0">
                          <a:pos x="0" y="0"/>
                        </a:cxn>
                        <a:cxn ang="0">
                          <a:pos x="1961" y="9606"/>
                        </a:cxn>
                        <a:cxn ang="0">
                          <a:pos x="0" y="9606"/>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87" name="Arc 88"/>
                    <p:cNvSpPr/>
                    <p:nvPr/>
                  </p:nvSpPr>
                  <p:spPr>
                    <a:xfrm>
                      <a:off x="12075" y="266"/>
                      <a:ext cx="1966" cy="9607"/>
                    </a:xfrm>
                    <a:custGeom>
                      <a:avLst/>
                      <a:gdLst/>
                      <a:ahLst/>
                      <a:cxnLst>
                        <a:cxn ang="0">
                          <a:pos x="0" y="0"/>
                        </a:cxn>
                        <a:cxn ang="0">
                          <a:pos x="1966" y="9607"/>
                        </a:cxn>
                        <a:cxn ang="0">
                          <a:pos x="0" y="0"/>
                        </a:cxn>
                        <a:cxn ang="0">
                          <a:pos x="1966" y="9607"/>
                        </a:cxn>
                        <a:cxn ang="0">
                          <a:pos x="0" y="9607"/>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88" name="Arc 89"/>
                    <p:cNvSpPr/>
                    <p:nvPr/>
                  </p:nvSpPr>
                  <p:spPr>
                    <a:xfrm flipH="1" flipV="1">
                      <a:off x="14030" y="10379"/>
                      <a:ext cx="1965" cy="9607"/>
                    </a:xfrm>
                    <a:custGeom>
                      <a:avLst/>
                      <a:gdLst/>
                      <a:ahLst/>
                      <a:cxnLst>
                        <a:cxn ang="0">
                          <a:pos x="0" y="0"/>
                        </a:cxn>
                        <a:cxn ang="0">
                          <a:pos x="1965" y="9607"/>
                        </a:cxn>
                        <a:cxn ang="0">
                          <a:pos x="0" y="0"/>
                        </a:cxn>
                        <a:cxn ang="0">
                          <a:pos x="1965" y="9607"/>
                        </a:cxn>
                        <a:cxn ang="0">
                          <a:pos x="0" y="9607"/>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89" name="Arc 90"/>
                    <p:cNvSpPr/>
                    <p:nvPr/>
                  </p:nvSpPr>
                  <p:spPr>
                    <a:xfrm flipV="1">
                      <a:off x="16098" y="10393"/>
                      <a:ext cx="1967" cy="9606"/>
                    </a:xfrm>
                    <a:custGeom>
                      <a:avLst/>
                      <a:gdLst/>
                      <a:ahLst/>
                      <a:cxnLst>
                        <a:cxn ang="0">
                          <a:pos x="0" y="0"/>
                        </a:cxn>
                        <a:cxn ang="0">
                          <a:pos x="1967" y="9606"/>
                        </a:cxn>
                        <a:cxn ang="0">
                          <a:pos x="0" y="0"/>
                        </a:cxn>
                        <a:cxn ang="0">
                          <a:pos x="1967" y="9606"/>
                        </a:cxn>
                        <a:cxn ang="0">
                          <a:pos x="0" y="9606"/>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90" name="Arc 91"/>
                    <p:cNvSpPr/>
                    <p:nvPr/>
                  </p:nvSpPr>
                  <p:spPr>
                    <a:xfrm flipV="1">
                      <a:off x="0" y="9327"/>
                      <a:ext cx="1961" cy="10406"/>
                    </a:xfrm>
                    <a:custGeom>
                      <a:avLst/>
                      <a:gdLst/>
                      <a:ahLst/>
                      <a:cxnLst>
                        <a:cxn ang="0">
                          <a:pos x="0" y="0"/>
                        </a:cxn>
                        <a:cxn ang="0">
                          <a:pos x="1961" y="10406"/>
                        </a:cxn>
                        <a:cxn ang="0">
                          <a:pos x="0" y="0"/>
                        </a:cxn>
                        <a:cxn ang="0">
                          <a:pos x="1961" y="10406"/>
                        </a:cxn>
                        <a:cxn ang="0">
                          <a:pos x="0" y="10406"/>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291" name="Arc 92"/>
                    <p:cNvSpPr/>
                    <p:nvPr/>
                  </p:nvSpPr>
                  <p:spPr>
                    <a:xfrm flipH="1">
                      <a:off x="18039" y="0"/>
                      <a:ext cx="1965" cy="10393"/>
                    </a:xfrm>
                    <a:custGeom>
                      <a:avLst/>
                      <a:gdLst/>
                      <a:ahLst/>
                      <a:cxnLst>
                        <a:cxn ang="0">
                          <a:pos x="0" y="0"/>
                        </a:cxn>
                        <a:cxn ang="0">
                          <a:pos x="1965" y="10393"/>
                        </a:cxn>
                        <a:cxn ang="0">
                          <a:pos x="0" y="0"/>
                        </a:cxn>
                        <a:cxn ang="0">
                          <a:pos x="1965" y="10393"/>
                        </a:cxn>
                        <a:cxn ang="0">
                          <a:pos x="0" y="10393"/>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grpSp>
              <p:sp>
                <p:nvSpPr>
                  <p:cNvPr id="9292" name="Line 93"/>
                  <p:cNvSpPr/>
                  <p:nvPr/>
                </p:nvSpPr>
                <p:spPr>
                  <a:xfrm>
                    <a:off x="8712" y="9288"/>
                    <a:ext cx="4" cy="5768"/>
                  </a:xfrm>
                  <a:prstGeom prst="line">
                    <a:avLst/>
                  </a:prstGeom>
                  <a:ln w="9525" cap="flat" cmpd="sng">
                    <a:solidFill>
                      <a:srgbClr val="000000"/>
                    </a:solidFill>
                    <a:prstDash val="solid"/>
                    <a:round/>
                    <a:headEnd type="arrow" w="sm" len="sm"/>
                    <a:tailEnd type="arrow"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93" name="Rectangle 94"/>
                  <p:cNvSpPr/>
                  <p:nvPr/>
                </p:nvSpPr>
                <p:spPr>
                  <a:xfrm>
                    <a:off x="8712" y="10248"/>
                    <a:ext cx="2336" cy="304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a:latin typeface="Times New Roman" panose="02020603050405020304" pitchFamily="18" charset="0"/>
                        <a:ea typeface="宋体" panose="02010600030101010101" pitchFamily="2" charset="-122"/>
                      </a:rPr>
                      <a:t>a</a:t>
                    </a:r>
                    <a:endParaRPr lang="en-US" altLang="zh-CN" sz="1400">
                      <a:latin typeface="Times New Roman" panose="02020603050405020304" pitchFamily="18" charset="0"/>
                      <a:ea typeface="宋体" panose="02010600030101010101" pitchFamily="2" charset="-122"/>
                    </a:endParaRPr>
                  </a:p>
                </p:txBody>
              </p:sp>
            </p:grpSp>
            <p:grpSp>
              <p:nvGrpSpPr>
                <p:cNvPr id="9294" name="Group 78"/>
                <p:cNvGrpSpPr/>
                <p:nvPr/>
              </p:nvGrpSpPr>
              <p:grpSpPr>
                <a:xfrm>
                  <a:off x="11345" y="328"/>
                  <a:ext cx="8660" cy="19368"/>
                  <a:chOff x="0" y="0"/>
                  <a:chExt cx="17320" cy="20000"/>
                </a:xfrm>
              </p:grpSpPr>
              <p:sp>
                <p:nvSpPr>
                  <p:cNvPr id="9295" name="Line 96"/>
                  <p:cNvSpPr/>
                  <p:nvPr/>
                </p:nvSpPr>
                <p:spPr>
                  <a:xfrm>
                    <a:off x="1936" y="0"/>
                    <a:ext cx="6" cy="20000"/>
                  </a:xfrm>
                  <a:prstGeom prst="line">
                    <a:avLst/>
                  </a:prstGeom>
                  <a:ln w="9525" cap="flat" cmpd="sng">
                    <a:solidFill>
                      <a:srgbClr val="000000"/>
                    </a:solidFill>
                    <a:prstDash val="solid"/>
                    <a:round/>
                    <a:headEnd type="triangle" w="sm" len="sm"/>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96" name="Line 97"/>
                  <p:cNvSpPr/>
                  <p:nvPr/>
                </p:nvSpPr>
                <p:spPr>
                  <a:xfrm>
                    <a:off x="1936" y="9583"/>
                    <a:ext cx="13878" cy="8"/>
                  </a:xfrm>
                  <a:prstGeom prst="line">
                    <a:avLst/>
                  </a:prstGeom>
                  <a:ln w="9525" cap="flat" cmpd="sng">
                    <a:solidFill>
                      <a:srgbClr val="000000"/>
                    </a:solidFill>
                    <a:prstDash val="solid"/>
                    <a:round/>
                    <a:headEnd type="none" w="med" len="med"/>
                    <a:tailEnd type="triangle"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97" name="Line 98"/>
                  <p:cNvSpPr/>
                  <p:nvPr/>
                </p:nvSpPr>
                <p:spPr>
                  <a:xfrm>
                    <a:off x="10216" y="9583"/>
                    <a:ext cx="6" cy="3643"/>
                  </a:xfrm>
                  <a:prstGeom prst="line">
                    <a:avLst/>
                  </a:prstGeom>
                  <a:ln w="3175" cap="flat" cmpd="sng">
                    <a:solidFill>
                      <a:srgbClr val="000000"/>
                    </a:solidFill>
                    <a:prstDash val="solid"/>
                    <a:round/>
                    <a:headEnd type="arrow" w="sm" len="sm"/>
                    <a:tailEnd type="arrow"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98" name="Line 99"/>
                  <p:cNvSpPr/>
                  <p:nvPr/>
                </p:nvSpPr>
                <p:spPr>
                  <a:xfrm>
                    <a:off x="1936" y="5948"/>
                    <a:ext cx="11298" cy="8"/>
                  </a:xfrm>
                  <a:prstGeom prst="line">
                    <a:avLst/>
                  </a:prstGeom>
                  <a:ln w="317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299" name="Line 100"/>
                  <p:cNvSpPr/>
                  <p:nvPr/>
                </p:nvSpPr>
                <p:spPr>
                  <a:xfrm>
                    <a:off x="12798" y="5948"/>
                    <a:ext cx="4" cy="3808"/>
                  </a:xfrm>
                  <a:prstGeom prst="line">
                    <a:avLst/>
                  </a:prstGeom>
                  <a:ln w="3175" cap="flat" cmpd="sng">
                    <a:solidFill>
                      <a:srgbClr val="000000"/>
                    </a:solidFill>
                    <a:prstDash val="solid"/>
                    <a:round/>
                    <a:headEnd type="arrow" w="sm" len="sm"/>
                    <a:tailEnd type="arrow"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300" name="Rectangle 101"/>
                  <p:cNvSpPr/>
                  <p:nvPr/>
                </p:nvSpPr>
                <p:spPr>
                  <a:xfrm>
                    <a:off x="0" y="661"/>
                    <a:ext cx="2050" cy="380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endParaRPr lang="en-US" altLang="zh-CN" sz="1400">
                      <a:latin typeface="Times New Roman" panose="02020603050405020304" pitchFamily="18" charset="0"/>
                      <a:ea typeface="宋体" panose="02010600030101010101" pitchFamily="2" charset="-122"/>
                    </a:endParaRPr>
                  </a:p>
                </p:txBody>
              </p:sp>
              <p:sp>
                <p:nvSpPr>
                  <p:cNvPr id="9301" name="Rectangle 102"/>
                  <p:cNvSpPr/>
                  <p:nvPr/>
                </p:nvSpPr>
                <p:spPr>
                  <a:xfrm>
                    <a:off x="860" y="7922"/>
                    <a:ext cx="1296" cy="2983"/>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0</a:t>
                    </a:r>
                    <a:endParaRPr lang="en-US" altLang="zh-CN" sz="1400">
                      <a:latin typeface="Times New Roman" panose="02020603050405020304" pitchFamily="18" charset="0"/>
                      <a:ea typeface="宋体" panose="02010600030101010101" pitchFamily="2" charset="-122"/>
                    </a:endParaRPr>
                  </a:p>
                </p:txBody>
              </p:sp>
              <p:sp>
                <p:nvSpPr>
                  <p:cNvPr id="9302" name="Rectangle 103"/>
                  <p:cNvSpPr/>
                  <p:nvPr/>
                </p:nvSpPr>
                <p:spPr>
                  <a:xfrm>
                    <a:off x="16132" y="7757"/>
                    <a:ext cx="1188" cy="2974"/>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t</a:t>
                    </a:r>
                    <a:endParaRPr lang="en-US" altLang="zh-CN" sz="1400">
                      <a:latin typeface="Times New Roman" panose="02020603050405020304" pitchFamily="18" charset="0"/>
                      <a:ea typeface="宋体" panose="02010600030101010101" pitchFamily="2" charset="-122"/>
                    </a:endParaRPr>
                  </a:p>
                </p:txBody>
              </p:sp>
              <p:sp>
                <p:nvSpPr>
                  <p:cNvPr id="9303" name="Rectangle 104"/>
                  <p:cNvSpPr/>
                  <p:nvPr/>
                </p:nvSpPr>
                <p:spPr>
                  <a:xfrm>
                    <a:off x="13014" y="5783"/>
                    <a:ext cx="2908" cy="3312"/>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max</a:t>
                    </a:r>
                    <a:endParaRPr lang="en-US" altLang="zh-CN" sz="1400">
                      <a:latin typeface="Times New Roman" panose="02020603050405020304" pitchFamily="18" charset="0"/>
                      <a:ea typeface="宋体" panose="02010600030101010101" pitchFamily="2" charset="-122"/>
                    </a:endParaRPr>
                  </a:p>
                </p:txBody>
              </p:sp>
              <p:sp>
                <p:nvSpPr>
                  <p:cNvPr id="9304" name="Rectangle 105"/>
                  <p:cNvSpPr/>
                  <p:nvPr/>
                </p:nvSpPr>
                <p:spPr>
                  <a:xfrm>
                    <a:off x="10432" y="9583"/>
                    <a:ext cx="1942" cy="3147"/>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a</a:t>
                    </a:r>
                    <a:endParaRPr lang="en-US" altLang="zh-CN" sz="1400">
                      <a:latin typeface="Times New Roman" panose="02020603050405020304" pitchFamily="18" charset="0"/>
                      <a:ea typeface="宋体" panose="02010600030101010101" pitchFamily="2" charset="-122"/>
                    </a:endParaRPr>
                  </a:p>
                </p:txBody>
              </p:sp>
              <p:grpSp>
                <p:nvGrpSpPr>
                  <p:cNvPr id="9305" name="Group 89"/>
                  <p:cNvGrpSpPr/>
                  <p:nvPr/>
                </p:nvGrpSpPr>
                <p:grpSpPr>
                  <a:xfrm>
                    <a:off x="2018" y="5948"/>
                    <a:ext cx="3758" cy="7179"/>
                    <a:chOff x="0" y="0"/>
                    <a:chExt cx="20002" cy="20000"/>
                  </a:xfrm>
                </p:grpSpPr>
                <p:grpSp>
                  <p:nvGrpSpPr>
                    <p:cNvPr id="9306" name="Group 90"/>
                    <p:cNvGrpSpPr/>
                    <p:nvPr/>
                  </p:nvGrpSpPr>
                  <p:grpSpPr>
                    <a:xfrm>
                      <a:off x="0" y="0"/>
                      <a:ext cx="9985" cy="9759"/>
                      <a:chOff x="0" y="0"/>
                      <a:chExt cx="20003" cy="20000"/>
                    </a:xfrm>
                  </p:grpSpPr>
                  <p:sp>
                    <p:nvSpPr>
                      <p:cNvPr id="9307" name="Arc 108"/>
                      <p:cNvSpPr/>
                      <p:nvPr/>
                    </p:nvSpPr>
                    <p:spPr>
                      <a:xfrm flipH="1">
                        <a:off x="0" y="45"/>
                        <a:ext cx="9788" cy="19955"/>
                      </a:xfrm>
                      <a:custGeom>
                        <a:avLst/>
                        <a:gdLst/>
                        <a:ahLst/>
                        <a:cxnLst>
                          <a:cxn ang="0">
                            <a:pos x="0" y="0"/>
                          </a:cxn>
                          <a:cxn ang="0">
                            <a:pos x="9788" y="19955"/>
                          </a:cxn>
                          <a:cxn ang="0">
                            <a:pos x="0" y="0"/>
                          </a:cxn>
                          <a:cxn ang="0">
                            <a:pos x="9788" y="19955"/>
                          </a:cxn>
                          <a:cxn ang="0">
                            <a:pos x="0" y="19955"/>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308" name="Arc 109"/>
                      <p:cNvSpPr/>
                      <p:nvPr/>
                    </p:nvSpPr>
                    <p:spPr>
                      <a:xfrm>
                        <a:off x="10193" y="0"/>
                        <a:ext cx="9810" cy="19949"/>
                      </a:xfrm>
                      <a:custGeom>
                        <a:avLst/>
                        <a:gdLst/>
                        <a:ahLst/>
                        <a:cxnLst>
                          <a:cxn ang="0">
                            <a:pos x="0" y="0"/>
                          </a:cxn>
                          <a:cxn ang="0">
                            <a:pos x="9810" y="19949"/>
                          </a:cxn>
                          <a:cxn ang="0">
                            <a:pos x="0" y="0"/>
                          </a:cxn>
                          <a:cxn ang="0">
                            <a:pos x="9810" y="19949"/>
                          </a:cxn>
                          <a:cxn ang="0">
                            <a:pos x="0" y="19949"/>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grpSp>
                <p:grpSp>
                  <p:nvGrpSpPr>
                    <p:cNvPr id="9309" name="Group 93"/>
                    <p:cNvGrpSpPr/>
                    <p:nvPr/>
                  </p:nvGrpSpPr>
                  <p:grpSpPr>
                    <a:xfrm>
                      <a:off x="9985" y="10241"/>
                      <a:ext cx="10017" cy="9759"/>
                      <a:chOff x="0" y="0"/>
                      <a:chExt cx="19999" cy="20000"/>
                    </a:xfrm>
                  </p:grpSpPr>
                  <p:sp>
                    <p:nvSpPr>
                      <p:cNvPr id="9310" name="Arc 111"/>
                      <p:cNvSpPr/>
                      <p:nvPr/>
                    </p:nvSpPr>
                    <p:spPr>
                      <a:xfrm flipH="1" flipV="1">
                        <a:off x="0" y="0"/>
                        <a:ext cx="9777" cy="19955"/>
                      </a:xfrm>
                      <a:custGeom>
                        <a:avLst/>
                        <a:gdLst/>
                        <a:ahLst/>
                        <a:cxnLst>
                          <a:cxn ang="0">
                            <a:pos x="0" y="0"/>
                          </a:cxn>
                          <a:cxn ang="0">
                            <a:pos x="9777" y="19955"/>
                          </a:cxn>
                          <a:cxn ang="0">
                            <a:pos x="0" y="0"/>
                          </a:cxn>
                          <a:cxn ang="0">
                            <a:pos x="9777" y="19955"/>
                          </a:cxn>
                          <a:cxn ang="0">
                            <a:pos x="0" y="19955"/>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311" name="Arc 112"/>
                      <p:cNvSpPr/>
                      <p:nvPr/>
                    </p:nvSpPr>
                    <p:spPr>
                      <a:xfrm flipV="1">
                        <a:off x="10224" y="45"/>
                        <a:ext cx="9775" cy="19955"/>
                      </a:xfrm>
                      <a:custGeom>
                        <a:avLst/>
                        <a:gdLst/>
                        <a:ahLst/>
                        <a:cxnLst>
                          <a:cxn ang="0">
                            <a:pos x="0" y="0"/>
                          </a:cxn>
                          <a:cxn ang="0">
                            <a:pos x="9775" y="19955"/>
                          </a:cxn>
                          <a:cxn ang="0">
                            <a:pos x="0" y="0"/>
                          </a:cxn>
                          <a:cxn ang="0">
                            <a:pos x="9775" y="19955"/>
                          </a:cxn>
                          <a:cxn ang="0">
                            <a:pos x="0" y="19955"/>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grpSp>
              </p:grpSp>
              <p:sp>
                <p:nvSpPr>
                  <p:cNvPr id="9312" name="Arc 113"/>
                  <p:cNvSpPr/>
                  <p:nvPr/>
                </p:nvSpPr>
                <p:spPr>
                  <a:xfrm flipH="1">
                    <a:off x="5770" y="6047"/>
                    <a:ext cx="920" cy="3495"/>
                  </a:xfrm>
                  <a:custGeom>
                    <a:avLst/>
                    <a:gdLst/>
                    <a:ahLst/>
                    <a:cxnLst>
                      <a:cxn ang="0">
                        <a:pos x="0" y="0"/>
                      </a:cxn>
                      <a:cxn ang="0">
                        <a:pos x="920" y="3495"/>
                      </a:cxn>
                      <a:cxn ang="0">
                        <a:pos x="0" y="0"/>
                      </a:cxn>
                      <a:cxn ang="0">
                        <a:pos x="920" y="3495"/>
                      </a:cxn>
                      <a:cxn ang="0">
                        <a:pos x="0" y="3495"/>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313" name="Arc 114"/>
                  <p:cNvSpPr/>
                  <p:nvPr/>
                </p:nvSpPr>
                <p:spPr>
                  <a:xfrm>
                    <a:off x="6728" y="6047"/>
                    <a:ext cx="918" cy="3495"/>
                  </a:xfrm>
                  <a:custGeom>
                    <a:avLst/>
                    <a:gdLst/>
                    <a:ahLst/>
                    <a:cxnLst>
                      <a:cxn ang="0">
                        <a:pos x="0" y="0"/>
                      </a:cxn>
                      <a:cxn ang="0">
                        <a:pos x="918" y="3495"/>
                      </a:cxn>
                      <a:cxn ang="0">
                        <a:pos x="0" y="0"/>
                      </a:cxn>
                      <a:cxn ang="0">
                        <a:pos x="918" y="3495"/>
                      </a:cxn>
                      <a:cxn ang="0">
                        <a:pos x="0" y="3495"/>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314" name="Arc 115"/>
                  <p:cNvSpPr/>
                  <p:nvPr/>
                </p:nvSpPr>
                <p:spPr>
                  <a:xfrm flipH="1" flipV="1">
                    <a:off x="7642" y="9723"/>
                    <a:ext cx="918" cy="3495"/>
                  </a:xfrm>
                  <a:custGeom>
                    <a:avLst/>
                    <a:gdLst/>
                    <a:ahLst/>
                    <a:cxnLst>
                      <a:cxn ang="0">
                        <a:pos x="0" y="0"/>
                      </a:cxn>
                      <a:cxn ang="0">
                        <a:pos x="918" y="3495"/>
                      </a:cxn>
                      <a:cxn ang="0">
                        <a:pos x="0" y="0"/>
                      </a:cxn>
                      <a:cxn ang="0">
                        <a:pos x="918" y="3495"/>
                      </a:cxn>
                      <a:cxn ang="0">
                        <a:pos x="0" y="3495"/>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315" name="Arc 116"/>
                  <p:cNvSpPr/>
                  <p:nvPr/>
                </p:nvSpPr>
                <p:spPr>
                  <a:xfrm flipV="1">
                    <a:off x="8610" y="9732"/>
                    <a:ext cx="918" cy="3494"/>
                  </a:xfrm>
                  <a:custGeom>
                    <a:avLst/>
                    <a:gdLst/>
                    <a:ahLst/>
                    <a:cxnLst>
                      <a:cxn ang="0">
                        <a:pos x="0" y="0"/>
                      </a:cxn>
                      <a:cxn ang="0">
                        <a:pos x="918" y="3494"/>
                      </a:cxn>
                      <a:cxn ang="0">
                        <a:pos x="0" y="0"/>
                      </a:cxn>
                      <a:cxn ang="0">
                        <a:pos x="918" y="3494"/>
                      </a:cxn>
                      <a:cxn ang="0">
                        <a:pos x="0" y="3494"/>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2700" cap="flat" cmpd="sng">
                    <a:solidFill>
                      <a:srgbClr val="0000FF"/>
                    </a:solidFill>
                    <a:prstDash val="solid"/>
                    <a:round/>
                    <a:headEnd type="none" w="med" len="med"/>
                    <a:tailEnd type="none" w="med" len="med"/>
                  </a:ln>
                </p:spPr>
                <p:txBody>
                  <a:bodyPr/>
                  <a:lstStyle/>
                  <a:p>
                    <a:endParaRPr lang="zh-CN" altLang="en-US"/>
                  </a:p>
                </p:txBody>
              </p:sp>
              <p:sp>
                <p:nvSpPr>
                  <p:cNvPr id="9316" name="Line 117"/>
                  <p:cNvSpPr/>
                  <p:nvPr/>
                </p:nvSpPr>
                <p:spPr>
                  <a:xfrm>
                    <a:off x="4840" y="13052"/>
                    <a:ext cx="6028" cy="9"/>
                  </a:xfrm>
                  <a:prstGeom prst="line">
                    <a:avLst/>
                  </a:prstGeom>
                  <a:ln w="317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9317" name="Rectangle 118"/>
                  <p:cNvSpPr/>
                  <p:nvPr/>
                </p:nvSpPr>
                <p:spPr>
                  <a:xfrm>
                    <a:off x="4410" y="14705"/>
                    <a:ext cx="3446" cy="2817"/>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m</a:t>
                    </a:r>
                    <a:r>
                      <a:rPr lang="en-US" altLang="zh-CN" sz="1400">
                        <a:latin typeface="Times New Roman" panose="02020603050405020304" pitchFamily="18" charset="0"/>
                        <a:ea typeface="宋体" panose="02010600030101010101" pitchFamily="2" charset="-122"/>
                      </a:rPr>
                      <a:t>=0</a:t>
                    </a:r>
                    <a:endParaRPr lang="en-US" altLang="zh-CN" sz="1400">
                      <a:latin typeface="Times New Roman" panose="02020603050405020304" pitchFamily="18" charset="0"/>
                      <a:ea typeface="宋体" panose="02010600030101010101" pitchFamily="2" charset="-122"/>
                    </a:endParaRPr>
                  </a:p>
                </p:txBody>
              </p:sp>
            </p:grpSp>
          </p:grpSp>
          <p:sp>
            <p:nvSpPr>
              <p:cNvPr id="9318" name="Rectangle 119"/>
              <p:cNvSpPr/>
              <p:nvPr/>
            </p:nvSpPr>
            <p:spPr>
              <a:xfrm>
                <a:off x="3818" y="16807"/>
                <a:ext cx="1131" cy="3227"/>
              </a:xfrm>
              <a:prstGeom prst="rect">
                <a:avLst/>
              </a:prstGeom>
              <a:noFill/>
              <a:ln w="9525">
                <a:noFill/>
              </a:ln>
            </p:spPr>
            <p:txBody>
              <a:bodyPr lIns="12700" tIns="12700" rIns="12700" bIns="12700" anchor="t" anchorCtr="0"/>
              <a:lstStyle/>
              <a:p>
                <a:pPr algn="ctr" eaLnBrk="0" hangingPunct="0"/>
                <a:r>
                  <a:rPr lang="en-US" altLang="zh-CN" sz="1400">
                    <a:latin typeface="Times New Roman" panose="02020603050405020304" pitchFamily="18" charset="0"/>
                    <a:ea typeface="宋体" panose="02010600030101010101" pitchFamily="2" charset="-122"/>
                  </a:rPr>
                  <a:t>c)</a:t>
                </a:r>
                <a:endParaRPr lang="en-US" altLang="zh-CN" sz="1400">
                  <a:latin typeface="Times New Roman" panose="02020603050405020304" pitchFamily="18" charset="0"/>
                  <a:ea typeface="宋体" panose="02010600030101010101" pitchFamily="2" charset="-122"/>
                </a:endParaRPr>
              </a:p>
            </p:txBody>
          </p:sp>
          <p:sp>
            <p:nvSpPr>
              <p:cNvPr id="9319" name="Rectangle 120"/>
              <p:cNvSpPr/>
              <p:nvPr/>
            </p:nvSpPr>
            <p:spPr>
              <a:xfrm>
                <a:off x="15647" y="17080"/>
                <a:ext cx="971" cy="3080"/>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d)</a:t>
                </a:r>
                <a:endParaRPr lang="en-US" altLang="zh-CN" sz="1400">
                  <a:latin typeface="Times New Roman" panose="02020603050405020304" pitchFamily="18" charset="0"/>
                  <a:ea typeface="宋体" panose="02010600030101010101" pitchFamily="2" charset="-122"/>
                </a:endParaRPr>
              </a:p>
            </p:txBody>
          </p:sp>
        </p:grpSp>
      </p:grpSp>
      <p:grpSp>
        <p:nvGrpSpPr>
          <p:cNvPr id="9320" name="组合 8"/>
          <p:cNvGrpSpPr/>
          <p:nvPr/>
        </p:nvGrpSpPr>
        <p:grpSpPr>
          <a:xfrm>
            <a:off x="0" y="0"/>
            <a:ext cx="9144000" cy="635000"/>
            <a:chOff x="-35" y="172"/>
            <a:chExt cx="14400" cy="1000"/>
          </a:xfrm>
        </p:grpSpPr>
        <p:sp>
          <p:nvSpPr>
            <p:cNvPr id="9321" name="TitleBackground"/>
            <p:cNvSpPr/>
            <p:nvPr>
              <p:custDataLst>
                <p:tags r:id="rId4"/>
              </p:custDataLst>
            </p:nvPr>
          </p:nvSpPr>
          <p:spPr>
            <a:xfrm>
              <a:off x="-35" y="172"/>
              <a:ext cx="14400" cy="1000"/>
            </a:xfrm>
            <a:prstGeom prst="rect">
              <a:avLst/>
            </a:prstGeom>
            <a:solidFill>
              <a:srgbClr val="F6F7F8"/>
            </a:solidFill>
            <a:ln w="9525">
              <a:noFill/>
            </a:ln>
          </p:spPr>
          <p:txBody>
            <a:bodyPr wrap="square" lIns="90000" tIns="46800" rIns="90000" bIns="46800" anchor="t" anchorCtr="0"/>
            <a:lstStyle/>
            <a:p>
              <a:pPr>
                <a:buSzTx/>
              </a:pPr>
              <a:endParaRPr lang="zh-CN" altLang="en-US">
                <a:latin typeface="Tahoma" panose="020B0604030504040204" pitchFamily="34" charset="0"/>
                <a:ea typeface="华文中宋" panose="02010600040101010101" pitchFamily="2" charset="-122"/>
              </a:endParaRPr>
            </a:p>
          </p:txBody>
        </p:sp>
        <p:sp>
          <p:nvSpPr>
            <p:cNvPr id="9322" name="ColorBlock"/>
            <p:cNvSpPr/>
            <p:nvPr>
              <p:custDataLst>
                <p:tags r:id="rId5"/>
              </p:custDataLst>
            </p:nvPr>
          </p:nvSpPr>
          <p:spPr>
            <a:xfrm>
              <a:off x="-35" y="172"/>
              <a:ext cx="300" cy="1000"/>
            </a:xfrm>
            <a:prstGeom prst="rect">
              <a:avLst/>
            </a:prstGeom>
            <a:solidFill>
              <a:srgbClr val="639EF4"/>
            </a:solidFill>
            <a:ln w="9525">
              <a:noFill/>
            </a:ln>
          </p:spPr>
          <p:txBody>
            <a:bodyPr wrap="square" lIns="90000" tIns="46800" rIns="90000" bIns="46800" anchor="t" anchorCtr="0"/>
            <a:lstStyle/>
            <a:p>
              <a:pPr>
                <a:buSzTx/>
              </a:pPr>
              <a:endParaRPr lang="zh-CN" altLang="en-US">
                <a:latin typeface="Tahoma" panose="020B0604030504040204" pitchFamily="34" charset="0"/>
                <a:ea typeface="华文中宋" panose="02010600040101010101" pitchFamily="2" charset="-122"/>
              </a:endParaRPr>
            </a:p>
          </p:txBody>
        </p:sp>
        <p:sp>
          <p:nvSpPr>
            <p:cNvPr id="9323" name="TypeText"/>
            <p:cNvSpPr txBox="1"/>
            <p:nvPr>
              <p:custDataLst>
                <p:tags r:id="rId6"/>
              </p:custDataLst>
            </p:nvPr>
          </p:nvSpPr>
          <p:spPr>
            <a:xfrm>
              <a:off x="365" y="172"/>
              <a:ext cx="3000" cy="1000"/>
            </a:xfrm>
            <a:prstGeom prst="rect">
              <a:avLst/>
            </a:prstGeom>
            <a:noFill/>
            <a:ln w="9525">
              <a:noFill/>
            </a:ln>
          </p:spPr>
          <p:txBody>
            <a:bodyPr wrap="none" anchor="ctr" anchorCtr="0"/>
            <a:lstStyle/>
            <a:p>
              <a:pPr eaLnBrk="0" hangingPunct="0"/>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9324" name="TipText"/>
            <p:cNvSpPr txBox="1"/>
            <p:nvPr>
              <p:custDataLst>
                <p:tags r:id="rId7"/>
              </p:custDataLst>
            </p:nvPr>
          </p:nvSpPr>
          <p:spPr>
            <a:xfrm>
              <a:off x="2213" y="344"/>
              <a:ext cx="3600" cy="800"/>
            </a:xfrm>
            <a:prstGeom prst="rect">
              <a:avLst/>
            </a:prstGeom>
            <a:noFill/>
            <a:ln w="9525">
              <a:noFill/>
            </a:ln>
          </p:spPr>
          <p:txBody>
            <a:bodyPr wrap="none" anchor="ctr" anchorCtr="0"/>
            <a:lstStyle/>
            <a:p>
              <a:pPr eaLnBrk="0" hangingPunct="0"/>
              <a:r>
                <a:rPr lang="zh-CN" altLang="en-US" sz="2000">
                  <a:solidFill>
                    <a:srgbClr val="808080"/>
                  </a:solidFill>
                  <a:latin typeface="微软雅黑" panose="020B0503020204020204" charset="-122"/>
                  <a:ea typeface="微软雅黑" panose="020B0503020204020204" charset="-122"/>
                </a:rPr>
                <a:t>4分</a:t>
              </a:r>
              <a:endParaRPr lang="zh-CN" altLang="en-US" sz="2000">
                <a:solidFill>
                  <a:srgbClr val="808080"/>
                </a:solidFill>
                <a:latin typeface="微软雅黑" panose="020B0503020204020204" charset="-122"/>
                <a:ea typeface="微软雅黑" panose="020B0503020204020204" charset="-122"/>
              </a:endParaRPr>
            </a:p>
          </p:txBody>
        </p:sp>
      </p:grpSp>
      <p:pic>
        <p:nvPicPr>
          <p:cNvPr id="9325" name="图片 1" descr="tmp7CFE"/>
          <p:cNvPicPr>
            <a:picLocks noChangeAspect="1"/>
          </p:cNvPicPr>
          <p:nvPr>
            <p:custDataLst>
              <p:tags r:id="rId8"/>
            </p:custDataLst>
          </p:nvPr>
        </p:nvPicPr>
        <p:blipFill>
          <a:blip r:embed="rId9"/>
          <a:stretch>
            <a:fillRect/>
          </a:stretch>
        </p:blipFill>
        <p:spPr>
          <a:xfrm>
            <a:off x="7594600" y="63500"/>
            <a:ext cx="1422400" cy="508000"/>
          </a:xfrm>
          <a:prstGeom prst="rect">
            <a:avLst/>
          </a:prstGeom>
          <a:noFill/>
          <a:ln w="9525">
            <a:noFill/>
          </a:ln>
        </p:spPr>
      </p:pic>
    </p:spTree>
    <p:custDataLst>
      <p:tags r:id="rId10"/>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文本框 2"/>
          <p:cNvSpPr txBox="1"/>
          <p:nvPr>
            <p:custDataLst>
              <p:tags r:id="rId1"/>
            </p:custDataLst>
          </p:nvPr>
        </p:nvSpPr>
        <p:spPr>
          <a:xfrm>
            <a:off x="533400" y="642938"/>
            <a:ext cx="8483600" cy="2143125"/>
          </a:xfrm>
          <a:prstGeom prst="rect">
            <a:avLst/>
          </a:prstGeom>
          <a:noFill/>
          <a:ln w="9525">
            <a:noFill/>
          </a:ln>
        </p:spPr>
        <p:txBody>
          <a:bodyPr wrap="square" anchor="ctr" anchorCtr="0"/>
          <a:lstStyle/>
          <a:p>
            <a:pPr algn="just"/>
            <a:r>
              <a:rPr lang="en-US" altLang="zh-CN" sz="2600" dirty="0">
                <a:latin typeface="Tahoma" panose="020B0604030504040204" pitchFamily="34" charset="0"/>
                <a:ea typeface="华文中宋" panose="02010600040101010101" pitchFamily="2" charset="-122"/>
              </a:rPr>
              <a:t>2</a:t>
            </a:r>
            <a:r>
              <a:rPr lang="zh-CN" altLang="en-US" sz="2600" dirty="0">
                <a:latin typeface="黑体" panose="02010609060101010101" pitchFamily="49" charset="-122"/>
                <a:ea typeface="黑体" panose="02010609060101010101" pitchFamily="49" charset="-122"/>
              </a:rPr>
              <a:t>、在进行疲劳强度计算时，其极限应力应为材料的</a:t>
            </a:r>
            <a:r>
              <a:rPr lang="zh-CN" altLang="en-US" sz="2600" u="sng" dirty="0">
                <a:latin typeface="黑体" panose="02010609060101010101" pitchFamily="49" charset="-122"/>
                <a:ea typeface="黑体" panose="02010609060101010101" pitchFamily="49" charset="-122"/>
              </a:rPr>
              <a:t>         </a:t>
            </a:r>
            <a:r>
              <a:rPr lang="zh-CN" altLang="en-US" sz="2600" dirty="0">
                <a:latin typeface="黑体" panose="02010609060101010101" pitchFamily="49" charset="-122"/>
                <a:ea typeface="黑体" panose="02010609060101010101" pitchFamily="49" charset="-122"/>
              </a:rPr>
              <a:t>。</a:t>
            </a:r>
            <a:endParaRPr lang="zh-CN" altLang="en-US" sz="2600">
              <a:solidFill>
                <a:srgbClr val="000000"/>
              </a:solidFill>
              <a:latin typeface="黑体" panose="02010609060101010101" pitchFamily="49" charset="-122"/>
              <a:ea typeface="黑体" panose="02010609060101010101" pitchFamily="49" charset="-122"/>
            </a:endParaRPr>
          </a:p>
        </p:txBody>
      </p:sp>
      <p:sp>
        <p:nvSpPr>
          <p:cNvPr id="8194" name="文本框 3"/>
          <p:cNvSpPr txBox="1"/>
          <p:nvPr>
            <p:custDataLst>
              <p:tags r:id="rId2"/>
            </p:custDataLst>
          </p:nvPr>
        </p:nvSpPr>
        <p:spPr>
          <a:xfrm>
            <a:off x="1895475" y="2422525"/>
            <a:ext cx="6400800" cy="641350"/>
          </a:xfrm>
          <a:prstGeom prst="rect">
            <a:avLst/>
          </a:prstGeom>
          <a:noFill/>
          <a:ln w="9525">
            <a:noFill/>
          </a:ln>
        </p:spPr>
        <p:txBody>
          <a:bodyPr wrap="square" anchor="ctr" anchorCtr="0"/>
          <a:lstStyle/>
          <a:p>
            <a:pPr eaLnBrk="0" hangingPunct="0"/>
            <a:r>
              <a:rPr lang="zh-CN" altLang="en-US" sz="2600">
                <a:solidFill>
                  <a:srgbClr val="000000"/>
                </a:solidFill>
                <a:latin typeface="微软雅黑" panose="020B0503020204020204" charset="-122"/>
                <a:ea typeface="微软雅黑" panose="020B0503020204020204" charset="-122"/>
              </a:rPr>
              <a:t>屈服极限</a:t>
            </a:r>
            <a:endParaRPr lang="zh-CN" altLang="en-US" sz="2600">
              <a:solidFill>
                <a:srgbClr val="000000"/>
              </a:solidFill>
              <a:latin typeface="微软雅黑" panose="020B0503020204020204" charset="-122"/>
              <a:ea typeface="微软雅黑" panose="020B0503020204020204" charset="-122"/>
            </a:endParaRPr>
          </a:p>
        </p:txBody>
      </p:sp>
      <p:sp>
        <p:nvSpPr>
          <p:cNvPr id="8195" name="文本框 4"/>
          <p:cNvSpPr txBox="1"/>
          <p:nvPr>
            <p:custDataLst>
              <p:tags r:id="rId3"/>
            </p:custDataLst>
          </p:nvPr>
        </p:nvSpPr>
        <p:spPr>
          <a:xfrm>
            <a:off x="1895475" y="3279775"/>
            <a:ext cx="6400800" cy="641350"/>
          </a:xfrm>
          <a:prstGeom prst="rect">
            <a:avLst/>
          </a:prstGeom>
          <a:noFill/>
          <a:ln w="9525">
            <a:noFill/>
          </a:ln>
        </p:spPr>
        <p:txBody>
          <a:bodyPr wrap="square" anchor="ctr" anchorCtr="0"/>
          <a:lstStyle/>
          <a:p>
            <a:pPr eaLnBrk="0" hangingPunct="0"/>
            <a:r>
              <a:rPr lang="zh-CN" altLang="en-US" sz="2600">
                <a:solidFill>
                  <a:srgbClr val="000000"/>
                </a:solidFill>
                <a:latin typeface="微软雅黑" panose="020B0503020204020204" charset="-122"/>
                <a:ea typeface="微软雅黑" panose="020B0503020204020204" charset="-122"/>
              </a:rPr>
              <a:t>疲劳极限</a:t>
            </a:r>
            <a:endParaRPr lang="zh-CN" altLang="en-US" sz="2600">
              <a:solidFill>
                <a:srgbClr val="000000"/>
              </a:solidFill>
              <a:latin typeface="微软雅黑" panose="020B0503020204020204" charset="-122"/>
              <a:ea typeface="微软雅黑" panose="020B0503020204020204" charset="-122"/>
            </a:endParaRPr>
          </a:p>
        </p:txBody>
      </p:sp>
      <p:sp>
        <p:nvSpPr>
          <p:cNvPr id="8196" name="文本框 5"/>
          <p:cNvSpPr txBox="1"/>
          <p:nvPr>
            <p:custDataLst>
              <p:tags r:id="rId4"/>
            </p:custDataLst>
          </p:nvPr>
        </p:nvSpPr>
        <p:spPr>
          <a:xfrm>
            <a:off x="1895475" y="4137025"/>
            <a:ext cx="6400800" cy="641350"/>
          </a:xfrm>
          <a:prstGeom prst="rect">
            <a:avLst/>
          </a:prstGeom>
          <a:noFill/>
          <a:ln w="9525">
            <a:noFill/>
          </a:ln>
        </p:spPr>
        <p:txBody>
          <a:bodyPr wrap="square" anchor="ctr" anchorCtr="0"/>
          <a:lstStyle/>
          <a:p>
            <a:pPr eaLnBrk="0" hangingPunct="0"/>
            <a:r>
              <a:rPr lang="zh-CN" altLang="en-US" sz="2600">
                <a:solidFill>
                  <a:srgbClr val="000000"/>
                </a:solidFill>
                <a:latin typeface="微软雅黑" panose="020B0503020204020204" charset="-122"/>
                <a:ea typeface="微软雅黑" panose="020B0503020204020204" charset="-122"/>
              </a:rPr>
              <a:t>强度极限</a:t>
            </a:r>
            <a:endParaRPr lang="zh-CN" altLang="en-US" sz="2600">
              <a:solidFill>
                <a:srgbClr val="000000"/>
              </a:solidFill>
              <a:latin typeface="微软雅黑" panose="020B0503020204020204" charset="-122"/>
              <a:ea typeface="微软雅黑" panose="020B0503020204020204" charset="-122"/>
            </a:endParaRPr>
          </a:p>
        </p:txBody>
      </p:sp>
      <p:sp>
        <p:nvSpPr>
          <p:cNvPr id="8197" name="文本框 6"/>
          <p:cNvSpPr txBox="1"/>
          <p:nvPr>
            <p:custDataLst>
              <p:tags r:id="rId5"/>
            </p:custDataLst>
          </p:nvPr>
        </p:nvSpPr>
        <p:spPr>
          <a:xfrm>
            <a:off x="1895475" y="4994275"/>
            <a:ext cx="6400800" cy="641350"/>
          </a:xfrm>
          <a:prstGeom prst="rect">
            <a:avLst/>
          </a:prstGeom>
          <a:noFill/>
          <a:ln w="9525">
            <a:noFill/>
          </a:ln>
        </p:spPr>
        <p:txBody>
          <a:bodyPr wrap="square" anchor="ctr" anchorCtr="0"/>
          <a:lstStyle/>
          <a:p>
            <a:pPr eaLnBrk="0" hangingPunct="0"/>
            <a:r>
              <a:rPr lang="zh-CN" altLang="en-US" sz="2600">
                <a:solidFill>
                  <a:srgbClr val="000000"/>
                </a:solidFill>
                <a:latin typeface="微软雅黑" panose="020B0503020204020204" charset="-122"/>
                <a:ea typeface="微软雅黑" panose="020B0503020204020204" charset="-122"/>
              </a:rPr>
              <a:t>弹性极限</a:t>
            </a:r>
            <a:endParaRPr lang="zh-CN" altLang="en-US" sz="2600">
              <a:solidFill>
                <a:srgbClr val="000000"/>
              </a:solidFill>
              <a:latin typeface="微软雅黑" panose="020B0503020204020204" charset="-122"/>
              <a:ea typeface="微软雅黑" panose="020B0503020204020204" charset="-122"/>
            </a:endParaRPr>
          </a:p>
        </p:txBody>
      </p:sp>
      <p:sp>
        <p:nvSpPr>
          <p:cNvPr id="8198" name="椭圆 7"/>
          <p:cNvSpPr>
            <a:spLocks noChangeAspect="1"/>
          </p:cNvSpPr>
          <p:nvPr>
            <p:custDataLst>
              <p:tags r:id="rId6"/>
            </p:custDataLst>
          </p:nvPr>
        </p:nvSpPr>
        <p:spPr>
          <a:xfrm>
            <a:off x="1181100" y="2486025"/>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wrap="square" lIns="90000" tIns="46800" rIns="90000" bIns="46800" anchor="ctr" anchorCtr="1"/>
          <a:lstStyle/>
          <a:p>
            <a:pPr>
              <a:buSzTx/>
            </a:pP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8199" name="椭圆 8"/>
          <p:cNvSpPr>
            <a:spLocks noChangeAspect="1"/>
          </p:cNvSpPr>
          <p:nvPr>
            <p:custDataLst>
              <p:tags r:id="rId7"/>
            </p:custDataLst>
          </p:nvPr>
        </p:nvSpPr>
        <p:spPr>
          <a:xfrm>
            <a:off x="1181100" y="3343275"/>
            <a:ext cx="514350" cy="514350"/>
          </a:xfrm>
          <a:prstGeom prst="ellipse">
            <a:avLst/>
          </a:prstGeom>
          <a:solidFill>
            <a:srgbClr val="00FF00"/>
          </a:solidFill>
          <a:ln w="25400" cap="flat" cmpd="sng">
            <a:solidFill>
              <a:srgbClr val="000000"/>
            </a:solidFill>
            <a:prstDash val="solid"/>
            <a:round/>
            <a:headEnd type="none" w="med" len="med"/>
            <a:tailEnd type="none" w="med" len="med"/>
          </a:ln>
        </p:spPr>
        <p:txBody>
          <a:bodyPr wrap="square" lIns="90000" tIns="46800" rIns="90000" bIns="46800" anchor="ctr" anchorCtr="1"/>
          <a:lstStyle/>
          <a:p>
            <a:pPr>
              <a:buSzTx/>
            </a:pP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8200" name="椭圆 9"/>
          <p:cNvSpPr>
            <a:spLocks noChangeAspect="1"/>
          </p:cNvSpPr>
          <p:nvPr>
            <p:custDataLst>
              <p:tags r:id="rId8"/>
            </p:custDataLst>
          </p:nvPr>
        </p:nvSpPr>
        <p:spPr>
          <a:xfrm>
            <a:off x="1181100" y="4200525"/>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wrap="square" lIns="90000" tIns="46800" rIns="90000" bIns="46800" anchor="ctr" anchorCtr="1"/>
          <a:lstStyle/>
          <a:p>
            <a:pPr>
              <a:buSzTx/>
            </a:pP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8201" name="椭圆 10"/>
          <p:cNvSpPr>
            <a:spLocks noChangeAspect="1"/>
          </p:cNvSpPr>
          <p:nvPr>
            <p:custDataLst>
              <p:tags r:id="rId9"/>
            </p:custDataLst>
          </p:nvPr>
        </p:nvSpPr>
        <p:spPr>
          <a:xfrm>
            <a:off x="1181100" y="5057775"/>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wrap="square" lIns="90000" tIns="46800" rIns="90000" bIns="46800" anchor="ctr" anchorCtr="1"/>
          <a:lstStyle/>
          <a:p>
            <a:pPr>
              <a:buSzTx/>
            </a:pP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8202" name="圆角矩形 11"/>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round/>
            <a:headEnd type="none" w="med" len="med"/>
            <a:tailEnd type="none" w="med" len="med"/>
          </a:ln>
        </p:spPr>
        <p:txBody>
          <a:bodyPr wrap="square" lIns="90000" tIns="46800" rIns="90000" bIns="46800" anchor="ctr" anchorCtr="1"/>
          <a:lstStyle/>
          <a:p>
            <a:pPr>
              <a:buSzTx/>
            </a:pP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8203" name="组合 16"/>
          <p:cNvGrpSpPr/>
          <p:nvPr/>
        </p:nvGrpSpPr>
        <p:grpSpPr>
          <a:xfrm>
            <a:off x="0" y="0"/>
            <a:ext cx="9144000" cy="635000"/>
            <a:chOff x="0" y="0"/>
            <a:chExt cx="14400" cy="1000"/>
          </a:xfrm>
        </p:grpSpPr>
        <p:sp>
          <p:nvSpPr>
            <p:cNvPr id="8204" name="TitleBackground"/>
            <p:cNvSpPr/>
            <p:nvPr>
              <p:custDataLst>
                <p:tags r:id="rId11"/>
              </p:custDataLst>
            </p:nvPr>
          </p:nvSpPr>
          <p:spPr>
            <a:xfrm>
              <a:off x="0" y="0"/>
              <a:ext cx="14400" cy="1000"/>
            </a:xfrm>
            <a:prstGeom prst="rect">
              <a:avLst/>
            </a:prstGeom>
            <a:solidFill>
              <a:srgbClr val="F6F7F8"/>
            </a:solidFill>
            <a:ln w="9525">
              <a:noFill/>
            </a:ln>
          </p:spPr>
          <p:txBody>
            <a:bodyPr wrap="square" lIns="90000" tIns="46800" rIns="90000" bIns="46800" anchor="t" anchorCtr="0"/>
            <a:lstStyle/>
            <a:p>
              <a:pPr>
                <a:buSzTx/>
              </a:pPr>
              <a:endParaRPr lang="zh-CN" altLang="en-US">
                <a:latin typeface="Tahoma" panose="020B0604030504040204" pitchFamily="34" charset="0"/>
                <a:ea typeface="华文中宋" panose="02010600040101010101" pitchFamily="2" charset="-122"/>
              </a:endParaRPr>
            </a:p>
          </p:txBody>
        </p:sp>
        <p:sp>
          <p:nvSpPr>
            <p:cNvPr id="8205" name="ColorBlock"/>
            <p:cNvSpPr/>
            <p:nvPr>
              <p:custDataLst>
                <p:tags r:id="rId12"/>
              </p:custDataLst>
            </p:nvPr>
          </p:nvSpPr>
          <p:spPr>
            <a:xfrm>
              <a:off x="0" y="0"/>
              <a:ext cx="300" cy="1000"/>
            </a:xfrm>
            <a:prstGeom prst="rect">
              <a:avLst/>
            </a:prstGeom>
            <a:solidFill>
              <a:srgbClr val="639EF4"/>
            </a:solidFill>
            <a:ln w="9525">
              <a:noFill/>
            </a:ln>
          </p:spPr>
          <p:txBody>
            <a:bodyPr wrap="square" lIns="90000" tIns="46800" rIns="90000" bIns="46800" anchor="t" anchorCtr="0"/>
            <a:lstStyle/>
            <a:p>
              <a:pPr>
                <a:buSzTx/>
              </a:pPr>
              <a:endParaRPr lang="zh-CN" altLang="en-US">
                <a:latin typeface="Tahoma" panose="020B0604030504040204" pitchFamily="34" charset="0"/>
                <a:ea typeface="华文中宋" panose="02010600040101010101" pitchFamily="2" charset="-122"/>
              </a:endParaRPr>
            </a:p>
          </p:txBody>
        </p:sp>
        <p:sp>
          <p:nvSpPr>
            <p:cNvPr id="8206" name="TypeText"/>
            <p:cNvSpPr txBox="1"/>
            <p:nvPr>
              <p:custDataLst>
                <p:tags r:id="rId13"/>
              </p:custDataLst>
            </p:nvPr>
          </p:nvSpPr>
          <p:spPr>
            <a:xfrm>
              <a:off x="400" y="0"/>
              <a:ext cx="3000" cy="1000"/>
            </a:xfrm>
            <a:prstGeom prst="rect">
              <a:avLst/>
            </a:prstGeom>
            <a:noFill/>
            <a:ln w="9525">
              <a:noFill/>
            </a:ln>
          </p:spPr>
          <p:txBody>
            <a:bodyPr wrap="none" anchor="ctr" anchorCtr="0"/>
            <a:lstStyle/>
            <a:p>
              <a:pPr eaLnBrk="0" hangingPunct="0"/>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8207" name="TipText"/>
            <p:cNvSpPr txBox="1"/>
            <p:nvPr>
              <p:custDataLst>
                <p:tags r:id="rId14"/>
              </p:custDataLst>
            </p:nvPr>
          </p:nvSpPr>
          <p:spPr>
            <a:xfrm>
              <a:off x="2248" y="172"/>
              <a:ext cx="3600" cy="800"/>
            </a:xfrm>
            <a:prstGeom prst="rect">
              <a:avLst/>
            </a:prstGeom>
            <a:noFill/>
            <a:ln w="9525">
              <a:noFill/>
            </a:ln>
          </p:spPr>
          <p:txBody>
            <a:bodyPr wrap="none" anchor="ctr" anchorCtr="0"/>
            <a:lstStyle/>
            <a:p>
              <a:pPr eaLnBrk="0" hangingPunct="0"/>
              <a:r>
                <a:rPr lang="zh-CN" altLang="en-US" sz="2000">
                  <a:solidFill>
                    <a:srgbClr val="808080"/>
                  </a:solidFill>
                  <a:latin typeface="微软雅黑" panose="020B0503020204020204" charset="-122"/>
                  <a:ea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endParaRPr>
            </a:p>
          </p:txBody>
        </p:sp>
      </p:grpSp>
      <p:pic>
        <p:nvPicPr>
          <p:cNvPr id="8208" name="图片 1" descr="tmp7CFE"/>
          <p:cNvPicPr>
            <a:picLocks noChangeAspect="1"/>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
        <p:nvSpPr>
          <p:cNvPr id="18" name="矩形 17"/>
          <p:cNvSpPr/>
          <p:nvPr>
            <p:custDataLst>
              <p:tags r:id="rId17"/>
            </p:custDataLst>
          </p:nvPr>
        </p:nvSpPr>
        <p:spPr>
          <a:xfrm>
            <a:off x="1090295" y="2307590"/>
            <a:ext cx="770890" cy="3522980"/>
          </a:xfrm>
          <a:prstGeom prst="rect">
            <a:avLst/>
          </a:prstGeom>
          <a:solidFill>
            <a:schemeClr val="bg1"/>
          </a:solidFill>
          <a:ln w="9525" cap="flat" cmpd="sng" algn="ctr">
            <a:no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ustDataLst>
      <p:tags r:id="rId1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836930" y="683895"/>
            <a:ext cx="7713980" cy="2143125"/>
          </a:xfrm>
          <a:prstGeom prst="rect">
            <a:avLst/>
          </a:prstGeom>
          <a:noFill/>
        </p:spPr>
        <p:txBody>
          <a:bodyPr wrap="square" rtlCol="0" anchor="ctr" anchorCtr="0">
            <a:noAutofit/>
          </a:bodyPr>
          <a:lstStyle/>
          <a:p>
            <a:pPr lvl="0" algn="l" eaLnBrk="1" latinLnBrk="0" hangingPunct="1">
              <a:lnSpc>
                <a:spcPts val="3500"/>
              </a:lnSpc>
              <a:buNone/>
            </a:pPr>
            <a:r>
              <a:rPr lang="en-US" altLang="zh-CN" sz="2400">
                <a:sym typeface="+mn-ea"/>
              </a:rPr>
              <a:t>3</a:t>
            </a:r>
            <a:r>
              <a:rPr lang="zh-CN" altLang="en-US" sz="2400">
                <a:sym typeface="+mn-ea"/>
              </a:rPr>
              <a:t>、</a:t>
            </a:r>
            <a:r>
              <a:rPr lang="en-US" altLang="zh-CN" sz="2400">
                <a:sym typeface="+mn-ea"/>
              </a:rPr>
              <a:t>45</a:t>
            </a:r>
            <a:r>
              <a:rPr lang="zh-CN" altLang="en-US" sz="2400">
                <a:sym typeface="+mn-ea"/>
              </a:rPr>
              <a:t>钢的持久疲劳极限</a:t>
            </a:r>
            <a:r>
              <a:rPr lang="zh-CN" altLang="en-US" sz="2400">
                <a:sym typeface="Symbol" panose="05050102010706020507" pitchFamily="18" charset="2"/>
              </a:rPr>
              <a:t></a:t>
            </a:r>
            <a:r>
              <a:rPr lang="en-US" altLang="zh-CN" sz="2400" baseline="-25000">
                <a:sym typeface="+mn-ea"/>
              </a:rPr>
              <a:t>-1</a:t>
            </a:r>
            <a:r>
              <a:rPr lang="en-US" altLang="zh-CN" sz="2400">
                <a:sym typeface="+mn-ea"/>
              </a:rPr>
              <a:t>=270Mpa</a:t>
            </a:r>
            <a:r>
              <a:rPr lang="zh-CN" altLang="en-US" sz="2400">
                <a:sym typeface="+mn-ea"/>
              </a:rPr>
              <a:t>，设疲劳曲线方程的幂指数</a:t>
            </a:r>
            <a:r>
              <a:rPr lang="en-US" altLang="zh-CN" sz="2400">
                <a:sym typeface="+mn-ea"/>
              </a:rPr>
              <a:t>m=9</a:t>
            </a:r>
            <a:r>
              <a:rPr lang="zh-CN" altLang="en-US" sz="2400">
                <a:sym typeface="+mn-ea"/>
              </a:rPr>
              <a:t>，应力循环基数</a:t>
            </a:r>
            <a:r>
              <a:rPr lang="en-US" altLang="zh-CN" sz="2400">
                <a:sym typeface="+mn-ea"/>
              </a:rPr>
              <a:t>N</a:t>
            </a:r>
            <a:r>
              <a:rPr lang="en-US" altLang="zh-CN" sz="2400" baseline="-25000">
                <a:sym typeface="+mn-ea"/>
              </a:rPr>
              <a:t>0</a:t>
            </a:r>
            <a:r>
              <a:rPr lang="en-US" altLang="zh-CN" sz="2400">
                <a:sym typeface="+mn-ea"/>
              </a:rPr>
              <a:t>=5×10</a:t>
            </a:r>
            <a:r>
              <a:rPr lang="en-US" altLang="zh-CN" sz="2400" baseline="30000">
                <a:sym typeface="+mn-ea"/>
              </a:rPr>
              <a:t>6</a:t>
            </a:r>
            <a:r>
              <a:rPr lang="zh-CN" altLang="en-US" sz="2400">
                <a:sym typeface="+mn-ea"/>
              </a:rPr>
              <a:t>次，当实际应力循环次数</a:t>
            </a:r>
            <a:r>
              <a:rPr lang="en-US" altLang="zh-CN" sz="2400">
                <a:sym typeface="+mn-ea"/>
              </a:rPr>
              <a:t>N=10</a:t>
            </a:r>
            <a:r>
              <a:rPr lang="en-US" altLang="zh-CN" sz="2400" baseline="30000">
                <a:sym typeface="+mn-ea"/>
              </a:rPr>
              <a:t>4</a:t>
            </a:r>
            <a:r>
              <a:rPr lang="zh-CN" altLang="en-US" sz="2400">
                <a:sym typeface="+mn-ea"/>
              </a:rPr>
              <a:t>次时，有限寿命疲劳极限为</a:t>
            </a:r>
            <a:r>
              <a:rPr lang="zh-CN" altLang="en-US" sz="2400" u="sng">
                <a:sym typeface="+mn-ea"/>
              </a:rPr>
              <a:t>         </a:t>
            </a:r>
            <a:r>
              <a:rPr lang="en-US" altLang="zh-CN" sz="2400">
                <a:sym typeface="+mn-ea"/>
              </a:rPr>
              <a:t>Mpa</a:t>
            </a:r>
            <a:r>
              <a:rPr lang="zh-CN" altLang="en-US" sz="2400">
                <a:sym typeface="+mn-ea"/>
              </a:rPr>
              <a:t>。</a:t>
            </a:r>
            <a:endParaRPr lang="zh-CN" altLang="en-US" sz="24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charset="-122"/>
                <a:ea typeface="微软雅黑" panose="020B0503020204020204" charset="-122"/>
              </a:rPr>
              <a:t>539</a:t>
            </a:r>
            <a:endParaRPr lang="en-US" altLang="zh-CN"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charset="-122"/>
                <a:ea typeface="微软雅黑" panose="020B0503020204020204" charset="-122"/>
              </a:rPr>
              <a:t>135</a:t>
            </a:r>
            <a:endParaRPr lang="en-US" altLang="zh-CN"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charset="-122"/>
                <a:ea typeface="微软雅黑" panose="020B0503020204020204" charset="-122"/>
              </a:rPr>
              <a:t>175</a:t>
            </a:r>
            <a:endParaRPr lang="en-US" altLang="zh-CN"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charset="-122"/>
                <a:ea typeface="微软雅黑" panose="020B0503020204020204" charset="-122"/>
              </a:rPr>
              <a:t>417</a:t>
            </a:r>
            <a:endParaRPr lang="en-US" altLang="zh-CN"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0000" tIns="46800" rIns="90000" bIns="46800" numCol="1" anchor="ctr" anchorCtr="1"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a:ln>
                <a:noFill/>
              </a:ln>
              <a:solidFill>
                <a:srgbClr val="FFFFFF"/>
              </a:solidFill>
              <a:effectLst/>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3"/>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p:spPr>
          <p:txBody>
            <a:bodyPr vert="horz" wrap="square" lIns="90000" tIns="46800" rIns="90000" bIns="4680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8E42"/>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文本框 2"/>
          <p:cNvSpPr txBox="1"/>
          <p:nvPr>
            <p:custDataLst>
              <p:tags r:id="rId1"/>
            </p:custDataLst>
          </p:nvPr>
        </p:nvSpPr>
        <p:spPr>
          <a:xfrm>
            <a:off x="374650" y="1166813"/>
            <a:ext cx="8561388" cy="2143125"/>
          </a:xfrm>
          <a:prstGeom prst="rect">
            <a:avLst/>
          </a:prstGeom>
          <a:noFill/>
          <a:ln w="9525">
            <a:noFill/>
          </a:ln>
        </p:spPr>
        <p:txBody>
          <a:bodyPr wrap="square" anchor="ctr" anchorCtr="0"/>
          <a:lstStyle/>
          <a:p>
            <a:pPr algn="just">
              <a:lnSpc>
                <a:spcPct val="140000"/>
              </a:lnSpc>
            </a:pPr>
            <a:r>
              <a:rPr lang="en-US" altLang="zh-CN" sz="2000">
                <a:solidFill>
                  <a:srgbClr val="000000"/>
                </a:solidFill>
                <a:latin typeface="Tahoma" panose="020B0604030504040204" pitchFamily="34" charset="0"/>
                <a:ea typeface="华文中宋" panose="02010600040101010101" pitchFamily="2" charset="-122"/>
              </a:rPr>
              <a:t>4</a:t>
            </a:r>
            <a:r>
              <a:rPr lang="zh-CN" altLang="en-US" sz="2000">
                <a:solidFill>
                  <a:srgbClr val="000000"/>
                </a:solidFill>
                <a:latin typeface="Tahoma" panose="020B0604030504040204" pitchFamily="34" charset="0"/>
                <a:ea typeface="华文中宋" panose="02010600040101010101" pitchFamily="2" charset="-122"/>
              </a:rPr>
              <a:t>、在图示零件的极限应力简图上，M为零件的工作应力点。若加载于零件的过程中保持最小应力</a:t>
            </a:r>
            <a:r>
              <a:rPr lang="zh-CN" altLang="en-US" sz="2000">
                <a:solidFill>
                  <a:srgbClr val="000000"/>
                </a:solidFill>
                <a:latin typeface="Tahoma" panose="020B0604030504040204" pitchFamily="34" charset="0"/>
                <a:ea typeface="华文中宋" panose="02010600040101010101" pitchFamily="2" charset="-122"/>
                <a:sym typeface="Symbol" panose="05050102010706020507" charset="0"/>
              </a:rPr>
              <a:t></a:t>
            </a:r>
            <a:r>
              <a:rPr lang="zh-CN" altLang="en-US" sz="2000" baseline="-25000">
                <a:solidFill>
                  <a:srgbClr val="000000"/>
                </a:solidFill>
                <a:latin typeface="Tahoma" panose="020B0604030504040204" pitchFamily="34" charset="0"/>
                <a:ea typeface="华文中宋" panose="02010600040101010101" pitchFamily="2" charset="-122"/>
              </a:rPr>
              <a:t>min</a:t>
            </a:r>
            <a:r>
              <a:rPr lang="zh-CN" altLang="en-US" sz="2000">
                <a:solidFill>
                  <a:srgbClr val="000000"/>
                </a:solidFill>
                <a:latin typeface="Tahoma" panose="020B0604030504040204" pitchFamily="34" charset="0"/>
                <a:ea typeface="华文中宋" panose="02010600040101010101" pitchFamily="2" charset="-122"/>
              </a:rPr>
              <a:t>为常数，则该零件的极限应力点应为 </a:t>
            </a:r>
            <a:r>
              <a:rPr lang="zh-CN" altLang="en-US" sz="2000">
                <a:solidFill>
                  <a:srgbClr val="639EF4"/>
                </a:solidFill>
                <a:latin typeface="Tahoma" panose="020B0604030504040204" pitchFamily="34" charset="0"/>
                <a:ea typeface="华文中宋" panose="02010600040101010101" pitchFamily="2" charset="-122"/>
              </a:rPr>
              <a:t>[填空1]</a:t>
            </a:r>
            <a:r>
              <a:rPr lang="zh-CN" altLang="en-US" sz="2000">
                <a:solidFill>
                  <a:srgbClr val="000000"/>
                </a:solidFill>
                <a:latin typeface="Tahoma" panose="020B0604030504040204" pitchFamily="34" charset="0"/>
                <a:ea typeface="华文中宋" panose="02010600040101010101" pitchFamily="2" charset="-122"/>
              </a:rPr>
              <a:t> ；若对零件加载的过程中保持应力比r为常数，则该零件的极限应力点应为 </a:t>
            </a:r>
            <a:r>
              <a:rPr lang="zh-CN" altLang="en-US" sz="2000">
                <a:solidFill>
                  <a:srgbClr val="639EF4"/>
                </a:solidFill>
                <a:latin typeface="Tahoma" panose="020B0604030504040204" pitchFamily="34" charset="0"/>
                <a:ea typeface="华文中宋" panose="02010600040101010101" pitchFamily="2" charset="-122"/>
              </a:rPr>
              <a:t>[填空2]</a:t>
            </a:r>
            <a:r>
              <a:rPr lang="zh-CN" altLang="en-US" sz="2000">
                <a:solidFill>
                  <a:srgbClr val="000000"/>
                </a:solidFill>
                <a:latin typeface="Tahoma" panose="020B0604030504040204" pitchFamily="34" charset="0"/>
                <a:ea typeface="华文中宋" panose="02010600040101010101" pitchFamily="2" charset="-122"/>
              </a:rPr>
              <a:t>；若对零件加载的过程中保持平均应力</a:t>
            </a:r>
            <a:r>
              <a:rPr lang="zh-CN" altLang="en-US" sz="2000">
                <a:solidFill>
                  <a:srgbClr val="000000"/>
                </a:solidFill>
                <a:latin typeface="Tahoma" panose="020B0604030504040204" pitchFamily="34" charset="0"/>
                <a:ea typeface="华文中宋" panose="02010600040101010101" pitchFamily="2" charset="-122"/>
                <a:sym typeface="Symbol" panose="05050102010706020507" charset="0"/>
              </a:rPr>
              <a:t></a:t>
            </a:r>
            <a:r>
              <a:rPr lang="zh-CN" altLang="en-US" sz="2000" baseline="-25000">
                <a:solidFill>
                  <a:srgbClr val="000000"/>
                </a:solidFill>
                <a:latin typeface="Tahoma" panose="020B0604030504040204" pitchFamily="34" charset="0"/>
                <a:ea typeface="华文中宋" panose="02010600040101010101" pitchFamily="2" charset="-122"/>
              </a:rPr>
              <a:t>m</a:t>
            </a:r>
            <a:r>
              <a:rPr lang="zh-CN" altLang="en-US" sz="2000">
                <a:solidFill>
                  <a:srgbClr val="000000"/>
                </a:solidFill>
                <a:latin typeface="Tahoma" panose="020B0604030504040204" pitchFamily="34" charset="0"/>
                <a:ea typeface="华文中宋" panose="02010600040101010101" pitchFamily="2" charset="-122"/>
              </a:rPr>
              <a:t>为常数，则该零件的极限应力点应为</a:t>
            </a:r>
            <a:r>
              <a:rPr lang="zh-CN" altLang="en-US" sz="2000">
                <a:solidFill>
                  <a:srgbClr val="639EF4"/>
                </a:solidFill>
                <a:latin typeface="Tahoma" panose="020B0604030504040204" pitchFamily="34" charset="0"/>
                <a:ea typeface="华文中宋" panose="02010600040101010101" pitchFamily="2" charset="-122"/>
              </a:rPr>
              <a:t>[填空3]</a:t>
            </a:r>
            <a:r>
              <a:rPr lang="zh-CN" altLang="en-US" sz="2000">
                <a:solidFill>
                  <a:srgbClr val="000000"/>
                </a:solidFill>
                <a:latin typeface="Tahoma" panose="020B0604030504040204" pitchFamily="34" charset="0"/>
                <a:ea typeface="华文中宋" panose="02010600040101010101" pitchFamily="2" charset="-122"/>
              </a:rPr>
              <a:t>   。             </a:t>
            </a:r>
            <a:endParaRPr lang="zh-CN" altLang="en-US" sz="2000">
              <a:solidFill>
                <a:srgbClr val="000000"/>
              </a:solidFill>
              <a:latin typeface="Tahoma" panose="020B0604030504040204" pitchFamily="34" charset="0"/>
              <a:ea typeface="华文中宋" panose="02010600040101010101" pitchFamily="2" charset="-122"/>
            </a:endParaRPr>
          </a:p>
          <a:p>
            <a:pPr algn="just">
              <a:lnSpc>
                <a:spcPct val="140000"/>
              </a:lnSpc>
            </a:pPr>
            <a:r>
              <a:rPr lang="zh-CN" altLang="en-US" sz="2000">
                <a:solidFill>
                  <a:srgbClr val="000000"/>
                </a:solidFill>
                <a:latin typeface="Tahoma" panose="020B0604030504040204" pitchFamily="34" charset="0"/>
                <a:ea typeface="华文中宋" panose="02010600040101010101" pitchFamily="2" charset="-122"/>
              </a:rPr>
              <a:t>（A）M1；（B）M2；（C）M3；（D）M4</a:t>
            </a:r>
            <a:endParaRPr lang="zh-CN" altLang="en-US" sz="2000">
              <a:solidFill>
                <a:srgbClr val="000000"/>
              </a:solidFill>
              <a:latin typeface="Tahoma" panose="020B0604030504040204" pitchFamily="34" charset="0"/>
              <a:ea typeface="华文中宋" panose="02010600040101010101" pitchFamily="2" charset="-122"/>
            </a:endParaRPr>
          </a:p>
          <a:p>
            <a:pPr algn="just">
              <a:lnSpc>
                <a:spcPct val="140000"/>
              </a:lnSpc>
            </a:pPr>
            <a:endParaRPr lang="zh-CN" altLang="en-US" sz="2000">
              <a:solidFill>
                <a:srgbClr val="000000"/>
              </a:solidFill>
              <a:latin typeface="Tahoma" panose="020B0604030504040204" pitchFamily="34" charset="0"/>
              <a:ea typeface="华文中宋" panose="02010600040101010101" pitchFamily="2" charset="-122"/>
            </a:endParaRPr>
          </a:p>
          <a:p>
            <a:pPr algn="just">
              <a:lnSpc>
                <a:spcPct val="140000"/>
              </a:lnSpc>
            </a:pPr>
            <a:endParaRPr lang="zh-CN" altLang="en-US" sz="2000">
              <a:solidFill>
                <a:srgbClr val="000000"/>
              </a:solidFill>
              <a:latin typeface="Tahoma" panose="020B0604030504040204" pitchFamily="34" charset="0"/>
              <a:ea typeface="华文中宋" panose="02010600040101010101" pitchFamily="2" charset="-122"/>
            </a:endParaRPr>
          </a:p>
        </p:txBody>
      </p:sp>
      <p:sp>
        <p:nvSpPr>
          <p:cNvPr id="10242" name="圆角矩形 3"/>
          <p:cNvSpPr/>
          <p:nvPr>
            <p:custDataLst>
              <p:tags r:id="rId2"/>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round/>
            <a:headEnd type="none" w="med" len="med"/>
            <a:tailEnd type="none" w="med" len="med"/>
          </a:ln>
        </p:spPr>
        <p:txBody>
          <a:bodyPr wrap="square" lIns="90000" tIns="46800" rIns="90000" bIns="46800" anchor="ctr" anchorCtr="1"/>
          <a:lstStyle/>
          <a:p>
            <a:pPr>
              <a:buSzTx/>
            </a:pP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sp>
        <p:nvSpPr>
          <p:cNvPr id="10243" name="矩形 9"/>
          <p:cNvSpPr/>
          <p:nvPr>
            <p:custDataLst>
              <p:tags r:id="rId3"/>
            </p:custDataLst>
          </p:nvPr>
        </p:nvSpPr>
        <p:spPr>
          <a:xfrm>
            <a:off x="0" y="5848350"/>
            <a:ext cx="9144000" cy="366713"/>
          </a:xfrm>
          <a:prstGeom prst="rect">
            <a:avLst/>
          </a:prstGeom>
          <a:solidFill>
            <a:srgbClr val="FBFAEF"/>
          </a:solidFill>
          <a:ln w="9525">
            <a:noFill/>
          </a:ln>
        </p:spPr>
        <p:txBody>
          <a:bodyPr wrap="none" lIns="90000" tIns="46800" rIns="90000" bIns="46800" anchor="ctr" anchorCtr="1"/>
          <a:lstStyle/>
          <a:p>
            <a:pPr>
              <a:buSzTx/>
            </a:pPr>
            <a:r>
              <a:rPr lang="zh-CN" altLang="en-US" sz="1200">
                <a:solidFill>
                  <a:srgbClr val="F84F41"/>
                </a:solidFill>
                <a:latin typeface="微软雅黑" panose="020B0503020204020204" charset="-122"/>
                <a:ea typeface="微软雅黑" panose="020B0503020204020204" charset="-122"/>
              </a:rPr>
              <a:t>正常使用填空题需3.0以上版本雨课堂</a:t>
            </a:r>
            <a:endParaRPr lang="zh-CN" altLang="en-US" sz="1200">
              <a:solidFill>
                <a:srgbClr val="F84F41"/>
              </a:solidFill>
              <a:latin typeface="微软雅黑" panose="020B0503020204020204" charset="-122"/>
              <a:ea typeface="微软雅黑" panose="020B0503020204020204" charset="-122"/>
            </a:endParaRPr>
          </a:p>
        </p:txBody>
      </p:sp>
      <p:grpSp>
        <p:nvGrpSpPr>
          <p:cNvPr id="10244" name="Group 3"/>
          <p:cNvGrpSpPr/>
          <p:nvPr/>
        </p:nvGrpSpPr>
        <p:grpSpPr>
          <a:xfrm>
            <a:off x="2438400" y="3086100"/>
            <a:ext cx="4267200" cy="2819400"/>
            <a:chOff x="0" y="0"/>
            <a:chExt cx="2688" cy="1776"/>
          </a:xfrm>
        </p:grpSpPr>
        <p:sp>
          <p:nvSpPr>
            <p:cNvPr id="10245" name="Line 5"/>
            <p:cNvSpPr/>
            <p:nvPr/>
          </p:nvSpPr>
          <p:spPr>
            <a:xfrm flipV="1">
              <a:off x="167" y="882"/>
              <a:ext cx="900" cy="656"/>
            </a:xfrm>
            <a:prstGeom prst="line">
              <a:avLst/>
            </a:prstGeom>
            <a:ln w="317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10246" name="Line 6"/>
            <p:cNvSpPr/>
            <p:nvPr/>
          </p:nvSpPr>
          <p:spPr>
            <a:xfrm flipV="1">
              <a:off x="376" y="858"/>
              <a:ext cx="597" cy="680"/>
            </a:xfrm>
            <a:prstGeom prst="line">
              <a:avLst/>
            </a:prstGeom>
            <a:ln w="317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10247" name="Line 7"/>
            <p:cNvSpPr/>
            <p:nvPr/>
          </p:nvSpPr>
          <p:spPr>
            <a:xfrm flipH="1" flipV="1">
              <a:off x="261" y="525"/>
              <a:ext cx="879" cy="1001"/>
            </a:xfrm>
            <a:prstGeom prst="line">
              <a:avLst/>
            </a:prstGeom>
            <a:ln w="317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10248" name="Line 8"/>
            <p:cNvSpPr/>
            <p:nvPr/>
          </p:nvSpPr>
          <p:spPr>
            <a:xfrm>
              <a:off x="167" y="0"/>
              <a:ext cx="1" cy="1538"/>
            </a:xfrm>
            <a:prstGeom prst="line">
              <a:avLst/>
            </a:prstGeom>
            <a:ln w="9525" cap="flat" cmpd="sng">
              <a:solidFill>
                <a:srgbClr val="000000"/>
              </a:solidFill>
              <a:prstDash val="solid"/>
              <a:round/>
              <a:headEnd type="triangle" w="sm" len="sm"/>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10249" name="Line 9"/>
            <p:cNvSpPr/>
            <p:nvPr/>
          </p:nvSpPr>
          <p:spPr>
            <a:xfrm>
              <a:off x="167" y="1537"/>
              <a:ext cx="2249" cy="1"/>
            </a:xfrm>
            <a:prstGeom prst="line">
              <a:avLst/>
            </a:prstGeom>
            <a:ln w="9525" cap="flat" cmpd="sng">
              <a:solidFill>
                <a:srgbClr val="000000"/>
              </a:solidFill>
              <a:prstDash val="solid"/>
              <a:round/>
              <a:headEnd type="none" w="med" len="med"/>
              <a:tailEnd type="triangle" w="sm" len="sm"/>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10250" name="Line 10"/>
            <p:cNvSpPr/>
            <p:nvPr/>
          </p:nvSpPr>
          <p:spPr>
            <a:xfrm flipH="1" flipV="1">
              <a:off x="1234" y="965"/>
              <a:ext cx="502" cy="573"/>
            </a:xfrm>
            <a:prstGeom prst="line">
              <a:avLst/>
            </a:prstGeom>
            <a:ln w="12700" cap="flat" cmpd="sng">
              <a:solidFill>
                <a:srgbClr val="0000FF"/>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10251" name="Line 11"/>
            <p:cNvSpPr/>
            <p:nvPr/>
          </p:nvSpPr>
          <p:spPr>
            <a:xfrm flipH="1" flipV="1">
              <a:off x="167" y="488"/>
              <a:ext cx="1067" cy="478"/>
            </a:xfrm>
            <a:prstGeom prst="line">
              <a:avLst/>
            </a:prstGeom>
            <a:ln w="12700" cap="flat" cmpd="sng">
              <a:solidFill>
                <a:srgbClr val="0000FF"/>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10252" name="Rectangle 12"/>
            <p:cNvSpPr/>
            <p:nvPr/>
          </p:nvSpPr>
          <p:spPr>
            <a:xfrm>
              <a:off x="324" y="1585"/>
              <a:ext cx="294" cy="191"/>
            </a:xfrm>
            <a:prstGeom prst="rect">
              <a:avLst/>
            </a:prstGeom>
            <a:noFill/>
            <a:ln w="9525">
              <a:noFill/>
            </a:ln>
          </p:spPr>
          <p:txBody>
            <a:bodyPr lIns="12700" tIns="12700" rIns="12700" bIns="12700" anchor="t" anchorCtr="0"/>
            <a:lstStyle/>
            <a:p>
              <a:pPr algn="just" eaLnBrk="0" hangingPunct="0"/>
              <a:endParaRPr lang="zh-CN" altLang="en-US" sz="1400">
                <a:latin typeface="Times New Roman" panose="02020603050405020304" pitchFamily="18" charset="0"/>
                <a:ea typeface="宋体" panose="02010600030101010101" pitchFamily="2" charset="-122"/>
              </a:endParaRPr>
            </a:p>
          </p:txBody>
        </p:sp>
        <p:sp>
          <p:nvSpPr>
            <p:cNvPr id="10253" name="Rectangle 13"/>
            <p:cNvSpPr/>
            <p:nvPr/>
          </p:nvSpPr>
          <p:spPr>
            <a:xfrm>
              <a:off x="73" y="1501"/>
              <a:ext cx="178" cy="239"/>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0</a:t>
              </a:r>
              <a:endParaRPr lang="en-US" altLang="zh-CN" sz="1400">
                <a:latin typeface="Times New Roman" panose="02020603050405020304" pitchFamily="18" charset="0"/>
                <a:ea typeface="宋体" panose="02010600030101010101" pitchFamily="2" charset="-122"/>
              </a:endParaRPr>
            </a:p>
          </p:txBody>
        </p:sp>
        <p:sp>
          <p:nvSpPr>
            <p:cNvPr id="10254" name="Rectangle 14"/>
            <p:cNvSpPr/>
            <p:nvPr/>
          </p:nvSpPr>
          <p:spPr>
            <a:xfrm flipH="1">
              <a:off x="480" y="1394"/>
              <a:ext cx="221" cy="179"/>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45</a:t>
              </a:r>
              <a:r>
                <a:rPr lang="en-US" altLang="zh-CN" sz="1400">
                  <a:latin typeface="Times New Roman" panose="02020603050405020304" pitchFamily="18" charset="0"/>
                  <a:ea typeface="宋体" panose="02010600030101010101" pitchFamily="2" charset="-122"/>
                  <a:sym typeface="Symbol" panose="05050102010706020507" pitchFamily="18" charset="2"/>
                </a:rPr>
                <a:t></a:t>
              </a:r>
              <a:endParaRPr lang="en-US" altLang="zh-CN" sz="1400">
                <a:latin typeface="Times New Roman" panose="02020603050405020304" pitchFamily="18" charset="0"/>
                <a:ea typeface="宋体" panose="02010600030101010101" pitchFamily="2" charset="-122"/>
              </a:endParaRPr>
            </a:p>
          </p:txBody>
        </p:sp>
        <p:sp>
          <p:nvSpPr>
            <p:cNvPr id="10255" name="Rectangle 15"/>
            <p:cNvSpPr/>
            <p:nvPr/>
          </p:nvSpPr>
          <p:spPr>
            <a:xfrm>
              <a:off x="1728" y="1344"/>
              <a:ext cx="252" cy="262"/>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135</a:t>
              </a:r>
              <a:r>
                <a:rPr lang="en-US" altLang="zh-CN" sz="1400">
                  <a:latin typeface="Times New Roman" panose="02020603050405020304" pitchFamily="18" charset="0"/>
                  <a:ea typeface="宋体" panose="02010600030101010101" pitchFamily="2" charset="-122"/>
                  <a:sym typeface="Symbol" panose="05050102010706020507" pitchFamily="18" charset="2"/>
                </a:rPr>
                <a:t></a:t>
              </a:r>
              <a:endParaRPr lang="en-US" altLang="zh-CN" sz="1400">
                <a:latin typeface="Times New Roman" panose="02020603050405020304" pitchFamily="18" charset="0"/>
                <a:ea typeface="宋体" panose="02010600030101010101" pitchFamily="2" charset="-122"/>
              </a:endParaRPr>
            </a:p>
          </p:txBody>
        </p:sp>
        <p:sp>
          <p:nvSpPr>
            <p:cNvPr id="10256" name="Rectangle 16"/>
            <p:cNvSpPr/>
            <p:nvPr/>
          </p:nvSpPr>
          <p:spPr>
            <a:xfrm>
              <a:off x="0" y="12"/>
              <a:ext cx="199" cy="23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a</a:t>
              </a:r>
              <a:endParaRPr lang="en-US" altLang="zh-CN" sz="1400">
                <a:latin typeface="Times New Roman" panose="02020603050405020304" pitchFamily="18" charset="0"/>
                <a:ea typeface="宋体" panose="02010600030101010101" pitchFamily="2" charset="-122"/>
              </a:endParaRPr>
            </a:p>
          </p:txBody>
        </p:sp>
        <p:sp>
          <p:nvSpPr>
            <p:cNvPr id="10257" name="Rectangle 17"/>
            <p:cNvSpPr/>
            <p:nvPr/>
          </p:nvSpPr>
          <p:spPr>
            <a:xfrm>
              <a:off x="2447" y="1406"/>
              <a:ext cx="241" cy="275"/>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sym typeface="Symbol" panose="05050102010706020507" pitchFamily="18" charset="2"/>
                </a:rPr>
                <a:t></a:t>
              </a:r>
              <a:r>
                <a:rPr lang="en-US" altLang="zh-CN" sz="1400" baseline="-25000">
                  <a:latin typeface="Times New Roman" panose="02020603050405020304" pitchFamily="18" charset="0"/>
                  <a:ea typeface="宋体" panose="02010600030101010101" pitchFamily="2" charset="-122"/>
                </a:rPr>
                <a:t>m</a:t>
              </a:r>
              <a:endParaRPr lang="en-US" altLang="zh-CN" sz="1400">
                <a:latin typeface="Times New Roman" panose="02020603050405020304" pitchFamily="18" charset="0"/>
                <a:ea typeface="宋体" panose="02010600030101010101" pitchFamily="2" charset="-122"/>
              </a:endParaRPr>
            </a:p>
          </p:txBody>
        </p:sp>
        <p:sp>
          <p:nvSpPr>
            <p:cNvPr id="10258" name="Rectangle 18"/>
            <p:cNvSpPr/>
            <p:nvPr/>
          </p:nvSpPr>
          <p:spPr>
            <a:xfrm>
              <a:off x="31" y="346"/>
              <a:ext cx="189" cy="23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A</a:t>
              </a:r>
              <a:endParaRPr lang="en-US" altLang="zh-CN" sz="1400">
                <a:latin typeface="Times New Roman" panose="02020603050405020304" pitchFamily="18" charset="0"/>
                <a:ea typeface="宋体" panose="02010600030101010101" pitchFamily="2" charset="-122"/>
              </a:endParaRPr>
            </a:p>
          </p:txBody>
        </p:sp>
        <p:sp>
          <p:nvSpPr>
            <p:cNvPr id="10259" name="Rectangle 19"/>
            <p:cNvSpPr/>
            <p:nvPr/>
          </p:nvSpPr>
          <p:spPr>
            <a:xfrm>
              <a:off x="1234" y="763"/>
              <a:ext cx="199" cy="23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G</a:t>
              </a:r>
              <a:endParaRPr lang="en-US" altLang="zh-CN" sz="1400">
                <a:latin typeface="Times New Roman" panose="02020603050405020304" pitchFamily="18" charset="0"/>
                <a:ea typeface="宋体" panose="02010600030101010101" pitchFamily="2" charset="-122"/>
              </a:endParaRPr>
            </a:p>
          </p:txBody>
        </p:sp>
        <p:sp>
          <p:nvSpPr>
            <p:cNvPr id="10260" name="Rectangle 20"/>
            <p:cNvSpPr/>
            <p:nvPr/>
          </p:nvSpPr>
          <p:spPr>
            <a:xfrm>
              <a:off x="1746" y="1573"/>
              <a:ext cx="179" cy="203"/>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C</a:t>
              </a:r>
              <a:endParaRPr lang="en-US" altLang="zh-CN" sz="1400">
                <a:latin typeface="Times New Roman" panose="02020603050405020304" pitchFamily="18" charset="0"/>
                <a:ea typeface="宋体" panose="02010600030101010101" pitchFamily="2" charset="-122"/>
              </a:endParaRPr>
            </a:p>
          </p:txBody>
        </p:sp>
        <p:sp>
          <p:nvSpPr>
            <p:cNvPr id="10261" name="Oval 21"/>
            <p:cNvSpPr/>
            <p:nvPr/>
          </p:nvSpPr>
          <p:spPr>
            <a:xfrm>
              <a:off x="1213" y="941"/>
              <a:ext cx="32" cy="37"/>
            </a:xfrm>
            <a:prstGeom prst="ellipse">
              <a:avLst/>
            </a:prstGeom>
            <a:solidFill>
              <a:srgbClr val="FF0000"/>
            </a:solidFill>
            <a:ln w="3175" cap="flat" cmpd="sng">
              <a:solidFill>
                <a:srgbClr val="000000"/>
              </a:solidFill>
              <a:prstDash val="solid"/>
              <a:round/>
              <a:headEnd type="none" w="med" len="med"/>
              <a:tailEnd type="none" w="med" len="med"/>
            </a:ln>
          </p:spPr>
          <p:txBody>
            <a:bodyPr anchor="t" anchorCtr="0"/>
            <a:lstStyle/>
            <a:p>
              <a:pPr eaLnBrk="0" hangingPunct="0"/>
              <a:endParaRPr lang="zh-CN" altLang="en-US" sz="2400">
                <a:latin typeface="Times New Roman" panose="02020603050405020304" pitchFamily="18" charset="0"/>
                <a:ea typeface="宋体" panose="02010600030101010101" pitchFamily="2" charset="-122"/>
              </a:endParaRPr>
            </a:p>
          </p:txBody>
        </p:sp>
        <p:sp>
          <p:nvSpPr>
            <p:cNvPr id="10262" name="Oval 22"/>
            <p:cNvSpPr/>
            <p:nvPr/>
          </p:nvSpPr>
          <p:spPr>
            <a:xfrm>
              <a:off x="1725" y="1513"/>
              <a:ext cx="32" cy="37"/>
            </a:xfrm>
            <a:prstGeom prst="ellipse">
              <a:avLst/>
            </a:prstGeom>
            <a:solidFill>
              <a:srgbClr val="FF0000"/>
            </a:solidFill>
            <a:ln w="3175" cap="flat" cmpd="sng">
              <a:solidFill>
                <a:srgbClr val="000000"/>
              </a:solidFill>
              <a:prstDash val="solid"/>
              <a:round/>
              <a:headEnd type="none" w="med" len="med"/>
              <a:tailEnd type="none" w="med" len="med"/>
            </a:ln>
          </p:spPr>
          <p:txBody>
            <a:bodyPr anchor="t" anchorCtr="0"/>
            <a:lstStyle/>
            <a:p>
              <a:pPr eaLnBrk="0" hangingPunct="0"/>
              <a:endParaRPr lang="zh-CN" altLang="en-US" sz="2400">
                <a:latin typeface="Times New Roman" panose="02020603050405020304" pitchFamily="18" charset="0"/>
                <a:ea typeface="宋体" panose="02010600030101010101" pitchFamily="2" charset="-122"/>
              </a:endParaRPr>
            </a:p>
          </p:txBody>
        </p:sp>
        <p:sp>
          <p:nvSpPr>
            <p:cNvPr id="10263" name="Oval 23"/>
            <p:cNvSpPr/>
            <p:nvPr/>
          </p:nvSpPr>
          <p:spPr>
            <a:xfrm>
              <a:off x="157" y="477"/>
              <a:ext cx="32" cy="36"/>
            </a:xfrm>
            <a:prstGeom prst="ellipse">
              <a:avLst/>
            </a:prstGeom>
            <a:solidFill>
              <a:srgbClr val="FF0000"/>
            </a:solidFill>
            <a:ln w="3175" cap="flat" cmpd="sng">
              <a:solidFill>
                <a:srgbClr val="000000"/>
              </a:solidFill>
              <a:prstDash val="solid"/>
              <a:round/>
              <a:headEnd type="none" w="med" len="med"/>
              <a:tailEnd type="none" w="med" len="med"/>
            </a:ln>
          </p:spPr>
          <p:txBody>
            <a:bodyPr anchor="t" anchorCtr="0"/>
            <a:lstStyle/>
            <a:p>
              <a:pPr eaLnBrk="0" hangingPunct="0"/>
              <a:endParaRPr lang="zh-CN" altLang="en-US" sz="2400">
                <a:latin typeface="Times New Roman" panose="02020603050405020304" pitchFamily="18" charset="0"/>
                <a:ea typeface="宋体" panose="02010600030101010101" pitchFamily="2" charset="-122"/>
              </a:endParaRPr>
            </a:p>
          </p:txBody>
        </p:sp>
        <p:sp>
          <p:nvSpPr>
            <p:cNvPr id="10264" name="Oval 24"/>
            <p:cNvSpPr/>
            <p:nvPr/>
          </p:nvSpPr>
          <p:spPr>
            <a:xfrm>
              <a:off x="742" y="1084"/>
              <a:ext cx="32" cy="37"/>
            </a:xfrm>
            <a:prstGeom prst="ellipse">
              <a:avLst/>
            </a:prstGeom>
            <a:solidFill>
              <a:srgbClr val="FF0000"/>
            </a:solidFill>
            <a:ln w="3175" cap="flat" cmpd="sng">
              <a:solidFill>
                <a:srgbClr val="000000"/>
              </a:solidFill>
              <a:prstDash val="solid"/>
              <a:round/>
              <a:headEnd type="none" w="med" len="med"/>
              <a:tailEnd type="none" w="med" len="med"/>
            </a:ln>
          </p:spPr>
          <p:txBody>
            <a:bodyPr anchor="t" anchorCtr="0"/>
            <a:lstStyle/>
            <a:p>
              <a:pPr eaLnBrk="0" hangingPunct="0"/>
              <a:endParaRPr lang="zh-CN" altLang="en-US" sz="2400">
                <a:latin typeface="Times New Roman" panose="02020603050405020304" pitchFamily="18" charset="0"/>
                <a:ea typeface="宋体" panose="02010600030101010101" pitchFamily="2" charset="-122"/>
              </a:endParaRPr>
            </a:p>
          </p:txBody>
        </p:sp>
        <p:sp>
          <p:nvSpPr>
            <p:cNvPr id="10265" name="AutoShape 25"/>
            <p:cNvSpPr/>
            <p:nvPr/>
          </p:nvSpPr>
          <p:spPr>
            <a:xfrm>
              <a:off x="816" y="989"/>
              <a:ext cx="188" cy="239"/>
            </a:xfrm>
            <a:prstGeom prst="roundRect">
              <a:avLst>
                <a:gd name="adj" fmla="val 16667"/>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M</a:t>
              </a:r>
              <a:endParaRPr lang="en-US" altLang="zh-CN" sz="1400">
                <a:latin typeface="Times New Roman" panose="02020603050405020304" pitchFamily="18" charset="0"/>
                <a:ea typeface="宋体" panose="02010600030101010101" pitchFamily="2" charset="-122"/>
              </a:endParaRPr>
            </a:p>
          </p:txBody>
        </p:sp>
        <p:sp>
          <p:nvSpPr>
            <p:cNvPr id="10266" name="Line 26"/>
            <p:cNvSpPr/>
            <p:nvPr/>
          </p:nvSpPr>
          <p:spPr>
            <a:xfrm>
              <a:off x="763" y="751"/>
              <a:ext cx="1" cy="787"/>
            </a:xfrm>
            <a:prstGeom prst="line">
              <a:avLst/>
            </a:prstGeom>
            <a:ln w="317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ahoma" panose="020B0604030504040204" pitchFamily="34" charset="0"/>
                <a:ea typeface="华文中宋" panose="02010600040101010101" pitchFamily="2" charset="-122"/>
              </a:endParaRPr>
            </a:p>
          </p:txBody>
        </p:sp>
        <p:sp>
          <p:nvSpPr>
            <p:cNvPr id="10267" name="Rectangle 27"/>
            <p:cNvSpPr/>
            <p:nvPr/>
          </p:nvSpPr>
          <p:spPr>
            <a:xfrm>
              <a:off x="889" y="1394"/>
              <a:ext cx="199" cy="23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45</a:t>
              </a:r>
              <a:r>
                <a:rPr lang="en-US" altLang="zh-CN" sz="1400">
                  <a:latin typeface="Times New Roman" panose="02020603050405020304" pitchFamily="18" charset="0"/>
                  <a:ea typeface="宋体" panose="02010600030101010101" pitchFamily="2" charset="-122"/>
                  <a:sym typeface="Symbol" panose="05050102010706020507" pitchFamily="18" charset="2"/>
                </a:rPr>
                <a:t></a:t>
              </a:r>
              <a:endParaRPr lang="en-US" altLang="zh-CN" sz="1400">
                <a:latin typeface="Times New Roman" panose="02020603050405020304" pitchFamily="18" charset="0"/>
                <a:ea typeface="宋体" panose="02010600030101010101" pitchFamily="2" charset="-122"/>
              </a:endParaRPr>
            </a:p>
          </p:txBody>
        </p:sp>
        <p:sp>
          <p:nvSpPr>
            <p:cNvPr id="10268" name="Rectangle 28"/>
            <p:cNvSpPr/>
            <p:nvPr/>
          </p:nvSpPr>
          <p:spPr>
            <a:xfrm>
              <a:off x="701" y="537"/>
              <a:ext cx="178" cy="23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M</a:t>
              </a:r>
              <a:r>
                <a:rPr lang="en-US" altLang="zh-CN" sz="1400" baseline="-25000">
                  <a:latin typeface="Times New Roman" panose="02020603050405020304" pitchFamily="18" charset="0"/>
                  <a:ea typeface="宋体" panose="02010600030101010101" pitchFamily="2" charset="-122"/>
                </a:rPr>
                <a:t>1</a:t>
              </a:r>
              <a:endParaRPr lang="en-US" altLang="zh-CN" sz="1400">
                <a:latin typeface="Times New Roman" panose="02020603050405020304" pitchFamily="18" charset="0"/>
                <a:ea typeface="宋体" panose="02010600030101010101" pitchFamily="2" charset="-122"/>
              </a:endParaRPr>
            </a:p>
          </p:txBody>
        </p:sp>
        <p:sp>
          <p:nvSpPr>
            <p:cNvPr id="10269" name="Rectangle 29"/>
            <p:cNvSpPr/>
            <p:nvPr/>
          </p:nvSpPr>
          <p:spPr>
            <a:xfrm>
              <a:off x="899" y="632"/>
              <a:ext cx="179" cy="23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M</a:t>
              </a:r>
              <a:r>
                <a:rPr lang="en-US" altLang="zh-CN" sz="1400" baseline="-25000">
                  <a:latin typeface="Times New Roman" panose="02020603050405020304" pitchFamily="18" charset="0"/>
                  <a:ea typeface="宋体" panose="02010600030101010101" pitchFamily="2" charset="-122"/>
                </a:rPr>
                <a:t>2</a:t>
              </a:r>
              <a:endParaRPr lang="en-US" altLang="zh-CN" sz="1400">
                <a:latin typeface="Times New Roman" panose="02020603050405020304" pitchFamily="18" charset="0"/>
                <a:ea typeface="宋体" panose="02010600030101010101" pitchFamily="2" charset="-122"/>
              </a:endParaRPr>
            </a:p>
          </p:txBody>
        </p:sp>
        <p:sp>
          <p:nvSpPr>
            <p:cNvPr id="10270" name="Rectangle 30"/>
            <p:cNvSpPr/>
            <p:nvPr/>
          </p:nvSpPr>
          <p:spPr>
            <a:xfrm>
              <a:off x="1070" y="770"/>
              <a:ext cx="178" cy="23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M</a:t>
              </a:r>
              <a:r>
                <a:rPr lang="en-US" altLang="zh-CN" sz="1400" baseline="-25000">
                  <a:latin typeface="Times New Roman" panose="02020603050405020304" pitchFamily="18" charset="0"/>
                  <a:ea typeface="宋体" panose="02010600030101010101" pitchFamily="2" charset="-122"/>
                </a:rPr>
                <a:t>3</a:t>
              </a:r>
              <a:endParaRPr lang="en-US" altLang="zh-CN" sz="1400">
                <a:latin typeface="Times New Roman" panose="02020603050405020304" pitchFamily="18" charset="0"/>
                <a:ea typeface="宋体" panose="02010600030101010101" pitchFamily="2" charset="-122"/>
              </a:endParaRPr>
            </a:p>
          </p:txBody>
        </p:sp>
        <p:sp>
          <p:nvSpPr>
            <p:cNvPr id="10271" name="Rectangle 31"/>
            <p:cNvSpPr/>
            <p:nvPr/>
          </p:nvSpPr>
          <p:spPr>
            <a:xfrm>
              <a:off x="241" y="334"/>
              <a:ext cx="178" cy="238"/>
            </a:xfrm>
            <a:prstGeom prst="rect">
              <a:avLst/>
            </a:prstGeom>
            <a:noFill/>
            <a:ln w="9525">
              <a:noFill/>
            </a:ln>
          </p:spPr>
          <p:txBody>
            <a:bodyPr lIns="12700" tIns="12700" rIns="12700" bIns="12700" anchor="t" anchorCtr="0"/>
            <a:lstStyle/>
            <a:p>
              <a:pPr algn="just" eaLnBrk="0" hangingPunct="0"/>
              <a:r>
                <a:rPr lang="en-US" altLang="zh-CN" sz="1400">
                  <a:latin typeface="Times New Roman" panose="02020603050405020304" pitchFamily="18" charset="0"/>
                  <a:ea typeface="宋体" panose="02010600030101010101" pitchFamily="2" charset="-122"/>
                </a:rPr>
                <a:t>M</a:t>
              </a:r>
              <a:r>
                <a:rPr lang="en-US" altLang="zh-CN" sz="1400" baseline="-25000">
                  <a:latin typeface="Times New Roman" panose="02020603050405020304" pitchFamily="18" charset="0"/>
                  <a:ea typeface="宋体" panose="02010600030101010101" pitchFamily="2" charset="-122"/>
                </a:rPr>
                <a:t>4</a:t>
              </a:r>
              <a:endParaRPr lang="en-US" altLang="zh-CN" sz="1400">
                <a:latin typeface="Times New Roman" panose="02020603050405020304" pitchFamily="18" charset="0"/>
                <a:ea typeface="宋体" panose="02010600030101010101" pitchFamily="2" charset="-122"/>
              </a:endParaRPr>
            </a:p>
          </p:txBody>
        </p:sp>
      </p:grpSp>
      <p:grpSp>
        <p:nvGrpSpPr>
          <p:cNvPr id="10272" name="组合 8"/>
          <p:cNvGrpSpPr/>
          <p:nvPr/>
        </p:nvGrpSpPr>
        <p:grpSpPr>
          <a:xfrm>
            <a:off x="0" y="0"/>
            <a:ext cx="9144000" cy="635000"/>
            <a:chOff x="0" y="0"/>
            <a:chExt cx="14400" cy="1000"/>
          </a:xfrm>
        </p:grpSpPr>
        <p:sp>
          <p:nvSpPr>
            <p:cNvPr id="10273" name="TitleBackground"/>
            <p:cNvSpPr/>
            <p:nvPr>
              <p:custDataLst>
                <p:tags r:id="rId4"/>
              </p:custDataLst>
            </p:nvPr>
          </p:nvSpPr>
          <p:spPr>
            <a:xfrm>
              <a:off x="0" y="0"/>
              <a:ext cx="14400" cy="1000"/>
            </a:xfrm>
            <a:prstGeom prst="rect">
              <a:avLst/>
            </a:prstGeom>
            <a:solidFill>
              <a:srgbClr val="F6F7F8"/>
            </a:solidFill>
            <a:ln w="9525">
              <a:noFill/>
            </a:ln>
          </p:spPr>
          <p:txBody>
            <a:bodyPr wrap="square" lIns="90000" tIns="46800" rIns="90000" bIns="46800" anchor="t" anchorCtr="0"/>
            <a:lstStyle/>
            <a:p>
              <a:pPr>
                <a:buSzTx/>
              </a:pPr>
              <a:endParaRPr lang="zh-CN" altLang="en-US">
                <a:latin typeface="Tahoma" panose="020B0604030504040204" pitchFamily="34" charset="0"/>
                <a:ea typeface="华文中宋" panose="02010600040101010101" pitchFamily="2" charset="-122"/>
              </a:endParaRPr>
            </a:p>
          </p:txBody>
        </p:sp>
        <p:sp>
          <p:nvSpPr>
            <p:cNvPr id="10274" name="ColorBlock"/>
            <p:cNvSpPr/>
            <p:nvPr>
              <p:custDataLst>
                <p:tags r:id="rId5"/>
              </p:custDataLst>
            </p:nvPr>
          </p:nvSpPr>
          <p:spPr>
            <a:xfrm>
              <a:off x="0" y="0"/>
              <a:ext cx="300" cy="1000"/>
            </a:xfrm>
            <a:prstGeom prst="rect">
              <a:avLst/>
            </a:prstGeom>
            <a:solidFill>
              <a:srgbClr val="639EF4"/>
            </a:solidFill>
            <a:ln w="9525">
              <a:noFill/>
            </a:ln>
          </p:spPr>
          <p:txBody>
            <a:bodyPr wrap="square" lIns="90000" tIns="46800" rIns="90000" bIns="46800" anchor="t" anchorCtr="0"/>
            <a:lstStyle/>
            <a:p>
              <a:pPr>
                <a:buSzTx/>
              </a:pPr>
              <a:endParaRPr lang="zh-CN" altLang="en-US">
                <a:latin typeface="Tahoma" panose="020B0604030504040204" pitchFamily="34" charset="0"/>
                <a:ea typeface="华文中宋" panose="02010600040101010101" pitchFamily="2" charset="-122"/>
              </a:endParaRPr>
            </a:p>
          </p:txBody>
        </p:sp>
        <p:sp>
          <p:nvSpPr>
            <p:cNvPr id="10275" name="TypeText"/>
            <p:cNvSpPr txBox="1"/>
            <p:nvPr>
              <p:custDataLst>
                <p:tags r:id="rId6"/>
              </p:custDataLst>
            </p:nvPr>
          </p:nvSpPr>
          <p:spPr>
            <a:xfrm>
              <a:off x="400" y="0"/>
              <a:ext cx="3000" cy="1000"/>
            </a:xfrm>
            <a:prstGeom prst="rect">
              <a:avLst/>
            </a:prstGeom>
            <a:noFill/>
            <a:ln w="9525">
              <a:noFill/>
            </a:ln>
          </p:spPr>
          <p:txBody>
            <a:bodyPr wrap="none" anchor="ctr" anchorCtr="0"/>
            <a:lstStyle/>
            <a:p>
              <a:pPr eaLnBrk="0" hangingPunct="0"/>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10276" name="TipText"/>
            <p:cNvSpPr txBox="1"/>
            <p:nvPr>
              <p:custDataLst>
                <p:tags r:id="rId7"/>
              </p:custDataLst>
            </p:nvPr>
          </p:nvSpPr>
          <p:spPr>
            <a:xfrm>
              <a:off x="2248" y="172"/>
              <a:ext cx="3600" cy="800"/>
            </a:xfrm>
            <a:prstGeom prst="rect">
              <a:avLst/>
            </a:prstGeom>
            <a:noFill/>
            <a:ln w="9525">
              <a:noFill/>
            </a:ln>
          </p:spPr>
          <p:txBody>
            <a:bodyPr wrap="none" anchor="ctr" anchorCtr="0"/>
            <a:lstStyle/>
            <a:p>
              <a:pPr eaLnBrk="0" hangingPunct="0"/>
              <a:r>
                <a:rPr lang="zh-CN" altLang="en-US" sz="2000">
                  <a:solidFill>
                    <a:srgbClr val="808080"/>
                  </a:solidFill>
                  <a:latin typeface="微软雅黑" panose="020B0503020204020204" charset="-122"/>
                  <a:ea typeface="微软雅黑" panose="020B0503020204020204" charset="-122"/>
                </a:rPr>
                <a:t>3分</a:t>
              </a:r>
              <a:endParaRPr lang="zh-CN" altLang="en-US" sz="2000">
                <a:solidFill>
                  <a:srgbClr val="808080"/>
                </a:solidFill>
                <a:latin typeface="微软雅黑" panose="020B0503020204020204" charset="-122"/>
                <a:ea typeface="微软雅黑" panose="020B0503020204020204" charset="-122"/>
              </a:endParaRPr>
            </a:p>
          </p:txBody>
        </p:sp>
      </p:grpSp>
      <p:pic>
        <p:nvPicPr>
          <p:cNvPr id="10277" name="图片 1" descr="tmp7CFE"/>
          <p:cNvPicPr>
            <a:picLocks noChangeAspect="1"/>
          </p:cNvPicPr>
          <p:nvPr>
            <p:custDataLst>
              <p:tags r:id="rId8"/>
            </p:custDataLst>
          </p:nvPr>
        </p:nvPicPr>
        <p:blipFill>
          <a:blip r:embed="rId9"/>
          <a:stretch>
            <a:fillRect/>
          </a:stretch>
        </p:blipFill>
        <p:spPr>
          <a:xfrm>
            <a:off x="7594600" y="63500"/>
            <a:ext cx="1422400" cy="508000"/>
          </a:xfrm>
          <a:prstGeom prst="rect">
            <a:avLst/>
          </a:prstGeom>
          <a:noFill/>
          <a:ln w="9525">
            <a:noFill/>
          </a:ln>
        </p:spPr>
      </p:pic>
    </p:spTree>
    <p:custDataLst>
      <p:tags r:id="rId10"/>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2"/>
          <p:cNvSpPr txBox="1"/>
          <p:nvPr/>
        </p:nvSpPr>
        <p:spPr>
          <a:xfrm>
            <a:off x="296863" y="190818"/>
            <a:ext cx="4611687" cy="522287"/>
          </a:xfrm>
          <a:prstGeom prst="rect">
            <a:avLst/>
          </a:prstGeom>
          <a:noFill/>
          <a:ln w="9525">
            <a:noFill/>
          </a:ln>
        </p:spPr>
        <p:txBody>
          <a:bodyPr wrap="square" anchor="t" anchorCtr="0">
            <a:spAutoFit/>
          </a:bodyPr>
          <a:lstStyle/>
          <a:p>
            <a:pPr eaLnBrk="0" hangingPunct="0"/>
            <a:r>
              <a:rPr lang="zh-CN" altLang="en-US" sz="2800">
                <a:solidFill>
                  <a:srgbClr val="C00000"/>
                </a:solidFill>
                <a:latin typeface="黑体" panose="02010609060101010101" pitchFamily="49" charset="-122"/>
                <a:ea typeface="黑体" panose="02010609060101010101" pitchFamily="49" charset="-122"/>
              </a:rPr>
              <a:t>零件的疲劳强度</a:t>
            </a:r>
            <a:r>
              <a:rPr lang="zh-CN" altLang="en-US" sz="2800">
                <a:solidFill>
                  <a:schemeClr val="bg1"/>
                </a:solidFill>
                <a:latin typeface="黑体" panose="02010609060101010101" pitchFamily="49" charset="-122"/>
                <a:ea typeface="黑体" panose="02010609060101010101" pitchFamily="49" charset="-122"/>
              </a:rPr>
              <a:t>计算</a:t>
            </a:r>
            <a:endParaRPr lang="zh-CN" altLang="en-US" sz="2800">
              <a:solidFill>
                <a:schemeClr val="bg1"/>
              </a:solidFill>
              <a:latin typeface="黑体" panose="02010609060101010101" pitchFamily="49" charset="-122"/>
              <a:ea typeface="黑体" panose="02010609060101010101" pitchFamily="49" charset="-122"/>
            </a:endParaRPr>
          </a:p>
        </p:txBody>
      </p:sp>
      <p:sp>
        <p:nvSpPr>
          <p:cNvPr id="6146" name="文本框 1"/>
          <p:cNvSpPr txBox="1"/>
          <p:nvPr/>
        </p:nvSpPr>
        <p:spPr>
          <a:xfrm>
            <a:off x="666750" y="857250"/>
            <a:ext cx="3700463" cy="460375"/>
          </a:xfrm>
          <a:prstGeom prst="rect">
            <a:avLst/>
          </a:prstGeom>
          <a:noFill/>
          <a:ln w="9525">
            <a:noFill/>
          </a:ln>
        </p:spPr>
        <p:txBody>
          <a:bodyPr wrap="square" anchor="t" anchorCtr="0">
            <a:spAutoFit/>
          </a:bodyPr>
          <a:lstStyle/>
          <a:p>
            <a:r>
              <a:rPr lang="en-US" altLang="zh-CN" sz="2400">
                <a:latin typeface="黑体" panose="02010609060101010101" pitchFamily="49" charset="-122"/>
                <a:ea typeface="黑体" panose="02010609060101010101" pitchFamily="49" charset="-122"/>
              </a:rPr>
              <a:t>1</a:t>
            </a:r>
            <a:r>
              <a:rPr lang="zh-CN" altLang="en-US" sz="2400">
                <a:latin typeface="黑体" panose="02010609060101010101" pitchFamily="49" charset="-122"/>
                <a:ea typeface="黑体" panose="02010609060101010101" pitchFamily="49" charset="-122"/>
              </a:rPr>
              <a:t>、强度及强度计算准则</a:t>
            </a:r>
            <a:endParaRPr lang="zh-CN" altLang="en-US" sz="2400">
              <a:latin typeface="黑体" panose="02010609060101010101" pitchFamily="49" charset="-122"/>
              <a:ea typeface="黑体" panose="02010609060101010101" pitchFamily="49" charset="-122"/>
            </a:endParaRPr>
          </a:p>
        </p:txBody>
      </p:sp>
      <p:sp>
        <p:nvSpPr>
          <p:cNvPr id="6147" name="文本框 2"/>
          <p:cNvSpPr txBox="1"/>
          <p:nvPr/>
        </p:nvSpPr>
        <p:spPr>
          <a:xfrm>
            <a:off x="676275" y="1619250"/>
            <a:ext cx="3267075" cy="460375"/>
          </a:xfrm>
          <a:prstGeom prst="rect">
            <a:avLst/>
          </a:prstGeom>
          <a:noFill/>
          <a:ln w="9525">
            <a:noFill/>
          </a:ln>
        </p:spPr>
        <p:txBody>
          <a:bodyPr wrap="square" anchor="t" anchorCtr="0">
            <a:spAutoFit/>
          </a:bodyPr>
          <a:lstStyle/>
          <a:p>
            <a:r>
              <a:rPr lang="en-US" altLang="zh-CN" sz="2400">
                <a:latin typeface="黑体" panose="02010609060101010101" pitchFamily="49" charset="-122"/>
                <a:ea typeface="黑体" panose="02010609060101010101" pitchFamily="49" charset="-122"/>
              </a:rPr>
              <a:t>2</a:t>
            </a:r>
            <a:r>
              <a:rPr lang="zh-CN" altLang="en-US" sz="2400">
                <a:latin typeface="黑体" panose="02010609060101010101" pitchFamily="49" charset="-122"/>
                <a:ea typeface="黑体" panose="02010609060101010101" pitchFamily="49" charset="-122"/>
              </a:rPr>
              <a:t>、变应力的分类</a:t>
            </a:r>
            <a:endParaRPr lang="zh-CN" altLang="en-US" sz="2400">
              <a:latin typeface="黑体" panose="02010609060101010101" pitchFamily="49" charset="-122"/>
              <a:ea typeface="黑体" panose="02010609060101010101" pitchFamily="49" charset="-122"/>
            </a:endParaRPr>
          </a:p>
        </p:txBody>
      </p:sp>
      <p:sp>
        <p:nvSpPr>
          <p:cNvPr id="6148" name="文本框 3"/>
          <p:cNvSpPr txBox="1"/>
          <p:nvPr/>
        </p:nvSpPr>
        <p:spPr>
          <a:xfrm>
            <a:off x="676275" y="2168525"/>
            <a:ext cx="4103688" cy="1198563"/>
          </a:xfrm>
          <a:prstGeom prst="rect">
            <a:avLst/>
          </a:prstGeom>
          <a:noFill/>
          <a:ln w="9525">
            <a:noFill/>
          </a:ln>
        </p:spPr>
        <p:txBody>
          <a:bodyPr wrap="square" anchor="t" anchorCtr="0">
            <a:spAutoFit/>
          </a:bodyPr>
          <a:lstStyle/>
          <a:p>
            <a:pPr>
              <a:lnSpc>
                <a:spcPct val="150000"/>
              </a:lnSpc>
            </a:pPr>
            <a:r>
              <a:rPr lang="en-US" altLang="zh-CN" sz="2400">
                <a:latin typeface="黑体" panose="02010609060101010101" pitchFamily="49" charset="-122"/>
                <a:ea typeface="黑体" panose="02010609060101010101" pitchFamily="49" charset="-122"/>
              </a:rPr>
              <a:t>3</a:t>
            </a:r>
            <a:r>
              <a:rPr lang="zh-CN" altLang="en-US" sz="2400">
                <a:latin typeface="黑体" panose="02010609060101010101" pitchFamily="49" charset="-122"/>
                <a:ea typeface="黑体" panose="02010609060101010101" pitchFamily="49" charset="-122"/>
              </a:rPr>
              <a:t>、材料的</a:t>
            </a:r>
            <a:r>
              <a:rPr lang="zh-CN" altLang="en-US" sz="2400">
                <a:latin typeface="黑体" panose="02010609060101010101" pitchFamily="49" charset="-122"/>
                <a:ea typeface="黑体" panose="02010609060101010101" pitchFamily="49" charset="-122"/>
                <a:sym typeface="Symbol" panose="05050102010706020507" charset="0"/>
              </a:rPr>
              <a:t></a:t>
            </a:r>
            <a:r>
              <a:rPr lang="en-US" altLang="zh-CN" sz="2400">
                <a:latin typeface="黑体" panose="02010609060101010101" pitchFamily="49" charset="-122"/>
                <a:ea typeface="黑体" panose="02010609060101010101" pitchFamily="49" charset="-122"/>
                <a:sym typeface="Symbol" panose="05050102010706020507" charset="0"/>
              </a:rPr>
              <a:t>-N</a:t>
            </a:r>
            <a:r>
              <a:rPr lang="zh-CN" altLang="en-US" sz="2400">
                <a:latin typeface="黑体" panose="02010609060101010101" pitchFamily="49" charset="-122"/>
                <a:ea typeface="黑体" panose="02010609060101010101" pitchFamily="49" charset="-122"/>
                <a:sym typeface="Symbol" panose="05050102010706020507" charset="0"/>
              </a:rPr>
              <a:t>疲劳曲线</a:t>
            </a:r>
            <a:endParaRPr lang="zh-CN" altLang="en-US" sz="2400">
              <a:latin typeface="黑体" panose="02010609060101010101" pitchFamily="49" charset="-122"/>
              <a:ea typeface="黑体" panose="02010609060101010101" pitchFamily="49" charset="-122"/>
              <a:sym typeface="Symbol" panose="05050102010706020507" charset="0"/>
            </a:endParaRPr>
          </a:p>
          <a:p>
            <a:pPr>
              <a:lnSpc>
                <a:spcPct val="150000"/>
              </a:lnSpc>
            </a:pPr>
            <a:r>
              <a:rPr lang="zh-CN" altLang="en-US" sz="2400">
                <a:latin typeface="黑体" panose="02010609060101010101" pitchFamily="49" charset="-122"/>
                <a:ea typeface="黑体" panose="02010609060101010101" pitchFamily="49" charset="-122"/>
                <a:sym typeface="Symbol" panose="05050102010706020507" charset="0"/>
              </a:rPr>
              <a:t>   材料的疲劳极限应力图</a:t>
            </a:r>
            <a:endParaRPr lang="zh-CN" altLang="en-US" sz="2400">
              <a:latin typeface="黑体" panose="02010609060101010101" pitchFamily="49" charset="-122"/>
              <a:ea typeface="黑体" panose="02010609060101010101" pitchFamily="49" charset="-122"/>
              <a:sym typeface="Symbol" panose="05050102010706020507" charset="0"/>
            </a:endParaRPr>
          </a:p>
        </p:txBody>
      </p:sp>
      <p:sp>
        <p:nvSpPr>
          <p:cNvPr id="6149" name="文本框 4"/>
          <p:cNvSpPr txBox="1"/>
          <p:nvPr/>
        </p:nvSpPr>
        <p:spPr>
          <a:xfrm>
            <a:off x="666750" y="3456305"/>
            <a:ext cx="7319010" cy="1198880"/>
          </a:xfrm>
          <a:prstGeom prst="rect">
            <a:avLst/>
          </a:prstGeom>
          <a:noFill/>
          <a:ln w="9525">
            <a:noFill/>
          </a:ln>
        </p:spPr>
        <p:txBody>
          <a:bodyPr wrap="square" anchor="t" anchorCtr="0">
            <a:spAutoFit/>
          </a:bodyPr>
          <a:lstStyle/>
          <a:p>
            <a:pPr>
              <a:lnSpc>
                <a:spcPct val="150000"/>
              </a:lnSpc>
            </a:pPr>
            <a:r>
              <a:rPr lang="en-US" altLang="zh-CN" sz="2400">
                <a:latin typeface="黑体" panose="02010609060101010101" pitchFamily="49" charset="-122"/>
                <a:ea typeface="黑体" panose="02010609060101010101" pitchFamily="49" charset="-122"/>
              </a:rPr>
              <a:t>4</a:t>
            </a:r>
            <a:r>
              <a:rPr lang="zh-CN" altLang="en-US" sz="2400">
                <a:latin typeface="黑体" panose="02010609060101010101" pitchFamily="49" charset="-122"/>
                <a:ea typeface="黑体" panose="02010609060101010101" pitchFamily="49" charset="-122"/>
              </a:rPr>
              <a:t>、影响零件疲劳强度的主要因素及综合影响系数</a:t>
            </a:r>
            <a:r>
              <a:rPr lang="en-US" altLang="zh-CN" sz="2400">
                <a:latin typeface="黑体" panose="02010609060101010101" pitchFamily="49" charset="-122"/>
                <a:ea typeface="黑体" panose="02010609060101010101" pitchFamily="49" charset="-122"/>
              </a:rPr>
              <a:t>K</a:t>
            </a:r>
            <a:r>
              <a:rPr lang="en-US" altLang="zh-CN" sz="2400" baseline="-25000">
                <a:latin typeface="黑体" panose="02010609060101010101" pitchFamily="49" charset="-122"/>
                <a:ea typeface="黑体" panose="02010609060101010101" pitchFamily="49" charset="-122"/>
                <a:sym typeface="Symbol" panose="05050102010706020507" charset="0"/>
              </a:rPr>
              <a:t></a:t>
            </a:r>
            <a:r>
              <a:rPr lang="zh-CN" altLang="en-US" sz="2400">
                <a:latin typeface="黑体" panose="02010609060101010101" pitchFamily="49" charset="-122"/>
                <a:ea typeface="黑体" panose="02010609060101010101" pitchFamily="49" charset="-122"/>
                <a:sym typeface="Symbol" panose="05050102010706020507" charset="0"/>
              </a:rPr>
              <a:t> </a:t>
            </a:r>
            <a:endParaRPr lang="zh-CN" altLang="en-US" sz="2400">
              <a:latin typeface="黑体" panose="02010609060101010101" pitchFamily="49" charset="-122"/>
              <a:ea typeface="黑体" panose="02010609060101010101" pitchFamily="49" charset="-122"/>
              <a:sym typeface="Symbol" panose="05050102010706020507" charset="0"/>
            </a:endParaRPr>
          </a:p>
          <a:p>
            <a:pPr>
              <a:lnSpc>
                <a:spcPct val="150000"/>
              </a:lnSpc>
            </a:pPr>
            <a:r>
              <a:rPr lang="zh-CN" altLang="en-US" sz="2400">
                <a:latin typeface="黑体" panose="02010609060101010101" pitchFamily="49" charset="-122"/>
                <a:ea typeface="黑体" panose="02010609060101010101" pitchFamily="49" charset="-122"/>
                <a:sym typeface="Symbol" panose="05050102010706020507" charset="0"/>
              </a:rPr>
              <a:t>   零件的疲劳极限应力图 </a:t>
            </a:r>
            <a:endParaRPr lang="zh-CN" altLang="en-US" sz="2400">
              <a:latin typeface="黑体" panose="02010609060101010101" pitchFamily="49" charset="-122"/>
              <a:ea typeface="黑体" panose="02010609060101010101" pitchFamily="49" charset="-122"/>
              <a:sym typeface="Symbol" panose="05050102010706020507" charset="0"/>
            </a:endParaRPr>
          </a:p>
        </p:txBody>
      </p:sp>
      <p:sp>
        <p:nvSpPr>
          <p:cNvPr id="6150" name="文本框 6"/>
          <p:cNvSpPr txBox="1"/>
          <p:nvPr/>
        </p:nvSpPr>
        <p:spPr>
          <a:xfrm>
            <a:off x="676275" y="4010025"/>
            <a:ext cx="5799138" cy="644525"/>
          </a:xfrm>
          <a:prstGeom prst="rect">
            <a:avLst/>
          </a:prstGeom>
          <a:noFill/>
          <a:ln w="9525">
            <a:noFill/>
          </a:ln>
        </p:spPr>
        <p:txBody>
          <a:bodyPr wrap="square" anchor="t" anchorCtr="0">
            <a:spAutoFit/>
          </a:bodyPr>
          <a:lstStyle/>
          <a:p>
            <a:pPr>
              <a:lnSpc>
                <a:spcPct val="150000"/>
              </a:lnSpc>
            </a:pPr>
            <a:r>
              <a:rPr lang="zh-CN" altLang="en-US" sz="2400">
                <a:latin typeface="黑体" panose="02010609060101010101" pitchFamily="49" charset="-122"/>
                <a:ea typeface="黑体" panose="02010609060101010101" pitchFamily="49" charset="-122"/>
                <a:sym typeface="Symbol" panose="05050102010706020507" charset="0"/>
              </a:rPr>
              <a:t>  </a:t>
            </a:r>
            <a:endParaRPr lang="zh-CN" altLang="en-US" sz="2400">
              <a:latin typeface="黑体" panose="02010609060101010101" pitchFamily="49" charset="-122"/>
              <a:ea typeface="黑体" panose="02010609060101010101" pitchFamily="49" charset="-122"/>
              <a:sym typeface="Symbol" panose="05050102010706020507" charset="0"/>
            </a:endParaRPr>
          </a:p>
        </p:txBody>
      </p:sp>
      <p:sp>
        <p:nvSpPr>
          <p:cNvPr id="6151" name="文本框 7"/>
          <p:cNvSpPr txBox="1"/>
          <p:nvPr/>
        </p:nvSpPr>
        <p:spPr>
          <a:xfrm>
            <a:off x="666750" y="4822825"/>
            <a:ext cx="5799138" cy="644525"/>
          </a:xfrm>
          <a:prstGeom prst="rect">
            <a:avLst/>
          </a:prstGeom>
          <a:noFill/>
          <a:ln w="9525">
            <a:noFill/>
          </a:ln>
        </p:spPr>
        <p:txBody>
          <a:bodyPr wrap="square" anchor="t" anchorCtr="0">
            <a:spAutoFit/>
          </a:bodyPr>
          <a:lstStyle/>
          <a:p>
            <a:pPr>
              <a:lnSpc>
                <a:spcPct val="150000"/>
              </a:lnSpc>
            </a:pPr>
            <a:r>
              <a:rPr lang="en-US" altLang="zh-CN" sz="2400">
                <a:latin typeface="黑体" panose="02010609060101010101" pitchFamily="49" charset="-122"/>
                <a:ea typeface="黑体" panose="02010609060101010101" pitchFamily="49" charset="-122"/>
              </a:rPr>
              <a:t>5</a:t>
            </a:r>
            <a:r>
              <a:rPr lang="zh-CN" altLang="en-US" sz="2400">
                <a:latin typeface="黑体" panose="02010609060101010101" pitchFamily="49" charset="-122"/>
                <a:ea typeface="黑体" panose="02010609060101010101" pitchFamily="49" charset="-122"/>
              </a:rPr>
              <a:t>、零件的疲劳强度计算</a:t>
            </a:r>
            <a:endParaRPr lang="zh-CN" altLang="en-US" sz="2400">
              <a:latin typeface="黑体" panose="02010609060101010101" pitchFamily="49" charset="-122"/>
              <a:ea typeface="黑体" panose="02010609060101010101" pitchFamily="49" charset="-122"/>
              <a:sym typeface="Symbol" panose="05050102010706020507" charset="0"/>
            </a:endParaRPr>
          </a:p>
        </p:txBody>
      </p:sp>
      <p:sp>
        <p:nvSpPr>
          <p:cNvPr id="9" name="文本框 8"/>
          <p:cNvSpPr txBox="1"/>
          <p:nvPr/>
        </p:nvSpPr>
        <p:spPr>
          <a:xfrm>
            <a:off x="4229100" y="4860925"/>
            <a:ext cx="2995930" cy="429895"/>
          </a:xfrm>
          <a:prstGeom prst="rect">
            <a:avLst/>
          </a:prstGeom>
          <a:solidFill>
            <a:srgbClr val="CEEAB0"/>
          </a:solidFill>
          <a:ln w="9525">
            <a:noFill/>
          </a:ln>
        </p:spPr>
        <p:txBody>
          <a:bodyPr wrap="square" anchor="t" anchorCtr="0">
            <a:spAutoFit/>
          </a:bodyPr>
          <a:lstStyle/>
          <a:p>
            <a:pPr>
              <a:buSzTx/>
            </a:pPr>
            <a:r>
              <a:rPr lang="zh-CN" altLang="en-US">
                <a:latin typeface="Tahoma" panose="020B0604030504040204" pitchFamily="34" charset="0"/>
                <a:ea typeface="华文中宋" panose="02010600040101010101" pitchFamily="2" charset="-122"/>
              </a:rPr>
              <a:t>单向稳定变应力</a:t>
            </a:r>
            <a:endParaRPr lang="zh-CN" altLang="en-US">
              <a:latin typeface="Tahoma" panose="020B0604030504040204" pitchFamily="34" charset="0"/>
              <a:ea typeface="华文中宋" panose="02010600040101010101" pitchFamily="2" charset="-122"/>
            </a:endParaRPr>
          </a:p>
        </p:txBody>
      </p:sp>
      <p:sp>
        <p:nvSpPr>
          <p:cNvPr id="10" name="文本框 9"/>
          <p:cNvSpPr txBox="1"/>
          <p:nvPr/>
        </p:nvSpPr>
        <p:spPr>
          <a:xfrm>
            <a:off x="4229100" y="5364480"/>
            <a:ext cx="3041015" cy="429895"/>
          </a:xfrm>
          <a:prstGeom prst="rect">
            <a:avLst/>
          </a:prstGeom>
          <a:solidFill>
            <a:srgbClr val="CEEAB0"/>
          </a:solidFill>
          <a:ln w="9525">
            <a:noFill/>
          </a:ln>
        </p:spPr>
        <p:txBody>
          <a:bodyPr wrap="square" anchor="t" anchorCtr="0">
            <a:spAutoFit/>
          </a:bodyPr>
          <a:lstStyle/>
          <a:p>
            <a:pPr>
              <a:buSzTx/>
            </a:pPr>
            <a:r>
              <a:rPr lang="zh-CN" altLang="en-US">
                <a:latin typeface="Tahoma" panose="020B0604030504040204" pitchFamily="34" charset="0"/>
                <a:ea typeface="华文中宋" panose="02010600040101010101" pitchFamily="2" charset="-122"/>
              </a:rPr>
              <a:t>单向不稳定变应力</a:t>
            </a:r>
            <a:endParaRPr lang="zh-CN" altLang="en-US">
              <a:latin typeface="Tahoma" panose="020B0604030504040204" pitchFamily="34" charset="0"/>
              <a:ea typeface="华文中宋" panose="02010600040101010101" pitchFamily="2" charset="-122"/>
            </a:endParaRPr>
          </a:p>
        </p:txBody>
      </p:sp>
      <p:sp>
        <p:nvSpPr>
          <p:cNvPr id="11" name="文本框 10"/>
          <p:cNvSpPr txBox="1"/>
          <p:nvPr/>
        </p:nvSpPr>
        <p:spPr>
          <a:xfrm>
            <a:off x="4256405" y="5867400"/>
            <a:ext cx="3014345" cy="429895"/>
          </a:xfrm>
          <a:prstGeom prst="rect">
            <a:avLst/>
          </a:prstGeom>
          <a:solidFill>
            <a:srgbClr val="CEEAB0"/>
          </a:solidFill>
          <a:ln w="9525">
            <a:noFill/>
          </a:ln>
        </p:spPr>
        <p:txBody>
          <a:bodyPr wrap="square" anchor="t" anchorCtr="0">
            <a:spAutoFit/>
          </a:bodyPr>
          <a:lstStyle/>
          <a:p>
            <a:pPr>
              <a:buSzTx/>
            </a:pPr>
            <a:r>
              <a:rPr lang="zh-CN" altLang="en-US">
                <a:latin typeface="Tahoma" panose="020B0604030504040204" pitchFamily="34" charset="0"/>
                <a:ea typeface="华文中宋" panose="02010600040101010101" pitchFamily="2" charset="-122"/>
              </a:rPr>
              <a:t>双向稳定变应力（自学</a:t>
            </a:r>
            <a:endParaRPr lang="zh-CN" altLang="en-US">
              <a:latin typeface="Tahoma" panose="020B0604030504040204" pitchFamily="34" charset="0"/>
              <a:ea typeface="华文中宋" panose="02010600040101010101" pitchFamily="2" charset="-122"/>
            </a:endParaRPr>
          </a:p>
        </p:txBody>
      </p:sp>
      <p:sp>
        <p:nvSpPr>
          <p:cNvPr id="12" name="文本框 11"/>
          <p:cNvSpPr txBox="1"/>
          <p:nvPr/>
        </p:nvSpPr>
        <p:spPr>
          <a:xfrm>
            <a:off x="3406775" y="1619250"/>
            <a:ext cx="3406775" cy="430213"/>
          </a:xfrm>
          <a:prstGeom prst="rect">
            <a:avLst/>
          </a:prstGeom>
          <a:solidFill>
            <a:srgbClr val="FFADFF"/>
          </a:solidFill>
          <a:ln w="9525">
            <a:noFill/>
          </a:ln>
        </p:spPr>
        <p:txBody>
          <a:bodyPr wrap="square" anchor="t" anchorCtr="0">
            <a:spAutoFit/>
          </a:bodyPr>
          <a:lstStyle/>
          <a:p>
            <a:r>
              <a:rPr lang="zh-CN" altLang="en-US">
                <a:latin typeface="Tahoma" panose="020B0604030504040204" pitchFamily="34" charset="0"/>
                <a:ea typeface="华文中宋" panose="02010600040101010101" pitchFamily="2" charset="-122"/>
                <a:sym typeface="Symbol" panose="05050102010706020507" charset="0"/>
              </a:rPr>
              <a:t></a:t>
            </a:r>
            <a:r>
              <a:rPr lang="en-US" altLang="zh-CN" baseline="-25000">
                <a:latin typeface="Tahoma" panose="020B0604030504040204" pitchFamily="34" charset="0"/>
                <a:ea typeface="华文中宋" panose="02010600040101010101" pitchFamily="2" charset="-122"/>
                <a:sym typeface="Symbol" panose="05050102010706020507" charset="0"/>
              </a:rPr>
              <a:t>max</a:t>
            </a:r>
            <a:r>
              <a:rPr lang="zh-CN" altLang="en-US">
                <a:latin typeface="Tahoma" panose="020B0604030504040204" pitchFamily="34" charset="0"/>
                <a:ea typeface="华文中宋" panose="02010600040101010101" pitchFamily="2" charset="-122"/>
                <a:sym typeface="Symbol" panose="05050102010706020507" charset="0"/>
              </a:rPr>
              <a:t>、</a:t>
            </a:r>
            <a:r>
              <a:rPr lang="en-US" altLang="zh-CN" baseline="-25000">
                <a:latin typeface="Tahoma" panose="020B0604030504040204" pitchFamily="34" charset="0"/>
                <a:ea typeface="华文中宋" panose="02010600040101010101" pitchFamily="2" charset="-122"/>
                <a:sym typeface="Symbol" panose="05050102010706020507" charset="0"/>
              </a:rPr>
              <a:t>min</a:t>
            </a:r>
            <a:r>
              <a:rPr lang="zh-CN" altLang="en-US">
                <a:latin typeface="Tahoma" panose="020B0604030504040204" pitchFamily="34" charset="0"/>
                <a:ea typeface="华文中宋" panose="02010600040101010101" pitchFamily="2" charset="-122"/>
                <a:sym typeface="Symbol" panose="05050102010706020507" charset="0"/>
              </a:rPr>
              <a:t>、</a:t>
            </a:r>
            <a:r>
              <a:rPr lang="en-US" altLang="zh-CN" baseline="-25000">
                <a:latin typeface="Tahoma" panose="020B0604030504040204" pitchFamily="34" charset="0"/>
                <a:ea typeface="华文中宋" panose="02010600040101010101" pitchFamily="2" charset="-122"/>
                <a:sym typeface="Symbol" panose="05050102010706020507" charset="0"/>
              </a:rPr>
              <a:t>a</a:t>
            </a:r>
            <a:r>
              <a:rPr lang="zh-CN" altLang="en-US">
                <a:latin typeface="Tahoma" panose="020B0604030504040204" pitchFamily="34" charset="0"/>
                <a:ea typeface="华文中宋" panose="02010600040101010101" pitchFamily="2" charset="-122"/>
                <a:sym typeface="Symbol" panose="05050102010706020507" charset="0"/>
              </a:rPr>
              <a:t>、</a:t>
            </a:r>
            <a:r>
              <a:rPr lang="en-US" altLang="zh-CN" baseline="-25000">
                <a:latin typeface="Tahoma" panose="020B0604030504040204" pitchFamily="34" charset="0"/>
                <a:ea typeface="华文中宋" panose="02010600040101010101" pitchFamily="2" charset="-122"/>
                <a:sym typeface="Symbol" panose="05050102010706020507" charset="0"/>
              </a:rPr>
              <a:t>m</a:t>
            </a:r>
            <a:r>
              <a:rPr lang="zh-CN" altLang="en-US">
                <a:latin typeface="Tahoma" panose="020B0604030504040204" pitchFamily="34" charset="0"/>
                <a:ea typeface="华文中宋" panose="02010600040101010101" pitchFamily="2" charset="-122"/>
                <a:sym typeface="Symbol" panose="05050102010706020507" charset="0"/>
              </a:rPr>
              <a:t>、</a:t>
            </a:r>
            <a:r>
              <a:rPr lang="en-US" altLang="zh-CN">
                <a:latin typeface="Tahoma" panose="020B0604030504040204" pitchFamily="34" charset="0"/>
                <a:ea typeface="华文中宋" panose="02010600040101010101" pitchFamily="2" charset="-122"/>
                <a:sym typeface="Symbol" panose="05050102010706020507" charset="0"/>
              </a:rPr>
              <a:t>r</a:t>
            </a:r>
            <a:endParaRPr lang="en-US" altLang="zh-CN" baseline="-25000">
              <a:latin typeface="Tahoma" panose="020B0604030504040204" pitchFamily="34" charset="0"/>
              <a:ea typeface="华文中宋" panose="02010600040101010101" pitchFamily="2" charset="-122"/>
              <a:sym typeface="Symbol" panose="05050102010706020507" charset="0"/>
            </a:endParaRPr>
          </a:p>
        </p:txBody>
      </p:sp>
      <p:sp>
        <p:nvSpPr>
          <p:cNvPr id="67586" name="Rectangle 2"/>
          <p:cNvSpPr>
            <a:spLocks noGrp="1" noChangeArrowheads="1"/>
          </p:cNvSpPr>
          <p:nvPr/>
        </p:nvSpPr>
        <p:spPr>
          <a:xfrm>
            <a:off x="6866890" y="191135"/>
            <a:ext cx="1740535" cy="833755"/>
          </a:xfrm>
          <a:prstGeom prst="rect">
            <a:avLst/>
          </a:prstGeom>
          <a:solidFill>
            <a:srgbClr val="FFFF00"/>
          </a:solidFill>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eaLnBrk="1" hangingPunct="1"/>
            <a:r>
              <a:rPr lang="zh-CN" sz="3600" b="1" dirty="0">
                <a:solidFill>
                  <a:schemeClr val="accent4">
                    <a:lumMod val="50000"/>
                  </a:schemeClr>
                </a:solidFill>
              </a:rPr>
              <a:t>总    结</a:t>
            </a:r>
            <a:endParaRPr lang="zh-CN" sz="3600" b="1" dirty="0">
              <a:solidFill>
                <a:schemeClr val="accent4">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67586">
                                            <p:txEl>
                                              <p:pRg st="0" end="0"/>
                                            </p:txEl>
                                          </p:spTgt>
                                        </p:tgtEl>
                                        <p:attrNameLst>
                                          <p:attrName>style.visibility</p:attrName>
                                        </p:attrNameLst>
                                      </p:cBhvr>
                                      <p:to>
                                        <p:strVal val="visible"/>
                                      </p:to>
                                    </p:set>
                                    <p:anim calcmode="lin" valueType="num">
                                      <p:cBhvr additive="base">
                                        <p:cTn id="23" dur="500" fill="hold"/>
                                        <p:tgtEl>
                                          <p:spTgt spid="67586">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758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12" grpId="0" bldLvl="0" animBg="1"/>
      <p:bldP spid="67586" grpId="0" autoUpdateAnimBg="0" build="p"/>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body" idx="4294967295"/>
          </p:nvPr>
        </p:nvSpPr>
        <p:spPr>
          <a:xfrm>
            <a:off x="685800" y="228600"/>
            <a:ext cx="7772400" cy="6324600"/>
          </a:xfrm>
          <a:prstGeom prst="rect">
            <a:avLst/>
          </a:prstGeom>
        </p:spPr>
        <p:txBody>
          <a:bodyPr/>
          <a:lstStyle/>
          <a:p>
            <a:pPr eaLnBrk="1" hangingPunct="1">
              <a:buFontTx/>
              <a:buNone/>
            </a:pPr>
            <a:r>
              <a:rPr lang="en-US" sz="2800" dirty="0">
                <a:solidFill>
                  <a:schemeClr val="tx2"/>
                </a:solidFill>
                <a:latin typeface="黑体" panose="02010609060101010101" pitchFamily="49" charset="-122"/>
                <a:ea typeface="黑体" panose="02010609060101010101" pitchFamily="49" charset="-122"/>
              </a:rPr>
              <a:t>4</a:t>
            </a:r>
            <a:r>
              <a:rPr lang="zh-CN" altLang="en-US" sz="2800" dirty="0">
                <a:solidFill>
                  <a:schemeClr val="tx2"/>
                </a:solidFill>
                <a:latin typeface="黑体" panose="02010609060101010101" pitchFamily="49" charset="-122"/>
                <a:ea typeface="黑体" panose="02010609060101010101" pitchFamily="49" charset="-122"/>
              </a:rPr>
              <a:t>．强度计算式</a:t>
            </a:r>
            <a:endParaRPr lang="zh-CN" altLang="en-US" sz="2800" dirty="0">
              <a:solidFill>
                <a:schemeClr val="tx2"/>
              </a:solidFill>
              <a:latin typeface="黑体" panose="02010609060101010101" pitchFamily="49" charset="-122"/>
              <a:ea typeface="黑体" panose="02010609060101010101" pitchFamily="49" charset="-122"/>
            </a:endParaRPr>
          </a:p>
          <a:p>
            <a:pPr eaLnBrk="1" hangingPunct="1">
              <a:buFontTx/>
              <a:buNone/>
            </a:pPr>
            <a:endParaRPr lang="en-US" dirty="0"/>
          </a:p>
        </p:txBody>
      </p:sp>
      <p:sp>
        <p:nvSpPr>
          <p:cNvPr id="68611" name="Text Box 72"/>
          <p:cNvSpPr txBox="1">
            <a:spLocks noChangeArrowheads="1"/>
          </p:cNvSpPr>
          <p:nvPr/>
        </p:nvSpPr>
        <p:spPr bwMode="auto">
          <a:xfrm>
            <a:off x="218400" y="4319650"/>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000" dirty="0">
                <a:latin typeface="黑体" panose="02010609060101010101" pitchFamily="49" charset="-122"/>
                <a:ea typeface="黑体" panose="02010609060101010101" pitchFamily="49" charset="-122"/>
              </a:rPr>
              <a:t>变应力</a:t>
            </a:r>
            <a:endParaRPr lang="zh-CN" altLang="en-US" sz="2000" dirty="0">
              <a:latin typeface="黑体" panose="02010609060101010101" pitchFamily="49" charset="-122"/>
              <a:ea typeface="黑体" panose="02010609060101010101" pitchFamily="49" charset="-122"/>
            </a:endParaRPr>
          </a:p>
        </p:txBody>
      </p:sp>
      <p:grpSp>
        <p:nvGrpSpPr>
          <p:cNvPr id="68612" name="Group 4"/>
          <p:cNvGrpSpPr/>
          <p:nvPr/>
        </p:nvGrpSpPr>
        <p:grpSpPr bwMode="auto">
          <a:xfrm>
            <a:off x="1132800" y="3497325"/>
            <a:ext cx="152400" cy="2133600"/>
            <a:chOff x="0" y="0"/>
            <a:chExt cx="20000" cy="20001"/>
          </a:xfrm>
        </p:grpSpPr>
        <p:sp>
          <p:nvSpPr>
            <p:cNvPr id="68613" name="Arc 11"/>
            <p:cNvSpPr/>
            <p:nvPr/>
          </p:nvSpPr>
          <p:spPr bwMode="auto">
            <a:xfrm flipH="1" flipV="1">
              <a:off x="9931" y="18336"/>
              <a:ext cx="10069" cy="166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14" name="Line 12"/>
            <p:cNvSpPr>
              <a:spLocks noChangeShapeType="1"/>
            </p:cNvSpPr>
            <p:nvPr/>
          </p:nvSpPr>
          <p:spPr bwMode="auto">
            <a:xfrm>
              <a:off x="9931" y="11651"/>
              <a:ext cx="138" cy="6712"/>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15" name="Arc 13"/>
            <p:cNvSpPr/>
            <p:nvPr/>
          </p:nvSpPr>
          <p:spPr bwMode="auto">
            <a:xfrm>
              <a:off x="0" y="9986"/>
              <a:ext cx="9931" cy="166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16" name="Arc 14"/>
            <p:cNvSpPr/>
            <p:nvPr/>
          </p:nvSpPr>
          <p:spPr bwMode="auto">
            <a:xfrm flipV="1">
              <a:off x="0" y="8323"/>
              <a:ext cx="9931" cy="1663"/>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17" name="Line 15"/>
            <p:cNvSpPr>
              <a:spLocks noChangeShapeType="1"/>
            </p:cNvSpPr>
            <p:nvPr/>
          </p:nvSpPr>
          <p:spPr bwMode="auto">
            <a:xfrm>
              <a:off x="9931" y="1665"/>
              <a:ext cx="138" cy="6685"/>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18" name="Arc 16"/>
            <p:cNvSpPr/>
            <p:nvPr/>
          </p:nvSpPr>
          <p:spPr bwMode="auto">
            <a:xfrm flipH="1">
              <a:off x="9931" y="0"/>
              <a:ext cx="10069" cy="166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8619" name="Group 11"/>
          <p:cNvGrpSpPr/>
          <p:nvPr/>
        </p:nvGrpSpPr>
        <p:grpSpPr bwMode="auto">
          <a:xfrm>
            <a:off x="1963063" y="2478150"/>
            <a:ext cx="142875" cy="2151063"/>
            <a:chOff x="0" y="0"/>
            <a:chExt cx="20001" cy="19995"/>
          </a:xfrm>
        </p:grpSpPr>
        <p:sp>
          <p:nvSpPr>
            <p:cNvPr id="68620" name="Arc 18"/>
            <p:cNvSpPr/>
            <p:nvPr/>
          </p:nvSpPr>
          <p:spPr bwMode="auto">
            <a:xfrm flipH="1" flipV="1">
              <a:off x="9926" y="18331"/>
              <a:ext cx="10075" cy="166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21" name="Line 19"/>
            <p:cNvSpPr>
              <a:spLocks noChangeShapeType="1"/>
            </p:cNvSpPr>
            <p:nvPr/>
          </p:nvSpPr>
          <p:spPr bwMode="auto">
            <a:xfrm>
              <a:off x="9926" y="11645"/>
              <a:ext cx="149" cy="6714"/>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22" name="Arc 20"/>
            <p:cNvSpPr/>
            <p:nvPr/>
          </p:nvSpPr>
          <p:spPr bwMode="auto">
            <a:xfrm>
              <a:off x="0" y="9981"/>
              <a:ext cx="9926" cy="166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23" name="Arc 21"/>
            <p:cNvSpPr/>
            <p:nvPr/>
          </p:nvSpPr>
          <p:spPr bwMode="auto">
            <a:xfrm flipV="1">
              <a:off x="0" y="8317"/>
              <a:ext cx="9926" cy="166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24" name="Line 22"/>
            <p:cNvSpPr>
              <a:spLocks noChangeShapeType="1"/>
            </p:cNvSpPr>
            <p:nvPr/>
          </p:nvSpPr>
          <p:spPr bwMode="auto">
            <a:xfrm>
              <a:off x="9926" y="1664"/>
              <a:ext cx="149" cy="6683"/>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25" name="Arc 23"/>
            <p:cNvSpPr/>
            <p:nvPr/>
          </p:nvSpPr>
          <p:spPr bwMode="auto">
            <a:xfrm flipH="1">
              <a:off x="9926" y="0"/>
              <a:ext cx="10075" cy="166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8626" name="Group 18"/>
          <p:cNvGrpSpPr/>
          <p:nvPr/>
        </p:nvGrpSpPr>
        <p:grpSpPr bwMode="auto">
          <a:xfrm>
            <a:off x="2866350" y="1363725"/>
            <a:ext cx="171450" cy="1905000"/>
            <a:chOff x="0" y="0"/>
            <a:chExt cx="20000" cy="20001"/>
          </a:xfrm>
        </p:grpSpPr>
        <p:sp>
          <p:nvSpPr>
            <p:cNvPr id="68627" name="Arc 25"/>
            <p:cNvSpPr/>
            <p:nvPr/>
          </p:nvSpPr>
          <p:spPr bwMode="auto">
            <a:xfrm flipH="1" flipV="1">
              <a:off x="9925" y="18335"/>
              <a:ext cx="10075" cy="1666"/>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28" name="Line 26"/>
            <p:cNvSpPr>
              <a:spLocks noChangeShapeType="1"/>
            </p:cNvSpPr>
            <p:nvPr/>
          </p:nvSpPr>
          <p:spPr bwMode="auto">
            <a:xfrm>
              <a:off x="9925" y="11650"/>
              <a:ext cx="150" cy="6715"/>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29" name="Arc 27"/>
            <p:cNvSpPr/>
            <p:nvPr/>
          </p:nvSpPr>
          <p:spPr bwMode="auto">
            <a:xfrm>
              <a:off x="0" y="9986"/>
              <a:ext cx="9925" cy="166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30" name="Arc 28"/>
            <p:cNvSpPr/>
            <p:nvPr/>
          </p:nvSpPr>
          <p:spPr bwMode="auto">
            <a:xfrm flipV="1">
              <a:off x="0" y="8322"/>
              <a:ext cx="9925" cy="166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31" name="Line 29"/>
            <p:cNvSpPr>
              <a:spLocks noChangeShapeType="1"/>
            </p:cNvSpPr>
            <p:nvPr/>
          </p:nvSpPr>
          <p:spPr bwMode="auto">
            <a:xfrm>
              <a:off x="9925" y="1664"/>
              <a:ext cx="150" cy="6686"/>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32" name="Arc 30"/>
            <p:cNvSpPr/>
            <p:nvPr/>
          </p:nvSpPr>
          <p:spPr bwMode="auto">
            <a:xfrm flipH="1">
              <a:off x="9925" y="0"/>
              <a:ext cx="10075" cy="166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8633" name="Text Box 74"/>
          <p:cNvSpPr txBox="1">
            <a:spLocks noChangeArrowheads="1"/>
          </p:cNvSpPr>
          <p:nvPr/>
        </p:nvSpPr>
        <p:spPr bwMode="auto">
          <a:xfrm>
            <a:off x="1285200" y="3344925"/>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dirty="0">
                <a:latin typeface="黑体" panose="02010609060101010101" pitchFamily="49" charset="-122"/>
                <a:ea typeface="黑体" panose="02010609060101010101" pitchFamily="49" charset="-122"/>
              </a:rPr>
              <a:t>稳定</a:t>
            </a:r>
            <a:endParaRPr lang="zh-CN" altLang="en-US" sz="2000" dirty="0">
              <a:latin typeface="黑体" panose="02010609060101010101" pitchFamily="49" charset="-122"/>
              <a:ea typeface="黑体" panose="02010609060101010101" pitchFamily="49" charset="-122"/>
            </a:endParaRPr>
          </a:p>
        </p:txBody>
      </p:sp>
      <p:sp>
        <p:nvSpPr>
          <p:cNvPr id="68634" name="Text Box 75"/>
          <p:cNvSpPr txBox="1">
            <a:spLocks noChangeArrowheads="1"/>
          </p:cNvSpPr>
          <p:nvPr/>
        </p:nvSpPr>
        <p:spPr bwMode="auto">
          <a:xfrm>
            <a:off x="1361400" y="5402325"/>
            <a:ext cx="106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000" dirty="0">
                <a:latin typeface="黑体" panose="02010609060101010101" pitchFamily="49" charset="-122"/>
                <a:ea typeface="黑体" panose="02010609060101010101" pitchFamily="49" charset="-122"/>
              </a:rPr>
              <a:t>不稳定</a:t>
            </a:r>
            <a:endParaRPr lang="zh-CN" altLang="en-US" sz="2000" dirty="0">
              <a:latin typeface="黑体" panose="02010609060101010101" pitchFamily="49" charset="-122"/>
              <a:ea typeface="黑体" panose="02010609060101010101" pitchFamily="49" charset="-122"/>
            </a:endParaRPr>
          </a:p>
        </p:txBody>
      </p:sp>
      <p:sp>
        <p:nvSpPr>
          <p:cNvPr id="68635" name="Text Box 76"/>
          <p:cNvSpPr txBox="1">
            <a:spLocks noChangeArrowheads="1"/>
          </p:cNvSpPr>
          <p:nvPr/>
        </p:nvSpPr>
        <p:spPr bwMode="auto">
          <a:xfrm>
            <a:off x="2123400" y="2262250"/>
            <a:ext cx="7620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dirty="0">
                <a:latin typeface="黑体" panose="02010609060101010101" pitchFamily="49" charset="-122"/>
                <a:ea typeface="黑体" panose="02010609060101010101" pitchFamily="49" charset="-122"/>
              </a:rPr>
              <a:t>单向</a:t>
            </a:r>
            <a:endParaRPr lang="zh-CN" altLang="en-US" sz="2000" dirty="0">
              <a:latin typeface="黑体" panose="02010609060101010101" pitchFamily="49" charset="-122"/>
              <a:ea typeface="黑体" panose="02010609060101010101" pitchFamily="49" charset="-122"/>
            </a:endParaRPr>
          </a:p>
        </p:txBody>
      </p:sp>
      <p:sp>
        <p:nvSpPr>
          <p:cNvPr id="68636" name="Text Box 77"/>
          <p:cNvSpPr txBox="1">
            <a:spLocks noChangeArrowheads="1"/>
          </p:cNvSpPr>
          <p:nvPr/>
        </p:nvSpPr>
        <p:spPr bwMode="auto">
          <a:xfrm>
            <a:off x="2123400" y="4395850"/>
            <a:ext cx="7620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000" dirty="0">
                <a:latin typeface="黑体" panose="02010609060101010101" pitchFamily="49" charset="-122"/>
                <a:ea typeface="黑体" panose="02010609060101010101" pitchFamily="49" charset="-122"/>
              </a:rPr>
              <a:t>双向</a:t>
            </a:r>
            <a:endParaRPr lang="zh-CN" altLang="en-US" sz="2000" dirty="0">
              <a:latin typeface="黑体" panose="02010609060101010101" pitchFamily="49" charset="-122"/>
              <a:ea typeface="黑体" panose="02010609060101010101" pitchFamily="49" charset="-122"/>
            </a:endParaRPr>
          </a:p>
        </p:txBody>
      </p:sp>
      <p:sp>
        <p:nvSpPr>
          <p:cNvPr id="68637" name="Text Box 78"/>
          <p:cNvSpPr txBox="1">
            <a:spLocks noChangeArrowheads="1"/>
          </p:cNvSpPr>
          <p:nvPr/>
        </p:nvSpPr>
        <p:spPr bwMode="auto">
          <a:xfrm>
            <a:off x="2907000" y="1134000"/>
            <a:ext cx="1250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000" dirty="0">
                <a:latin typeface="黑体" panose="02010609060101010101" pitchFamily="49" charset="-122"/>
                <a:ea typeface="黑体" panose="02010609060101010101" pitchFamily="49" charset="-122"/>
              </a:rPr>
              <a:t>对称</a:t>
            </a:r>
            <a:endParaRPr lang="zh-CN" altLang="en-US" sz="2000" dirty="0">
              <a:latin typeface="黑体" panose="02010609060101010101" pitchFamily="49" charset="-122"/>
              <a:ea typeface="黑体" panose="02010609060101010101" pitchFamily="49" charset="-122"/>
            </a:endParaRPr>
          </a:p>
        </p:txBody>
      </p:sp>
      <p:sp>
        <p:nvSpPr>
          <p:cNvPr id="68638" name="Text Box 80"/>
          <p:cNvSpPr txBox="1">
            <a:spLocks noChangeArrowheads="1"/>
          </p:cNvSpPr>
          <p:nvPr/>
        </p:nvSpPr>
        <p:spPr bwMode="auto">
          <a:xfrm>
            <a:off x="3037800" y="3040125"/>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000" dirty="0">
                <a:latin typeface="黑体" panose="02010609060101010101" pitchFamily="49" charset="-122"/>
                <a:ea typeface="黑体" panose="02010609060101010101" pitchFamily="49" charset="-122"/>
              </a:rPr>
              <a:t>非对称</a:t>
            </a:r>
            <a:endParaRPr lang="zh-CN" altLang="en-US" sz="2000" dirty="0">
              <a:latin typeface="黑体" panose="02010609060101010101" pitchFamily="49" charset="-122"/>
              <a:ea typeface="黑体" panose="02010609060101010101" pitchFamily="49" charset="-122"/>
            </a:endParaRPr>
          </a:p>
        </p:txBody>
      </p:sp>
      <p:graphicFrame>
        <p:nvGraphicFramePr>
          <p:cNvPr id="68639" name="Object 31"/>
          <p:cNvGraphicFramePr>
            <a:graphicFrameLocks noChangeAspect="1"/>
          </p:cNvGraphicFramePr>
          <p:nvPr/>
        </p:nvGraphicFramePr>
        <p:xfrm>
          <a:off x="4168140" y="894080"/>
          <a:ext cx="4003040" cy="1098550"/>
        </p:xfrm>
        <a:graphic>
          <a:graphicData uri="http://schemas.openxmlformats.org/presentationml/2006/ole">
            <mc:AlternateContent xmlns:mc="http://schemas.openxmlformats.org/markup-compatibility/2006">
              <mc:Choice xmlns:v="urn:schemas-microsoft-com:vml" Requires="v">
                <p:oleObj spid="_x0000_s2" name="公式" r:id="rId1" imgW="2336800" imgH="647700" progId="Equation.3">
                  <p:embed/>
                </p:oleObj>
              </mc:Choice>
              <mc:Fallback>
                <p:oleObj name="公式" r:id="rId1" imgW="2336800" imgH="647700" progId="Equation.3">
                  <p:embed/>
                  <p:pic>
                    <p:nvPicPr>
                      <p:cNvPr id="0" name="Picture 86"/>
                      <p:cNvPicPr>
                        <a:picLocks noChangeAspect="1" noChangeArrowheads="1"/>
                      </p:cNvPicPr>
                      <p:nvPr/>
                    </p:nvPicPr>
                    <p:blipFill>
                      <a:blip r:embed="rId2"/>
                      <a:srcRect/>
                      <a:stretch>
                        <a:fillRect/>
                      </a:stretch>
                    </p:blipFill>
                    <p:spPr bwMode="auto">
                      <a:xfrm>
                        <a:off x="4168140" y="894080"/>
                        <a:ext cx="4003040" cy="1098550"/>
                      </a:xfrm>
                      <a:prstGeom prst="rect">
                        <a:avLst/>
                      </a:prstGeom>
                      <a:solidFill>
                        <a:srgbClr val="FF99FF"/>
                      </a:solidFill>
                      <a:effectLst>
                        <a:outerShdw dist="35921" dir="2700000" algn="ctr" rotWithShape="0">
                          <a:srgbClr val="808080"/>
                        </a:outerShdw>
                      </a:effectLst>
                    </p:spPr>
                  </p:pic>
                </p:oleObj>
              </mc:Fallback>
            </mc:AlternateContent>
          </a:graphicData>
        </a:graphic>
      </p:graphicFrame>
      <p:graphicFrame>
        <p:nvGraphicFramePr>
          <p:cNvPr id="68640" name="Object 32"/>
          <p:cNvGraphicFramePr>
            <a:graphicFrameLocks noChangeAspect="1"/>
          </p:cNvGraphicFramePr>
          <p:nvPr/>
        </p:nvGraphicFramePr>
        <p:xfrm>
          <a:off x="5384800" y="2125345"/>
          <a:ext cx="3467735" cy="984885"/>
        </p:xfrm>
        <a:graphic>
          <a:graphicData uri="http://schemas.openxmlformats.org/presentationml/2006/ole">
            <mc:AlternateContent xmlns:mc="http://schemas.openxmlformats.org/markup-compatibility/2006">
              <mc:Choice xmlns:v="urn:schemas-microsoft-com:vml" Requires="v">
                <p:oleObj spid="_x0000_s3" name="公式" r:id="rId3" imgW="1727200" imgH="431800" progId="Equation.3">
                  <p:embed/>
                </p:oleObj>
              </mc:Choice>
              <mc:Fallback>
                <p:oleObj name="公式" r:id="rId3" imgW="1727200" imgH="431800" progId="Equation.3">
                  <p:embed/>
                  <p:pic>
                    <p:nvPicPr>
                      <p:cNvPr id="0" name="Picture 87"/>
                      <p:cNvPicPr>
                        <a:picLocks noChangeAspect="1" noChangeArrowheads="1"/>
                      </p:cNvPicPr>
                      <p:nvPr/>
                    </p:nvPicPr>
                    <p:blipFill>
                      <a:blip r:embed="rId4"/>
                      <a:srcRect/>
                      <a:stretch>
                        <a:fillRect/>
                      </a:stretch>
                    </p:blipFill>
                    <p:spPr bwMode="auto">
                      <a:xfrm>
                        <a:off x="5384800" y="2125345"/>
                        <a:ext cx="3467735" cy="984885"/>
                      </a:xfrm>
                      <a:prstGeom prst="rect">
                        <a:avLst/>
                      </a:prstGeom>
                      <a:solidFill>
                        <a:srgbClr val="FF99FF"/>
                      </a:solidFill>
                      <a:effectLst>
                        <a:outerShdw dist="35921" dir="2700000" algn="ctr" rotWithShape="0">
                          <a:srgbClr val="808080"/>
                        </a:outerShdw>
                      </a:effectLst>
                    </p:spPr>
                  </p:pic>
                </p:oleObj>
              </mc:Fallback>
            </mc:AlternateContent>
          </a:graphicData>
        </a:graphic>
      </p:graphicFrame>
      <p:graphicFrame>
        <p:nvGraphicFramePr>
          <p:cNvPr id="68641" name="Object 33"/>
          <p:cNvGraphicFramePr>
            <a:graphicFrameLocks noChangeAspect="1"/>
          </p:cNvGraphicFramePr>
          <p:nvPr/>
        </p:nvGraphicFramePr>
        <p:xfrm>
          <a:off x="4257000" y="3040125"/>
          <a:ext cx="990600" cy="458788"/>
        </p:xfrm>
        <a:graphic>
          <a:graphicData uri="http://schemas.openxmlformats.org/presentationml/2006/ole">
            <mc:AlternateContent xmlns:mc="http://schemas.openxmlformats.org/markup-compatibility/2006">
              <mc:Choice xmlns:v="urn:schemas-microsoft-com:vml" Requires="v">
                <p:oleObj spid="_x0000_s4" name="" r:id="rId5" imgW="495300" imgH="228600" progId="Equation.3">
                  <p:embed/>
                </p:oleObj>
              </mc:Choice>
              <mc:Fallback>
                <p:oleObj name="" r:id="rId5" imgW="495300" imgH="228600" progId="Equation.3">
                  <p:embed/>
                  <p:pic>
                    <p:nvPicPr>
                      <p:cNvPr id="0" name="Picture 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57000" y="3040125"/>
                        <a:ext cx="990600" cy="458788"/>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68642" name="Object 34"/>
          <p:cNvGraphicFramePr>
            <a:graphicFrameLocks noChangeAspect="1"/>
          </p:cNvGraphicFramePr>
          <p:nvPr/>
        </p:nvGraphicFramePr>
        <p:xfrm>
          <a:off x="4257000" y="3564000"/>
          <a:ext cx="1219200" cy="466725"/>
        </p:xfrm>
        <a:graphic>
          <a:graphicData uri="http://schemas.openxmlformats.org/presentationml/2006/ole">
            <mc:AlternateContent xmlns:mc="http://schemas.openxmlformats.org/markup-compatibility/2006">
              <mc:Choice xmlns:v="urn:schemas-microsoft-com:vml" Requires="v">
                <p:oleObj spid="_x0000_s5" name="" r:id="rId7" imgW="558800" imgH="215900" progId="Equation.3">
                  <p:embed/>
                </p:oleObj>
              </mc:Choice>
              <mc:Fallback>
                <p:oleObj name="" r:id="rId7" imgW="558800" imgH="215900" progId="Equation.3">
                  <p:embed/>
                  <p:pic>
                    <p:nvPicPr>
                      <p:cNvPr id="0" name="Picture 8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57000" y="3564000"/>
                        <a:ext cx="1219200" cy="466725"/>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68643" name="Object 35"/>
          <p:cNvGraphicFramePr>
            <a:graphicFrameLocks noChangeAspect="1"/>
          </p:cNvGraphicFramePr>
          <p:nvPr/>
        </p:nvGraphicFramePr>
        <p:xfrm>
          <a:off x="3237865" y="4232275"/>
          <a:ext cx="1720215" cy="841375"/>
        </p:xfrm>
        <a:graphic>
          <a:graphicData uri="http://schemas.openxmlformats.org/presentationml/2006/ole">
            <mc:AlternateContent xmlns:mc="http://schemas.openxmlformats.org/markup-compatibility/2006">
              <mc:Choice xmlns:v="urn:schemas-microsoft-com:vml" Requires="v">
                <p:oleObj spid="_x0000_s6" name="公式" r:id="rId9" imgW="965200" imgH="469900" progId="Equation.3">
                  <p:embed/>
                </p:oleObj>
              </mc:Choice>
              <mc:Fallback>
                <p:oleObj name="公式" r:id="rId9" imgW="965200" imgH="469900" progId="Equation.3">
                  <p:embed/>
                  <p:pic>
                    <p:nvPicPr>
                      <p:cNvPr id="0" name="Picture 90"/>
                      <p:cNvPicPr>
                        <a:picLocks noChangeAspect="1" noChangeArrowheads="1"/>
                      </p:cNvPicPr>
                      <p:nvPr/>
                    </p:nvPicPr>
                    <p:blipFill>
                      <a:blip r:embed="rId10"/>
                      <a:srcRect/>
                      <a:stretch>
                        <a:fillRect/>
                      </a:stretch>
                    </p:blipFill>
                    <p:spPr bwMode="auto">
                      <a:xfrm>
                        <a:off x="3237865" y="4232275"/>
                        <a:ext cx="1720215" cy="841375"/>
                      </a:xfrm>
                      <a:prstGeom prst="rect">
                        <a:avLst/>
                      </a:prstGeom>
                      <a:solidFill>
                        <a:srgbClr val="FF99FF"/>
                      </a:solidFill>
                      <a:effectLst>
                        <a:outerShdw dist="35921" dir="2700000" algn="ctr" rotWithShape="0">
                          <a:srgbClr val="808080"/>
                        </a:outerShdw>
                      </a:effectLst>
                    </p:spPr>
                  </p:pic>
                </p:oleObj>
              </mc:Fallback>
            </mc:AlternateContent>
          </a:graphicData>
        </a:graphic>
      </p:graphicFrame>
      <p:graphicFrame>
        <p:nvGraphicFramePr>
          <p:cNvPr id="68644" name="Object 36"/>
          <p:cNvGraphicFramePr>
            <a:graphicFrameLocks noChangeAspect="1"/>
          </p:cNvGraphicFramePr>
          <p:nvPr/>
        </p:nvGraphicFramePr>
        <p:xfrm>
          <a:off x="2504440" y="5318760"/>
          <a:ext cx="2260600" cy="1040130"/>
        </p:xfrm>
        <a:graphic>
          <a:graphicData uri="http://schemas.openxmlformats.org/presentationml/2006/ole">
            <mc:AlternateContent xmlns:mc="http://schemas.openxmlformats.org/markup-compatibility/2006">
              <mc:Choice xmlns:v="urn:schemas-microsoft-com:vml" Requires="v">
                <p:oleObj spid="_x0000_s7" name="公式" r:id="rId11" imgW="927100" imgH="431800" progId="Equation.3">
                  <p:embed/>
                </p:oleObj>
              </mc:Choice>
              <mc:Fallback>
                <p:oleObj name="公式" r:id="rId11" imgW="927100" imgH="431800" progId="Equation.3">
                  <p:embed/>
                  <p:pic>
                    <p:nvPicPr>
                      <p:cNvPr id="0" name="Picture 91"/>
                      <p:cNvPicPr>
                        <a:picLocks noChangeAspect="1" noChangeArrowheads="1"/>
                      </p:cNvPicPr>
                      <p:nvPr/>
                    </p:nvPicPr>
                    <p:blipFill>
                      <a:blip r:embed="rId12"/>
                      <a:srcRect/>
                      <a:stretch>
                        <a:fillRect/>
                      </a:stretch>
                    </p:blipFill>
                    <p:spPr bwMode="auto">
                      <a:xfrm>
                        <a:off x="2504440" y="5318760"/>
                        <a:ext cx="2260600" cy="1040130"/>
                      </a:xfrm>
                      <a:prstGeom prst="rect">
                        <a:avLst/>
                      </a:prstGeom>
                      <a:solidFill>
                        <a:srgbClr val="FF99FF"/>
                      </a:solidFill>
                      <a:effectLst>
                        <a:outerShdw dist="35921" dir="2700000" algn="ctr" rotWithShape="0">
                          <a:srgbClr val="808080"/>
                        </a:outerShdw>
                      </a:effectLst>
                    </p:spPr>
                  </p:pic>
                </p:oleObj>
              </mc:Fallback>
            </mc:AlternateContent>
          </a:graphicData>
        </a:graphic>
      </p:graphicFrame>
      <p:grpSp>
        <p:nvGrpSpPr>
          <p:cNvPr id="68645" name="Group 37"/>
          <p:cNvGrpSpPr/>
          <p:nvPr/>
        </p:nvGrpSpPr>
        <p:grpSpPr bwMode="auto">
          <a:xfrm>
            <a:off x="3933150" y="2582925"/>
            <a:ext cx="171450" cy="1295400"/>
            <a:chOff x="0" y="0"/>
            <a:chExt cx="20000" cy="20001"/>
          </a:xfrm>
        </p:grpSpPr>
        <p:sp>
          <p:nvSpPr>
            <p:cNvPr id="68646" name="Arc 91"/>
            <p:cNvSpPr/>
            <p:nvPr/>
          </p:nvSpPr>
          <p:spPr bwMode="auto">
            <a:xfrm flipH="1" flipV="1">
              <a:off x="9925" y="18335"/>
              <a:ext cx="10075" cy="1666"/>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47" name="Line 92"/>
            <p:cNvSpPr>
              <a:spLocks noChangeShapeType="1"/>
            </p:cNvSpPr>
            <p:nvPr/>
          </p:nvSpPr>
          <p:spPr bwMode="auto">
            <a:xfrm>
              <a:off x="9925" y="11650"/>
              <a:ext cx="150" cy="6715"/>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48" name="Arc 93"/>
            <p:cNvSpPr/>
            <p:nvPr/>
          </p:nvSpPr>
          <p:spPr bwMode="auto">
            <a:xfrm>
              <a:off x="0" y="9986"/>
              <a:ext cx="9925" cy="166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49" name="Arc 94"/>
            <p:cNvSpPr/>
            <p:nvPr/>
          </p:nvSpPr>
          <p:spPr bwMode="auto">
            <a:xfrm flipV="1">
              <a:off x="0" y="8322"/>
              <a:ext cx="9925" cy="166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50" name="Line 95"/>
            <p:cNvSpPr>
              <a:spLocks noChangeShapeType="1"/>
            </p:cNvSpPr>
            <p:nvPr/>
          </p:nvSpPr>
          <p:spPr bwMode="auto">
            <a:xfrm>
              <a:off x="9925" y="1664"/>
              <a:ext cx="150" cy="6686"/>
            </a:xfrm>
            <a:prstGeom prst="line">
              <a:avLst/>
            </a:prstGeom>
            <a:noFill/>
            <a:ln w="317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651" name="Arc 96"/>
            <p:cNvSpPr/>
            <p:nvPr/>
          </p:nvSpPr>
          <p:spPr bwMode="auto">
            <a:xfrm flipH="1">
              <a:off x="9925" y="0"/>
              <a:ext cx="10075" cy="166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 name="T10" fmla="*/ -1 w 21600"/>
                <a:gd name="T11" fmla="*/ 0 h 21600"/>
              </a:gdLst>
              <a:ahLst/>
              <a:cxnLst>
                <a:cxn ang="0">
                  <a:pos x="T0" y="T1"/>
                </a:cxn>
                <a:cxn ang="0">
                  <a:pos x="T2" y="T3"/>
                </a:cxn>
                <a:cxn ang="0">
                  <a:pos x="T4" y="T5"/>
                </a:cxn>
                <a:cxn ang="0">
                  <a:pos x="T6" y="T7"/>
                </a:cxn>
                <a:cxn ang="0">
                  <a:pos x="T8" y="T9"/>
                </a:cxn>
                <a:cxn ang="0">
                  <a:pos x="T10" y="T11"/>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cmpd="sng">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aphicFrame>
        <p:nvGraphicFramePr>
          <p:cNvPr id="68652" name="Object 44"/>
          <p:cNvGraphicFramePr>
            <a:graphicFrameLocks noChangeAspect="1"/>
          </p:cNvGraphicFramePr>
          <p:nvPr/>
        </p:nvGraphicFramePr>
        <p:xfrm>
          <a:off x="4358600" y="2462275"/>
          <a:ext cx="765175" cy="354013"/>
        </p:xfrm>
        <a:graphic>
          <a:graphicData uri="http://schemas.openxmlformats.org/presentationml/2006/ole">
            <mc:AlternateContent xmlns:mc="http://schemas.openxmlformats.org/markup-compatibility/2006">
              <mc:Choice xmlns:v="urn:schemas-microsoft-com:vml" Requires="v">
                <p:oleObj spid="_x0000_s8" name="" r:id="rId13" imgW="381000" imgH="177800" progId="Equation.3">
                  <p:embed/>
                </p:oleObj>
              </mc:Choice>
              <mc:Fallback>
                <p:oleObj name="" r:id="rId13" imgW="381000" imgH="177800" progId="Equation.3">
                  <p:embed/>
                  <p:pic>
                    <p:nvPicPr>
                      <p:cNvPr id="0" name="Picture 9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58600" y="2462275"/>
                        <a:ext cx="765175" cy="354013"/>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9" name="文本框 8"/>
              <p:cNvSpPr txBox="1"/>
              <p:nvPr/>
            </p:nvSpPr>
            <p:spPr>
              <a:xfrm>
                <a:off x="5562000" y="99000"/>
                <a:ext cx="2475000" cy="430887"/>
              </a:xfrm>
              <a:prstGeom prst="rect">
                <a:avLst/>
              </a:prstGeom>
              <a:solidFill>
                <a:schemeClr val="accent4">
                  <a:lumMod val="20000"/>
                  <a:lumOff val="80000"/>
                </a:schemeClr>
              </a:solidFill>
            </p:spPr>
            <p:txBody>
              <a:bodyPr wrap="squar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zh-CN" altLang="en-US" i="1" smtClean="0">
                            <a:latin typeface="Cambria Math" panose="02040503050406030204" pitchFamily="18" charset="0"/>
                          </a:rPr>
                          <m:t>𝜎</m:t>
                        </m:r>
                      </m:e>
                      <m:sub>
                        <m:r>
                          <a:rPr lang="en-US" altLang="zh-CN" b="0" i="1" smtClean="0">
                            <a:latin typeface="Cambria Math" panose="02040503050406030204" pitchFamily="18" charset="0"/>
                          </a:rPr>
                          <m:t>𝑚𝑎𝑥</m:t>
                        </m:r>
                      </m:sub>
                    </m:sSub>
                  </m:oMath>
                </a14:m>
                <a:r>
                  <a:rPr lang="en-US" altLang="zh-CN" dirty="0"/>
                  <a:t>=</a:t>
                </a:r>
                <a14:m>
                  <m:oMath xmlns:m="http://schemas.openxmlformats.org/officeDocument/2006/math">
                    <m:sSub>
                      <m:sSubPr>
                        <m:ctrlPr>
                          <a:rPr lang="en-US" altLang="zh-CN" i="1" dirty="0" smtClean="0">
                            <a:latin typeface="Cambria Math" panose="02040503050406030204" pitchFamily="18" charset="0"/>
                          </a:rPr>
                        </m:ctrlPr>
                      </m:sSubPr>
                      <m:e>
                        <m:r>
                          <a:rPr lang="zh-CN" altLang="en-US" i="1" dirty="0" smtClean="0">
                            <a:latin typeface="Cambria Math" panose="02040503050406030204" pitchFamily="18" charset="0"/>
                          </a:rPr>
                          <m:t>𝜎</m:t>
                        </m:r>
                      </m:e>
                      <m:sub>
                        <m:r>
                          <a:rPr lang="en-US" altLang="zh-CN" b="0" i="1" dirty="0" smtClean="0">
                            <a:latin typeface="Cambria Math" panose="02040503050406030204" pitchFamily="18" charset="0"/>
                          </a:rPr>
                          <m:t>𝑎</m:t>
                        </m:r>
                      </m:sub>
                    </m:sSub>
                  </m:oMath>
                </a14:m>
                <a:endParaRPr lang="zh-CN" altLang="en-US" dirty="0"/>
              </a:p>
            </p:txBody>
          </p:sp>
        </mc:Choice>
        <mc:Fallback>
          <p:sp>
            <p:nvSpPr>
              <p:cNvPr id="9" name="文本框 8"/>
              <p:cNvSpPr txBox="1">
                <a:spLocks noRot="1" noChangeAspect="1" noMove="1" noResize="1" noEditPoints="1" noAdjustHandles="1" noChangeArrowheads="1" noChangeShapeType="1" noTextEdit="1"/>
              </p:cNvSpPr>
              <p:nvPr/>
            </p:nvSpPr>
            <p:spPr>
              <a:xfrm>
                <a:off x="5562000" y="99000"/>
                <a:ext cx="2475000" cy="430887"/>
              </a:xfrm>
              <a:prstGeom prst="rect">
                <a:avLst/>
              </a:prstGeom>
              <a:blipFill rotWithShape="1">
                <a:blip r:embed="rId15"/>
                <a:stretch>
                  <a:fillRect l="-1" t="-133" r="18" b="6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8610">
                                            <p:txEl>
                                              <p:pRg st="0" end="0"/>
                                            </p:txEl>
                                          </p:spTgt>
                                        </p:tgtEl>
                                        <p:attrNameLst>
                                          <p:attrName>style.visibility</p:attrName>
                                        </p:attrNameLst>
                                      </p:cBhvr>
                                      <p:to>
                                        <p:strVal val="visible"/>
                                      </p:to>
                                    </p:set>
                                    <p:anim calcmode="lin" valueType="num">
                                      <p:cBhvr additive="base">
                                        <p:cTn id="7" dur="500" fill="hold"/>
                                        <p:tgtEl>
                                          <p:spTgt spid="6861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86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8611"/>
                                        </p:tgtEl>
                                        <p:attrNameLst>
                                          <p:attrName>style.visibility</p:attrName>
                                        </p:attrNameLst>
                                      </p:cBhvr>
                                      <p:to>
                                        <p:strVal val="visible"/>
                                      </p:to>
                                    </p:set>
                                    <p:anim calcmode="lin" valueType="num">
                                      <p:cBhvr additive="base">
                                        <p:cTn id="13" dur="500" fill="hold"/>
                                        <p:tgtEl>
                                          <p:spTgt spid="68611"/>
                                        </p:tgtEl>
                                        <p:attrNameLst>
                                          <p:attrName>ppt_x</p:attrName>
                                        </p:attrNameLst>
                                      </p:cBhvr>
                                      <p:tavLst>
                                        <p:tav tm="0">
                                          <p:val>
                                            <p:strVal val="1+#ppt_w/2"/>
                                          </p:val>
                                        </p:tav>
                                        <p:tav tm="100000">
                                          <p:val>
                                            <p:strVal val="#ppt_x"/>
                                          </p:val>
                                        </p:tav>
                                      </p:tavLst>
                                    </p:anim>
                                    <p:anim calcmode="lin" valueType="num">
                                      <p:cBhvr additive="base">
                                        <p:cTn id="14" dur="500" fill="hold"/>
                                        <p:tgtEl>
                                          <p:spTgt spid="686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68612"/>
                                        </p:tgtEl>
                                        <p:attrNameLst>
                                          <p:attrName>style.visibility</p:attrName>
                                        </p:attrNameLst>
                                      </p:cBhvr>
                                      <p:to>
                                        <p:strVal val="visible"/>
                                      </p:to>
                                    </p:set>
                                    <p:animEffect transition="in" filter="dissolve">
                                      <p:cBhvr>
                                        <p:cTn id="19" dur="500"/>
                                        <p:tgtEl>
                                          <p:spTgt spid="6861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68633"/>
                                        </p:tgtEl>
                                        <p:attrNameLst>
                                          <p:attrName>style.visibility</p:attrName>
                                        </p:attrNameLst>
                                      </p:cBhvr>
                                      <p:to>
                                        <p:strVal val="visible"/>
                                      </p:to>
                                    </p:set>
                                    <p:anim calcmode="lin" valueType="num">
                                      <p:cBhvr additive="base">
                                        <p:cTn id="24" dur="500" fill="hold"/>
                                        <p:tgtEl>
                                          <p:spTgt spid="68633"/>
                                        </p:tgtEl>
                                        <p:attrNameLst>
                                          <p:attrName>ppt_x</p:attrName>
                                        </p:attrNameLst>
                                      </p:cBhvr>
                                      <p:tavLst>
                                        <p:tav tm="0">
                                          <p:val>
                                            <p:strVal val="1+#ppt_w/2"/>
                                          </p:val>
                                        </p:tav>
                                        <p:tav tm="100000">
                                          <p:val>
                                            <p:strVal val="#ppt_x"/>
                                          </p:val>
                                        </p:tav>
                                      </p:tavLst>
                                    </p:anim>
                                    <p:anim calcmode="lin" valueType="num">
                                      <p:cBhvr additive="base">
                                        <p:cTn id="25" dur="500" fill="hold"/>
                                        <p:tgtEl>
                                          <p:spTgt spid="68633"/>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68634"/>
                                        </p:tgtEl>
                                        <p:attrNameLst>
                                          <p:attrName>style.visibility</p:attrName>
                                        </p:attrNameLst>
                                      </p:cBhvr>
                                      <p:to>
                                        <p:strVal val="visible"/>
                                      </p:to>
                                    </p:set>
                                    <p:anim calcmode="lin" valueType="num">
                                      <p:cBhvr additive="base">
                                        <p:cTn id="30" dur="500" fill="hold"/>
                                        <p:tgtEl>
                                          <p:spTgt spid="68634"/>
                                        </p:tgtEl>
                                        <p:attrNameLst>
                                          <p:attrName>ppt_x</p:attrName>
                                        </p:attrNameLst>
                                      </p:cBhvr>
                                      <p:tavLst>
                                        <p:tav tm="0">
                                          <p:val>
                                            <p:strVal val="1+#ppt_w/2"/>
                                          </p:val>
                                        </p:tav>
                                        <p:tav tm="100000">
                                          <p:val>
                                            <p:strVal val="#ppt_x"/>
                                          </p:val>
                                        </p:tav>
                                      </p:tavLst>
                                    </p:anim>
                                    <p:anim calcmode="lin" valueType="num">
                                      <p:cBhvr additive="base">
                                        <p:cTn id="31" dur="500" fill="hold"/>
                                        <p:tgtEl>
                                          <p:spTgt spid="6863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68619"/>
                                        </p:tgtEl>
                                        <p:attrNameLst>
                                          <p:attrName>style.visibility</p:attrName>
                                        </p:attrNameLst>
                                      </p:cBhvr>
                                      <p:to>
                                        <p:strVal val="visible"/>
                                      </p:to>
                                    </p:set>
                                    <p:animEffect transition="in" filter="dissolve">
                                      <p:cBhvr>
                                        <p:cTn id="36" dur="500"/>
                                        <p:tgtEl>
                                          <p:spTgt spid="68619"/>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68635"/>
                                        </p:tgtEl>
                                        <p:attrNameLst>
                                          <p:attrName>style.visibility</p:attrName>
                                        </p:attrNameLst>
                                      </p:cBhvr>
                                      <p:to>
                                        <p:strVal val="visible"/>
                                      </p:to>
                                    </p:set>
                                    <p:anim calcmode="lin" valueType="num">
                                      <p:cBhvr additive="base">
                                        <p:cTn id="41" dur="500" fill="hold"/>
                                        <p:tgtEl>
                                          <p:spTgt spid="68635"/>
                                        </p:tgtEl>
                                        <p:attrNameLst>
                                          <p:attrName>ppt_x</p:attrName>
                                        </p:attrNameLst>
                                      </p:cBhvr>
                                      <p:tavLst>
                                        <p:tav tm="0">
                                          <p:val>
                                            <p:strVal val="1+#ppt_w/2"/>
                                          </p:val>
                                        </p:tav>
                                        <p:tav tm="100000">
                                          <p:val>
                                            <p:strVal val="#ppt_x"/>
                                          </p:val>
                                        </p:tav>
                                      </p:tavLst>
                                    </p:anim>
                                    <p:anim calcmode="lin" valueType="num">
                                      <p:cBhvr additive="base">
                                        <p:cTn id="42" dur="500" fill="hold"/>
                                        <p:tgtEl>
                                          <p:spTgt spid="68635"/>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68636"/>
                                        </p:tgtEl>
                                        <p:attrNameLst>
                                          <p:attrName>style.visibility</p:attrName>
                                        </p:attrNameLst>
                                      </p:cBhvr>
                                      <p:to>
                                        <p:strVal val="visible"/>
                                      </p:to>
                                    </p:set>
                                    <p:anim calcmode="lin" valueType="num">
                                      <p:cBhvr additive="base">
                                        <p:cTn id="47" dur="500" fill="hold"/>
                                        <p:tgtEl>
                                          <p:spTgt spid="68636"/>
                                        </p:tgtEl>
                                        <p:attrNameLst>
                                          <p:attrName>ppt_x</p:attrName>
                                        </p:attrNameLst>
                                      </p:cBhvr>
                                      <p:tavLst>
                                        <p:tav tm="0">
                                          <p:val>
                                            <p:strVal val="1+#ppt_w/2"/>
                                          </p:val>
                                        </p:tav>
                                        <p:tav tm="100000">
                                          <p:val>
                                            <p:strVal val="#ppt_x"/>
                                          </p:val>
                                        </p:tav>
                                      </p:tavLst>
                                    </p:anim>
                                    <p:anim calcmode="lin" valueType="num">
                                      <p:cBhvr additive="base">
                                        <p:cTn id="48" dur="500" fill="hold"/>
                                        <p:tgtEl>
                                          <p:spTgt spid="68636"/>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68626"/>
                                        </p:tgtEl>
                                        <p:attrNameLst>
                                          <p:attrName>style.visibility</p:attrName>
                                        </p:attrNameLst>
                                      </p:cBhvr>
                                      <p:to>
                                        <p:strVal val="visible"/>
                                      </p:to>
                                    </p:set>
                                    <p:animEffect transition="in" filter="dissolve">
                                      <p:cBhvr>
                                        <p:cTn id="53" dur="500"/>
                                        <p:tgtEl>
                                          <p:spTgt spid="68626"/>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68637"/>
                                        </p:tgtEl>
                                        <p:attrNameLst>
                                          <p:attrName>style.visibility</p:attrName>
                                        </p:attrNameLst>
                                      </p:cBhvr>
                                      <p:to>
                                        <p:strVal val="visible"/>
                                      </p:to>
                                    </p:set>
                                    <p:anim calcmode="lin" valueType="num">
                                      <p:cBhvr additive="base">
                                        <p:cTn id="58" dur="500" fill="hold"/>
                                        <p:tgtEl>
                                          <p:spTgt spid="68637"/>
                                        </p:tgtEl>
                                        <p:attrNameLst>
                                          <p:attrName>ppt_x</p:attrName>
                                        </p:attrNameLst>
                                      </p:cBhvr>
                                      <p:tavLst>
                                        <p:tav tm="0">
                                          <p:val>
                                            <p:strVal val="1+#ppt_w/2"/>
                                          </p:val>
                                        </p:tav>
                                        <p:tav tm="100000">
                                          <p:val>
                                            <p:strVal val="#ppt_x"/>
                                          </p:val>
                                        </p:tav>
                                      </p:tavLst>
                                    </p:anim>
                                    <p:anim calcmode="lin" valueType="num">
                                      <p:cBhvr additive="base">
                                        <p:cTn id="59" dur="500" fill="hold"/>
                                        <p:tgtEl>
                                          <p:spTgt spid="68637"/>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grpId="0" nodeType="clickEffect">
                                  <p:stCondLst>
                                    <p:cond delay="0"/>
                                  </p:stCondLst>
                                  <p:childTnLst>
                                    <p:set>
                                      <p:cBhvr>
                                        <p:cTn id="63" dur="1" fill="hold">
                                          <p:stCondLst>
                                            <p:cond delay="0"/>
                                          </p:stCondLst>
                                        </p:cTn>
                                        <p:tgtEl>
                                          <p:spTgt spid="68638"/>
                                        </p:tgtEl>
                                        <p:attrNameLst>
                                          <p:attrName>style.visibility</p:attrName>
                                        </p:attrNameLst>
                                      </p:cBhvr>
                                      <p:to>
                                        <p:strVal val="visible"/>
                                      </p:to>
                                    </p:set>
                                    <p:anim calcmode="lin" valueType="num">
                                      <p:cBhvr additive="base">
                                        <p:cTn id="64" dur="500" fill="hold"/>
                                        <p:tgtEl>
                                          <p:spTgt spid="68638"/>
                                        </p:tgtEl>
                                        <p:attrNameLst>
                                          <p:attrName>ppt_x</p:attrName>
                                        </p:attrNameLst>
                                      </p:cBhvr>
                                      <p:tavLst>
                                        <p:tav tm="0">
                                          <p:val>
                                            <p:strVal val="1+#ppt_w/2"/>
                                          </p:val>
                                        </p:tav>
                                        <p:tav tm="100000">
                                          <p:val>
                                            <p:strVal val="#ppt_x"/>
                                          </p:val>
                                        </p:tav>
                                      </p:tavLst>
                                    </p:anim>
                                    <p:anim calcmode="lin" valueType="num">
                                      <p:cBhvr additive="base">
                                        <p:cTn id="65" dur="500" fill="hold"/>
                                        <p:tgtEl>
                                          <p:spTgt spid="68638"/>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68645"/>
                                        </p:tgtEl>
                                        <p:attrNameLst>
                                          <p:attrName>style.visibility</p:attrName>
                                        </p:attrNameLst>
                                      </p:cBhvr>
                                      <p:to>
                                        <p:strVal val="visible"/>
                                      </p:to>
                                    </p:set>
                                    <p:animEffect transition="in" filter="dissolve">
                                      <p:cBhvr>
                                        <p:cTn id="70" dur="500"/>
                                        <p:tgtEl>
                                          <p:spTgt spid="68645"/>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2" fill="hold" nodeType="clickEffect">
                                  <p:stCondLst>
                                    <p:cond delay="0"/>
                                  </p:stCondLst>
                                  <p:childTnLst>
                                    <p:set>
                                      <p:cBhvr>
                                        <p:cTn id="74" dur="1" fill="hold">
                                          <p:stCondLst>
                                            <p:cond delay="0"/>
                                          </p:stCondLst>
                                        </p:cTn>
                                        <p:tgtEl>
                                          <p:spTgt spid="68652"/>
                                        </p:tgtEl>
                                        <p:attrNameLst>
                                          <p:attrName>style.visibility</p:attrName>
                                        </p:attrNameLst>
                                      </p:cBhvr>
                                      <p:to>
                                        <p:strVal val="visible"/>
                                      </p:to>
                                    </p:set>
                                    <p:anim calcmode="lin" valueType="num">
                                      <p:cBhvr additive="base">
                                        <p:cTn id="75" dur="500" fill="hold"/>
                                        <p:tgtEl>
                                          <p:spTgt spid="68652"/>
                                        </p:tgtEl>
                                        <p:attrNameLst>
                                          <p:attrName>ppt_x</p:attrName>
                                        </p:attrNameLst>
                                      </p:cBhvr>
                                      <p:tavLst>
                                        <p:tav tm="0">
                                          <p:val>
                                            <p:strVal val="1+#ppt_w/2"/>
                                          </p:val>
                                        </p:tav>
                                        <p:tav tm="100000">
                                          <p:val>
                                            <p:strVal val="#ppt_x"/>
                                          </p:val>
                                        </p:tav>
                                      </p:tavLst>
                                    </p:anim>
                                    <p:anim calcmode="lin" valueType="num">
                                      <p:cBhvr additive="base">
                                        <p:cTn id="76" dur="500" fill="hold"/>
                                        <p:tgtEl>
                                          <p:spTgt spid="68652"/>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2" fill="hold" nodeType="clickEffect">
                                  <p:stCondLst>
                                    <p:cond delay="0"/>
                                  </p:stCondLst>
                                  <p:childTnLst>
                                    <p:set>
                                      <p:cBhvr>
                                        <p:cTn id="80" dur="1" fill="hold">
                                          <p:stCondLst>
                                            <p:cond delay="0"/>
                                          </p:stCondLst>
                                        </p:cTn>
                                        <p:tgtEl>
                                          <p:spTgt spid="68641"/>
                                        </p:tgtEl>
                                        <p:attrNameLst>
                                          <p:attrName>style.visibility</p:attrName>
                                        </p:attrNameLst>
                                      </p:cBhvr>
                                      <p:to>
                                        <p:strVal val="visible"/>
                                      </p:to>
                                    </p:set>
                                    <p:anim calcmode="lin" valueType="num">
                                      <p:cBhvr additive="base">
                                        <p:cTn id="81" dur="500" fill="hold"/>
                                        <p:tgtEl>
                                          <p:spTgt spid="68641"/>
                                        </p:tgtEl>
                                        <p:attrNameLst>
                                          <p:attrName>ppt_x</p:attrName>
                                        </p:attrNameLst>
                                      </p:cBhvr>
                                      <p:tavLst>
                                        <p:tav tm="0">
                                          <p:val>
                                            <p:strVal val="1+#ppt_w/2"/>
                                          </p:val>
                                        </p:tav>
                                        <p:tav tm="100000">
                                          <p:val>
                                            <p:strVal val="#ppt_x"/>
                                          </p:val>
                                        </p:tav>
                                      </p:tavLst>
                                    </p:anim>
                                    <p:anim calcmode="lin" valueType="num">
                                      <p:cBhvr additive="base">
                                        <p:cTn id="82" dur="500" fill="hold"/>
                                        <p:tgtEl>
                                          <p:spTgt spid="68641"/>
                                        </p:tgtEl>
                                        <p:attrNameLst>
                                          <p:attrName>ppt_y</p:attrName>
                                        </p:attrNameLst>
                                      </p:cBhvr>
                                      <p:tavLst>
                                        <p:tav tm="0">
                                          <p:val>
                                            <p:strVal val="#ppt_y"/>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2" fill="hold" nodeType="clickEffect">
                                  <p:stCondLst>
                                    <p:cond delay="0"/>
                                  </p:stCondLst>
                                  <p:childTnLst>
                                    <p:set>
                                      <p:cBhvr>
                                        <p:cTn id="86" dur="1" fill="hold">
                                          <p:stCondLst>
                                            <p:cond delay="0"/>
                                          </p:stCondLst>
                                        </p:cTn>
                                        <p:tgtEl>
                                          <p:spTgt spid="68642"/>
                                        </p:tgtEl>
                                        <p:attrNameLst>
                                          <p:attrName>style.visibility</p:attrName>
                                        </p:attrNameLst>
                                      </p:cBhvr>
                                      <p:to>
                                        <p:strVal val="visible"/>
                                      </p:to>
                                    </p:set>
                                    <p:anim calcmode="lin" valueType="num">
                                      <p:cBhvr additive="base">
                                        <p:cTn id="87" dur="500" fill="hold"/>
                                        <p:tgtEl>
                                          <p:spTgt spid="68642"/>
                                        </p:tgtEl>
                                        <p:attrNameLst>
                                          <p:attrName>ppt_x</p:attrName>
                                        </p:attrNameLst>
                                      </p:cBhvr>
                                      <p:tavLst>
                                        <p:tav tm="0">
                                          <p:val>
                                            <p:strVal val="1+#ppt_w/2"/>
                                          </p:val>
                                        </p:tav>
                                        <p:tav tm="100000">
                                          <p:val>
                                            <p:strVal val="#ppt_x"/>
                                          </p:val>
                                        </p:tav>
                                      </p:tavLst>
                                    </p:anim>
                                    <p:anim calcmode="lin" valueType="num">
                                      <p:cBhvr additive="base">
                                        <p:cTn id="88" dur="500" fill="hold"/>
                                        <p:tgtEl>
                                          <p:spTgt spid="68642"/>
                                        </p:tgtEl>
                                        <p:attrNameLst>
                                          <p:attrName>ppt_y</p:attrName>
                                        </p:attrNameLst>
                                      </p:cBhvr>
                                      <p:tavLst>
                                        <p:tav tm="0">
                                          <p:val>
                                            <p:strVal val="#ppt_y"/>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nodeType="clickEffect">
                                  <p:stCondLst>
                                    <p:cond delay="0"/>
                                  </p:stCondLst>
                                  <p:childTnLst>
                                    <p:set>
                                      <p:cBhvr>
                                        <p:cTn id="92" dur="1" fill="hold">
                                          <p:stCondLst>
                                            <p:cond delay="0"/>
                                          </p:stCondLst>
                                        </p:cTn>
                                        <p:tgtEl>
                                          <p:spTgt spid="68639"/>
                                        </p:tgtEl>
                                        <p:attrNameLst>
                                          <p:attrName>style.visibility</p:attrName>
                                        </p:attrNameLst>
                                      </p:cBhvr>
                                      <p:to>
                                        <p:strVal val="visible"/>
                                      </p:to>
                                    </p:set>
                                    <p:animEffect transition="in" filter="dissolve">
                                      <p:cBhvr>
                                        <p:cTn id="93" dur="500"/>
                                        <p:tgtEl>
                                          <p:spTgt spid="68639"/>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nodeType="clickEffect">
                                  <p:stCondLst>
                                    <p:cond delay="0"/>
                                  </p:stCondLst>
                                  <p:childTnLst>
                                    <p:set>
                                      <p:cBhvr>
                                        <p:cTn id="97" dur="1" fill="hold">
                                          <p:stCondLst>
                                            <p:cond delay="0"/>
                                          </p:stCondLst>
                                        </p:cTn>
                                        <p:tgtEl>
                                          <p:spTgt spid="68640"/>
                                        </p:tgtEl>
                                        <p:attrNameLst>
                                          <p:attrName>style.visibility</p:attrName>
                                        </p:attrNameLst>
                                      </p:cBhvr>
                                      <p:to>
                                        <p:strVal val="visible"/>
                                      </p:to>
                                    </p:set>
                                    <p:animEffect transition="in" filter="dissolve">
                                      <p:cBhvr>
                                        <p:cTn id="98" dur="500"/>
                                        <p:tgtEl>
                                          <p:spTgt spid="68640"/>
                                        </p:tgtEl>
                                      </p:cBhvr>
                                    </p:animEffec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nodeType="clickEffect">
                                  <p:stCondLst>
                                    <p:cond delay="0"/>
                                  </p:stCondLst>
                                  <p:childTnLst>
                                    <p:set>
                                      <p:cBhvr>
                                        <p:cTn id="102" dur="1" fill="hold">
                                          <p:stCondLst>
                                            <p:cond delay="0"/>
                                          </p:stCondLst>
                                        </p:cTn>
                                        <p:tgtEl>
                                          <p:spTgt spid="68643"/>
                                        </p:tgtEl>
                                        <p:attrNameLst>
                                          <p:attrName>style.visibility</p:attrName>
                                        </p:attrNameLst>
                                      </p:cBhvr>
                                      <p:to>
                                        <p:strVal val="visible"/>
                                      </p:to>
                                    </p:set>
                                    <p:animEffect transition="in" filter="dissolve">
                                      <p:cBhvr>
                                        <p:cTn id="103" dur="500"/>
                                        <p:tgtEl>
                                          <p:spTgt spid="68643"/>
                                        </p:tgtEl>
                                      </p:cBhvr>
                                    </p:animEffect>
                                  </p:childTnLst>
                                </p:cTn>
                              </p:par>
                            </p:childTnLst>
                          </p:cTn>
                        </p:par>
                      </p:childTnLst>
                    </p:cTn>
                  </p:par>
                  <p:par>
                    <p:cTn id="104" fill="hold">
                      <p:stCondLst>
                        <p:cond delay="indefinite"/>
                      </p:stCondLst>
                      <p:childTnLst>
                        <p:par>
                          <p:cTn id="105" fill="hold">
                            <p:stCondLst>
                              <p:cond delay="0"/>
                            </p:stCondLst>
                            <p:childTnLst>
                              <p:par>
                                <p:cTn id="106" presetID="9" presetClass="entr" presetSubtype="0" fill="hold" nodeType="clickEffect">
                                  <p:stCondLst>
                                    <p:cond delay="0"/>
                                  </p:stCondLst>
                                  <p:childTnLst>
                                    <p:set>
                                      <p:cBhvr>
                                        <p:cTn id="107" dur="1" fill="hold">
                                          <p:stCondLst>
                                            <p:cond delay="0"/>
                                          </p:stCondLst>
                                        </p:cTn>
                                        <p:tgtEl>
                                          <p:spTgt spid="68644"/>
                                        </p:tgtEl>
                                        <p:attrNameLst>
                                          <p:attrName>style.visibility</p:attrName>
                                        </p:attrNameLst>
                                      </p:cBhvr>
                                      <p:to>
                                        <p:strVal val="visible"/>
                                      </p:to>
                                    </p:set>
                                    <p:animEffect transition="in" filter="dissolve">
                                      <p:cBhvr>
                                        <p:cTn id="108" dur="500"/>
                                        <p:tgtEl>
                                          <p:spTgt spid="68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autoUpdateAnimBg="0" build="p"/>
      <p:bldP spid="68611" grpId="0" autoUpdateAnimBg="0"/>
      <p:bldP spid="68633" grpId="0" autoUpdateAnimBg="0"/>
      <p:bldP spid="68634" grpId="0" autoUpdateAnimBg="0"/>
      <p:bldP spid="68635" grpId="0" bldLvl="0" animBg="1" autoUpdateAnimBg="0"/>
      <p:bldP spid="68636" grpId="0" bldLvl="0" animBg="1" autoUpdateAnimBg="0"/>
      <p:bldP spid="68637" grpId="0" autoUpdateAnimBg="0"/>
      <p:bldP spid="68638"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57000" y="368865"/>
            <a:ext cx="4815000" cy="584775"/>
          </a:xfrm>
          <a:prstGeom prst="rect">
            <a:avLst/>
          </a:prstGeom>
          <a:noFill/>
        </p:spPr>
        <p:txBody>
          <a:bodyPr wrap="square" rtlCol="0">
            <a:spAutoFit/>
          </a:bodyPr>
          <a:lstStyle/>
          <a:p>
            <a:r>
              <a:rPr lang="zh-CN" altLang="en-US" sz="3200" dirty="0">
                <a:solidFill>
                  <a:srgbClr val="FF0000"/>
                </a:solidFill>
                <a:latin typeface="黑体" panose="02010609060101010101" pitchFamily="49" charset="-122"/>
                <a:ea typeface="黑体" panose="02010609060101010101" pitchFamily="49" charset="-122"/>
              </a:rPr>
              <a:t>本章作业：</a:t>
            </a:r>
            <a:endParaRPr lang="zh-CN" altLang="en-US" sz="3200" dirty="0">
              <a:solidFill>
                <a:srgbClr val="FF0000"/>
              </a:solidFill>
              <a:latin typeface="黑体" panose="02010609060101010101" pitchFamily="49" charset="-122"/>
              <a:ea typeface="黑体" panose="02010609060101010101" pitchFamily="49" charset="-122"/>
            </a:endParaRPr>
          </a:p>
        </p:txBody>
      </p:sp>
      <p:sp>
        <p:nvSpPr>
          <p:cNvPr id="4" name="文本框 3"/>
          <p:cNvSpPr txBox="1"/>
          <p:nvPr/>
        </p:nvSpPr>
        <p:spPr>
          <a:xfrm>
            <a:off x="881950" y="1287830"/>
            <a:ext cx="5985000" cy="1383665"/>
          </a:xfrm>
          <a:prstGeom prst="rect">
            <a:avLst/>
          </a:prstGeom>
          <a:noFill/>
        </p:spPr>
        <p:txBody>
          <a:bodyPr wrap="square" rtlCol="0">
            <a:spAutoFit/>
          </a:bodyPr>
          <a:lstStyle/>
          <a:p>
            <a:r>
              <a:rPr lang="en-US" altLang="zh-CN" sz="2800" dirty="0">
                <a:solidFill>
                  <a:srgbClr val="FF0000"/>
                </a:solidFill>
              </a:rPr>
              <a:t>P44-45</a:t>
            </a:r>
            <a:r>
              <a:rPr lang="zh-CN" altLang="en-US" sz="2800" dirty="0">
                <a:solidFill>
                  <a:srgbClr val="FF0000"/>
                </a:solidFill>
              </a:rPr>
              <a:t>：</a:t>
            </a:r>
            <a:endParaRPr lang="zh-CN" altLang="en-US" sz="2800" dirty="0">
              <a:solidFill>
                <a:srgbClr val="FF0000"/>
              </a:solidFill>
            </a:endParaRPr>
          </a:p>
          <a:p>
            <a:endParaRPr lang="en-US" altLang="zh-CN" sz="2800" dirty="0">
              <a:solidFill>
                <a:srgbClr val="FF0000"/>
              </a:solidFill>
            </a:endParaRPr>
          </a:p>
          <a:p>
            <a:r>
              <a:rPr lang="en-US" altLang="zh-CN" sz="2800" dirty="0"/>
              <a:t>      1. 3-1</a:t>
            </a:r>
            <a:r>
              <a:rPr lang="zh-CN" altLang="en-US" sz="2800" dirty="0"/>
              <a:t>，</a:t>
            </a:r>
            <a:r>
              <a:rPr lang="en-US" altLang="zh-CN" sz="2800" dirty="0"/>
              <a:t>  </a:t>
            </a:r>
            <a:r>
              <a:rPr lang="en-US" altLang="zh-CN" sz="2800" dirty="0">
                <a:solidFill>
                  <a:schemeClr val="accent4">
                    <a:lumMod val="50000"/>
                  </a:schemeClr>
                </a:solidFill>
              </a:rPr>
              <a:t>1.3-2</a:t>
            </a:r>
            <a:r>
              <a:rPr lang="zh-CN" altLang="en-US" sz="2800" dirty="0">
                <a:solidFill>
                  <a:schemeClr val="accent4">
                    <a:lumMod val="50000"/>
                  </a:schemeClr>
                </a:solidFill>
              </a:rPr>
              <a:t>， </a:t>
            </a:r>
            <a:r>
              <a:rPr lang="en-US" altLang="zh-CN" sz="2800" dirty="0">
                <a:solidFill>
                  <a:schemeClr val="accent4">
                    <a:lumMod val="50000"/>
                  </a:schemeClr>
                </a:solidFill>
              </a:rPr>
              <a:t>1.3-</a:t>
            </a:r>
            <a:r>
              <a:rPr lang="en-US" sz="2800" dirty="0">
                <a:solidFill>
                  <a:schemeClr val="accent4">
                    <a:lumMod val="50000"/>
                  </a:schemeClr>
                </a:solidFill>
              </a:rPr>
              <a:t>3 </a:t>
            </a:r>
            <a:r>
              <a:rPr lang="zh-CN" altLang="en-US" sz="2800" dirty="0"/>
              <a:t>，</a:t>
            </a:r>
            <a:r>
              <a:rPr lang="en-US" sz="2800" dirty="0"/>
              <a:t>1.3-4</a:t>
            </a:r>
            <a:endParaRPr lang="en-US" sz="2800" dirty="0"/>
          </a:p>
        </p:txBody>
      </p:sp>
      <p:sp>
        <p:nvSpPr>
          <p:cNvPr id="9" name="文本框 8"/>
          <p:cNvSpPr txBox="1"/>
          <p:nvPr/>
        </p:nvSpPr>
        <p:spPr>
          <a:xfrm>
            <a:off x="1422400" y="3248660"/>
            <a:ext cx="6890385" cy="706755"/>
          </a:xfrm>
          <a:prstGeom prst="rect">
            <a:avLst/>
          </a:prstGeom>
          <a:noFill/>
          <a:ln w="9525">
            <a:noFill/>
          </a:ln>
        </p:spPr>
        <p:txBody>
          <a:bodyPr wrap="square">
            <a:spAutoFit/>
          </a:bodyPr>
          <a:lstStyle/>
          <a:p>
            <a:pPr marL="0" indent="0"/>
            <a:r>
              <a:rPr lang="en-US" sz="2000" b="1">
                <a:latin typeface="Times New Roman" panose="02020603050405020304" pitchFamily="18" charset="0"/>
              </a:rPr>
              <a:t> 1.3-3      </a:t>
            </a:r>
            <a:r>
              <a:rPr lang="zh-CN" altLang="en-US" sz="2000" b="1">
                <a:solidFill>
                  <a:srgbClr val="FF0000"/>
                </a:solidFill>
                <a:latin typeface="Times New Roman" panose="02020603050405020304" pitchFamily="18" charset="0"/>
              </a:rPr>
              <a:t>加上：</a:t>
            </a:r>
            <a:r>
              <a:rPr lang="zh-CN" sz="2000" b="1">
                <a:ea typeface="宋体" panose="02010600030101010101" pitchFamily="2" charset="-122"/>
                <a:sym typeface="+mn-ea"/>
              </a:rPr>
              <a:t>精车，弯曲，表面未作强化处理。</a:t>
            </a:r>
            <a:endParaRPr lang="zh-CN" altLang="en-US" sz="2000"/>
          </a:p>
          <a:p>
            <a:pPr marL="0" indent="0"/>
            <a:r>
              <a:rPr lang="en-US" sz="2000" b="1">
                <a:latin typeface="Times New Roman" panose="02020603050405020304" pitchFamily="18" charset="0"/>
              </a:rPr>
              <a:t> </a:t>
            </a:r>
            <a:endParaRPr lang="zh-CN" altLang="en-US" sz="2000"/>
          </a:p>
        </p:txBody>
      </p:sp>
    </p:spTree>
  </p:cSld>
  <p:clrMapOvr>
    <a:masterClrMapping/>
  </p:clrMapOvr>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Correct"/>
</p:tagLst>
</file>

<file path=ppt/tags/tag10.xml><?xml version="1.0" encoding="utf-8"?>
<p:tagLst xmlns:p="http://schemas.openxmlformats.org/presentationml/2006/main">
  <p:tag name="RAINPROBLEM" val="ProblemSubmit"/>
  <p:tag name="RAINPROBLEMTYPE" val="MultipleChoice"/>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 val="ProblemSetting"/>
  <p:tag name="RAINPROBLEMTYPE" val="MultipleChoice"/>
</p:tagLst>
</file>

<file path=ppt/tags/tag17.xml><?xml version="1.0" encoding="utf-8"?>
<p:tagLst xmlns:p="http://schemas.openxmlformats.org/presentationml/2006/main">
  <p:tag name="RAINPROBLEM" val="MultipleChoice"/>
  <p:tag name="PROBLEMSCORE" val="1.0"/>
</p:tagLst>
</file>

<file path=ppt/tags/tag18.xml><?xml version="1.0" encoding="utf-8"?>
<p:tagLst xmlns:p="http://schemas.openxmlformats.org/presentationml/2006/main">
  <p:tag name="RAINPROBLEM" val="ProblemBody"/>
</p:tagLst>
</file>

<file path=ppt/tags/tag19.xml><?xml version="1.0" encoding="utf-8"?>
<p:tagLst xmlns:p="http://schemas.openxmlformats.org/presentationml/2006/main">
  <p:tag name="RAINPROBLEM" val="ProblemItem"/>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Bullet"/>
  <p:tag name="RAINPROBLEMTYPE" val="MultipleChoice"/>
  <p:tag name="RAINBULLET" val="Wrong"/>
</p:tagLst>
</file>

<file path=ppt/tags/tag24.xml><?xml version="1.0" encoding="utf-8"?>
<p:tagLst xmlns:p="http://schemas.openxmlformats.org/presentationml/2006/main">
  <p:tag name="RAINPROBLEM" val="ProblemBullet"/>
  <p:tag name="RAINPROBLEMTYPE" val="MultipleChoice"/>
  <p:tag name="RAINBULLET" val="Correct"/>
</p:tagLst>
</file>

<file path=ppt/tags/tag25.xml><?xml version="1.0" encoding="utf-8"?>
<p:tagLst xmlns:p="http://schemas.openxmlformats.org/presentationml/2006/main">
  <p:tag name="RAINPROBLEM" val="ProblemBullet"/>
  <p:tag name="RAINPROBLEMTYPE" val="MultipleChoice"/>
  <p:tag name="RAINBULLET" val="Wrong"/>
</p:tagLst>
</file>

<file path=ppt/tags/tag26.xml><?xml version="1.0" encoding="utf-8"?>
<p:tagLst xmlns:p="http://schemas.openxmlformats.org/presentationml/2006/main">
  <p:tag name="RAINPROBLEM" val="ProblemBullet"/>
  <p:tag name="RAINPROBLEMTYPE" val="MultipleChoice"/>
  <p:tag name="RAINBULLET" val="Wrong"/>
</p:tagLst>
</file>

<file path=ppt/tags/tag27.xml><?xml version="1.0" encoding="utf-8"?>
<p:tagLst xmlns:p="http://schemas.openxmlformats.org/presentationml/2006/main">
  <p:tag name="RAINPROBLEM" val="ProblemSubmit"/>
  <p:tag name="RAINPROBLEMTYPE" val="MultipleChoice"/>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 val="ProblemSetting"/>
  <p:tag name="RAINPROBLEMTYPE" val="MultipleChoice"/>
</p:tagLst>
</file>

<file path=ppt/tags/tag34.xml><?xml version="1.0" encoding="utf-8"?>
<p:tagLst xmlns:p="http://schemas.openxmlformats.org/presentationml/2006/main">
  <p:tag name="RAINPROBLEM" val="MultipleChoice"/>
  <p:tag name="PROBLEMSCORE" val="1.0"/>
</p:tagLst>
</file>

<file path=ppt/tags/tag35.xml><?xml version="1.0" encoding="utf-8"?>
<p:tagLst xmlns:p="http://schemas.openxmlformats.org/presentationml/2006/main">
  <p:tag name="KSO_WM_UNIT_PLACING_PICTURE_USER_VIEWPORT" val="{&quot;height&quot;:3614,&quot;width&quot;:4296}"/>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RAINPROBLEM" val="ProblemBody"/>
</p:tagLst>
</file>

<file path=ppt/tags/tag39.xml><?xml version="1.0" encoding="utf-8"?>
<p:tagLst xmlns:p="http://schemas.openxmlformats.org/presentationml/2006/main">
  <p:tag name="RAINPROBLEM" val="ProblemItem"/>
</p:tagLst>
</file>

<file path=ppt/tags/tag40.xml><?xml version="1.0" encoding="utf-8"?>
<p:tagLst xmlns:p="http://schemas.openxmlformats.org/presentationml/2006/main">
  <p:tag name="RAINPROBLEM" val="ProblemItem"/>
</p:tagLst>
</file>

<file path=ppt/tags/tag41.xml><?xml version="1.0" encoding="utf-8"?>
<p:tagLst xmlns:p="http://schemas.openxmlformats.org/presentationml/2006/main">
  <p:tag name="RAINPROBLEM" val="ProblemItem"/>
</p:tagLst>
</file>

<file path=ppt/tags/tag42.xml><?xml version="1.0" encoding="utf-8"?>
<p:tagLst xmlns:p="http://schemas.openxmlformats.org/presentationml/2006/main">
  <p:tag name="RAINPROBLEM" val="ProblemItem"/>
</p:tagLst>
</file>

<file path=ppt/tags/tag43.xml><?xml version="1.0" encoding="utf-8"?>
<p:tagLst xmlns:p="http://schemas.openxmlformats.org/presentationml/2006/main">
  <p:tag name="RAINPROBLEM" val="ProblemBullet"/>
  <p:tag name="RAINPROBLEMTYPE" val="MultipleChoice"/>
  <p:tag name="RAINBULLET" val="Wrong"/>
</p:tagLst>
</file>

<file path=ppt/tags/tag44.xml><?xml version="1.0" encoding="utf-8"?>
<p:tagLst xmlns:p="http://schemas.openxmlformats.org/presentationml/2006/main">
  <p:tag name="RAINPROBLEM" val="ProblemBullet"/>
  <p:tag name="RAINPROBLEMTYPE" val="MultipleChoice"/>
  <p:tag name="RAINBULLET" val="Correct"/>
</p:tagLst>
</file>

<file path=ppt/tags/tag45.xml><?xml version="1.0" encoding="utf-8"?>
<p:tagLst xmlns:p="http://schemas.openxmlformats.org/presentationml/2006/main">
  <p:tag name="RAINPROBLEM" val="ProblemBullet"/>
  <p:tag name="RAINPROBLEMTYPE" val="MultipleChoice"/>
  <p:tag name="RAINBULLET" val="Wrong"/>
</p:tagLst>
</file>

<file path=ppt/tags/tag46.xml><?xml version="1.0" encoding="utf-8"?>
<p:tagLst xmlns:p="http://schemas.openxmlformats.org/presentationml/2006/main">
  <p:tag name="RAINPROBLEM" val="ProblemSubmit"/>
  <p:tag name="RAINPROBLEMTYPE" val="MultipleChoice"/>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 val="ProblemSetting"/>
  <p:tag name="RAINPROBLEMTYPE" val="MultipleChoice"/>
</p:tagLst>
</file>

<file path=ppt/tags/tag53.xml><?xml version="1.0" encoding="utf-8"?>
<p:tagLst xmlns:p="http://schemas.openxmlformats.org/presentationml/2006/main">
  <p:tag name="RAINPROBLEM" val="MultipleChoice"/>
  <p:tag name="PROBLEMSCORE" val="2.0"/>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DIAGRAM_VIRTUALLY_FRAME" val="{&quot;height&quot;:211.6445669291339,&quot;left&quot;:384.8031496062992,&quot;top&quot;:184.96062992125982,&quot;width&quot;:322.4409448818898}"/>
</p:tagLst>
</file>

<file path=ppt/tags/tag58.xml><?xml version="1.0" encoding="utf-8"?>
<p:tagLst xmlns:p="http://schemas.openxmlformats.org/presentationml/2006/main">
  <p:tag name="KSO_WM_DIAGRAM_VIRTUALLY_FRAME" val="{&quot;height&quot;:211.6445669291339,&quot;left&quot;:384.8031496062992,&quot;top&quot;:184.96062992125982,&quot;width&quot;:322.4409448818898}"/>
</p:tagLst>
</file>

<file path=ppt/tags/tag59.xml><?xml version="1.0" encoding="utf-8"?>
<p:tagLst xmlns:p="http://schemas.openxmlformats.org/presentationml/2006/main">
  <p:tag name="KSO_WM_DIAGRAM_VIRTUALLY_FRAME" val="{&quot;height&quot;:211.6445669291339,&quot;left&quot;:384.8031496062992,&quot;top&quot;:184.96062992125982,&quot;width&quot;:322.4409448818898}"/>
</p:tagLst>
</file>

<file path=ppt/tags/tag60.xml><?xml version="1.0" encoding="utf-8"?>
<p:tagLst xmlns:p="http://schemas.openxmlformats.org/presentationml/2006/main">
  <p:tag name="KSO_WM_DIAGRAM_VIRTUALLY_FRAME" val="{&quot;height&quot;:211.6445669291339,&quot;left&quot;:384.8031496062992,&quot;top&quot;:184.96062992125982,&quot;width&quot;:322.4409448818898}"/>
</p:tagLst>
</file>

<file path=ppt/tags/tag61.xml><?xml version="1.0" encoding="utf-8"?>
<p:tagLst xmlns:p="http://schemas.openxmlformats.org/presentationml/2006/main">
  <p:tag name="KSO_WM_DIAGRAM_VIRTUALLY_FRAME" val="{&quot;height&quot;:211.6445669291339,&quot;left&quot;:384.8031496062992,&quot;top&quot;:184.96062992125982,&quot;width&quot;:322.4409448818898}"/>
</p:tagLst>
</file>

<file path=ppt/tags/tag62.xml><?xml version="1.0" encoding="utf-8"?>
<p:tagLst xmlns:p="http://schemas.openxmlformats.org/presentationml/2006/main">
  <p:tag name="KSO_WM_DIAGRAM_VIRTUALLY_FRAME" val="{&quot;height&quot;:211.6445669291339,&quot;left&quot;:384.8031496062992,&quot;top&quot;:184.96062992125982,&quot;width&quot;:322.4409448818898}"/>
</p:tagLst>
</file>

<file path=ppt/tags/tag63.xml><?xml version="1.0" encoding="utf-8"?>
<p:tagLst xmlns:p="http://schemas.openxmlformats.org/presentationml/2006/main">
  <p:tag name="KSO_WM_DIAGRAM_VIRTUALLY_FRAME" val="{&quot;height&quot;:211.6445669291339,&quot;left&quot;:384.8031496062992,&quot;top&quot;:184.96062992125982,&quot;width&quot;:322.4409448818898}"/>
</p:tagLst>
</file>

<file path=ppt/tags/tag64.xml><?xml version="1.0" encoding="utf-8"?>
<p:tagLst xmlns:p="http://schemas.openxmlformats.org/presentationml/2006/main">
  <p:tag name="KSO_WM_DIAGRAM_VIRTUALLY_FRAME" val="{&quot;height&quot;:211.6445669291339,&quot;left&quot;:384.8031496062992,&quot;top&quot;:184.96062992125982,&quot;width&quot;:322.4409448818898}"/>
</p:tagLst>
</file>

<file path=ppt/tags/tag65.xml><?xml version="1.0" encoding="utf-8"?>
<p:tagLst xmlns:p="http://schemas.openxmlformats.org/presentationml/2006/main">
  <p:tag name="KSO_WM_DIAGRAM_VIRTUALLY_FRAME" val="{&quot;height&quot;:211.6445669291339,&quot;left&quot;:384.8031496062992,&quot;top&quot;:184.96062992125982,&quot;width&quot;:322.4409448818898}"/>
</p:tagLst>
</file>

<file path=ppt/tags/tag66.xml><?xml version="1.0" encoding="utf-8"?>
<p:tagLst xmlns:p="http://schemas.openxmlformats.org/presentationml/2006/main">
  <p:tag name="RAINPROBLEM" val="ProblemBody"/>
</p:tagLst>
</file>

<file path=ppt/tags/tag67.xml><?xml version="1.0" encoding="utf-8"?>
<p:tagLst xmlns:p="http://schemas.openxmlformats.org/presentationml/2006/main">
  <p:tag name="RAINPROBLEM" val="ProblemSubmit"/>
  <p:tag name="RAINPROBLEMTYPE" val="FillBlank"/>
</p:tagLst>
</file>

<file path=ppt/tags/tag68.xml><?xml version="1.0" encoding="utf-8"?>
<p:tagLst xmlns:p="http://schemas.openxmlformats.org/presentationml/2006/main">
  <p:tag name="PRODUCTVERSIONTIP3" val="PRODUCTVERSIONTIP3"/>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TYPE" val="ProblemTypeMarker"/>
</p:tagLst>
</file>

<file path=ppt/tags/tag71.xml><?xml version="1.0" encoding="utf-8"?>
<p:tagLst xmlns:p="http://schemas.openxmlformats.org/presentationml/2006/main">
  <p:tag name="RAINPROBLEMTYPE" val="ProblemTypeMarker"/>
</p:tagLst>
</file>

<file path=ppt/tags/tag72.xml><?xml version="1.0" encoding="utf-8"?>
<p:tagLst xmlns:p="http://schemas.openxmlformats.org/presentationml/2006/main">
  <p:tag name="RAINPROBLEMTYPE" val="ProblemTypeMarker"/>
</p:tagLst>
</file>

<file path=ppt/tags/tag73.xml><?xml version="1.0" encoding="utf-8"?>
<p:tagLst xmlns:p="http://schemas.openxmlformats.org/presentationml/2006/main">
  <p:tag name="RAINPROBLEM" val="ProblemSetting"/>
  <p:tag name="RAINPROBLEMTYPE" val="FillBlank"/>
</p:tagLst>
</file>

<file path=ppt/tags/tag74.xml><?xml version="1.0" encoding="utf-8"?>
<p:tagLst xmlns:p="http://schemas.openxmlformats.org/presentationml/2006/main">
  <p:tag name="RAINPROBLEM" val="FillBlank"/>
  <p:tag name="PROBLEMSCORE" val="4.0"/>
  <p:tag name="PROBLEMBLANK" val="[{&quot;Num&quot;:1,&quot;Score&quot;:1.0,&quot;Answers&quot;:[&quot;静应力&quot;],&quot;CaseSensitive&quot;:false,&quot;FuzzyMatch&quot;:false},{&quot;Num&quot;:2,&quot;Score&quot;:1.0,&quot;Answers&quot;:[&quot;非对称循环变应力&quot;],&quot;CaseSensitive&quot;:false,&quot;FuzzyMatch&quot;:false},{&quot;Num&quot;:3,&quot;Score&quot;:1.0,&quot;Answers&quot;:[&quot;脉动循环变应力&quot;],&quot;CaseSensitive&quot;:false,&quot;FuzzyMatch&quot;:false},{&quot;Num&quot;:4,&quot;Score&quot;:1.0,&quot;Answers&quot;:[&quot;对称循环变应力&quot;],&quot;CaseSensitive&quot;:false,&quot;FuzzyMatch&quot;:false}]"/>
  <p:tag name="PROBLEMBLANKKEYWORD" val="填空"/>
</p:tagLst>
</file>

<file path=ppt/tags/tag75.xml><?xml version="1.0" encoding="utf-8"?>
<p:tagLst xmlns:p="http://schemas.openxmlformats.org/presentationml/2006/main">
  <p:tag name="RAINPROBLEM" val="ProblemBody"/>
</p:tagLst>
</file>

<file path=ppt/tags/tag76.xml><?xml version="1.0" encoding="utf-8"?>
<p:tagLst xmlns:p="http://schemas.openxmlformats.org/presentationml/2006/main">
  <p:tag name="RAINPROBLEM" val="ProblemItem"/>
  <p:tag name="KSO_WM_DIAGRAM_VIRTUALLY_FRAME" val="{&quot;height&quot;:302.35,&quot;left&quot;:85.85,&quot;top&quot;:176.55,&quot;width&quot;:567.4}"/>
</p:tagLst>
</file>

<file path=ppt/tags/tag77.xml><?xml version="1.0" encoding="utf-8"?>
<p:tagLst xmlns:p="http://schemas.openxmlformats.org/presentationml/2006/main">
  <p:tag name="RAINPROBLEM" val="ProblemItem"/>
  <p:tag name="KSO_WM_DIAGRAM_VIRTUALLY_FRAME" val="{&quot;height&quot;:302.35,&quot;left&quot;:85.85,&quot;top&quot;:176.55,&quot;width&quot;:567.4}"/>
</p:tagLst>
</file>

<file path=ppt/tags/tag78.xml><?xml version="1.0" encoding="utf-8"?>
<p:tagLst xmlns:p="http://schemas.openxmlformats.org/presentationml/2006/main">
  <p:tag name="RAINPROBLEM" val="ProblemItem"/>
  <p:tag name="KSO_WM_DIAGRAM_VIRTUALLY_FRAME" val="{&quot;height&quot;:302.35,&quot;left&quot;:85.85,&quot;top&quot;:176.55,&quot;width&quot;:567.4}"/>
</p:tagLst>
</file>

<file path=ppt/tags/tag79.xml><?xml version="1.0" encoding="utf-8"?>
<p:tagLst xmlns:p="http://schemas.openxmlformats.org/presentationml/2006/main">
  <p:tag name="RAINPROBLEM" val="ProblemItem"/>
  <p:tag name="KSO_WM_DIAGRAM_VIRTUALLY_FRAME" val="{&quot;height&quot;:302.35,&quot;left&quot;:85.85,&quot;top&quot;:176.55,&quot;width&quot;:567.4}"/>
</p:tagLst>
</file>

<file path=ppt/tags/tag80.xml><?xml version="1.0" encoding="utf-8"?>
<p:tagLst xmlns:p="http://schemas.openxmlformats.org/presentationml/2006/main">
  <p:tag name="RAINPROBLEM" val="ProblemBullet"/>
  <p:tag name="RAINPROBLEMTYPE" val="MultipleChoice"/>
  <p:tag name="RAINBULLET" val="Wrong"/>
  <p:tag name="KSO_WM_DIAGRAM_VIRTUALLY_FRAME" val="{&quot;height&quot;:302.35,&quot;left&quot;:85.85,&quot;top&quot;:176.55,&quot;width&quot;:567.4}"/>
</p:tagLst>
</file>

<file path=ppt/tags/tag81.xml><?xml version="1.0" encoding="utf-8"?>
<p:tagLst xmlns:p="http://schemas.openxmlformats.org/presentationml/2006/main">
  <p:tag name="RAINPROBLEM" val="ProblemBullet"/>
  <p:tag name="RAINPROBLEMTYPE" val="MultipleChoice"/>
  <p:tag name="RAINBULLET" val="Correct"/>
  <p:tag name="KSO_WM_DIAGRAM_VIRTUALLY_FRAME" val="{&quot;height&quot;:302.35,&quot;left&quot;:85.85,&quot;top&quot;:176.55,&quot;width&quot;:567.4}"/>
</p:tagLst>
</file>

<file path=ppt/tags/tag82.xml><?xml version="1.0" encoding="utf-8"?>
<p:tagLst xmlns:p="http://schemas.openxmlformats.org/presentationml/2006/main">
  <p:tag name="RAINPROBLEM" val="ProblemBullet"/>
  <p:tag name="RAINPROBLEMTYPE" val="MultipleChoice"/>
  <p:tag name="RAINBULLET" val="Wrong"/>
  <p:tag name="KSO_WM_DIAGRAM_VIRTUALLY_FRAME" val="{&quot;height&quot;:302.35,&quot;left&quot;:85.85,&quot;top&quot;:176.55,&quot;width&quot;:567.4}"/>
</p:tagLst>
</file>

<file path=ppt/tags/tag83.xml><?xml version="1.0" encoding="utf-8"?>
<p:tagLst xmlns:p="http://schemas.openxmlformats.org/presentationml/2006/main">
  <p:tag name="RAINPROBLEM" val="ProblemBullet"/>
  <p:tag name="RAINPROBLEMTYPE" val="MultipleChoice"/>
  <p:tag name="RAINBULLET" val="Wrong"/>
  <p:tag name="KSO_WM_DIAGRAM_VIRTUALLY_FRAME" val="{&quot;height&quot;:302.35,&quot;left&quot;:85.85,&quot;top&quot;:176.55,&quot;width&quot;:567.4}"/>
</p:tagLst>
</file>

<file path=ppt/tags/tag84.xml><?xml version="1.0" encoding="utf-8"?>
<p:tagLst xmlns:p="http://schemas.openxmlformats.org/presentationml/2006/main">
  <p:tag name="RAINPROBLEM" val="ProblemSubmit"/>
  <p:tag name="RAINPROBLEMTYPE" val="MultipleChoice"/>
</p:tagLst>
</file>

<file path=ppt/tags/tag85.xml><?xml version="1.0" encoding="utf-8"?>
<p:tagLst xmlns:p="http://schemas.openxmlformats.org/presentationml/2006/main">
  <p:tag name="RAINPROBLEMTYPE" val="ProblemTypeMarker"/>
</p:tagLst>
</file>

<file path=ppt/tags/tag86.xml><?xml version="1.0" encoding="utf-8"?>
<p:tagLst xmlns:p="http://schemas.openxmlformats.org/presentationml/2006/main">
  <p:tag name="RAINPROBLEMTYPE" val="ProblemTypeMarker"/>
</p:tagLst>
</file>

<file path=ppt/tags/tag87.xml><?xml version="1.0" encoding="utf-8"?>
<p:tagLst xmlns:p="http://schemas.openxmlformats.org/presentationml/2006/main">
  <p:tag name="RAINPROBLEMTYPE" val="ProblemTypeMarker"/>
</p:tagLst>
</file>

<file path=ppt/tags/tag88.xml><?xml version="1.0" encoding="utf-8"?>
<p:tagLst xmlns:p="http://schemas.openxmlformats.org/presentationml/2006/main">
  <p:tag name="RAINPROBLEMTYPE" val="ProblemTypeMarker"/>
</p:tagLst>
</file>

<file path=ppt/tags/tag89.xml><?xml version="1.0" encoding="utf-8"?>
<p:tagLst xmlns:p="http://schemas.openxmlformats.org/presentationml/2006/main">
  <p:tag name="RAINPROBLEM" val="ProblemSetting"/>
  <p:tag name="RAINPROBLEMTYPE" val="MultipleChoice"/>
</p:tagLst>
</file>

<file path=ppt/tags/tag90.xml><?xml version="1.0" encoding="utf-8"?>
<p:tagLst xmlns:p="http://schemas.openxmlformats.org/presentationml/2006/main">
  <p:tag name="KSO_WM_DIAGRAM_VIRTUALLY_FRAME" val="{&quot;height&quot;:302.35,&quot;left&quot;:85.85,&quot;top&quot;:176.55,&quot;width&quot;:567.4}"/>
</p:tagLst>
</file>

<file path=ppt/tags/tag91.xml><?xml version="1.0" encoding="utf-8"?>
<p:tagLst xmlns:p="http://schemas.openxmlformats.org/presentationml/2006/main">
  <p:tag name="RAINPROBLEM" val="MultipleChoice"/>
  <p:tag name="PROBLEMSCORE" val="1.0"/>
</p:tagLst>
</file>

<file path=ppt/tags/tag92.xml><?xml version="1.0" encoding="utf-8"?>
<p:tagLst xmlns:p="http://schemas.openxmlformats.org/presentationml/2006/main">
  <p:tag name="RAINPROBLEM" val="ProblemBody"/>
</p:tagLst>
</file>

<file path=ppt/tags/tag93.xml><?xml version="1.0" encoding="utf-8"?>
<p:tagLst xmlns:p="http://schemas.openxmlformats.org/presentationml/2006/main">
  <p:tag name="RAINPROBLEM" val="ProblemItem"/>
  <p:tag name="KSO_WM_DIAGRAM_VIRTUALLY_FRAME" val="{&quot;height&quot;:253.1,&quot;left&quot;:87.75,&quot;top&quot;:219.35,&quot;width&quot;:560.25}"/>
</p:tagLst>
</file>

<file path=ppt/tags/tag94.xml><?xml version="1.0" encoding="utf-8"?>
<p:tagLst xmlns:p="http://schemas.openxmlformats.org/presentationml/2006/main">
  <p:tag name="RAINPROBLEM" val="ProblemItem"/>
  <p:tag name="KSO_WM_DIAGRAM_VIRTUALLY_FRAME" val="{&quot;height&quot;:253.1,&quot;left&quot;:87.75,&quot;top&quot;:219.35,&quot;width&quot;:560.25}"/>
</p:tagLst>
</file>

<file path=ppt/tags/tag95.xml><?xml version="1.0" encoding="utf-8"?>
<p:tagLst xmlns:p="http://schemas.openxmlformats.org/presentationml/2006/main">
  <p:tag name="RAINPROBLEM" val="ProblemItem"/>
  <p:tag name="KSO_WM_DIAGRAM_VIRTUALLY_FRAME" val="{&quot;height&quot;:253.1,&quot;left&quot;:87.75,&quot;top&quot;:219.35,&quot;width&quot;:560.25}"/>
</p:tagLst>
</file>

<file path=ppt/tags/tag96.xml><?xml version="1.0" encoding="utf-8"?>
<p:tagLst xmlns:p="http://schemas.openxmlformats.org/presentationml/2006/main">
  <p:tag name="RAINPROBLEM" val="ProblemItem"/>
  <p:tag name="KSO_WM_DIAGRAM_VIRTUALLY_FRAME" val="{&quot;height&quot;:253.1,&quot;left&quot;:87.75,&quot;top&quot;:219.35,&quot;width&quot;:560.25}"/>
</p:tagLst>
</file>

<file path=ppt/tags/tag97.xml><?xml version="1.0" encoding="utf-8"?>
<p:tagLst xmlns:p="http://schemas.openxmlformats.org/presentationml/2006/main">
  <p:tag name="RAINPROBLEM" val="ProblemBullet"/>
  <p:tag name="RAINPROBLEMTYPE" val="MultipleChoice"/>
  <p:tag name="RAINBULLET" val="Correct"/>
  <p:tag name="KSO_WM_DIAGRAM_VIRTUALLY_FRAME" val="{&quot;height&quot;:253.1,&quot;left&quot;:87.75,&quot;top&quot;:219.35,&quot;width&quot;:560.25}"/>
</p:tagLst>
</file>

<file path=ppt/tags/tag98.xml><?xml version="1.0" encoding="utf-8"?>
<p:tagLst xmlns:p="http://schemas.openxmlformats.org/presentationml/2006/main">
  <p:tag name="RAINPROBLEM" val="ProblemBullet"/>
  <p:tag name="RAINPROBLEMTYPE" val="MultipleChoice"/>
  <p:tag name="RAINBULLET" val="Wrong"/>
  <p:tag name="KSO_WM_DIAGRAM_VIRTUALLY_FRAME" val="{&quot;height&quot;:253.1,&quot;left&quot;:87.75,&quot;top&quot;:219.35,&quot;width&quot;:560.25}"/>
</p:tagLst>
</file>

<file path=ppt/tags/tag99.xml><?xml version="1.0" encoding="utf-8"?>
<p:tagLst xmlns:p="http://schemas.openxmlformats.org/presentationml/2006/main">
  <p:tag name="RAINPROBLEM" val="ProblemBullet"/>
  <p:tag name="RAINPROBLEMTYPE" val="MultipleChoice"/>
  <p:tag name="RAINBULLET" val="Wrong"/>
  <p:tag name="KSO_WM_DIAGRAM_VIRTUALLY_FRAME" val="{&quot;height&quot;:253.1,&quot;left&quot;:87.75,&quot;top&quot;:219.35,&quot;width&quot;:560.25}"/>
</p:tagLst>
</file>

<file path=ppt/tags/tag100.xml><?xml version="1.0" encoding="utf-8"?>
<p:tagLst xmlns:p="http://schemas.openxmlformats.org/presentationml/2006/main">
  <p:tag name="RAINPROBLEM" val="ProblemBullet"/>
  <p:tag name="RAINPROBLEMTYPE" val="MultipleChoice"/>
  <p:tag name="RAINBULLET" val="Wrong"/>
  <p:tag name="KSO_WM_DIAGRAM_VIRTUALLY_FRAME" val="{&quot;height&quot;:253.1,&quot;left&quot;:87.75,&quot;top&quot;:219.35,&quot;width&quot;:560.25}"/>
</p:tagLst>
</file>

<file path=ppt/tags/tag101.xml><?xml version="1.0" encoding="utf-8"?>
<p:tagLst xmlns:p="http://schemas.openxmlformats.org/presentationml/2006/main">
  <p:tag name="RAINPROBLEM" val="ProblemSubmit"/>
  <p:tag name="RAINPROBLEMTYPE" val="MultipleChoice"/>
</p:tagLst>
</file>

<file path=ppt/tags/tag102.xml><?xml version="1.0" encoding="utf-8"?>
<p:tagLst xmlns:p="http://schemas.openxmlformats.org/presentationml/2006/main">
  <p:tag name="RAINPROBLEMTYPE" val="ProblemTypeMarker"/>
</p:tagLst>
</file>

<file path=ppt/tags/tag103.xml><?xml version="1.0" encoding="utf-8"?>
<p:tagLst xmlns:p="http://schemas.openxmlformats.org/presentationml/2006/main">
  <p:tag name="RAINPROBLEMTYPE" val="ProblemTypeMarker"/>
</p:tagLst>
</file>

<file path=ppt/tags/tag104.xml><?xml version="1.0" encoding="utf-8"?>
<p:tagLst xmlns:p="http://schemas.openxmlformats.org/presentationml/2006/main">
  <p:tag name="RAINPROBLEMTYPE" val="ProblemTypeMarker"/>
</p:tagLst>
</file>

<file path=ppt/tags/tag105.xml><?xml version="1.0" encoding="utf-8"?>
<p:tagLst xmlns:p="http://schemas.openxmlformats.org/presentationml/2006/main">
  <p:tag name="RAINPROBLEMTYPE" val="ProblemTypeMarker"/>
</p:tagLst>
</file>

<file path=ppt/tags/tag106.xml><?xml version="1.0" encoding="utf-8"?>
<p:tagLst xmlns:p="http://schemas.openxmlformats.org/presentationml/2006/main">
  <p:tag name="RAINPROBLEMTYPE" val="ProblemTypeMarker"/>
</p:tagLst>
</file>

<file path=ppt/tags/tag107.xml><?xml version="1.0" encoding="utf-8"?>
<p:tagLst xmlns:p="http://schemas.openxmlformats.org/presentationml/2006/main">
  <p:tag name="RAINPROBLEM" val="ProblemSetting"/>
  <p:tag name="RAINPROBLEMTYPE" val="MultipleChoice"/>
</p:tagLst>
</file>

<file path=ppt/tags/tag108.xml><?xml version="1.0" encoding="utf-8"?>
<p:tagLst xmlns:p="http://schemas.openxmlformats.org/presentationml/2006/main">
  <p:tag name="RAINPROBLEM" val="MultipleChoice"/>
  <p:tag name="PROBLEMSCORE" val="2.0"/>
</p:tagLst>
</file>

<file path=ppt/tags/tag109.xml><?xml version="1.0" encoding="utf-8"?>
<p:tagLst xmlns:p="http://schemas.openxmlformats.org/presentationml/2006/main">
  <p:tag name="RAINPROBLEM" val="ProblemBody"/>
</p:tagLst>
</file>

<file path=ppt/tags/tag110.xml><?xml version="1.0" encoding="utf-8"?>
<p:tagLst xmlns:p="http://schemas.openxmlformats.org/presentationml/2006/main">
  <p:tag name="RAINPROBLEM" val="ProblemSubmit"/>
  <p:tag name="RAINPROBLEMTYPE" val="FillBlank"/>
</p:tagLst>
</file>

<file path=ppt/tags/tag111.xml><?xml version="1.0" encoding="utf-8"?>
<p:tagLst xmlns:p="http://schemas.openxmlformats.org/presentationml/2006/main">
  <p:tag name="PRODUCTVERSIONTIP3" val="PRODUCTVERSIONTIP3"/>
</p:tagLst>
</file>

<file path=ppt/tags/tag112.xml><?xml version="1.0" encoding="utf-8"?>
<p:tagLst xmlns:p="http://schemas.openxmlformats.org/presentationml/2006/main">
  <p:tag name="RAINPROBLEMTYPE" val="ProblemTypeMarker"/>
</p:tagLst>
</file>

<file path=ppt/tags/tag113.xml><?xml version="1.0" encoding="utf-8"?>
<p:tagLst xmlns:p="http://schemas.openxmlformats.org/presentationml/2006/main">
  <p:tag name="RAINPROBLEMTYPE" val="ProblemTypeMarker"/>
</p:tagLst>
</file>

<file path=ppt/tags/tag114.xml><?xml version="1.0" encoding="utf-8"?>
<p:tagLst xmlns:p="http://schemas.openxmlformats.org/presentationml/2006/main">
  <p:tag name="RAINPROBLEMTYPE" val="ProblemTypeMarker"/>
</p:tagLst>
</file>

<file path=ppt/tags/tag115.xml><?xml version="1.0" encoding="utf-8"?>
<p:tagLst xmlns:p="http://schemas.openxmlformats.org/presentationml/2006/main">
  <p:tag name="RAINPROBLEMTYPE" val="ProblemTypeMarker"/>
</p:tagLst>
</file>

<file path=ppt/tags/tag116.xml><?xml version="1.0" encoding="utf-8"?>
<p:tagLst xmlns:p="http://schemas.openxmlformats.org/presentationml/2006/main">
  <p:tag name="RAINPROBLEM" val="ProblemSetting"/>
  <p:tag name="RAINPROBLEMTYPE" val="FillBlank"/>
</p:tagLst>
</file>

<file path=ppt/tags/tag117.xml><?xml version="1.0" encoding="utf-8"?>
<p:tagLst xmlns:p="http://schemas.openxmlformats.org/presentationml/2006/main">
  <p:tag name="RAINPROBLEM" val="FillBlank"/>
  <p:tag name="PROBLEMSCORE" val="3.0"/>
  <p:tag name="PROBLEMBLANK" val="[{&quot;Num&quot;:1,&quot;Score&quot;:1.0,&quot;Answers&quot;:[&quot;B&quot;],&quot;CaseSensitive&quot;:false,&quot;FuzzyMatch&quot;:false},{&quot;Num&quot;:2,&quot;Score&quot;:1.0,&quot;Answers&quot;:[&quot;C&quot;],&quot;CaseSensitive&quot;:false,&quot;FuzzyMatch&quot;:false},{&quot;Num&quot;:3,&quot;Score&quot;:1.0,&quot;Answers&quot;:[&quot;A&quot;],&quot;CaseSensitive&quot;:false,&quot;FuzzyMatch&quot;:false}]"/>
</p:tagLst>
</file>

<file path=ppt/tags/tag118.xml><?xml version="1.0" encoding="utf-8"?>
<p:tagLst xmlns:p="http://schemas.openxmlformats.org/presentationml/2006/main">
  <p:tag name="COMMONDATA" val="eyJoZGlkIjoiZmYwY2UxNzI0ODdjMTkzYTM2NmQ4OTdkNGYwMzJlYmMifQ=="/>
  <p:tag name="KSO_WPP_MARK_KEY" val="50f75f0c-d515-4ffe-bef9-dcc62fcb6391"/>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0</TotalTime>
  <Words>8132</Words>
  <Application>WPS 演示</Application>
  <PresentationFormat>全屏显示(4:3)</PresentationFormat>
  <Paragraphs>1198</Paragraphs>
  <Slides>63</Slides>
  <Notes>17</Notes>
  <HiddenSlides>5</HiddenSlides>
  <MMClips>0</MMClips>
  <ScaleCrop>false</ScaleCrop>
  <HeadingPairs>
    <vt:vector size="8" baseType="variant">
      <vt:variant>
        <vt:lpstr>已用的字体</vt:lpstr>
      </vt:variant>
      <vt:variant>
        <vt:i4>23</vt:i4>
      </vt:variant>
      <vt:variant>
        <vt:lpstr>主题</vt:lpstr>
      </vt:variant>
      <vt:variant>
        <vt:i4>6</vt:i4>
      </vt:variant>
      <vt:variant>
        <vt:lpstr>嵌入 OLE 服务器</vt:lpstr>
      </vt:variant>
      <vt:variant>
        <vt:i4>103</vt:i4>
      </vt:variant>
      <vt:variant>
        <vt:lpstr>幻灯片标题</vt:lpstr>
      </vt:variant>
      <vt:variant>
        <vt:i4>63</vt:i4>
      </vt:variant>
    </vt:vector>
  </HeadingPairs>
  <TitlesOfParts>
    <vt:vector size="195" baseType="lpstr">
      <vt:lpstr>Arial</vt:lpstr>
      <vt:lpstr>宋体</vt:lpstr>
      <vt:lpstr>Wingdings</vt:lpstr>
      <vt:lpstr>Tahoma</vt:lpstr>
      <vt:lpstr>华文中宋</vt:lpstr>
      <vt:lpstr>Times New Roman</vt:lpstr>
      <vt:lpstr>黑体</vt:lpstr>
      <vt:lpstr>Monotype Sorts</vt:lpstr>
      <vt:lpstr>Wingdings</vt:lpstr>
      <vt:lpstr>Book Antiqua</vt:lpstr>
      <vt:lpstr>楷体_GB2312</vt:lpstr>
      <vt:lpstr>新宋体</vt:lpstr>
      <vt:lpstr>方正大黑简体</vt:lpstr>
      <vt:lpstr>楷体</vt:lpstr>
      <vt:lpstr>Symbol</vt:lpstr>
      <vt:lpstr>微软雅黑</vt:lpstr>
      <vt:lpstr>Arial Unicode MS</vt:lpstr>
      <vt:lpstr>隶书</vt:lpstr>
      <vt:lpstr>华文楷体</vt:lpstr>
      <vt:lpstr>华文新魏</vt:lpstr>
      <vt:lpstr>Symbol</vt:lpstr>
      <vt:lpstr>Cambria Math</vt:lpstr>
      <vt:lpstr>方正仿宋_GB2312</vt:lpstr>
      <vt:lpstr>Blueprint</vt:lpstr>
      <vt:lpstr>1_Blueprint</vt:lpstr>
      <vt:lpstr>2_Blueprint</vt:lpstr>
      <vt:lpstr>3_Blueprint</vt:lpstr>
      <vt:lpstr>4_Blueprint</vt:lpstr>
      <vt:lpstr>5_Blueprint</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Equation.KSEE3</vt:lpstr>
      <vt:lpstr>Equation.KSEE3</vt:lpstr>
      <vt:lpstr>Equation.3</vt:lpstr>
      <vt:lpstr>Equation.KSEE3</vt:lpstr>
      <vt:lpstr>Equation.DSMT4</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Equation.3</vt:lpstr>
      <vt:lpstr>Equation.3</vt:lpstr>
      <vt:lpstr>Equation.3</vt:lpstr>
      <vt:lpstr>Paint.Picture</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Equation.KSEE3</vt:lpstr>
      <vt:lpstr>Equation.KSEE3</vt:lpstr>
      <vt:lpstr>Equation.3</vt:lpstr>
      <vt:lpstr>Equation.3</vt:lpstr>
      <vt:lpstr>Equation.3</vt:lpstr>
      <vt:lpstr>第1.3章 机械零件的强度</vt:lpstr>
      <vt:lpstr>第1.3章 机械零件的强度</vt:lpstr>
      <vt:lpstr>1.3-1 载荷与应力</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材料疲劳的两种类别</vt:lpstr>
      <vt:lpstr>§2-2 疲劳曲线和极限应力图</vt:lpstr>
      <vt:lpstr>§2-2 疲劳曲线和极限应力图</vt:lpstr>
      <vt:lpstr>疲劳曲线</vt:lpstr>
      <vt:lpstr>疲劳曲线2</vt:lpstr>
      <vt:lpstr>疲劳曲线3</vt:lpstr>
      <vt:lpstr>PowerPoint 演示文稿</vt:lpstr>
      <vt:lpstr>极限应力线图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机械零件的疲劳强度计算1</vt:lpstr>
      <vt:lpstr>机械零件的疲劳强度计算2</vt:lpstr>
      <vt:lpstr>PowerPoint 演示文稿</vt:lpstr>
      <vt:lpstr>PowerPoint 演示文稿</vt:lpstr>
      <vt:lpstr>单向稳定变应力时的疲劳强度计算</vt:lpstr>
      <vt:lpstr>单向稳定变应力时的疲劳强度计算</vt:lpstr>
      <vt:lpstr>单向稳定变应力时的疲劳强度计算</vt:lpstr>
      <vt:lpstr>单向稳定变应力时的疲劳强度计算</vt:lpstr>
      <vt:lpstr>单向稳定变应力时的疲劳强度计算</vt:lpstr>
      <vt:lpstr>机械零件的疲劳强度计算2</vt:lpstr>
      <vt:lpstr>PowerPoint 演示文稿</vt:lpstr>
      <vt:lpstr>PowerPoint 演示文稿</vt:lpstr>
      <vt:lpstr>机械零件的疲劳强度计算2</vt:lpstr>
      <vt:lpstr>机械零件的疲劳强度计算2</vt:lpstr>
      <vt:lpstr>机械零件的疲劳强度计算2</vt:lpstr>
      <vt:lpstr>机械零件的疲劳强度计算2</vt:lpstr>
      <vt:lpstr>PowerPoint 演示文稿</vt:lpstr>
      <vt:lpstr>PowerPoint 演示文稿</vt:lpstr>
      <vt:lpstr>PowerPoint 演示文稿</vt:lpstr>
      <vt:lpstr>PowerPoint 演示文稿</vt:lpstr>
      <vt:lpstr>机械零件的疲劳强度计算3</vt:lpstr>
      <vt:lpstr>机械零件的疲劳强度计算3</vt:lpstr>
      <vt:lpstr>机械零件的疲劳强度计算4</vt:lpstr>
      <vt:lpstr>PowerPoint 演示文稿</vt:lpstr>
      <vt:lpstr>机械零件的疲劳强度计算1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DQH</cp:lastModifiedBy>
  <cp:revision>461</cp:revision>
  <dcterms:created xsi:type="dcterms:W3CDTF">2002-03-15T12:39:00Z</dcterms:created>
  <dcterms:modified xsi:type="dcterms:W3CDTF">2025-09-08T08:55:21Z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817DF6D6194E41CA8B3523556D77189E_13</vt:lpwstr>
  </property>
</Properties>
</file>