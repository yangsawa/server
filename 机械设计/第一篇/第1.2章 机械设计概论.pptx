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av" ContentType="audio/x-wav"/>
  <Default Extension="png" ContentType="image/png"/>
  <Default Extension="jpeg" ContentType="image/jpeg"/>
  <Default Extension="JPG" ContentType="image/.jp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Lst>
  <p:notesMasterIdLst>
    <p:notesMasterId r:id="rId8"/>
  </p:notesMasterIdLst>
  <p:sldIdLst>
    <p:sldId id="361" r:id="rId6"/>
    <p:sldId id="256" r:id="rId7"/>
    <p:sldId id="515" r:id="rId9"/>
    <p:sldId id="263" r:id="rId10"/>
    <p:sldId id="513" r:id="rId11"/>
    <p:sldId id="523" r:id="rId12"/>
    <p:sldId id="517" r:id="rId13"/>
    <p:sldId id="518" r:id="rId14"/>
    <p:sldId id="519" r:id="rId15"/>
    <p:sldId id="520" r:id="rId16"/>
    <p:sldId id="521" r:id="rId17"/>
    <p:sldId id="522" r:id="rId18"/>
    <p:sldId id="484" r:id="rId19"/>
    <p:sldId id="455" r:id="rId20"/>
    <p:sldId id="362" r:id="rId21"/>
    <p:sldId id="359" r:id="rId22"/>
    <p:sldId id="316" r:id="rId23"/>
    <p:sldId id="325" r:id="rId24"/>
    <p:sldId id="372" r:id="rId25"/>
    <p:sldId id="343" r:id="rId26"/>
    <p:sldId id="374" r:id="rId27"/>
    <p:sldId id="344" r:id="rId28"/>
    <p:sldId id="317" r:id="rId29"/>
    <p:sldId id="356" r:id="rId30"/>
    <p:sldId id="368" r:id="rId31"/>
    <p:sldId id="377" r:id="rId32"/>
    <p:sldId id="328" r:id="rId33"/>
    <p:sldId id="358" r:id="rId34"/>
    <p:sldId id="369" r:id="rId35"/>
    <p:sldId id="332" r:id="rId36"/>
    <p:sldId id="370" r:id="rId37"/>
    <p:sldId id="334" r:id="rId38"/>
    <p:sldId id="401" r:id="rId39"/>
    <p:sldId id="444" r:id="rId40"/>
    <p:sldId id="445" r:id="rId41"/>
    <p:sldId id="447" r:id="rId42"/>
    <p:sldId id="433" r:id="rId43"/>
    <p:sldId id="450" r:id="rId44"/>
    <p:sldId id="453" r:id="rId45"/>
    <p:sldId id="452" r:id="rId46"/>
    <p:sldId id="338" r:id="rId47"/>
  </p:sldIdLst>
  <p:sldSz cx="9144000" cy="6858000" type="screen4x3"/>
  <p:notesSz cx="6858000" cy="9144000"/>
  <p:custDataLst>
    <p:tags r:id="rId51"/>
  </p:custDataLst>
  <p:defaultTextStyle>
    <a:defPPr>
      <a:defRPr lang="zh-CN"/>
    </a:defPPr>
    <a:lvl1pPr algn="l" rtl="0" fontAlgn="base">
      <a:spcBef>
        <a:spcPct val="0"/>
      </a:spcBef>
      <a:spcAft>
        <a:spcPct val="0"/>
      </a:spcAft>
      <a:defRPr sz="2200" kern="1200">
        <a:solidFill>
          <a:schemeClr val="tx1"/>
        </a:solidFill>
        <a:latin typeface="Tahoma" panose="020B0604030504040204" pitchFamily="34" charset="0"/>
        <a:ea typeface="华文中宋" panose="02010600040101010101" pitchFamily="2" charset="-122"/>
        <a:cs typeface="+mn-cs"/>
      </a:defRPr>
    </a:lvl1pPr>
    <a:lvl2pPr marL="457200" algn="l" rtl="0" fontAlgn="base">
      <a:spcBef>
        <a:spcPct val="0"/>
      </a:spcBef>
      <a:spcAft>
        <a:spcPct val="0"/>
      </a:spcAft>
      <a:defRPr sz="2200" kern="1200">
        <a:solidFill>
          <a:schemeClr val="tx1"/>
        </a:solidFill>
        <a:latin typeface="Tahoma" panose="020B0604030504040204" pitchFamily="34" charset="0"/>
        <a:ea typeface="华文中宋" panose="02010600040101010101" pitchFamily="2" charset="-122"/>
        <a:cs typeface="+mn-cs"/>
      </a:defRPr>
    </a:lvl2pPr>
    <a:lvl3pPr marL="914400" algn="l" rtl="0" fontAlgn="base">
      <a:spcBef>
        <a:spcPct val="0"/>
      </a:spcBef>
      <a:spcAft>
        <a:spcPct val="0"/>
      </a:spcAft>
      <a:defRPr sz="2200" kern="1200">
        <a:solidFill>
          <a:schemeClr val="tx1"/>
        </a:solidFill>
        <a:latin typeface="Tahoma" panose="020B0604030504040204" pitchFamily="34" charset="0"/>
        <a:ea typeface="华文中宋" panose="02010600040101010101" pitchFamily="2" charset="-122"/>
        <a:cs typeface="+mn-cs"/>
      </a:defRPr>
    </a:lvl3pPr>
    <a:lvl4pPr marL="1371600" algn="l" rtl="0" fontAlgn="base">
      <a:spcBef>
        <a:spcPct val="0"/>
      </a:spcBef>
      <a:spcAft>
        <a:spcPct val="0"/>
      </a:spcAft>
      <a:defRPr sz="2200" kern="1200">
        <a:solidFill>
          <a:schemeClr val="tx1"/>
        </a:solidFill>
        <a:latin typeface="Tahoma" panose="020B0604030504040204" pitchFamily="34" charset="0"/>
        <a:ea typeface="华文中宋" panose="02010600040101010101" pitchFamily="2" charset="-122"/>
        <a:cs typeface="+mn-cs"/>
      </a:defRPr>
    </a:lvl4pPr>
    <a:lvl5pPr marL="1828800" algn="l" rtl="0" fontAlgn="base">
      <a:spcBef>
        <a:spcPct val="0"/>
      </a:spcBef>
      <a:spcAft>
        <a:spcPct val="0"/>
      </a:spcAft>
      <a:defRPr sz="2200" kern="1200">
        <a:solidFill>
          <a:schemeClr val="tx1"/>
        </a:solidFill>
        <a:latin typeface="Tahoma" panose="020B0604030504040204" pitchFamily="34" charset="0"/>
        <a:ea typeface="华文中宋" panose="02010600040101010101" pitchFamily="2" charset="-122"/>
        <a:cs typeface="+mn-cs"/>
      </a:defRPr>
    </a:lvl5pPr>
    <a:lvl6pPr marL="2286000" algn="l" defTabSz="914400" rtl="0" eaLnBrk="1" latinLnBrk="0" hangingPunct="1">
      <a:defRPr sz="2200" kern="1200">
        <a:solidFill>
          <a:schemeClr val="tx1"/>
        </a:solidFill>
        <a:latin typeface="Tahoma" panose="020B0604030504040204" pitchFamily="34" charset="0"/>
        <a:ea typeface="华文中宋" panose="02010600040101010101" pitchFamily="2" charset="-122"/>
        <a:cs typeface="+mn-cs"/>
      </a:defRPr>
    </a:lvl6pPr>
    <a:lvl7pPr marL="2743200" algn="l" defTabSz="914400" rtl="0" eaLnBrk="1" latinLnBrk="0" hangingPunct="1">
      <a:defRPr sz="2200" kern="1200">
        <a:solidFill>
          <a:schemeClr val="tx1"/>
        </a:solidFill>
        <a:latin typeface="Tahoma" panose="020B0604030504040204" pitchFamily="34" charset="0"/>
        <a:ea typeface="华文中宋" panose="02010600040101010101" pitchFamily="2" charset="-122"/>
        <a:cs typeface="+mn-cs"/>
      </a:defRPr>
    </a:lvl7pPr>
    <a:lvl8pPr marL="3200400" algn="l" defTabSz="914400" rtl="0" eaLnBrk="1" latinLnBrk="0" hangingPunct="1">
      <a:defRPr sz="2200" kern="1200">
        <a:solidFill>
          <a:schemeClr val="tx1"/>
        </a:solidFill>
        <a:latin typeface="Tahoma" panose="020B0604030504040204" pitchFamily="34" charset="0"/>
        <a:ea typeface="华文中宋" panose="02010600040101010101" pitchFamily="2" charset="-122"/>
        <a:cs typeface="+mn-cs"/>
      </a:defRPr>
    </a:lvl8pPr>
    <a:lvl9pPr marL="3657600" algn="l" defTabSz="914400" rtl="0" eaLnBrk="1" latinLnBrk="0" hangingPunct="1">
      <a:defRPr sz="2200" kern="1200">
        <a:solidFill>
          <a:schemeClr val="tx1"/>
        </a:solidFill>
        <a:latin typeface="Tahoma" panose="020B0604030504040204" pitchFamily="34" charset="0"/>
        <a:ea typeface="华文中宋" panose="02010600040101010101" pitchFamily="2" charset="-122"/>
        <a:cs typeface="+mn-cs"/>
      </a:defRPr>
    </a:lvl9pPr>
  </p:defaultTextStyle>
  <p:extLst>
    <p:ext uri="{EFAFB233-063F-42B5-8137-9DF3F51BA10A}">
      <p15:sldGuideLst xmlns:p15="http://schemas.microsoft.com/office/powerpoint/2012/main">
        <p15:guide id="1" orient="horz" pos="2230" userDrawn="1">
          <p15:clr>
            <a:srgbClr val="A4A3A4"/>
          </p15:clr>
        </p15:guide>
        <p15:guide id="2" pos="287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FF0000"/>
    <a:srgbClr val="CC0000"/>
    <a:srgbClr val="A50021"/>
    <a:srgbClr val="EB6623"/>
    <a:srgbClr val="000099"/>
    <a:srgbClr val="CC33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34" autoAdjust="0"/>
    <p:restoredTop sz="93059" autoAdjust="0"/>
  </p:normalViewPr>
  <p:slideViewPr>
    <p:cSldViewPr snapToGrid="0" showGuides="1">
      <p:cViewPr varScale="1">
        <p:scale>
          <a:sx n="65" d="100"/>
          <a:sy n="65" d="100"/>
        </p:scale>
        <p:origin x="772" y="40"/>
      </p:cViewPr>
      <p:guideLst>
        <p:guide orient="horz" pos="2230"/>
        <p:guide pos="2875"/>
      </p:guideLst>
    </p:cSldViewPr>
  </p:slideViewPr>
  <p:outlineViewPr>
    <p:cViewPr>
      <p:scale>
        <a:sx n="20" d="100"/>
        <a:sy n="20" d="100"/>
      </p:scale>
      <p:origin x="0" y="-368"/>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notesMaster" Target="notesMasters/notesMaster1.xml"/><Relationship Id="rId7" Type="http://schemas.openxmlformats.org/officeDocument/2006/relationships/slide" Target="slides/slide2.xml"/><Relationship Id="rId6" Type="http://schemas.openxmlformats.org/officeDocument/2006/relationships/slide" Target="slides/slide1.xml"/><Relationship Id="rId51" Type="http://schemas.openxmlformats.org/officeDocument/2006/relationships/tags" Target="tags/tag8.xml"/><Relationship Id="rId50" Type="http://schemas.openxmlformats.org/officeDocument/2006/relationships/tableStyles" Target="tableStyles.xml"/><Relationship Id="rId5" Type="http://schemas.openxmlformats.org/officeDocument/2006/relationships/slideMaster" Target="slideMasters/slideMaster4.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noProof="1"/>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noProof="1" smtClean="0"/>
            </a:lvl1pPr>
          </a:lstStyle>
          <a:p>
            <a:fld id="{D2A48B96-639E-45A3-A0BA-2464DFDB1FAA}" type="datetimeFigureOut">
              <a:rPr lang="zh-CN" altLang="en-US"/>
            </a:fld>
            <a:endParaRPr lang="zh-CN" altLang="en-US"/>
          </a:p>
        </p:txBody>
      </p:sp>
      <p:sp>
        <p:nvSpPr>
          <p:cNvPr id="3076" name="幻灯片图像占位符 3"/>
          <p:cNvSpPr>
            <a:spLocks noGrp="1" noRot="1" noChangeAspect="1" noChangeArrowheads="1"/>
          </p:cNvSpPr>
          <p:nvPr>
            <p:ph type="sldImg" idx="4294967295"/>
          </p:nvPr>
        </p:nvSpPr>
        <p:spPr bwMode="auto">
          <a:xfrm>
            <a:off x="1371600" y="1143000"/>
            <a:ext cx="4114800" cy="3086100"/>
          </a:xfrm>
          <a:prstGeom prst="rect">
            <a:avLst/>
          </a:prstGeom>
          <a:noFill/>
          <a:ln w="12700">
            <a:solidFill>
              <a:srgbClr val="000000"/>
            </a:solidFill>
            <a:round/>
          </a:ln>
          <a:extLst>
            <a:ext uri="{909E8E84-426E-40DD-AFC4-6F175D3DCCD1}">
              <a14:hiddenFill xmlns:a14="http://schemas.microsoft.com/office/drawing/2010/main">
                <a:solidFill>
                  <a:srgbClr val="FFFFFF"/>
                </a:solidFill>
              </a14:hiddenFill>
            </a:ext>
          </a:extLst>
        </p:spPr>
      </p:sp>
      <p:sp>
        <p:nvSpPr>
          <p:cNvPr id="3077" name="备注占位符 4"/>
          <p:cNvSpPr>
            <a:spLocks noGrp="1" noChangeArrowheads="1"/>
          </p:cNvSpPr>
          <p:nvPr>
            <p:ph type="body" sz="quarter" idx="9"/>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noProof="1"/>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noProof="1" smtClean="0"/>
            </a:lvl1pPr>
          </a:lstStyle>
          <a:p>
            <a:fld id="{D65B910F-62F0-4949-B693-7A10CAA9902B}"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4294967295"/>
          </p:nvPr>
        </p:nvSpPr>
        <p:spPr/>
      </p:sp>
      <p:sp>
        <p:nvSpPr>
          <p:cNvPr id="3" name="文本占位符 2"/>
          <p:cNvSpPr/>
          <p:nvPr>
            <p:ph type="body" idx="9"/>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spcBef>
                <a:spcPct val="50000"/>
              </a:spcBef>
            </a:pPr>
            <a:r>
              <a:rPr lang="zh-CN" altLang="en-US" b="1" dirty="0">
                <a:latin typeface="Times New Roman" panose="02020603050405020304" pitchFamily="18" charset="0"/>
                <a:sym typeface="+mn-ea"/>
              </a:rPr>
              <a:t>动力系统</a:t>
            </a:r>
            <a:r>
              <a:rPr lang="en-US" altLang="zh-CN" b="1" dirty="0">
                <a:latin typeface="Times New Roman" panose="02020603050405020304" pitchFamily="18" charset="0"/>
                <a:sym typeface="+mn-ea"/>
              </a:rPr>
              <a:t>——</a:t>
            </a:r>
            <a:r>
              <a:rPr lang="zh-CN" altLang="en-US" b="1" dirty="0">
                <a:latin typeface="Times New Roman" panose="02020603050405020304" pitchFamily="18" charset="0"/>
                <a:sym typeface="+mn-ea"/>
              </a:rPr>
              <a:t>电动机</a:t>
            </a:r>
            <a:endParaRPr lang="zh-CN" altLang="en-US" b="1" dirty="0">
              <a:latin typeface="Times New Roman" panose="02020603050405020304" pitchFamily="18" charset="0"/>
            </a:endParaRPr>
          </a:p>
          <a:p>
            <a:pPr algn="l">
              <a:spcBef>
                <a:spcPct val="50000"/>
              </a:spcBef>
            </a:pPr>
            <a:r>
              <a:rPr lang="zh-CN" altLang="en-US" b="1" dirty="0">
                <a:latin typeface="Times New Roman" panose="02020603050405020304" pitchFamily="18" charset="0"/>
                <a:sym typeface="+mn-ea"/>
              </a:rPr>
              <a:t>传动系统</a:t>
            </a:r>
            <a:r>
              <a:rPr lang="en-US" altLang="zh-CN" b="1" dirty="0">
                <a:latin typeface="Times New Roman" panose="02020603050405020304" pitchFamily="18" charset="0"/>
                <a:sym typeface="+mn-ea"/>
              </a:rPr>
              <a:t>——</a:t>
            </a:r>
            <a:r>
              <a:rPr lang="zh-CN" altLang="en-US" b="1" dirty="0">
                <a:latin typeface="Times New Roman" panose="02020603050405020304" pitchFamily="18" charset="0"/>
                <a:sym typeface="+mn-ea"/>
              </a:rPr>
              <a:t>床头箱、滚珠丝杠等</a:t>
            </a:r>
            <a:endParaRPr lang="zh-CN" altLang="en-US" b="1" dirty="0">
              <a:latin typeface="Times New Roman" panose="02020603050405020304" pitchFamily="18" charset="0"/>
            </a:endParaRPr>
          </a:p>
          <a:p>
            <a:pPr algn="l">
              <a:spcBef>
                <a:spcPct val="50000"/>
              </a:spcBef>
            </a:pPr>
            <a:r>
              <a:rPr lang="zh-CN" altLang="en-US" b="1" dirty="0">
                <a:latin typeface="Times New Roman" panose="02020603050405020304" pitchFamily="18" charset="0"/>
                <a:sym typeface="+mn-ea"/>
              </a:rPr>
              <a:t>执行系统</a:t>
            </a:r>
            <a:r>
              <a:rPr lang="en-US" altLang="zh-CN" b="1" dirty="0">
                <a:latin typeface="Times New Roman" panose="02020603050405020304" pitchFamily="18" charset="0"/>
                <a:sym typeface="+mn-ea"/>
              </a:rPr>
              <a:t>——</a:t>
            </a:r>
            <a:r>
              <a:rPr lang="zh-CN" altLang="en-US" b="1" dirty="0">
                <a:latin typeface="Times New Roman" panose="02020603050405020304" pitchFamily="18" charset="0"/>
                <a:sym typeface="+mn-ea"/>
              </a:rPr>
              <a:t>溜板箱、刀具等</a:t>
            </a:r>
            <a:endParaRPr lang="zh-CN" altLang="en-US" b="1" dirty="0">
              <a:latin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pPr lvl="0" algn="r">
              <a:spcBef>
                <a:spcPct val="50000"/>
              </a:spcBef>
            </a:pPr>
            <a:fld id="{9A0DB2DC-4C9A-4742-B13C-FB6460FD3503}" type="slidenum">
              <a:rPr lang="zh-CN" altLang="en-US" sz="1200" b="1" smtClean="0">
                <a:solidFill>
                  <a:schemeClr val="bg1"/>
                </a:solidFill>
              </a:rPr>
            </a:fld>
            <a:endParaRPr lang="zh-CN" altLang="en-US" sz="1200" b="1" dirty="0">
              <a:solidFill>
                <a:schemeClr val="bg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lvl="0" algn="r">
              <a:spcBef>
                <a:spcPct val="50000"/>
              </a:spcBef>
            </a:pPr>
            <a:fld id="{9A0DB2DC-4C9A-4742-B13C-FB6460FD3503}" type="slidenum">
              <a:rPr lang="zh-CN" altLang="en-US" sz="1200" b="1" dirty="0">
                <a:solidFill>
                  <a:schemeClr val="bg1"/>
                </a:solidFill>
              </a:rPr>
            </a:fld>
            <a:endParaRPr lang="zh-CN" altLang="en-US" sz="1200" b="1" dirty="0">
              <a:solidFill>
                <a:schemeClr val="bg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送料机构、发动机进气阀的凸轮机构</a:t>
            </a:r>
            <a:endParaRPr lang="zh-CN" altLang="en-US"/>
          </a:p>
        </p:txBody>
      </p:sp>
      <p:sp>
        <p:nvSpPr>
          <p:cNvPr id="4" name="灯片编号占位符 3"/>
          <p:cNvSpPr>
            <a:spLocks noGrp="1"/>
          </p:cNvSpPr>
          <p:nvPr>
            <p:ph type="sldNum" sz="quarter" idx="5"/>
          </p:nvPr>
        </p:nvSpPr>
        <p:spPr/>
        <p:txBody>
          <a:bodyPr/>
          <a:p>
            <a:pPr lvl="0" algn="r">
              <a:spcBef>
                <a:spcPct val="50000"/>
              </a:spcBef>
            </a:pPr>
            <a:fld id="{9A0DB2DC-4C9A-4742-B13C-FB6460FD3503}" type="slidenum">
              <a:rPr lang="zh-CN" altLang="en-US" sz="1200" b="1" dirty="0">
                <a:solidFill>
                  <a:schemeClr val="bg1"/>
                </a:solidFill>
              </a:rPr>
            </a:fld>
            <a:endParaRPr lang="zh-CN" altLang="en-US" sz="1200" b="1" dirty="0">
              <a:solidFill>
                <a:schemeClr val="bg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lvl="0" algn="r">
              <a:spcBef>
                <a:spcPct val="50000"/>
              </a:spcBef>
            </a:pPr>
            <a:fld id="{9A0DB2DC-4C9A-4742-B13C-FB6460FD3503}" type="slidenum">
              <a:rPr lang="zh-CN" altLang="en-US" sz="1200" b="1" smtClean="0">
                <a:solidFill>
                  <a:schemeClr val="bg1"/>
                </a:solidFill>
              </a:rPr>
            </a:fld>
            <a:endParaRPr lang="zh-CN" altLang="en-US" sz="1200" b="1" dirty="0">
              <a:solidFill>
                <a:schemeClr val="bg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4294967295"/>
          </p:nvPr>
        </p:nvSpPr>
        <p:spPr/>
      </p:sp>
      <p:sp>
        <p:nvSpPr>
          <p:cNvPr id="3" name="文本占位符 2"/>
          <p:cNvSpPr>
            <a:spLocks noGrp="1"/>
          </p:cNvSpPr>
          <p:nvPr>
            <p:ph type="body" idx="9"/>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4294967295"/>
          </p:nvPr>
        </p:nvSpPr>
        <p:spPr/>
      </p:sp>
      <p:sp>
        <p:nvSpPr>
          <p:cNvPr id="3" name="文本占位符 2"/>
          <p:cNvSpPr>
            <a:spLocks noGrp="1"/>
          </p:cNvSpPr>
          <p:nvPr>
            <p:ph type="body" idx="9"/>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65B910F-62F0-4949-B693-7A10CAA9902B}"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solidFill>
                  <a:srgbClr val="000099"/>
                </a:solidFill>
                <a:latin typeface="华文中宋" panose="02010600040101010101" pitchFamily="2" charset="-122"/>
              </a:rPr>
              <a:t>整体断裂是指零件在载荷作用下，其危险截面的应力超过零件的强度极限而导致的断裂，或在变应力作用下，危险截面发生的疲劳断裂。</a:t>
            </a:r>
            <a:endParaRPr lang="zh-CN" altLang="en-US" dirty="0"/>
          </a:p>
        </p:txBody>
      </p:sp>
      <p:sp>
        <p:nvSpPr>
          <p:cNvPr id="4" name="灯片编号占位符 3"/>
          <p:cNvSpPr>
            <a:spLocks noGrp="1"/>
          </p:cNvSpPr>
          <p:nvPr>
            <p:ph type="sldNum" sz="quarter" idx="10"/>
          </p:nvPr>
        </p:nvSpPr>
        <p:spPr/>
        <p:txBody>
          <a:bodyPr/>
          <a:lstStyle/>
          <a:p>
            <a:fld id="{D65B910F-62F0-4949-B693-7A10CAA9902B}"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spcBef>
                <a:spcPct val="0"/>
              </a:spcBef>
            </a:pPr>
            <a:r>
              <a:rPr kumimoji="1" lang="zh-CN" altLang="en-US" dirty="0" smtClean="0">
                <a:solidFill>
                  <a:srgbClr val="3366FF"/>
                </a:solidFill>
              </a:rPr>
              <a:t>硬质颗粒或摩擦表面上硬的凸蜂，在摩擦过程中引起的材料脱落现象称为磨粒磨损 。硬质颗粒可能是零件本身磨损造成的金属微粒，也可能是外来的尘土杂质等。摩擦面间的硬粒，能使表面材料脱落而留下沟纹</a:t>
            </a:r>
            <a:r>
              <a:rPr kumimoji="1" lang="zh-CN" altLang="en-US" b="1" dirty="0" smtClean="0">
                <a:solidFill>
                  <a:srgbClr val="3366FF"/>
                </a:solidFill>
              </a:rPr>
              <a:t>。</a:t>
            </a:r>
            <a:endParaRPr kumimoji="1" lang="zh-CN" altLang="en-US" b="1" dirty="0" smtClean="0">
              <a:solidFill>
                <a:srgbClr val="3366FF"/>
              </a:solidFill>
            </a:endParaRPr>
          </a:p>
          <a:p>
            <a:pPr>
              <a:spcBef>
                <a:spcPct val="0"/>
              </a:spcBef>
            </a:pPr>
            <a:r>
              <a:rPr kumimoji="1" lang="zh-CN" altLang="en-US" dirty="0" smtClean="0">
                <a:solidFill>
                  <a:srgbClr val="3366FF"/>
                </a:solidFill>
              </a:rPr>
              <a:t>加工后的零件表面总有一定的粗糙度。摩擦表面受载时，实际上只有部分峰顶接触，接触处压强很高，能使材料产生塑性流动。若接触处发生粘着，滑动时会使接触表面材料由一个表面转移到另一个表面，这种现象称为粘着磨损</a:t>
            </a:r>
            <a:r>
              <a:rPr kumimoji="1" lang="en-US" altLang="zh-CN" dirty="0" smtClean="0">
                <a:solidFill>
                  <a:srgbClr val="3366FF"/>
                </a:solidFill>
              </a:rPr>
              <a:t>(</a:t>
            </a:r>
            <a:r>
              <a:rPr kumimoji="1" lang="zh-CN" altLang="en-US" dirty="0" smtClean="0">
                <a:solidFill>
                  <a:srgbClr val="3366FF"/>
                </a:solidFill>
              </a:rPr>
              <a:t>胶合磨损</a:t>
            </a:r>
            <a:r>
              <a:rPr kumimoji="1" lang="en-US" altLang="zh-CN" dirty="0" smtClean="0">
                <a:solidFill>
                  <a:srgbClr val="3366FF"/>
                </a:solidFill>
              </a:rPr>
              <a:t>)</a:t>
            </a:r>
            <a:r>
              <a:rPr kumimoji="1" lang="zh-CN" altLang="en-US" dirty="0" smtClean="0">
                <a:solidFill>
                  <a:srgbClr val="3366FF"/>
                </a:solidFill>
              </a:rPr>
              <a:t>。所谓材料转移是指接触表面擦伤和撕脱，严重时摩擦表面能相互咬死。 </a:t>
            </a:r>
            <a:endParaRPr kumimoji="1" lang="zh-CN" altLang="en-US" dirty="0" smtClean="0">
              <a:solidFill>
                <a:srgbClr val="3366FF"/>
              </a:solidFill>
            </a:endParaRPr>
          </a:p>
          <a:p>
            <a:pPr algn="just">
              <a:spcBef>
                <a:spcPct val="0"/>
              </a:spcBef>
            </a:pPr>
            <a:r>
              <a:rPr kumimoji="1" lang="zh-CN" altLang="en-US" dirty="0" smtClean="0">
                <a:solidFill>
                  <a:srgbClr val="3366FF"/>
                </a:solidFill>
              </a:rPr>
              <a:t>在滚动或兼有滑动和滚动的高副中，如凸轮、齿轮等，受载时材料表层有很大的接触应力。当载荷重复作用时，常会出现表层金属呈小片状剥落，而在零件表面形成小坑，这种现象称为疲劳磨损或疲劳点蚀。 </a:t>
            </a:r>
            <a:endParaRPr kumimoji="1" lang="zh-CN" altLang="en-US" dirty="0" smtClean="0">
              <a:solidFill>
                <a:srgbClr val="3366FF"/>
              </a:solidFill>
            </a:endParaRPr>
          </a:p>
          <a:p>
            <a:pPr algn="just">
              <a:spcBef>
                <a:spcPct val="0"/>
              </a:spcBef>
            </a:pPr>
            <a:r>
              <a:rPr kumimoji="1" lang="zh-CN" altLang="en-US" dirty="0" smtClean="0">
                <a:solidFill>
                  <a:srgbClr val="3366FF"/>
                </a:solidFill>
              </a:rPr>
              <a:t>在摩擦过程申，与周围介质发生化学反应或电化学反应的磨损，称为腐蚀磨损。</a:t>
            </a:r>
            <a:endParaRPr kumimoji="1" lang="zh-CN" altLang="en-US" dirty="0" smtClean="0">
              <a:solidFill>
                <a:srgbClr val="3366FF"/>
              </a:solidFill>
            </a:endParaRPr>
          </a:p>
          <a:p>
            <a:endParaRPr lang="zh-CN" altLang="en-US" dirty="0"/>
          </a:p>
        </p:txBody>
      </p:sp>
      <p:sp>
        <p:nvSpPr>
          <p:cNvPr id="4" name="灯片编号占位符 3"/>
          <p:cNvSpPr>
            <a:spLocks noGrp="1"/>
          </p:cNvSpPr>
          <p:nvPr>
            <p:ph type="sldNum" sz="quarter" idx="10"/>
          </p:nvPr>
        </p:nvSpPr>
        <p:spPr/>
        <p:txBody>
          <a:bodyPr/>
          <a:lstStyle/>
          <a:p>
            <a:fld id="{D65B910F-62F0-4949-B693-7A10CAA9902B}"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65B910F-62F0-4949-B693-7A10CAA9902B}"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65B910F-62F0-4949-B693-7A10CAA9902B}"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fld id="{4F3769DD-E05B-49B4-9468-1F18B9EA8DB0}" type="slidenum">
              <a:rPr lang="en-US" altLang="zh-CN" sz="1000" b="0">
                <a:solidFill>
                  <a:schemeClr val="tx1"/>
                </a:solidFill>
                <a:ea typeface="宋体" panose="02010600030101010101" pitchFamily="2" charset="-122"/>
              </a:rPr>
            </a:fld>
            <a:endParaRPr lang="en-US" altLang="zh-CN" sz="1000" b="0">
              <a:solidFill>
                <a:schemeClr val="tx1"/>
              </a:solidFill>
              <a:ea typeface="宋体" panose="02010600030101010101" pitchFamily="2" charset="-122"/>
            </a:endParaRPr>
          </a:p>
        </p:txBody>
      </p:sp>
      <p:sp>
        <p:nvSpPr>
          <p:cNvPr id="33795" name="Rectangle 1026"/>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
        <p:nvSpPr>
          <p:cNvPr id="33796" name="Rectangle 1027"/>
          <p:cNvSpPr>
            <a:spLocks noGrp="1" noRot="1" noChangeAspect="1" noChangeArrowheads="1" noTextEdit="1"/>
          </p:cNvSpPr>
          <p:nvPr>
            <p:ph type="sldImg"/>
          </p:nvPr>
        </p:nvSpPr>
        <p:spPr>
          <a:ln cap="flat"/>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65B910F-62F0-4949-B693-7A10CAA9902B}"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defRPr/>
            </a:pPr>
            <a:r>
              <a:rPr lang="zh-CN" altLang="en-US" dirty="0" smtClean="0">
                <a:solidFill>
                  <a:srgbClr val="000099"/>
                </a:solidFill>
              </a:rPr>
              <a:t>强度准则就是指零件中的应力不得超过允许的限度</a:t>
            </a:r>
            <a:r>
              <a:rPr lang="en-US" altLang="en-US" dirty="0" smtClean="0">
                <a:solidFill>
                  <a:srgbClr val="000099"/>
                </a:solidFill>
              </a:rPr>
              <a:t> </a:t>
            </a:r>
            <a:r>
              <a:rPr lang="zh-CN" altLang="en-US" dirty="0" smtClean="0">
                <a:solidFill>
                  <a:srgbClr val="000099"/>
                </a:solidFill>
              </a:rPr>
              <a:t>。例如：对拉杆断裂来讲，应力不超过材料的抗拉强度；对疲劳破坏来讲，应力不超过零件的疲劳极限；对残余变形来讲，应力不超过材料的屈服强度。</a:t>
            </a:r>
            <a:endParaRPr lang="zh-CN" altLang="en-US" dirty="0" smtClean="0">
              <a:solidFill>
                <a:srgbClr val="000099"/>
              </a:solidFill>
            </a:endParaRPr>
          </a:p>
          <a:p>
            <a:endParaRPr lang="zh-CN" altLang="en-US" dirty="0"/>
          </a:p>
        </p:txBody>
      </p:sp>
      <p:sp>
        <p:nvSpPr>
          <p:cNvPr id="4" name="灯片编号占位符 3"/>
          <p:cNvSpPr>
            <a:spLocks noGrp="1"/>
          </p:cNvSpPr>
          <p:nvPr>
            <p:ph type="sldNum" sz="quarter" idx="10"/>
          </p:nvPr>
        </p:nvSpPr>
        <p:spPr/>
        <p:txBody>
          <a:bodyPr/>
          <a:lstStyle/>
          <a:p>
            <a:fld id="{D65B910F-62F0-4949-B693-7A10CAA9902B}"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solidFill>
                  <a:srgbClr val="000099"/>
                </a:solidFill>
              </a:rPr>
              <a:t>零件在载荷作用下产生的弹性变形</a:t>
            </a:r>
            <a:r>
              <a:rPr lang="en-US" altLang="en-US" dirty="0" smtClean="0">
                <a:solidFill>
                  <a:srgbClr val="000099"/>
                </a:solidFill>
                <a:latin typeface="Times New Roman" panose="02020603050405020304" pitchFamily="18" charset="0"/>
              </a:rPr>
              <a:t>y</a:t>
            </a:r>
            <a:r>
              <a:rPr lang="zh-CN" altLang="en-US" dirty="0" smtClean="0">
                <a:solidFill>
                  <a:srgbClr val="000099"/>
                </a:solidFill>
              </a:rPr>
              <a:t>，小于或等于机器的工作性能所允许的弹性变形极限值</a:t>
            </a:r>
            <a:r>
              <a:rPr lang="en-US" altLang="en-US" dirty="0" smtClean="0">
                <a:solidFill>
                  <a:srgbClr val="000099"/>
                </a:solidFill>
              </a:rPr>
              <a:t>[</a:t>
            </a:r>
            <a:r>
              <a:rPr lang="en-US" altLang="en-US" dirty="0" smtClean="0">
                <a:solidFill>
                  <a:srgbClr val="000099"/>
                </a:solidFill>
                <a:latin typeface="Times New Roman" panose="02020603050405020304" pitchFamily="18" charset="0"/>
              </a:rPr>
              <a:t>y</a:t>
            </a:r>
            <a:r>
              <a:rPr lang="en-US" altLang="en-US" dirty="0" smtClean="0">
                <a:solidFill>
                  <a:srgbClr val="000099"/>
                </a:solidFill>
              </a:rPr>
              <a:t>]</a:t>
            </a:r>
            <a:r>
              <a:rPr lang="zh-CN" altLang="en-US" dirty="0" smtClean="0">
                <a:solidFill>
                  <a:srgbClr val="000099"/>
                </a:solidFill>
              </a:rPr>
              <a:t>（即许用变形量），就叫做满足了刚度要求，或称为符合了刚度设计准则</a:t>
            </a:r>
            <a:endParaRPr lang="en-US" altLang="zh-CN" dirty="0" smtClean="0">
              <a:solidFill>
                <a:srgbClr val="000099"/>
              </a:solidFill>
            </a:endParaRPr>
          </a:p>
          <a:p>
            <a:r>
              <a:rPr lang="zh-CN" altLang="en-US" dirty="0" smtClean="0">
                <a:solidFill>
                  <a:srgbClr val="000099"/>
                </a:solidFill>
              </a:rPr>
              <a:t>由于影响寿命的主要因素腐蚀、磨损和疲劳是三个不同范畴的问题，产生腐蚀、磨损和疲劳的原因各不相同，它们各自发展过程的规律也不同。</a:t>
            </a:r>
            <a:endParaRPr lang="zh-CN" altLang="en-US" dirty="0" smtClean="0">
              <a:solidFill>
                <a:srgbClr val="000099"/>
              </a:solidFill>
            </a:endParaRPr>
          </a:p>
          <a:p>
            <a:endParaRPr lang="zh-CN" altLang="en-US" dirty="0"/>
          </a:p>
        </p:txBody>
      </p:sp>
      <p:sp>
        <p:nvSpPr>
          <p:cNvPr id="4" name="灯片编号占位符 3"/>
          <p:cNvSpPr>
            <a:spLocks noGrp="1"/>
          </p:cNvSpPr>
          <p:nvPr>
            <p:ph type="sldNum" sz="quarter" idx="10"/>
          </p:nvPr>
        </p:nvSpPr>
        <p:spPr/>
        <p:txBody>
          <a:bodyPr/>
          <a:lstStyle/>
          <a:p>
            <a:fld id="{D65B910F-62F0-4949-B693-7A10CAA9902B}"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fld id="{BBBB9D8D-2DF8-4E9D-AD7C-A2AA4D1AB1CA}" type="slidenum">
              <a:rPr lang="en-US" altLang="zh-CN" sz="1000" b="0">
                <a:solidFill>
                  <a:schemeClr val="tx1"/>
                </a:solidFill>
                <a:ea typeface="宋体" panose="02010600030101010101" pitchFamily="2" charset="-122"/>
              </a:rPr>
            </a:fld>
            <a:endParaRPr lang="en-US" altLang="zh-CN" sz="1000" b="0">
              <a:solidFill>
                <a:schemeClr val="tx1"/>
              </a:solidFill>
              <a:ea typeface="宋体" panose="02010600030101010101" pitchFamily="2" charset="-122"/>
            </a:endParaRPr>
          </a:p>
        </p:txBody>
      </p:sp>
      <p:sp>
        <p:nvSpPr>
          <p:cNvPr id="34819"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
        <p:nvSpPr>
          <p:cNvPr id="34820" name="Rectangle 3"/>
          <p:cNvSpPr>
            <a:spLocks noGrp="1" noRot="1" noChangeAspect="1" noChangeArrowheads="1" noTextEdit="1"/>
          </p:cNvSpPr>
          <p:nvPr>
            <p:ph type="sldImg"/>
          </p:nvPr>
        </p:nvSpPr>
        <p:spPr>
          <a:ln cap="flat"/>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fld id="{46DB5A44-DD5B-4E93-AF18-AD4CB2392D07}" type="slidenum">
              <a:rPr lang="en-US" altLang="zh-CN" sz="1000" b="0">
                <a:solidFill>
                  <a:schemeClr val="tx1"/>
                </a:solidFill>
                <a:ea typeface="宋体" panose="02010600030101010101" pitchFamily="2" charset="-122"/>
              </a:rPr>
            </a:fld>
            <a:endParaRPr lang="en-US" altLang="zh-CN" sz="1000" b="0">
              <a:solidFill>
                <a:schemeClr val="tx1"/>
              </a:solidFill>
              <a:ea typeface="宋体" panose="02010600030101010101" pitchFamily="2" charset="-122"/>
            </a:endParaRPr>
          </a:p>
        </p:txBody>
      </p:sp>
      <p:sp>
        <p:nvSpPr>
          <p:cNvPr id="35843" name="Rectangle 1026"/>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
        <p:nvSpPr>
          <p:cNvPr id="35844" name="Rectangle 1027"/>
          <p:cNvSpPr>
            <a:spLocks noGrp="1" noRot="1" noChangeAspect="1" noChangeArrowheads="1" noTextEdit="1"/>
          </p:cNvSpPr>
          <p:nvPr>
            <p:ph type="sldImg"/>
          </p:nvPr>
        </p:nvSpPr>
        <p:spPr>
          <a:ln cap="flat"/>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65B910F-62F0-4949-B693-7A10CAA9902B}"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4294967295"/>
          </p:nvPr>
        </p:nvSpPr>
        <p:spPr/>
      </p:sp>
      <p:sp>
        <p:nvSpPr>
          <p:cNvPr id="3" name="文本占位符 2"/>
          <p:cNvSpPr/>
          <p:nvPr>
            <p:ph type="body" idx="9"/>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kumimoji="1" lang="zh-CN" altLang="en-US"/>
              </a:p>
            </p:txBody>
          </p:sp>
          <p:sp>
            <p:nvSpPr>
              <p:cNvPr id="14" name="Arc 62"/>
              <p:cNvSpPr/>
              <p:nvPr/>
            </p:nvSpPr>
            <p:spPr bwMode="ltGray">
              <a:xfrm rot="16200000" flipH="1">
                <a:off x="424" y="859"/>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kumimoji="1" lang="zh-CN" altLang="en-US"/>
              </a:p>
            </p:txBody>
          </p:sp>
          <p:sp>
            <p:nvSpPr>
              <p:cNvPr id="10" name="Arc 66"/>
              <p:cNvSpPr/>
              <p:nvPr/>
            </p:nvSpPr>
            <p:spPr bwMode="ltGray">
              <a:xfrm rot="5400000">
                <a:off x="5096"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noProof="1" dirty="0">
                <a:ea typeface="宋体" panose="02010600030101010101" pitchFamily="2" charset="-122"/>
              </a:defRPr>
            </a:lvl1pPr>
          </a:lstStyle>
          <a:p>
            <a:fld id="{A0216B69-0548-4A69-82F6-56F244BEE1C0}" type="slidenum">
              <a:rPr lang="en-US" altLang="zh-CN"/>
            </a:fld>
            <a:endParaRPr lang="en-US" altLang="zh-CN"/>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kumimoji="1" lang="zh-CN" altLang="en-US"/>
              </a:p>
            </p:txBody>
          </p:sp>
          <p:sp>
            <p:nvSpPr>
              <p:cNvPr id="14" name="Arc 62"/>
              <p:cNvSpPr/>
              <p:nvPr/>
            </p:nvSpPr>
            <p:spPr bwMode="ltGray">
              <a:xfrm rot="16200000" flipH="1">
                <a:off x="424" y="859"/>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kumimoji="1" lang="zh-CN" altLang="en-US"/>
              </a:p>
            </p:txBody>
          </p:sp>
          <p:sp>
            <p:nvSpPr>
              <p:cNvPr id="10" name="Arc 66"/>
              <p:cNvSpPr/>
              <p:nvPr/>
            </p:nvSpPr>
            <p:spPr bwMode="ltGray">
              <a:xfrm rot="5400000">
                <a:off x="5096"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noProof="1" dirty="0">
                <a:ea typeface="宋体" panose="02010600030101010101" pitchFamily="2" charset="-122"/>
              </a:defRPr>
            </a:lvl1pPr>
          </a:lstStyle>
          <a:p>
            <a:fld id="{A0216B69-0548-4A69-82F6-56F244BEE1C0}" type="slidenum">
              <a:rPr lang="en-US" altLang="zh-CN"/>
            </a:fld>
            <a:endParaRPr lang="en-US" altLang="zh-CN"/>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kumimoji="1" lang="zh-CN" altLang="en-US"/>
              </a:p>
            </p:txBody>
          </p:sp>
          <p:sp>
            <p:nvSpPr>
              <p:cNvPr id="14" name="Arc 62"/>
              <p:cNvSpPr/>
              <p:nvPr/>
            </p:nvSpPr>
            <p:spPr bwMode="ltGray">
              <a:xfrm rot="16200000" flipH="1">
                <a:off x="424" y="859"/>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kumimoji="1" lang="zh-CN" altLang="en-US"/>
              </a:p>
            </p:txBody>
          </p:sp>
          <p:sp>
            <p:nvSpPr>
              <p:cNvPr id="10" name="Arc 66"/>
              <p:cNvSpPr/>
              <p:nvPr/>
            </p:nvSpPr>
            <p:spPr bwMode="ltGray">
              <a:xfrm rot="5400000">
                <a:off x="5096"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noProof="1" dirty="0">
                <a:ea typeface="宋体" panose="02010600030101010101" pitchFamily="2" charset="-122"/>
              </a:defRPr>
            </a:lvl1pPr>
          </a:lstStyle>
          <a:p>
            <a:fld id="{A0216B69-0548-4A69-82F6-56F244BEE1C0}" type="slidenum">
              <a:rPr lang="en-US" altLang="zh-CN"/>
            </a:fld>
            <a:endParaRPr lang="en-US" altLang="zh-CN"/>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a:extLst>
                  <a:ext uri="{909E8E84-426E-40DD-AFC4-6F175D3DCCD1}">
                    <a14:hiddenFill xmlns:a14="http://schemas.microsoft.com/office/drawing/2010/main">
                      <a:noFill/>
                    </a14:hiddenFill>
                  </a:ext>
                </a:extLst>
              </p:spPr>
              <p:txBody>
                <a:bodyPr/>
                <a:lstStyle/>
                <a:p>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kumimoji="1" lang="zh-CN" altLang="en-US"/>
              </a:p>
            </p:txBody>
          </p:sp>
          <p:sp>
            <p:nvSpPr>
              <p:cNvPr id="14" name="Arc 62"/>
              <p:cNvSpPr/>
              <p:nvPr/>
            </p:nvSpPr>
            <p:spPr bwMode="ltGray">
              <a:xfrm rot="16200000" flipH="1">
                <a:off x="424" y="859"/>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kumimoji="1" lang="zh-CN" altLang="en-US"/>
              </a:p>
            </p:txBody>
          </p:sp>
          <p:sp>
            <p:nvSpPr>
              <p:cNvPr id="10" name="Arc 66"/>
              <p:cNvSpPr/>
              <p:nvPr/>
            </p:nvSpPr>
            <p:spPr bwMode="ltGray">
              <a:xfrm rot="5400000">
                <a:off x="5096"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noProof="1" dirty="0">
                <a:ea typeface="宋体" panose="02010600030101010101" pitchFamily="2" charset="-122"/>
              </a:defRPr>
            </a:lvl1pPr>
          </a:lstStyle>
          <a:p>
            <a:fld id="{A0216B69-0548-4A69-82F6-56F244BEE1C0}" type="slidenum">
              <a:rPr lang="en-US" altLang="zh-CN"/>
            </a:fld>
            <a:endParaRPr lang="en-US" altLang="zh-CN"/>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3" Type="http://schemas.openxmlformats.org/officeDocument/2006/relationships/theme" Target="../theme/theme3.xml"/><Relationship Id="rId12" Type="http://schemas.openxmlformats.org/officeDocument/2006/relationships/image" Target="../media/image1.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3" Type="http://schemas.openxmlformats.org/officeDocument/2006/relationships/theme" Target="../theme/theme4.xml"/><Relationship Id="rId12" Type="http://schemas.openxmlformats.org/officeDocument/2006/relationships/image" Target="../media/image1.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7.xml"/><Relationship Id="rId7" Type="http://schemas.openxmlformats.org/officeDocument/2006/relationships/image" Target="../media/image2.png"/><Relationship Id="rId6" Type="http://schemas.openxmlformats.org/officeDocument/2006/relationships/slide" Target="slide32.xml"/><Relationship Id="rId5" Type="http://schemas.openxmlformats.org/officeDocument/2006/relationships/slide" Target="slide31.xml"/><Relationship Id="rId4" Type="http://schemas.openxmlformats.org/officeDocument/2006/relationships/slide" Target="slide25.xml"/><Relationship Id="rId3" Type="http://schemas.openxmlformats.org/officeDocument/2006/relationships/slide" Target="slide17.xml"/><Relationship Id="rId2" Type="http://schemas.openxmlformats.org/officeDocument/2006/relationships/slide" Target="slide1.xml"/><Relationship Id="rId1" Type="http://schemas.openxmlformats.org/officeDocument/2006/relationships/slide" Target="slide4.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tags" Target="../tags/tag2.xml"/><Relationship Id="rId3" Type="http://schemas.openxmlformats.org/officeDocument/2006/relationships/image" Target="../media/image3.jpeg"/><Relationship Id="rId2" Type="http://schemas.openxmlformats.org/officeDocument/2006/relationships/tags" Target="../tags/tag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 Target="slide2.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png"/><Relationship Id="rId3" Type="http://schemas.openxmlformats.org/officeDocument/2006/relationships/hyperlink" Target="/&#26426;&#26800;&#35774;&#35745;&#22522;&#30784;/&#30452;&#40831;&#36718;1.exe" TargetMode="External"/><Relationship Id="rId2" Type="http://schemas.openxmlformats.org/officeDocument/2006/relationships/hyperlink" Target="/&#26426;&#26800;&#35774;&#35745;&#22522;&#30784;/&#23545;&#24515;&#24179;&#24213;&#20984;&#36718;.exe" TargetMode="External"/><Relationship Id="rId1" Type="http://schemas.openxmlformats.org/officeDocument/2006/relationships/hyperlink" Target="/&#26426;&#26800;&#35774;&#35745;&#22522;&#30784;/&#23545;&#24515;&#26354;&#26564;&#28369;&#22359;.exe" TargetMode="Externa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 Target="slide1.xml"/></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1.png"/><Relationship Id="rId7" Type="http://schemas.openxmlformats.org/officeDocument/2006/relationships/image" Target="../media/image20.png"/><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 Id="rId3" Type="http://schemas.openxmlformats.org/officeDocument/2006/relationships/image" Target="../media/image16.jpeg"/><Relationship Id="rId2" Type="http://schemas.openxmlformats.org/officeDocument/2006/relationships/image" Target="../media/image15.jpeg"/><Relationship Id="rId10" Type="http://schemas.openxmlformats.org/officeDocument/2006/relationships/notesSlide" Target="../notesSlides/notesSlide5.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slideLayout" Target="../slideLayouts/slideLayout2.xml"/><Relationship Id="rId7" Type="http://schemas.openxmlformats.org/officeDocument/2006/relationships/image" Target="../media/image2.png"/><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5.jpeg"/><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image" Target="../media/image22.jpeg"/></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1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image" Target="../media/image28.jpeg"/><Relationship Id="rId1" Type="http://schemas.openxmlformats.org/officeDocument/2006/relationships/tags" Target="../tags/tag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audio" Target="../media/audio1.wav"/></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30.jpeg"/><Relationship Id="rId1" Type="http://schemas.openxmlformats.org/officeDocument/2006/relationships/image" Target="../media/image29.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2.jpeg"/><Relationship Id="rId1" Type="http://schemas.openxmlformats.org/officeDocument/2006/relationships/image" Target="../media/image31.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7.xml"/><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image" Target="../media/image33.jpe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7.xml"/><Relationship Id="rId2" Type="http://schemas.openxmlformats.org/officeDocument/2006/relationships/image" Target="../media/image37.jpeg"/><Relationship Id="rId1" Type="http://schemas.openxmlformats.org/officeDocument/2006/relationships/image" Target="../media/image36.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39.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41.wmf"/><Relationship Id="rId3" Type="http://schemas.openxmlformats.org/officeDocument/2006/relationships/oleObject" Target="../embeddings/oleObject2.bin"/><Relationship Id="rId2" Type="http://schemas.openxmlformats.org/officeDocument/2006/relationships/image" Target="../media/image40.wmf"/><Relationship Id="rId1" Type="http://schemas.openxmlformats.org/officeDocument/2006/relationships/oleObject" Target="../embeddings/oleObject1.bin"/></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slide" Target="slide2.xml"/><Relationship Id="rId1" Type="http://schemas.openxmlformats.org/officeDocument/2006/relationships/image" Target="../media/image13.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slide" Target="slide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slide" Target="slide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9.xml"/><Relationship Id="rId1" Type="http://schemas.openxmlformats.org/officeDocument/2006/relationships/slide" Target="slide35.xml"/></Relationships>
</file>

<file path=ppt/slides/_rels/slide34.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 Target="slide1.xml"/></Relationships>
</file>

<file path=ppt/slides/_rels/slide35.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 Target="slide1.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5.png"/><Relationship Id="rId1" Type="http://schemas.openxmlformats.org/officeDocument/2006/relationships/slide" Target="slide2.xml"/></Relationships>
</file>

<file path=ppt/slides/_rels/slide37.xml.rels><?xml version="1.0" encoding="UTF-8" standalone="yes"?>
<Relationships xmlns="http://schemas.openxmlformats.org/package/2006/relationships"><Relationship Id="rId7" Type="http://schemas.openxmlformats.org/officeDocument/2006/relationships/vmlDrawing" Target="../drawings/vmlDrawing2.vml"/><Relationship Id="rId6" Type="http://schemas.openxmlformats.org/officeDocument/2006/relationships/slideLayout" Target="../slideLayouts/slideLayout29.xml"/><Relationship Id="rId5" Type="http://schemas.openxmlformats.org/officeDocument/2006/relationships/image" Target="../media/image44.png"/><Relationship Id="rId4" Type="http://schemas.openxmlformats.org/officeDocument/2006/relationships/image" Target="../media/image43.wmf"/><Relationship Id="rId3" Type="http://schemas.openxmlformats.org/officeDocument/2006/relationships/oleObject" Target="../embeddings/oleObject4.bin"/><Relationship Id="rId2" Type="http://schemas.openxmlformats.org/officeDocument/2006/relationships/image" Target="../media/image42.wmf"/><Relationship Id="rId1" Type="http://schemas.openxmlformats.org/officeDocument/2006/relationships/oleObject" Target="../embeddings/oleObject3.bin"/></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45.png"/></Relationships>
</file>

<file path=ppt/slides/_rels/slide39.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image" Target="../media/image46.jpeg"/><Relationship Id="rId4" Type="http://schemas.openxmlformats.org/officeDocument/2006/relationships/image" Target="../media/image13.png"/><Relationship Id="rId3" Type="http://schemas.openxmlformats.org/officeDocument/2006/relationships/image" Target="../media/image5.png"/><Relationship Id="rId2" Type="http://schemas.openxmlformats.org/officeDocument/2006/relationships/slide" Target="slide1.xml"/><Relationship Id="rId1" Type="http://schemas.openxmlformats.org/officeDocument/2006/relationships/image" Target="../media/image38.png"/></Relationships>
</file>

<file path=ppt/slides/_rels/slide40.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image" Target="../media/image47.jpeg"/><Relationship Id="rId4" Type="http://schemas.openxmlformats.org/officeDocument/2006/relationships/image" Target="../media/image14.png"/><Relationship Id="rId3" Type="http://schemas.openxmlformats.org/officeDocument/2006/relationships/image" Target="../media/image5.png"/><Relationship Id="rId2" Type="http://schemas.openxmlformats.org/officeDocument/2006/relationships/slide" Target="slide1.xml"/><Relationship Id="rId1" Type="http://schemas.openxmlformats.org/officeDocument/2006/relationships/image" Target="../media/image38.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slide" Target="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idx="4294967295"/>
          </p:nvPr>
        </p:nvSpPr>
        <p:spPr bwMode="auto">
          <a:xfrm>
            <a:off x="1708693" y="2001238"/>
            <a:ext cx="5877158" cy="685800"/>
          </a:xfrm>
          <a:prstGeom prst="rect">
            <a:avLst/>
          </a:prstGeom>
          <a:gradFill flip="none" rotWithShape="1">
            <a:gsLst>
              <a:gs pos="0">
                <a:srgbClr val="0070C0">
                  <a:tint val="66000"/>
                  <a:satMod val="160000"/>
                </a:srgbClr>
              </a:gs>
              <a:gs pos="50000">
                <a:srgbClr val="0070C0">
                  <a:tint val="44500"/>
                  <a:satMod val="160000"/>
                </a:srgbClr>
              </a:gs>
              <a:gs pos="100000">
                <a:srgbClr val="0070C0">
                  <a:tint val="23500"/>
                  <a:satMod val="160000"/>
                </a:srgbClr>
              </a:gs>
            </a:gsLst>
            <a:lin ang="5400000" scaled="1"/>
            <a:tileRect/>
          </a:gradFill>
          <a:effectLst>
            <a:outerShdw blurRad="50800" dist="38100" dir="16200000" rotWithShape="0">
              <a:prstClr val="black">
                <a:alpha val="40000"/>
              </a:prstClr>
            </a:outerShdw>
          </a:effectLst>
        </p:spPr>
        <p:txBody>
          <a:bodyPr/>
          <a:lstStyle/>
          <a:p>
            <a:pPr algn="ctr" eaLnBrk="1" hangingPunct="1"/>
            <a:r>
              <a:rPr lang="zh-CN" altLang="en-US" sz="4000" dirty="0" smtClean="0">
                <a:solidFill>
                  <a:srgbClr val="0000FF"/>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第</a:t>
            </a:r>
            <a:r>
              <a:rPr lang="en-US" altLang="zh-CN" sz="4000" dirty="0" smtClean="0">
                <a:solidFill>
                  <a:srgbClr val="0000FF"/>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1.2</a:t>
            </a:r>
            <a:r>
              <a:rPr lang="zh-CN" altLang="en-US" sz="4000" dirty="0" smtClean="0">
                <a:solidFill>
                  <a:srgbClr val="0000FF"/>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章 机械设计概论</a:t>
            </a:r>
            <a:endParaRPr lang="zh-CN" altLang="en-US" sz="4000" dirty="0" smtClean="0">
              <a:solidFill>
                <a:srgbClr val="0000FF"/>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
        <p:nvSpPr>
          <p:cNvPr id="4108" name="直接连接符 6"/>
          <p:cNvSpPr>
            <a:spLocks noChangeShapeType="1"/>
          </p:cNvSpPr>
          <p:nvPr/>
        </p:nvSpPr>
        <p:spPr bwMode="auto">
          <a:xfrm>
            <a:off x="0" y="3027111"/>
            <a:ext cx="9144000" cy="0"/>
          </a:xfrm>
          <a:prstGeom prst="line">
            <a:avLst/>
          </a:prstGeom>
          <a:noFill/>
          <a:ln w="38100">
            <a:solidFill>
              <a:srgbClr val="0070C0"/>
            </a:solidFill>
            <a:miter lim="800000"/>
          </a:ln>
          <a:effectLst>
            <a:outerShdw blurRad="63500" sx="102000" sy="102000" algn="ctr"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zh-CN" altLang="en-US"/>
          </a:p>
        </p:txBody>
      </p:sp>
      <p:grpSp>
        <p:nvGrpSpPr>
          <p:cNvPr id="13" name="组合 1"/>
          <p:cNvGrpSpPr/>
          <p:nvPr/>
        </p:nvGrpSpPr>
        <p:grpSpPr>
          <a:xfrm>
            <a:off x="6101065" y="5790416"/>
            <a:ext cx="2630487" cy="827087"/>
            <a:chOff x="10088" y="9497"/>
            <a:chExt cx="4141" cy="1302"/>
          </a:xfrm>
        </p:grpSpPr>
        <p:sp>
          <p:nvSpPr>
            <p:cNvPr id="14" name="文本框 1073742869"/>
            <p:cNvSpPr txBox="1">
              <a:spLocks noChangeAspect="1"/>
            </p:cNvSpPr>
            <p:nvPr/>
          </p:nvSpPr>
          <p:spPr>
            <a:xfrm>
              <a:off x="11247" y="9745"/>
              <a:ext cx="2983" cy="479"/>
            </a:xfrm>
            <a:prstGeom prst="rect">
              <a:avLst/>
            </a:prstGeom>
            <a:noFill/>
            <a:ln w="9525">
              <a:noFill/>
            </a:ln>
          </p:spPr>
          <p:txBody>
            <a:bodyPr wrap="square" anchor="t"/>
            <a:lstStyle/>
            <a:p>
              <a:pPr algn="ctr"/>
              <a:r>
                <a:rPr lang="zh-CN" altLang="en-US" sz="1200" dirty="0">
                  <a:latin typeface="Times New Roman" panose="02020603050405020304" pitchFamily="18" charset="0"/>
                </a:rPr>
                <a:t>China University of Mining &amp; Technology-Beijing</a:t>
              </a:r>
              <a:endParaRPr lang="zh-CN" altLang="en-US" sz="1200" dirty="0">
                <a:latin typeface="Times New Roman" panose="02020603050405020304" pitchFamily="18" charset="0"/>
              </a:endParaRPr>
            </a:p>
            <a:p>
              <a:endParaRPr lang="zh-CN" altLang="en-US" sz="1200" dirty="0">
                <a:latin typeface="Times New Roman" panose="02020603050405020304" pitchFamily="18" charset="0"/>
              </a:endParaRPr>
            </a:p>
          </p:txBody>
        </p:sp>
        <p:pic>
          <p:nvPicPr>
            <p:cNvPr id="15" name="图片 1073742872" descr="44303071dc0a1f9688d599dbc999570副本"/>
            <p:cNvPicPr>
              <a:picLocks noChangeAspect="1"/>
            </p:cNvPicPr>
            <p:nvPr/>
          </p:nvPicPr>
          <p:blipFill>
            <a:blip r:embed="rId1"/>
            <a:stretch>
              <a:fillRect/>
            </a:stretch>
          </p:blipFill>
          <p:spPr>
            <a:xfrm>
              <a:off x="10088" y="9497"/>
              <a:ext cx="1435" cy="1303"/>
            </a:xfrm>
            <a:prstGeom prst="rect">
              <a:avLst/>
            </a:prstGeom>
            <a:noFill/>
            <a:ln w="9525">
              <a:noFill/>
            </a:ln>
          </p:spPr>
        </p:pic>
      </p:grpSp>
      <p:sp>
        <p:nvSpPr>
          <p:cNvPr id="3" name="文本框 2"/>
          <p:cNvSpPr txBox="1"/>
          <p:nvPr/>
        </p:nvSpPr>
        <p:spPr>
          <a:xfrm>
            <a:off x="1310608" y="3574114"/>
            <a:ext cx="1802525" cy="977265"/>
          </a:xfrm>
          <a:prstGeom prst="rect">
            <a:avLst/>
          </a:prstGeom>
          <a:solidFill>
            <a:srgbClr val="002060"/>
          </a:solidFill>
          <a:effectLst>
            <a:outerShdw blurRad="50800" dist="38100" dir="10800000" algn="r" rotWithShape="0">
              <a:prstClr val="black">
                <a:alpha val="40000"/>
              </a:prstClr>
            </a:outerShdw>
          </a:effectLst>
        </p:spPr>
        <p:txBody>
          <a:bodyPr wrap="square" rtlCol="0">
            <a:spAutoFit/>
          </a:bodyPr>
          <a:lstStyle/>
          <a:p>
            <a:pPr>
              <a:lnSpc>
                <a:spcPct val="120000"/>
              </a:lnSpc>
              <a:spcAft>
                <a:spcPts val="0"/>
              </a:spcAft>
            </a:pPr>
            <a:r>
              <a:rPr lang="zh-CN" altLang="en-US" sz="2400" dirty="0" smtClean="0">
                <a:solidFill>
                  <a:schemeClr val="bg1"/>
                </a:solidFill>
                <a:latin typeface="黑体" panose="02010609060101010101" pitchFamily="49" charset="-122"/>
                <a:ea typeface="黑体" panose="02010609060101010101" pitchFamily="49" charset="-122"/>
              </a:rPr>
              <a:t>机械零件的</a:t>
            </a:r>
            <a:endParaRPr lang="en-US" altLang="zh-CN" sz="2400" dirty="0" smtClean="0">
              <a:solidFill>
                <a:schemeClr val="bg1"/>
              </a:solidFill>
              <a:latin typeface="黑体" panose="02010609060101010101" pitchFamily="49" charset="-122"/>
              <a:ea typeface="黑体" panose="02010609060101010101" pitchFamily="49" charset="-122"/>
            </a:endParaRPr>
          </a:p>
          <a:p>
            <a:pPr>
              <a:lnSpc>
                <a:spcPct val="120000"/>
              </a:lnSpc>
              <a:spcBef>
                <a:spcPts val="0"/>
              </a:spcBef>
            </a:pPr>
            <a:r>
              <a:rPr lang="zh-CN" altLang="en-US" sz="2400" dirty="0" smtClean="0">
                <a:solidFill>
                  <a:schemeClr val="bg1"/>
                </a:solidFill>
                <a:latin typeface="黑体" panose="02010609060101010101" pitchFamily="49" charset="-122"/>
                <a:ea typeface="黑体" panose="02010609060101010101" pitchFamily="49" charset="-122"/>
              </a:rPr>
              <a:t>失效形式</a:t>
            </a:r>
            <a:endParaRPr lang="zh-CN" altLang="en-US" sz="2400" dirty="0">
              <a:solidFill>
                <a:schemeClr val="bg1"/>
              </a:solidFill>
              <a:latin typeface="黑体" panose="02010609060101010101" pitchFamily="49" charset="-122"/>
              <a:ea typeface="黑体" panose="02010609060101010101" pitchFamily="49" charset="-122"/>
            </a:endParaRPr>
          </a:p>
        </p:txBody>
      </p:sp>
      <p:sp>
        <p:nvSpPr>
          <p:cNvPr id="8" name="文本框 7"/>
          <p:cNvSpPr txBox="1"/>
          <p:nvPr/>
        </p:nvSpPr>
        <p:spPr>
          <a:xfrm>
            <a:off x="3745557" y="3574549"/>
            <a:ext cx="1802525" cy="977265"/>
          </a:xfrm>
          <a:prstGeom prst="rect">
            <a:avLst/>
          </a:prstGeom>
          <a:solidFill>
            <a:srgbClr val="002060"/>
          </a:solidFill>
          <a:effectLst>
            <a:outerShdw blurRad="50800" dist="38100" dir="5400000" algn="t" rotWithShape="0">
              <a:prstClr val="black">
                <a:alpha val="40000"/>
              </a:prstClr>
            </a:outerShdw>
          </a:effectLst>
        </p:spPr>
        <p:txBody>
          <a:bodyPr wrap="square" rtlCol="0">
            <a:spAutoFit/>
          </a:bodyPr>
          <a:lstStyle/>
          <a:p>
            <a:pPr>
              <a:lnSpc>
                <a:spcPct val="120000"/>
              </a:lnSpc>
              <a:spcAft>
                <a:spcPts val="0"/>
              </a:spcAft>
            </a:pPr>
            <a:r>
              <a:rPr lang="zh-CN" altLang="en-US" sz="2400" dirty="0" smtClean="0">
                <a:solidFill>
                  <a:schemeClr val="bg1"/>
                </a:solidFill>
                <a:latin typeface="黑体" panose="02010609060101010101" pitchFamily="49" charset="-122"/>
                <a:ea typeface="黑体" panose="02010609060101010101" pitchFamily="49" charset="-122"/>
              </a:rPr>
              <a:t>机械零件的</a:t>
            </a:r>
            <a:endParaRPr lang="en-US" altLang="zh-CN" sz="2400" dirty="0" smtClean="0">
              <a:solidFill>
                <a:schemeClr val="bg1"/>
              </a:solidFill>
              <a:latin typeface="黑体" panose="02010609060101010101" pitchFamily="49" charset="-122"/>
              <a:ea typeface="黑体" panose="02010609060101010101" pitchFamily="49" charset="-122"/>
            </a:endParaRPr>
          </a:p>
          <a:p>
            <a:pPr>
              <a:lnSpc>
                <a:spcPct val="120000"/>
              </a:lnSpc>
              <a:spcBef>
                <a:spcPts val="0"/>
              </a:spcBef>
            </a:pPr>
            <a:r>
              <a:rPr lang="zh-CN" altLang="en-US" sz="2400" dirty="0" smtClean="0">
                <a:solidFill>
                  <a:schemeClr val="bg1"/>
                </a:solidFill>
                <a:latin typeface="黑体" panose="02010609060101010101" pitchFamily="49" charset="-122"/>
                <a:ea typeface="黑体" panose="02010609060101010101" pitchFamily="49" charset="-122"/>
              </a:rPr>
              <a:t>工作能力</a:t>
            </a:r>
            <a:endParaRPr lang="zh-CN" altLang="en-US" sz="2400" dirty="0">
              <a:solidFill>
                <a:schemeClr val="bg1"/>
              </a:solidFill>
              <a:latin typeface="黑体" panose="02010609060101010101" pitchFamily="49" charset="-122"/>
              <a:ea typeface="黑体" panose="02010609060101010101" pitchFamily="49" charset="-122"/>
            </a:endParaRPr>
          </a:p>
        </p:txBody>
      </p:sp>
      <p:sp>
        <p:nvSpPr>
          <p:cNvPr id="9" name="文本框 8"/>
          <p:cNvSpPr txBox="1"/>
          <p:nvPr/>
        </p:nvSpPr>
        <p:spPr>
          <a:xfrm>
            <a:off x="5935867" y="3574240"/>
            <a:ext cx="1802525" cy="977265"/>
          </a:xfrm>
          <a:prstGeom prst="rect">
            <a:avLst/>
          </a:prstGeom>
          <a:solidFill>
            <a:srgbClr val="002060"/>
          </a:solidFill>
          <a:effectLst>
            <a:outerShdw blurRad="50800" dist="38100" dir="8100000" algn="tr" rotWithShape="0">
              <a:prstClr val="black">
                <a:alpha val="40000"/>
              </a:prstClr>
            </a:outerShdw>
          </a:effectLst>
        </p:spPr>
        <p:txBody>
          <a:bodyPr wrap="square" rtlCol="0">
            <a:spAutoFit/>
          </a:bodyPr>
          <a:lstStyle/>
          <a:p>
            <a:pPr>
              <a:lnSpc>
                <a:spcPct val="120000"/>
              </a:lnSpc>
              <a:spcAft>
                <a:spcPts val="0"/>
              </a:spcAft>
            </a:pPr>
            <a:r>
              <a:rPr lang="zh-CN" altLang="en-US" sz="2400" dirty="0" smtClean="0">
                <a:solidFill>
                  <a:schemeClr val="bg1"/>
                </a:solidFill>
                <a:latin typeface="黑体" panose="02010609060101010101" pitchFamily="49" charset="-122"/>
                <a:ea typeface="黑体" panose="02010609060101010101" pitchFamily="49" charset="-122"/>
              </a:rPr>
              <a:t>机械零件的</a:t>
            </a:r>
            <a:endParaRPr lang="en-US" altLang="zh-CN" sz="2400" dirty="0" smtClean="0">
              <a:solidFill>
                <a:schemeClr val="bg1"/>
              </a:solidFill>
              <a:latin typeface="黑体" panose="02010609060101010101" pitchFamily="49" charset="-122"/>
              <a:ea typeface="黑体" panose="02010609060101010101" pitchFamily="49" charset="-122"/>
            </a:endParaRPr>
          </a:p>
          <a:p>
            <a:pPr>
              <a:lnSpc>
                <a:spcPct val="120000"/>
              </a:lnSpc>
              <a:spcBef>
                <a:spcPts val="0"/>
              </a:spcBef>
            </a:pPr>
            <a:r>
              <a:rPr lang="zh-CN" altLang="en-US" sz="2400" dirty="0" smtClean="0">
                <a:solidFill>
                  <a:schemeClr val="bg1"/>
                </a:solidFill>
                <a:latin typeface="黑体" panose="02010609060101010101" pitchFamily="49" charset="-122"/>
                <a:ea typeface="黑体" panose="02010609060101010101" pitchFamily="49" charset="-122"/>
              </a:rPr>
              <a:t>计算准则</a:t>
            </a:r>
            <a:endParaRPr lang="zh-CN" altLang="en-US" sz="2400" dirty="0">
              <a:solidFill>
                <a:schemeClr val="bg1"/>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Click="0"/>
    </mc:Choice>
    <mc:Fallback>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8" grpId="0" bldLvl="0" animBg="1"/>
      <p:bldP spid="9"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4099" name="Rectangle 20"/>
          <p:cNvSpPr>
            <a:spLocks noChangeArrowheads="1"/>
          </p:cNvSpPr>
          <p:nvPr/>
        </p:nvSpPr>
        <p:spPr bwMode="auto">
          <a:xfrm>
            <a:off x="1408210" y="548072"/>
            <a:ext cx="27736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Aft>
                <a:spcPts val="0"/>
              </a:spcAft>
            </a:pPr>
            <a:r>
              <a:rPr lang="en-US" altLang="zh-CN" sz="2400" dirty="0" smtClean="0">
                <a:solidFill>
                  <a:srgbClr val="000099"/>
                </a:solidFill>
                <a:latin typeface="黑体" panose="02010609060101010101" pitchFamily="49" charset="-122"/>
                <a:ea typeface="黑体" panose="02010609060101010101" pitchFamily="49" charset="-122"/>
              </a:rPr>
              <a:t>1.2-1  </a:t>
            </a:r>
            <a:r>
              <a:rPr lang="zh-CN" altLang="en-US" sz="2400" dirty="0">
                <a:solidFill>
                  <a:srgbClr val="000099"/>
                </a:solidFill>
                <a:latin typeface="黑体" panose="02010609060101010101" pitchFamily="49" charset="-122"/>
                <a:ea typeface="黑体" panose="02010609060101010101" pitchFamily="49" charset="-122"/>
                <a:hlinkClick r:id="rId1" action="ppaction://hlinksldjump"/>
              </a:rPr>
              <a:t>机器的组成</a:t>
            </a:r>
            <a:endParaRPr lang="zh-CN" altLang="en-US" sz="2400" dirty="0">
              <a:solidFill>
                <a:srgbClr val="000099"/>
              </a:solidFill>
              <a:latin typeface="黑体" panose="02010609060101010101" pitchFamily="49" charset="-122"/>
              <a:ea typeface="黑体" panose="02010609060101010101" pitchFamily="49" charset="-122"/>
            </a:endParaRPr>
          </a:p>
        </p:txBody>
      </p:sp>
      <p:sp>
        <p:nvSpPr>
          <p:cNvPr id="4100" name="Rectangle 21"/>
          <p:cNvSpPr>
            <a:spLocks noChangeArrowheads="1"/>
          </p:cNvSpPr>
          <p:nvPr/>
        </p:nvSpPr>
        <p:spPr bwMode="auto">
          <a:xfrm>
            <a:off x="1388598" y="1757705"/>
            <a:ext cx="32181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Aft>
                <a:spcPts val="0"/>
              </a:spcAft>
            </a:pPr>
            <a:r>
              <a:rPr lang="en-US" altLang="zh-CN" sz="2400" dirty="0">
                <a:solidFill>
                  <a:srgbClr val="000099"/>
                </a:solidFill>
                <a:latin typeface="黑体" panose="02010609060101010101" pitchFamily="49" charset="-122"/>
                <a:ea typeface="黑体" panose="02010609060101010101" pitchFamily="49" charset="-122"/>
              </a:rPr>
              <a:t>1.2-3</a:t>
            </a:r>
            <a:r>
              <a:rPr lang="en-US" altLang="zh-CN" dirty="0" smtClean="0">
                <a:solidFill>
                  <a:srgbClr val="000099"/>
                </a:solidFill>
                <a:latin typeface="Times New Roman" panose="02020603050405020304" pitchFamily="18" charset="0"/>
              </a:rPr>
              <a:t>  </a:t>
            </a:r>
            <a:r>
              <a:rPr lang="zh-CN" altLang="en-US" sz="2400" dirty="0">
                <a:solidFill>
                  <a:srgbClr val="000099"/>
                </a:solidFill>
                <a:latin typeface="黑体" panose="02010609060101010101" pitchFamily="49" charset="-122"/>
                <a:ea typeface="黑体" panose="02010609060101010101" pitchFamily="49" charset="-122"/>
                <a:hlinkClick r:id="rId2" action="ppaction://hlinksldjump"/>
              </a:rPr>
              <a:t>机器的设计流程</a:t>
            </a:r>
            <a:endParaRPr lang="zh-CN" altLang="en-US" sz="2400" dirty="0">
              <a:solidFill>
                <a:srgbClr val="000099"/>
              </a:solidFill>
              <a:latin typeface="黑体" panose="02010609060101010101" pitchFamily="49" charset="-122"/>
              <a:ea typeface="黑体" panose="02010609060101010101" pitchFamily="49" charset="-122"/>
            </a:endParaRPr>
          </a:p>
        </p:txBody>
      </p:sp>
      <p:sp>
        <p:nvSpPr>
          <p:cNvPr id="4102" name="Rectangle 23"/>
          <p:cNvSpPr>
            <a:spLocks noChangeArrowheads="1"/>
          </p:cNvSpPr>
          <p:nvPr/>
        </p:nvSpPr>
        <p:spPr bwMode="auto">
          <a:xfrm>
            <a:off x="1392769" y="2666782"/>
            <a:ext cx="4602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Aft>
                <a:spcPts val="0"/>
              </a:spcAft>
            </a:pPr>
            <a:r>
              <a:rPr lang="en-US" altLang="zh-CN" sz="2400" dirty="0">
                <a:solidFill>
                  <a:srgbClr val="000099"/>
                </a:solidFill>
                <a:latin typeface="黑体" panose="02010609060101010101" pitchFamily="49" charset="-122"/>
                <a:ea typeface="黑体" panose="02010609060101010101" pitchFamily="49" charset="-122"/>
              </a:rPr>
              <a:t>1.2-4  </a:t>
            </a:r>
            <a:r>
              <a:rPr lang="zh-CN" altLang="en-US" sz="2400" dirty="0">
                <a:solidFill>
                  <a:srgbClr val="000099"/>
                </a:solidFill>
                <a:latin typeface="黑体" panose="02010609060101010101" pitchFamily="49" charset="-122"/>
                <a:ea typeface="黑体" panose="02010609060101010101" pitchFamily="49" charset="-122"/>
                <a:hlinkClick r:id="rId3" action="ppaction://hlinksldjump"/>
              </a:rPr>
              <a:t>机械零件的主要失效形式</a:t>
            </a:r>
            <a:endParaRPr lang="zh-CN" altLang="en-US" sz="2400" dirty="0">
              <a:solidFill>
                <a:srgbClr val="000099"/>
              </a:solidFill>
              <a:latin typeface="黑体" panose="02010609060101010101" pitchFamily="49" charset="-122"/>
              <a:ea typeface="黑体" panose="02010609060101010101" pitchFamily="49" charset="-122"/>
            </a:endParaRPr>
          </a:p>
        </p:txBody>
      </p:sp>
      <p:sp>
        <p:nvSpPr>
          <p:cNvPr id="4104" name="Rectangle 26"/>
          <p:cNvSpPr>
            <a:spLocks noChangeArrowheads="1"/>
          </p:cNvSpPr>
          <p:nvPr/>
        </p:nvSpPr>
        <p:spPr bwMode="auto">
          <a:xfrm>
            <a:off x="1359750" y="3358853"/>
            <a:ext cx="3992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Aft>
                <a:spcPts val="0"/>
              </a:spcAft>
            </a:pPr>
            <a:r>
              <a:rPr lang="en-US" altLang="zh-CN" sz="2400" dirty="0">
                <a:solidFill>
                  <a:srgbClr val="000099"/>
                </a:solidFill>
                <a:latin typeface="黑体" panose="02010609060101010101" pitchFamily="49" charset="-122"/>
                <a:ea typeface="黑体" panose="02010609060101010101" pitchFamily="49" charset="-122"/>
              </a:rPr>
              <a:t>1.2-5  </a:t>
            </a:r>
            <a:r>
              <a:rPr lang="zh-CN" altLang="en-US" sz="2400" dirty="0">
                <a:solidFill>
                  <a:srgbClr val="000099"/>
                </a:solidFill>
                <a:latin typeface="黑体" panose="02010609060101010101" pitchFamily="49" charset="-122"/>
                <a:ea typeface="黑体" panose="02010609060101010101" pitchFamily="49" charset="-122"/>
                <a:hlinkClick r:id="rId4" action="ppaction://hlinksldjump"/>
              </a:rPr>
              <a:t>机械零件的设计准则</a:t>
            </a:r>
            <a:endParaRPr lang="zh-CN" altLang="en-US" sz="2400" dirty="0">
              <a:solidFill>
                <a:srgbClr val="000099"/>
              </a:solidFill>
              <a:latin typeface="黑体" panose="02010609060101010101" pitchFamily="49" charset="-122"/>
              <a:ea typeface="黑体" panose="02010609060101010101" pitchFamily="49" charset="-122"/>
            </a:endParaRPr>
          </a:p>
        </p:txBody>
      </p:sp>
      <p:sp>
        <p:nvSpPr>
          <p:cNvPr id="4105" name="Rectangle 28"/>
          <p:cNvSpPr>
            <a:spLocks noChangeArrowheads="1"/>
          </p:cNvSpPr>
          <p:nvPr/>
        </p:nvSpPr>
        <p:spPr bwMode="auto">
          <a:xfrm>
            <a:off x="1413611" y="3994410"/>
            <a:ext cx="4602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Aft>
                <a:spcPts val="0"/>
              </a:spcAft>
            </a:pPr>
            <a:r>
              <a:rPr lang="en-US" altLang="zh-CN" sz="2400" dirty="0">
                <a:solidFill>
                  <a:srgbClr val="000099"/>
                </a:solidFill>
                <a:latin typeface="黑体" panose="02010609060101010101" pitchFamily="49" charset="-122"/>
                <a:ea typeface="黑体" panose="02010609060101010101" pitchFamily="49" charset="-122"/>
              </a:rPr>
              <a:t>1.2-6  </a:t>
            </a:r>
            <a:r>
              <a:rPr lang="zh-CN" altLang="en-US" sz="2400" dirty="0">
                <a:solidFill>
                  <a:srgbClr val="000099"/>
                </a:solidFill>
                <a:latin typeface="黑体" panose="02010609060101010101" pitchFamily="49" charset="-122"/>
                <a:ea typeface="黑体" panose="02010609060101010101" pitchFamily="49" charset="-122"/>
                <a:hlinkClick r:id="rId5" action="ppaction://hlinksldjump"/>
              </a:rPr>
              <a:t>机械零件设计的一般步骤</a:t>
            </a:r>
            <a:endParaRPr lang="zh-CN" altLang="en-US" sz="2400" dirty="0">
              <a:solidFill>
                <a:srgbClr val="000099"/>
              </a:solidFill>
              <a:latin typeface="黑体" panose="02010609060101010101" pitchFamily="49" charset="-122"/>
              <a:ea typeface="黑体" panose="02010609060101010101" pitchFamily="49" charset="-122"/>
            </a:endParaRPr>
          </a:p>
        </p:txBody>
      </p:sp>
      <p:sp>
        <p:nvSpPr>
          <p:cNvPr id="4106" name="Rectangle 29"/>
          <p:cNvSpPr>
            <a:spLocks noChangeArrowheads="1"/>
          </p:cNvSpPr>
          <p:nvPr/>
        </p:nvSpPr>
        <p:spPr bwMode="auto">
          <a:xfrm>
            <a:off x="1486344" y="4657436"/>
            <a:ext cx="35356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Aft>
                <a:spcPts val="0"/>
              </a:spcAft>
            </a:pPr>
            <a:r>
              <a:rPr lang="en-US" altLang="zh-CN" sz="2400" dirty="0">
                <a:solidFill>
                  <a:srgbClr val="000099"/>
                </a:solidFill>
                <a:latin typeface="黑体" panose="02010609060101010101" pitchFamily="49" charset="-122"/>
                <a:ea typeface="黑体" panose="02010609060101010101" pitchFamily="49" charset="-122"/>
              </a:rPr>
              <a:t>1.2-7 </a:t>
            </a:r>
            <a:r>
              <a:rPr lang="zh-CN" altLang="en-US" sz="2400" dirty="0">
                <a:solidFill>
                  <a:srgbClr val="000099"/>
                </a:solidFill>
                <a:latin typeface="黑体" panose="02010609060101010101" pitchFamily="49" charset="-122"/>
                <a:ea typeface="黑体" panose="02010609060101010101" pitchFamily="49" charset="-122"/>
                <a:hlinkClick r:id="rId6" action="ppaction://hlinksldjump"/>
              </a:rPr>
              <a:t>零件的材料与选用</a:t>
            </a:r>
            <a:endParaRPr lang="zh-CN" altLang="en-US" sz="2400" dirty="0">
              <a:solidFill>
                <a:srgbClr val="000099"/>
              </a:solidFill>
              <a:latin typeface="黑体" panose="02010609060101010101" pitchFamily="49" charset="-122"/>
              <a:ea typeface="黑体" panose="02010609060101010101" pitchFamily="49" charset="-122"/>
            </a:endParaRPr>
          </a:p>
        </p:txBody>
      </p:sp>
      <p:sp>
        <p:nvSpPr>
          <p:cNvPr id="4107" name="Rectangle 31"/>
          <p:cNvSpPr>
            <a:spLocks noChangeArrowheads="1"/>
          </p:cNvSpPr>
          <p:nvPr/>
        </p:nvSpPr>
        <p:spPr bwMode="auto">
          <a:xfrm>
            <a:off x="1457467" y="6032211"/>
            <a:ext cx="42976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Aft>
                <a:spcPts val="0"/>
              </a:spcAft>
            </a:pPr>
            <a:r>
              <a:rPr lang="en-US" altLang="zh-CN" sz="2400" dirty="0">
                <a:solidFill>
                  <a:srgbClr val="000099"/>
                </a:solidFill>
                <a:latin typeface="黑体" panose="02010609060101010101" pitchFamily="49" charset="-122"/>
                <a:ea typeface="黑体" panose="02010609060101010101" pitchFamily="49" charset="-122"/>
              </a:rPr>
              <a:t>1.2-10 </a:t>
            </a:r>
            <a:r>
              <a:rPr lang="zh-CN" altLang="en-US" sz="2400" dirty="0">
                <a:solidFill>
                  <a:srgbClr val="000099"/>
                </a:solidFill>
                <a:latin typeface="黑体" panose="02010609060101010101" pitchFamily="49" charset="-122"/>
                <a:ea typeface="黑体" panose="02010609060101010101" pitchFamily="49" charset="-122"/>
              </a:rPr>
              <a:t>计算机辅助设计与工程</a:t>
            </a:r>
            <a:endParaRPr lang="zh-CN" altLang="en-US" sz="2400" dirty="0">
              <a:solidFill>
                <a:srgbClr val="000099"/>
              </a:solidFill>
              <a:latin typeface="黑体" panose="02010609060101010101" pitchFamily="49" charset="-122"/>
              <a:ea typeface="黑体" panose="02010609060101010101" pitchFamily="49" charset="-122"/>
            </a:endParaRPr>
          </a:p>
        </p:txBody>
      </p:sp>
      <p:grpSp>
        <p:nvGrpSpPr>
          <p:cNvPr id="13" name="组合 1"/>
          <p:cNvGrpSpPr/>
          <p:nvPr/>
        </p:nvGrpSpPr>
        <p:grpSpPr>
          <a:xfrm>
            <a:off x="6513513" y="6030913"/>
            <a:ext cx="2630487" cy="827087"/>
            <a:chOff x="10088" y="9497"/>
            <a:chExt cx="4141" cy="1302"/>
          </a:xfrm>
        </p:grpSpPr>
        <p:sp>
          <p:nvSpPr>
            <p:cNvPr id="14" name="文本框 1073742869"/>
            <p:cNvSpPr txBox="1">
              <a:spLocks noChangeAspect="1"/>
            </p:cNvSpPr>
            <p:nvPr/>
          </p:nvSpPr>
          <p:spPr>
            <a:xfrm>
              <a:off x="11247" y="9745"/>
              <a:ext cx="2983" cy="479"/>
            </a:xfrm>
            <a:prstGeom prst="rect">
              <a:avLst/>
            </a:prstGeom>
            <a:noFill/>
            <a:ln w="9525">
              <a:noFill/>
            </a:ln>
          </p:spPr>
          <p:txBody>
            <a:bodyPr wrap="square" anchor="t"/>
            <a:lstStyle/>
            <a:p>
              <a:pPr algn="ctr"/>
              <a:r>
                <a:rPr lang="zh-CN" altLang="en-US" sz="1200" dirty="0">
                  <a:latin typeface="Times New Roman" panose="02020603050405020304" pitchFamily="18" charset="0"/>
                </a:rPr>
                <a:t>China University of Mining &amp; Technology-Beijing</a:t>
              </a:r>
              <a:endParaRPr lang="zh-CN" altLang="en-US" sz="1200" dirty="0">
                <a:latin typeface="Times New Roman" panose="02020603050405020304" pitchFamily="18" charset="0"/>
              </a:endParaRPr>
            </a:p>
            <a:p>
              <a:endParaRPr lang="zh-CN" altLang="en-US" sz="1200" dirty="0">
                <a:latin typeface="Times New Roman" panose="02020603050405020304" pitchFamily="18" charset="0"/>
              </a:endParaRPr>
            </a:p>
          </p:txBody>
        </p:sp>
        <p:pic>
          <p:nvPicPr>
            <p:cNvPr id="15" name="图片 1073742872" descr="44303071dc0a1f9688d599dbc999570副本"/>
            <p:cNvPicPr>
              <a:picLocks noChangeAspect="1"/>
            </p:cNvPicPr>
            <p:nvPr/>
          </p:nvPicPr>
          <p:blipFill>
            <a:blip r:embed="rId7"/>
            <a:stretch>
              <a:fillRect/>
            </a:stretch>
          </p:blipFill>
          <p:spPr>
            <a:xfrm>
              <a:off x="10088" y="9497"/>
              <a:ext cx="1435" cy="1303"/>
            </a:xfrm>
            <a:prstGeom prst="rect">
              <a:avLst/>
            </a:prstGeom>
            <a:noFill/>
            <a:ln w="9525">
              <a:noFill/>
            </a:ln>
          </p:spPr>
        </p:pic>
      </p:grpSp>
      <p:cxnSp>
        <p:nvCxnSpPr>
          <p:cNvPr id="4" name="直接连接符 3"/>
          <p:cNvCxnSpPr/>
          <p:nvPr/>
        </p:nvCxnSpPr>
        <p:spPr bwMode="auto">
          <a:xfrm>
            <a:off x="1112865" y="2409195"/>
            <a:ext cx="6574055" cy="0"/>
          </a:xfrm>
          <a:prstGeom prst="line">
            <a:avLst/>
          </a:prstGeom>
          <a:solidFill>
            <a:schemeClr val="accent1"/>
          </a:solidFill>
          <a:ln w="38100" cap="flat" cmpd="sng" algn="ctr">
            <a:solidFill>
              <a:srgbClr val="00B050"/>
            </a:solidFill>
            <a:prstDash val="dash"/>
            <a:round/>
            <a:headEnd type="none" w="med" len="med"/>
            <a:tailEnd type="none" w="med" len="med"/>
          </a:ln>
        </p:spPr>
      </p:cxnSp>
      <p:sp>
        <p:nvSpPr>
          <p:cNvPr id="5" name="文本框 4"/>
          <p:cNvSpPr txBox="1"/>
          <p:nvPr/>
        </p:nvSpPr>
        <p:spPr>
          <a:xfrm>
            <a:off x="6752602" y="1603438"/>
            <a:ext cx="1790299" cy="768350"/>
          </a:xfrm>
          <a:prstGeom prst="rect">
            <a:avLst/>
          </a:prstGeom>
          <a:solidFill>
            <a:srgbClr val="92D050"/>
          </a:solidFill>
        </p:spPr>
        <p:txBody>
          <a:bodyPr wrap="square" rtlCol="0">
            <a:spAutoFit/>
          </a:bodyPr>
          <a:lstStyle/>
          <a:p>
            <a:pPr>
              <a:spcAft>
                <a:spcPts val="0"/>
              </a:spcAft>
            </a:pPr>
            <a:r>
              <a:rPr lang="zh-CN" altLang="en-US" dirty="0" smtClean="0"/>
              <a:t>机器总体设计概述</a:t>
            </a:r>
            <a:endParaRPr lang="zh-CN" altLang="en-US" dirty="0"/>
          </a:p>
        </p:txBody>
      </p:sp>
      <p:cxnSp>
        <p:nvCxnSpPr>
          <p:cNvPr id="25" name="直接连接符 24"/>
          <p:cNvCxnSpPr/>
          <p:nvPr/>
        </p:nvCxnSpPr>
        <p:spPr bwMode="auto">
          <a:xfrm>
            <a:off x="987736" y="5894309"/>
            <a:ext cx="6574055" cy="0"/>
          </a:xfrm>
          <a:prstGeom prst="line">
            <a:avLst/>
          </a:prstGeom>
          <a:solidFill>
            <a:schemeClr val="accent1"/>
          </a:solidFill>
          <a:ln w="38100" cap="flat" cmpd="sng" algn="ctr">
            <a:solidFill>
              <a:srgbClr val="00B050"/>
            </a:solidFill>
            <a:prstDash val="dash"/>
            <a:round/>
            <a:headEnd type="none" w="med" len="med"/>
            <a:tailEnd type="none" w="med" len="med"/>
          </a:ln>
        </p:spPr>
      </p:cxnSp>
      <p:sp>
        <p:nvSpPr>
          <p:cNvPr id="26" name="文本框 25"/>
          <p:cNvSpPr txBox="1"/>
          <p:nvPr/>
        </p:nvSpPr>
        <p:spPr>
          <a:xfrm>
            <a:off x="6752687" y="5013285"/>
            <a:ext cx="1790299" cy="768350"/>
          </a:xfrm>
          <a:prstGeom prst="rect">
            <a:avLst/>
          </a:prstGeom>
          <a:solidFill>
            <a:srgbClr val="92D050"/>
          </a:solidFill>
        </p:spPr>
        <p:txBody>
          <a:bodyPr wrap="square" rtlCol="0">
            <a:spAutoFit/>
          </a:bodyPr>
          <a:lstStyle/>
          <a:p>
            <a:pPr>
              <a:spcAft>
                <a:spcPts val="0"/>
              </a:spcAft>
            </a:pPr>
            <a:r>
              <a:rPr lang="zh-CN" altLang="en-US" dirty="0" smtClean="0"/>
              <a:t>机械零件的设计概述</a:t>
            </a:r>
            <a:endParaRPr lang="zh-CN" altLang="en-US" dirty="0"/>
          </a:p>
        </p:txBody>
      </p:sp>
      <p:sp>
        <p:nvSpPr>
          <p:cNvPr id="2" name="Rectangle 20"/>
          <p:cNvSpPr>
            <a:spLocks noChangeArrowheads="1"/>
          </p:cNvSpPr>
          <p:nvPr/>
        </p:nvSpPr>
        <p:spPr bwMode="auto">
          <a:xfrm>
            <a:off x="1388745" y="1143000"/>
            <a:ext cx="576199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spcAft>
                <a:spcPts val="0"/>
              </a:spcAft>
            </a:pPr>
            <a:r>
              <a:rPr lang="en-US" altLang="zh-CN" sz="2400" dirty="0" smtClean="0">
                <a:solidFill>
                  <a:srgbClr val="0000FF"/>
                </a:solidFill>
                <a:latin typeface="黑体" panose="02010609060101010101" pitchFamily="49" charset="-122"/>
                <a:ea typeface="黑体" panose="02010609060101010101" pitchFamily="49" charset="-122"/>
              </a:rPr>
              <a:t>1.2-2 </a:t>
            </a:r>
            <a:r>
              <a:rPr lang="en-US" altLang="zh-CN" sz="2400" dirty="0" smtClean="0">
                <a:solidFill>
                  <a:srgbClr val="C00000"/>
                </a:solidFill>
                <a:latin typeface="黑体" panose="02010609060101010101" pitchFamily="49" charset="-122"/>
                <a:ea typeface="黑体" panose="02010609060101010101" pitchFamily="49" charset="-122"/>
              </a:rPr>
              <a:t> </a:t>
            </a:r>
            <a:r>
              <a:rPr lang="zh-CN" altLang="en-US" sz="2400" dirty="0">
                <a:solidFill>
                  <a:srgbClr val="0000FF"/>
                </a:solidFill>
                <a:latin typeface="黑体" panose="02010609060101010101" pitchFamily="49" charset="-122"/>
                <a:ea typeface="黑体" panose="02010609060101010101" pitchFamily="49" charset="-122"/>
              </a:rPr>
              <a:t>常用基本概念</a:t>
            </a:r>
            <a:endParaRPr lang="zh-CN" altLang="en-US" sz="2400" dirty="0">
              <a:solidFill>
                <a:srgbClr val="0000FF"/>
              </a:solidFill>
              <a:latin typeface="黑体" panose="02010609060101010101" pitchFamily="49" charset="-122"/>
              <a:ea typeface="黑体" panose="02010609060101010101" pitchFamily="49" charset="-122"/>
            </a:endParaRPr>
          </a:p>
        </p:txBody>
      </p:sp>
      <p:sp>
        <p:nvSpPr>
          <p:cNvPr id="3" name="Rectangle 29"/>
          <p:cNvSpPr>
            <a:spLocks noChangeArrowheads="1"/>
          </p:cNvSpPr>
          <p:nvPr/>
        </p:nvSpPr>
        <p:spPr bwMode="auto">
          <a:xfrm>
            <a:off x="1494790" y="5321300"/>
            <a:ext cx="501904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spcAft>
                <a:spcPts val="0"/>
              </a:spcAft>
            </a:pPr>
            <a:r>
              <a:rPr lang="en-US" altLang="zh-CN" sz="2400" dirty="0">
                <a:solidFill>
                  <a:srgbClr val="000099"/>
                </a:solidFill>
                <a:latin typeface="黑体" panose="02010609060101010101" pitchFamily="49" charset="-122"/>
                <a:ea typeface="黑体" panose="02010609060101010101" pitchFamily="49" charset="-122"/>
              </a:rPr>
              <a:t>1.2-8  </a:t>
            </a:r>
            <a:r>
              <a:rPr lang="zh-CN" altLang="en-US" sz="2400" dirty="0">
                <a:solidFill>
                  <a:srgbClr val="000099"/>
                </a:solidFill>
                <a:latin typeface="黑体" panose="02010609060101010101" pitchFamily="49" charset="-122"/>
                <a:ea typeface="黑体" panose="02010609060101010101" pitchFamily="49" charset="-122"/>
              </a:rPr>
              <a:t>零件的</a:t>
            </a:r>
            <a:r>
              <a:rPr lang="zh-CN" altLang="en-US" sz="2400" dirty="0">
                <a:solidFill>
                  <a:srgbClr val="000099"/>
                </a:solidFill>
                <a:latin typeface="黑体" panose="02010609060101010101" pitchFamily="49" charset="-122"/>
                <a:ea typeface="黑体" panose="02010609060101010101" pitchFamily="49" charset="-122"/>
              </a:rPr>
              <a:t>工艺性</a:t>
            </a:r>
            <a:endParaRPr lang="zh-CN" altLang="en-US" sz="2400" dirty="0">
              <a:solidFill>
                <a:srgbClr val="000099"/>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Click="0"/>
    </mc:Choice>
    <mc:Fallback>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26"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1" name="文本框 293890">
            <a:hlinkClick r:id="" action="ppaction://hlinkshowjump?jump=nextslide"/>
          </p:cNvPr>
          <p:cNvSpPr txBox="1"/>
          <p:nvPr/>
        </p:nvSpPr>
        <p:spPr>
          <a:xfrm>
            <a:off x="0" y="223954"/>
            <a:ext cx="9144000" cy="645160"/>
          </a:xfrm>
          <a:prstGeom prst="rect">
            <a:avLst/>
          </a:prstGeom>
          <a:noFill/>
          <a:ln w="9525">
            <a:noFill/>
          </a:ln>
          <a:extLst>
            <a:ext uri="{909E8E84-426E-40DD-AFC4-6F175D3DCCD1}">
              <a14:hiddenFill xmlns:a14="http://schemas.microsoft.com/office/drawing/2010/main">
                <a:gradFill flip="none" rotWithShape="1">
                  <a:gsLst>
                    <a:gs pos="0">
                      <a:srgbClr val="FF6600">
                        <a:tint val="66000"/>
                        <a:satMod val="160000"/>
                      </a:srgbClr>
                    </a:gs>
                    <a:gs pos="50000">
                      <a:srgbClr val="FF6600">
                        <a:tint val="44500"/>
                        <a:satMod val="160000"/>
                      </a:srgbClr>
                    </a:gs>
                    <a:gs pos="100000">
                      <a:srgbClr val="FF6600">
                        <a:tint val="23500"/>
                        <a:satMod val="160000"/>
                      </a:srgbClr>
                    </a:gs>
                  </a:gsLst>
                  <a:lin ang="5400000" scaled="1"/>
                  <a:tileRect/>
                </a:gradFill>
              </a14:hiddenFill>
            </a:ext>
          </a:extLst>
        </p:spPr>
        <p:txBody>
          <a:bodyPr wrap="square">
            <a:spAutoFit/>
          </a:bodyPr>
          <a:lstStyle/>
          <a:p>
            <a:pPr algn="l">
              <a:spcBef>
                <a:spcPct val="50000"/>
              </a:spcBef>
            </a:pPr>
            <a:r>
              <a:rPr lang="zh-CN" altLang="en-US" sz="3600" b="1" dirty="0">
                <a:solidFill>
                  <a:schemeClr val="bg1"/>
                </a:solidFill>
                <a:latin typeface="黑体" panose="02010609060101010101" pitchFamily="49" charset="-122"/>
                <a:ea typeface="黑体" panose="02010609060101010101" pitchFamily="49" charset="-122"/>
              </a:rPr>
              <a:t> </a:t>
            </a:r>
            <a:r>
              <a:rPr lang="en-US" altLang="zh-CN" sz="3200" dirty="0" smtClean="0">
                <a:solidFill>
                  <a:srgbClr val="C00000"/>
                </a:solidFill>
                <a:latin typeface="黑体" panose="02010609060101010101" pitchFamily="49" charset="-122"/>
                <a:ea typeface="黑体" panose="02010609060101010101" pitchFamily="49" charset="-122"/>
              </a:rPr>
              <a:t>1.2-1 </a:t>
            </a:r>
            <a:r>
              <a:rPr lang="zh-CN" altLang="en-US" sz="3200" dirty="0" smtClean="0">
                <a:solidFill>
                  <a:srgbClr val="C00000"/>
                </a:solidFill>
                <a:latin typeface="黑体" panose="02010609060101010101" pitchFamily="49" charset="-122"/>
                <a:ea typeface="黑体" panose="02010609060101010101" pitchFamily="49" charset="-122"/>
              </a:rPr>
              <a:t>机器的组成</a:t>
            </a:r>
            <a:endParaRPr lang="zh-CN" altLang="en-US" sz="3200" dirty="0" smtClean="0">
              <a:solidFill>
                <a:srgbClr val="C00000"/>
              </a:solidFill>
              <a:latin typeface="黑体" panose="02010609060101010101" pitchFamily="49" charset="-122"/>
              <a:ea typeface="黑体" panose="02010609060101010101" pitchFamily="49" charset="-122"/>
            </a:endParaRPr>
          </a:p>
        </p:txBody>
      </p:sp>
      <p:grpSp>
        <p:nvGrpSpPr>
          <p:cNvPr id="12" name="组合 1"/>
          <p:cNvGrpSpPr/>
          <p:nvPr/>
        </p:nvGrpSpPr>
        <p:grpSpPr>
          <a:xfrm>
            <a:off x="6273155" y="5916390"/>
            <a:ext cx="2630487" cy="827087"/>
            <a:chOff x="10088" y="9497"/>
            <a:chExt cx="4141" cy="1302"/>
          </a:xfrm>
        </p:grpSpPr>
        <p:sp>
          <p:nvSpPr>
            <p:cNvPr id="13" name="文本框 1073742869"/>
            <p:cNvSpPr txBox="1">
              <a:spLocks noChangeAspect="1"/>
            </p:cNvSpPr>
            <p:nvPr/>
          </p:nvSpPr>
          <p:spPr>
            <a:xfrm>
              <a:off x="11247" y="9745"/>
              <a:ext cx="2983" cy="479"/>
            </a:xfrm>
            <a:prstGeom prst="rect">
              <a:avLst/>
            </a:prstGeom>
            <a:noFill/>
            <a:ln w="9525">
              <a:noFill/>
            </a:ln>
          </p:spPr>
          <p:txBody>
            <a:bodyPr wrap="square" anchor="t"/>
            <a:lstStyle/>
            <a:p>
              <a:pPr algn="ctr"/>
              <a:r>
                <a:rPr lang="zh-CN" altLang="en-US" sz="1200" dirty="0">
                  <a:latin typeface="Times New Roman" panose="02020603050405020304" pitchFamily="18" charset="0"/>
                </a:rPr>
                <a:t>China University of Mining &amp; Technology-Beijing</a:t>
              </a:r>
              <a:endParaRPr lang="zh-CN" altLang="en-US" sz="1200" dirty="0">
                <a:latin typeface="Times New Roman" panose="02020603050405020304" pitchFamily="18" charset="0"/>
              </a:endParaRPr>
            </a:p>
            <a:p>
              <a:endParaRPr lang="zh-CN" altLang="en-US" sz="1200" dirty="0">
                <a:latin typeface="Times New Roman" panose="02020603050405020304" pitchFamily="18" charset="0"/>
              </a:endParaRPr>
            </a:p>
          </p:txBody>
        </p:sp>
        <p:pic>
          <p:nvPicPr>
            <p:cNvPr id="14" name="图片 1073742872" descr="44303071dc0a1f9688d599dbc999570副本"/>
            <p:cNvPicPr>
              <a:picLocks noChangeAspect="1"/>
            </p:cNvPicPr>
            <p:nvPr/>
          </p:nvPicPr>
          <p:blipFill>
            <a:blip r:embed="rId1"/>
            <a:stretch>
              <a:fillRect/>
            </a:stretch>
          </p:blipFill>
          <p:spPr>
            <a:xfrm>
              <a:off x="10088" y="9497"/>
              <a:ext cx="1435" cy="1303"/>
            </a:xfrm>
            <a:prstGeom prst="rect">
              <a:avLst/>
            </a:prstGeom>
            <a:noFill/>
            <a:ln w="9525">
              <a:noFill/>
            </a:ln>
          </p:spPr>
        </p:pic>
      </p:grpSp>
      <p:sp>
        <p:nvSpPr>
          <p:cNvPr id="6" name="文本框 5"/>
          <p:cNvSpPr txBox="1"/>
          <p:nvPr/>
        </p:nvSpPr>
        <p:spPr>
          <a:xfrm>
            <a:off x="75201" y="1008051"/>
            <a:ext cx="5054321" cy="521970"/>
          </a:xfrm>
          <a:prstGeom prst="rect">
            <a:avLst/>
          </a:prstGeom>
          <a:noFill/>
        </p:spPr>
        <p:txBody>
          <a:bodyPr wrap="square" rtlCol="0">
            <a:spAutoFit/>
          </a:bodyPr>
          <a:lstStyle/>
          <a:p>
            <a:pPr algn="l">
              <a:spcAft>
                <a:spcPts val="0"/>
              </a:spcAft>
            </a:pPr>
            <a:r>
              <a:rPr lang="zh-CN" altLang="en-US" sz="2800" dirty="0" smtClean="0">
                <a:solidFill>
                  <a:srgbClr val="0000FF"/>
                </a:solidFill>
                <a:latin typeface="黑体" panose="02010609060101010101" pitchFamily="49" charset="-122"/>
                <a:ea typeface="黑体" panose="02010609060101010101" pitchFamily="49" charset="-122"/>
              </a:rPr>
              <a:t>一、机器（机械）的组成</a:t>
            </a:r>
            <a:endParaRPr lang="zh-CN" altLang="en-US" sz="2800" dirty="0" smtClean="0">
              <a:solidFill>
                <a:srgbClr val="0000FF"/>
              </a:solidFill>
              <a:latin typeface="黑体" panose="02010609060101010101" pitchFamily="49" charset="-122"/>
              <a:ea typeface="黑体" panose="02010609060101010101" pitchFamily="49" charset="-122"/>
            </a:endParaRPr>
          </a:p>
        </p:txBody>
      </p:sp>
      <p:sp>
        <p:nvSpPr>
          <p:cNvPr id="11" name="Text Box 5"/>
          <p:cNvSpPr txBox="1">
            <a:spLocks noChangeArrowheads="1"/>
          </p:cNvSpPr>
          <p:nvPr/>
        </p:nvSpPr>
        <p:spPr bwMode="auto">
          <a:xfrm>
            <a:off x="1390293" y="5389252"/>
            <a:ext cx="6705600" cy="461665"/>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t="100000" r="100000"/>
            </a:path>
            <a:tileRect l="-100000" b="-100000"/>
          </a:gradFill>
          <a:ln>
            <a:solidFill>
              <a:srgbClr val="00B0F0"/>
            </a:solid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dirty="0">
                <a:latin typeface="黑体" panose="02010609060101010101" pitchFamily="49" charset="-122"/>
                <a:ea typeface="黑体" panose="02010609060101010101" pitchFamily="49" charset="-122"/>
              </a:rPr>
              <a:t>其它辅助系统：例如润滑、显示、照明等</a:t>
            </a:r>
            <a:endParaRPr lang="zh-CN" altLang="en-US" dirty="0">
              <a:latin typeface="黑体" panose="02010609060101010101" pitchFamily="49" charset="-122"/>
              <a:ea typeface="黑体" panose="02010609060101010101" pitchFamily="49" charset="-122"/>
            </a:endParaRPr>
          </a:p>
        </p:txBody>
      </p:sp>
      <p:sp>
        <p:nvSpPr>
          <p:cNvPr id="16" name="Text Box 7"/>
          <p:cNvSpPr txBox="1">
            <a:spLocks noChangeArrowheads="1"/>
          </p:cNvSpPr>
          <p:nvPr/>
        </p:nvSpPr>
        <p:spPr bwMode="auto">
          <a:xfrm>
            <a:off x="772356" y="4411317"/>
            <a:ext cx="2057400" cy="461665"/>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0" scaled="1"/>
            <a:tileRect/>
          </a:gradFill>
          <a:ln w="57150" cmpd="dbl">
            <a:solidFill>
              <a:srgbClr val="0070C0"/>
            </a:solidFill>
          </a:ln>
          <a:effectLst>
            <a:innerShdw blurRad="63500" dist="50800" dir="13500000">
              <a:prstClr val="black">
                <a:alpha val="50000"/>
              </a:prstClr>
            </a:innerShdw>
          </a:effec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dirty="0" smtClean="0">
                <a:latin typeface="黑体" panose="02010609060101010101" pitchFamily="49" charset="-122"/>
                <a:ea typeface="黑体" panose="02010609060101010101" pitchFamily="49" charset="-122"/>
              </a:rPr>
              <a:t>原动机部分</a:t>
            </a:r>
            <a:endParaRPr lang="zh-CN" altLang="en-US" dirty="0">
              <a:latin typeface="黑体" panose="02010609060101010101" pitchFamily="49" charset="-122"/>
              <a:ea typeface="黑体" panose="02010609060101010101" pitchFamily="49" charset="-122"/>
            </a:endParaRPr>
          </a:p>
        </p:txBody>
      </p:sp>
      <p:sp>
        <p:nvSpPr>
          <p:cNvPr id="17" name="Text Box 8"/>
          <p:cNvSpPr txBox="1">
            <a:spLocks noChangeArrowheads="1"/>
          </p:cNvSpPr>
          <p:nvPr/>
        </p:nvSpPr>
        <p:spPr bwMode="auto">
          <a:xfrm>
            <a:off x="3654558" y="4391220"/>
            <a:ext cx="1783582" cy="461665"/>
          </a:xfrm>
          <a:prstGeom prst="rect">
            <a:avLst/>
          </a:pr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lin ang="2700000" scaled="1"/>
            <a:tileRect/>
          </a:gradFill>
          <a:ln w="57150" cmpd="dbl">
            <a:solidFill>
              <a:schemeClr val="accent2"/>
            </a:solidFill>
          </a:ln>
          <a:effectLst>
            <a:innerShdw blurRad="63500" dist="50800" dir="16200000">
              <a:prstClr val="black">
                <a:alpha val="50000"/>
              </a:prstClr>
            </a:innerShdw>
          </a:effec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dirty="0" smtClean="0">
                <a:latin typeface="黑体" panose="02010609060101010101" pitchFamily="49" charset="-122"/>
                <a:ea typeface="黑体" panose="02010609060101010101" pitchFamily="49" charset="-122"/>
              </a:rPr>
              <a:t>传动</a:t>
            </a:r>
            <a:r>
              <a:rPr lang="zh-CN" altLang="en-US" dirty="0">
                <a:latin typeface="黑体" panose="02010609060101010101" pitchFamily="49" charset="-122"/>
                <a:ea typeface="黑体" panose="02010609060101010101" pitchFamily="49" charset="-122"/>
              </a:rPr>
              <a:t>部分</a:t>
            </a:r>
            <a:endParaRPr lang="zh-CN" altLang="en-US" dirty="0">
              <a:latin typeface="黑体" panose="02010609060101010101" pitchFamily="49" charset="-122"/>
              <a:ea typeface="黑体" panose="02010609060101010101" pitchFamily="49" charset="-122"/>
            </a:endParaRPr>
          </a:p>
        </p:txBody>
      </p:sp>
      <p:sp>
        <p:nvSpPr>
          <p:cNvPr id="18" name="Text Box 9"/>
          <p:cNvSpPr txBox="1">
            <a:spLocks noChangeArrowheads="1"/>
          </p:cNvSpPr>
          <p:nvPr/>
        </p:nvSpPr>
        <p:spPr bwMode="auto">
          <a:xfrm>
            <a:off x="6419529" y="4421366"/>
            <a:ext cx="1731666" cy="461665"/>
          </a:xfrm>
          <a:prstGeom prst="rect">
            <a:avLst/>
          </a:prstGeom>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lin ang="2700000" scaled="1"/>
            <a:tileRect/>
          </a:gradFill>
          <a:ln w="57150" cmpd="dbl">
            <a:solidFill>
              <a:schemeClr val="accent2"/>
            </a:solidFill>
          </a:ln>
          <a:effectLst>
            <a:innerShdw blurRad="63500" dist="50800" dir="18900000">
              <a:prstClr val="black">
                <a:alpha val="50000"/>
              </a:prstClr>
            </a:innerShdw>
          </a:effec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dirty="0" smtClean="0">
                <a:latin typeface="黑体" panose="02010609060101010101" pitchFamily="49" charset="-122"/>
                <a:ea typeface="黑体" panose="02010609060101010101" pitchFamily="49" charset="-122"/>
              </a:rPr>
              <a:t>执行部分</a:t>
            </a:r>
            <a:endParaRPr lang="zh-CN" altLang="en-US" dirty="0">
              <a:latin typeface="黑体" panose="02010609060101010101" pitchFamily="49" charset="-122"/>
              <a:ea typeface="黑体" panose="02010609060101010101" pitchFamily="49" charset="-122"/>
            </a:endParaRPr>
          </a:p>
        </p:txBody>
      </p:sp>
      <p:sp>
        <p:nvSpPr>
          <p:cNvPr id="23" name="AutoShape 14"/>
          <p:cNvSpPr>
            <a:spLocks noChangeArrowheads="1"/>
          </p:cNvSpPr>
          <p:nvPr/>
        </p:nvSpPr>
        <p:spPr bwMode="auto">
          <a:xfrm>
            <a:off x="2848176" y="4625683"/>
            <a:ext cx="771211" cy="118906"/>
          </a:xfrm>
          <a:prstGeom prst="notchedRightArrow">
            <a:avLst>
              <a:gd name="adj1" fmla="val 50000"/>
              <a:gd name="adj2" fmla="val 225000"/>
            </a:avLst>
          </a:prstGeom>
          <a:solidFill>
            <a:srgbClr val="00B0F0"/>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4" name="AutoShape 15"/>
          <p:cNvSpPr>
            <a:spLocks noChangeArrowheads="1"/>
          </p:cNvSpPr>
          <p:nvPr/>
        </p:nvSpPr>
        <p:spPr bwMode="auto">
          <a:xfrm>
            <a:off x="5424741" y="4605586"/>
            <a:ext cx="914400" cy="76200"/>
          </a:xfrm>
          <a:prstGeom prst="notchedRightArrow">
            <a:avLst>
              <a:gd name="adj1" fmla="val 50000"/>
              <a:gd name="adj2" fmla="val 300000"/>
            </a:avLst>
          </a:prstGeom>
          <a:solidFill>
            <a:srgbClr val="00B0F0"/>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5" name="Text Box 16"/>
          <p:cNvSpPr txBox="1">
            <a:spLocks noChangeArrowheads="1"/>
          </p:cNvSpPr>
          <p:nvPr/>
        </p:nvSpPr>
        <p:spPr bwMode="auto">
          <a:xfrm>
            <a:off x="2656090" y="3280041"/>
            <a:ext cx="4038600" cy="461665"/>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w="57150" cmpd="dbl">
            <a:solidFill>
              <a:schemeClr val="accent2"/>
            </a:solid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dirty="0">
                <a:latin typeface="黑体" panose="02010609060101010101" pitchFamily="49" charset="-122"/>
                <a:ea typeface="黑体" panose="02010609060101010101" pitchFamily="49" charset="-122"/>
              </a:rPr>
              <a:t>测控系统</a:t>
            </a:r>
            <a:endParaRPr lang="zh-CN" altLang="en-US" dirty="0">
              <a:latin typeface="黑体" panose="02010609060101010101" pitchFamily="49" charset="-122"/>
              <a:ea typeface="黑体" panose="02010609060101010101" pitchFamily="49" charset="-122"/>
            </a:endParaRPr>
          </a:p>
        </p:txBody>
      </p:sp>
      <p:grpSp>
        <p:nvGrpSpPr>
          <p:cNvPr id="7" name="组合 6"/>
          <p:cNvGrpSpPr/>
          <p:nvPr/>
        </p:nvGrpSpPr>
        <p:grpSpPr>
          <a:xfrm>
            <a:off x="1823244" y="3509723"/>
            <a:ext cx="811405" cy="863077"/>
            <a:chOff x="2002134" y="2392589"/>
            <a:chExt cx="763588" cy="740821"/>
          </a:xfrm>
        </p:grpSpPr>
        <p:sp>
          <p:nvSpPr>
            <p:cNvPr id="22" name="Line 13"/>
            <p:cNvSpPr>
              <a:spLocks noChangeShapeType="1"/>
            </p:cNvSpPr>
            <p:nvPr/>
          </p:nvSpPr>
          <p:spPr bwMode="auto">
            <a:xfrm flipH="1">
              <a:off x="2002134" y="2412685"/>
              <a:ext cx="1588" cy="720725"/>
            </a:xfrm>
            <a:prstGeom prst="line">
              <a:avLst/>
            </a:prstGeom>
            <a:noFill/>
            <a:ln w="28575">
              <a:solidFill>
                <a:srgbClr val="C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18"/>
            <p:cNvSpPr>
              <a:spLocks noChangeShapeType="1"/>
            </p:cNvSpPr>
            <p:nvPr/>
          </p:nvSpPr>
          <p:spPr bwMode="auto">
            <a:xfrm flipH="1">
              <a:off x="2003722" y="2392589"/>
              <a:ext cx="762000" cy="0"/>
            </a:xfrm>
            <a:prstGeom prst="line">
              <a:avLst/>
            </a:prstGeom>
            <a:noFill/>
            <a:ln w="28575">
              <a:solidFill>
                <a:srgbClr val="C00000"/>
              </a:solidFill>
              <a:round/>
              <a:headEnd type="triangle" w="med" len="med"/>
              <a:tailEnd type="non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8" name="Line 19"/>
          <p:cNvSpPr>
            <a:spLocks noChangeShapeType="1"/>
          </p:cNvSpPr>
          <p:nvPr/>
        </p:nvSpPr>
        <p:spPr bwMode="auto">
          <a:xfrm flipH="1" flipV="1">
            <a:off x="1933777" y="4956441"/>
            <a:ext cx="1588" cy="393700"/>
          </a:xfrm>
          <a:prstGeom prst="line">
            <a:avLst/>
          </a:prstGeom>
          <a:noFill/>
          <a:ln w="28575">
            <a:solidFill>
              <a:srgbClr val="C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21"/>
          <p:cNvSpPr>
            <a:spLocks noChangeShapeType="1"/>
          </p:cNvSpPr>
          <p:nvPr/>
        </p:nvSpPr>
        <p:spPr bwMode="auto">
          <a:xfrm flipV="1">
            <a:off x="7383298" y="4917243"/>
            <a:ext cx="7937" cy="438150"/>
          </a:xfrm>
          <a:prstGeom prst="line">
            <a:avLst/>
          </a:prstGeom>
          <a:noFill/>
          <a:ln w="28575">
            <a:solidFill>
              <a:srgbClr val="C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 name="组合 7"/>
          <p:cNvGrpSpPr/>
          <p:nvPr/>
        </p:nvGrpSpPr>
        <p:grpSpPr>
          <a:xfrm>
            <a:off x="6691496" y="3539867"/>
            <a:ext cx="806555" cy="853029"/>
            <a:chOff x="6810096" y="2402637"/>
            <a:chExt cx="685800" cy="720725"/>
          </a:xfrm>
        </p:grpSpPr>
        <p:sp>
          <p:nvSpPr>
            <p:cNvPr id="29" name="Line 20"/>
            <p:cNvSpPr>
              <a:spLocks noChangeShapeType="1"/>
            </p:cNvSpPr>
            <p:nvPr/>
          </p:nvSpPr>
          <p:spPr bwMode="auto">
            <a:xfrm>
              <a:off x="6810096" y="2402637"/>
              <a:ext cx="685800" cy="0"/>
            </a:xfrm>
            <a:prstGeom prst="line">
              <a:avLst/>
            </a:prstGeom>
            <a:noFill/>
            <a:ln w="28575">
              <a:solidFill>
                <a:srgbClr val="C00000"/>
              </a:solidFill>
              <a:round/>
              <a:headEnd type="triangle" w="med" len="med"/>
              <a:tailEnd type="none" w="med" len="med"/>
            </a:ln>
            <a:extLst>
              <a:ext uri="{909E8E84-426E-40DD-AFC4-6F175D3DCCD1}">
                <a14:hiddenFill xmlns:a14="http://schemas.microsoft.com/office/drawing/2010/main">
                  <a:noFill/>
                </a14:hiddenFill>
              </a:ext>
            </a:extLst>
          </p:spPr>
          <p:txBody>
            <a:bodyPr wrap="none" anchor="ctr"/>
            <a:lstStyle/>
            <a:p>
              <a:endParaRPr lang="zh-CN" altLang="en-US">
                <a:ln w="38100">
                  <a:solidFill>
                    <a:schemeClr val="tx1"/>
                  </a:solidFill>
                </a:ln>
              </a:endParaRPr>
            </a:p>
          </p:txBody>
        </p:sp>
        <p:sp>
          <p:nvSpPr>
            <p:cNvPr id="31" name="Line 23"/>
            <p:cNvSpPr>
              <a:spLocks noChangeShapeType="1"/>
            </p:cNvSpPr>
            <p:nvPr/>
          </p:nvSpPr>
          <p:spPr bwMode="auto">
            <a:xfrm>
              <a:off x="7484783" y="2402637"/>
              <a:ext cx="7937" cy="720725"/>
            </a:xfrm>
            <a:prstGeom prst="line">
              <a:avLst/>
            </a:prstGeom>
            <a:noFill/>
            <a:ln w="28575">
              <a:solidFill>
                <a:srgbClr val="C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n w="38100">
                  <a:solidFill>
                    <a:schemeClr val="tx1"/>
                  </a:solidFill>
                </a:ln>
              </a:endParaRPr>
            </a:p>
          </p:txBody>
        </p:sp>
      </p:grpSp>
      <p:sp>
        <p:nvSpPr>
          <p:cNvPr id="32" name="Line 24"/>
          <p:cNvSpPr>
            <a:spLocks noChangeShapeType="1"/>
          </p:cNvSpPr>
          <p:nvPr/>
        </p:nvSpPr>
        <p:spPr bwMode="auto">
          <a:xfrm flipV="1">
            <a:off x="4604127" y="4874989"/>
            <a:ext cx="803" cy="462451"/>
          </a:xfrm>
          <a:prstGeom prst="line">
            <a:avLst/>
          </a:prstGeom>
          <a:noFill/>
          <a:ln w="28575">
            <a:solidFill>
              <a:srgbClr val="C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33" name="直接箭头连接符 32"/>
          <p:cNvCxnSpPr>
            <a:stCxn id="25" idx="2"/>
          </p:cNvCxnSpPr>
          <p:nvPr/>
        </p:nvCxnSpPr>
        <p:spPr>
          <a:xfrm>
            <a:off x="4675390" y="3741706"/>
            <a:ext cx="9123" cy="600948"/>
          </a:xfrm>
          <a:prstGeom prst="straightConnector1">
            <a:avLst/>
          </a:prstGeom>
          <a:ln w="28575">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 name="圆角矩形 2"/>
          <p:cNvSpPr/>
          <p:nvPr/>
        </p:nvSpPr>
        <p:spPr>
          <a:xfrm>
            <a:off x="843058" y="3916544"/>
            <a:ext cx="896294" cy="3168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zh-CN" altLang="en-US" sz="1600" b="1" dirty="0" smtClean="0">
                <a:solidFill>
                  <a:srgbClr val="0070C0"/>
                </a:solidFill>
                <a:sym typeface="+mn-ea"/>
              </a:rPr>
              <a:t>传感器</a:t>
            </a:r>
            <a:endParaRPr lang="zh-CN" altLang="en-US" sz="1600" b="1" dirty="0">
              <a:solidFill>
                <a:srgbClr val="0070C0"/>
              </a:solidFill>
            </a:endParaRPr>
          </a:p>
        </p:txBody>
      </p:sp>
      <p:sp>
        <p:nvSpPr>
          <p:cNvPr id="34" name="圆角矩形 33"/>
          <p:cNvSpPr/>
          <p:nvPr/>
        </p:nvSpPr>
        <p:spPr>
          <a:xfrm>
            <a:off x="3667740" y="3880330"/>
            <a:ext cx="896294" cy="3168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zh-CN" altLang="en-US" sz="1600" b="1" dirty="0" smtClean="0">
                <a:solidFill>
                  <a:srgbClr val="0070C0"/>
                </a:solidFill>
                <a:sym typeface="+mn-ea"/>
              </a:rPr>
              <a:t>传感器</a:t>
            </a:r>
            <a:endParaRPr lang="zh-CN" altLang="en-US" sz="1600" b="1" dirty="0">
              <a:solidFill>
                <a:srgbClr val="0070C0"/>
              </a:solidFill>
            </a:endParaRPr>
          </a:p>
        </p:txBody>
      </p:sp>
      <p:sp>
        <p:nvSpPr>
          <p:cNvPr id="35" name="Text Box 5"/>
          <p:cNvSpPr txBox="1">
            <a:spLocks noChangeArrowheads="1"/>
          </p:cNvSpPr>
          <p:nvPr/>
        </p:nvSpPr>
        <p:spPr bwMode="auto">
          <a:xfrm>
            <a:off x="1390293" y="5380199"/>
            <a:ext cx="6705600" cy="460375"/>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t="100000" r="100000"/>
            </a:path>
            <a:tileRect l="-100000" b="-100000"/>
          </a:gradFill>
          <a:ln>
            <a:solidFill>
              <a:srgbClr val="00B0F0"/>
            </a:solid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dirty="0">
                <a:latin typeface="黑体" panose="02010609060101010101" pitchFamily="49" charset="-122"/>
                <a:ea typeface="黑体" panose="02010609060101010101" pitchFamily="49" charset="-122"/>
              </a:rPr>
              <a:t>辅助系统：例如润滑、显示、照明等</a:t>
            </a:r>
            <a:endParaRPr lang="zh-CN" altLang="en-US" dirty="0">
              <a:latin typeface="黑体" panose="02010609060101010101" pitchFamily="49" charset="-122"/>
              <a:ea typeface="黑体" panose="02010609060101010101" pitchFamily="49" charset="-122"/>
            </a:endParaRPr>
          </a:p>
        </p:txBody>
      </p:sp>
      <p:sp>
        <p:nvSpPr>
          <p:cNvPr id="36" name="圆角矩形 35"/>
          <p:cNvSpPr/>
          <p:nvPr/>
        </p:nvSpPr>
        <p:spPr>
          <a:xfrm>
            <a:off x="6465261" y="3880330"/>
            <a:ext cx="896294" cy="3168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zh-CN" altLang="en-US" sz="1600" b="1" dirty="0" smtClean="0">
                <a:solidFill>
                  <a:srgbClr val="0070C0"/>
                </a:solidFill>
                <a:sym typeface="+mn-ea"/>
              </a:rPr>
              <a:t>传感器</a:t>
            </a:r>
            <a:endParaRPr lang="zh-CN" altLang="en-US" sz="1600" b="1" dirty="0">
              <a:solidFill>
                <a:srgbClr val="0070C0"/>
              </a:solidFill>
            </a:endParaRPr>
          </a:p>
        </p:txBody>
      </p:sp>
      <p:sp>
        <p:nvSpPr>
          <p:cNvPr id="2" name="文本框 1"/>
          <p:cNvSpPr txBox="1"/>
          <p:nvPr/>
        </p:nvSpPr>
        <p:spPr>
          <a:xfrm>
            <a:off x="4399915" y="275590"/>
            <a:ext cx="2618105" cy="460375"/>
          </a:xfrm>
          <a:prstGeom prst="rect">
            <a:avLst/>
          </a:prstGeom>
          <a:noFill/>
        </p:spPr>
        <p:txBody>
          <a:bodyPr wrap="square" rtlCol="0">
            <a:spAutoFit/>
          </a:bodyPr>
          <a:p>
            <a:pPr>
              <a:spcAft>
                <a:spcPts val="0"/>
              </a:spcAft>
            </a:pPr>
            <a:r>
              <a:rPr lang="zh-CN" altLang="en-US">
                <a:solidFill>
                  <a:schemeClr val="tx1">
                    <a:lumMod val="75000"/>
                  </a:schemeClr>
                </a:solidFill>
                <a:latin typeface="黑体" panose="02010609060101010101" pitchFamily="49" charset="-122"/>
                <a:ea typeface="黑体" panose="02010609060101010101" pitchFamily="49" charset="-122"/>
                <a:cs typeface="黑体" panose="02010609060101010101" pitchFamily="49" charset="-122"/>
              </a:rPr>
              <a:t>参考教材</a:t>
            </a:r>
            <a:r>
              <a:rPr lang="en-US" altLang="zh-CN">
                <a:solidFill>
                  <a:schemeClr val="tx1">
                    <a:lumMod val="75000"/>
                  </a:schemeClr>
                </a:solidFill>
                <a:latin typeface="黑体" panose="02010609060101010101" pitchFamily="49" charset="-122"/>
                <a:ea typeface="黑体" panose="02010609060101010101" pitchFamily="49" charset="-122"/>
                <a:cs typeface="黑体" panose="02010609060101010101" pitchFamily="49" charset="-122"/>
              </a:rPr>
              <a:t>P6-8</a:t>
            </a:r>
            <a:endParaRPr lang="en-US" altLang="zh-CN">
              <a:solidFill>
                <a:schemeClr val="tx1">
                  <a:lumMod val="75000"/>
                </a:schemeClr>
              </a:solidFill>
              <a:latin typeface="黑体" panose="02010609060101010101" pitchFamily="49" charset="-122"/>
              <a:ea typeface="黑体" panose="02010609060101010101" pitchFamily="49" charset="-122"/>
              <a:cs typeface="黑体" panose="02010609060101010101" pitchFamily="49" charset="-122"/>
            </a:endParaRPr>
          </a:p>
        </p:txBody>
      </p:sp>
      <p:pic>
        <p:nvPicPr>
          <p:cNvPr id="28674" name="Picture 5" descr="20071224151227644"/>
          <p:cNvPicPr>
            <a:picLocks noChangeAspect="1"/>
          </p:cNvPicPr>
          <p:nvPr>
            <p:custDataLst>
              <p:tags r:id="rId2"/>
            </p:custDataLst>
          </p:nvPr>
        </p:nvPicPr>
        <p:blipFill>
          <a:blip r:embed="rId3">
            <a:clrChange>
              <a:clrFrom>
                <a:srgbClr val="FFFFFF">
                  <a:alpha val="100000"/>
                </a:srgbClr>
              </a:clrFrom>
              <a:clrTo>
                <a:srgbClr val="FFFFFF">
                  <a:alpha val="100000"/>
                  <a:alpha val="0"/>
                </a:srgbClr>
              </a:clrTo>
            </a:clrChange>
          </a:blip>
          <a:stretch>
            <a:fillRect/>
          </a:stretch>
        </p:blipFill>
        <p:spPr>
          <a:xfrm>
            <a:off x="4001135" y="-275590"/>
            <a:ext cx="5759450" cy="4319588"/>
          </a:xfrm>
          <a:prstGeom prst="rect">
            <a:avLst/>
          </a:prstGeom>
          <a:noFill/>
          <a:ln w="9525">
            <a:noFill/>
          </a:ln>
        </p:spPr>
      </p:pic>
      <p:pic>
        <p:nvPicPr>
          <p:cNvPr id="18443" name="Picture 11" descr="u=65361654,3292865300&amp;fm=52&amp;gp=0"/>
          <p:cNvPicPr>
            <a:picLocks noChangeAspect="1"/>
          </p:cNvPicPr>
          <p:nvPr>
            <p:custDataLst>
              <p:tags r:id="rId4"/>
            </p:custDataLst>
          </p:nvPr>
        </p:nvPicPr>
        <p:blipFill>
          <a:blip r:embed="rId5">
            <a:clrChange>
              <a:clrFrom>
                <a:srgbClr val="FFFFFF">
                  <a:alpha val="100000"/>
                </a:srgbClr>
              </a:clrFrom>
              <a:clrTo>
                <a:srgbClr val="FFFFFF">
                  <a:alpha val="100000"/>
                  <a:alpha val="0"/>
                </a:srgbClr>
              </a:clrTo>
            </a:clrChange>
          </a:blip>
          <a:stretch>
            <a:fillRect/>
          </a:stretch>
        </p:blipFill>
        <p:spPr>
          <a:xfrm>
            <a:off x="-80010" y="1343660"/>
            <a:ext cx="2757170" cy="2247265"/>
          </a:xfrm>
          <a:prstGeom prst="rect">
            <a:avLst/>
          </a:prstGeom>
          <a:noFill/>
          <a:ln w="9525">
            <a:noFill/>
          </a:ln>
        </p:spPr>
      </p:pic>
      <p:sp>
        <p:nvSpPr>
          <p:cNvPr id="5128"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3891"/>
                                        </p:tgtEl>
                                        <p:attrNameLst>
                                          <p:attrName>style.visibility</p:attrName>
                                        </p:attrNameLst>
                                      </p:cBhvr>
                                      <p:to>
                                        <p:strVal val="visible"/>
                                      </p:to>
                                    </p:set>
                                    <p:animEffect transition="in" filter="blinds(horizontal)">
                                      <p:cBhvr>
                                        <p:cTn id="7" dur="500"/>
                                        <p:tgtEl>
                                          <p:spTgt spid="29389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8674"/>
                                        </p:tgtEl>
                                        <p:attrNameLst>
                                          <p:attrName>style.visibility</p:attrName>
                                        </p:attrNameLst>
                                      </p:cBhvr>
                                      <p:to>
                                        <p:strVal val="visible"/>
                                      </p:to>
                                    </p:set>
                                    <p:animEffect transition="in" filter="wipe(left)">
                                      <p:cBhvr>
                                        <p:cTn id="17" dur="500"/>
                                        <p:tgtEl>
                                          <p:spTgt spid="2867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circle(in)">
                                      <p:cBhvr>
                                        <p:cTn id="32" dur="20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wipe(left)">
                                      <p:cBhvr>
                                        <p:cTn id="37" dur="500"/>
                                        <p:tgtEl>
                                          <p:spTgt spid="23"/>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wipe(left)">
                                      <p:cBhvr>
                                        <p:cTn id="40" dur="500"/>
                                        <p:tgtEl>
                                          <p:spTgt spid="2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wipe(left)">
                                      <p:cBhvr>
                                        <p:cTn id="45" dur="500"/>
                                        <p:tgtEl>
                                          <p:spTgt spid="2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wipe(left)">
                                      <p:cBhvr>
                                        <p:cTn id="50" dur="500"/>
                                        <p:tgtEl>
                                          <p:spTgt spid="8"/>
                                        </p:tgtEl>
                                      </p:cBhvr>
                                    </p:animEffect>
                                  </p:childTnLst>
                                </p:cTn>
                              </p:par>
                              <p:par>
                                <p:cTn id="51" presetID="22" presetClass="entr" presetSubtype="2" fill="hold" nodeType="with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wipe(right)">
                                      <p:cBhvr>
                                        <p:cTn id="53" dur="500"/>
                                        <p:tgtEl>
                                          <p:spTgt spid="7"/>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wipe(left)">
                                      <p:cBhvr>
                                        <p:cTn id="58" dur="500"/>
                                        <p:tgtEl>
                                          <p:spTgt spid="33"/>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wipe(left)">
                                      <p:cBhvr>
                                        <p:cTn id="63" dur="500"/>
                                        <p:tgtEl>
                                          <p:spTgt spid="11"/>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wipe(down)">
                                      <p:cBhvr>
                                        <p:cTn id="68" dur="500"/>
                                        <p:tgtEl>
                                          <p:spTgt spid="28"/>
                                        </p:tgtEl>
                                      </p:cBhvr>
                                    </p:animEffect>
                                  </p:childTnLst>
                                </p:cTn>
                              </p:par>
                              <p:par>
                                <p:cTn id="69" presetID="22" presetClass="entr" presetSubtype="4"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wipe(down)">
                                      <p:cBhvr>
                                        <p:cTn id="71" dur="500"/>
                                        <p:tgtEl>
                                          <p:spTgt spid="32"/>
                                        </p:tgtEl>
                                      </p:cBhvr>
                                    </p:animEffect>
                                  </p:childTnLst>
                                </p:cTn>
                              </p:par>
                              <p:par>
                                <p:cTn id="72" presetID="22" presetClass="entr" presetSubtype="4" fill="hold" grpId="0" nodeType="withEffect">
                                  <p:stCondLst>
                                    <p:cond delay="0"/>
                                  </p:stCondLst>
                                  <p:childTnLst>
                                    <p:set>
                                      <p:cBhvr>
                                        <p:cTn id="73" dur="1" fill="hold">
                                          <p:stCondLst>
                                            <p:cond delay="0"/>
                                          </p:stCondLst>
                                        </p:cTn>
                                        <p:tgtEl>
                                          <p:spTgt spid="30"/>
                                        </p:tgtEl>
                                        <p:attrNameLst>
                                          <p:attrName>style.visibility</p:attrName>
                                        </p:attrNameLst>
                                      </p:cBhvr>
                                      <p:to>
                                        <p:strVal val="visible"/>
                                      </p:to>
                                    </p:set>
                                    <p:animEffect transition="in" filter="wipe(down)">
                                      <p:cBhvr>
                                        <p:cTn id="74" dur="500"/>
                                        <p:tgtEl>
                                          <p:spTgt spid="30"/>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35"/>
                                        </p:tgtEl>
                                        <p:attrNameLst>
                                          <p:attrName>style.visibility</p:attrName>
                                        </p:attrNameLst>
                                      </p:cBhvr>
                                      <p:to>
                                        <p:strVal val="visible"/>
                                      </p:to>
                                    </p:set>
                                    <p:animEffect transition="in" filter="wipe(left)">
                                      <p:cBhvr>
                                        <p:cTn id="79" dur="500"/>
                                        <p:tgtEl>
                                          <p:spTgt spid="35"/>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wipe(left)">
                                      <p:cBhvr>
                                        <p:cTn id="84" dur="500"/>
                                        <p:tgtEl>
                                          <p:spTgt spid="34"/>
                                        </p:tgtEl>
                                      </p:cBhvr>
                                    </p:animEffect>
                                  </p:childTnLst>
                                </p:cTn>
                              </p:par>
                              <p:par>
                                <p:cTn id="85" presetID="22" presetClass="entr" presetSubtype="8" fill="hold" grpId="0" nodeType="withEffect">
                                  <p:stCondLst>
                                    <p:cond delay="0"/>
                                  </p:stCondLst>
                                  <p:childTnLst>
                                    <p:set>
                                      <p:cBhvr>
                                        <p:cTn id="86" dur="1" fill="hold">
                                          <p:stCondLst>
                                            <p:cond delay="0"/>
                                          </p:stCondLst>
                                        </p:cTn>
                                        <p:tgtEl>
                                          <p:spTgt spid="3"/>
                                        </p:tgtEl>
                                        <p:attrNameLst>
                                          <p:attrName>style.visibility</p:attrName>
                                        </p:attrNameLst>
                                      </p:cBhvr>
                                      <p:to>
                                        <p:strVal val="visible"/>
                                      </p:to>
                                    </p:set>
                                    <p:animEffect transition="in" filter="wipe(left)">
                                      <p:cBhvr>
                                        <p:cTn id="87" dur="500"/>
                                        <p:tgtEl>
                                          <p:spTgt spid="3"/>
                                        </p:tgtEl>
                                      </p:cBhvr>
                                    </p:animEffect>
                                  </p:childTnLst>
                                </p:cTn>
                              </p:par>
                              <p:par>
                                <p:cTn id="88" presetID="22" presetClass="entr" presetSubtype="8" fill="hold" grpId="0" nodeType="withEffect">
                                  <p:stCondLst>
                                    <p:cond delay="0"/>
                                  </p:stCondLst>
                                  <p:childTnLst>
                                    <p:set>
                                      <p:cBhvr>
                                        <p:cTn id="89" dur="1" fill="hold">
                                          <p:stCondLst>
                                            <p:cond delay="0"/>
                                          </p:stCondLst>
                                        </p:cTn>
                                        <p:tgtEl>
                                          <p:spTgt spid="36"/>
                                        </p:tgtEl>
                                        <p:attrNameLst>
                                          <p:attrName>style.visibility</p:attrName>
                                        </p:attrNameLst>
                                      </p:cBhvr>
                                      <p:to>
                                        <p:strVal val="visible"/>
                                      </p:to>
                                    </p:set>
                                    <p:animEffect transition="in" filter="wipe(left)">
                                      <p:cBhvr>
                                        <p:cTn id="90" dur="500"/>
                                        <p:tgtEl>
                                          <p:spTgt spid="36"/>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2"/>
                                        </p:tgtEl>
                                        <p:attrNameLst>
                                          <p:attrName>style.visibility</p:attrName>
                                        </p:attrNameLst>
                                      </p:cBhvr>
                                      <p:to>
                                        <p:strVal val="visible"/>
                                      </p:to>
                                    </p:set>
                                    <p:animEffect transition="in" filter="wipe(left)">
                                      <p:cBhvr>
                                        <p:cTn id="95" dur="500"/>
                                        <p:tgtEl>
                                          <p:spTgt spid="2"/>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nodeType="clickEffect">
                                  <p:stCondLst>
                                    <p:cond delay="0"/>
                                  </p:stCondLst>
                                  <p:childTnLst>
                                    <p:set>
                                      <p:cBhvr>
                                        <p:cTn id="99" dur="1" fill="hold">
                                          <p:stCondLst>
                                            <p:cond delay="0"/>
                                          </p:stCondLst>
                                        </p:cTn>
                                        <p:tgtEl>
                                          <p:spTgt spid="18443"/>
                                        </p:tgtEl>
                                        <p:attrNameLst>
                                          <p:attrName>style.visibility</p:attrName>
                                        </p:attrNameLst>
                                      </p:cBhvr>
                                      <p:to>
                                        <p:strVal val="visible"/>
                                      </p:to>
                                    </p:set>
                                    <p:animEffect transition="in" filter="wipe(left)">
                                      <p:cBhvr>
                                        <p:cTn id="100" dur="500"/>
                                        <p:tgtEl>
                                          <p:spTgt spid="184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891" grpId="0" bldLvl="0" animBg="1"/>
      <p:bldP spid="6" grpId="0"/>
      <p:bldP spid="11" grpId="0" bldLvl="0" animBg="1"/>
      <p:bldP spid="16" grpId="0" bldLvl="0" animBg="1"/>
      <p:bldP spid="17" grpId="0" bldLvl="0" animBg="1"/>
      <p:bldP spid="18" grpId="0" bldLvl="0" animBg="1"/>
      <p:bldP spid="23" grpId="0" bldLvl="0" animBg="1"/>
      <p:bldP spid="24" grpId="0" bldLvl="0" animBg="1"/>
      <p:bldP spid="25" grpId="0" bldLvl="0" animBg="1"/>
      <p:bldP spid="28" grpId="0" bldLvl="0" animBg="1"/>
      <p:bldP spid="30" grpId="0" bldLvl="0" animBg="1"/>
      <p:bldP spid="32" grpId="0" bldLvl="0" animBg="1"/>
      <p:bldP spid="3" grpId="0" bldLvl="0" animBg="1"/>
      <p:bldP spid="34" grpId="0" bldLvl="0" animBg="1"/>
      <p:bldP spid="35" grpId="0" bldLvl="0" animBg="1"/>
      <p:bldP spid="36" grpId="0" bldLvl="0" animBg="1"/>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7"/>
          <p:cNvSpPr>
            <a:spLocks noGrp="1" noChangeArrowheads="1"/>
          </p:cNvSpPr>
          <p:nvPr>
            <p:ph type="title"/>
          </p:nvPr>
        </p:nvSpPr>
        <p:spPr bwMode="auto">
          <a:xfrm>
            <a:off x="5943600" y="762000"/>
            <a:ext cx="1143000" cy="152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spcAft>
                <a:spcPts val="0"/>
              </a:spcAft>
            </a:pPr>
            <a:r>
              <a:rPr lang="zh-CN" altLang="en-US" sz="800" smtClean="0">
                <a:solidFill>
                  <a:schemeClr val="bg1"/>
                </a:solidFill>
                <a:latin typeface="楷体_GB2312" pitchFamily="49" charset="-122"/>
                <a:ea typeface="楷体_GB2312" pitchFamily="49" charset="-122"/>
              </a:rPr>
              <a:t>机器的组成</a:t>
            </a:r>
            <a:r>
              <a:rPr lang="en-US" altLang="zh-CN" sz="800" smtClean="0">
                <a:solidFill>
                  <a:schemeClr val="bg1"/>
                </a:solidFill>
                <a:latin typeface="楷体_GB2312" pitchFamily="49" charset="-122"/>
                <a:ea typeface="楷体_GB2312" pitchFamily="49" charset="-122"/>
              </a:rPr>
              <a:t>1</a:t>
            </a:r>
            <a:endParaRPr lang="en-US" altLang="zh-CN" sz="800" smtClean="0">
              <a:solidFill>
                <a:schemeClr val="bg1"/>
              </a:solidFill>
              <a:latin typeface="楷体_GB2312" pitchFamily="49" charset="-122"/>
              <a:ea typeface="楷体_GB2312" pitchFamily="49" charset="-122"/>
            </a:endParaRPr>
          </a:p>
        </p:txBody>
      </p:sp>
      <p:sp>
        <p:nvSpPr>
          <p:cNvPr id="5122" name="Rectangle 11"/>
          <p:cNvSpPr>
            <a:spLocks noChangeArrowheads="1"/>
          </p:cNvSpPr>
          <p:nvPr/>
        </p:nvSpPr>
        <p:spPr bwMode="auto">
          <a:xfrm>
            <a:off x="4948555" y="259715"/>
            <a:ext cx="36830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p>
            <a:pPr>
              <a:spcAft>
                <a:spcPts val="0"/>
              </a:spcAft>
            </a:pPr>
            <a:r>
              <a:rPr lang="en-US" altLang="zh-CN" sz="3000" dirty="0" smtClean="0">
                <a:solidFill>
                  <a:srgbClr val="CC0000"/>
                </a:solidFill>
                <a:latin typeface="黑体" panose="02010609060101010101" pitchFamily="49" charset="-122"/>
                <a:ea typeface="黑体" panose="02010609060101010101" pitchFamily="49" charset="-122"/>
              </a:rPr>
              <a:t>1.2-1 </a:t>
            </a:r>
            <a:r>
              <a:rPr lang="zh-CN" altLang="en-US" sz="3000" dirty="0">
                <a:solidFill>
                  <a:srgbClr val="CC0000"/>
                </a:solidFill>
                <a:latin typeface="黑体" panose="02010609060101010101" pitchFamily="49" charset="-122"/>
                <a:ea typeface="黑体" panose="02010609060101010101" pitchFamily="49" charset="-122"/>
              </a:rPr>
              <a:t>机器的组成</a:t>
            </a:r>
            <a:endParaRPr lang="zh-CN" altLang="en-US" sz="3000" dirty="0">
              <a:solidFill>
                <a:srgbClr val="CC0000"/>
              </a:solidFill>
              <a:latin typeface="黑体" panose="02010609060101010101" pitchFamily="49" charset="-122"/>
              <a:ea typeface="黑体" panose="02010609060101010101" pitchFamily="49" charset="-122"/>
            </a:endParaRPr>
          </a:p>
        </p:txBody>
      </p:sp>
      <p:pic>
        <p:nvPicPr>
          <p:cNvPr id="5123" name="Picture 37"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63000" y="6515100"/>
            <a:ext cx="2873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5" name="Text Box 77"/>
          <p:cNvSpPr txBox="1">
            <a:spLocks noChangeArrowheads="1"/>
          </p:cNvSpPr>
          <p:nvPr/>
        </p:nvSpPr>
        <p:spPr bwMode="auto">
          <a:xfrm>
            <a:off x="6443345" y="4456430"/>
            <a:ext cx="4635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a:t>　</a:t>
            </a:r>
            <a:endParaRPr lang="zh-CN" altLang="en-US"/>
          </a:p>
        </p:txBody>
      </p:sp>
      <p:pic>
        <p:nvPicPr>
          <p:cNvPr id="15447" name="Picture 8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6045" y="1764230"/>
            <a:ext cx="5934075"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8"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6" name="文本框 5"/>
          <p:cNvSpPr txBox="1"/>
          <p:nvPr/>
        </p:nvSpPr>
        <p:spPr>
          <a:xfrm>
            <a:off x="4737735" y="4991735"/>
            <a:ext cx="787400" cy="829945"/>
          </a:xfrm>
          <a:prstGeom prst="rect">
            <a:avLst/>
          </a:prstGeom>
          <a:solidFill>
            <a:schemeClr val="accent1">
              <a:lumMod val="60000"/>
              <a:lumOff val="40000"/>
            </a:schemeClr>
          </a:solidFill>
          <a:ln>
            <a:solidFill>
              <a:schemeClr val="accent6">
                <a:lumMod val="75000"/>
              </a:schemeClr>
            </a:solidFill>
          </a:ln>
        </p:spPr>
        <p:txBody>
          <a:bodyPr wrap="square" rtlCol="0">
            <a:spAutoFit/>
          </a:bodyPr>
          <a:p>
            <a:pPr>
              <a:spcAft>
                <a:spcPts val="0"/>
              </a:spcAft>
            </a:pPr>
            <a:r>
              <a:rPr lang="zh-CN" altLang="en-US" sz="1200">
                <a:solidFill>
                  <a:srgbClr val="FF0000"/>
                </a:solidFill>
                <a:latin typeface="黑体" panose="02010609060101010101" pitchFamily="49" charset="-122"/>
                <a:ea typeface="黑体" panose="02010609060101010101" pitchFamily="49" charset="-122"/>
              </a:rPr>
              <a:t>方向盘、排挡杆、刹车、油门</a:t>
            </a:r>
            <a:endParaRPr lang="zh-CN" altLang="en-US" sz="1200">
              <a:solidFill>
                <a:srgbClr val="FF0000"/>
              </a:solidFill>
              <a:latin typeface="黑体" panose="02010609060101010101" pitchFamily="49" charset="-122"/>
              <a:ea typeface="黑体" panose="02010609060101010101" pitchFamily="49" charset="-122"/>
            </a:endParaRPr>
          </a:p>
        </p:txBody>
      </p:sp>
      <p:sp>
        <p:nvSpPr>
          <p:cNvPr id="7" name="文本框 6"/>
          <p:cNvSpPr txBox="1"/>
          <p:nvPr/>
        </p:nvSpPr>
        <p:spPr>
          <a:xfrm>
            <a:off x="6390640" y="4723765"/>
            <a:ext cx="798830" cy="829945"/>
          </a:xfrm>
          <a:prstGeom prst="rect">
            <a:avLst/>
          </a:prstGeom>
          <a:solidFill>
            <a:schemeClr val="accent1">
              <a:lumMod val="60000"/>
              <a:lumOff val="40000"/>
            </a:schemeClr>
          </a:solidFill>
          <a:ln>
            <a:solidFill>
              <a:schemeClr val="accent6">
                <a:lumMod val="75000"/>
              </a:schemeClr>
            </a:solidFill>
          </a:ln>
        </p:spPr>
        <p:txBody>
          <a:bodyPr wrap="square" rtlCol="0">
            <a:spAutoFit/>
          </a:bodyPr>
          <a:p>
            <a:pPr>
              <a:spcAft>
                <a:spcPts val="0"/>
              </a:spcAft>
            </a:pPr>
            <a:r>
              <a:rPr lang="zh-CN" altLang="en-US" sz="1200">
                <a:solidFill>
                  <a:srgbClr val="FF0000"/>
                </a:solidFill>
                <a:latin typeface="黑体" panose="02010609060101010101" pitchFamily="49" charset="-122"/>
                <a:ea typeface="黑体" panose="02010609060101010101" pitchFamily="49" charset="-122"/>
              </a:rPr>
              <a:t>离合器、变速箱、传动轴、差速器</a:t>
            </a:r>
            <a:endParaRPr lang="zh-CN" altLang="en-US" sz="1200">
              <a:solidFill>
                <a:srgbClr val="FF0000"/>
              </a:solidFill>
              <a:latin typeface="黑体" panose="02010609060101010101" pitchFamily="49" charset="-122"/>
              <a:ea typeface="黑体" panose="02010609060101010101" pitchFamily="49" charset="-122"/>
            </a:endParaRPr>
          </a:p>
        </p:txBody>
      </p:sp>
      <p:sp>
        <p:nvSpPr>
          <p:cNvPr id="8" name="文本框 7"/>
          <p:cNvSpPr txBox="1"/>
          <p:nvPr/>
        </p:nvSpPr>
        <p:spPr>
          <a:xfrm>
            <a:off x="982980" y="4613275"/>
            <a:ext cx="1264285" cy="460375"/>
          </a:xfrm>
          <a:prstGeom prst="rect">
            <a:avLst/>
          </a:prstGeom>
          <a:solidFill>
            <a:schemeClr val="accent1">
              <a:lumMod val="60000"/>
              <a:lumOff val="40000"/>
            </a:schemeClr>
          </a:solidFill>
          <a:ln>
            <a:solidFill>
              <a:schemeClr val="accent6">
                <a:lumMod val="75000"/>
              </a:schemeClr>
            </a:solidFill>
          </a:ln>
        </p:spPr>
        <p:txBody>
          <a:bodyPr wrap="square" rtlCol="0">
            <a:spAutoFit/>
          </a:bodyPr>
          <a:p>
            <a:pPr>
              <a:spcAft>
                <a:spcPts val="0"/>
              </a:spcAft>
            </a:pPr>
            <a:r>
              <a:rPr lang="zh-CN" altLang="en-US" sz="1200">
                <a:solidFill>
                  <a:srgbClr val="FF0000"/>
                </a:solidFill>
                <a:latin typeface="黑体" panose="02010609060101010101" pitchFamily="49" charset="-122"/>
                <a:ea typeface="黑体" panose="02010609060101010101" pitchFamily="49" charset="-122"/>
              </a:rPr>
              <a:t>各类仪表、照明系统、润滑系统</a:t>
            </a:r>
            <a:endParaRPr lang="zh-CN" altLang="en-US" sz="1200">
              <a:solidFill>
                <a:srgbClr val="FF0000"/>
              </a:solidFill>
              <a:latin typeface="黑体" panose="02010609060101010101" pitchFamily="49" charset="-122"/>
              <a:ea typeface="黑体" panose="02010609060101010101" pitchFamily="49" charset="-122"/>
            </a:endParaRPr>
          </a:p>
        </p:txBody>
      </p:sp>
      <p:sp>
        <p:nvSpPr>
          <p:cNvPr id="9" name="文本框 8"/>
          <p:cNvSpPr txBox="1"/>
          <p:nvPr/>
        </p:nvSpPr>
        <p:spPr>
          <a:xfrm>
            <a:off x="7310120" y="3982085"/>
            <a:ext cx="866140" cy="275590"/>
          </a:xfrm>
          <a:prstGeom prst="rect">
            <a:avLst/>
          </a:prstGeom>
          <a:solidFill>
            <a:schemeClr val="accent1">
              <a:lumMod val="60000"/>
              <a:lumOff val="40000"/>
            </a:schemeClr>
          </a:solidFill>
          <a:ln>
            <a:solidFill>
              <a:schemeClr val="accent6">
                <a:lumMod val="75000"/>
              </a:schemeClr>
            </a:solidFill>
          </a:ln>
        </p:spPr>
        <p:txBody>
          <a:bodyPr wrap="square" rtlCol="0">
            <a:spAutoFit/>
          </a:bodyPr>
          <a:p>
            <a:pPr>
              <a:spcAft>
                <a:spcPts val="0"/>
              </a:spcAft>
            </a:pPr>
            <a:r>
              <a:rPr lang="zh-CN" altLang="en-US" sz="1200">
                <a:solidFill>
                  <a:srgbClr val="FF0000"/>
                </a:solidFill>
                <a:latin typeface="黑体" panose="02010609060101010101" pitchFamily="49" charset="-122"/>
                <a:ea typeface="黑体" panose="02010609060101010101" pitchFamily="49" charset="-122"/>
              </a:rPr>
              <a:t>车轮</a:t>
            </a:r>
            <a:endParaRPr lang="zh-CN" altLang="en-US" sz="1200">
              <a:solidFill>
                <a:srgbClr val="FF0000"/>
              </a:solidFill>
              <a:latin typeface="黑体" panose="02010609060101010101" pitchFamily="49" charset="-122"/>
              <a:ea typeface="黑体" panose="02010609060101010101" pitchFamily="49" charset="-122"/>
            </a:endParaRPr>
          </a:p>
        </p:txBody>
      </p:sp>
      <p:sp>
        <p:nvSpPr>
          <p:cNvPr id="10" name="文本框 9"/>
          <p:cNvSpPr txBox="1"/>
          <p:nvPr/>
        </p:nvSpPr>
        <p:spPr>
          <a:xfrm>
            <a:off x="1169670" y="2404110"/>
            <a:ext cx="697865" cy="275590"/>
          </a:xfrm>
          <a:prstGeom prst="rect">
            <a:avLst/>
          </a:prstGeom>
          <a:solidFill>
            <a:schemeClr val="accent1">
              <a:lumMod val="60000"/>
              <a:lumOff val="40000"/>
            </a:schemeClr>
          </a:solidFill>
          <a:ln>
            <a:solidFill>
              <a:schemeClr val="accent6">
                <a:lumMod val="75000"/>
              </a:schemeClr>
            </a:solidFill>
          </a:ln>
        </p:spPr>
        <p:txBody>
          <a:bodyPr wrap="square" rtlCol="0">
            <a:spAutoFit/>
          </a:bodyPr>
          <a:p>
            <a:pPr>
              <a:spcAft>
                <a:spcPts val="0"/>
              </a:spcAft>
            </a:pPr>
            <a:r>
              <a:rPr lang="zh-CN" altLang="en-US" sz="1200">
                <a:solidFill>
                  <a:srgbClr val="FF0000"/>
                </a:solidFill>
                <a:latin typeface="黑体" panose="02010609060101010101" pitchFamily="49" charset="-122"/>
                <a:ea typeface="黑体" panose="02010609060101010101" pitchFamily="49" charset="-122"/>
              </a:rPr>
              <a:t>发动机</a:t>
            </a:r>
            <a:endParaRPr lang="zh-CN" altLang="en-US" sz="1200">
              <a:solidFill>
                <a:srgbClr val="FF0000"/>
              </a:solidFill>
              <a:latin typeface="黑体" panose="02010609060101010101" pitchFamily="49" charset="-122"/>
              <a:ea typeface="黑体" panose="02010609060101010101" pitchFamily="49" charset="-122"/>
            </a:endParaRPr>
          </a:p>
        </p:txBody>
      </p:sp>
      <p:cxnSp>
        <p:nvCxnSpPr>
          <p:cNvPr id="2" name="直接连接符 1"/>
          <p:cNvCxnSpPr/>
          <p:nvPr/>
        </p:nvCxnSpPr>
        <p:spPr>
          <a:xfrm>
            <a:off x="1172845" y="2679700"/>
            <a:ext cx="1487805" cy="0"/>
          </a:xfrm>
          <a:prstGeom prst="line">
            <a:avLst/>
          </a:prstGeom>
          <a:solidFill>
            <a:schemeClr val="accent1"/>
          </a:solidFill>
          <a:ln w="28575" cap="flat" cmpd="sng" algn="ctr">
            <a:solidFill>
              <a:srgbClr val="0070C0"/>
            </a:solidFill>
            <a:prstDash val="solid"/>
            <a:round/>
            <a:headEnd type="none" w="med" len="med"/>
            <a:tailEnd type="none" w="med" len="med"/>
          </a:ln>
        </p:spPr>
      </p:cxnSp>
      <p:cxnSp>
        <p:nvCxnSpPr>
          <p:cNvPr id="3" name="直接连接符 2"/>
          <p:cNvCxnSpPr/>
          <p:nvPr/>
        </p:nvCxnSpPr>
        <p:spPr>
          <a:xfrm>
            <a:off x="6619240" y="4257675"/>
            <a:ext cx="1487805" cy="0"/>
          </a:xfrm>
          <a:prstGeom prst="line">
            <a:avLst/>
          </a:prstGeom>
          <a:solidFill>
            <a:schemeClr val="accent1"/>
          </a:solidFill>
          <a:ln w="28575" cap="flat" cmpd="sng" algn="ctr">
            <a:solidFill>
              <a:srgbClr val="0070C0"/>
            </a:solidFill>
            <a:prstDash val="solid"/>
            <a:round/>
            <a:headEnd type="none" w="med" len="med"/>
            <a:tailEnd type="none" w="med" len="med"/>
          </a:ln>
        </p:spPr>
      </p:cxnSp>
      <p:cxnSp>
        <p:nvCxnSpPr>
          <p:cNvPr id="4" name="直接连接符 3"/>
          <p:cNvCxnSpPr/>
          <p:nvPr/>
        </p:nvCxnSpPr>
        <p:spPr>
          <a:xfrm>
            <a:off x="5724525" y="4718685"/>
            <a:ext cx="1487805" cy="0"/>
          </a:xfrm>
          <a:prstGeom prst="line">
            <a:avLst/>
          </a:prstGeom>
          <a:solidFill>
            <a:schemeClr val="accent1"/>
          </a:solidFill>
          <a:ln w="28575" cap="flat" cmpd="sng" algn="ctr">
            <a:solidFill>
              <a:srgbClr val="0070C0"/>
            </a:solidFill>
            <a:prstDash val="solid"/>
            <a:round/>
            <a:headEnd type="none" w="med" len="med"/>
            <a:tailEnd type="none" w="med" len="med"/>
          </a:ln>
        </p:spPr>
      </p:cxnSp>
      <p:cxnSp>
        <p:nvCxnSpPr>
          <p:cNvPr id="5" name="直接连接符 4"/>
          <p:cNvCxnSpPr/>
          <p:nvPr/>
        </p:nvCxnSpPr>
        <p:spPr>
          <a:xfrm>
            <a:off x="4037330" y="4991735"/>
            <a:ext cx="1487805" cy="0"/>
          </a:xfrm>
          <a:prstGeom prst="line">
            <a:avLst/>
          </a:prstGeom>
          <a:solidFill>
            <a:schemeClr val="accent1"/>
          </a:solidFill>
          <a:ln w="28575" cap="flat" cmpd="sng" algn="ctr">
            <a:solidFill>
              <a:srgbClr val="0070C0"/>
            </a:solidFill>
            <a:prstDash val="solid"/>
            <a:round/>
            <a:headEnd type="none" w="med" len="med"/>
            <a:tailEnd type="none" w="med" len="med"/>
          </a:ln>
        </p:spPr>
      </p:cxnSp>
      <p:cxnSp>
        <p:nvCxnSpPr>
          <p:cNvPr id="11" name="直接连接符 10"/>
          <p:cNvCxnSpPr/>
          <p:nvPr/>
        </p:nvCxnSpPr>
        <p:spPr>
          <a:xfrm>
            <a:off x="982980" y="5086985"/>
            <a:ext cx="1985010" cy="13335"/>
          </a:xfrm>
          <a:prstGeom prst="line">
            <a:avLst/>
          </a:prstGeom>
          <a:solidFill>
            <a:schemeClr val="accent1"/>
          </a:solidFill>
          <a:ln w="28575" cap="flat" cmpd="sng" algn="ctr">
            <a:solidFill>
              <a:srgbClr val="0070C0"/>
            </a:solidFill>
            <a:prstDash val="solid"/>
            <a:round/>
            <a:headEnd type="none" w="med" len="med"/>
            <a:tailEnd type="none" w="med" len="med"/>
          </a:ln>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4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righ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21" presetClass="entr" presetSubtype="2" fill="hold" grpId="0" nodeType="clickEffect">
                                  <p:stCondLst>
                                    <p:cond delay="0"/>
                                  </p:stCondLst>
                                  <p:childTnLst>
                                    <p:set>
                                      <p:cBhvr>
                                        <p:cTn id="25" dur="1000" fill="hold">
                                          <p:stCondLst>
                                            <p:cond delay="0"/>
                                          </p:stCondLst>
                                        </p:cTn>
                                        <p:tgtEl>
                                          <p:spTgt spid="9"/>
                                        </p:tgtEl>
                                        <p:attrNameLst>
                                          <p:attrName>style.visibility</p:attrName>
                                        </p:attrNameLst>
                                      </p:cBhvr>
                                      <p:to>
                                        <p:strVal val="visible"/>
                                      </p:to>
                                    </p:set>
                                    <p:animEffect transition="in" filter="wheel(2)">
                                      <p:cBhvr>
                                        <p:cTn id="26" dur="10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ipe(left)">
                                      <p:cBhvr>
                                        <p:cTn id="31" dur="500"/>
                                        <p:tgtEl>
                                          <p:spTgt spid="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left)">
                                      <p:cBhvr>
                                        <p:cTn id="36" dur="5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wipe(left)">
                                      <p:cBhvr>
                                        <p:cTn id="41" dur="500"/>
                                        <p:tgtEl>
                                          <p:spTgt spid="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wipe(left)">
                                      <p:cBhvr>
                                        <p:cTn id="46" dur="500"/>
                                        <p:tgtEl>
                                          <p:spTgt spid="6"/>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2" fill="hold" nodeType="click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wipe(right)">
                                      <p:cBhvr>
                                        <p:cTn id="51" dur="500"/>
                                        <p:tgtEl>
                                          <p:spTgt spid="11"/>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2" fill="hold" grpId="0" nodeType="clickEffect">
                                  <p:stCondLst>
                                    <p:cond delay="0"/>
                                  </p:stCondLst>
                                  <p:childTnLst>
                                    <p:set>
                                      <p:cBhvr>
                                        <p:cTn id="55" dur="1" fill="hold">
                                          <p:stCondLst>
                                            <p:cond delay="0"/>
                                          </p:stCondLst>
                                        </p:cTn>
                                        <p:tgtEl>
                                          <p:spTgt spid="8"/>
                                        </p:tgtEl>
                                        <p:attrNameLst>
                                          <p:attrName>style.visibility</p:attrName>
                                        </p:attrNameLst>
                                      </p:cBhvr>
                                      <p:to>
                                        <p:strVal val="visible"/>
                                      </p:to>
                                    </p:set>
                                    <p:animEffect transition="in" filter="wipe(right)">
                                      <p:cBhvr>
                                        <p:cTn id="5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7" grpId="0" bldLvl="0" animBg="1"/>
      <p:bldP spid="9" grpId="0" bldLvl="0" animBg="1"/>
      <p:bldP spid="6" grpId="0" bldLvl="0" animBg="1"/>
      <p:bldP spid="8"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184785" y="409575"/>
            <a:ext cx="4387215" cy="398780"/>
          </a:xfrm>
          <a:prstGeom prst="rect">
            <a:avLst/>
          </a:prstGeom>
          <a:solidFill>
            <a:srgbClr val="92D050"/>
          </a:solidFill>
        </p:spPr>
        <p:txBody>
          <a:bodyPr wrap="square" rtlCol="0">
            <a:spAutoFit/>
          </a:bodyPr>
          <a:p>
            <a:r>
              <a:rPr lang="zh-CN" altLang="en-US" sz="2000">
                <a:latin typeface="黑体" panose="02010609060101010101" pitchFamily="49" charset="-122"/>
                <a:ea typeface="黑体" panose="02010609060101010101" pitchFamily="49" charset="-122"/>
                <a:cs typeface="黑体" panose="02010609060101010101" pitchFamily="49" charset="-122"/>
              </a:rPr>
              <a:t>特斯拉人形机器人</a:t>
            </a:r>
            <a:r>
              <a:rPr lang="en-US" altLang="zh-CN" sz="2000">
                <a:latin typeface="黑体" panose="02010609060101010101" pitchFamily="49" charset="-122"/>
                <a:ea typeface="黑体" panose="02010609060101010101" pitchFamily="49" charset="-122"/>
                <a:cs typeface="黑体" panose="02010609060101010101" pitchFamily="49" charset="-122"/>
              </a:rPr>
              <a:t>Optimus </a:t>
            </a:r>
            <a:r>
              <a:rPr lang="zh-CN" altLang="en-US" sz="2000">
                <a:latin typeface="黑体" panose="02010609060101010101" pitchFamily="49" charset="-122"/>
                <a:ea typeface="黑体" panose="02010609060101010101" pitchFamily="49" charset="-122"/>
                <a:cs typeface="黑体" panose="02010609060101010101" pitchFamily="49" charset="-122"/>
              </a:rPr>
              <a:t>结构</a:t>
            </a:r>
            <a:endParaRPr lang="zh-CN" altLang="en-US" sz="2000">
              <a:latin typeface="黑体" panose="02010609060101010101" pitchFamily="49" charset="-122"/>
              <a:ea typeface="黑体" panose="02010609060101010101" pitchFamily="49" charset="-122"/>
              <a:cs typeface="黑体" panose="02010609060101010101" pitchFamily="49" charset="-122"/>
            </a:endParaRPr>
          </a:p>
        </p:txBody>
      </p:sp>
      <p:pic>
        <p:nvPicPr>
          <p:cNvPr id="6" name="图片 5"/>
          <p:cNvPicPr>
            <a:picLocks noChangeAspect="1"/>
          </p:cNvPicPr>
          <p:nvPr>
            <p:custDataLst>
              <p:tags r:id="rId1"/>
            </p:custDataLst>
          </p:nvPr>
        </p:nvPicPr>
        <p:blipFill>
          <a:blip r:embed="rId2"/>
          <a:stretch>
            <a:fillRect/>
          </a:stretch>
        </p:blipFill>
        <p:spPr>
          <a:xfrm>
            <a:off x="383540" y="1088390"/>
            <a:ext cx="8376920" cy="5205095"/>
          </a:xfrm>
          <a:prstGeom prst="rect">
            <a:avLst/>
          </a:prstGeom>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21995" y="786130"/>
            <a:ext cx="7745095" cy="922020"/>
          </a:xfrm>
          <a:prstGeom prst="rect">
            <a:avLst/>
          </a:prstGeom>
        </p:spPr>
        <p:txBody>
          <a:bodyPr wrap="square">
            <a:spAutoFit/>
          </a:bodyPr>
          <a:p>
            <a:r>
              <a:rPr lang="zh-CN" altLang="en-US" sz="1800">
                <a:latin typeface="黑体" panose="02010609060101010101" pitchFamily="49" charset="-122"/>
                <a:ea typeface="黑体" panose="02010609060101010101" pitchFamily="49" charset="-122"/>
              </a:rPr>
              <a:t>机器人的核心是机构学。机器人是物理世界的载体，其运动精度、负载能力、响应速度等核心性能，本质上由机构构型决定，就像人类的跑跳能力依赖骨骼与肌肉的结构，而非仅靠大脑指令。</a:t>
            </a:r>
            <a:endParaRPr lang="zh-CN" altLang="en-US" sz="1800">
              <a:latin typeface="黑体" panose="02010609060101010101" pitchFamily="49" charset="-122"/>
              <a:ea typeface="黑体" panose="02010609060101010101" pitchFamily="49" charset="-122"/>
            </a:endParaRPr>
          </a:p>
        </p:txBody>
      </p:sp>
      <p:sp>
        <p:nvSpPr>
          <p:cNvPr id="3" name="文本框 2"/>
          <p:cNvSpPr txBox="1"/>
          <p:nvPr/>
        </p:nvSpPr>
        <p:spPr>
          <a:xfrm>
            <a:off x="821055" y="2030730"/>
            <a:ext cx="7444740" cy="922020"/>
          </a:xfrm>
          <a:prstGeom prst="rect">
            <a:avLst/>
          </a:prstGeom>
        </p:spPr>
        <p:txBody>
          <a:bodyPr wrap="square">
            <a:spAutoFit/>
          </a:bodyPr>
          <a:p>
            <a:r>
              <a:rPr lang="zh-CN" altLang="en-US" sz="1800">
                <a:latin typeface="黑体" panose="02010609060101010101" pitchFamily="49" charset="-122"/>
                <a:ea typeface="黑体" panose="02010609060101010101" pitchFamily="49" charset="-122"/>
                <a:cs typeface="黑体" panose="02010609060101010101" pitchFamily="49" charset="-122"/>
              </a:rPr>
              <a:t>建立了“功能驱动构型” 的正向设计方法。传统逆向设计靠拆解国外产品获取参数，却永远学不会 “为什么这样设计”；而正向设计则从功能需求出发，用数学工具（如他提出的 </a:t>
            </a:r>
            <a:r>
              <a:rPr lang="en-US" altLang="zh-CN" sz="1800">
                <a:latin typeface="黑体" panose="02010609060101010101" pitchFamily="49" charset="-122"/>
                <a:ea typeface="黑体" panose="02010609060101010101" pitchFamily="49" charset="-122"/>
                <a:cs typeface="黑体" panose="02010609060101010101" pitchFamily="49" charset="-122"/>
              </a:rPr>
              <a:t>GF </a:t>
            </a:r>
            <a:r>
              <a:rPr lang="zh-CN" altLang="en-US" sz="1800">
                <a:latin typeface="黑体" panose="02010609060101010101" pitchFamily="49" charset="-122"/>
                <a:ea typeface="黑体" panose="02010609060101010101" pitchFamily="49" charset="-122"/>
                <a:cs typeface="黑体" panose="02010609060101010101" pitchFamily="49" charset="-122"/>
              </a:rPr>
              <a:t>集理论）推导出全新机构构型。</a:t>
            </a:r>
            <a:endParaRPr lang="zh-CN" altLang="en-US" sz="1800">
              <a:latin typeface="黑体" panose="02010609060101010101" pitchFamily="49" charset="-122"/>
              <a:ea typeface="黑体" panose="02010609060101010101" pitchFamily="49" charset="-122"/>
              <a:cs typeface="黑体" panose="02010609060101010101" pitchFamily="49" charset="-122"/>
            </a:endParaRPr>
          </a:p>
        </p:txBody>
      </p:sp>
      <p:sp>
        <p:nvSpPr>
          <p:cNvPr id="4" name="文本框 3"/>
          <p:cNvSpPr txBox="1"/>
          <p:nvPr/>
        </p:nvSpPr>
        <p:spPr>
          <a:xfrm>
            <a:off x="748665" y="3330575"/>
            <a:ext cx="7517130" cy="1198880"/>
          </a:xfrm>
          <a:prstGeom prst="rect">
            <a:avLst/>
          </a:prstGeom>
        </p:spPr>
        <p:txBody>
          <a:bodyPr wrap="square">
            <a:spAutoFit/>
          </a:bodyPr>
          <a:p>
            <a:pPr algn="l">
              <a:lnSpc>
                <a:spcPct val="100000"/>
              </a:lnSpc>
              <a:buClrTx/>
              <a:buSzTx/>
              <a:buFontTx/>
            </a:pPr>
            <a:r>
              <a:rPr lang="zh-CN" altLang="en-US" sz="1800">
                <a:latin typeface="黑体" panose="02010609060101010101" pitchFamily="49" charset="-122"/>
                <a:ea typeface="黑体" panose="02010609060101010101" pitchFamily="49" charset="-122"/>
                <a:cs typeface="黑体" panose="02010609060101010101" pitchFamily="49" charset="-122"/>
              </a:rPr>
              <a:t>传统串联机械臂的固有缺陷（低刚度、低响应）使其只能从事喷漆、上下料等非接触作业，在汽车总装、精密装配等领域几乎空白。而并联、混联机构虽能突破这些限制，却因设计难度大、知识壁垒高，成为行业不敢触碰的 “深水区”。</a:t>
            </a:r>
            <a:endParaRPr lang="zh-CN" altLang="en-US" sz="1800">
              <a:latin typeface="黑体" panose="02010609060101010101" pitchFamily="49" charset="-122"/>
              <a:ea typeface="黑体" panose="02010609060101010101" pitchFamily="49" charset="-122"/>
              <a:cs typeface="黑体" panose="02010609060101010101" pitchFamily="49" charset="-122"/>
            </a:endParaRPr>
          </a:p>
        </p:txBody>
      </p:sp>
      <p:sp>
        <p:nvSpPr>
          <p:cNvPr id="5" name="文本框 4"/>
          <p:cNvSpPr txBox="1"/>
          <p:nvPr/>
        </p:nvSpPr>
        <p:spPr>
          <a:xfrm>
            <a:off x="675005" y="4831080"/>
            <a:ext cx="7664450" cy="1476375"/>
          </a:xfrm>
          <a:prstGeom prst="rect">
            <a:avLst/>
          </a:prstGeom>
        </p:spPr>
        <p:txBody>
          <a:bodyPr wrap="square">
            <a:spAutoFit/>
          </a:bodyPr>
          <a:p>
            <a:pPr algn="l">
              <a:buClrTx/>
              <a:buSzTx/>
              <a:buFontTx/>
            </a:pPr>
            <a:r>
              <a:rPr lang="zh-CN" altLang="en-US" sz="1800">
                <a:latin typeface="黑体" panose="02010609060101010101" pitchFamily="49" charset="-122"/>
                <a:ea typeface="黑体" panose="02010609060101010101" pitchFamily="49" charset="-122"/>
                <a:cs typeface="黑体" panose="02010609060101010101" pitchFamily="49" charset="-122"/>
              </a:rPr>
              <a:t>高峰团队研发的“串-并协作装配机器人” ：在汽车生产线晃动的情况下，靠6 自由度力补偿器与工业机器人的组合，实现了带震动环境下的高精度拧螺丝。这种 “专才” 设计，比追求 “全场景适配” 的通用机器人更能解决产业痛点。正如他所言：“只有专注一个场景做到极致，才有不可替代性。”</a:t>
            </a:r>
            <a:endParaRPr lang="zh-CN" altLang="en-US" sz="1800">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062" name="文本框 298061"/>
          <p:cNvSpPr txBox="1"/>
          <p:nvPr/>
        </p:nvSpPr>
        <p:spPr>
          <a:xfrm>
            <a:off x="296021" y="980475"/>
            <a:ext cx="8658225" cy="1419860"/>
          </a:xfrm>
          <a:prstGeom prst="rect">
            <a:avLst/>
          </a:prstGeom>
          <a:noFill/>
          <a:ln w="9525">
            <a:noFill/>
          </a:ln>
        </p:spPr>
        <p:txBody>
          <a:bodyPr>
            <a:spAutoFit/>
          </a:bodyPr>
          <a:lstStyle/>
          <a:p>
            <a:pPr algn="just">
              <a:lnSpc>
                <a:spcPct val="120000"/>
              </a:lnSpc>
              <a:spcAft>
                <a:spcPts val="0"/>
              </a:spcAft>
            </a:pPr>
            <a:r>
              <a:rPr lang="zh-CN" sz="2800" b="1" dirty="0">
                <a:solidFill>
                  <a:srgbClr val="FF0000"/>
                </a:solidFill>
                <a:latin typeface="宋体" panose="02010600030101010101" pitchFamily="2" charset="-122"/>
              </a:rPr>
              <a:t>机构</a:t>
            </a:r>
            <a:r>
              <a:rPr lang="zh-CN" altLang="en-US" sz="2800" b="1" dirty="0">
                <a:latin typeface="宋体" panose="02010600030101010101" pitchFamily="2" charset="-122"/>
              </a:rPr>
              <a:t>－</a:t>
            </a:r>
            <a:r>
              <a:rPr lang="zh-CN" altLang="en-US" sz="2800" b="1" dirty="0">
                <a:solidFill>
                  <a:schemeClr val="bg1"/>
                </a:solidFill>
                <a:latin typeface="宋体" panose="02010600030101010101" pitchFamily="2" charset="-122"/>
              </a:rPr>
              <a:t> </a:t>
            </a:r>
            <a:r>
              <a:rPr lang="zh-CN" altLang="en-US" b="1" dirty="0">
                <a:effectLst>
                  <a:outerShdw blurRad="38100" dist="38100" dir="2700000">
                    <a:srgbClr val="C0C0C0"/>
                  </a:outerShdw>
                </a:effectLst>
                <a:latin typeface="Times New Roman" panose="02020603050405020304" pitchFamily="18" charset="0"/>
              </a:rPr>
              <a:t>能够用来传递运动和力的、有一个构件为机架</a:t>
            </a:r>
            <a:r>
              <a:rPr lang="zh-CN" altLang="en-US" b="1" dirty="0">
                <a:effectLst>
                  <a:outerShdw blurRad="38100" dist="38100" dir="2700000">
                    <a:srgbClr val="C0C0C0"/>
                  </a:outerShdw>
                </a:effectLst>
                <a:latin typeface="Times New Roman" panose="02020603050405020304" pitchFamily="18" charset="0"/>
                <a:sym typeface="+mn-ea"/>
              </a:rPr>
              <a:t>的、用构件间能够</a:t>
            </a:r>
            <a:r>
              <a:rPr lang="zh-CN" altLang="en-US" b="1" dirty="0">
                <a:effectLst>
                  <a:outerShdw blurRad="38100" dist="38100" dir="2700000">
                    <a:srgbClr val="C0C0C0"/>
                  </a:outerShdw>
                </a:effectLst>
                <a:latin typeface="Times New Roman" panose="02020603050405020304" pitchFamily="18" charset="0"/>
              </a:rPr>
              <a:t>	相对运动的连接方式组成的构件</a:t>
            </a:r>
            <a:r>
              <a:rPr lang="zh-CN" altLang="en-US" b="1" dirty="0">
                <a:effectLst>
                  <a:outerShdw blurRad="38100" dist="38100" dir="2700000">
                    <a:srgbClr val="C0C0C0"/>
                  </a:outerShdw>
                </a:effectLst>
                <a:latin typeface="Times New Roman" panose="02020603050405020304" pitchFamily="18" charset="0"/>
                <a:sym typeface="+mn-ea"/>
              </a:rPr>
              <a:t>系统。</a:t>
            </a:r>
            <a:endParaRPr lang="zh-CN" altLang="en-US" b="1" dirty="0">
              <a:effectLst>
                <a:outerShdw blurRad="38100" dist="38100" dir="2700000">
                  <a:srgbClr val="C0C0C0"/>
                </a:outerShdw>
              </a:effectLst>
              <a:latin typeface="Times New Roman" panose="02020603050405020304" pitchFamily="18" charset="0"/>
            </a:endParaRPr>
          </a:p>
          <a:p>
            <a:pPr algn="l">
              <a:lnSpc>
                <a:spcPct val="120000"/>
              </a:lnSpc>
              <a:spcBef>
                <a:spcPts val="0"/>
              </a:spcBef>
              <a:spcAft>
                <a:spcPts val="0"/>
              </a:spcAft>
            </a:pPr>
            <a:r>
              <a:rPr lang="zh-CN" altLang="en-US" b="1" dirty="0">
                <a:effectLst>
                  <a:outerShdw blurRad="38100" dist="38100" dir="2700000">
                    <a:srgbClr val="C0C0C0"/>
                  </a:outerShdw>
                </a:effectLst>
                <a:latin typeface="Times New Roman" panose="02020603050405020304" pitchFamily="18" charset="0"/>
              </a:rPr>
              <a:t>           </a:t>
            </a:r>
            <a:r>
              <a:rPr lang="zh-CN" altLang="en-US" b="1" dirty="0">
                <a:solidFill>
                  <a:schemeClr val="bg1"/>
                </a:solidFill>
                <a:latin typeface="Times New Roman" panose="02020603050405020304" pitchFamily="18" charset="0"/>
              </a:rPr>
              <a:t> </a:t>
            </a:r>
            <a:r>
              <a:rPr lang="zh-CN" altLang="en-US" b="1" dirty="0">
                <a:latin typeface="Times New Roman" panose="02020603050405020304" pitchFamily="18" charset="0"/>
              </a:rPr>
              <a:t>如</a:t>
            </a:r>
            <a:r>
              <a:rPr lang="zh-CN" altLang="en-US" b="1" dirty="0">
                <a:latin typeface="Times New Roman" panose="02020603050405020304" pitchFamily="18" charset="0"/>
                <a:hlinkClick r:id="rId1" action="ppaction://program"/>
              </a:rPr>
              <a:t>：</a:t>
            </a:r>
            <a:r>
              <a:rPr lang="zh-CN" altLang="en-US" b="1" dirty="0">
                <a:solidFill>
                  <a:srgbClr val="FF0000"/>
                </a:solidFill>
                <a:latin typeface="Times New Roman" panose="02020603050405020304" pitchFamily="18" charset="0"/>
                <a:hlinkClick r:id="rId1" action="ppaction://program"/>
              </a:rPr>
              <a:t>连杆机构</a:t>
            </a:r>
            <a:r>
              <a:rPr lang="zh-CN" altLang="en-US" b="1" dirty="0">
                <a:solidFill>
                  <a:srgbClr val="FF0000"/>
                </a:solidFill>
                <a:latin typeface="Times New Roman" panose="02020603050405020304" pitchFamily="18" charset="0"/>
              </a:rPr>
              <a:t>、</a:t>
            </a:r>
            <a:r>
              <a:rPr lang="zh-CN" altLang="en-US" b="1" dirty="0">
                <a:solidFill>
                  <a:srgbClr val="FF0000"/>
                </a:solidFill>
                <a:latin typeface="Times New Roman" panose="02020603050405020304" pitchFamily="18" charset="0"/>
                <a:hlinkClick r:id="rId2" action="ppaction://program"/>
              </a:rPr>
              <a:t>凸轮机构</a:t>
            </a:r>
            <a:r>
              <a:rPr lang="zh-CN" altLang="en-US" b="1" dirty="0">
                <a:solidFill>
                  <a:srgbClr val="FF0000"/>
                </a:solidFill>
                <a:latin typeface="Times New Roman" panose="02020603050405020304" pitchFamily="18" charset="0"/>
              </a:rPr>
              <a:t>、    </a:t>
            </a:r>
            <a:r>
              <a:rPr lang="zh-CN" altLang="en-US" b="1" dirty="0">
                <a:solidFill>
                  <a:srgbClr val="FF0000"/>
                </a:solidFill>
                <a:latin typeface="Times New Roman" panose="02020603050405020304" pitchFamily="18" charset="0"/>
                <a:hlinkClick r:id="rId3" action="ppaction://program"/>
              </a:rPr>
              <a:t>齿轮机构</a:t>
            </a:r>
            <a:r>
              <a:rPr lang="zh-CN" altLang="en-US" b="1" dirty="0">
                <a:latin typeface="Times New Roman" panose="02020603050405020304" pitchFamily="18" charset="0"/>
              </a:rPr>
              <a:t>等。</a:t>
            </a:r>
            <a:r>
              <a:rPr lang="zh-CN" altLang="en-US" sz="1400" dirty="0">
                <a:solidFill>
                  <a:schemeClr val="accent1"/>
                </a:solidFill>
                <a:latin typeface="Times New Roman" panose="02020603050405020304" pitchFamily="18" charset="0"/>
              </a:rPr>
              <a:t>种类有限</a:t>
            </a:r>
            <a:endParaRPr lang="zh-CN" altLang="en-US" sz="1400" dirty="0">
              <a:solidFill>
                <a:schemeClr val="accent1"/>
              </a:solidFill>
              <a:latin typeface="Times New Roman" panose="02020603050405020304" pitchFamily="18" charset="0"/>
            </a:endParaRPr>
          </a:p>
        </p:txBody>
      </p:sp>
      <p:sp>
        <p:nvSpPr>
          <p:cNvPr id="7" name="文本框 6"/>
          <p:cNvSpPr txBox="1"/>
          <p:nvPr/>
        </p:nvSpPr>
        <p:spPr>
          <a:xfrm>
            <a:off x="299197" y="5019166"/>
            <a:ext cx="8445500" cy="1205865"/>
          </a:xfrm>
          <a:prstGeom prst="rect">
            <a:avLst/>
          </a:prstGeom>
          <a:noFill/>
          <a:ln w="28575">
            <a:noFill/>
          </a:ln>
        </p:spPr>
        <p:txBody>
          <a:bodyPr>
            <a:spAutoFit/>
          </a:bodyPr>
          <a:lstStyle/>
          <a:p>
            <a:pPr algn="l">
              <a:spcBef>
                <a:spcPct val="50000"/>
              </a:spcBef>
              <a:spcAft>
                <a:spcPts val="0"/>
              </a:spcAft>
            </a:pPr>
            <a:r>
              <a:rPr lang="en-US" altLang="zh-CN" sz="2800" b="1" dirty="0" smtClean="0">
                <a:solidFill>
                  <a:srgbClr val="FF0000"/>
                </a:solidFill>
                <a:latin typeface="Times New Roman" panose="02020603050405020304" pitchFamily="18" charset="0"/>
              </a:rPr>
              <a:t> </a:t>
            </a:r>
            <a:r>
              <a:rPr lang="zh-CN" altLang="en-US" sz="2800" b="1" dirty="0">
                <a:solidFill>
                  <a:srgbClr val="FF0000"/>
                </a:solidFill>
                <a:latin typeface="Times New Roman" panose="02020603050405020304" pitchFamily="18" charset="0"/>
              </a:rPr>
              <a:t>构件</a:t>
            </a:r>
            <a:r>
              <a:rPr lang="zh-CN" altLang="en-US" b="1" dirty="0">
                <a:solidFill>
                  <a:schemeClr val="hlink"/>
                </a:solidFill>
                <a:latin typeface="Times New Roman" panose="02020603050405020304" pitchFamily="18" charset="0"/>
              </a:rPr>
              <a:t>－</a:t>
            </a:r>
            <a:r>
              <a:rPr lang="zh-CN" altLang="en-US" sz="2800" b="1" dirty="0">
                <a:solidFill>
                  <a:srgbClr val="00FF00"/>
                </a:solidFill>
                <a:latin typeface="Times New Roman" panose="02020603050405020304" pitchFamily="18" charset="0"/>
              </a:rPr>
              <a:t> </a:t>
            </a:r>
            <a:r>
              <a:rPr lang="zh-CN" altLang="en-US" b="1" dirty="0">
                <a:latin typeface="Times New Roman" panose="02020603050405020304" pitchFamily="18" charset="0"/>
              </a:rPr>
              <a:t>组成机构的各个相对运动部分独立的运动单元</a:t>
            </a:r>
            <a:endParaRPr lang="zh-CN" altLang="en-US" b="1" dirty="0">
              <a:latin typeface="Times New Roman" panose="02020603050405020304" pitchFamily="18" charset="0"/>
            </a:endParaRPr>
          </a:p>
          <a:p>
            <a:pPr algn="l">
              <a:spcBef>
                <a:spcPts val="50"/>
              </a:spcBef>
            </a:pPr>
            <a:r>
              <a:rPr lang="zh-CN" altLang="en-US" b="1" dirty="0">
                <a:latin typeface="Times New Roman" panose="02020603050405020304" pitchFamily="18" charset="0"/>
              </a:rPr>
              <a:t>          它可以是单一的整体，也可以是由几个零件组成的刚性 	结构。    </a:t>
            </a:r>
            <a:endParaRPr lang="zh-CN" altLang="en-US" b="1" dirty="0">
              <a:latin typeface="Times New Roman" panose="02020603050405020304" pitchFamily="18" charset="0"/>
            </a:endParaRPr>
          </a:p>
        </p:txBody>
      </p:sp>
      <p:grpSp>
        <p:nvGrpSpPr>
          <p:cNvPr id="9" name="组合 1"/>
          <p:cNvGrpSpPr/>
          <p:nvPr/>
        </p:nvGrpSpPr>
        <p:grpSpPr>
          <a:xfrm>
            <a:off x="6393735" y="6030913"/>
            <a:ext cx="2630487" cy="827087"/>
            <a:chOff x="10088" y="9497"/>
            <a:chExt cx="4141" cy="1302"/>
          </a:xfrm>
        </p:grpSpPr>
        <p:sp>
          <p:nvSpPr>
            <p:cNvPr id="10" name="文本框 1073742869"/>
            <p:cNvSpPr txBox="1">
              <a:spLocks noChangeAspect="1"/>
            </p:cNvSpPr>
            <p:nvPr/>
          </p:nvSpPr>
          <p:spPr>
            <a:xfrm>
              <a:off x="11247" y="9745"/>
              <a:ext cx="2983" cy="479"/>
            </a:xfrm>
            <a:prstGeom prst="rect">
              <a:avLst/>
            </a:prstGeom>
            <a:noFill/>
            <a:ln w="9525">
              <a:noFill/>
            </a:ln>
          </p:spPr>
          <p:txBody>
            <a:bodyPr wrap="square" anchor="t"/>
            <a:lstStyle/>
            <a:p>
              <a:pPr algn="ctr"/>
              <a:r>
                <a:rPr lang="zh-CN" altLang="en-US" sz="1200" dirty="0">
                  <a:latin typeface="Times New Roman" panose="02020603050405020304" pitchFamily="18" charset="0"/>
                </a:rPr>
                <a:t>China University of Mining &amp; Technology-Beijing</a:t>
              </a:r>
              <a:endParaRPr lang="zh-CN" altLang="en-US" sz="1200" dirty="0">
                <a:latin typeface="Times New Roman" panose="02020603050405020304" pitchFamily="18" charset="0"/>
              </a:endParaRPr>
            </a:p>
            <a:p>
              <a:endParaRPr lang="zh-CN" altLang="en-US" sz="1200" dirty="0">
                <a:latin typeface="Times New Roman" panose="02020603050405020304" pitchFamily="18" charset="0"/>
              </a:endParaRPr>
            </a:p>
          </p:txBody>
        </p:sp>
        <p:pic>
          <p:nvPicPr>
            <p:cNvPr id="11" name="图片 1073742872" descr="44303071dc0a1f9688d599dbc999570副本"/>
            <p:cNvPicPr>
              <a:picLocks noChangeAspect="1"/>
            </p:cNvPicPr>
            <p:nvPr/>
          </p:nvPicPr>
          <p:blipFill>
            <a:blip r:embed="rId4"/>
            <a:stretch>
              <a:fillRect/>
            </a:stretch>
          </p:blipFill>
          <p:spPr>
            <a:xfrm>
              <a:off x="10088" y="9497"/>
              <a:ext cx="1435" cy="1303"/>
            </a:xfrm>
            <a:prstGeom prst="rect">
              <a:avLst/>
            </a:prstGeom>
            <a:noFill/>
            <a:ln w="9525">
              <a:noFill/>
            </a:ln>
          </p:spPr>
        </p:pic>
      </p:grpSp>
      <p:pic>
        <p:nvPicPr>
          <p:cNvPr id="2" name="图片 1"/>
          <p:cNvPicPr>
            <a:picLocks noChangeAspect="1"/>
          </p:cNvPicPr>
          <p:nvPr/>
        </p:nvPicPr>
        <p:blipFill>
          <a:blip r:embed="rId5"/>
          <a:srcRect t="10250" b="20750"/>
          <a:stretch>
            <a:fillRect/>
          </a:stretch>
        </p:blipFill>
        <p:spPr>
          <a:xfrm>
            <a:off x="194310" y="2586990"/>
            <a:ext cx="4572000" cy="2103120"/>
          </a:xfrm>
          <a:prstGeom prst="rect">
            <a:avLst/>
          </a:prstGeom>
        </p:spPr>
      </p:pic>
      <p:pic>
        <p:nvPicPr>
          <p:cNvPr id="4" name="图片 3"/>
          <p:cNvPicPr>
            <a:picLocks noChangeAspect="1"/>
          </p:cNvPicPr>
          <p:nvPr/>
        </p:nvPicPr>
        <p:blipFill>
          <a:blip r:embed="rId6"/>
          <a:stretch>
            <a:fillRect/>
          </a:stretch>
        </p:blipFill>
        <p:spPr>
          <a:xfrm>
            <a:off x="4867910" y="2536190"/>
            <a:ext cx="3398520" cy="2537460"/>
          </a:xfrm>
          <a:prstGeom prst="rect">
            <a:avLst/>
          </a:prstGeom>
        </p:spPr>
      </p:pic>
      <p:sp>
        <p:nvSpPr>
          <p:cNvPr id="293891" name="文本框 293890">
            <a:hlinkClick r:id="" action="ppaction://hlinkshowjump?jump=nextslide"/>
          </p:cNvPr>
          <p:cNvSpPr txBox="1"/>
          <p:nvPr/>
        </p:nvSpPr>
        <p:spPr>
          <a:xfrm>
            <a:off x="59055" y="155374"/>
            <a:ext cx="9144000" cy="645160"/>
          </a:xfrm>
          <a:prstGeom prst="rect">
            <a:avLst/>
          </a:prstGeom>
          <a:noFill/>
          <a:ln w="9525">
            <a:noFill/>
          </a:ln>
          <a:extLst>
            <a:ext uri="{909E8E84-426E-40DD-AFC4-6F175D3DCCD1}">
              <a14:hiddenFill xmlns:a14="http://schemas.microsoft.com/office/drawing/2010/main">
                <a:gradFill flip="none" rotWithShape="1">
                  <a:gsLst>
                    <a:gs pos="0">
                      <a:srgbClr val="FF6600">
                        <a:tint val="66000"/>
                        <a:satMod val="160000"/>
                      </a:srgbClr>
                    </a:gs>
                    <a:gs pos="50000">
                      <a:srgbClr val="FF6600">
                        <a:tint val="44500"/>
                        <a:satMod val="160000"/>
                      </a:srgbClr>
                    </a:gs>
                    <a:gs pos="100000">
                      <a:srgbClr val="FF6600">
                        <a:tint val="23500"/>
                        <a:satMod val="160000"/>
                      </a:srgbClr>
                    </a:gs>
                  </a:gsLst>
                  <a:lin ang="5400000" scaled="1"/>
                  <a:tileRect/>
                </a:gradFill>
              </a14:hiddenFill>
            </a:ext>
          </a:extLst>
        </p:spPr>
        <p:txBody>
          <a:bodyPr wrap="square">
            <a:spAutoFit/>
          </a:bodyPr>
          <a:p>
            <a:pPr algn="ctr">
              <a:spcBef>
                <a:spcPct val="50000"/>
              </a:spcBef>
            </a:pPr>
            <a:r>
              <a:rPr lang="zh-CN" altLang="en-US" sz="3600" b="1" dirty="0">
                <a:solidFill>
                  <a:schemeClr val="bg1"/>
                </a:solidFill>
                <a:latin typeface="黑体" panose="02010609060101010101" pitchFamily="49" charset="-122"/>
                <a:ea typeface="黑体" panose="02010609060101010101" pitchFamily="49" charset="-122"/>
              </a:rPr>
              <a:t> </a:t>
            </a:r>
            <a:r>
              <a:rPr lang="en-US" altLang="zh-CN" sz="3200" dirty="0" smtClean="0">
                <a:solidFill>
                  <a:srgbClr val="C00000"/>
                </a:solidFill>
                <a:latin typeface="黑体" panose="02010609060101010101" pitchFamily="49" charset="-122"/>
                <a:ea typeface="黑体" panose="02010609060101010101" pitchFamily="49" charset="-122"/>
              </a:rPr>
              <a:t>1.2-2 </a:t>
            </a:r>
            <a:r>
              <a:rPr lang="zh-CN" altLang="en-US" sz="3200" dirty="0" smtClean="0">
                <a:solidFill>
                  <a:srgbClr val="C00000"/>
                </a:solidFill>
                <a:latin typeface="黑体" panose="02010609060101010101" pitchFamily="49" charset="-122"/>
                <a:ea typeface="黑体" panose="02010609060101010101" pitchFamily="49" charset="-122"/>
              </a:rPr>
              <a:t>常用基本概念</a:t>
            </a:r>
            <a:endParaRPr lang="zh-CN" altLang="en-US" sz="3200" dirty="0" smtClean="0">
              <a:solidFill>
                <a:srgbClr val="C00000"/>
              </a:solidFill>
              <a:latin typeface="黑体" panose="02010609060101010101" pitchFamily="49" charset="-122"/>
              <a:ea typeface="黑体" panose="02010609060101010101" pitchFamily="49" charset="-122"/>
            </a:endParaRPr>
          </a:p>
        </p:txBody>
      </p:sp>
      <p:sp>
        <p:nvSpPr>
          <p:cNvPr id="5128"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98062"/>
                                        </p:tgtEl>
                                        <p:attrNameLst>
                                          <p:attrName>style.visibility</p:attrName>
                                        </p:attrNameLst>
                                      </p:cBhvr>
                                      <p:to>
                                        <p:strVal val="visible"/>
                                      </p:to>
                                    </p:set>
                                    <p:animEffect transition="in" filter="blinds(vertical)">
                                      <p:cBhvr>
                                        <p:cTn id="7" dur="500"/>
                                        <p:tgtEl>
                                          <p:spTgt spid="29806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93891"/>
                                        </p:tgtEl>
                                        <p:attrNameLst>
                                          <p:attrName>style.visibility</p:attrName>
                                        </p:attrNameLst>
                                      </p:cBhvr>
                                      <p:to>
                                        <p:strVal val="visible"/>
                                      </p:to>
                                    </p:set>
                                    <p:animEffect transition="in" filter="blinds(horizontal)">
                                      <p:cBhvr>
                                        <p:cTn id="27" dur="500"/>
                                        <p:tgtEl>
                                          <p:spTgt spid="2938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8062" grpId="0"/>
      <p:bldP spid="7" grpId="0"/>
      <p:bldP spid="293891"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9035" name="图片 194573" descr="12-4(1)轴-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68738" y="3273743"/>
            <a:ext cx="3892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9025" name="图片 194561" descr="12-4(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1308" y="2688590"/>
            <a:ext cx="8032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9028" name="图片 194565" descr="12-4(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9193" y="2370455"/>
            <a:ext cx="2555875" cy="286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11"/>
          <p:cNvSpPr>
            <a:spLocks noGrp="1"/>
          </p:cNvSpPr>
          <p:nvPr>
            <p:ph type="title"/>
          </p:nvPr>
        </p:nvSpPr>
        <p:spPr>
          <a:xfrm>
            <a:off x="7101840" y="792480"/>
            <a:ext cx="1371600" cy="381000"/>
          </a:xfrm>
          <a:prstGeom prst="rect">
            <a:avLst/>
          </a:prstGeom>
          <a:noFill/>
          <a:ln w="9525">
            <a:noFill/>
          </a:ln>
        </p:spPr>
        <p:txBody>
          <a:bodyPr/>
          <a:p>
            <a:pPr eaLnBrk="1" hangingPunct="1">
              <a:spcAft>
                <a:spcPts val="0"/>
              </a:spcAft>
            </a:pPr>
            <a:r>
              <a:rPr lang="zh-CN" altLang="en-US" sz="800" dirty="0">
                <a:solidFill>
                  <a:schemeClr val="bg1"/>
                </a:solidFill>
                <a:latin typeface="楷体_GB2312" pitchFamily="49" charset="-122"/>
                <a:ea typeface="楷体_GB2312" pitchFamily="49" charset="-122"/>
              </a:rPr>
              <a:t>设计机器的一般程序</a:t>
            </a:r>
            <a:endParaRPr lang="zh-CN" altLang="en-US" sz="800" dirty="0">
              <a:solidFill>
                <a:schemeClr val="bg1"/>
              </a:solidFill>
              <a:latin typeface="楷体_GB2312" pitchFamily="49" charset="-122"/>
              <a:ea typeface="楷体_GB2312" pitchFamily="49" charset="-122"/>
            </a:endParaRPr>
          </a:p>
        </p:txBody>
      </p:sp>
      <p:sp>
        <p:nvSpPr>
          <p:cNvPr id="25629" name="Text Box 29"/>
          <p:cNvSpPr txBox="1"/>
          <p:nvPr/>
        </p:nvSpPr>
        <p:spPr>
          <a:xfrm>
            <a:off x="5470525" y="6234113"/>
            <a:ext cx="271463" cy="427037"/>
          </a:xfrm>
          <a:prstGeom prst="rect">
            <a:avLst/>
          </a:prstGeom>
          <a:noFill/>
          <a:ln w="9525">
            <a:noFill/>
          </a:ln>
        </p:spPr>
        <p:txBody>
          <a:bodyPr wrap="none">
            <a:spAutoFit/>
          </a:bodyPr>
          <a:p>
            <a:pPr eaLnBrk="1" hangingPunct="1"/>
            <a:r>
              <a:rPr lang="en-US" altLang="zh-CN" dirty="0">
                <a:latin typeface="Tahoma" panose="020B0604030504040204" pitchFamily="34" charset="0"/>
              </a:rPr>
              <a:t> </a:t>
            </a:r>
            <a:endParaRPr lang="en-US" altLang="zh-CN" dirty="0">
              <a:latin typeface="Tahoma" panose="020B0604030504040204" pitchFamily="34" charset="0"/>
            </a:endParaRPr>
          </a:p>
        </p:txBody>
      </p:sp>
      <p:sp>
        <p:nvSpPr>
          <p:cNvPr id="2" name="文本框 1"/>
          <p:cNvSpPr txBox="1"/>
          <p:nvPr/>
        </p:nvSpPr>
        <p:spPr>
          <a:xfrm>
            <a:off x="584200" y="4568825"/>
            <a:ext cx="8347075" cy="2122805"/>
          </a:xfrm>
          <a:prstGeom prst="rect">
            <a:avLst/>
          </a:prstGeom>
          <a:noFill/>
          <a:ln w="9525">
            <a:noFill/>
          </a:ln>
        </p:spPr>
        <p:txBody>
          <a:bodyPr>
            <a:spAutoFit/>
          </a:bodyPr>
          <a:p>
            <a:pPr algn="l">
              <a:lnSpc>
                <a:spcPct val="150000"/>
              </a:lnSpc>
              <a:spcAft>
                <a:spcPts val="0"/>
              </a:spcAft>
            </a:pPr>
            <a:r>
              <a:rPr lang="en-US" altLang="zh-CN" dirty="0">
                <a:latin typeface="Tahoma" panose="020B0604030504040204" pitchFamily="34" charset="0"/>
              </a:rPr>
              <a:t>      </a:t>
            </a:r>
            <a:r>
              <a:rPr lang="en-US" altLang="zh-CN" dirty="0">
                <a:latin typeface="黑体" panose="02010609060101010101" pitchFamily="49" charset="-122"/>
                <a:ea typeface="黑体" panose="02010609060101010101" pitchFamily="49" charset="-122"/>
                <a:cs typeface="黑体" panose="02010609060101010101" pitchFamily="49" charset="-122"/>
              </a:rPr>
              <a:t> </a:t>
            </a:r>
            <a:r>
              <a:rPr lang="zh-CN" altLang="en-US" dirty="0">
                <a:latin typeface="黑体" panose="02010609060101010101" pitchFamily="49" charset="-122"/>
                <a:ea typeface="黑体" panose="02010609060101010101" pitchFamily="49" charset="-122"/>
                <a:cs typeface="黑体" panose="02010609060101010101" pitchFamily="49" charset="-122"/>
              </a:rPr>
              <a:t>例如</a:t>
            </a:r>
            <a:r>
              <a:rPr lang="zh-CN" altLang="zh-CN" dirty="0">
                <a:latin typeface="黑体" panose="02010609060101010101" pitchFamily="49" charset="-122"/>
                <a:ea typeface="黑体" panose="02010609060101010101" pitchFamily="49" charset="-122"/>
                <a:cs typeface="黑体" panose="02010609060101010101" pitchFamily="49" charset="-122"/>
              </a:rPr>
              <a:t>齿轮机构中的齿轮一般就是由</a:t>
            </a:r>
            <a:r>
              <a:rPr lang="zh-CN" altLang="zh-CN" dirty="0">
                <a:solidFill>
                  <a:srgbClr val="FF0000"/>
                </a:solidFill>
                <a:latin typeface="黑体" panose="02010609060101010101" pitchFamily="49" charset="-122"/>
                <a:ea typeface="黑体" panose="02010609060101010101" pitchFamily="49" charset="-122"/>
                <a:cs typeface="黑体" panose="02010609060101010101" pitchFamily="49" charset="-122"/>
              </a:rPr>
              <a:t>键</a:t>
            </a:r>
            <a:r>
              <a:rPr lang="zh-CN" altLang="zh-CN" dirty="0">
                <a:latin typeface="黑体" panose="02010609060101010101" pitchFamily="49" charset="-122"/>
                <a:ea typeface="黑体" panose="02010609060101010101" pitchFamily="49" charset="-122"/>
                <a:cs typeface="黑体" panose="02010609060101010101" pitchFamily="49" charset="-122"/>
              </a:rPr>
              <a:t>与</a:t>
            </a:r>
            <a:r>
              <a:rPr lang="zh-CN" altLang="zh-CN" dirty="0">
                <a:solidFill>
                  <a:srgbClr val="FF0000"/>
                </a:solidFill>
                <a:latin typeface="黑体" panose="02010609060101010101" pitchFamily="49" charset="-122"/>
                <a:ea typeface="黑体" panose="02010609060101010101" pitchFamily="49" charset="-122"/>
                <a:cs typeface="黑体" panose="02010609060101010101" pitchFamily="49" charset="-122"/>
              </a:rPr>
              <a:t>轴</a:t>
            </a:r>
            <a:r>
              <a:rPr lang="zh-CN" altLang="zh-CN" dirty="0">
                <a:latin typeface="黑体" panose="02010609060101010101" pitchFamily="49" charset="-122"/>
                <a:ea typeface="黑体" panose="02010609060101010101" pitchFamily="49" charset="-122"/>
                <a:cs typeface="黑体" panose="02010609060101010101" pitchFamily="49" charset="-122"/>
              </a:rPr>
              <a:t>刚性连接在一起的</a:t>
            </a:r>
            <a:r>
              <a:rPr lang="zh-CN" altLang="en-US" dirty="0">
                <a:latin typeface="黑体" panose="02010609060101010101" pitchFamily="49" charset="-122"/>
                <a:ea typeface="黑体" panose="02010609060101010101" pitchFamily="49" charset="-122"/>
                <a:cs typeface="黑体" panose="02010609060101010101" pitchFamily="49" charset="-122"/>
              </a:rPr>
              <a:t>，</a:t>
            </a:r>
            <a:r>
              <a:rPr lang="zh-CN" altLang="zh-CN" dirty="0">
                <a:latin typeface="黑体" panose="02010609060101010101" pitchFamily="49" charset="-122"/>
                <a:ea typeface="黑体" panose="02010609060101010101" pitchFamily="49" charset="-122"/>
                <a:cs typeface="黑体" panose="02010609060101010101" pitchFamily="49" charset="-122"/>
              </a:rPr>
              <a:t>键、轴和齿轮之间便无相对运动，而成为一个运动的整体，也就是一个</a:t>
            </a:r>
            <a:r>
              <a:rPr lang="zh-CN" altLang="zh-CN" dirty="0">
                <a:solidFill>
                  <a:srgbClr val="FF0000"/>
                </a:solidFill>
                <a:latin typeface="黑体" panose="02010609060101010101" pitchFamily="49" charset="-122"/>
                <a:ea typeface="黑体" panose="02010609060101010101" pitchFamily="49" charset="-122"/>
                <a:cs typeface="黑体" panose="02010609060101010101" pitchFamily="49" charset="-122"/>
              </a:rPr>
              <a:t>构件</a:t>
            </a:r>
            <a:r>
              <a:rPr lang="zh-CN" altLang="zh-CN" dirty="0">
                <a:latin typeface="黑体" panose="02010609060101010101" pitchFamily="49" charset="-122"/>
                <a:ea typeface="黑体" panose="02010609060101010101" pitchFamily="49" charset="-122"/>
                <a:cs typeface="黑体" panose="02010609060101010101" pitchFamily="49" charset="-122"/>
              </a:rPr>
              <a:t>。</a:t>
            </a:r>
            <a:endParaRPr lang="zh-CN" altLang="zh-CN" dirty="0">
              <a:latin typeface="黑体" panose="02010609060101010101" pitchFamily="49" charset="-122"/>
              <a:ea typeface="黑体" panose="02010609060101010101" pitchFamily="49" charset="-122"/>
              <a:cs typeface="黑体" panose="02010609060101010101" pitchFamily="49" charset="-122"/>
            </a:endParaRPr>
          </a:p>
          <a:p>
            <a:pPr algn="l"/>
            <a:endParaRPr lang="zh-CN" altLang="zh-CN" dirty="0">
              <a:latin typeface="黑体" panose="02010609060101010101" pitchFamily="49" charset="-122"/>
              <a:ea typeface="黑体" panose="02010609060101010101" pitchFamily="49" charset="-122"/>
              <a:cs typeface="黑体" panose="02010609060101010101" pitchFamily="49" charset="-122"/>
            </a:endParaRPr>
          </a:p>
        </p:txBody>
      </p:sp>
      <p:pic>
        <p:nvPicPr>
          <p:cNvPr id="13" name="Picture 4" descr="rewind1">
            <a:hlinkClick r:id="rId1" action="ppaction://hlinksldjump"/>
          </p:cNvPr>
          <p:cNvPicPr>
            <a:picLocks noChangeAspect="1"/>
          </p:cNvPicPr>
          <p:nvPr/>
        </p:nvPicPr>
        <p:blipFill>
          <a:blip r:embed="rId2"/>
          <a:stretch>
            <a:fillRect/>
          </a:stretch>
        </p:blipFill>
        <p:spPr>
          <a:xfrm>
            <a:off x="7935913" y="6516688"/>
            <a:ext cx="287337" cy="287337"/>
          </a:xfrm>
          <a:prstGeom prst="rect">
            <a:avLst/>
          </a:prstGeom>
          <a:noFill/>
          <a:ln w="9525">
            <a:noFill/>
          </a:ln>
        </p:spPr>
      </p:pic>
      <p:pic>
        <p:nvPicPr>
          <p:cNvPr id="14" name="Picture 5" descr="back1">
            <a:hlinkClick r:id="" action="ppaction://hlinkshowjump?jump=previousslide"/>
          </p:cNvPr>
          <p:cNvPicPr>
            <a:picLocks noChangeAspect="1"/>
          </p:cNvPicPr>
          <p:nvPr/>
        </p:nvPicPr>
        <p:blipFill>
          <a:blip r:embed="rId3"/>
          <a:stretch>
            <a:fillRect/>
          </a:stretch>
        </p:blipFill>
        <p:spPr>
          <a:xfrm>
            <a:off x="8343900" y="6516688"/>
            <a:ext cx="287338" cy="287337"/>
          </a:xfrm>
          <a:prstGeom prst="rect">
            <a:avLst/>
          </a:prstGeom>
          <a:noFill/>
          <a:ln w="9525">
            <a:noFill/>
          </a:ln>
        </p:spPr>
      </p:pic>
      <p:pic>
        <p:nvPicPr>
          <p:cNvPr id="15" name="Picture 6" descr="NEXT1">
            <a:hlinkClick r:id="" action="ppaction://hlinkshowjump?jump=nextslide"/>
          </p:cNvPr>
          <p:cNvPicPr>
            <a:picLocks noChangeAspect="1"/>
          </p:cNvPicPr>
          <p:nvPr/>
        </p:nvPicPr>
        <p:blipFill>
          <a:blip r:embed="rId4"/>
          <a:stretch>
            <a:fillRect/>
          </a:stretch>
        </p:blipFill>
        <p:spPr>
          <a:xfrm>
            <a:off x="8753475" y="6516688"/>
            <a:ext cx="287338" cy="287337"/>
          </a:xfrm>
          <a:prstGeom prst="rect">
            <a:avLst/>
          </a:prstGeom>
          <a:noFill/>
          <a:ln w="9525">
            <a:noFill/>
          </a:ln>
        </p:spPr>
      </p:pic>
      <p:grpSp>
        <p:nvGrpSpPr>
          <p:cNvPr id="150530" name="组合 150529"/>
          <p:cNvGrpSpPr/>
          <p:nvPr/>
        </p:nvGrpSpPr>
        <p:grpSpPr bwMode="auto">
          <a:xfrm>
            <a:off x="2025509" y="1115452"/>
            <a:ext cx="5353050" cy="2847975"/>
            <a:chOff x="228" y="2274"/>
            <a:chExt cx="3372" cy="1794"/>
          </a:xfrm>
        </p:grpSpPr>
        <p:grpSp>
          <p:nvGrpSpPr>
            <p:cNvPr id="70658" name="组合 150530"/>
            <p:cNvGrpSpPr/>
            <p:nvPr/>
          </p:nvGrpSpPr>
          <p:grpSpPr bwMode="auto">
            <a:xfrm>
              <a:off x="228" y="2396"/>
              <a:ext cx="1083" cy="1594"/>
              <a:chOff x="228" y="2360"/>
              <a:chExt cx="1083" cy="1558"/>
            </a:xfrm>
          </p:grpSpPr>
          <p:sp>
            <p:nvSpPr>
              <p:cNvPr id="70659" name="直接连接符 150531"/>
              <p:cNvSpPr>
                <a:spLocks noChangeShapeType="1"/>
              </p:cNvSpPr>
              <p:nvPr/>
            </p:nvSpPr>
            <p:spPr bwMode="auto">
              <a:xfrm flipV="1">
                <a:off x="235" y="3133"/>
                <a:ext cx="1076" cy="0"/>
              </a:xfrm>
              <a:prstGeom prst="line">
                <a:avLst/>
              </a:prstGeom>
              <a:noFill/>
              <a:ln w="12700">
                <a:solidFill>
                  <a:schemeClr val="accent2"/>
                </a:solidFill>
                <a:prstDash val="lgDashDot"/>
                <a:round/>
              </a:ln>
              <a:extLst>
                <a:ext uri="{909E8E84-426E-40DD-AFC4-6F175D3DCCD1}">
                  <a14:hiddenFill xmlns:a14="http://schemas.microsoft.com/office/drawing/2010/main">
                    <a:noFill/>
                  </a14:hiddenFill>
                </a:ext>
              </a:extLst>
            </p:spPr>
            <p:txBody>
              <a:bodyPr/>
              <a:lstStyle/>
              <a:p>
                <a:endParaRPr lang="zh-CN" altLang="en-US"/>
              </a:p>
            </p:txBody>
          </p:sp>
          <p:sp>
            <p:nvSpPr>
              <p:cNvPr id="70660" name="任意多边形 150532"/>
              <p:cNvSpPr>
                <a:spLocks noChangeArrowheads="1"/>
              </p:cNvSpPr>
              <p:nvPr/>
            </p:nvSpPr>
            <p:spPr bwMode="auto">
              <a:xfrm>
                <a:off x="331" y="3139"/>
                <a:ext cx="39" cy="330"/>
              </a:xfrm>
              <a:custGeom>
                <a:avLst/>
                <a:gdLst>
                  <a:gd name="T0" fmla="*/ 32 w 32"/>
                  <a:gd name="T1" fmla="*/ 0 h 295"/>
                  <a:gd name="T2" fmla="*/ 32 w 32"/>
                  <a:gd name="T3" fmla="*/ 106 h 295"/>
                  <a:gd name="T4" fmla="*/ 32 w 32"/>
                  <a:gd name="T5" fmla="*/ 260 h 295"/>
                  <a:gd name="T6" fmla="*/ 0 w 32"/>
                  <a:gd name="T7" fmla="*/ 295 h 295"/>
                </a:gdLst>
                <a:ahLst/>
                <a:cxnLst>
                  <a:cxn ang="0">
                    <a:pos x="T0" y="T1"/>
                  </a:cxn>
                  <a:cxn ang="0">
                    <a:pos x="T2" y="T3"/>
                  </a:cxn>
                  <a:cxn ang="0">
                    <a:pos x="T4" y="T5"/>
                  </a:cxn>
                  <a:cxn ang="0">
                    <a:pos x="T6" y="T7"/>
                  </a:cxn>
                </a:cxnLst>
                <a:rect l="0" t="0" r="r" b="b"/>
                <a:pathLst>
                  <a:path w="32" h="295">
                    <a:moveTo>
                      <a:pt x="32" y="0"/>
                    </a:moveTo>
                    <a:cubicBezTo>
                      <a:pt x="32" y="35"/>
                      <a:pt x="32" y="71"/>
                      <a:pt x="32" y="106"/>
                    </a:cubicBezTo>
                    <a:lnTo>
                      <a:pt x="32" y="260"/>
                    </a:lnTo>
                    <a:lnTo>
                      <a:pt x="0" y="295"/>
                    </a:lnTo>
                  </a:path>
                </a:pathLst>
              </a:custGeom>
              <a:noFill/>
              <a:ln w="28575">
                <a:solidFill>
                  <a:schemeClr val="accent2"/>
                </a:solidFill>
                <a:rou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0661" name="任意多边形 150533"/>
              <p:cNvSpPr>
                <a:spLocks noChangeArrowheads="1"/>
              </p:cNvSpPr>
              <p:nvPr/>
            </p:nvSpPr>
            <p:spPr bwMode="auto">
              <a:xfrm flipH="1">
                <a:off x="1194" y="3133"/>
                <a:ext cx="39" cy="331"/>
              </a:xfrm>
              <a:custGeom>
                <a:avLst/>
                <a:gdLst>
                  <a:gd name="T0" fmla="*/ 32 w 32"/>
                  <a:gd name="T1" fmla="*/ 0 h 295"/>
                  <a:gd name="T2" fmla="*/ 32 w 32"/>
                  <a:gd name="T3" fmla="*/ 106 h 295"/>
                  <a:gd name="T4" fmla="*/ 32 w 32"/>
                  <a:gd name="T5" fmla="*/ 260 h 295"/>
                  <a:gd name="T6" fmla="*/ 0 w 32"/>
                  <a:gd name="T7" fmla="*/ 295 h 295"/>
                </a:gdLst>
                <a:ahLst/>
                <a:cxnLst>
                  <a:cxn ang="0">
                    <a:pos x="T0" y="T1"/>
                  </a:cxn>
                  <a:cxn ang="0">
                    <a:pos x="T2" y="T3"/>
                  </a:cxn>
                  <a:cxn ang="0">
                    <a:pos x="T4" y="T5"/>
                  </a:cxn>
                  <a:cxn ang="0">
                    <a:pos x="T6" y="T7"/>
                  </a:cxn>
                </a:cxnLst>
                <a:rect l="0" t="0" r="r" b="b"/>
                <a:pathLst>
                  <a:path w="32" h="295">
                    <a:moveTo>
                      <a:pt x="32" y="0"/>
                    </a:moveTo>
                    <a:cubicBezTo>
                      <a:pt x="32" y="35"/>
                      <a:pt x="32" y="71"/>
                      <a:pt x="32" y="106"/>
                    </a:cubicBezTo>
                    <a:lnTo>
                      <a:pt x="32" y="260"/>
                    </a:lnTo>
                    <a:lnTo>
                      <a:pt x="0" y="295"/>
                    </a:lnTo>
                  </a:path>
                </a:pathLst>
              </a:custGeom>
              <a:noFill/>
              <a:ln w="28575">
                <a:solidFill>
                  <a:schemeClr val="accent2"/>
                </a:solidFill>
                <a:rou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0662" name="直接连接符 150534"/>
              <p:cNvSpPr>
                <a:spLocks noChangeShapeType="1"/>
              </p:cNvSpPr>
              <p:nvPr/>
            </p:nvSpPr>
            <p:spPr bwMode="auto">
              <a:xfrm>
                <a:off x="377" y="3423"/>
                <a:ext cx="823" cy="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663" name="任意多边形 150535"/>
              <p:cNvSpPr>
                <a:spLocks noChangeArrowheads="1"/>
              </p:cNvSpPr>
              <p:nvPr/>
            </p:nvSpPr>
            <p:spPr bwMode="auto">
              <a:xfrm flipV="1">
                <a:off x="327" y="3133"/>
                <a:ext cx="911" cy="785"/>
              </a:xfrm>
              <a:custGeom>
                <a:avLst/>
                <a:gdLst>
                  <a:gd name="T0" fmla="*/ 0 w 740"/>
                  <a:gd name="T1" fmla="*/ 700 h 700"/>
                  <a:gd name="T2" fmla="*/ 0 w 740"/>
                  <a:gd name="T3" fmla="*/ 44 h 700"/>
                  <a:gd name="T4" fmla="*/ 44 w 740"/>
                  <a:gd name="T5" fmla="*/ 0 h 700"/>
                  <a:gd name="T6" fmla="*/ 700 w 740"/>
                  <a:gd name="T7" fmla="*/ 0 h 700"/>
                  <a:gd name="T8" fmla="*/ 740 w 740"/>
                  <a:gd name="T9" fmla="*/ 40 h 700"/>
                  <a:gd name="T10" fmla="*/ 740 w 740"/>
                  <a:gd name="T11" fmla="*/ 692 h 700"/>
                </a:gdLst>
                <a:ahLst/>
                <a:cxnLst>
                  <a:cxn ang="0">
                    <a:pos x="T0" y="T1"/>
                  </a:cxn>
                  <a:cxn ang="0">
                    <a:pos x="T2" y="T3"/>
                  </a:cxn>
                  <a:cxn ang="0">
                    <a:pos x="T4" y="T5"/>
                  </a:cxn>
                  <a:cxn ang="0">
                    <a:pos x="T6" y="T7"/>
                  </a:cxn>
                  <a:cxn ang="0">
                    <a:pos x="T8" y="T9"/>
                  </a:cxn>
                  <a:cxn ang="0">
                    <a:pos x="T10" y="T11"/>
                  </a:cxn>
                </a:cxnLst>
                <a:rect l="0" t="0" r="r" b="b"/>
                <a:pathLst>
                  <a:path w="740" h="700">
                    <a:moveTo>
                      <a:pt x="0" y="700"/>
                    </a:moveTo>
                    <a:lnTo>
                      <a:pt x="0" y="44"/>
                    </a:lnTo>
                    <a:lnTo>
                      <a:pt x="44" y="0"/>
                    </a:lnTo>
                    <a:lnTo>
                      <a:pt x="700" y="0"/>
                    </a:lnTo>
                    <a:lnTo>
                      <a:pt x="740" y="40"/>
                    </a:lnTo>
                    <a:lnTo>
                      <a:pt x="740" y="692"/>
                    </a:lnTo>
                  </a:path>
                </a:pathLst>
              </a:custGeom>
              <a:noFill/>
              <a:ln w="285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grpSp>
            <p:nvGrpSpPr>
              <p:cNvPr id="70664" name="组合 150536"/>
              <p:cNvGrpSpPr/>
              <p:nvPr/>
            </p:nvGrpSpPr>
            <p:grpSpPr bwMode="auto">
              <a:xfrm>
                <a:off x="328" y="3424"/>
                <a:ext cx="913" cy="387"/>
                <a:chOff x="328" y="3424"/>
                <a:chExt cx="913" cy="387"/>
              </a:xfrm>
            </p:grpSpPr>
            <p:sp>
              <p:nvSpPr>
                <p:cNvPr id="70665" name="直接连接符 150537"/>
                <p:cNvSpPr>
                  <a:spLocks noChangeShapeType="1"/>
                </p:cNvSpPr>
                <p:nvPr/>
              </p:nvSpPr>
              <p:spPr bwMode="auto">
                <a:xfrm flipH="1" flipV="1">
                  <a:off x="1081" y="3434"/>
                  <a:ext cx="146" cy="183"/>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666" name="直接连接符 150538"/>
                <p:cNvSpPr>
                  <a:spLocks noChangeShapeType="1"/>
                </p:cNvSpPr>
                <p:nvPr/>
              </p:nvSpPr>
              <p:spPr bwMode="auto">
                <a:xfrm flipH="1" flipV="1">
                  <a:off x="950" y="3424"/>
                  <a:ext cx="276" cy="384"/>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667" name="直接连接符 150539"/>
                <p:cNvSpPr>
                  <a:spLocks noChangeShapeType="1"/>
                </p:cNvSpPr>
                <p:nvPr/>
              </p:nvSpPr>
              <p:spPr bwMode="auto">
                <a:xfrm flipH="1" flipV="1">
                  <a:off x="878" y="3430"/>
                  <a:ext cx="279" cy="381"/>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668" name="直接连接符 150540"/>
                <p:cNvSpPr>
                  <a:spLocks noChangeShapeType="1"/>
                </p:cNvSpPr>
                <p:nvPr/>
              </p:nvSpPr>
              <p:spPr bwMode="auto">
                <a:xfrm flipH="1" flipV="1">
                  <a:off x="804" y="3428"/>
                  <a:ext cx="273" cy="377"/>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669" name="直接连接符 150541"/>
                <p:cNvSpPr>
                  <a:spLocks noChangeShapeType="1"/>
                </p:cNvSpPr>
                <p:nvPr/>
              </p:nvSpPr>
              <p:spPr bwMode="auto">
                <a:xfrm flipH="1" flipV="1">
                  <a:off x="721" y="3431"/>
                  <a:ext cx="286" cy="373"/>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670" name="直接连接符 150542"/>
                <p:cNvSpPr>
                  <a:spLocks noChangeShapeType="1"/>
                </p:cNvSpPr>
                <p:nvPr/>
              </p:nvSpPr>
              <p:spPr bwMode="auto">
                <a:xfrm flipH="1" flipV="1">
                  <a:off x="637" y="3424"/>
                  <a:ext cx="296" cy="380"/>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671" name="直接连接符 150543"/>
                <p:cNvSpPr>
                  <a:spLocks noChangeShapeType="1"/>
                </p:cNvSpPr>
                <p:nvPr/>
              </p:nvSpPr>
              <p:spPr bwMode="auto">
                <a:xfrm flipH="1" flipV="1">
                  <a:off x="494" y="3436"/>
                  <a:ext cx="286" cy="371"/>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672" name="直接连接符 150544"/>
                <p:cNvSpPr>
                  <a:spLocks noChangeShapeType="1"/>
                </p:cNvSpPr>
                <p:nvPr/>
              </p:nvSpPr>
              <p:spPr bwMode="auto">
                <a:xfrm flipH="1" flipV="1">
                  <a:off x="565" y="3431"/>
                  <a:ext cx="282" cy="367"/>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673" name="直接连接符 150545"/>
                <p:cNvSpPr>
                  <a:spLocks noChangeShapeType="1"/>
                </p:cNvSpPr>
                <p:nvPr/>
              </p:nvSpPr>
              <p:spPr bwMode="auto">
                <a:xfrm flipH="1" flipV="1">
                  <a:off x="415" y="3428"/>
                  <a:ext cx="284" cy="372"/>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674" name="直接连接符 150546"/>
                <p:cNvSpPr>
                  <a:spLocks noChangeShapeType="1"/>
                </p:cNvSpPr>
                <p:nvPr/>
              </p:nvSpPr>
              <p:spPr bwMode="auto">
                <a:xfrm flipH="1" flipV="1">
                  <a:off x="359" y="3450"/>
                  <a:ext cx="266" cy="355"/>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675" name="直接连接符 150547"/>
                <p:cNvSpPr>
                  <a:spLocks noChangeShapeType="1"/>
                </p:cNvSpPr>
                <p:nvPr/>
              </p:nvSpPr>
              <p:spPr bwMode="auto">
                <a:xfrm flipH="1" flipV="1">
                  <a:off x="1018" y="3424"/>
                  <a:ext cx="216" cy="297"/>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676" name="直接连接符 150548"/>
                <p:cNvSpPr>
                  <a:spLocks noChangeShapeType="1"/>
                </p:cNvSpPr>
                <p:nvPr/>
              </p:nvSpPr>
              <p:spPr bwMode="auto">
                <a:xfrm flipH="1" flipV="1">
                  <a:off x="333" y="3506"/>
                  <a:ext cx="223" cy="298"/>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677" name="直接连接符 150549"/>
                <p:cNvSpPr>
                  <a:spLocks noChangeShapeType="1"/>
                </p:cNvSpPr>
                <p:nvPr/>
              </p:nvSpPr>
              <p:spPr bwMode="auto">
                <a:xfrm flipH="1" flipV="1">
                  <a:off x="1136" y="3431"/>
                  <a:ext cx="105" cy="120"/>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678" name="直接连接符 150550"/>
                <p:cNvSpPr>
                  <a:spLocks noChangeShapeType="1"/>
                </p:cNvSpPr>
                <p:nvPr/>
              </p:nvSpPr>
              <p:spPr bwMode="auto">
                <a:xfrm flipH="1" flipV="1">
                  <a:off x="328" y="3596"/>
                  <a:ext cx="155" cy="207"/>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679" name="直接连接符 150551"/>
                <p:cNvSpPr>
                  <a:spLocks noChangeShapeType="1"/>
                </p:cNvSpPr>
                <p:nvPr/>
              </p:nvSpPr>
              <p:spPr bwMode="auto">
                <a:xfrm flipH="1" flipV="1">
                  <a:off x="328" y="3690"/>
                  <a:ext cx="86" cy="115"/>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0680" name="直接连接符 150552"/>
              <p:cNvSpPr>
                <a:spLocks noChangeShapeType="1"/>
              </p:cNvSpPr>
              <p:nvPr/>
            </p:nvSpPr>
            <p:spPr bwMode="auto">
              <a:xfrm>
                <a:off x="332" y="3806"/>
                <a:ext cx="906" cy="2"/>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681" name="任意多边形 150553"/>
              <p:cNvSpPr>
                <a:spLocks noChangeArrowheads="1"/>
              </p:cNvSpPr>
              <p:nvPr/>
            </p:nvSpPr>
            <p:spPr bwMode="auto">
              <a:xfrm flipV="1">
                <a:off x="330" y="2808"/>
                <a:ext cx="40" cy="331"/>
              </a:xfrm>
              <a:custGeom>
                <a:avLst/>
                <a:gdLst>
                  <a:gd name="T0" fmla="*/ 32 w 32"/>
                  <a:gd name="T1" fmla="*/ 0 h 295"/>
                  <a:gd name="T2" fmla="*/ 32 w 32"/>
                  <a:gd name="T3" fmla="*/ 106 h 295"/>
                  <a:gd name="T4" fmla="*/ 32 w 32"/>
                  <a:gd name="T5" fmla="*/ 260 h 295"/>
                  <a:gd name="T6" fmla="*/ 0 w 32"/>
                  <a:gd name="T7" fmla="*/ 295 h 295"/>
                </a:gdLst>
                <a:ahLst/>
                <a:cxnLst>
                  <a:cxn ang="0">
                    <a:pos x="T0" y="T1"/>
                  </a:cxn>
                  <a:cxn ang="0">
                    <a:pos x="T2" y="T3"/>
                  </a:cxn>
                  <a:cxn ang="0">
                    <a:pos x="T4" y="T5"/>
                  </a:cxn>
                  <a:cxn ang="0">
                    <a:pos x="T6" y="T7"/>
                  </a:cxn>
                </a:cxnLst>
                <a:rect l="0" t="0" r="r" b="b"/>
                <a:pathLst>
                  <a:path w="32" h="295">
                    <a:moveTo>
                      <a:pt x="32" y="0"/>
                    </a:moveTo>
                    <a:cubicBezTo>
                      <a:pt x="32" y="35"/>
                      <a:pt x="32" y="71"/>
                      <a:pt x="32" y="106"/>
                    </a:cubicBezTo>
                    <a:lnTo>
                      <a:pt x="32" y="260"/>
                    </a:lnTo>
                    <a:lnTo>
                      <a:pt x="0" y="295"/>
                    </a:lnTo>
                  </a:path>
                </a:pathLst>
              </a:custGeom>
              <a:noFill/>
              <a:ln w="28575">
                <a:solidFill>
                  <a:schemeClr val="accent2"/>
                </a:solidFill>
                <a:rou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0682" name="任意多边形 150554"/>
              <p:cNvSpPr>
                <a:spLocks noChangeArrowheads="1"/>
              </p:cNvSpPr>
              <p:nvPr/>
            </p:nvSpPr>
            <p:spPr bwMode="auto">
              <a:xfrm flipH="1" flipV="1">
                <a:off x="1194" y="2814"/>
                <a:ext cx="39" cy="331"/>
              </a:xfrm>
              <a:custGeom>
                <a:avLst/>
                <a:gdLst>
                  <a:gd name="T0" fmla="*/ 32 w 32"/>
                  <a:gd name="T1" fmla="*/ 0 h 295"/>
                  <a:gd name="T2" fmla="*/ 32 w 32"/>
                  <a:gd name="T3" fmla="*/ 106 h 295"/>
                  <a:gd name="T4" fmla="*/ 32 w 32"/>
                  <a:gd name="T5" fmla="*/ 260 h 295"/>
                  <a:gd name="T6" fmla="*/ 0 w 32"/>
                  <a:gd name="T7" fmla="*/ 295 h 295"/>
                </a:gdLst>
                <a:ahLst/>
                <a:cxnLst>
                  <a:cxn ang="0">
                    <a:pos x="T0" y="T1"/>
                  </a:cxn>
                  <a:cxn ang="0">
                    <a:pos x="T2" y="T3"/>
                  </a:cxn>
                  <a:cxn ang="0">
                    <a:pos x="T4" y="T5"/>
                  </a:cxn>
                  <a:cxn ang="0">
                    <a:pos x="T6" y="T7"/>
                  </a:cxn>
                </a:cxnLst>
                <a:rect l="0" t="0" r="r" b="b"/>
                <a:pathLst>
                  <a:path w="32" h="295">
                    <a:moveTo>
                      <a:pt x="32" y="0"/>
                    </a:moveTo>
                    <a:cubicBezTo>
                      <a:pt x="32" y="35"/>
                      <a:pt x="32" y="71"/>
                      <a:pt x="32" y="106"/>
                    </a:cubicBezTo>
                    <a:lnTo>
                      <a:pt x="32" y="260"/>
                    </a:lnTo>
                    <a:lnTo>
                      <a:pt x="0" y="295"/>
                    </a:lnTo>
                  </a:path>
                </a:pathLst>
              </a:custGeom>
              <a:noFill/>
              <a:ln w="28575">
                <a:solidFill>
                  <a:schemeClr val="accent2"/>
                </a:solidFill>
                <a:rou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0683" name="直接连接符 150555"/>
              <p:cNvSpPr>
                <a:spLocks noChangeShapeType="1"/>
              </p:cNvSpPr>
              <p:nvPr/>
            </p:nvSpPr>
            <p:spPr bwMode="auto">
              <a:xfrm flipV="1">
                <a:off x="377" y="2854"/>
                <a:ext cx="823" cy="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684" name="直接连接符 150556"/>
              <p:cNvSpPr>
                <a:spLocks noChangeShapeType="1"/>
              </p:cNvSpPr>
              <p:nvPr/>
            </p:nvSpPr>
            <p:spPr bwMode="auto">
              <a:xfrm>
                <a:off x="328" y="2744"/>
                <a:ext cx="920" cy="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685" name="任意多边形 150557"/>
              <p:cNvSpPr>
                <a:spLocks noChangeArrowheads="1"/>
              </p:cNvSpPr>
              <p:nvPr/>
            </p:nvSpPr>
            <p:spPr bwMode="auto">
              <a:xfrm>
                <a:off x="327" y="2360"/>
                <a:ext cx="911" cy="785"/>
              </a:xfrm>
              <a:custGeom>
                <a:avLst/>
                <a:gdLst>
                  <a:gd name="T0" fmla="*/ 0 w 740"/>
                  <a:gd name="T1" fmla="*/ 700 h 700"/>
                  <a:gd name="T2" fmla="*/ 0 w 740"/>
                  <a:gd name="T3" fmla="*/ 44 h 700"/>
                  <a:gd name="T4" fmla="*/ 44 w 740"/>
                  <a:gd name="T5" fmla="*/ 0 h 700"/>
                  <a:gd name="T6" fmla="*/ 700 w 740"/>
                  <a:gd name="T7" fmla="*/ 0 h 700"/>
                  <a:gd name="T8" fmla="*/ 740 w 740"/>
                  <a:gd name="T9" fmla="*/ 40 h 700"/>
                  <a:gd name="T10" fmla="*/ 740 w 740"/>
                  <a:gd name="T11" fmla="*/ 692 h 700"/>
                </a:gdLst>
                <a:ahLst/>
                <a:cxnLst>
                  <a:cxn ang="0">
                    <a:pos x="T0" y="T1"/>
                  </a:cxn>
                  <a:cxn ang="0">
                    <a:pos x="T2" y="T3"/>
                  </a:cxn>
                  <a:cxn ang="0">
                    <a:pos x="T4" y="T5"/>
                  </a:cxn>
                  <a:cxn ang="0">
                    <a:pos x="T6" y="T7"/>
                  </a:cxn>
                  <a:cxn ang="0">
                    <a:pos x="T8" y="T9"/>
                  </a:cxn>
                  <a:cxn ang="0">
                    <a:pos x="T10" y="T11"/>
                  </a:cxn>
                </a:cxnLst>
                <a:rect l="0" t="0" r="r" b="b"/>
                <a:pathLst>
                  <a:path w="740" h="700">
                    <a:moveTo>
                      <a:pt x="0" y="700"/>
                    </a:moveTo>
                    <a:lnTo>
                      <a:pt x="0" y="44"/>
                    </a:lnTo>
                    <a:lnTo>
                      <a:pt x="44" y="0"/>
                    </a:lnTo>
                    <a:lnTo>
                      <a:pt x="700" y="0"/>
                    </a:lnTo>
                    <a:lnTo>
                      <a:pt x="740" y="40"/>
                    </a:lnTo>
                    <a:lnTo>
                      <a:pt x="740" y="692"/>
                    </a:lnTo>
                  </a:path>
                </a:pathLst>
              </a:custGeom>
              <a:noFill/>
              <a:ln w="285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grpSp>
            <p:nvGrpSpPr>
              <p:cNvPr id="70686" name="组合 150558"/>
              <p:cNvGrpSpPr/>
              <p:nvPr/>
            </p:nvGrpSpPr>
            <p:grpSpPr bwMode="auto">
              <a:xfrm flipH="1">
                <a:off x="320" y="2471"/>
                <a:ext cx="913" cy="272"/>
                <a:chOff x="1221" y="2767"/>
                <a:chExt cx="741" cy="282"/>
              </a:xfrm>
            </p:grpSpPr>
            <p:sp>
              <p:nvSpPr>
                <p:cNvPr id="70687" name="直接连接符 150559"/>
                <p:cNvSpPr>
                  <a:spLocks noChangeShapeType="1"/>
                </p:cNvSpPr>
                <p:nvPr/>
              </p:nvSpPr>
              <p:spPr bwMode="auto">
                <a:xfrm flipH="1">
                  <a:off x="1874" y="2940"/>
                  <a:ext cx="77" cy="105"/>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688" name="直接连接符 150560"/>
                <p:cNvSpPr>
                  <a:spLocks noChangeShapeType="1"/>
                </p:cNvSpPr>
                <p:nvPr/>
              </p:nvSpPr>
              <p:spPr bwMode="auto">
                <a:xfrm flipH="1">
                  <a:off x="1771" y="2770"/>
                  <a:ext cx="179" cy="273"/>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689" name="直接连接符 150561"/>
                <p:cNvSpPr>
                  <a:spLocks noChangeShapeType="1"/>
                </p:cNvSpPr>
                <p:nvPr/>
              </p:nvSpPr>
              <p:spPr bwMode="auto">
                <a:xfrm flipH="1">
                  <a:off x="1713" y="2767"/>
                  <a:ext cx="181" cy="272"/>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690" name="直接连接符 150562"/>
                <p:cNvSpPr>
                  <a:spLocks noChangeShapeType="1"/>
                </p:cNvSpPr>
                <p:nvPr/>
              </p:nvSpPr>
              <p:spPr bwMode="auto">
                <a:xfrm flipH="1">
                  <a:off x="1655" y="2772"/>
                  <a:ext cx="174" cy="264"/>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691" name="直接连接符 150563"/>
                <p:cNvSpPr>
                  <a:spLocks noChangeShapeType="1"/>
                </p:cNvSpPr>
                <p:nvPr/>
              </p:nvSpPr>
              <p:spPr bwMode="auto">
                <a:xfrm flipH="1">
                  <a:off x="1587" y="2773"/>
                  <a:ext cx="185" cy="265"/>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692" name="直接连接符 150564"/>
                <p:cNvSpPr>
                  <a:spLocks noChangeShapeType="1"/>
                </p:cNvSpPr>
                <p:nvPr/>
              </p:nvSpPr>
              <p:spPr bwMode="auto">
                <a:xfrm flipH="1">
                  <a:off x="1524" y="2773"/>
                  <a:ext cx="188" cy="266"/>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693" name="直接连接符 150565"/>
                <p:cNvSpPr>
                  <a:spLocks noChangeShapeType="1"/>
                </p:cNvSpPr>
                <p:nvPr/>
              </p:nvSpPr>
              <p:spPr bwMode="auto">
                <a:xfrm flipH="1">
                  <a:off x="1396" y="2771"/>
                  <a:ext cx="192" cy="273"/>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694" name="直接连接符 150566"/>
                <p:cNvSpPr>
                  <a:spLocks noChangeShapeType="1"/>
                </p:cNvSpPr>
                <p:nvPr/>
              </p:nvSpPr>
              <p:spPr bwMode="auto">
                <a:xfrm flipH="1">
                  <a:off x="1460" y="2779"/>
                  <a:ext cx="182" cy="261"/>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695" name="直接连接符 150567"/>
                <p:cNvSpPr>
                  <a:spLocks noChangeShapeType="1"/>
                </p:cNvSpPr>
                <p:nvPr/>
              </p:nvSpPr>
              <p:spPr bwMode="auto">
                <a:xfrm flipH="1">
                  <a:off x="1337" y="2777"/>
                  <a:ext cx="185" cy="267"/>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696" name="直接连接符 150568"/>
                <p:cNvSpPr>
                  <a:spLocks noChangeShapeType="1"/>
                </p:cNvSpPr>
                <p:nvPr/>
              </p:nvSpPr>
              <p:spPr bwMode="auto">
                <a:xfrm flipH="1">
                  <a:off x="1280" y="2772"/>
                  <a:ext cx="182" cy="267"/>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697" name="直接连接符 150569"/>
                <p:cNvSpPr>
                  <a:spLocks noChangeShapeType="1"/>
                </p:cNvSpPr>
                <p:nvPr/>
              </p:nvSpPr>
              <p:spPr bwMode="auto">
                <a:xfrm flipH="1">
                  <a:off x="1825" y="2847"/>
                  <a:ext cx="131" cy="199"/>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698" name="直接连接符 150570"/>
                <p:cNvSpPr>
                  <a:spLocks noChangeShapeType="1"/>
                </p:cNvSpPr>
                <p:nvPr/>
              </p:nvSpPr>
              <p:spPr bwMode="auto">
                <a:xfrm flipH="1">
                  <a:off x="1225" y="2773"/>
                  <a:ext cx="181" cy="266"/>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699" name="直接连接符 150571"/>
                <p:cNvSpPr>
                  <a:spLocks noChangeShapeType="1"/>
                </p:cNvSpPr>
                <p:nvPr/>
              </p:nvSpPr>
              <p:spPr bwMode="auto">
                <a:xfrm flipH="1">
                  <a:off x="1922" y="2999"/>
                  <a:ext cx="40" cy="50"/>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700" name="直接连接符 150572"/>
                <p:cNvSpPr>
                  <a:spLocks noChangeShapeType="1"/>
                </p:cNvSpPr>
                <p:nvPr/>
              </p:nvSpPr>
              <p:spPr bwMode="auto">
                <a:xfrm flipH="1">
                  <a:off x="1221" y="2774"/>
                  <a:ext cx="126" cy="185"/>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701" name="直接连接符 150573"/>
                <p:cNvSpPr>
                  <a:spLocks noChangeShapeType="1"/>
                </p:cNvSpPr>
                <p:nvPr/>
              </p:nvSpPr>
              <p:spPr bwMode="auto">
                <a:xfrm flipH="1">
                  <a:off x="1221" y="2772"/>
                  <a:ext cx="70" cy="103"/>
                </a:xfrm>
                <a:prstGeom prst="line">
                  <a:avLst/>
                </a:prstGeom>
                <a:noFill/>
                <a:ln w="127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0702" name="直接连接符 150574"/>
              <p:cNvSpPr>
                <a:spLocks noChangeShapeType="1"/>
              </p:cNvSpPr>
              <p:nvPr/>
            </p:nvSpPr>
            <p:spPr bwMode="auto">
              <a:xfrm flipV="1">
                <a:off x="331" y="2472"/>
                <a:ext cx="907" cy="2"/>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703" name="直接连接符 150575"/>
              <p:cNvSpPr>
                <a:spLocks noChangeShapeType="1"/>
              </p:cNvSpPr>
              <p:nvPr/>
            </p:nvSpPr>
            <p:spPr bwMode="auto">
              <a:xfrm flipV="1">
                <a:off x="235" y="3873"/>
                <a:ext cx="1076" cy="0"/>
              </a:xfrm>
              <a:prstGeom prst="line">
                <a:avLst/>
              </a:prstGeom>
              <a:noFill/>
              <a:ln w="12700">
                <a:solidFill>
                  <a:schemeClr val="accent2"/>
                </a:solidFill>
                <a:prstDash val="lgDashDot"/>
                <a:round/>
              </a:ln>
              <a:extLst>
                <a:ext uri="{909E8E84-426E-40DD-AFC4-6F175D3DCCD1}">
                  <a14:hiddenFill xmlns:a14="http://schemas.microsoft.com/office/drawing/2010/main">
                    <a:noFill/>
                  </a14:hiddenFill>
                </a:ext>
              </a:extLst>
            </p:spPr>
            <p:txBody>
              <a:bodyPr/>
              <a:lstStyle/>
              <a:p>
                <a:endParaRPr lang="zh-CN" altLang="en-US"/>
              </a:p>
            </p:txBody>
          </p:sp>
          <p:sp>
            <p:nvSpPr>
              <p:cNvPr id="70704" name="直接连接符 150576"/>
              <p:cNvSpPr>
                <a:spLocks noChangeShapeType="1"/>
              </p:cNvSpPr>
              <p:nvPr/>
            </p:nvSpPr>
            <p:spPr bwMode="auto">
              <a:xfrm flipV="1">
                <a:off x="228" y="2407"/>
                <a:ext cx="1076" cy="0"/>
              </a:xfrm>
              <a:prstGeom prst="line">
                <a:avLst/>
              </a:prstGeom>
              <a:noFill/>
              <a:ln w="12700">
                <a:solidFill>
                  <a:schemeClr val="accent2"/>
                </a:solidFill>
                <a:prstDash val="lgDashDot"/>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70709" name="组合 150581"/>
            <p:cNvGrpSpPr/>
            <p:nvPr/>
          </p:nvGrpSpPr>
          <p:grpSpPr bwMode="auto">
            <a:xfrm rot="0">
              <a:off x="1836" y="2274"/>
              <a:ext cx="1764" cy="1794"/>
              <a:chOff x="1824" y="2250"/>
              <a:chExt cx="1764" cy="1794"/>
            </a:xfrm>
          </p:grpSpPr>
          <p:sp>
            <p:nvSpPr>
              <p:cNvPr id="70711" name="直接连接符 150583"/>
              <p:cNvSpPr>
                <a:spLocks noChangeShapeType="1"/>
              </p:cNvSpPr>
              <p:nvPr/>
            </p:nvSpPr>
            <p:spPr bwMode="auto">
              <a:xfrm flipV="1">
                <a:off x="1824" y="3144"/>
                <a:ext cx="1764" cy="0"/>
              </a:xfrm>
              <a:prstGeom prst="line">
                <a:avLst/>
              </a:prstGeom>
              <a:noFill/>
              <a:ln w="12700">
                <a:solidFill>
                  <a:schemeClr val="accent2"/>
                </a:solidFill>
                <a:prstDash val="lgDashDot"/>
                <a:round/>
              </a:ln>
              <a:extLst>
                <a:ext uri="{909E8E84-426E-40DD-AFC4-6F175D3DCCD1}">
                  <a14:hiddenFill xmlns:a14="http://schemas.microsoft.com/office/drawing/2010/main">
                    <a:noFill/>
                  </a14:hiddenFill>
                </a:ext>
              </a:extLst>
            </p:spPr>
            <p:txBody>
              <a:bodyPr/>
              <a:lstStyle/>
              <a:p>
                <a:endParaRPr lang="zh-CN" altLang="en-US"/>
              </a:p>
            </p:txBody>
          </p:sp>
          <p:sp>
            <p:nvSpPr>
              <p:cNvPr id="70712" name="直接连接符 150584"/>
              <p:cNvSpPr>
                <a:spLocks noChangeShapeType="1"/>
              </p:cNvSpPr>
              <p:nvPr/>
            </p:nvSpPr>
            <p:spPr bwMode="auto">
              <a:xfrm>
                <a:off x="2706" y="2250"/>
                <a:ext cx="0" cy="1794"/>
              </a:xfrm>
              <a:prstGeom prst="line">
                <a:avLst/>
              </a:prstGeom>
              <a:noFill/>
              <a:ln w="12700">
                <a:solidFill>
                  <a:schemeClr val="accent2"/>
                </a:solidFill>
                <a:prstDash val="lgDashDot"/>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50605" name="组合 150604"/>
          <p:cNvGrpSpPr/>
          <p:nvPr/>
        </p:nvGrpSpPr>
        <p:grpSpPr bwMode="auto">
          <a:xfrm>
            <a:off x="1703246" y="1888564"/>
            <a:ext cx="2674938" cy="1316038"/>
            <a:chOff x="1987" y="2748"/>
            <a:chExt cx="1685" cy="829"/>
          </a:xfrm>
        </p:grpSpPr>
        <p:sp>
          <p:nvSpPr>
            <p:cNvPr id="70733" name="矩形 150605"/>
            <p:cNvSpPr>
              <a:spLocks noChangeArrowheads="1"/>
            </p:cNvSpPr>
            <p:nvPr/>
          </p:nvSpPr>
          <p:spPr bwMode="auto">
            <a:xfrm>
              <a:off x="2187" y="2868"/>
              <a:ext cx="1050" cy="615"/>
            </a:xfrm>
            <a:prstGeom prst="rect">
              <a:avLst/>
            </a:prstGeom>
            <a:solidFill>
              <a:srgbClr val="FFFFFF"/>
            </a:solidFill>
            <a:ln>
              <a:noFill/>
            </a:ln>
            <a:extLst>
              <a:ext uri="{91240B29-F687-4F45-9708-019B960494DF}">
                <a14:hiddenLine xmlns:a14="http://schemas.microsoft.com/office/drawing/2010/main" w="317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p>
          </p:txBody>
        </p:sp>
        <p:sp>
          <p:nvSpPr>
            <p:cNvPr id="70734" name="直接连接符 150606"/>
            <p:cNvSpPr>
              <a:spLocks noChangeShapeType="1"/>
            </p:cNvSpPr>
            <p:nvPr/>
          </p:nvSpPr>
          <p:spPr bwMode="auto">
            <a:xfrm flipH="1">
              <a:off x="2048" y="3218"/>
              <a:ext cx="73" cy="60"/>
            </a:xfrm>
            <a:prstGeom prst="line">
              <a:avLst/>
            </a:prstGeom>
            <a:noFill/>
            <a:ln w="127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0735" name="直接连接符 150607"/>
            <p:cNvSpPr>
              <a:spLocks noChangeShapeType="1"/>
            </p:cNvSpPr>
            <p:nvPr/>
          </p:nvSpPr>
          <p:spPr bwMode="auto">
            <a:xfrm flipH="1">
              <a:off x="2035" y="3266"/>
              <a:ext cx="104" cy="108"/>
            </a:xfrm>
            <a:prstGeom prst="line">
              <a:avLst/>
            </a:prstGeom>
            <a:noFill/>
            <a:ln w="127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0736" name="直接连接符 150608"/>
            <p:cNvSpPr>
              <a:spLocks noChangeShapeType="1"/>
            </p:cNvSpPr>
            <p:nvPr/>
          </p:nvSpPr>
          <p:spPr bwMode="auto">
            <a:xfrm flipH="1">
              <a:off x="2060" y="3350"/>
              <a:ext cx="67" cy="77"/>
            </a:xfrm>
            <a:prstGeom prst="line">
              <a:avLst/>
            </a:prstGeom>
            <a:noFill/>
            <a:ln w="127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0737" name="直接连接符 150609"/>
            <p:cNvSpPr>
              <a:spLocks noChangeShapeType="1"/>
            </p:cNvSpPr>
            <p:nvPr/>
          </p:nvSpPr>
          <p:spPr bwMode="auto">
            <a:xfrm flipH="1">
              <a:off x="2266" y="2866"/>
              <a:ext cx="33" cy="40"/>
            </a:xfrm>
            <a:prstGeom prst="line">
              <a:avLst/>
            </a:prstGeom>
            <a:noFill/>
            <a:ln w="127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0738" name="直接连接符 150610"/>
            <p:cNvSpPr>
              <a:spLocks noChangeShapeType="1"/>
            </p:cNvSpPr>
            <p:nvPr/>
          </p:nvSpPr>
          <p:spPr bwMode="auto">
            <a:xfrm flipH="1">
              <a:off x="2313" y="2896"/>
              <a:ext cx="47" cy="47"/>
            </a:xfrm>
            <a:prstGeom prst="line">
              <a:avLst/>
            </a:prstGeom>
            <a:noFill/>
            <a:ln w="127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0739" name="直接连接符 150611"/>
            <p:cNvSpPr>
              <a:spLocks noChangeShapeType="1"/>
            </p:cNvSpPr>
            <p:nvPr/>
          </p:nvSpPr>
          <p:spPr bwMode="auto">
            <a:xfrm flipH="1">
              <a:off x="2366" y="2918"/>
              <a:ext cx="67" cy="73"/>
            </a:xfrm>
            <a:prstGeom prst="line">
              <a:avLst/>
            </a:prstGeom>
            <a:noFill/>
            <a:ln w="127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0740" name="直接连接符 150612"/>
            <p:cNvSpPr>
              <a:spLocks noChangeShapeType="1"/>
            </p:cNvSpPr>
            <p:nvPr/>
          </p:nvSpPr>
          <p:spPr bwMode="auto">
            <a:xfrm flipH="1">
              <a:off x="2411" y="2918"/>
              <a:ext cx="100" cy="99"/>
            </a:xfrm>
            <a:prstGeom prst="line">
              <a:avLst/>
            </a:prstGeom>
            <a:noFill/>
            <a:ln w="127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0741" name="直接连接符 150613"/>
            <p:cNvSpPr>
              <a:spLocks noChangeShapeType="1"/>
            </p:cNvSpPr>
            <p:nvPr/>
          </p:nvSpPr>
          <p:spPr bwMode="auto">
            <a:xfrm flipH="1">
              <a:off x="2467" y="2924"/>
              <a:ext cx="113" cy="109"/>
            </a:xfrm>
            <a:prstGeom prst="line">
              <a:avLst/>
            </a:prstGeom>
            <a:noFill/>
            <a:ln w="127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0742" name="直接连接符 150614"/>
            <p:cNvSpPr>
              <a:spLocks noChangeShapeType="1"/>
            </p:cNvSpPr>
            <p:nvPr/>
          </p:nvSpPr>
          <p:spPr bwMode="auto">
            <a:xfrm flipH="1">
              <a:off x="2538" y="2914"/>
              <a:ext cx="126" cy="125"/>
            </a:xfrm>
            <a:prstGeom prst="line">
              <a:avLst/>
            </a:prstGeom>
            <a:noFill/>
            <a:ln w="127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0743" name="直接连接符 150615"/>
            <p:cNvSpPr>
              <a:spLocks noChangeShapeType="1"/>
            </p:cNvSpPr>
            <p:nvPr/>
          </p:nvSpPr>
          <p:spPr bwMode="auto">
            <a:xfrm flipH="1">
              <a:off x="2600" y="2918"/>
              <a:ext cx="133" cy="133"/>
            </a:xfrm>
            <a:prstGeom prst="line">
              <a:avLst/>
            </a:prstGeom>
            <a:noFill/>
            <a:ln w="127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0744" name="直接连接符 150616"/>
            <p:cNvSpPr>
              <a:spLocks noChangeShapeType="1"/>
            </p:cNvSpPr>
            <p:nvPr/>
          </p:nvSpPr>
          <p:spPr bwMode="auto">
            <a:xfrm flipH="1">
              <a:off x="2670" y="2920"/>
              <a:ext cx="137" cy="131"/>
            </a:xfrm>
            <a:prstGeom prst="line">
              <a:avLst/>
            </a:prstGeom>
            <a:noFill/>
            <a:ln w="127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0745" name="直接连接符 150617"/>
            <p:cNvSpPr>
              <a:spLocks noChangeShapeType="1"/>
            </p:cNvSpPr>
            <p:nvPr/>
          </p:nvSpPr>
          <p:spPr bwMode="auto">
            <a:xfrm flipH="1">
              <a:off x="2747" y="2922"/>
              <a:ext cx="128" cy="129"/>
            </a:xfrm>
            <a:prstGeom prst="line">
              <a:avLst/>
            </a:prstGeom>
            <a:noFill/>
            <a:ln w="127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0746" name="直接连接符 150618"/>
            <p:cNvSpPr>
              <a:spLocks noChangeShapeType="1"/>
            </p:cNvSpPr>
            <p:nvPr/>
          </p:nvSpPr>
          <p:spPr bwMode="auto">
            <a:xfrm flipH="1">
              <a:off x="2898" y="2920"/>
              <a:ext cx="111" cy="123"/>
            </a:xfrm>
            <a:prstGeom prst="line">
              <a:avLst/>
            </a:prstGeom>
            <a:noFill/>
            <a:ln w="127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0747" name="直接连接符 150619"/>
            <p:cNvSpPr>
              <a:spLocks noChangeShapeType="1"/>
            </p:cNvSpPr>
            <p:nvPr/>
          </p:nvSpPr>
          <p:spPr bwMode="auto">
            <a:xfrm flipH="1">
              <a:off x="2974" y="2870"/>
              <a:ext cx="158" cy="167"/>
            </a:xfrm>
            <a:prstGeom prst="line">
              <a:avLst/>
            </a:prstGeom>
            <a:noFill/>
            <a:ln w="127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0748" name="直接连接符 150620"/>
            <p:cNvSpPr>
              <a:spLocks noChangeShapeType="1"/>
            </p:cNvSpPr>
            <p:nvPr/>
          </p:nvSpPr>
          <p:spPr bwMode="auto">
            <a:xfrm flipH="1">
              <a:off x="3469" y="2812"/>
              <a:ext cx="91" cy="78"/>
            </a:xfrm>
            <a:prstGeom prst="line">
              <a:avLst/>
            </a:prstGeom>
            <a:noFill/>
            <a:ln w="127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0749" name="直接连接符 150621"/>
            <p:cNvSpPr>
              <a:spLocks noChangeShapeType="1"/>
            </p:cNvSpPr>
            <p:nvPr/>
          </p:nvSpPr>
          <p:spPr bwMode="auto">
            <a:xfrm flipH="1">
              <a:off x="3456" y="2872"/>
              <a:ext cx="141" cy="125"/>
            </a:xfrm>
            <a:prstGeom prst="line">
              <a:avLst/>
            </a:prstGeom>
            <a:noFill/>
            <a:ln w="127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0750" name="直接连接符 150622"/>
            <p:cNvSpPr>
              <a:spLocks noChangeShapeType="1"/>
            </p:cNvSpPr>
            <p:nvPr/>
          </p:nvSpPr>
          <p:spPr bwMode="auto">
            <a:xfrm flipH="1">
              <a:off x="3475" y="2953"/>
              <a:ext cx="122" cy="113"/>
            </a:xfrm>
            <a:prstGeom prst="line">
              <a:avLst/>
            </a:prstGeom>
            <a:noFill/>
            <a:ln w="127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0751" name="直接连接符 150623"/>
            <p:cNvSpPr>
              <a:spLocks noChangeShapeType="1"/>
            </p:cNvSpPr>
            <p:nvPr/>
          </p:nvSpPr>
          <p:spPr bwMode="auto">
            <a:xfrm flipH="1">
              <a:off x="3505" y="3051"/>
              <a:ext cx="86" cy="72"/>
            </a:xfrm>
            <a:prstGeom prst="line">
              <a:avLst/>
            </a:prstGeom>
            <a:noFill/>
            <a:ln w="127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0752" name="直接连接符 150624"/>
            <p:cNvSpPr>
              <a:spLocks noChangeShapeType="1"/>
            </p:cNvSpPr>
            <p:nvPr/>
          </p:nvSpPr>
          <p:spPr bwMode="auto">
            <a:xfrm>
              <a:off x="2090" y="2866"/>
              <a:ext cx="1098" cy="0"/>
            </a:xfrm>
            <a:prstGeom prst="line">
              <a:avLst/>
            </a:prstGeom>
            <a:noFill/>
            <a:ln w="254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0753" name="直接连接符 150625"/>
            <p:cNvSpPr>
              <a:spLocks noChangeShapeType="1"/>
            </p:cNvSpPr>
            <p:nvPr/>
          </p:nvSpPr>
          <p:spPr bwMode="auto">
            <a:xfrm>
              <a:off x="2098" y="3486"/>
              <a:ext cx="1100" cy="1"/>
            </a:xfrm>
            <a:prstGeom prst="line">
              <a:avLst/>
            </a:prstGeom>
            <a:noFill/>
            <a:ln w="254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0754" name="直接连接符 150626"/>
            <p:cNvSpPr>
              <a:spLocks noChangeShapeType="1"/>
            </p:cNvSpPr>
            <p:nvPr/>
          </p:nvSpPr>
          <p:spPr bwMode="auto">
            <a:xfrm flipV="1">
              <a:off x="3196" y="3566"/>
              <a:ext cx="331" cy="1"/>
            </a:xfrm>
            <a:prstGeom prst="line">
              <a:avLst/>
            </a:prstGeom>
            <a:noFill/>
            <a:ln w="254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0755" name="直接连接符 150627"/>
            <p:cNvSpPr>
              <a:spLocks noChangeShapeType="1"/>
            </p:cNvSpPr>
            <p:nvPr/>
          </p:nvSpPr>
          <p:spPr bwMode="auto">
            <a:xfrm>
              <a:off x="2362" y="2859"/>
              <a:ext cx="2" cy="65"/>
            </a:xfrm>
            <a:prstGeom prst="line">
              <a:avLst/>
            </a:prstGeom>
            <a:noFill/>
            <a:ln w="254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0756" name="直接连接符 150628"/>
            <p:cNvSpPr>
              <a:spLocks noChangeShapeType="1"/>
            </p:cNvSpPr>
            <p:nvPr/>
          </p:nvSpPr>
          <p:spPr bwMode="auto">
            <a:xfrm flipH="1">
              <a:off x="3085" y="2863"/>
              <a:ext cx="1" cy="60"/>
            </a:xfrm>
            <a:prstGeom prst="line">
              <a:avLst/>
            </a:prstGeom>
            <a:noFill/>
            <a:ln w="254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0757" name="直接连接符 150629"/>
            <p:cNvSpPr>
              <a:spLocks noChangeShapeType="1"/>
            </p:cNvSpPr>
            <p:nvPr/>
          </p:nvSpPr>
          <p:spPr bwMode="auto">
            <a:xfrm>
              <a:off x="2364" y="2917"/>
              <a:ext cx="720" cy="0"/>
            </a:xfrm>
            <a:prstGeom prst="line">
              <a:avLst/>
            </a:prstGeom>
            <a:noFill/>
            <a:ln w="254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0758" name="任意多边形 150630"/>
            <p:cNvSpPr>
              <a:spLocks noChangeArrowheads="1"/>
            </p:cNvSpPr>
            <p:nvPr/>
          </p:nvSpPr>
          <p:spPr bwMode="auto">
            <a:xfrm>
              <a:off x="2037" y="2861"/>
              <a:ext cx="116" cy="634"/>
            </a:xfrm>
            <a:custGeom>
              <a:avLst/>
              <a:gdLst>
                <a:gd name="T0" fmla="*/ 35 w 76"/>
                <a:gd name="T1" fmla="*/ 0 h 424"/>
                <a:gd name="T2" fmla="*/ 8 w 76"/>
                <a:gd name="T3" fmla="*/ 102 h 424"/>
                <a:gd name="T4" fmla="*/ 47 w 76"/>
                <a:gd name="T5" fmla="*/ 231 h 424"/>
                <a:gd name="T6" fmla="*/ 74 w 76"/>
                <a:gd name="T7" fmla="*/ 318 h 424"/>
                <a:gd name="T8" fmla="*/ 35 w 76"/>
                <a:gd name="T9" fmla="*/ 420 h 424"/>
                <a:gd name="T10" fmla="*/ 5 w 76"/>
                <a:gd name="T11" fmla="*/ 342 h 424"/>
                <a:gd name="T12" fmla="*/ 8 w 76"/>
                <a:gd name="T13" fmla="*/ 252 h 424"/>
                <a:gd name="T14" fmla="*/ 32 w 76"/>
                <a:gd name="T15" fmla="*/ 216 h 4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424">
                  <a:moveTo>
                    <a:pt x="35" y="0"/>
                  </a:moveTo>
                  <a:cubicBezTo>
                    <a:pt x="20" y="32"/>
                    <a:pt x="6" y="64"/>
                    <a:pt x="8" y="102"/>
                  </a:cubicBezTo>
                  <a:cubicBezTo>
                    <a:pt x="10" y="140"/>
                    <a:pt x="36" y="195"/>
                    <a:pt x="47" y="231"/>
                  </a:cubicBezTo>
                  <a:cubicBezTo>
                    <a:pt x="58" y="267"/>
                    <a:pt x="76" y="287"/>
                    <a:pt x="74" y="318"/>
                  </a:cubicBezTo>
                  <a:cubicBezTo>
                    <a:pt x="72" y="349"/>
                    <a:pt x="46" y="416"/>
                    <a:pt x="35" y="420"/>
                  </a:cubicBezTo>
                  <a:cubicBezTo>
                    <a:pt x="24" y="424"/>
                    <a:pt x="10" y="370"/>
                    <a:pt x="5" y="342"/>
                  </a:cubicBezTo>
                  <a:cubicBezTo>
                    <a:pt x="0" y="314"/>
                    <a:pt x="4" y="273"/>
                    <a:pt x="8" y="252"/>
                  </a:cubicBezTo>
                  <a:cubicBezTo>
                    <a:pt x="12" y="231"/>
                    <a:pt x="22" y="223"/>
                    <a:pt x="32" y="216"/>
                  </a:cubicBezTo>
                </a:path>
              </a:pathLst>
            </a:custGeom>
            <a:noFill/>
            <a:ln w="25400">
              <a:solidFill>
                <a:srgbClr val="FF5050"/>
              </a:solidFill>
              <a:round/>
              <a:tailEnd type="none" w="sm" len="lg"/>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0759" name="任意多边形 150631"/>
            <p:cNvSpPr>
              <a:spLocks noChangeArrowheads="1"/>
            </p:cNvSpPr>
            <p:nvPr/>
          </p:nvSpPr>
          <p:spPr bwMode="auto">
            <a:xfrm>
              <a:off x="2240" y="2875"/>
              <a:ext cx="951" cy="179"/>
            </a:xfrm>
            <a:custGeom>
              <a:avLst/>
              <a:gdLst>
                <a:gd name="T0" fmla="*/ 0 w 621"/>
                <a:gd name="T1" fmla="*/ 0 h 120"/>
                <a:gd name="T2" fmla="*/ 93 w 621"/>
                <a:gd name="T3" fmla="*/ 84 h 120"/>
                <a:gd name="T4" fmla="*/ 279 w 621"/>
                <a:gd name="T5" fmla="*/ 117 h 120"/>
                <a:gd name="T6" fmla="*/ 504 w 621"/>
                <a:gd name="T7" fmla="*/ 105 h 120"/>
                <a:gd name="T8" fmla="*/ 621 w 621"/>
                <a:gd name="T9" fmla="*/ 42 h 120"/>
              </a:gdLst>
              <a:ahLst/>
              <a:cxnLst>
                <a:cxn ang="0">
                  <a:pos x="T0" y="T1"/>
                </a:cxn>
                <a:cxn ang="0">
                  <a:pos x="T2" y="T3"/>
                </a:cxn>
                <a:cxn ang="0">
                  <a:pos x="T4" y="T5"/>
                </a:cxn>
                <a:cxn ang="0">
                  <a:pos x="T6" y="T7"/>
                </a:cxn>
                <a:cxn ang="0">
                  <a:pos x="T8" y="T9"/>
                </a:cxn>
              </a:cxnLst>
              <a:rect l="0" t="0" r="r" b="b"/>
              <a:pathLst>
                <a:path w="621" h="120">
                  <a:moveTo>
                    <a:pt x="0" y="0"/>
                  </a:moveTo>
                  <a:cubicBezTo>
                    <a:pt x="15" y="14"/>
                    <a:pt x="47" y="64"/>
                    <a:pt x="93" y="84"/>
                  </a:cubicBezTo>
                  <a:cubicBezTo>
                    <a:pt x="139" y="104"/>
                    <a:pt x="211" y="114"/>
                    <a:pt x="279" y="117"/>
                  </a:cubicBezTo>
                  <a:cubicBezTo>
                    <a:pt x="347" y="120"/>
                    <a:pt x="447" y="118"/>
                    <a:pt x="504" y="105"/>
                  </a:cubicBezTo>
                  <a:cubicBezTo>
                    <a:pt x="561" y="92"/>
                    <a:pt x="591" y="67"/>
                    <a:pt x="621" y="42"/>
                  </a:cubicBezTo>
                </a:path>
              </a:pathLst>
            </a:custGeom>
            <a:noFill/>
            <a:ln w="12700">
              <a:solidFill>
                <a:srgbClr val="FF5050"/>
              </a:solidFill>
              <a:round/>
              <a:tailEnd type="none" w="sm" len="lg"/>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0760" name="任意多边形 150632"/>
            <p:cNvSpPr>
              <a:spLocks noChangeArrowheads="1"/>
            </p:cNvSpPr>
            <p:nvPr/>
          </p:nvSpPr>
          <p:spPr bwMode="auto">
            <a:xfrm>
              <a:off x="3453" y="2748"/>
              <a:ext cx="158" cy="823"/>
            </a:xfrm>
            <a:custGeom>
              <a:avLst/>
              <a:gdLst>
                <a:gd name="T0" fmla="*/ 48 w 103"/>
                <a:gd name="T1" fmla="*/ 551 h 551"/>
                <a:gd name="T2" fmla="*/ 84 w 103"/>
                <a:gd name="T3" fmla="*/ 476 h 551"/>
                <a:gd name="T4" fmla="*/ 96 w 103"/>
                <a:gd name="T5" fmla="*/ 404 h 551"/>
                <a:gd name="T6" fmla="*/ 39 w 103"/>
                <a:gd name="T7" fmla="*/ 278 h 551"/>
                <a:gd name="T8" fmla="*/ 3 w 103"/>
                <a:gd name="T9" fmla="*/ 155 h 551"/>
                <a:gd name="T10" fmla="*/ 21 w 103"/>
                <a:gd name="T11" fmla="*/ 23 h 551"/>
                <a:gd name="T12" fmla="*/ 57 w 103"/>
                <a:gd name="T13" fmla="*/ 14 h 551"/>
                <a:gd name="T14" fmla="*/ 96 w 103"/>
                <a:gd name="T15" fmla="*/ 104 h 551"/>
                <a:gd name="T16" fmla="*/ 84 w 103"/>
                <a:gd name="T17" fmla="*/ 227 h 551"/>
                <a:gd name="T18" fmla="*/ 48 w 103"/>
                <a:gd name="T19" fmla="*/ 281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551">
                  <a:moveTo>
                    <a:pt x="48" y="551"/>
                  </a:moveTo>
                  <a:cubicBezTo>
                    <a:pt x="62" y="525"/>
                    <a:pt x="76" y="500"/>
                    <a:pt x="84" y="476"/>
                  </a:cubicBezTo>
                  <a:cubicBezTo>
                    <a:pt x="92" y="452"/>
                    <a:pt x="103" y="437"/>
                    <a:pt x="96" y="404"/>
                  </a:cubicBezTo>
                  <a:cubicBezTo>
                    <a:pt x="89" y="371"/>
                    <a:pt x="54" y="319"/>
                    <a:pt x="39" y="278"/>
                  </a:cubicBezTo>
                  <a:cubicBezTo>
                    <a:pt x="24" y="237"/>
                    <a:pt x="6" y="197"/>
                    <a:pt x="3" y="155"/>
                  </a:cubicBezTo>
                  <a:cubicBezTo>
                    <a:pt x="0" y="113"/>
                    <a:pt x="12" y="46"/>
                    <a:pt x="21" y="23"/>
                  </a:cubicBezTo>
                  <a:cubicBezTo>
                    <a:pt x="30" y="0"/>
                    <a:pt x="44" y="1"/>
                    <a:pt x="57" y="14"/>
                  </a:cubicBezTo>
                  <a:cubicBezTo>
                    <a:pt x="70" y="27"/>
                    <a:pt x="92" y="69"/>
                    <a:pt x="96" y="104"/>
                  </a:cubicBezTo>
                  <a:cubicBezTo>
                    <a:pt x="100" y="139"/>
                    <a:pt x="92" y="198"/>
                    <a:pt x="84" y="227"/>
                  </a:cubicBezTo>
                  <a:cubicBezTo>
                    <a:pt x="76" y="256"/>
                    <a:pt x="62" y="268"/>
                    <a:pt x="48" y="281"/>
                  </a:cubicBezTo>
                </a:path>
              </a:pathLst>
            </a:custGeom>
            <a:noFill/>
            <a:ln w="25400">
              <a:solidFill>
                <a:srgbClr val="FF5050"/>
              </a:solidFill>
              <a:round/>
              <a:tailEnd type="none" w="sm" len="lg"/>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0761" name="直接连接符 150633"/>
            <p:cNvSpPr>
              <a:spLocks noChangeShapeType="1"/>
            </p:cNvSpPr>
            <p:nvPr/>
          </p:nvSpPr>
          <p:spPr bwMode="auto">
            <a:xfrm flipH="1">
              <a:off x="2817" y="2922"/>
              <a:ext cx="128" cy="129"/>
            </a:xfrm>
            <a:prstGeom prst="line">
              <a:avLst/>
            </a:prstGeom>
            <a:noFill/>
            <a:ln w="127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0762" name="直接连接符 150634"/>
            <p:cNvSpPr>
              <a:spLocks noChangeShapeType="1"/>
            </p:cNvSpPr>
            <p:nvPr/>
          </p:nvSpPr>
          <p:spPr bwMode="auto">
            <a:xfrm flipH="1">
              <a:off x="3056" y="2874"/>
              <a:ext cx="136" cy="145"/>
            </a:xfrm>
            <a:prstGeom prst="line">
              <a:avLst/>
            </a:prstGeom>
            <a:noFill/>
            <a:ln w="127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0763" name="直接连接符 150635"/>
            <p:cNvSpPr>
              <a:spLocks noChangeShapeType="1"/>
            </p:cNvSpPr>
            <p:nvPr/>
          </p:nvSpPr>
          <p:spPr bwMode="auto">
            <a:xfrm flipV="1">
              <a:off x="3196" y="2753"/>
              <a:ext cx="331" cy="0"/>
            </a:xfrm>
            <a:prstGeom prst="line">
              <a:avLst/>
            </a:prstGeom>
            <a:noFill/>
            <a:ln w="254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0764" name="直接连接符 150636"/>
            <p:cNvSpPr>
              <a:spLocks noChangeShapeType="1"/>
            </p:cNvSpPr>
            <p:nvPr/>
          </p:nvSpPr>
          <p:spPr bwMode="auto">
            <a:xfrm flipH="1">
              <a:off x="3196" y="2751"/>
              <a:ext cx="1" cy="826"/>
            </a:xfrm>
            <a:prstGeom prst="line">
              <a:avLst/>
            </a:prstGeom>
            <a:noFill/>
            <a:ln w="254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0765" name="矩形 150637"/>
            <p:cNvSpPr>
              <a:spLocks noChangeArrowheads="1"/>
            </p:cNvSpPr>
            <p:nvPr/>
          </p:nvSpPr>
          <p:spPr bwMode="auto">
            <a:xfrm>
              <a:off x="3289" y="3293"/>
              <a:ext cx="19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a:solidFill>
                    <a:schemeClr val="bg1"/>
                  </a:solidFill>
                </a:rPr>
                <a:t>轴</a:t>
              </a:r>
              <a:endParaRPr lang="zh-CN" altLang="en-US">
                <a:solidFill>
                  <a:schemeClr val="bg1"/>
                </a:solidFill>
              </a:endParaRPr>
            </a:p>
          </p:txBody>
        </p:sp>
        <p:sp>
          <p:nvSpPr>
            <p:cNvPr id="70766" name="直接连接符 150638"/>
            <p:cNvSpPr>
              <a:spLocks noChangeShapeType="1"/>
            </p:cNvSpPr>
            <p:nvPr/>
          </p:nvSpPr>
          <p:spPr bwMode="auto">
            <a:xfrm>
              <a:off x="1987" y="3169"/>
              <a:ext cx="1685" cy="2"/>
            </a:xfrm>
            <a:prstGeom prst="line">
              <a:avLst/>
            </a:prstGeom>
            <a:noFill/>
            <a:ln w="12700">
              <a:solidFill>
                <a:srgbClr val="FF5050"/>
              </a:solidFill>
              <a:prstDash val="lgDashDot"/>
              <a:round/>
              <a:tailEnd type="none" w="sm" len="lg"/>
            </a:ln>
            <a:extLst>
              <a:ext uri="{909E8E84-426E-40DD-AFC4-6F175D3DCCD1}">
                <a14:hiddenFill xmlns:a14="http://schemas.microsoft.com/office/drawing/2010/main">
                  <a:noFill/>
                </a14:hiddenFill>
              </a:ext>
            </a:extLst>
          </p:spPr>
          <p:txBody>
            <a:bodyPr/>
            <a:lstStyle/>
            <a:p>
              <a:endParaRPr lang="zh-CN" altLang="en-US"/>
            </a:p>
          </p:txBody>
        </p:sp>
      </p:grpSp>
      <p:sp>
        <p:nvSpPr>
          <p:cNvPr id="70786" name="矩形 150658"/>
          <p:cNvSpPr>
            <a:spLocks noChangeArrowheads="1"/>
          </p:cNvSpPr>
          <p:nvPr/>
        </p:nvSpPr>
        <p:spPr bwMode="auto">
          <a:xfrm>
            <a:off x="2314575" y="1979295"/>
            <a:ext cx="1147445" cy="171450"/>
          </a:xfrm>
          <a:prstGeom prst="rect">
            <a:avLst/>
          </a:prstGeom>
          <a:solidFill>
            <a:srgbClr val="FDDFFB"/>
          </a:solidFill>
          <a:ln w="28575">
            <a:solidFill>
              <a:srgbClr val="008000"/>
            </a:solidFill>
            <a:miter lim="800000"/>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p>
        </p:txBody>
      </p:sp>
      <p:grpSp>
        <p:nvGrpSpPr>
          <p:cNvPr id="54" name="组合 53"/>
          <p:cNvGrpSpPr/>
          <p:nvPr/>
        </p:nvGrpSpPr>
        <p:grpSpPr>
          <a:xfrm>
            <a:off x="4569050" y="1120215"/>
            <a:ext cx="2800350" cy="2847975"/>
            <a:chOff x="6173060" y="1096085"/>
            <a:chExt cx="2800350" cy="2847975"/>
          </a:xfrm>
        </p:grpSpPr>
        <p:grpSp>
          <p:nvGrpSpPr>
            <p:cNvPr id="201" name="组合 150577"/>
            <p:cNvGrpSpPr/>
            <p:nvPr/>
          </p:nvGrpSpPr>
          <p:grpSpPr bwMode="auto">
            <a:xfrm>
              <a:off x="6173060" y="1096085"/>
              <a:ext cx="2800350" cy="2847975"/>
              <a:chOff x="1836" y="2274"/>
              <a:chExt cx="1764" cy="1794"/>
            </a:xfrm>
          </p:grpSpPr>
          <p:grpSp>
            <p:nvGrpSpPr>
              <p:cNvPr id="202" name="组合 150578"/>
              <p:cNvGrpSpPr/>
              <p:nvPr/>
            </p:nvGrpSpPr>
            <p:grpSpPr bwMode="auto">
              <a:xfrm>
                <a:off x="2402" y="2763"/>
                <a:ext cx="646" cy="725"/>
                <a:chOff x="2363" y="2748"/>
                <a:chExt cx="646" cy="725"/>
              </a:xfrm>
            </p:grpSpPr>
            <p:sp>
              <p:nvSpPr>
                <p:cNvPr id="209" name="任意多边形 150579"/>
                <p:cNvSpPr>
                  <a:spLocks noChangeArrowheads="1"/>
                </p:cNvSpPr>
                <p:nvPr/>
              </p:nvSpPr>
              <p:spPr bwMode="auto">
                <a:xfrm>
                  <a:off x="2363" y="2849"/>
                  <a:ext cx="646" cy="624"/>
                </a:xfrm>
                <a:custGeom>
                  <a:avLst/>
                  <a:gdLst>
                    <a:gd name="T0" fmla="*/ 28431 w 43200"/>
                    <a:gd name="T1" fmla="*/ 0 h 42091"/>
                    <a:gd name="T2" fmla="*/ 43200 w 43200"/>
                    <a:gd name="T3" fmla="*/ 20491 h 42091"/>
                    <a:gd name="T4" fmla="*/ 21600 w 43200"/>
                    <a:gd name="T5" fmla="*/ 42091 h 42091"/>
                    <a:gd name="T6" fmla="*/ 0 w 43200"/>
                    <a:gd name="T7" fmla="*/ 20491 h 42091"/>
                    <a:gd name="T8" fmla="*/ 13226 w 43200"/>
                    <a:gd name="T9" fmla="*/ 574 h 42091"/>
                    <a:gd name="T10" fmla="*/ 28431 w 43200"/>
                    <a:gd name="T11" fmla="*/ 0 h 42091"/>
                    <a:gd name="T12" fmla="*/ 43200 w 43200"/>
                    <a:gd name="T13" fmla="*/ 20491 h 42091"/>
                    <a:gd name="T14" fmla="*/ 21600 w 43200"/>
                    <a:gd name="T15" fmla="*/ 42091 h 42091"/>
                    <a:gd name="T16" fmla="*/ 0 w 43200"/>
                    <a:gd name="T17" fmla="*/ 20491 h 42091"/>
                    <a:gd name="T18" fmla="*/ 13226 w 43200"/>
                    <a:gd name="T19" fmla="*/ 574 h 42091"/>
                    <a:gd name="T20" fmla="*/ 21600 w 43200"/>
                    <a:gd name="T21" fmla="*/ 20491 h 420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200" h="42091" fill="none">
                      <a:moveTo>
                        <a:pt x="28431" y="0"/>
                      </a:moveTo>
                      <a:cubicBezTo>
                        <a:pt x="37017" y="2858"/>
                        <a:pt x="43200" y="10952"/>
                        <a:pt x="43200" y="20491"/>
                      </a:cubicBezTo>
                      <a:cubicBezTo>
                        <a:pt x="43200" y="32420"/>
                        <a:pt x="33529" y="42091"/>
                        <a:pt x="21600" y="42091"/>
                      </a:cubicBezTo>
                      <a:cubicBezTo>
                        <a:pt x="9671" y="42091"/>
                        <a:pt x="0" y="32420"/>
                        <a:pt x="0" y="20491"/>
                      </a:cubicBezTo>
                      <a:cubicBezTo>
                        <a:pt x="0" y="11530"/>
                        <a:pt x="5457" y="3844"/>
                        <a:pt x="13226" y="574"/>
                      </a:cubicBezTo>
                    </a:path>
                    <a:path w="43200" h="42091" stroke="0">
                      <a:moveTo>
                        <a:pt x="28431" y="0"/>
                      </a:moveTo>
                      <a:cubicBezTo>
                        <a:pt x="37017" y="2858"/>
                        <a:pt x="43200" y="10952"/>
                        <a:pt x="43200" y="20491"/>
                      </a:cubicBezTo>
                      <a:cubicBezTo>
                        <a:pt x="43200" y="32420"/>
                        <a:pt x="33529" y="42091"/>
                        <a:pt x="21600" y="42091"/>
                      </a:cubicBezTo>
                      <a:cubicBezTo>
                        <a:pt x="9671" y="42091"/>
                        <a:pt x="0" y="32420"/>
                        <a:pt x="0" y="20491"/>
                      </a:cubicBezTo>
                      <a:cubicBezTo>
                        <a:pt x="0" y="11530"/>
                        <a:pt x="5457" y="3844"/>
                        <a:pt x="13226" y="574"/>
                      </a:cubicBezTo>
                      <a:lnTo>
                        <a:pt x="21600" y="20491"/>
                      </a:lnTo>
                      <a:close/>
                    </a:path>
                  </a:pathLst>
                </a:custGeom>
                <a:noFill/>
                <a:ln w="28575">
                  <a:solidFill>
                    <a:schemeClr val="accent2"/>
                  </a:solidFill>
                  <a:round/>
                  <a:tailEnd type="none" w="sm" len="lg"/>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210" name="任意多边形 150580"/>
                <p:cNvSpPr>
                  <a:spLocks noChangeArrowheads="1"/>
                </p:cNvSpPr>
                <p:nvPr/>
              </p:nvSpPr>
              <p:spPr bwMode="auto">
                <a:xfrm>
                  <a:off x="2560" y="2748"/>
                  <a:ext cx="226" cy="110"/>
                </a:xfrm>
                <a:custGeom>
                  <a:avLst/>
                  <a:gdLst>
                    <a:gd name="T0" fmla="*/ 0 w 226"/>
                    <a:gd name="T1" fmla="*/ 110 h 110"/>
                    <a:gd name="T2" fmla="*/ 0 w 226"/>
                    <a:gd name="T3" fmla="*/ 0 h 110"/>
                    <a:gd name="T4" fmla="*/ 226 w 226"/>
                    <a:gd name="T5" fmla="*/ 0 h 110"/>
                    <a:gd name="T6" fmla="*/ 226 w 226"/>
                    <a:gd name="T7" fmla="*/ 100 h 110"/>
                  </a:gdLst>
                  <a:ahLst/>
                  <a:cxnLst>
                    <a:cxn ang="0">
                      <a:pos x="T0" y="T1"/>
                    </a:cxn>
                    <a:cxn ang="0">
                      <a:pos x="T2" y="T3"/>
                    </a:cxn>
                    <a:cxn ang="0">
                      <a:pos x="T4" y="T5"/>
                    </a:cxn>
                    <a:cxn ang="0">
                      <a:pos x="T6" y="T7"/>
                    </a:cxn>
                  </a:cxnLst>
                  <a:rect l="0" t="0" r="r" b="b"/>
                  <a:pathLst>
                    <a:path w="226" h="110">
                      <a:moveTo>
                        <a:pt x="0" y="110"/>
                      </a:moveTo>
                      <a:lnTo>
                        <a:pt x="0" y="0"/>
                      </a:lnTo>
                      <a:lnTo>
                        <a:pt x="226" y="0"/>
                      </a:lnTo>
                      <a:lnTo>
                        <a:pt x="226" y="100"/>
                      </a:lnTo>
                    </a:path>
                  </a:pathLst>
                </a:custGeom>
                <a:noFill/>
                <a:ln w="28575">
                  <a:solidFill>
                    <a:schemeClr val="accent2"/>
                  </a:solidFill>
                  <a:round/>
                  <a:tailEnd type="none" w="sm" len="lg"/>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grpSp>
          <p:grpSp>
            <p:nvGrpSpPr>
              <p:cNvPr id="203" name="组合 150581"/>
              <p:cNvGrpSpPr/>
              <p:nvPr/>
            </p:nvGrpSpPr>
            <p:grpSpPr bwMode="auto">
              <a:xfrm>
                <a:off x="1836" y="2274"/>
                <a:ext cx="1764" cy="1794"/>
                <a:chOff x="1824" y="2250"/>
                <a:chExt cx="1764" cy="1794"/>
              </a:xfrm>
            </p:grpSpPr>
            <p:sp>
              <p:nvSpPr>
                <p:cNvPr id="204" name="椭圆 150582"/>
                <p:cNvSpPr>
                  <a:spLocks noChangeArrowheads="1"/>
                </p:cNvSpPr>
                <p:nvPr/>
              </p:nvSpPr>
              <p:spPr bwMode="auto">
                <a:xfrm flipV="1">
                  <a:off x="1920" y="2345"/>
                  <a:ext cx="1572" cy="1604"/>
                </a:xfrm>
                <a:prstGeom prst="ellipse">
                  <a:avLst/>
                </a:prstGeom>
                <a:noFill/>
                <a:ln w="28575">
                  <a:solidFill>
                    <a:schemeClr val="accent2"/>
                  </a:solidFill>
                  <a:rou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p>
              </p:txBody>
            </p:sp>
            <p:sp>
              <p:nvSpPr>
                <p:cNvPr id="205" name="直接连接符 150583"/>
                <p:cNvSpPr>
                  <a:spLocks noChangeShapeType="1"/>
                </p:cNvSpPr>
                <p:nvPr/>
              </p:nvSpPr>
              <p:spPr bwMode="auto">
                <a:xfrm flipV="1">
                  <a:off x="1824" y="3144"/>
                  <a:ext cx="1764" cy="0"/>
                </a:xfrm>
                <a:prstGeom prst="line">
                  <a:avLst/>
                </a:prstGeom>
                <a:noFill/>
                <a:ln w="12700">
                  <a:solidFill>
                    <a:schemeClr val="accent2"/>
                  </a:solidFill>
                  <a:prstDash val="lgDashDot"/>
                  <a:round/>
                </a:ln>
                <a:extLst>
                  <a:ext uri="{909E8E84-426E-40DD-AFC4-6F175D3DCCD1}">
                    <a14:hiddenFill xmlns:a14="http://schemas.microsoft.com/office/drawing/2010/main">
                      <a:noFill/>
                    </a14:hiddenFill>
                  </a:ext>
                </a:extLst>
              </p:spPr>
              <p:txBody>
                <a:bodyPr/>
                <a:lstStyle/>
                <a:p>
                  <a:endParaRPr lang="zh-CN" altLang="en-US"/>
                </a:p>
              </p:txBody>
            </p:sp>
            <p:sp>
              <p:nvSpPr>
                <p:cNvPr id="206" name="直接连接符 150584"/>
                <p:cNvSpPr>
                  <a:spLocks noChangeShapeType="1"/>
                </p:cNvSpPr>
                <p:nvPr/>
              </p:nvSpPr>
              <p:spPr bwMode="auto">
                <a:xfrm>
                  <a:off x="2706" y="2250"/>
                  <a:ext cx="0" cy="1794"/>
                </a:xfrm>
                <a:prstGeom prst="line">
                  <a:avLst/>
                </a:prstGeom>
                <a:noFill/>
                <a:ln w="12700">
                  <a:solidFill>
                    <a:schemeClr val="accent2"/>
                  </a:solidFill>
                  <a:prstDash val="lgDashDot"/>
                  <a:round/>
                </a:ln>
                <a:extLst>
                  <a:ext uri="{909E8E84-426E-40DD-AFC4-6F175D3DCCD1}">
                    <a14:hiddenFill xmlns:a14="http://schemas.microsoft.com/office/drawing/2010/main">
                      <a:noFill/>
                    </a14:hiddenFill>
                  </a:ext>
                </a:extLst>
              </p:spPr>
              <p:txBody>
                <a:bodyPr/>
                <a:lstStyle/>
                <a:p>
                  <a:endParaRPr lang="zh-CN" altLang="en-US"/>
                </a:p>
              </p:txBody>
            </p:sp>
            <p:sp>
              <p:nvSpPr>
                <p:cNvPr id="207" name="椭圆 150585"/>
                <p:cNvSpPr>
                  <a:spLocks noChangeArrowheads="1"/>
                </p:cNvSpPr>
                <p:nvPr/>
              </p:nvSpPr>
              <p:spPr bwMode="auto">
                <a:xfrm flipV="1">
                  <a:off x="1982" y="2407"/>
                  <a:ext cx="1448" cy="1487"/>
                </a:xfrm>
                <a:prstGeom prst="ellipse">
                  <a:avLst/>
                </a:prstGeom>
                <a:noFill/>
                <a:ln w="12700">
                  <a:solidFill>
                    <a:schemeClr val="accent2"/>
                  </a:solidFill>
                  <a:prstDash val="lgDashDot"/>
                  <a:rou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p>
              </p:txBody>
            </p:sp>
            <p:sp>
              <p:nvSpPr>
                <p:cNvPr id="208" name="椭圆 150586"/>
                <p:cNvSpPr>
                  <a:spLocks noChangeArrowheads="1"/>
                </p:cNvSpPr>
                <p:nvPr/>
              </p:nvSpPr>
              <p:spPr bwMode="auto">
                <a:xfrm flipV="1">
                  <a:off x="2065" y="2475"/>
                  <a:ext cx="1289" cy="1337"/>
                </a:xfrm>
                <a:prstGeom prst="ellipse">
                  <a:avLst/>
                </a:prstGeom>
                <a:noFill/>
                <a:ln w="28575">
                  <a:solidFill>
                    <a:schemeClr val="accent2"/>
                  </a:solidFill>
                  <a:prstDash val="solid"/>
                  <a:rou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p>
              </p:txBody>
            </p:sp>
          </p:grpSp>
        </p:grpSp>
        <p:grpSp>
          <p:nvGrpSpPr>
            <p:cNvPr id="309" name="组合 150639"/>
            <p:cNvGrpSpPr/>
            <p:nvPr/>
          </p:nvGrpSpPr>
          <p:grpSpPr bwMode="auto">
            <a:xfrm>
              <a:off x="7079522" y="1993137"/>
              <a:ext cx="1020763" cy="1036601"/>
              <a:chOff x="3860" y="1351"/>
              <a:chExt cx="643" cy="640"/>
            </a:xfrm>
          </p:grpSpPr>
          <p:sp>
            <p:nvSpPr>
              <p:cNvPr id="310" name="椭圆 150640"/>
              <p:cNvSpPr>
                <a:spLocks noChangeArrowheads="1"/>
              </p:cNvSpPr>
              <p:nvPr/>
            </p:nvSpPr>
            <p:spPr bwMode="auto">
              <a:xfrm>
                <a:off x="3860" y="1351"/>
                <a:ext cx="643" cy="640"/>
              </a:xfrm>
              <a:prstGeom prst="ellipse">
                <a:avLst/>
              </a:prstGeom>
              <a:noFill/>
              <a:ln w="25400">
                <a:solidFill>
                  <a:srgbClr val="FF5050"/>
                </a:solidFill>
                <a:round/>
                <a:tailEnd type="none" w="sm" len="lg"/>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p>
            </p:txBody>
          </p:sp>
          <p:sp>
            <p:nvSpPr>
              <p:cNvPr id="311" name="直接连接符 150641"/>
              <p:cNvSpPr>
                <a:spLocks noChangeShapeType="1"/>
              </p:cNvSpPr>
              <p:nvPr/>
            </p:nvSpPr>
            <p:spPr bwMode="auto">
              <a:xfrm flipH="1">
                <a:off x="4256" y="1753"/>
                <a:ext cx="235" cy="230"/>
              </a:xfrm>
              <a:prstGeom prst="line">
                <a:avLst/>
              </a:prstGeom>
              <a:noFill/>
              <a:ln w="127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312" name="直接连接符 150642"/>
              <p:cNvSpPr>
                <a:spLocks noChangeShapeType="1"/>
              </p:cNvSpPr>
              <p:nvPr/>
            </p:nvSpPr>
            <p:spPr bwMode="auto">
              <a:xfrm flipH="1">
                <a:off x="4161" y="1661"/>
                <a:ext cx="336" cy="328"/>
              </a:xfrm>
              <a:prstGeom prst="line">
                <a:avLst/>
              </a:prstGeom>
              <a:noFill/>
              <a:ln w="127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313" name="直接连接符 150643"/>
              <p:cNvSpPr>
                <a:spLocks noChangeShapeType="1"/>
              </p:cNvSpPr>
              <p:nvPr/>
            </p:nvSpPr>
            <p:spPr bwMode="auto">
              <a:xfrm flipH="1">
                <a:off x="4075" y="1586"/>
                <a:ext cx="410" cy="394"/>
              </a:xfrm>
              <a:prstGeom prst="line">
                <a:avLst/>
              </a:prstGeom>
              <a:noFill/>
              <a:ln w="127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314" name="直接连接符 150644"/>
              <p:cNvSpPr>
                <a:spLocks noChangeShapeType="1"/>
              </p:cNvSpPr>
              <p:nvPr/>
            </p:nvSpPr>
            <p:spPr bwMode="auto">
              <a:xfrm flipH="1">
                <a:off x="3869" y="1371"/>
                <a:ext cx="269" cy="269"/>
              </a:xfrm>
              <a:prstGeom prst="line">
                <a:avLst/>
              </a:prstGeom>
              <a:noFill/>
              <a:ln w="127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315" name="直接连接符 150645"/>
              <p:cNvSpPr>
                <a:spLocks noChangeShapeType="1"/>
              </p:cNvSpPr>
              <p:nvPr/>
            </p:nvSpPr>
            <p:spPr bwMode="auto">
              <a:xfrm flipH="1">
                <a:off x="3872" y="1367"/>
                <a:ext cx="366" cy="362"/>
              </a:xfrm>
              <a:prstGeom prst="line">
                <a:avLst/>
              </a:prstGeom>
              <a:noFill/>
              <a:ln w="127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316" name="直接连接符 150646"/>
              <p:cNvSpPr>
                <a:spLocks noChangeShapeType="1"/>
              </p:cNvSpPr>
              <p:nvPr/>
            </p:nvSpPr>
            <p:spPr bwMode="auto">
              <a:xfrm flipH="1">
                <a:off x="3885" y="1389"/>
                <a:ext cx="451" cy="424"/>
              </a:xfrm>
              <a:prstGeom prst="line">
                <a:avLst/>
              </a:prstGeom>
              <a:noFill/>
              <a:ln w="127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317" name="直接连接符 150647"/>
              <p:cNvSpPr>
                <a:spLocks noChangeShapeType="1"/>
              </p:cNvSpPr>
              <p:nvPr/>
            </p:nvSpPr>
            <p:spPr bwMode="auto">
              <a:xfrm flipH="1">
                <a:off x="3916" y="1431"/>
                <a:ext cx="464" cy="439"/>
              </a:xfrm>
              <a:prstGeom prst="line">
                <a:avLst/>
              </a:prstGeom>
              <a:noFill/>
              <a:ln w="127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318" name="直接连接符 150648"/>
              <p:cNvSpPr>
                <a:spLocks noChangeShapeType="1"/>
              </p:cNvSpPr>
              <p:nvPr/>
            </p:nvSpPr>
            <p:spPr bwMode="auto">
              <a:xfrm flipH="1">
                <a:off x="3968" y="1481"/>
                <a:ext cx="458" cy="434"/>
              </a:xfrm>
              <a:prstGeom prst="line">
                <a:avLst/>
              </a:prstGeom>
              <a:noFill/>
              <a:ln w="127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319" name="直接连接符 150649"/>
              <p:cNvSpPr>
                <a:spLocks noChangeShapeType="1"/>
              </p:cNvSpPr>
              <p:nvPr/>
            </p:nvSpPr>
            <p:spPr bwMode="auto">
              <a:xfrm flipH="1">
                <a:off x="4026" y="1532"/>
                <a:ext cx="440" cy="412"/>
              </a:xfrm>
              <a:prstGeom prst="line">
                <a:avLst/>
              </a:prstGeom>
              <a:noFill/>
              <a:ln w="12700">
                <a:solidFill>
                  <a:srgbClr val="FF505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321" name="组合 150651"/>
            <p:cNvGrpSpPr/>
            <p:nvPr/>
          </p:nvGrpSpPr>
          <p:grpSpPr bwMode="auto">
            <a:xfrm flipH="1">
              <a:off x="7393547" y="1921585"/>
              <a:ext cx="341312" cy="222250"/>
              <a:chOff x="3288" y="915"/>
              <a:chExt cx="185" cy="160"/>
            </a:xfrm>
          </p:grpSpPr>
          <p:sp>
            <p:nvSpPr>
              <p:cNvPr id="323" name="矩形 150652"/>
              <p:cNvSpPr>
                <a:spLocks noChangeArrowheads="1"/>
              </p:cNvSpPr>
              <p:nvPr/>
            </p:nvSpPr>
            <p:spPr bwMode="auto">
              <a:xfrm>
                <a:off x="3291" y="915"/>
                <a:ext cx="180" cy="159"/>
              </a:xfrm>
              <a:prstGeom prst="rect">
                <a:avLst/>
              </a:prstGeom>
              <a:solidFill>
                <a:srgbClr val="FDDFFB"/>
              </a:solidFill>
              <a:ln w="28575">
                <a:solidFill>
                  <a:srgbClr val="008000"/>
                </a:solidFill>
                <a:miter lim="800000"/>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a:defRPr sz="2400" b="1">
                    <a:solidFill>
                      <a:schemeClr val="tx1"/>
                    </a:solidFill>
                    <a:latin typeface="Times New Roman" panose="02020603050405020304" pitchFamily="18" charset="0"/>
                    <a:ea typeface="宋体" panose="02010600030101010101" pitchFamily="2" charset="-122"/>
                  </a:defRPr>
                </a:lvl3pPr>
                <a:lvl4pPr>
                  <a:defRPr sz="2400" b="1">
                    <a:solidFill>
                      <a:schemeClr val="tx1"/>
                    </a:solidFill>
                    <a:latin typeface="Times New Roman" panose="02020603050405020304" pitchFamily="18" charset="0"/>
                    <a:ea typeface="宋体" panose="02010600030101010101" pitchFamily="2" charset="-122"/>
                  </a:defRPr>
                </a:lvl4pPr>
                <a:lvl5pPr>
                  <a:defRPr sz="24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p>
            </p:txBody>
          </p:sp>
          <p:grpSp>
            <p:nvGrpSpPr>
              <p:cNvPr id="324" name="组合 150653"/>
              <p:cNvGrpSpPr/>
              <p:nvPr/>
            </p:nvGrpSpPr>
            <p:grpSpPr bwMode="auto">
              <a:xfrm>
                <a:off x="3288" y="917"/>
                <a:ext cx="185" cy="158"/>
                <a:chOff x="3288" y="917"/>
                <a:chExt cx="185" cy="158"/>
              </a:xfrm>
            </p:grpSpPr>
            <p:sp>
              <p:nvSpPr>
                <p:cNvPr id="325" name="直接连接符 150654"/>
                <p:cNvSpPr>
                  <a:spLocks noChangeShapeType="1"/>
                </p:cNvSpPr>
                <p:nvPr/>
              </p:nvSpPr>
              <p:spPr bwMode="auto">
                <a:xfrm flipH="1">
                  <a:off x="3288" y="919"/>
                  <a:ext cx="86" cy="84"/>
                </a:xfrm>
                <a:prstGeom prst="line">
                  <a:avLst/>
                </a:prstGeom>
                <a:noFill/>
                <a:ln w="12700">
                  <a:solidFill>
                    <a:srgbClr val="00800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326" name="直接连接符 150655"/>
                <p:cNvSpPr>
                  <a:spLocks noChangeShapeType="1"/>
                </p:cNvSpPr>
                <p:nvPr/>
              </p:nvSpPr>
              <p:spPr bwMode="auto">
                <a:xfrm flipH="1">
                  <a:off x="3294" y="917"/>
                  <a:ext cx="141" cy="152"/>
                </a:xfrm>
                <a:prstGeom prst="line">
                  <a:avLst/>
                </a:prstGeom>
                <a:noFill/>
                <a:ln w="12700">
                  <a:solidFill>
                    <a:srgbClr val="00800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327" name="直接连接符 150656"/>
                <p:cNvSpPr>
                  <a:spLocks noChangeShapeType="1"/>
                </p:cNvSpPr>
                <p:nvPr/>
              </p:nvSpPr>
              <p:spPr bwMode="auto">
                <a:xfrm flipH="1">
                  <a:off x="3343" y="935"/>
                  <a:ext cx="130" cy="138"/>
                </a:xfrm>
                <a:prstGeom prst="line">
                  <a:avLst/>
                </a:prstGeom>
                <a:noFill/>
                <a:ln w="12700">
                  <a:solidFill>
                    <a:srgbClr val="00800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328" name="直接连接符 150657"/>
                <p:cNvSpPr>
                  <a:spLocks noChangeShapeType="1"/>
                </p:cNvSpPr>
                <p:nvPr/>
              </p:nvSpPr>
              <p:spPr bwMode="auto">
                <a:xfrm flipH="1">
                  <a:off x="3401" y="1005"/>
                  <a:ext cx="68" cy="70"/>
                </a:xfrm>
                <a:prstGeom prst="line">
                  <a:avLst/>
                </a:prstGeom>
                <a:noFill/>
                <a:ln w="12700">
                  <a:solidFill>
                    <a:srgbClr val="00800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grpSp>
        </p:grpSp>
        <p:cxnSp>
          <p:nvCxnSpPr>
            <p:cNvPr id="3" name="直接连接符 2"/>
            <p:cNvCxnSpPr>
              <a:stCxn id="208" idx="4"/>
              <a:endCxn id="208" idx="6"/>
            </p:cNvCxnSpPr>
            <p:nvPr/>
          </p:nvCxnSpPr>
          <p:spPr>
            <a:xfrm>
              <a:off x="7578792" y="1453273"/>
              <a:ext cx="1023144" cy="1061244"/>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32" name="直接连接符 331"/>
            <p:cNvCxnSpPr/>
            <p:nvPr/>
          </p:nvCxnSpPr>
          <p:spPr>
            <a:xfrm>
              <a:off x="7471238" y="1480221"/>
              <a:ext cx="1108838" cy="116079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34" name="直接连接符 333"/>
            <p:cNvCxnSpPr/>
            <p:nvPr/>
          </p:nvCxnSpPr>
          <p:spPr>
            <a:xfrm>
              <a:off x="6567966" y="2431525"/>
              <a:ext cx="1108838" cy="116079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35" name="直接连接符 334"/>
            <p:cNvCxnSpPr/>
            <p:nvPr/>
          </p:nvCxnSpPr>
          <p:spPr>
            <a:xfrm>
              <a:off x="6560823" y="2632213"/>
              <a:ext cx="898112" cy="915246"/>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36" name="直接连接符 335"/>
            <p:cNvCxnSpPr/>
            <p:nvPr/>
          </p:nvCxnSpPr>
          <p:spPr>
            <a:xfrm>
              <a:off x="6618957" y="2848773"/>
              <a:ext cx="681229" cy="693373"/>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37" name="直接连接符 336"/>
            <p:cNvCxnSpPr/>
            <p:nvPr/>
          </p:nvCxnSpPr>
          <p:spPr>
            <a:xfrm>
              <a:off x="6584950" y="2288286"/>
              <a:ext cx="1188676" cy="1259173"/>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6701609" y="2051050"/>
              <a:ext cx="405084" cy="43094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55" name="直接连接符 354"/>
            <p:cNvCxnSpPr/>
            <p:nvPr/>
          </p:nvCxnSpPr>
          <p:spPr>
            <a:xfrm>
              <a:off x="6633800" y="2181142"/>
              <a:ext cx="475885" cy="50626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56" name="直接连接符 355"/>
            <p:cNvCxnSpPr/>
            <p:nvPr/>
          </p:nvCxnSpPr>
          <p:spPr>
            <a:xfrm>
              <a:off x="6724650" y="1902171"/>
              <a:ext cx="387897" cy="39718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57" name="直接连接符 356"/>
            <p:cNvCxnSpPr/>
            <p:nvPr/>
          </p:nvCxnSpPr>
          <p:spPr>
            <a:xfrm>
              <a:off x="6803247" y="1816100"/>
              <a:ext cx="396184" cy="401079"/>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59" name="直接连接符 358"/>
            <p:cNvCxnSpPr/>
            <p:nvPr/>
          </p:nvCxnSpPr>
          <p:spPr>
            <a:xfrm>
              <a:off x="7009879" y="1646942"/>
              <a:ext cx="388353" cy="424784"/>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60" name="直接连接符 359"/>
            <p:cNvCxnSpPr/>
            <p:nvPr/>
          </p:nvCxnSpPr>
          <p:spPr>
            <a:xfrm>
              <a:off x="7105014" y="1587391"/>
              <a:ext cx="288533" cy="316095"/>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61" name="直接连接符 360"/>
            <p:cNvCxnSpPr/>
            <p:nvPr/>
          </p:nvCxnSpPr>
          <p:spPr>
            <a:xfrm>
              <a:off x="7171220" y="1525709"/>
              <a:ext cx="371515" cy="385161"/>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62" name="直接连接符 361"/>
            <p:cNvCxnSpPr/>
            <p:nvPr/>
          </p:nvCxnSpPr>
          <p:spPr>
            <a:xfrm>
              <a:off x="7325923" y="1505415"/>
              <a:ext cx="315071" cy="358214"/>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80" name="直接连接符 379"/>
            <p:cNvCxnSpPr/>
            <p:nvPr/>
          </p:nvCxnSpPr>
          <p:spPr>
            <a:xfrm>
              <a:off x="7816150" y="1492250"/>
              <a:ext cx="743650" cy="77134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83" name="直接连接符 382"/>
            <p:cNvCxnSpPr/>
            <p:nvPr/>
          </p:nvCxnSpPr>
          <p:spPr>
            <a:xfrm>
              <a:off x="8032750" y="2247900"/>
              <a:ext cx="520700" cy="55245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86" name="直接连接符 385"/>
            <p:cNvCxnSpPr>
              <a:stCxn id="312" idx="0"/>
            </p:cNvCxnSpPr>
            <p:nvPr/>
          </p:nvCxnSpPr>
          <p:spPr>
            <a:xfrm>
              <a:off x="8090760" y="2495241"/>
              <a:ext cx="424590" cy="463859"/>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87" name="直接连接符 386"/>
            <p:cNvCxnSpPr>
              <a:stCxn id="311" idx="0"/>
            </p:cNvCxnSpPr>
            <p:nvPr/>
          </p:nvCxnSpPr>
          <p:spPr>
            <a:xfrm>
              <a:off x="8081235" y="2644252"/>
              <a:ext cx="389665" cy="45454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89" name="直接连接符 388"/>
            <p:cNvCxnSpPr>
              <a:endCxn id="208" idx="7"/>
            </p:cNvCxnSpPr>
            <p:nvPr/>
          </p:nvCxnSpPr>
          <p:spPr>
            <a:xfrm>
              <a:off x="7948156" y="2927350"/>
              <a:ext cx="354108" cy="33758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90" name="直接连接符 389"/>
            <p:cNvCxnSpPr/>
            <p:nvPr/>
          </p:nvCxnSpPr>
          <p:spPr>
            <a:xfrm>
              <a:off x="7848600" y="2998981"/>
              <a:ext cx="315529" cy="334769"/>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91" name="直接连接符 390"/>
            <p:cNvCxnSpPr/>
            <p:nvPr/>
          </p:nvCxnSpPr>
          <p:spPr>
            <a:xfrm>
              <a:off x="7708900" y="3041882"/>
              <a:ext cx="355600" cy="377283"/>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92" name="直接连接符 391"/>
            <p:cNvCxnSpPr/>
            <p:nvPr/>
          </p:nvCxnSpPr>
          <p:spPr>
            <a:xfrm>
              <a:off x="7486650" y="3035300"/>
              <a:ext cx="436909" cy="46355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93" name="直接连接符 392"/>
            <p:cNvCxnSpPr/>
            <p:nvPr/>
          </p:nvCxnSpPr>
          <p:spPr>
            <a:xfrm>
              <a:off x="6879447" y="1733550"/>
              <a:ext cx="396184" cy="401079"/>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05" name="直接连接符 404"/>
            <p:cNvCxnSpPr/>
            <p:nvPr/>
          </p:nvCxnSpPr>
          <p:spPr>
            <a:xfrm>
              <a:off x="8011656" y="2800350"/>
              <a:ext cx="354108" cy="33758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56" name="直接连接符 55"/>
          <p:cNvCxnSpPr/>
          <p:nvPr/>
        </p:nvCxnSpPr>
        <p:spPr>
          <a:xfrm>
            <a:off x="2942590" y="976630"/>
            <a:ext cx="0" cy="2286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9" name="直接连接符 408"/>
          <p:cNvCxnSpPr/>
          <p:nvPr/>
        </p:nvCxnSpPr>
        <p:spPr>
          <a:xfrm>
            <a:off x="2923540" y="3935730"/>
            <a:ext cx="0" cy="2286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a:off x="2929890" y="970280"/>
            <a:ext cx="3048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4" name="直接箭头连接符 413"/>
          <p:cNvCxnSpPr/>
          <p:nvPr/>
        </p:nvCxnSpPr>
        <p:spPr>
          <a:xfrm>
            <a:off x="2929890" y="4170680"/>
            <a:ext cx="3048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a:xfrm>
            <a:off x="2504440" y="767080"/>
            <a:ext cx="342900" cy="461665"/>
          </a:xfrm>
          <a:prstGeom prst="rect">
            <a:avLst/>
          </a:prstGeom>
          <a:noFill/>
        </p:spPr>
        <p:txBody>
          <a:bodyPr wrap="square" rtlCol="0">
            <a:spAutoFit/>
          </a:bodyPr>
          <a:lstStyle/>
          <a:p>
            <a:r>
              <a:rPr lang="en-US" altLang="zh-CN" i="1" dirty="0" smtClean="0">
                <a:solidFill>
                  <a:srgbClr val="FF0000"/>
                </a:solidFill>
              </a:rPr>
              <a:t>A</a:t>
            </a:r>
            <a:endParaRPr lang="zh-CN" altLang="en-US" i="1" dirty="0">
              <a:solidFill>
                <a:srgbClr val="FF0000"/>
              </a:solidFill>
            </a:endParaRPr>
          </a:p>
        </p:txBody>
      </p:sp>
      <p:sp>
        <p:nvSpPr>
          <p:cNvPr id="416" name="文本框 415"/>
          <p:cNvSpPr txBox="1"/>
          <p:nvPr/>
        </p:nvSpPr>
        <p:spPr>
          <a:xfrm>
            <a:off x="2548890" y="3859530"/>
            <a:ext cx="342900" cy="461665"/>
          </a:xfrm>
          <a:prstGeom prst="rect">
            <a:avLst/>
          </a:prstGeom>
          <a:noFill/>
        </p:spPr>
        <p:txBody>
          <a:bodyPr wrap="square" rtlCol="0">
            <a:spAutoFit/>
          </a:bodyPr>
          <a:lstStyle/>
          <a:p>
            <a:r>
              <a:rPr lang="en-US" altLang="zh-CN" i="1" dirty="0" smtClean="0">
                <a:solidFill>
                  <a:srgbClr val="FF0000"/>
                </a:solidFill>
              </a:rPr>
              <a:t>A</a:t>
            </a:r>
            <a:endParaRPr lang="zh-CN" altLang="en-US" i="1" dirty="0">
              <a:solidFill>
                <a:srgbClr val="FF0000"/>
              </a:solidFill>
            </a:endParaRPr>
          </a:p>
        </p:txBody>
      </p:sp>
      <p:sp>
        <p:nvSpPr>
          <p:cNvPr id="4" name="文本框 3"/>
          <p:cNvSpPr txBox="1"/>
          <p:nvPr/>
        </p:nvSpPr>
        <p:spPr>
          <a:xfrm>
            <a:off x="5462341" y="730391"/>
            <a:ext cx="959555" cy="461665"/>
          </a:xfrm>
          <a:prstGeom prst="rect">
            <a:avLst/>
          </a:prstGeom>
          <a:noFill/>
        </p:spPr>
        <p:txBody>
          <a:bodyPr wrap="square" rtlCol="0">
            <a:spAutoFit/>
          </a:bodyPr>
          <a:lstStyle/>
          <a:p>
            <a:r>
              <a:rPr lang="en-US" altLang="zh-CN" dirty="0" smtClean="0">
                <a:solidFill>
                  <a:srgbClr val="FF0000"/>
                </a:solidFill>
              </a:rPr>
              <a:t>A-A</a:t>
            </a:r>
            <a:endParaRPr lang="zh-CN" altLang="en-US"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0-#ppt_w/2"/>
                                          </p:val>
                                        </p:tav>
                                        <p:tav tm="100000">
                                          <p:val>
                                            <p:strVal val="#ppt_x"/>
                                          </p:val>
                                        </p:tav>
                                      </p:tavLst>
                                    </p:anim>
                                    <p:anim calcmode="lin" valueType="num">
                                      <p:cBhvr additive="base">
                                        <p:cTn id="12" dur="500" fill="hold"/>
                                        <p:tgtEl>
                                          <p:spTgt spid="13"/>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 presetClass="entr" presetSubtype="0" fill="hold" nodeType="afterEffect">
                                  <p:stCondLst>
                                    <p:cond delay="0"/>
                                  </p:stCondLst>
                                  <p:childTnLst>
                                    <p:set>
                                      <p:cBhvr>
                                        <p:cTn id="15" dur="1" fill="hold">
                                          <p:stCondLst>
                                            <p:cond delay="499"/>
                                          </p:stCondLst>
                                        </p:cTn>
                                        <p:tgtEl>
                                          <p:spTgt spid="14"/>
                                        </p:tgtEl>
                                        <p:attrNameLst>
                                          <p:attrName>style.visibility</p:attrName>
                                        </p:attrNameLst>
                                      </p:cBhvr>
                                      <p:to>
                                        <p:strVal val="visible"/>
                                      </p:to>
                                    </p:set>
                                  </p:childTnLst>
                                </p:cTn>
                              </p:par>
                            </p:childTnLst>
                          </p:cTn>
                        </p:par>
                        <p:par>
                          <p:cTn id="16" fill="hold">
                            <p:stCondLst>
                              <p:cond delay="1500"/>
                            </p:stCondLst>
                            <p:childTnLst>
                              <p:par>
                                <p:cTn id="17" presetID="1" presetClass="entr" presetSubtype="0" fill="hold" nodeType="afterEffect">
                                  <p:stCondLst>
                                    <p:cond delay="0"/>
                                  </p:stCondLst>
                                  <p:childTnLst>
                                    <p:set>
                                      <p:cBhvr>
                                        <p:cTn id="18" dur="1" fill="hold">
                                          <p:stCondLst>
                                            <p:cond delay="499"/>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25629"/>
                                        </p:tgtEl>
                                        <p:attrNameLst>
                                          <p:attrName>style.visibility</p:attrName>
                                        </p:attrNameLst>
                                      </p:cBhvr>
                                      <p:to>
                                        <p:strVal val="visible"/>
                                      </p:to>
                                    </p:set>
                                    <p:anim calcmode="lin" valueType="num">
                                      <p:cBhvr additive="base">
                                        <p:cTn id="23" dur="500" fill="hold"/>
                                        <p:tgtEl>
                                          <p:spTgt spid="25629"/>
                                        </p:tgtEl>
                                        <p:attrNameLst>
                                          <p:attrName>ppt_x</p:attrName>
                                        </p:attrNameLst>
                                      </p:cBhvr>
                                      <p:tavLst>
                                        <p:tav tm="0">
                                          <p:val>
                                            <p:strVal val="0-#ppt_w/2"/>
                                          </p:val>
                                        </p:tav>
                                        <p:tav tm="100000">
                                          <p:val>
                                            <p:strVal val="#ppt_x"/>
                                          </p:val>
                                        </p:tav>
                                      </p:tavLst>
                                    </p:anim>
                                    <p:anim calcmode="lin" valueType="num">
                                      <p:cBhvr additive="base">
                                        <p:cTn id="24" dur="500" fill="hold"/>
                                        <p:tgtEl>
                                          <p:spTgt spid="25629"/>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150605"/>
                                        </p:tgtEl>
                                        <p:attrNameLst>
                                          <p:attrName>style.visibility</p:attrName>
                                        </p:attrNameLst>
                                      </p:cBhvr>
                                      <p:to>
                                        <p:strVal val="visible"/>
                                      </p:to>
                                    </p:set>
                                    <p:animEffect transition="in" filter="dissolve">
                                      <p:cBhvr>
                                        <p:cTn id="29" dur="500"/>
                                        <p:tgtEl>
                                          <p:spTgt spid="15060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70786"/>
                                        </p:tgtEl>
                                        <p:attrNameLst>
                                          <p:attrName>style.visibility</p:attrName>
                                        </p:attrNameLst>
                                      </p:cBhvr>
                                      <p:to>
                                        <p:strVal val="visible"/>
                                      </p:to>
                                    </p:set>
                                    <p:animEffect transition="in" filter="wipe(left)">
                                      <p:cBhvr>
                                        <p:cTn id="34" dur="500"/>
                                        <p:tgtEl>
                                          <p:spTgt spid="70786"/>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150530"/>
                                        </p:tgtEl>
                                        <p:attrNameLst>
                                          <p:attrName>style.visibility</p:attrName>
                                        </p:attrNameLst>
                                      </p:cBhvr>
                                      <p:to>
                                        <p:strVal val="visible"/>
                                      </p:to>
                                    </p:set>
                                    <p:animEffect transition="in" filter="dissolve">
                                      <p:cBhvr>
                                        <p:cTn id="39" dur="500"/>
                                        <p:tgtEl>
                                          <p:spTgt spid="15053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414"/>
                                        </p:tgtEl>
                                        <p:attrNameLst>
                                          <p:attrName>style.visibility</p:attrName>
                                        </p:attrNameLst>
                                      </p:cBhvr>
                                      <p:to>
                                        <p:strVal val="visible"/>
                                      </p:to>
                                    </p:set>
                                    <p:animEffect transition="in" filter="wipe(left)">
                                      <p:cBhvr>
                                        <p:cTn id="44" dur="500"/>
                                        <p:tgtEl>
                                          <p:spTgt spid="414"/>
                                        </p:tgtEl>
                                      </p:cBhvr>
                                    </p:animEffect>
                                  </p:childTnLst>
                                </p:cTn>
                              </p:par>
                              <p:par>
                                <p:cTn id="45" presetID="22" presetClass="entr" presetSubtype="1" fill="hold" nodeType="withEffect">
                                  <p:stCondLst>
                                    <p:cond delay="0"/>
                                  </p:stCondLst>
                                  <p:childTnLst>
                                    <p:set>
                                      <p:cBhvr>
                                        <p:cTn id="46" dur="1" fill="hold">
                                          <p:stCondLst>
                                            <p:cond delay="0"/>
                                          </p:stCondLst>
                                        </p:cTn>
                                        <p:tgtEl>
                                          <p:spTgt spid="56"/>
                                        </p:tgtEl>
                                        <p:attrNameLst>
                                          <p:attrName>style.visibility</p:attrName>
                                        </p:attrNameLst>
                                      </p:cBhvr>
                                      <p:to>
                                        <p:strVal val="visible"/>
                                      </p:to>
                                    </p:set>
                                    <p:animEffect transition="in" filter="wipe(up)">
                                      <p:cBhvr>
                                        <p:cTn id="47" dur="500"/>
                                        <p:tgtEl>
                                          <p:spTgt spid="56"/>
                                        </p:tgtEl>
                                      </p:cBhvr>
                                    </p:animEffect>
                                  </p:childTnLst>
                                </p:cTn>
                              </p:par>
                              <p:par>
                                <p:cTn id="48" presetID="22" presetClass="entr" presetSubtype="1" fill="hold" nodeType="withEffect">
                                  <p:stCondLst>
                                    <p:cond delay="0"/>
                                  </p:stCondLst>
                                  <p:childTnLst>
                                    <p:set>
                                      <p:cBhvr>
                                        <p:cTn id="49" dur="1" fill="hold">
                                          <p:stCondLst>
                                            <p:cond delay="0"/>
                                          </p:stCondLst>
                                        </p:cTn>
                                        <p:tgtEl>
                                          <p:spTgt spid="409"/>
                                        </p:tgtEl>
                                        <p:attrNameLst>
                                          <p:attrName>style.visibility</p:attrName>
                                        </p:attrNameLst>
                                      </p:cBhvr>
                                      <p:to>
                                        <p:strVal val="visible"/>
                                      </p:to>
                                    </p:set>
                                    <p:animEffect transition="in" filter="wipe(up)">
                                      <p:cBhvr>
                                        <p:cTn id="50" dur="500"/>
                                        <p:tgtEl>
                                          <p:spTgt spid="409"/>
                                        </p:tgtEl>
                                      </p:cBhvr>
                                    </p:animEffect>
                                  </p:childTnLst>
                                </p:cTn>
                              </p:par>
                              <p:par>
                                <p:cTn id="51" presetID="22" presetClass="entr" presetSubtype="8" fill="hold" nodeType="withEffect">
                                  <p:stCondLst>
                                    <p:cond delay="0"/>
                                  </p:stCondLst>
                                  <p:childTnLst>
                                    <p:set>
                                      <p:cBhvr>
                                        <p:cTn id="52" dur="1" fill="hold">
                                          <p:stCondLst>
                                            <p:cond delay="0"/>
                                          </p:stCondLst>
                                        </p:cTn>
                                        <p:tgtEl>
                                          <p:spTgt spid="60"/>
                                        </p:tgtEl>
                                        <p:attrNameLst>
                                          <p:attrName>style.visibility</p:attrName>
                                        </p:attrNameLst>
                                      </p:cBhvr>
                                      <p:to>
                                        <p:strVal val="visible"/>
                                      </p:to>
                                    </p:set>
                                    <p:animEffect transition="in" filter="wipe(left)">
                                      <p:cBhvr>
                                        <p:cTn id="53" dur="500"/>
                                        <p:tgtEl>
                                          <p:spTgt spid="6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61"/>
                                        </p:tgtEl>
                                        <p:attrNameLst>
                                          <p:attrName>style.visibility</p:attrName>
                                        </p:attrNameLst>
                                      </p:cBhvr>
                                      <p:to>
                                        <p:strVal val="visible"/>
                                      </p:to>
                                    </p:set>
                                    <p:animEffect transition="in" filter="wipe(down)">
                                      <p:cBhvr>
                                        <p:cTn id="58" dur="500"/>
                                        <p:tgtEl>
                                          <p:spTgt spid="61"/>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416"/>
                                        </p:tgtEl>
                                        <p:attrNameLst>
                                          <p:attrName>style.visibility</p:attrName>
                                        </p:attrNameLst>
                                      </p:cBhvr>
                                      <p:to>
                                        <p:strVal val="visible"/>
                                      </p:to>
                                    </p:set>
                                    <p:animEffect transition="in" filter="wipe(down)">
                                      <p:cBhvr>
                                        <p:cTn id="61" dur="500"/>
                                        <p:tgtEl>
                                          <p:spTgt spid="416"/>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54"/>
                                        </p:tgtEl>
                                        <p:attrNameLst>
                                          <p:attrName>style.visibility</p:attrName>
                                        </p:attrNameLst>
                                      </p:cBhvr>
                                      <p:to>
                                        <p:strVal val="visible"/>
                                      </p:to>
                                    </p:set>
                                    <p:animEffect transition="in" filter="wipe(left)">
                                      <p:cBhvr>
                                        <p:cTn id="66" dur="500"/>
                                        <p:tgtEl>
                                          <p:spTgt spid="54"/>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4"/>
                                        </p:tgtEl>
                                        <p:attrNameLst>
                                          <p:attrName>style.visibility</p:attrName>
                                        </p:attrNameLst>
                                      </p:cBhvr>
                                      <p:to>
                                        <p:strVal val="visible"/>
                                      </p:to>
                                    </p:set>
                                    <p:animEffect transition="in" filter="wipe(left)">
                                      <p:cBhvr>
                                        <p:cTn id="7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29" grpId="0"/>
      <p:bldP spid="2" grpId="0"/>
      <p:bldP spid="61" grpId="0"/>
      <p:bldP spid="416" grpId="0"/>
      <p:bldP spid="4" grpId="0"/>
      <p:bldP spid="70786"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8" name="矩形 320517"/>
          <p:cNvSpPr/>
          <p:nvPr/>
        </p:nvSpPr>
        <p:spPr>
          <a:xfrm>
            <a:off x="195580" y="292421"/>
            <a:ext cx="4311650" cy="521970"/>
          </a:xfrm>
          <a:prstGeom prst="rect">
            <a:avLst/>
          </a:prstGeom>
          <a:noFill/>
          <a:ln w="28575">
            <a:noFill/>
          </a:ln>
        </p:spPr>
        <p:txBody>
          <a:bodyPr>
            <a:spAutoFit/>
          </a:bodyPr>
          <a:lstStyle/>
          <a:p>
            <a:pPr>
              <a:spcAft>
                <a:spcPts val="0"/>
              </a:spcAft>
            </a:pPr>
            <a:r>
              <a:rPr lang="en-US" altLang="zh-CN" sz="2800" b="1" dirty="0">
                <a:solidFill>
                  <a:srgbClr val="FF0000"/>
                </a:solidFill>
                <a:latin typeface="Times New Roman" panose="02020603050405020304" pitchFamily="18" charset="0"/>
              </a:rPr>
              <a:t> </a:t>
            </a:r>
            <a:r>
              <a:rPr lang="zh-CN" altLang="en-US" sz="2800" b="1" dirty="0">
                <a:solidFill>
                  <a:srgbClr val="FF0000"/>
                </a:solidFill>
                <a:latin typeface="Times New Roman" panose="02020603050405020304" pitchFamily="18" charset="0"/>
              </a:rPr>
              <a:t>零件</a:t>
            </a:r>
            <a:r>
              <a:rPr lang="zh-CN" altLang="en-US" sz="2800" b="1" dirty="0">
                <a:solidFill>
                  <a:schemeClr val="hlink"/>
                </a:solidFill>
                <a:latin typeface="Times New Roman" panose="02020603050405020304" pitchFamily="18" charset="0"/>
              </a:rPr>
              <a:t> </a:t>
            </a:r>
            <a:r>
              <a:rPr lang="zh-CN" altLang="en-US" sz="2800" b="1" dirty="0">
                <a:latin typeface="Times New Roman" panose="02020603050405020304" pitchFamily="18" charset="0"/>
              </a:rPr>
              <a:t>－ </a:t>
            </a:r>
            <a:r>
              <a:rPr lang="zh-CN" altLang="en-US" b="1" dirty="0">
                <a:latin typeface="Times New Roman" panose="02020603050405020304" pitchFamily="18" charset="0"/>
              </a:rPr>
              <a:t>独立的制造单元</a:t>
            </a:r>
            <a:endParaRPr lang="zh-CN" altLang="en-US" b="1" dirty="0">
              <a:latin typeface="Times New Roman" panose="02020603050405020304" pitchFamily="18" charset="0"/>
            </a:endParaRPr>
          </a:p>
        </p:txBody>
      </p:sp>
      <p:sp>
        <p:nvSpPr>
          <p:cNvPr id="320521" name="文本框 320520"/>
          <p:cNvSpPr txBox="1"/>
          <p:nvPr/>
        </p:nvSpPr>
        <p:spPr>
          <a:xfrm>
            <a:off x="893445" y="864870"/>
            <a:ext cx="8081645" cy="1198880"/>
          </a:xfrm>
          <a:prstGeom prst="rect">
            <a:avLst/>
          </a:prstGeom>
          <a:noFill/>
          <a:ln w="28575">
            <a:noFill/>
          </a:ln>
        </p:spPr>
        <p:txBody>
          <a:bodyPr wrap="square">
            <a:spAutoFit/>
          </a:bodyPr>
          <a:lstStyle/>
          <a:p>
            <a:pPr algn="l">
              <a:lnSpc>
                <a:spcPct val="150000"/>
              </a:lnSpc>
              <a:spcBef>
                <a:spcPts val="0"/>
              </a:spcBef>
              <a:spcAft>
                <a:spcPts val="0"/>
              </a:spcAft>
            </a:pPr>
            <a:r>
              <a:rPr lang="zh-CN" altLang="en-US" dirty="0">
                <a:solidFill>
                  <a:schemeClr val="accent2">
                    <a:lumMod val="75000"/>
                  </a:schemeClr>
                </a:solidFill>
                <a:latin typeface="黑体" panose="02010609060101010101" pitchFamily="49" charset="-122"/>
                <a:ea typeface="黑体" panose="02010609060101010101" pitchFamily="49" charset="-122"/>
              </a:rPr>
              <a:t>通用零件</a:t>
            </a:r>
            <a:r>
              <a:rPr lang="zh-CN" altLang="en-US" dirty="0">
                <a:latin typeface="黑体" panose="02010609060101010101" pitchFamily="49" charset="-122"/>
                <a:ea typeface="黑体" panose="02010609060101010101" pitchFamily="49" charset="-122"/>
              </a:rPr>
              <a:t>：是在各类机械中经常用到、具有</a:t>
            </a:r>
            <a:r>
              <a:rPr lang="zh-CN" altLang="en-US" dirty="0" smtClean="0">
                <a:latin typeface="黑体" panose="02010609060101010101" pitchFamily="49" charset="-122"/>
                <a:ea typeface="黑体" panose="02010609060101010101" pitchFamily="49" charset="-122"/>
              </a:rPr>
              <a:t>相同功能的零件</a:t>
            </a:r>
            <a:r>
              <a:rPr lang="zh-CN" altLang="en-US" dirty="0">
                <a:latin typeface="黑体" panose="02010609060101010101" pitchFamily="49" charset="-122"/>
                <a:ea typeface="黑体" panose="02010609060101010101" pitchFamily="49" charset="-122"/>
              </a:rPr>
              <a:t>，如螺钉、齿轮、键、轴</a:t>
            </a:r>
            <a:r>
              <a:rPr lang="zh-CN" altLang="en-US" dirty="0" smtClean="0">
                <a:latin typeface="黑体" panose="02010609060101010101" pitchFamily="49" charset="-122"/>
                <a:ea typeface="黑体" panose="02010609060101010101" pitchFamily="49" charset="-122"/>
              </a:rPr>
              <a:t>、轴承</a:t>
            </a:r>
            <a:r>
              <a:rPr lang="zh-CN" altLang="en-US" dirty="0">
                <a:latin typeface="黑体" panose="02010609060101010101" pitchFamily="49" charset="-122"/>
                <a:ea typeface="黑体" panose="02010609060101010101" pitchFamily="49" charset="-122"/>
              </a:rPr>
              <a:t>、联轴器、弹簧等。</a:t>
            </a:r>
            <a:endParaRPr lang="zh-CN" altLang="en-US" dirty="0">
              <a:latin typeface="黑体" panose="02010609060101010101" pitchFamily="49" charset="-122"/>
              <a:ea typeface="黑体" panose="02010609060101010101" pitchFamily="49" charset="-122"/>
            </a:endParaRPr>
          </a:p>
        </p:txBody>
      </p:sp>
      <p:sp>
        <p:nvSpPr>
          <p:cNvPr id="320522" name="文本框 320521"/>
          <p:cNvSpPr txBox="1"/>
          <p:nvPr/>
        </p:nvSpPr>
        <p:spPr>
          <a:xfrm>
            <a:off x="709686" y="3538353"/>
            <a:ext cx="5633601" cy="1765935"/>
          </a:xfrm>
          <a:prstGeom prst="rect">
            <a:avLst/>
          </a:prstGeom>
          <a:noFill/>
          <a:ln w="28575">
            <a:noFill/>
          </a:ln>
        </p:spPr>
        <p:txBody>
          <a:bodyPr wrap="square">
            <a:spAutoFit/>
          </a:bodyPr>
          <a:lstStyle/>
          <a:p>
            <a:pPr algn="l">
              <a:lnSpc>
                <a:spcPct val="150000"/>
              </a:lnSpc>
              <a:spcBef>
                <a:spcPct val="50000"/>
              </a:spcBef>
              <a:spcAft>
                <a:spcPts val="0"/>
              </a:spcAft>
            </a:pPr>
            <a:r>
              <a:rPr lang="zh-CN" altLang="en-US" dirty="0">
                <a:solidFill>
                  <a:schemeClr val="accent2">
                    <a:lumMod val="75000"/>
                  </a:schemeClr>
                </a:solidFill>
                <a:latin typeface="黑体" panose="02010609060101010101" pitchFamily="49" charset="-122"/>
                <a:ea typeface="黑体" panose="02010609060101010101" pitchFamily="49" charset="-122"/>
              </a:rPr>
              <a:t>专用零件：</a:t>
            </a:r>
            <a:r>
              <a:rPr lang="zh-CN" altLang="en-US" dirty="0">
                <a:latin typeface="黑体" panose="02010609060101010101" pitchFamily="49" charset="-122"/>
                <a:ea typeface="黑体" panose="02010609060101010101" pitchFamily="49" charset="-122"/>
              </a:rPr>
              <a:t>只在特定型式的机械上使用</a:t>
            </a:r>
            <a:r>
              <a:rPr lang="zh-CN" altLang="en-US" dirty="0" smtClean="0">
                <a:latin typeface="黑体" panose="02010609060101010101" pitchFamily="49" charset="-122"/>
                <a:ea typeface="黑体" panose="02010609060101010101" pitchFamily="49" charset="-122"/>
              </a:rPr>
              <a:t>，</a:t>
            </a:r>
            <a:endParaRPr lang="en-US" altLang="zh-CN" dirty="0" smtClean="0">
              <a:latin typeface="黑体" panose="02010609060101010101" pitchFamily="49" charset="-122"/>
              <a:ea typeface="黑体" panose="02010609060101010101" pitchFamily="49" charset="-122"/>
            </a:endParaRPr>
          </a:p>
          <a:p>
            <a:pPr algn="l">
              <a:lnSpc>
                <a:spcPct val="150000"/>
              </a:lnSpc>
              <a:spcBef>
                <a:spcPts val="50"/>
              </a:spcBef>
              <a:spcAft>
                <a:spcPts val="0"/>
              </a:spcAft>
            </a:pPr>
            <a:r>
              <a:rPr lang="zh-CN" altLang="en-US" dirty="0" smtClean="0">
                <a:latin typeface="黑体" panose="02010609060101010101" pitchFamily="49" charset="-122"/>
                <a:ea typeface="黑体" panose="02010609060101010101" pitchFamily="49" charset="-122"/>
              </a:rPr>
              <a:t>如内燃机</a:t>
            </a:r>
            <a:r>
              <a:rPr lang="zh-CN" altLang="en-US" dirty="0">
                <a:latin typeface="黑体" panose="02010609060101010101" pitchFamily="49" charset="-122"/>
                <a:ea typeface="黑体" panose="02010609060101010101" pitchFamily="49" charset="-122"/>
              </a:rPr>
              <a:t>的活塞、曲轴</a:t>
            </a:r>
            <a:r>
              <a:rPr lang="zh-CN" altLang="en-US" dirty="0" smtClean="0">
                <a:latin typeface="黑体" panose="02010609060101010101" pitchFamily="49" charset="-122"/>
                <a:ea typeface="黑体" panose="02010609060101010101" pitchFamily="49" charset="-122"/>
              </a:rPr>
              <a:t>；</a:t>
            </a:r>
            <a:endParaRPr lang="en-US" altLang="zh-CN" dirty="0" smtClean="0">
              <a:latin typeface="黑体" panose="02010609060101010101" pitchFamily="49" charset="-122"/>
              <a:ea typeface="黑体" panose="02010609060101010101" pitchFamily="49" charset="-122"/>
            </a:endParaRPr>
          </a:p>
          <a:p>
            <a:pPr algn="l">
              <a:lnSpc>
                <a:spcPct val="150000"/>
              </a:lnSpc>
              <a:spcBef>
                <a:spcPts val="50"/>
              </a:spcBef>
            </a:pPr>
            <a:r>
              <a:rPr lang="zh-CN" altLang="en-US" dirty="0" smtClean="0">
                <a:latin typeface="黑体" panose="02010609060101010101" pitchFamily="49" charset="-122"/>
                <a:ea typeface="黑体" panose="02010609060101010101" pitchFamily="49" charset="-122"/>
              </a:rPr>
              <a:t>汽轮机</a:t>
            </a:r>
            <a:r>
              <a:rPr lang="zh-CN" altLang="en-US" dirty="0">
                <a:latin typeface="黑体" panose="02010609060101010101" pitchFamily="49" charset="-122"/>
                <a:ea typeface="黑体" panose="02010609060101010101" pitchFamily="49" charset="-122"/>
              </a:rPr>
              <a:t>的叶片等。</a:t>
            </a:r>
            <a:endParaRPr lang="zh-CN" altLang="en-US" dirty="0">
              <a:latin typeface="黑体" panose="02010609060101010101" pitchFamily="49" charset="-122"/>
              <a:ea typeface="黑体" panose="02010609060101010101" pitchFamily="49" charset="-122"/>
            </a:endParaRPr>
          </a:p>
        </p:txBody>
      </p:sp>
      <p:sp>
        <p:nvSpPr>
          <p:cNvPr id="320523" name="椭圆 320522">
            <a:hlinkClick r:id="" action="ppaction://noaction"/>
          </p:cNvPr>
          <p:cNvSpPr/>
          <p:nvPr/>
        </p:nvSpPr>
        <p:spPr>
          <a:xfrm>
            <a:off x="484021" y="3742499"/>
            <a:ext cx="285750" cy="28575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0" scaled="1"/>
            <a:tileRect/>
          </a:gradFill>
          <a:ln w="9525">
            <a:noFill/>
          </a:ln>
        </p:spPr>
        <p:txBody>
          <a:bodyPr wrap="none" lIns="92075" tIns="46038" rIns="92075" bIns="46038" anchor="ctr"/>
          <a:lstStyle/>
          <a:p>
            <a:pPr algn="l">
              <a:spcBef>
                <a:spcPct val="50000"/>
              </a:spcBef>
            </a:pPr>
            <a:endParaRPr dirty="0">
              <a:latin typeface="Times New Roman" panose="02020603050405020304" pitchFamily="18" charset="0"/>
            </a:endParaRPr>
          </a:p>
        </p:txBody>
      </p:sp>
      <p:sp>
        <p:nvSpPr>
          <p:cNvPr id="320524" name="椭圆 320523">
            <a:hlinkClick r:id="" action="ppaction://noaction"/>
          </p:cNvPr>
          <p:cNvSpPr/>
          <p:nvPr/>
        </p:nvSpPr>
        <p:spPr>
          <a:xfrm>
            <a:off x="575751" y="1063704"/>
            <a:ext cx="285750" cy="28575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0" scaled="1"/>
            <a:tileRect/>
          </a:gradFill>
          <a:ln w="9525">
            <a:noFill/>
          </a:ln>
        </p:spPr>
        <p:txBody>
          <a:bodyPr wrap="none" lIns="92075" tIns="46038" rIns="92075" bIns="46038" anchor="ctr"/>
          <a:lstStyle/>
          <a:p>
            <a:pPr algn="l">
              <a:spcBef>
                <a:spcPct val="50000"/>
              </a:spcBef>
            </a:pPr>
            <a:endParaRPr dirty="0">
              <a:latin typeface="Times New Roman" panose="02020603050405020304" pitchFamily="18" charset="0"/>
            </a:endParaRPr>
          </a:p>
        </p:txBody>
      </p:sp>
      <p:grpSp>
        <p:nvGrpSpPr>
          <p:cNvPr id="10" name="组合 1"/>
          <p:cNvGrpSpPr/>
          <p:nvPr/>
        </p:nvGrpSpPr>
        <p:grpSpPr>
          <a:xfrm>
            <a:off x="6343493" y="6030913"/>
            <a:ext cx="2630487" cy="827087"/>
            <a:chOff x="10088" y="9497"/>
            <a:chExt cx="4141" cy="1302"/>
          </a:xfrm>
        </p:grpSpPr>
        <p:sp>
          <p:nvSpPr>
            <p:cNvPr id="11" name="文本框 1073742869"/>
            <p:cNvSpPr txBox="1">
              <a:spLocks noChangeAspect="1"/>
            </p:cNvSpPr>
            <p:nvPr/>
          </p:nvSpPr>
          <p:spPr>
            <a:xfrm>
              <a:off x="11247" y="9745"/>
              <a:ext cx="2983" cy="479"/>
            </a:xfrm>
            <a:prstGeom prst="rect">
              <a:avLst/>
            </a:prstGeom>
            <a:noFill/>
            <a:ln w="9525">
              <a:noFill/>
            </a:ln>
          </p:spPr>
          <p:txBody>
            <a:bodyPr wrap="square" anchor="t"/>
            <a:lstStyle/>
            <a:p>
              <a:pPr algn="ctr"/>
              <a:r>
                <a:rPr lang="zh-CN" altLang="en-US" sz="1200" dirty="0">
                  <a:latin typeface="Times New Roman" panose="02020603050405020304" pitchFamily="18" charset="0"/>
                </a:rPr>
                <a:t>China University of Mining &amp; Technology-Beijing</a:t>
              </a:r>
              <a:endParaRPr lang="zh-CN" altLang="en-US" sz="1200" dirty="0">
                <a:latin typeface="Times New Roman" panose="02020603050405020304" pitchFamily="18" charset="0"/>
              </a:endParaRPr>
            </a:p>
            <a:p>
              <a:endParaRPr lang="zh-CN" altLang="en-US" sz="1200" dirty="0">
                <a:latin typeface="Times New Roman" panose="02020603050405020304" pitchFamily="18" charset="0"/>
              </a:endParaRPr>
            </a:p>
          </p:txBody>
        </p:sp>
        <p:pic>
          <p:nvPicPr>
            <p:cNvPr id="12" name="图片 1073742872" descr="44303071dc0a1f9688d599dbc999570副本"/>
            <p:cNvPicPr>
              <a:picLocks noChangeAspect="1"/>
            </p:cNvPicPr>
            <p:nvPr/>
          </p:nvPicPr>
          <p:blipFill>
            <a:blip r:embed="rId1"/>
            <a:stretch>
              <a:fillRect/>
            </a:stretch>
          </p:blipFill>
          <p:spPr>
            <a:xfrm>
              <a:off x="10088" y="9497"/>
              <a:ext cx="1435" cy="1303"/>
            </a:xfrm>
            <a:prstGeom prst="rect">
              <a:avLst/>
            </a:prstGeom>
            <a:noFill/>
            <a:ln w="9525">
              <a:noFill/>
            </a:ln>
          </p:spPr>
        </p:pic>
      </p:grpSp>
      <p:pic>
        <p:nvPicPr>
          <p:cNvPr id="2" name="图片 1"/>
          <p:cNvPicPr>
            <a:picLocks noChangeAspect="1"/>
          </p:cNvPicPr>
          <p:nvPr/>
        </p:nvPicPr>
        <p:blipFill rotWithShape="1">
          <a:blip r:embed="rId2">
            <a:extLst>
              <a:ext uri="{28A0092B-C50C-407E-A947-70E740481C1C}">
                <a14:useLocalDpi xmlns:a14="http://schemas.microsoft.com/office/drawing/2010/main" val="0"/>
              </a:ext>
            </a:extLst>
          </a:blip>
          <a:srcRect l="28591" r="23161" b="9302"/>
          <a:stretch>
            <a:fillRect/>
          </a:stretch>
        </p:blipFill>
        <p:spPr>
          <a:xfrm>
            <a:off x="5156667" y="4095445"/>
            <a:ext cx="1848898" cy="2606699"/>
          </a:xfrm>
          <a:prstGeom prst="rect">
            <a:avLst/>
          </a:prstGeom>
        </p:spPr>
      </p:pic>
      <p:pic>
        <p:nvPicPr>
          <p:cNvPr id="8" name="图片 7"/>
          <p:cNvPicPr>
            <a:picLocks noChangeAspect="1"/>
          </p:cNvPicPr>
          <p:nvPr/>
        </p:nvPicPr>
        <p:blipFill>
          <a:blip r:embed="rId3"/>
          <a:stretch>
            <a:fillRect/>
          </a:stretch>
        </p:blipFill>
        <p:spPr>
          <a:xfrm>
            <a:off x="893445" y="2063750"/>
            <a:ext cx="1249363" cy="908050"/>
          </a:xfrm>
          <a:prstGeom prst="rect">
            <a:avLst/>
          </a:prstGeom>
          <a:noFill/>
          <a:ln w="9525">
            <a:noFill/>
          </a:ln>
        </p:spPr>
      </p:pic>
      <p:pic>
        <p:nvPicPr>
          <p:cNvPr id="9" name="图片 8"/>
          <p:cNvPicPr>
            <a:picLocks noChangeAspect="1"/>
          </p:cNvPicPr>
          <p:nvPr/>
        </p:nvPicPr>
        <p:blipFill>
          <a:blip r:embed="rId4"/>
          <a:stretch>
            <a:fillRect/>
          </a:stretch>
        </p:blipFill>
        <p:spPr>
          <a:xfrm>
            <a:off x="2398713" y="2063433"/>
            <a:ext cx="1139825" cy="1033462"/>
          </a:xfrm>
          <a:prstGeom prst="rect">
            <a:avLst/>
          </a:prstGeom>
          <a:noFill/>
          <a:ln w="9525">
            <a:noFill/>
          </a:ln>
        </p:spPr>
      </p:pic>
      <p:pic>
        <p:nvPicPr>
          <p:cNvPr id="3" name="图片 2"/>
          <p:cNvPicPr>
            <a:picLocks noChangeAspect="1"/>
          </p:cNvPicPr>
          <p:nvPr/>
        </p:nvPicPr>
        <p:blipFill>
          <a:blip r:embed="rId5"/>
          <a:stretch>
            <a:fillRect/>
          </a:stretch>
        </p:blipFill>
        <p:spPr>
          <a:xfrm>
            <a:off x="3538855" y="2292668"/>
            <a:ext cx="1617663" cy="1154112"/>
          </a:xfrm>
          <a:prstGeom prst="rect">
            <a:avLst/>
          </a:prstGeom>
          <a:noFill/>
          <a:ln w="9525">
            <a:noFill/>
          </a:ln>
        </p:spPr>
      </p:pic>
      <p:pic>
        <p:nvPicPr>
          <p:cNvPr id="4" name="图片 3"/>
          <p:cNvPicPr>
            <a:picLocks noChangeAspect="1"/>
          </p:cNvPicPr>
          <p:nvPr/>
        </p:nvPicPr>
        <p:blipFill>
          <a:blip r:embed="rId6"/>
          <a:stretch>
            <a:fillRect/>
          </a:stretch>
        </p:blipFill>
        <p:spPr>
          <a:xfrm>
            <a:off x="5404485" y="1952943"/>
            <a:ext cx="1368425" cy="1398587"/>
          </a:xfrm>
          <a:prstGeom prst="rect">
            <a:avLst/>
          </a:prstGeom>
          <a:noFill/>
          <a:ln w="9525">
            <a:noFill/>
          </a:ln>
        </p:spPr>
      </p:pic>
      <p:pic>
        <p:nvPicPr>
          <p:cNvPr id="17" name="图片 16"/>
          <p:cNvPicPr>
            <a:picLocks noChangeAspect="1"/>
          </p:cNvPicPr>
          <p:nvPr/>
        </p:nvPicPr>
        <p:blipFill>
          <a:blip r:embed="rId7"/>
          <a:stretch>
            <a:fillRect/>
          </a:stretch>
        </p:blipFill>
        <p:spPr>
          <a:xfrm>
            <a:off x="6773228" y="2063433"/>
            <a:ext cx="1941512" cy="1177925"/>
          </a:xfrm>
          <a:prstGeom prst="rect">
            <a:avLst/>
          </a:prstGeom>
          <a:noFill/>
          <a:ln w="9525">
            <a:noFill/>
          </a:ln>
        </p:spPr>
      </p:pic>
      <p:sp>
        <p:nvSpPr>
          <p:cNvPr id="18" name="文本框 17"/>
          <p:cNvSpPr txBox="1"/>
          <p:nvPr/>
        </p:nvSpPr>
        <p:spPr>
          <a:xfrm>
            <a:off x="1198087" y="3076893"/>
            <a:ext cx="640080" cy="368300"/>
          </a:xfrm>
          <a:prstGeom prst="rect">
            <a:avLst/>
          </a:prstGeom>
          <a:noFill/>
          <a:ln w="9525">
            <a:noFill/>
          </a:ln>
        </p:spPr>
        <p:txBody>
          <a:bodyPr wrap="none">
            <a:spAutoFit/>
          </a:bodyPr>
          <a:p>
            <a:pPr>
              <a:spcAft>
                <a:spcPts val="0"/>
              </a:spcAft>
            </a:pPr>
            <a:r>
              <a:rPr lang="zh-CN" altLang="en-US" sz="1800" dirty="0">
                <a:latin typeface="Tahoma" panose="020B0604030504040204" pitchFamily="34" charset="0"/>
              </a:rPr>
              <a:t>螺栓</a:t>
            </a:r>
            <a:endParaRPr lang="zh-CN" altLang="en-US" sz="1800" dirty="0">
              <a:latin typeface="Tahoma" panose="020B0604030504040204" pitchFamily="34" charset="0"/>
            </a:endParaRPr>
          </a:p>
        </p:txBody>
      </p:sp>
      <p:sp>
        <p:nvSpPr>
          <p:cNvPr id="19" name="文本框 18"/>
          <p:cNvSpPr txBox="1"/>
          <p:nvPr/>
        </p:nvSpPr>
        <p:spPr>
          <a:xfrm>
            <a:off x="2648427" y="3076893"/>
            <a:ext cx="640080" cy="368300"/>
          </a:xfrm>
          <a:prstGeom prst="rect">
            <a:avLst/>
          </a:prstGeom>
          <a:noFill/>
          <a:ln w="9525">
            <a:noFill/>
          </a:ln>
        </p:spPr>
        <p:txBody>
          <a:bodyPr wrap="none">
            <a:spAutoFit/>
          </a:bodyPr>
          <a:p>
            <a:pPr>
              <a:spcAft>
                <a:spcPts val="0"/>
              </a:spcAft>
            </a:pPr>
            <a:r>
              <a:rPr lang="zh-CN" altLang="en-US" sz="1800" dirty="0">
                <a:latin typeface="Tahoma" panose="020B0604030504040204" pitchFamily="34" charset="0"/>
              </a:rPr>
              <a:t>螺母</a:t>
            </a:r>
            <a:endParaRPr lang="zh-CN" altLang="en-US" sz="1800" dirty="0">
              <a:latin typeface="Tahoma" panose="020B0604030504040204" pitchFamily="34" charset="0"/>
            </a:endParaRPr>
          </a:p>
        </p:txBody>
      </p:sp>
      <p:sp>
        <p:nvSpPr>
          <p:cNvPr id="20" name="文本框 19"/>
          <p:cNvSpPr txBox="1"/>
          <p:nvPr/>
        </p:nvSpPr>
        <p:spPr>
          <a:xfrm>
            <a:off x="4142106" y="3279458"/>
            <a:ext cx="411480" cy="368300"/>
          </a:xfrm>
          <a:prstGeom prst="rect">
            <a:avLst/>
          </a:prstGeom>
          <a:noFill/>
          <a:ln w="9525">
            <a:noFill/>
          </a:ln>
        </p:spPr>
        <p:txBody>
          <a:bodyPr wrap="none">
            <a:spAutoFit/>
          </a:bodyPr>
          <a:p>
            <a:pPr>
              <a:spcAft>
                <a:spcPts val="0"/>
              </a:spcAft>
            </a:pPr>
            <a:r>
              <a:rPr lang="zh-CN" altLang="en-US" sz="1800" dirty="0">
                <a:latin typeface="Tahoma" panose="020B0604030504040204" pitchFamily="34" charset="0"/>
              </a:rPr>
              <a:t>键</a:t>
            </a:r>
            <a:endParaRPr lang="zh-CN" altLang="en-US" sz="1800" dirty="0">
              <a:latin typeface="Tahoma" panose="020B0604030504040204" pitchFamily="34" charset="0"/>
            </a:endParaRPr>
          </a:p>
        </p:txBody>
      </p:sp>
      <p:sp>
        <p:nvSpPr>
          <p:cNvPr id="21" name="文本框 20"/>
          <p:cNvSpPr txBox="1"/>
          <p:nvPr/>
        </p:nvSpPr>
        <p:spPr>
          <a:xfrm>
            <a:off x="5764848" y="3351213"/>
            <a:ext cx="647700" cy="368300"/>
          </a:xfrm>
          <a:prstGeom prst="rect">
            <a:avLst/>
          </a:prstGeom>
          <a:noFill/>
          <a:ln w="9525">
            <a:noFill/>
          </a:ln>
        </p:spPr>
        <p:txBody>
          <a:bodyPr wrap="square">
            <a:spAutoFit/>
          </a:bodyPr>
          <a:p>
            <a:pPr>
              <a:spcAft>
                <a:spcPts val="0"/>
              </a:spcAft>
            </a:pPr>
            <a:r>
              <a:rPr lang="zh-CN" altLang="en-US" sz="1800" dirty="0">
                <a:latin typeface="Tahoma" panose="020B0604030504040204" pitchFamily="34" charset="0"/>
              </a:rPr>
              <a:t>链轮</a:t>
            </a:r>
            <a:endParaRPr lang="zh-CN" altLang="en-US" sz="1800" dirty="0">
              <a:latin typeface="Tahoma" panose="020B0604030504040204" pitchFamily="34" charset="0"/>
            </a:endParaRPr>
          </a:p>
        </p:txBody>
      </p:sp>
      <p:sp>
        <p:nvSpPr>
          <p:cNvPr id="22" name="文本框 21"/>
          <p:cNvSpPr txBox="1"/>
          <p:nvPr/>
        </p:nvSpPr>
        <p:spPr>
          <a:xfrm>
            <a:off x="7706678" y="3235643"/>
            <a:ext cx="640080" cy="368300"/>
          </a:xfrm>
          <a:prstGeom prst="rect">
            <a:avLst/>
          </a:prstGeom>
          <a:noFill/>
          <a:ln w="9525">
            <a:noFill/>
          </a:ln>
        </p:spPr>
        <p:txBody>
          <a:bodyPr wrap="none">
            <a:spAutoFit/>
          </a:bodyPr>
          <a:p>
            <a:pPr>
              <a:spcAft>
                <a:spcPts val="0"/>
              </a:spcAft>
            </a:pPr>
            <a:r>
              <a:rPr lang="zh-CN" altLang="en-US" sz="1800" dirty="0">
                <a:latin typeface="Tahoma" panose="020B0604030504040204" pitchFamily="34" charset="0"/>
              </a:rPr>
              <a:t>弹簧</a:t>
            </a:r>
            <a:endParaRPr lang="zh-CN" altLang="en-US" sz="1800" dirty="0">
              <a:latin typeface="Tahoma" panose="020B0604030504040204" pitchFamily="34" charset="0"/>
            </a:endParaRPr>
          </a:p>
        </p:txBody>
      </p:sp>
      <p:pic>
        <p:nvPicPr>
          <p:cNvPr id="5" name="图片 4"/>
          <p:cNvPicPr>
            <a:picLocks noChangeAspect="1"/>
          </p:cNvPicPr>
          <p:nvPr/>
        </p:nvPicPr>
        <p:blipFill>
          <a:blip r:embed="rId8"/>
          <a:stretch>
            <a:fillRect/>
          </a:stretch>
        </p:blipFill>
        <p:spPr>
          <a:xfrm>
            <a:off x="1409065" y="5303838"/>
            <a:ext cx="3427413" cy="1214437"/>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0518"/>
                                        </p:tgtEl>
                                        <p:attrNameLst>
                                          <p:attrName>style.visibility</p:attrName>
                                        </p:attrNameLst>
                                      </p:cBhvr>
                                      <p:to>
                                        <p:strVal val="visible"/>
                                      </p:to>
                                    </p:set>
                                    <p:animEffect transition="in" filter="blinds(horizontal)">
                                      <p:cBhvr>
                                        <p:cTn id="7" dur="500"/>
                                        <p:tgtEl>
                                          <p:spTgt spid="32051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320524"/>
                                        </p:tgtEl>
                                        <p:attrNameLst>
                                          <p:attrName>style.visibility</p:attrName>
                                        </p:attrNameLst>
                                      </p:cBhvr>
                                      <p:to>
                                        <p:strVal val="visible"/>
                                      </p:to>
                                    </p:set>
                                    <p:anim calcmode="lin" valueType="num">
                                      <p:cBhvr additive="base">
                                        <p:cTn id="12" dur="500" fill="hold"/>
                                        <p:tgtEl>
                                          <p:spTgt spid="320524"/>
                                        </p:tgtEl>
                                        <p:attrNameLst>
                                          <p:attrName>ppt_x</p:attrName>
                                        </p:attrNameLst>
                                      </p:cBhvr>
                                      <p:tavLst>
                                        <p:tav tm="0">
                                          <p:val>
                                            <p:strVal val="0-#ppt_w/2"/>
                                          </p:val>
                                        </p:tav>
                                        <p:tav tm="100000">
                                          <p:val>
                                            <p:strVal val="#ppt_x"/>
                                          </p:val>
                                        </p:tav>
                                      </p:tavLst>
                                    </p:anim>
                                    <p:anim calcmode="lin" valueType="num">
                                      <p:cBhvr additive="base">
                                        <p:cTn id="13" dur="500" fill="hold"/>
                                        <p:tgtEl>
                                          <p:spTgt spid="32052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320521"/>
                                        </p:tgtEl>
                                        <p:attrNameLst>
                                          <p:attrName>style.visibility</p:attrName>
                                        </p:attrNameLst>
                                      </p:cBhvr>
                                      <p:to>
                                        <p:strVal val="visible"/>
                                      </p:to>
                                    </p:set>
                                    <p:anim calcmode="lin" valueType="num">
                                      <p:cBhvr additive="base">
                                        <p:cTn id="18" dur="500" fill="hold"/>
                                        <p:tgtEl>
                                          <p:spTgt spid="320521"/>
                                        </p:tgtEl>
                                        <p:attrNameLst>
                                          <p:attrName>ppt_x</p:attrName>
                                        </p:attrNameLst>
                                      </p:cBhvr>
                                      <p:tavLst>
                                        <p:tav tm="0">
                                          <p:val>
                                            <p:strVal val="0-#ppt_w/2"/>
                                          </p:val>
                                        </p:tav>
                                        <p:tav tm="100000">
                                          <p:val>
                                            <p:strVal val="#ppt_x"/>
                                          </p:val>
                                        </p:tav>
                                      </p:tavLst>
                                    </p:anim>
                                    <p:anim calcmode="lin" valueType="num">
                                      <p:cBhvr additive="base">
                                        <p:cTn id="19" dur="500" fill="hold"/>
                                        <p:tgtEl>
                                          <p:spTgt spid="320521"/>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320523"/>
                                        </p:tgtEl>
                                        <p:attrNameLst>
                                          <p:attrName>style.visibility</p:attrName>
                                        </p:attrNameLst>
                                      </p:cBhvr>
                                      <p:to>
                                        <p:strVal val="visible"/>
                                      </p:to>
                                    </p:set>
                                    <p:anim calcmode="lin" valueType="num">
                                      <p:cBhvr additive="base">
                                        <p:cTn id="24" dur="500" fill="hold"/>
                                        <p:tgtEl>
                                          <p:spTgt spid="320523"/>
                                        </p:tgtEl>
                                        <p:attrNameLst>
                                          <p:attrName>ppt_x</p:attrName>
                                        </p:attrNameLst>
                                      </p:cBhvr>
                                      <p:tavLst>
                                        <p:tav tm="0">
                                          <p:val>
                                            <p:strVal val="0-#ppt_w/2"/>
                                          </p:val>
                                        </p:tav>
                                        <p:tav tm="100000">
                                          <p:val>
                                            <p:strVal val="#ppt_x"/>
                                          </p:val>
                                        </p:tav>
                                      </p:tavLst>
                                    </p:anim>
                                    <p:anim calcmode="lin" valueType="num">
                                      <p:cBhvr additive="base">
                                        <p:cTn id="25" dur="500" fill="hold"/>
                                        <p:tgtEl>
                                          <p:spTgt spid="320523"/>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320522"/>
                                        </p:tgtEl>
                                        <p:attrNameLst>
                                          <p:attrName>style.visibility</p:attrName>
                                        </p:attrNameLst>
                                      </p:cBhvr>
                                      <p:to>
                                        <p:strVal val="visible"/>
                                      </p:to>
                                    </p:set>
                                    <p:anim calcmode="lin" valueType="num">
                                      <p:cBhvr additive="base">
                                        <p:cTn id="30" dur="500" fill="hold"/>
                                        <p:tgtEl>
                                          <p:spTgt spid="320522"/>
                                        </p:tgtEl>
                                        <p:attrNameLst>
                                          <p:attrName>ppt_x</p:attrName>
                                        </p:attrNameLst>
                                      </p:cBhvr>
                                      <p:tavLst>
                                        <p:tav tm="0">
                                          <p:val>
                                            <p:strVal val="0-#ppt_w/2"/>
                                          </p:val>
                                        </p:tav>
                                        <p:tav tm="100000">
                                          <p:val>
                                            <p:strVal val="#ppt_x"/>
                                          </p:val>
                                        </p:tav>
                                      </p:tavLst>
                                    </p:anim>
                                    <p:anim calcmode="lin" valueType="num">
                                      <p:cBhvr additive="base">
                                        <p:cTn id="31" dur="500" fill="hold"/>
                                        <p:tgtEl>
                                          <p:spTgt spid="320522"/>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wipe(left)">
                                      <p:cBhvr>
                                        <p:cTn id="36" dur="500"/>
                                        <p:tgtEl>
                                          <p:spTgt spid="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wipe(left)">
                                      <p:cBhvr>
                                        <p:cTn id="41" dur="500"/>
                                        <p:tgtEl>
                                          <p:spTgt spid="8"/>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wipe(left)">
                                      <p:cBhvr>
                                        <p:cTn id="50" dur="500"/>
                                        <p:tgtEl>
                                          <p:spTgt spid="9"/>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3"/>
                                        </p:tgtEl>
                                        <p:attrNameLst>
                                          <p:attrName>style.visibility</p:attrName>
                                        </p:attrNameLst>
                                      </p:cBhvr>
                                      <p:to>
                                        <p:strVal val="visible"/>
                                      </p:to>
                                    </p:set>
                                    <p:animEffect transition="in" filter="wipe(left)">
                                      <p:cBhvr>
                                        <p:cTn id="59" dur="500"/>
                                        <p:tgtEl>
                                          <p:spTgt spid="3"/>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20"/>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4"/>
                                        </p:tgtEl>
                                        <p:attrNameLst>
                                          <p:attrName>style.visibility</p:attrName>
                                        </p:attrNameLst>
                                      </p:cBhvr>
                                      <p:to>
                                        <p:strVal val="visible"/>
                                      </p:to>
                                    </p:set>
                                    <p:animEffect transition="in" filter="wipe(left)">
                                      <p:cBhvr>
                                        <p:cTn id="68" dur="500"/>
                                        <p:tgtEl>
                                          <p:spTgt spid="4"/>
                                        </p:tgtEl>
                                      </p:cBhvr>
                                    </p:animEffec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7"/>
                                        </p:tgtEl>
                                        <p:attrNameLst>
                                          <p:attrName>style.visibility</p:attrName>
                                        </p:attrNameLst>
                                      </p:cBhvr>
                                      <p:to>
                                        <p:strVal val="visible"/>
                                      </p:to>
                                    </p:set>
                                    <p:animEffect transition="in" filter="wipe(left)">
                                      <p:cBhvr>
                                        <p:cTn id="77" dur="500"/>
                                        <p:tgtEl>
                                          <p:spTgt spid="17"/>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22"/>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5"/>
                                        </p:tgtEl>
                                        <p:attrNameLst>
                                          <p:attrName>style.visibility</p:attrName>
                                        </p:attrNameLst>
                                      </p:cBhvr>
                                      <p:to>
                                        <p:strVal val="visible"/>
                                      </p:to>
                                    </p:set>
                                    <p:animEffect transition="in" filter="wipe(left)">
                                      <p:cBhvr>
                                        <p:cTn id="8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8" grpId="0"/>
      <p:bldP spid="320521" grpId="0"/>
      <p:bldP spid="320522" grpId="0"/>
      <p:bldP spid="320523" grpId="0" bldLvl="0" animBg="1"/>
      <p:bldP spid="320524" grpId="0" bldLvl="0" animBg="1"/>
      <p:bldP spid="18" grpId="0"/>
      <p:bldP spid="19" grpId="0"/>
      <p:bldP spid="20" grpId="0"/>
      <p:bldP spid="21" grpId="0"/>
      <p:bldP spid="2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Text Box 3"/>
          <p:cNvSpPr txBox="1"/>
          <p:nvPr/>
        </p:nvSpPr>
        <p:spPr>
          <a:xfrm>
            <a:off x="160338" y="2255838"/>
            <a:ext cx="8856662" cy="583565"/>
          </a:xfrm>
          <a:prstGeom prst="rect">
            <a:avLst/>
          </a:prstGeom>
          <a:noFill/>
          <a:ln w="9525">
            <a:noFill/>
          </a:ln>
        </p:spPr>
        <p:txBody>
          <a:bodyPr>
            <a:spAutoFit/>
          </a:bodyPr>
          <a:lstStyle/>
          <a:p>
            <a:pPr algn="ctr">
              <a:spcAft>
                <a:spcPts val="0"/>
              </a:spcAft>
            </a:pPr>
            <a:r>
              <a:rPr lang="zh-CN" altLang="en-US" sz="3200" b="1" u="sng" dirty="0">
                <a:solidFill>
                  <a:srgbClr val="FF0066"/>
                </a:solidFill>
                <a:latin typeface="黑体" panose="02010609060101010101" pitchFamily="49" charset="-122"/>
                <a:ea typeface="黑体" panose="02010609060101010101" pitchFamily="49" charset="-122"/>
              </a:rPr>
              <a:t>机器</a:t>
            </a:r>
            <a:r>
              <a:rPr lang="zh-CN" altLang="en-US" sz="3200" b="1" dirty="0">
                <a:solidFill>
                  <a:srgbClr val="FF0066"/>
                </a:solidFill>
                <a:latin typeface="黑体" panose="02010609060101010101" pitchFamily="49" charset="-122"/>
                <a:ea typeface="黑体" panose="02010609060101010101" pitchFamily="49" charset="-122"/>
              </a:rPr>
              <a:t>与</a:t>
            </a:r>
            <a:r>
              <a:rPr lang="zh-CN" altLang="en-US" sz="3200" b="1" u="sng" dirty="0">
                <a:solidFill>
                  <a:srgbClr val="FF0066"/>
                </a:solidFill>
                <a:latin typeface="黑体" panose="02010609060101010101" pitchFamily="49" charset="-122"/>
                <a:ea typeface="黑体" panose="02010609060101010101" pitchFamily="49" charset="-122"/>
              </a:rPr>
              <a:t>机构</a:t>
            </a:r>
            <a:r>
              <a:rPr lang="zh-CN" altLang="en-US" sz="3200" b="1" dirty="0">
                <a:solidFill>
                  <a:srgbClr val="FF0066"/>
                </a:solidFill>
                <a:latin typeface="黑体" panose="02010609060101010101" pitchFamily="49" charset="-122"/>
                <a:ea typeface="黑体" panose="02010609060101010101" pitchFamily="49" charset="-122"/>
              </a:rPr>
              <a:t>的主要区别</a:t>
            </a:r>
            <a:endParaRPr lang="zh-CN" altLang="en-US" sz="3200" dirty="0">
              <a:latin typeface="黑体" panose="02010609060101010101" pitchFamily="49" charset="-122"/>
              <a:ea typeface="黑体" panose="02010609060101010101" pitchFamily="49" charset="-122"/>
            </a:endParaRPr>
          </a:p>
        </p:txBody>
      </p:sp>
      <p:sp>
        <p:nvSpPr>
          <p:cNvPr id="697405" name="AutoShape 61"/>
          <p:cNvSpPr/>
          <p:nvPr/>
        </p:nvSpPr>
        <p:spPr>
          <a:xfrm>
            <a:off x="179388" y="1052513"/>
            <a:ext cx="4897437" cy="936625"/>
          </a:xfrm>
          <a:prstGeom prst="wedgeRoundRectCallout">
            <a:avLst>
              <a:gd name="adj1" fmla="val 6338"/>
              <a:gd name="adj2" fmla="val 92880"/>
              <a:gd name="adj3" fmla="val 16667"/>
            </a:avLst>
          </a:prstGeom>
          <a:solidFill>
            <a:srgbClr val="FFFF00"/>
          </a:solidFill>
          <a:ln w="9525" cap="flat" cmpd="sng">
            <a:solidFill>
              <a:srgbClr val="FFFF00"/>
            </a:solidFill>
            <a:prstDash val="solid"/>
            <a:miter/>
            <a:headEnd type="none" w="med" len="med"/>
            <a:tailEnd type="none" w="med" len="med"/>
          </a:ln>
        </p:spPr>
        <p:txBody>
          <a:bodyPr/>
          <a:lstStyle/>
          <a:p>
            <a:pPr eaLnBrk="0" hangingPunct="0">
              <a:spcAft>
                <a:spcPts val="0"/>
              </a:spcAft>
            </a:pPr>
            <a:r>
              <a:rPr lang="zh-CN" altLang="en-US" b="1" dirty="0">
                <a:sym typeface="+mn-ea"/>
              </a:rPr>
              <a:t>可同时产生运动和功能的变化，目的是完成机械功或转换机械能</a:t>
            </a:r>
            <a:endParaRPr lang="zh-CN" altLang="en-US" b="1" dirty="0">
              <a:latin typeface="Times New Roman" panose="02020603050405020304" pitchFamily="18" charset="0"/>
            </a:endParaRPr>
          </a:p>
        </p:txBody>
      </p:sp>
      <p:sp>
        <p:nvSpPr>
          <p:cNvPr id="697406" name="AutoShape 62"/>
          <p:cNvSpPr/>
          <p:nvPr/>
        </p:nvSpPr>
        <p:spPr>
          <a:xfrm>
            <a:off x="5145088" y="1052513"/>
            <a:ext cx="3862387" cy="936625"/>
          </a:xfrm>
          <a:prstGeom prst="wedgeRoundRectCallout">
            <a:avLst>
              <a:gd name="adj1" fmla="val -69894"/>
              <a:gd name="adj2" fmla="val 93222"/>
              <a:gd name="adj3" fmla="val 16667"/>
            </a:avLst>
          </a:prstGeom>
          <a:solidFill>
            <a:srgbClr val="00FF00"/>
          </a:solidFill>
          <a:ln w="9525" cap="flat" cmpd="sng">
            <a:solidFill>
              <a:srgbClr val="00FF00"/>
            </a:solidFill>
            <a:prstDash val="solid"/>
            <a:miter/>
            <a:headEnd type="none" w="med" len="med"/>
            <a:tailEnd type="none" w="med" len="med"/>
          </a:ln>
        </p:spPr>
        <p:txBody>
          <a:bodyPr/>
          <a:lstStyle/>
          <a:p>
            <a:pPr eaLnBrk="0" hangingPunct="0">
              <a:spcAft>
                <a:spcPts val="0"/>
              </a:spcAft>
            </a:pPr>
            <a:r>
              <a:rPr lang="zh-CN" altLang="en-US" b="1" dirty="0">
                <a:sym typeface="+mn-ea"/>
              </a:rPr>
              <a:t>只产生运动的变化，目的是传递或变换运动和力</a:t>
            </a:r>
            <a:endParaRPr lang="zh-CN" altLang="en-US" b="1" dirty="0">
              <a:latin typeface="Times New Roman" panose="02020603050405020304" pitchFamily="18" charset="0"/>
            </a:endParaRPr>
          </a:p>
        </p:txBody>
      </p:sp>
      <p:sp>
        <p:nvSpPr>
          <p:cNvPr id="697407" name="Text Box 63"/>
          <p:cNvSpPr txBox="1"/>
          <p:nvPr/>
        </p:nvSpPr>
        <p:spPr>
          <a:xfrm>
            <a:off x="130175" y="2936875"/>
            <a:ext cx="8856663" cy="583565"/>
          </a:xfrm>
          <a:prstGeom prst="rect">
            <a:avLst/>
          </a:prstGeom>
          <a:noFill/>
          <a:ln w="9525">
            <a:noFill/>
          </a:ln>
        </p:spPr>
        <p:txBody>
          <a:bodyPr>
            <a:spAutoFit/>
          </a:bodyPr>
          <a:lstStyle/>
          <a:p>
            <a:pPr algn="ctr">
              <a:spcAft>
                <a:spcPts val="0"/>
              </a:spcAft>
            </a:pPr>
            <a:r>
              <a:rPr lang="zh-CN" altLang="en-US" sz="3200" b="1" u="sng" dirty="0">
                <a:solidFill>
                  <a:srgbClr val="CC3300"/>
                </a:solidFill>
                <a:latin typeface="黑体" panose="02010609060101010101" pitchFamily="49" charset="-122"/>
                <a:ea typeface="黑体" panose="02010609060101010101" pitchFamily="49" charset="-122"/>
              </a:rPr>
              <a:t>构件</a:t>
            </a:r>
            <a:r>
              <a:rPr lang="zh-CN" altLang="en-US" sz="3200" b="1" dirty="0">
                <a:solidFill>
                  <a:srgbClr val="CC3300"/>
                </a:solidFill>
                <a:latin typeface="黑体" panose="02010609060101010101" pitchFamily="49" charset="-122"/>
                <a:ea typeface="黑体" panose="02010609060101010101" pitchFamily="49" charset="-122"/>
              </a:rPr>
              <a:t>与</a:t>
            </a:r>
            <a:r>
              <a:rPr lang="zh-CN" altLang="en-US" sz="3200" b="1" u="sng" dirty="0">
                <a:solidFill>
                  <a:srgbClr val="CC3300"/>
                </a:solidFill>
                <a:latin typeface="黑体" panose="02010609060101010101" pitchFamily="49" charset="-122"/>
                <a:ea typeface="黑体" panose="02010609060101010101" pitchFamily="49" charset="-122"/>
              </a:rPr>
              <a:t>零件</a:t>
            </a:r>
            <a:r>
              <a:rPr lang="zh-CN" altLang="en-US" sz="3200" b="1" dirty="0">
                <a:solidFill>
                  <a:srgbClr val="CC3300"/>
                </a:solidFill>
                <a:latin typeface="黑体" panose="02010609060101010101" pitchFamily="49" charset="-122"/>
                <a:ea typeface="黑体" panose="02010609060101010101" pitchFamily="49" charset="-122"/>
              </a:rPr>
              <a:t>的主要区别</a:t>
            </a:r>
            <a:endParaRPr lang="zh-CN" altLang="en-US" sz="3200" b="1" dirty="0">
              <a:solidFill>
                <a:srgbClr val="CC3300"/>
              </a:solidFill>
              <a:latin typeface="黑体" panose="02010609060101010101" pitchFamily="49" charset="-122"/>
              <a:ea typeface="黑体" panose="02010609060101010101" pitchFamily="49" charset="-122"/>
            </a:endParaRPr>
          </a:p>
        </p:txBody>
      </p:sp>
      <p:sp>
        <p:nvSpPr>
          <p:cNvPr id="697409" name="AutoShape 65"/>
          <p:cNvSpPr/>
          <p:nvPr/>
        </p:nvSpPr>
        <p:spPr>
          <a:xfrm>
            <a:off x="4932363" y="3789363"/>
            <a:ext cx="3887787" cy="1871662"/>
          </a:xfrm>
          <a:prstGeom prst="cloudCallout">
            <a:avLst>
              <a:gd name="adj1" fmla="val -67722"/>
              <a:gd name="adj2" fmla="val -65606"/>
            </a:avLst>
          </a:prstGeom>
          <a:solidFill>
            <a:srgbClr val="00CCFF"/>
          </a:solidFill>
          <a:ln w="9525" cap="flat" cmpd="sng">
            <a:solidFill>
              <a:srgbClr val="00CCFF"/>
            </a:solidFill>
            <a:prstDash val="solid"/>
            <a:headEnd type="none" w="med" len="med"/>
            <a:tailEnd type="none" w="med" len="med"/>
          </a:ln>
        </p:spPr>
        <p:txBody>
          <a:bodyPr/>
          <a:lstStyle/>
          <a:p>
            <a:pPr algn="just" eaLnBrk="0" hangingPunct="0">
              <a:spcAft>
                <a:spcPts val="0"/>
              </a:spcAft>
            </a:pPr>
            <a:r>
              <a:rPr lang="zh-CN" altLang="en-US" b="1" dirty="0">
                <a:sym typeface="+mn-ea"/>
              </a:rPr>
              <a:t>是制造的单元，是组成机器的基本单元。</a:t>
            </a:r>
            <a:endParaRPr lang="zh-CN" altLang="en-US" b="1" dirty="0">
              <a:latin typeface="Times New Roman" panose="02020603050405020304" pitchFamily="18" charset="0"/>
            </a:endParaRPr>
          </a:p>
        </p:txBody>
      </p:sp>
      <p:sp>
        <p:nvSpPr>
          <p:cNvPr id="697411" name="AutoShape 67"/>
          <p:cNvSpPr/>
          <p:nvPr/>
        </p:nvSpPr>
        <p:spPr>
          <a:xfrm>
            <a:off x="252171" y="4102118"/>
            <a:ext cx="4321175" cy="2519362"/>
          </a:xfrm>
          <a:prstGeom prst="cloudCallout">
            <a:avLst>
              <a:gd name="adj1" fmla="val 12199"/>
              <a:gd name="adj2" fmla="val -71991"/>
            </a:avLst>
          </a:prstGeom>
          <a:solidFill>
            <a:srgbClr val="CC00FF"/>
          </a:solidFill>
          <a:ln w="9525" cap="flat" cmpd="sng">
            <a:solidFill>
              <a:srgbClr val="CC00FF"/>
            </a:solidFill>
            <a:prstDash val="solid"/>
            <a:headEnd type="none" w="med" len="med"/>
            <a:tailEnd type="none" w="med" len="med"/>
          </a:ln>
        </p:spPr>
        <p:txBody>
          <a:bodyPr/>
          <a:lstStyle/>
          <a:p>
            <a:pPr algn="just">
              <a:spcAft>
                <a:spcPts val="0"/>
              </a:spcAft>
            </a:pPr>
            <a:r>
              <a:rPr lang="zh-CN" altLang="en-US" b="1" dirty="0">
                <a:solidFill>
                  <a:schemeClr val="bg1"/>
                </a:solidFill>
                <a:sym typeface="+mn-ea"/>
              </a:rPr>
              <a:t>是运动的单元，它可由若干个零件组成，但各零件之间不允许有相对运动，是刚性结构。</a:t>
            </a:r>
            <a:endParaRPr lang="zh-CN" altLang="en-US" b="1" dirty="0">
              <a:solidFill>
                <a:schemeClr val="bg1"/>
              </a:solidFill>
              <a:latin typeface="Times New Roman" panose="02020603050405020304" pitchFamily="18" charset="0"/>
              <a:sym typeface="+mn-ea"/>
            </a:endParaRPr>
          </a:p>
        </p:txBody>
      </p:sp>
      <p:grpSp>
        <p:nvGrpSpPr>
          <p:cNvPr id="8" name="组合 1"/>
          <p:cNvGrpSpPr/>
          <p:nvPr/>
        </p:nvGrpSpPr>
        <p:grpSpPr>
          <a:xfrm>
            <a:off x="6072188" y="5896293"/>
            <a:ext cx="2630487" cy="827087"/>
            <a:chOff x="10088" y="9497"/>
            <a:chExt cx="4141" cy="1302"/>
          </a:xfrm>
        </p:grpSpPr>
        <p:sp>
          <p:nvSpPr>
            <p:cNvPr id="9" name="文本框 1073742869"/>
            <p:cNvSpPr txBox="1">
              <a:spLocks noChangeAspect="1"/>
            </p:cNvSpPr>
            <p:nvPr/>
          </p:nvSpPr>
          <p:spPr>
            <a:xfrm>
              <a:off x="11247" y="9745"/>
              <a:ext cx="2983" cy="479"/>
            </a:xfrm>
            <a:prstGeom prst="rect">
              <a:avLst/>
            </a:prstGeom>
            <a:noFill/>
            <a:ln w="9525">
              <a:noFill/>
            </a:ln>
          </p:spPr>
          <p:txBody>
            <a:bodyPr wrap="square" anchor="t"/>
            <a:lstStyle/>
            <a:p>
              <a:pPr algn="ctr"/>
              <a:r>
                <a:rPr lang="zh-CN" altLang="en-US" sz="1200" dirty="0">
                  <a:latin typeface="Times New Roman" panose="02020603050405020304" pitchFamily="18" charset="0"/>
                </a:rPr>
                <a:t>China University of Mining &amp; Technology-Beijing</a:t>
              </a:r>
              <a:endParaRPr lang="zh-CN" altLang="en-US" sz="1200" dirty="0">
                <a:latin typeface="Times New Roman" panose="02020603050405020304" pitchFamily="18" charset="0"/>
              </a:endParaRPr>
            </a:p>
            <a:p>
              <a:endParaRPr lang="zh-CN" altLang="en-US" sz="1200" dirty="0">
                <a:latin typeface="Times New Roman" panose="02020603050405020304" pitchFamily="18" charset="0"/>
              </a:endParaRPr>
            </a:p>
          </p:txBody>
        </p:sp>
        <p:pic>
          <p:nvPicPr>
            <p:cNvPr id="10" name="图片 1073742872" descr="44303071dc0a1f9688d599dbc999570副本"/>
            <p:cNvPicPr>
              <a:picLocks noChangeAspect="1"/>
            </p:cNvPicPr>
            <p:nvPr/>
          </p:nvPicPr>
          <p:blipFill>
            <a:blip r:embed="rId1"/>
            <a:stretch>
              <a:fillRect/>
            </a:stretch>
          </p:blipFill>
          <p:spPr>
            <a:xfrm>
              <a:off x="10088" y="9497"/>
              <a:ext cx="1435" cy="1303"/>
            </a:xfrm>
            <a:prstGeom prst="rect">
              <a:avLst/>
            </a:prstGeom>
            <a:noFill/>
            <a:ln w="9525">
              <a:noFill/>
            </a:ln>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697405"/>
                                        </p:tgtEl>
                                        <p:attrNameLst>
                                          <p:attrName>style.visibility</p:attrName>
                                        </p:attrNameLst>
                                      </p:cBhvr>
                                      <p:to>
                                        <p:strVal val="visible"/>
                                      </p:to>
                                    </p:set>
                                    <p:anim calcmode="lin" valueType="num">
                                      <p:cBhvr additive="base">
                                        <p:cTn id="7" dur="500" fill="hold"/>
                                        <p:tgtEl>
                                          <p:spTgt spid="697405"/>
                                        </p:tgtEl>
                                        <p:attrNameLst>
                                          <p:attrName>ppt_x</p:attrName>
                                        </p:attrNameLst>
                                      </p:cBhvr>
                                      <p:tavLst>
                                        <p:tav tm="0">
                                          <p:val>
                                            <p:strVal val="0-#ppt_w/2"/>
                                          </p:val>
                                        </p:tav>
                                        <p:tav tm="100000">
                                          <p:val>
                                            <p:strVal val="#ppt_x"/>
                                          </p:val>
                                        </p:tav>
                                      </p:tavLst>
                                    </p:anim>
                                    <p:anim calcmode="lin" valueType="num">
                                      <p:cBhvr additive="base">
                                        <p:cTn id="8" dur="500" fill="hold"/>
                                        <p:tgtEl>
                                          <p:spTgt spid="697405"/>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3" fill="hold" grpId="0" nodeType="clickEffect">
                                  <p:stCondLst>
                                    <p:cond delay="0"/>
                                  </p:stCondLst>
                                  <p:childTnLst>
                                    <p:set>
                                      <p:cBhvr>
                                        <p:cTn id="12" dur="1" fill="hold">
                                          <p:stCondLst>
                                            <p:cond delay="0"/>
                                          </p:stCondLst>
                                        </p:cTn>
                                        <p:tgtEl>
                                          <p:spTgt spid="697406"/>
                                        </p:tgtEl>
                                        <p:attrNameLst>
                                          <p:attrName>style.visibility</p:attrName>
                                        </p:attrNameLst>
                                      </p:cBhvr>
                                      <p:to>
                                        <p:strVal val="visible"/>
                                      </p:to>
                                    </p:set>
                                    <p:anim calcmode="lin" valueType="num">
                                      <p:cBhvr additive="base">
                                        <p:cTn id="13" dur="500" fill="hold"/>
                                        <p:tgtEl>
                                          <p:spTgt spid="697406"/>
                                        </p:tgtEl>
                                        <p:attrNameLst>
                                          <p:attrName>ppt_x</p:attrName>
                                        </p:attrNameLst>
                                      </p:cBhvr>
                                      <p:tavLst>
                                        <p:tav tm="0">
                                          <p:val>
                                            <p:strVal val="1+#ppt_w/2"/>
                                          </p:val>
                                        </p:tav>
                                        <p:tav tm="100000">
                                          <p:val>
                                            <p:strVal val="#ppt_x"/>
                                          </p:val>
                                        </p:tav>
                                      </p:tavLst>
                                    </p:anim>
                                    <p:anim calcmode="lin" valueType="num">
                                      <p:cBhvr additive="base">
                                        <p:cTn id="14" dur="500" fill="hold"/>
                                        <p:tgtEl>
                                          <p:spTgt spid="697406"/>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697407"/>
                                        </p:tgtEl>
                                        <p:attrNameLst>
                                          <p:attrName>style.visibility</p:attrName>
                                        </p:attrNameLst>
                                      </p:cBhvr>
                                      <p:to>
                                        <p:strVal val="visible"/>
                                      </p:to>
                                    </p:set>
                                    <p:animEffect transition="in" filter="box(out)">
                                      <p:cBhvr>
                                        <p:cTn id="19" dur="500"/>
                                        <p:tgtEl>
                                          <p:spTgt spid="697407"/>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4" fill="hold" grpId="0" nodeType="clickEffect">
                                  <p:stCondLst>
                                    <p:cond delay="0"/>
                                  </p:stCondLst>
                                  <p:childTnLst>
                                    <p:set>
                                      <p:cBhvr>
                                        <p:cTn id="23" dur="1" fill="hold">
                                          <p:stCondLst>
                                            <p:cond delay="0"/>
                                          </p:stCondLst>
                                        </p:cTn>
                                        <p:tgtEl>
                                          <p:spTgt spid="697411"/>
                                        </p:tgtEl>
                                        <p:attrNameLst>
                                          <p:attrName>style.visibility</p:attrName>
                                        </p:attrNameLst>
                                      </p:cBhvr>
                                      <p:to>
                                        <p:strVal val="visible"/>
                                      </p:to>
                                    </p:set>
                                    <p:animEffect transition="in" filter="wheel(4)">
                                      <p:cBhvr>
                                        <p:cTn id="24" dur="500"/>
                                        <p:tgtEl>
                                          <p:spTgt spid="697411"/>
                                        </p:tgtEl>
                                      </p:cBhvr>
                                    </p:animEffect>
                                  </p:childTnLst>
                                </p:cTn>
                              </p:par>
                            </p:childTnLst>
                          </p:cTn>
                        </p:par>
                      </p:childTnLst>
                    </p:cTn>
                  </p:par>
                  <p:par>
                    <p:cTn id="25" fill="hold">
                      <p:stCondLst>
                        <p:cond delay="indefinite"/>
                      </p:stCondLst>
                      <p:childTnLst>
                        <p:par>
                          <p:cTn id="26" fill="hold">
                            <p:stCondLst>
                              <p:cond delay="0"/>
                            </p:stCondLst>
                            <p:childTnLst>
                              <p:par>
                                <p:cTn id="27" presetID="21" presetClass="entr" presetSubtype="4" fill="hold" grpId="0" nodeType="clickEffect">
                                  <p:stCondLst>
                                    <p:cond delay="0"/>
                                  </p:stCondLst>
                                  <p:childTnLst>
                                    <p:set>
                                      <p:cBhvr>
                                        <p:cTn id="28" dur="1" fill="hold">
                                          <p:stCondLst>
                                            <p:cond delay="0"/>
                                          </p:stCondLst>
                                        </p:cTn>
                                        <p:tgtEl>
                                          <p:spTgt spid="697409"/>
                                        </p:tgtEl>
                                        <p:attrNameLst>
                                          <p:attrName>style.visibility</p:attrName>
                                        </p:attrNameLst>
                                      </p:cBhvr>
                                      <p:to>
                                        <p:strVal val="visible"/>
                                      </p:to>
                                    </p:set>
                                    <p:animEffect transition="in" filter="wheel(4)">
                                      <p:cBhvr>
                                        <p:cTn id="29" dur="500"/>
                                        <p:tgtEl>
                                          <p:spTgt spid="6974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7405" grpId="0" bldLvl="0" animBg="1"/>
      <p:bldP spid="697406" grpId="0" bldLvl="0" animBg="1"/>
      <p:bldP spid="697407" grpId="0"/>
      <p:bldP spid="697409" grpId="0" bldLvl="0" animBg="1"/>
      <p:bldP spid="697411"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5"/>
          <p:cNvSpPr txBox="1"/>
          <p:nvPr/>
        </p:nvSpPr>
        <p:spPr>
          <a:xfrm>
            <a:off x="3758364" y="5342165"/>
            <a:ext cx="5003800" cy="460375"/>
          </a:xfrm>
          <a:prstGeom prst="rect">
            <a:avLst/>
          </a:prstGeom>
          <a:noFill/>
          <a:ln w="9525">
            <a:noFill/>
          </a:ln>
        </p:spPr>
        <p:txBody>
          <a:bodyPr>
            <a:spAutoFit/>
          </a:bodyPr>
          <a:lstStyle/>
          <a:p>
            <a:pPr>
              <a:spcBef>
                <a:spcPct val="50000"/>
              </a:spcBef>
              <a:spcAft>
                <a:spcPts val="0"/>
              </a:spcAft>
            </a:pPr>
            <a:r>
              <a:rPr lang="zh-CN" altLang="en-US" sz="2400" b="1" dirty="0">
                <a:latin typeface="Times New Roman" panose="02020603050405020304" pitchFamily="18" charset="0"/>
              </a:rPr>
              <a:t>齿轮               花键                   轴承</a:t>
            </a:r>
            <a:endParaRPr lang="zh-CN" altLang="en-US" sz="2400" b="1" dirty="0">
              <a:latin typeface="Times New Roman" panose="02020603050405020304" pitchFamily="18" charset="0"/>
            </a:endParaRPr>
          </a:p>
        </p:txBody>
      </p:sp>
      <p:sp>
        <p:nvSpPr>
          <p:cNvPr id="31747" name="Text Box 6"/>
          <p:cNvSpPr txBox="1"/>
          <p:nvPr/>
        </p:nvSpPr>
        <p:spPr>
          <a:xfrm>
            <a:off x="211844" y="2664611"/>
            <a:ext cx="4702630" cy="521970"/>
          </a:xfrm>
          <a:prstGeom prst="rect">
            <a:avLst/>
          </a:prstGeom>
          <a:noFill/>
          <a:ln w="9525">
            <a:noFill/>
          </a:ln>
        </p:spPr>
        <p:txBody>
          <a:bodyPr wrap="square">
            <a:spAutoFit/>
          </a:bodyPr>
          <a:lstStyle/>
          <a:p>
            <a:pPr>
              <a:spcBef>
                <a:spcPct val="50000"/>
              </a:spcBef>
              <a:spcAft>
                <a:spcPts val="0"/>
              </a:spcAft>
            </a:pPr>
            <a:r>
              <a:rPr lang="zh-CN" altLang="en-US" sz="2800" b="1" dirty="0" smtClean="0">
                <a:solidFill>
                  <a:schemeClr val="tx2"/>
                </a:solidFill>
                <a:latin typeface="Arial" panose="020B0604020202020204" pitchFamily="34" charset="0"/>
              </a:rPr>
              <a:t>车床</a:t>
            </a:r>
            <a:r>
              <a:rPr lang="zh-CN" altLang="en-US" sz="2800" b="1" dirty="0">
                <a:solidFill>
                  <a:schemeClr val="tx2"/>
                </a:solidFill>
                <a:latin typeface="Arial" panose="020B0604020202020204" pitchFamily="34" charset="0"/>
              </a:rPr>
              <a:t>主轴</a:t>
            </a:r>
            <a:r>
              <a:rPr lang="zh-CN" altLang="en-US" sz="2800" b="1" dirty="0" smtClean="0">
                <a:solidFill>
                  <a:schemeClr val="tx2"/>
                </a:solidFill>
                <a:latin typeface="Arial" panose="020B0604020202020204" pitchFamily="34" charset="0"/>
              </a:rPr>
              <a:t>箱</a:t>
            </a:r>
            <a:endParaRPr lang="en-US" altLang="zh-CN" sz="2800" b="1" dirty="0">
              <a:solidFill>
                <a:schemeClr val="tx2"/>
              </a:solidFill>
              <a:latin typeface="Arial" panose="020B0604020202020204" pitchFamily="34" charset="0"/>
            </a:endParaRPr>
          </a:p>
        </p:txBody>
      </p:sp>
      <p:pic>
        <p:nvPicPr>
          <p:cNvPr id="31748" name="Picture 9" descr="u=3343166901,421287624&amp;fm=23&amp;gp=0"/>
          <p:cNvPicPr>
            <a:picLocks noChangeAspect="1"/>
          </p:cNvPicPr>
          <p:nvPr/>
        </p:nvPicPr>
        <p:blipFill>
          <a:blip r:embed="rId1"/>
          <a:stretch>
            <a:fillRect/>
          </a:stretch>
        </p:blipFill>
        <p:spPr>
          <a:xfrm>
            <a:off x="140678" y="3346485"/>
            <a:ext cx="3333750" cy="2286000"/>
          </a:xfrm>
          <a:prstGeom prst="rect">
            <a:avLst/>
          </a:prstGeom>
          <a:noFill/>
          <a:ln w="9525">
            <a:noFill/>
          </a:ln>
        </p:spPr>
      </p:pic>
      <p:pic>
        <p:nvPicPr>
          <p:cNvPr id="31749" name="Picture 10" descr="u=1511599750,2354071217&amp;fm=52&amp;gp=0"/>
          <p:cNvPicPr>
            <a:picLocks noChangeAspect="1"/>
          </p:cNvPicPr>
          <p:nvPr/>
        </p:nvPicPr>
        <p:blipFill>
          <a:blip r:embed="rId2"/>
          <a:stretch>
            <a:fillRect/>
          </a:stretch>
        </p:blipFill>
        <p:spPr>
          <a:xfrm>
            <a:off x="6114544" y="2361748"/>
            <a:ext cx="2665412" cy="1652588"/>
          </a:xfrm>
          <a:prstGeom prst="rect">
            <a:avLst/>
          </a:prstGeom>
          <a:noFill/>
          <a:ln w="9525">
            <a:noFill/>
          </a:ln>
        </p:spPr>
      </p:pic>
      <p:pic>
        <p:nvPicPr>
          <p:cNvPr id="31750" name="Picture 11" descr="u=3120277683,748495807&amp;fm=23&amp;gp=0"/>
          <p:cNvPicPr>
            <a:picLocks noChangeAspect="1"/>
          </p:cNvPicPr>
          <p:nvPr/>
        </p:nvPicPr>
        <p:blipFill>
          <a:blip r:embed="rId3"/>
          <a:stretch>
            <a:fillRect/>
          </a:stretch>
        </p:blipFill>
        <p:spPr>
          <a:xfrm>
            <a:off x="3719549" y="2331603"/>
            <a:ext cx="2160587" cy="1698625"/>
          </a:xfrm>
          <a:prstGeom prst="rect">
            <a:avLst/>
          </a:prstGeom>
          <a:noFill/>
          <a:ln w="9525">
            <a:noFill/>
          </a:ln>
        </p:spPr>
      </p:pic>
      <p:pic>
        <p:nvPicPr>
          <p:cNvPr id="31751" name="Picture 12" descr="u=2783845148,4146113229&amp;fm=15&amp;gp=0"/>
          <p:cNvPicPr>
            <a:picLocks noChangeAspect="1"/>
          </p:cNvPicPr>
          <p:nvPr/>
        </p:nvPicPr>
        <p:blipFill>
          <a:blip r:embed="rId4"/>
          <a:stretch>
            <a:fillRect/>
          </a:stretch>
        </p:blipFill>
        <p:spPr>
          <a:xfrm>
            <a:off x="3841227" y="4392805"/>
            <a:ext cx="1152525" cy="993775"/>
          </a:xfrm>
          <a:prstGeom prst="rect">
            <a:avLst/>
          </a:prstGeom>
          <a:noFill/>
          <a:ln w="9525">
            <a:noFill/>
          </a:ln>
        </p:spPr>
      </p:pic>
      <p:pic>
        <p:nvPicPr>
          <p:cNvPr id="31752" name="Picture 13" descr="u=1934945524,2851212168&amp;fm=51&amp;gp=0"/>
          <p:cNvPicPr>
            <a:picLocks noChangeAspect="1"/>
          </p:cNvPicPr>
          <p:nvPr/>
        </p:nvPicPr>
        <p:blipFill>
          <a:blip r:embed="rId5"/>
          <a:stretch>
            <a:fillRect/>
          </a:stretch>
        </p:blipFill>
        <p:spPr>
          <a:xfrm>
            <a:off x="7674098" y="4553578"/>
            <a:ext cx="863600" cy="809625"/>
          </a:xfrm>
          <a:prstGeom prst="rect">
            <a:avLst/>
          </a:prstGeom>
          <a:noFill/>
          <a:ln w="9525">
            <a:noFill/>
          </a:ln>
        </p:spPr>
      </p:pic>
      <p:pic>
        <p:nvPicPr>
          <p:cNvPr id="31753" name="Picture 14" descr="u=2380885844,2315825353&amp;fm=23&amp;gp=0"/>
          <p:cNvPicPr>
            <a:picLocks noChangeAspect="1"/>
          </p:cNvPicPr>
          <p:nvPr/>
        </p:nvPicPr>
        <p:blipFill>
          <a:blip r:embed="rId6"/>
          <a:stretch>
            <a:fillRect/>
          </a:stretch>
        </p:blipFill>
        <p:spPr>
          <a:xfrm>
            <a:off x="5390243" y="4443047"/>
            <a:ext cx="1657350" cy="931863"/>
          </a:xfrm>
          <a:prstGeom prst="rect">
            <a:avLst/>
          </a:prstGeom>
          <a:noFill/>
          <a:ln w="9525">
            <a:noFill/>
          </a:ln>
        </p:spPr>
      </p:pic>
      <p:sp>
        <p:nvSpPr>
          <p:cNvPr id="31754" name="Text Box 15"/>
          <p:cNvSpPr txBox="1"/>
          <p:nvPr/>
        </p:nvSpPr>
        <p:spPr>
          <a:xfrm>
            <a:off x="3934070" y="4009050"/>
            <a:ext cx="4608513" cy="460375"/>
          </a:xfrm>
          <a:prstGeom prst="rect">
            <a:avLst/>
          </a:prstGeom>
          <a:noFill/>
          <a:ln w="9525">
            <a:noFill/>
          </a:ln>
        </p:spPr>
        <p:txBody>
          <a:bodyPr>
            <a:spAutoFit/>
          </a:bodyPr>
          <a:lstStyle/>
          <a:p>
            <a:pPr>
              <a:spcBef>
                <a:spcPct val="50000"/>
              </a:spcBef>
              <a:spcAft>
                <a:spcPts val="0"/>
              </a:spcAft>
            </a:pPr>
            <a:r>
              <a:rPr lang="zh-CN" altLang="en-US" sz="2400" b="1" dirty="0">
                <a:latin typeface="Times New Roman" panose="02020603050405020304" pitchFamily="18" charset="0"/>
              </a:rPr>
              <a:t>箱体                       变速系统</a:t>
            </a:r>
            <a:endParaRPr lang="zh-CN" altLang="en-US" sz="2400" b="1" dirty="0">
              <a:latin typeface="Times New Roman" panose="02020603050405020304" pitchFamily="18" charset="0"/>
            </a:endParaRPr>
          </a:p>
        </p:txBody>
      </p:sp>
      <p:grpSp>
        <p:nvGrpSpPr>
          <p:cNvPr id="11" name="组合 1"/>
          <p:cNvGrpSpPr/>
          <p:nvPr/>
        </p:nvGrpSpPr>
        <p:grpSpPr>
          <a:xfrm>
            <a:off x="6072188" y="5896293"/>
            <a:ext cx="2630487" cy="827087"/>
            <a:chOff x="10088" y="9497"/>
            <a:chExt cx="4141" cy="1302"/>
          </a:xfrm>
        </p:grpSpPr>
        <p:sp>
          <p:nvSpPr>
            <p:cNvPr id="12" name="文本框 1073742869"/>
            <p:cNvSpPr txBox="1">
              <a:spLocks noChangeAspect="1"/>
            </p:cNvSpPr>
            <p:nvPr/>
          </p:nvSpPr>
          <p:spPr>
            <a:xfrm>
              <a:off x="11247" y="9745"/>
              <a:ext cx="2983" cy="479"/>
            </a:xfrm>
            <a:prstGeom prst="rect">
              <a:avLst/>
            </a:prstGeom>
            <a:noFill/>
            <a:ln w="9525">
              <a:noFill/>
            </a:ln>
          </p:spPr>
          <p:txBody>
            <a:bodyPr wrap="square" anchor="t"/>
            <a:lstStyle/>
            <a:p>
              <a:pPr algn="ctr"/>
              <a:r>
                <a:rPr lang="zh-CN" altLang="en-US" sz="1200" dirty="0">
                  <a:latin typeface="Times New Roman" panose="02020603050405020304" pitchFamily="18" charset="0"/>
                </a:rPr>
                <a:t>China University of Mining &amp; Technology-Beijing</a:t>
              </a:r>
              <a:endParaRPr lang="zh-CN" altLang="en-US" sz="1200" dirty="0">
                <a:latin typeface="Times New Roman" panose="02020603050405020304" pitchFamily="18" charset="0"/>
              </a:endParaRPr>
            </a:p>
            <a:p>
              <a:endParaRPr lang="zh-CN" altLang="en-US" sz="1200" dirty="0">
                <a:latin typeface="Times New Roman" panose="02020603050405020304" pitchFamily="18" charset="0"/>
              </a:endParaRPr>
            </a:p>
          </p:txBody>
        </p:sp>
        <p:pic>
          <p:nvPicPr>
            <p:cNvPr id="13" name="图片 1073742872" descr="44303071dc0a1f9688d599dbc999570副本"/>
            <p:cNvPicPr>
              <a:picLocks noChangeAspect="1"/>
            </p:cNvPicPr>
            <p:nvPr/>
          </p:nvPicPr>
          <p:blipFill>
            <a:blip r:embed="rId7"/>
            <a:stretch>
              <a:fillRect/>
            </a:stretch>
          </p:blipFill>
          <p:spPr>
            <a:xfrm>
              <a:off x="10088" y="9497"/>
              <a:ext cx="1435" cy="1303"/>
            </a:xfrm>
            <a:prstGeom prst="rect">
              <a:avLst/>
            </a:prstGeom>
            <a:noFill/>
            <a:ln w="9525">
              <a:noFill/>
            </a:ln>
          </p:spPr>
        </p:pic>
      </p:grpSp>
      <p:sp>
        <p:nvSpPr>
          <p:cNvPr id="14" name="圆角矩形 13"/>
          <p:cNvSpPr/>
          <p:nvPr/>
        </p:nvSpPr>
        <p:spPr>
          <a:xfrm>
            <a:off x="743579" y="844061"/>
            <a:ext cx="1276141" cy="643095"/>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zh-CN" altLang="en-US" dirty="0" smtClean="0">
                <a:solidFill>
                  <a:schemeClr val="bg1"/>
                </a:solidFill>
                <a:latin typeface="黑体" panose="02010609060101010101" pitchFamily="49" charset="-122"/>
                <a:ea typeface="黑体" panose="02010609060101010101" pitchFamily="49" charset="-122"/>
                <a:sym typeface="+mn-ea"/>
              </a:rPr>
              <a:t>零件</a:t>
            </a:r>
            <a:endParaRPr lang="zh-CN" altLang="en-US" dirty="0">
              <a:solidFill>
                <a:schemeClr val="bg1"/>
              </a:solidFill>
              <a:latin typeface="黑体" panose="02010609060101010101" pitchFamily="49" charset="-122"/>
              <a:ea typeface="黑体" panose="02010609060101010101" pitchFamily="49" charset="-122"/>
            </a:endParaRPr>
          </a:p>
        </p:txBody>
      </p:sp>
      <p:sp>
        <p:nvSpPr>
          <p:cNvPr id="15" name="圆角矩形 14"/>
          <p:cNvSpPr/>
          <p:nvPr/>
        </p:nvSpPr>
        <p:spPr>
          <a:xfrm>
            <a:off x="2381458" y="874206"/>
            <a:ext cx="1276141" cy="643095"/>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zh-CN" altLang="en-US" dirty="0">
                <a:solidFill>
                  <a:schemeClr val="bg1"/>
                </a:solidFill>
                <a:latin typeface="黑体" panose="02010609060101010101" pitchFamily="49" charset="-122"/>
                <a:ea typeface="黑体" panose="02010609060101010101" pitchFamily="49" charset="-122"/>
                <a:sym typeface="+mn-ea"/>
              </a:rPr>
              <a:t>构件</a:t>
            </a:r>
            <a:endParaRPr lang="zh-CN" altLang="en-US" dirty="0">
              <a:solidFill>
                <a:schemeClr val="bg1"/>
              </a:solidFill>
              <a:latin typeface="黑体" panose="02010609060101010101" pitchFamily="49" charset="-122"/>
              <a:ea typeface="黑体" panose="02010609060101010101" pitchFamily="49" charset="-122"/>
            </a:endParaRPr>
          </a:p>
        </p:txBody>
      </p:sp>
      <p:sp>
        <p:nvSpPr>
          <p:cNvPr id="16" name="圆角矩形 15"/>
          <p:cNvSpPr/>
          <p:nvPr/>
        </p:nvSpPr>
        <p:spPr>
          <a:xfrm>
            <a:off x="3999245" y="864159"/>
            <a:ext cx="1276141" cy="643095"/>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0"/>
              </a:spcAft>
            </a:pPr>
            <a:r>
              <a:rPr lang="zh-CN" altLang="en-US" dirty="0">
                <a:solidFill>
                  <a:schemeClr val="bg1"/>
                </a:solidFill>
                <a:latin typeface="黑体" panose="02010609060101010101" pitchFamily="49" charset="-122"/>
                <a:ea typeface="黑体" panose="02010609060101010101" pitchFamily="49" charset="-122"/>
                <a:sym typeface="+mn-ea"/>
              </a:rPr>
              <a:t>机构</a:t>
            </a:r>
            <a:endParaRPr lang="zh-CN" altLang="en-US" dirty="0">
              <a:solidFill>
                <a:schemeClr val="bg1"/>
              </a:solidFill>
              <a:latin typeface="黑体" panose="02010609060101010101" pitchFamily="49" charset="-122"/>
              <a:ea typeface="黑体" panose="02010609060101010101" pitchFamily="49" charset="-122"/>
            </a:endParaRPr>
          </a:p>
        </p:txBody>
      </p:sp>
      <p:sp>
        <p:nvSpPr>
          <p:cNvPr id="17" name="圆角矩形 16"/>
          <p:cNvSpPr/>
          <p:nvPr/>
        </p:nvSpPr>
        <p:spPr>
          <a:xfrm>
            <a:off x="7254909" y="844061"/>
            <a:ext cx="1276141" cy="643095"/>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0"/>
              </a:spcAft>
            </a:pPr>
            <a:r>
              <a:rPr lang="zh-CN" altLang="en-US" dirty="0">
                <a:solidFill>
                  <a:schemeClr val="bg1"/>
                </a:solidFill>
                <a:latin typeface="黑体" panose="02010609060101010101" pitchFamily="49" charset="-122"/>
                <a:ea typeface="黑体" panose="02010609060101010101" pitchFamily="49" charset="-122"/>
                <a:sym typeface="+mn-ea"/>
              </a:rPr>
              <a:t>机器</a:t>
            </a:r>
            <a:endParaRPr lang="zh-CN" altLang="en-US" dirty="0">
              <a:solidFill>
                <a:schemeClr val="bg1"/>
              </a:solidFill>
              <a:latin typeface="黑体" panose="02010609060101010101" pitchFamily="49" charset="-122"/>
              <a:ea typeface="黑体" panose="02010609060101010101" pitchFamily="49" charset="-122"/>
            </a:endParaRPr>
          </a:p>
        </p:txBody>
      </p:sp>
      <p:sp>
        <p:nvSpPr>
          <p:cNvPr id="18" name="圆角矩形 17"/>
          <p:cNvSpPr/>
          <p:nvPr/>
        </p:nvSpPr>
        <p:spPr>
          <a:xfrm>
            <a:off x="5647173" y="854109"/>
            <a:ext cx="1276141" cy="643095"/>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0"/>
              </a:spcAft>
            </a:pPr>
            <a:r>
              <a:rPr lang="zh-CN" altLang="en-US" dirty="0">
                <a:solidFill>
                  <a:schemeClr val="bg1"/>
                </a:solidFill>
                <a:latin typeface="黑体" panose="02010609060101010101" pitchFamily="49" charset="-122"/>
                <a:ea typeface="黑体" panose="02010609060101010101" pitchFamily="49" charset="-122"/>
                <a:sym typeface="+mn-ea"/>
              </a:rPr>
              <a:t>部件</a:t>
            </a:r>
            <a:endParaRPr lang="zh-CN" altLang="en-US" dirty="0">
              <a:solidFill>
                <a:schemeClr val="bg1"/>
              </a:solidFill>
              <a:latin typeface="黑体" panose="02010609060101010101" pitchFamily="49" charset="-122"/>
              <a:ea typeface="黑体" panose="02010609060101010101" pitchFamily="49" charset="-122"/>
            </a:endParaRPr>
          </a:p>
        </p:txBody>
      </p:sp>
      <p:sp>
        <p:nvSpPr>
          <p:cNvPr id="19" name="右箭头 18"/>
          <p:cNvSpPr/>
          <p:nvPr/>
        </p:nvSpPr>
        <p:spPr>
          <a:xfrm>
            <a:off x="2049863" y="1095269"/>
            <a:ext cx="281354" cy="241162"/>
          </a:xfrm>
          <a:prstGeom prst="rightArrow">
            <a:avLst/>
          </a:prstGeom>
          <a:solidFill>
            <a:srgbClr val="FF99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右箭头 19"/>
          <p:cNvSpPr/>
          <p:nvPr/>
        </p:nvSpPr>
        <p:spPr>
          <a:xfrm>
            <a:off x="3667648" y="1065124"/>
            <a:ext cx="281354" cy="241162"/>
          </a:xfrm>
          <a:prstGeom prst="rightArrow">
            <a:avLst/>
          </a:prstGeom>
          <a:solidFill>
            <a:srgbClr val="FF99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右箭头 20"/>
          <p:cNvSpPr/>
          <p:nvPr/>
        </p:nvSpPr>
        <p:spPr>
          <a:xfrm>
            <a:off x="5315578" y="1065124"/>
            <a:ext cx="281354" cy="241162"/>
          </a:xfrm>
          <a:prstGeom prst="rightArrow">
            <a:avLst/>
          </a:prstGeom>
          <a:solidFill>
            <a:srgbClr val="FF99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右箭头 21"/>
          <p:cNvSpPr/>
          <p:nvPr/>
        </p:nvSpPr>
        <p:spPr>
          <a:xfrm>
            <a:off x="6953459" y="1034979"/>
            <a:ext cx="281354" cy="241162"/>
          </a:xfrm>
          <a:prstGeom prst="rightArrow">
            <a:avLst/>
          </a:prstGeom>
          <a:solidFill>
            <a:srgbClr val="FF99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500"/>
                                        <p:tgtEl>
                                          <p:spTgt spid="1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500"/>
                                        <p:tgtEl>
                                          <p:spTgt spid="15"/>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left)">
                                      <p:cBhvr>
                                        <p:cTn id="19" dur="500"/>
                                        <p:tgtEl>
                                          <p:spTgt spid="20"/>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ipe(left)">
                                      <p:cBhvr>
                                        <p:cTn id="23" dur="500"/>
                                        <p:tgtEl>
                                          <p:spTgt spid="16"/>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left)">
                                      <p:cBhvr>
                                        <p:cTn id="27" dur="500"/>
                                        <p:tgtEl>
                                          <p:spTgt spid="21"/>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left)">
                                      <p:cBhvr>
                                        <p:cTn id="31" dur="500"/>
                                        <p:tgtEl>
                                          <p:spTgt spid="18"/>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wipe(left)">
                                      <p:cBhvr>
                                        <p:cTn id="35" dur="500"/>
                                        <p:tgtEl>
                                          <p:spTgt spid="22"/>
                                        </p:tgtEl>
                                      </p:cBhvr>
                                    </p:animEffect>
                                  </p:child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wipe(left)">
                                      <p:cBhvr>
                                        <p:cTn id="39" dur="500"/>
                                        <p:tgtEl>
                                          <p:spTgt spid="1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31748"/>
                                        </p:tgtEl>
                                        <p:attrNameLst>
                                          <p:attrName>style.visibility</p:attrName>
                                        </p:attrNameLst>
                                      </p:cBhvr>
                                      <p:to>
                                        <p:strVal val="visible"/>
                                      </p:to>
                                    </p:set>
                                    <p:animEffect transition="in" filter="wipe(left)">
                                      <p:cBhvr>
                                        <p:cTn id="44" dur="500"/>
                                        <p:tgtEl>
                                          <p:spTgt spid="31748"/>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31747"/>
                                        </p:tgtEl>
                                        <p:attrNameLst>
                                          <p:attrName>style.visibility</p:attrName>
                                        </p:attrNameLst>
                                      </p:cBhvr>
                                      <p:to>
                                        <p:strVal val="visible"/>
                                      </p:to>
                                    </p:set>
                                    <p:animEffect transition="in" filter="wipe(left)">
                                      <p:cBhvr>
                                        <p:cTn id="48" dur="500"/>
                                        <p:tgtEl>
                                          <p:spTgt spid="3174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31750"/>
                                        </p:tgtEl>
                                        <p:attrNameLst>
                                          <p:attrName>style.visibility</p:attrName>
                                        </p:attrNameLst>
                                      </p:cBhvr>
                                      <p:to>
                                        <p:strVal val="visible"/>
                                      </p:to>
                                    </p:set>
                                    <p:animEffect transition="in" filter="wipe(left)">
                                      <p:cBhvr>
                                        <p:cTn id="53" dur="500"/>
                                        <p:tgtEl>
                                          <p:spTgt spid="31750"/>
                                        </p:tgtEl>
                                      </p:cBhvr>
                                    </p:animEffect>
                                  </p:childTnLst>
                                </p:cTn>
                              </p:par>
                              <p:par>
                                <p:cTn id="54" presetID="22" presetClass="entr" presetSubtype="8" fill="hold" nodeType="withEffect">
                                  <p:stCondLst>
                                    <p:cond delay="0"/>
                                  </p:stCondLst>
                                  <p:childTnLst>
                                    <p:set>
                                      <p:cBhvr>
                                        <p:cTn id="55" dur="1" fill="hold">
                                          <p:stCondLst>
                                            <p:cond delay="0"/>
                                          </p:stCondLst>
                                        </p:cTn>
                                        <p:tgtEl>
                                          <p:spTgt spid="31749"/>
                                        </p:tgtEl>
                                        <p:attrNameLst>
                                          <p:attrName>style.visibility</p:attrName>
                                        </p:attrNameLst>
                                      </p:cBhvr>
                                      <p:to>
                                        <p:strVal val="visible"/>
                                      </p:to>
                                    </p:set>
                                    <p:animEffect transition="in" filter="wipe(left)">
                                      <p:cBhvr>
                                        <p:cTn id="56" dur="500"/>
                                        <p:tgtEl>
                                          <p:spTgt spid="31749"/>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31754"/>
                                        </p:tgtEl>
                                        <p:attrNameLst>
                                          <p:attrName>style.visibility</p:attrName>
                                        </p:attrNameLst>
                                      </p:cBhvr>
                                      <p:to>
                                        <p:strVal val="visible"/>
                                      </p:to>
                                    </p:set>
                                    <p:animEffect transition="in" filter="wipe(left)">
                                      <p:cBhvr>
                                        <p:cTn id="59" dur="500"/>
                                        <p:tgtEl>
                                          <p:spTgt spid="31754"/>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31751"/>
                                        </p:tgtEl>
                                        <p:attrNameLst>
                                          <p:attrName>style.visibility</p:attrName>
                                        </p:attrNameLst>
                                      </p:cBhvr>
                                      <p:to>
                                        <p:strVal val="visible"/>
                                      </p:to>
                                    </p:set>
                                    <p:animEffect transition="in" filter="wipe(left)">
                                      <p:cBhvr>
                                        <p:cTn id="64" dur="500"/>
                                        <p:tgtEl>
                                          <p:spTgt spid="31751"/>
                                        </p:tgtEl>
                                      </p:cBhvr>
                                    </p:animEffect>
                                  </p:childTnLst>
                                </p:cTn>
                              </p:par>
                              <p:par>
                                <p:cTn id="65" presetID="22" presetClass="entr" presetSubtype="8" fill="hold" nodeType="withEffect">
                                  <p:stCondLst>
                                    <p:cond delay="0"/>
                                  </p:stCondLst>
                                  <p:childTnLst>
                                    <p:set>
                                      <p:cBhvr>
                                        <p:cTn id="66" dur="1" fill="hold">
                                          <p:stCondLst>
                                            <p:cond delay="0"/>
                                          </p:stCondLst>
                                        </p:cTn>
                                        <p:tgtEl>
                                          <p:spTgt spid="31753"/>
                                        </p:tgtEl>
                                        <p:attrNameLst>
                                          <p:attrName>style.visibility</p:attrName>
                                        </p:attrNameLst>
                                      </p:cBhvr>
                                      <p:to>
                                        <p:strVal val="visible"/>
                                      </p:to>
                                    </p:set>
                                    <p:animEffect transition="in" filter="wipe(left)">
                                      <p:cBhvr>
                                        <p:cTn id="67" dur="500"/>
                                        <p:tgtEl>
                                          <p:spTgt spid="31753"/>
                                        </p:tgtEl>
                                      </p:cBhvr>
                                    </p:animEffect>
                                  </p:childTnLst>
                                </p:cTn>
                              </p:par>
                              <p:par>
                                <p:cTn id="68" presetID="22" presetClass="entr" presetSubtype="8" fill="hold" nodeType="withEffect">
                                  <p:stCondLst>
                                    <p:cond delay="0"/>
                                  </p:stCondLst>
                                  <p:childTnLst>
                                    <p:set>
                                      <p:cBhvr>
                                        <p:cTn id="69" dur="1" fill="hold">
                                          <p:stCondLst>
                                            <p:cond delay="0"/>
                                          </p:stCondLst>
                                        </p:cTn>
                                        <p:tgtEl>
                                          <p:spTgt spid="31752"/>
                                        </p:tgtEl>
                                        <p:attrNameLst>
                                          <p:attrName>style.visibility</p:attrName>
                                        </p:attrNameLst>
                                      </p:cBhvr>
                                      <p:to>
                                        <p:strVal val="visible"/>
                                      </p:to>
                                    </p:set>
                                    <p:animEffect transition="in" filter="wipe(left)">
                                      <p:cBhvr>
                                        <p:cTn id="70" dur="500"/>
                                        <p:tgtEl>
                                          <p:spTgt spid="31752"/>
                                        </p:tgtEl>
                                      </p:cBhvr>
                                    </p:animEffect>
                                  </p:childTnLst>
                                </p:cTn>
                              </p:par>
                              <p:par>
                                <p:cTn id="71" presetID="22" presetClass="entr" presetSubtype="8" fill="hold" grpId="0" nodeType="withEffect">
                                  <p:stCondLst>
                                    <p:cond delay="0"/>
                                  </p:stCondLst>
                                  <p:childTnLst>
                                    <p:set>
                                      <p:cBhvr>
                                        <p:cTn id="72" dur="1" fill="hold">
                                          <p:stCondLst>
                                            <p:cond delay="0"/>
                                          </p:stCondLst>
                                        </p:cTn>
                                        <p:tgtEl>
                                          <p:spTgt spid="31746"/>
                                        </p:tgtEl>
                                        <p:attrNameLst>
                                          <p:attrName>style.visibility</p:attrName>
                                        </p:attrNameLst>
                                      </p:cBhvr>
                                      <p:to>
                                        <p:strVal val="visible"/>
                                      </p:to>
                                    </p:set>
                                    <p:animEffect transition="in" filter="wipe(left)">
                                      <p:cBhvr>
                                        <p:cTn id="73" dur="500"/>
                                        <p:tgtEl>
                                          <p:spTgt spid="317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p:bldP spid="31747" grpId="0"/>
      <p:bldP spid="31754" grpId="0"/>
      <p:bldP spid="14" grpId="0" bldLvl="0" animBg="1"/>
      <p:bldP spid="15" grpId="0" bldLvl="0" animBg="1"/>
      <p:bldP spid="16" grpId="0" bldLvl="0" animBg="1"/>
      <p:bldP spid="17" grpId="0" bldLvl="0" animBg="1"/>
      <p:bldP spid="18" grpId="0" bldLvl="0" animBg="1"/>
      <p:bldP spid="19" grpId="0" bldLvl="0" animBg="1"/>
      <p:bldP spid="20" grpId="0" bldLvl="0" animBg="1"/>
      <p:bldP spid="21" grpId="0" bldLvl="0" animBg="1"/>
      <p:bldP spid="22"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438" name="图片 1"/>
          <p:cNvPicPr>
            <a:picLocks noChangeAspect="1"/>
          </p:cNvPicPr>
          <p:nvPr>
            <p:custDataLst>
              <p:tags r:id="rId1"/>
            </p:custDataLst>
          </p:nvPr>
        </p:nvPicPr>
        <p:blipFill>
          <a:blip r:embed="rId2"/>
          <a:stretch>
            <a:fillRect/>
          </a:stretch>
        </p:blipFill>
        <p:spPr>
          <a:xfrm>
            <a:off x="3099435" y="960755"/>
            <a:ext cx="5433695" cy="5771515"/>
          </a:xfrm>
          <a:prstGeom prst="rect">
            <a:avLst/>
          </a:prstGeom>
          <a:noFill/>
          <a:ln w="9525">
            <a:noFill/>
          </a:ln>
        </p:spPr>
      </p:pic>
      <p:sp>
        <p:nvSpPr>
          <p:cNvPr id="6146" name="Rectangle 12"/>
          <p:cNvSpPr>
            <a:spLocks noChangeArrowheads="1"/>
          </p:cNvSpPr>
          <p:nvPr>
            <p:custDataLst>
              <p:tags r:id="rId3"/>
            </p:custDataLst>
          </p:nvPr>
        </p:nvSpPr>
        <p:spPr bwMode="auto">
          <a:xfrm>
            <a:off x="3403600" y="304800"/>
            <a:ext cx="48895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p>
            <a:pPr>
              <a:spcAft>
                <a:spcPts val="0"/>
              </a:spcAft>
            </a:pPr>
            <a:r>
              <a:rPr lang="en-US" altLang="zh-CN" sz="3000" dirty="0" smtClean="0">
                <a:solidFill>
                  <a:srgbClr val="CC0000"/>
                </a:solidFill>
                <a:latin typeface="黑体" panose="02010609060101010101" pitchFamily="49" charset="-122"/>
                <a:ea typeface="黑体" panose="02010609060101010101" pitchFamily="49" charset="-122"/>
              </a:rPr>
              <a:t>1.2-3 </a:t>
            </a:r>
            <a:r>
              <a:rPr lang="zh-CN" altLang="en-US" sz="3000" dirty="0">
                <a:solidFill>
                  <a:srgbClr val="CC0000"/>
                </a:solidFill>
                <a:latin typeface="黑体" panose="02010609060101010101" pitchFamily="49" charset="-122"/>
                <a:ea typeface="黑体" panose="02010609060101010101" pitchFamily="49" charset="-122"/>
              </a:rPr>
              <a:t>机器的设计流程</a:t>
            </a:r>
            <a:endParaRPr lang="zh-CN" altLang="en-US" sz="3000" dirty="0">
              <a:solidFill>
                <a:srgbClr val="CC0000"/>
              </a:solidFill>
              <a:latin typeface="黑体" panose="02010609060101010101" pitchFamily="49" charset="-122"/>
              <a:ea typeface="黑体" panose="02010609060101010101" pitchFamily="49" charset="-122"/>
            </a:endParaRPr>
          </a:p>
        </p:txBody>
      </p:sp>
      <p:sp>
        <p:nvSpPr>
          <p:cNvPr id="6160" name="直接连接符 6"/>
          <p:cNvSpPr>
            <a:spLocks noChangeShapeType="1"/>
          </p:cNvSpPr>
          <p:nvPr>
            <p:custDataLst>
              <p:tags r:id="rId4"/>
            </p:custDataLst>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p>
            <a:endParaRPr lang="zh-CN" altLang="en-US"/>
          </a:p>
        </p:txBody>
      </p:sp>
      <p:sp>
        <p:nvSpPr>
          <p:cNvPr id="25617" name="Rectangle 17"/>
          <p:cNvSpPr>
            <a:spLocks noChangeArrowheads="1"/>
          </p:cNvSpPr>
          <p:nvPr>
            <p:custDataLst>
              <p:tags r:id="rId5"/>
            </p:custDataLst>
          </p:nvPr>
        </p:nvSpPr>
        <p:spPr bwMode="auto">
          <a:xfrm>
            <a:off x="364490" y="1369695"/>
            <a:ext cx="2734310" cy="230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lnSpc>
                <a:spcPct val="120000"/>
              </a:lnSpc>
              <a:spcAft>
                <a:spcPts val="0"/>
              </a:spcAft>
            </a:pPr>
            <a:r>
              <a:rPr lang="zh-CN" altLang="en-US" dirty="0">
                <a:solidFill>
                  <a:srgbClr val="000099"/>
                </a:solidFill>
                <a:latin typeface="华文中宋" panose="02010600040101010101" pitchFamily="2" charset="-122"/>
              </a:rPr>
              <a:t>　　</a:t>
            </a:r>
            <a:r>
              <a:rPr lang="zh-CN" altLang="en-US" sz="2400" dirty="0">
                <a:solidFill>
                  <a:srgbClr val="000099"/>
                </a:solidFill>
                <a:latin typeface="黑体" panose="02010609060101010101" pitchFamily="49" charset="-122"/>
                <a:ea typeface="黑体" panose="02010609060101010101" pitchFamily="49" charset="-122"/>
              </a:rPr>
              <a:t>一部机器的质量基本上决定于设计质量，机器的设计阶段是决定机器好坏的关键。</a:t>
            </a:r>
            <a:endParaRPr lang="zh-CN" altLang="en-US" sz="2400" dirty="0">
              <a:solidFill>
                <a:srgbClr val="000099"/>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5617"/>
                                        </p:tgtEl>
                                        <p:attrNameLst>
                                          <p:attrName>style.visibility</p:attrName>
                                        </p:attrNameLst>
                                      </p:cBhvr>
                                      <p:to>
                                        <p:strVal val="visible"/>
                                      </p:to>
                                    </p:set>
                                    <p:animEffect transition="in" filter="wipe(left)">
                                      <p:cBhvr>
                                        <p:cTn id="7" dur="500"/>
                                        <p:tgtEl>
                                          <p:spTgt spid="256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1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6586538" y="3576320"/>
            <a:ext cx="1983105" cy="1843088"/>
            <a:chOff x="13850" y="5208"/>
            <a:chExt cx="4164" cy="3870"/>
          </a:xfrm>
        </p:grpSpPr>
        <p:sp>
          <p:nvSpPr>
            <p:cNvPr id="29" name="右箭头 28"/>
            <p:cNvSpPr/>
            <p:nvPr/>
          </p:nvSpPr>
          <p:spPr>
            <a:xfrm>
              <a:off x="14749" y="5208"/>
              <a:ext cx="3265" cy="1107"/>
            </a:xfrm>
            <a:prstGeom prst="rightArrow">
              <a:avLst>
                <a:gd name="adj1" fmla="val 62125"/>
                <a:gd name="adj2" fmla="val 52205"/>
              </a:avLst>
            </a:prstGeom>
            <a:solidFill>
              <a:srgbClr val="0020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20" tIns="45709" rIns="91420" bIns="45709" rtlCol="0" anchor="ctr"/>
            <a:lstStyle/>
            <a:p>
              <a:pPr algn="ctr"/>
              <a:endParaRPr lang="zh-CN" altLang="en-US" sz="1575">
                <a:latin typeface="微软雅黑" panose="020B0503020204020204" charset="-122"/>
                <a:ea typeface="微软雅黑" panose="020B0503020204020204" charset="-122"/>
              </a:endParaRPr>
            </a:p>
          </p:txBody>
        </p:sp>
        <p:sp>
          <p:nvSpPr>
            <p:cNvPr id="44" name="TextBox 43"/>
            <p:cNvSpPr txBox="1"/>
            <p:nvPr/>
          </p:nvSpPr>
          <p:spPr>
            <a:xfrm>
              <a:off x="15025" y="5503"/>
              <a:ext cx="2845" cy="721"/>
            </a:xfrm>
            <a:prstGeom prst="rect">
              <a:avLst/>
            </a:prstGeom>
            <a:noFill/>
          </p:spPr>
          <p:txBody>
            <a:bodyPr wrap="square" lIns="91420" tIns="45709" rIns="91420" bIns="45709" rtlCol="0">
              <a:spAutoFit/>
            </a:bodyPr>
            <a:lstStyle/>
            <a:p>
              <a:pPr algn="ctr"/>
              <a:r>
                <a:rPr lang="zh-CN" altLang="zh-CN" sz="1650" b="1" dirty="0">
                  <a:solidFill>
                    <a:schemeClr val="bg1"/>
                  </a:solidFill>
                  <a:latin typeface="黑体" panose="02010609060101010101" pitchFamily="49" charset="-122"/>
                  <a:ea typeface="黑体" panose="02010609060101010101" pitchFamily="49" charset="-122"/>
                  <a:sym typeface="+mn-ea"/>
                </a:rPr>
                <a:t>优化改进</a:t>
              </a:r>
              <a:endParaRPr lang="zh-CN" altLang="zh-CN" sz="1650" b="1" dirty="0">
                <a:solidFill>
                  <a:schemeClr val="bg1"/>
                </a:solidFill>
                <a:latin typeface="黑体" panose="02010609060101010101" pitchFamily="49" charset="-122"/>
                <a:ea typeface="黑体" panose="02010609060101010101" pitchFamily="49" charset="-122"/>
                <a:sym typeface="+mn-ea"/>
              </a:endParaRPr>
            </a:p>
          </p:txBody>
        </p:sp>
        <p:sp>
          <p:nvSpPr>
            <p:cNvPr id="51" name="TextBox 50"/>
            <p:cNvSpPr txBox="1"/>
            <p:nvPr/>
          </p:nvSpPr>
          <p:spPr>
            <a:xfrm>
              <a:off x="13850" y="7010"/>
              <a:ext cx="4164" cy="2068"/>
            </a:xfrm>
            <a:prstGeom prst="rect">
              <a:avLst/>
            </a:prstGeom>
            <a:noFill/>
            <a:ln w="12700" cmpd="sng">
              <a:solidFill>
                <a:srgbClr val="002060"/>
              </a:solidFill>
              <a:prstDash val="solid"/>
            </a:ln>
          </p:spPr>
          <p:txBody>
            <a:bodyPr wrap="square" lIns="0" tIns="0" rIns="0" bIns="0" rtlCol="0">
              <a:spAutoFit/>
            </a:bodyPr>
            <a:lstStyle/>
            <a:p>
              <a:r>
                <a:rPr lang="zh-CN" altLang="zh-CN" sz="1600" dirty="0">
                  <a:sym typeface="+mn-ea"/>
                </a:rPr>
                <a:t>根据测试验证结果对设计进行优化改进，同时考虑批量生产对设计的影响。</a:t>
              </a:r>
              <a:endParaRPr lang="zh-CN" altLang="en-US" sz="1600" dirty="0">
                <a:solidFill>
                  <a:schemeClr val="tx1">
                    <a:lumMod val="75000"/>
                    <a:lumOff val="25000"/>
                  </a:schemeClr>
                </a:solidFill>
                <a:latin typeface="微软雅黑" panose="020B0503020204020204" charset="-122"/>
                <a:ea typeface="微软雅黑" panose="020B0503020204020204" charset="-122"/>
              </a:endParaRPr>
            </a:p>
          </p:txBody>
        </p:sp>
        <p:cxnSp>
          <p:nvCxnSpPr>
            <p:cNvPr id="52" name="直接连接符 51"/>
            <p:cNvCxnSpPr/>
            <p:nvPr/>
          </p:nvCxnSpPr>
          <p:spPr>
            <a:xfrm>
              <a:off x="16381" y="6095"/>
              <a:ext cx="0" cy="737"/>
            </a:xfrm>
            <a:prstGeom prst="line">
              <a:avLst/>
            </a:prstGeom>
            <a:ln>
              <a:solidFill>
                <a:schemeClr val="bg1">
                  <a:lumMod val="50000"/>
                </a:schemeClr>
              </a:solidFill>
              <a:headEnd type="oval"/>
              <a:tailEnd type="none"/>
            </a:ln>
          </p:spPr>
          <p:style>
            <a:lnRef idx="1">
              <a:schemeClr val="accent1"/>
            </a:lnRef>
            <a:fillRef idx="0">
              <a:schemeClr val="accent1"/>
            </a:fillRef>
            <a:effectRef idx="0">
              <a:schemeClr val="accent1"/>
            </a:effectRef>
            <a:fontRef idx="minor">
              <a:schemeClr val="tx1"/>
            </a:fontRef>
          </p:style>
        </p:cxnSp>
      </p:grpSp>
      <p:grpSp>
        <p:nvGrpSpPr>
          <p:cNvPr id="6" name="组合 5"/>
          <p:cNvGrpSpPr/>
          <p:nvPr/>
        </p:nvGrpSpPr>
        <p:grpSpPr>
          <a:xfrm>
            <a:off x="5597843" y="2353310"/>
            <a:ext cx="1983105" cy="1750219"/>
            <a:chOff x="11774" y="2640"/>
            <a:chExt cx="4164" cy="3675"/>
          </a:xfrm>
        </p:grpSpPr>
        <p:sp>
          <p:nvSpPr>
            <p:cNvPr id="50" name="TextBox 49"/>
            <p:cNvSpPr txBox="1"/>
            <p:nvPr/>
          </p:nvSpPr>
          <p:spPr>
            <a:xfrm>
              <a:off x="11774" y="2640"/>
              <a:ext cx="4164" cy="2068"/>
            </a:xfrm>
            <a:prstGeom prst="rect">
              <a:avLst/>
            </a:prstGeom>
            <a:noFill/>
            <a:ln w="12700" cmpd="sng">
              <a:solidFill>
                <a:srgbClr val="002060"/>
              </a:solidFill>
              <a:prstDash val="solid"/>
            </a:ln>
          </p:spPr>
          <p:txBody>
            <a:bodyPr wrap="square" lIns="0" tIns="0" rIns="0" bIns="0" rtlCol="0">
              <a:spAutoFit/>
            </a:bodyPr>
            <a:lstStyle/>
            <a:p>
              <a:r>
                <a:rPr lang="zh-CN" altLang="zh-CN" sz="1600" dirty="0">
                  <a:sym typeface="+mn-ea"/>
                </a:rPr>
                <a:t>根据测试方案对样机进行测试，以验证其是否达到预期的参数要求与使用要求。</a:t>
              </a:r>
              <a:endParaRPr lang="zh-CN" altLang="en-US" sz="1600" dirty="0">
                <a:solidFill>
                  <a:schemeClr val="tx1">
                    <a:lumMod val="75000"/>
                    <a:lumOff val="25000"/>
                  </a:schemeClr>
                </a:solidFill>
                <a:latin typeface="微软雅黑" panose="020B0503020204020204" charset="-122"/>
                <a:ea typeface="微软雅黑" panose="020B0503020204020204" charset="-122"/>
              </a:endParaRPr>
            </a:p>
          </p:txBody>
        </p:sp>
        <p:sp>
          <p:nvSpPr>
            <p:cNvPr id="30" name="右箭头 29"/>
            <p:cNvSpPr/>
            <p:nvPr/>
          </p:nvSpPr>
          <p:spPr>
            <a:xfrm>
              <a:off x="12065" y="5208"/>
              <a:ext cx="3265" cy="1107"/>
            </a:xfrm>
            <a:prstGeom prst="rightArrow">
              <a:avLst>
                <a:gd name="adj1" fmla="val 62125"/>
                <a:gd name="adj2" fmla="val 52205"/>
              </a:avLst>
            </a:prstGeom>
            <a:solidFill>
              <a:srgbClr val="0070C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20" tIns="45709" rIns="91420" bIns="45709" rtlCol="0" anchor="ctr"/>
            <a:lstStyle/>
            <a:p>
              <a:pPr algn="ctr"/>
              <a:endParaRPr lang="zh-CN" altLang="en-US" sz="1575">
                <a:latin typeface="微软雅黑" panose="020B0503020204020204" charset="-122"/>
                <a:ea typeface="微软雅黑" panose="020B0503020204020204" charset="-122"/>
              </a:endParaRPr>
            </a:p>
          </p:txBody>
        </p:sp>
        <p:sp>
          <p:nvSpPr>
            <p:cNvPr id="43" name="TextBox 42"/>
            <p:cNvSpPr txBox="1"/>
            <p:nvPr/>
          </p:nvSpPr>
          <p:spPr>
            <a:xfrm>
              <a:off x="12422" y="5503"/>
              <a:ext cx="3132" cy="721"/>
            </a:xfrm>
            <a:prstGeom prst="rect">
              <a:avLst/>
            </a:prstGeom>
            <a:noFill/>
          </p:spPr>
          <p:txBody>
            <a:bodyPr wrap="square" lIns="91420" tIns="45709" rIns="91420" bIns="45709" rtlCol="0">
              <a:spAutoFit/>
            </a:bodyPr>
            <a:lstStyle/>
            <a:p>
              <a:pPr algn="ctr"/>
              <a:r>
                <a:rPr lang="zh-CN" altLang="zh-CN" sz="1650" b="1" dirty="0">
                  <a:solidFill>
                    <a:schemeClr val="bg1"/>
                  </a:solidFill>
                  <a:latin typeface="黑体" panose="02010609060101010101" pitchFamily="49" charset="-122"/>
                  <a:ea typeface="黑体" panose="02010609060101010101" pitchFamily="49" charset="-122"/>
                  <a:sym typeface="+mn-ea"/>
                </a:rPr>
                <a:t>测试验证</a:t>
              </a:r>
              <a:endParaRPr lang="zh-CN" altLang="zh-CN" sz="1650" b="1" dirty="0">
                <a:solidFill>
                  <a:schemeClr val="bg1"/>
                </a:solidFill>
                <a:latin typeface="黑体" panose="02010609060101010101" pitchFamily="49" charset="-122"/>
                <a:ea typeface="黑体" panose="02010609060101010101" pitchFamily="49" charset="-122"/>
                <a:sym typeface="+mn-ea"/>
              </a:endParaRPr>
            </a:p>
          </p:txBody>
        </p:sp>
        <p:cxnSp>
          <p:nvCxnSpPr>
            <p:cNvPr id="49" name="直接连接符 48"/>
            <p:cNvCxnSpPr/>
            <p:nvPr/>
          </p:nvCxnSpPr>
          <p:spPr>
            <a:xfrm flipV="1">
              <a:off x="13693" y="4691"/>
              <a:ext cx="0" cy="754"/>
            </a:xfrm>
            <a:prstGeom prst="line">
              <a:avLst/>
            </a:prstGeom>
            <a:ln>
              <a:solidFill>
                <a:schemeClr val="bg1">
                  <a:lumMod val="50000"/>
                </a:schemeClr>
              </a:solidFill>
              <a:headEnd type="oval"/>
              <a:tailEnd type="none"/>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a:off x="4116705" y="3576320"/>
            <a:ext cx="1983105" cy="1542098"/>
            <a:chOff x="8664" y="5208"/>
            <a:chExt cx="4164" cy="3238"/>
          </a:xfrm>
        </p:grpSpPr>
        <p:sp>
          <p:nvSpPr>
            <p:cNvPr id="31" name="右箭头 30"/>
            <p:cNvSpPr/>
            <p:nvPr/>
          </p:nvSpPr>
          <p:spPr>
            <a:xfrm>
              <a:off x="9316" y="5208"/>
              <a:ext cx="3265" cy="1107"/>
            </a:xfrm>
            <a:prstGeom prst="rightArrow">
              <a:avLst>
                <a:gd name="adj1" fmla="val 62125"/>
                <a:gd name="adj2" fmla="val 52205"/>
              </a:avLst>
            </a:prstGeom>
            <a:gradFill>
              <a:gsLst>
                <a:gs pos="0">
                  <a:srgbClr val="012D86"/>
                </a:gs>
                <a:gs pos="100000">
                  <a:srgbClr val="0E2557"/>
                </a:gs>
              </a:gsLst>
              <a:lin scaled="0"/>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20" tIns="45709" rIns="91420" bIns="45709" rtlCol="0" anchor="ctr"/>
            <a:lstStyle/>
            <a:p>
              <a:pPr algn="ctr"/>
              <a:endParaRPr lang="zh-CN" altLang="en-US" sz="1575">
                <a:latin typeface="微软雅黑" panose="020B0503020204020204" charset="-122"/>
                <a:ea typeface="微软雅黑" panose="020B0503020204020204" charset="-122"/>
              </a:endParaRPr>
            </a:p>
          </p:txBody>
        </p:sp>
        <p:sp>
          <p:nvSpPr>
            <p:cNvPr id="42" name="TextBox 41"/>
            <p:cNvSpPr txBox="1"/>
            <p:nvPr/>
          </p:nvSpPr>
          <p:spPr>
            <a:xfrm>
              <a:off x="9824" y="5503"/>
              <a:ext cx="2803" cy="721"/>
            </a:xfrm>
            <a:prstGeom prst="rect">
              <a:avLst/>
            </a:prstGeom>
            <a:noFill/>
          </p:spPr>
          <p:txBody>
            <a:bodyPr wrap="square" lIns="91420" tIns="45709" rIns="91420" bIns="45709" rtlCol="0">
              <a:spAutoFit/>
            </a:bodyPr>
            <a:lstStyle/>
            <a:p>
              <a:pPr algn="ctr"/>
              <a:r>
                <a:rPr lang="zh-CN" altLang="zh-CN" sz="1650" b="1" dirty="0">
                  <a:solidFill>
                    <a:schemeClr val="bg1"/>
                  </a:solidFill>
                  <a:latin typeface="黑体" panose="02010609060101010101" pitchFamily="49" charset="-122"/>
                  <a:ea typeface="黑体" panose="02010609060101010101" pitchFamily="49" charset="-122"/>
                  <a:sym typeface="+mn-ea"/>
                </a:rPr>
                <a:t>加工制造</a:t>
              </a:r>
              <a:endParaRPr lang="zh-CN" altLang="zh-CN" sz="1650" b="1" dirty="0">
                <a:solidFill>
                  <a:schemeClr val="bg1"/>
                </a:solidFill>
                <a:latin typeface="黑体" panose="02010609060101010101" pitchFamily="49" charset="-122"/>
                <a:ea typeface="黑体" panose="02010609060101010101" pitchFamily="49" charset="-122"/>
                <a:sym typeface="+mn-ea"/>
              </a:endParaRPr>
            </a:p>
          </p:txBody>
        </p:sp>
        <p:sp>
          <p:nvSpPr>
            <p:cNvPr id="47" name="TextBox 46"/>
            <p:cNvSpPr txBox="1"/>
            <p:nvPr/>
          </p:nvSpPr>
          <p:spPr>
            <a:xfrm>
              <a:off x="8664" y="6895"/>
              <a:ext cx="4164" cy="1551"/>
            </a:xfrm>
            <a:prstGeom prst="rect">
              <a:avLst/>
            </a:prstGeom>
            <a:noFill/>
            <a:ln w="12700" cmpd="sng">
              <a:gradFill>
                <a:gsLst>
                  <a:gs pos="0">
                    <a:srgbClr val="012D86"/>
                  </a:gs>
                  <a:gs pos="100000">
                    <a:srgbClr val="0E2557"/>
                  </a:gs>
                </a:gsLst>
              </a:gradFill>
              <a:prstDash val="solid"/>
            </a:ln>
          </p:spPr>
          <p:txBody>
            <a:bodyPr wrap="square" lIns="0" tIns="0" rIns="0" bIns="0" rtlCol="0">
              <a:spAutoFit/>
            </a:bodyPr>
            <a:lstStyle/>
            <a:p>
              <a:r>
                <a:rPr lang="zh-CN" altLang="zh-CN" sz="1600" dirty="0">
                  <a:sym typeface="+mn-ea"/>
                </a:rPr>
                <a:t>根据详细设计加工制造，根据技术参数装配调试。</a:t>
              </a:r>
              <a:endParaRPr lang="zh-CN" altLang="en-US" sz="1600" dirty="0">
                <a:solidFill>
                  <a:schemeClr val="tx1">
                    <a:lumMod val="75000"/>
                    <a:lumOff val="25000"/>
                  </a:schemeClr>
                </a:solidFill>
                <a:latin typeface="微软雅黑" panose="020B0503020204020204" charset="-122"/>
                <a:ea typeface="微软雅黑" panose="020B0503020204020204" charset="-122"/>
              </a:endParaRPr>
            </a:p>
          </p:txBody>
        </p:sp>
        <p:cxnSp>
          <p:nvCxnSpPr>
            <p:cNvPr id="48" name="直接连接符 47"/>
            <p:cNvCxnSpPr/>
            <p:nvPr/>
          </p:nvCxnSpPr>
          <p:spPr>
            <a:xfrm>
              <a:off x="10948" y="6095"/>
              <a:ext cx="0" cy="737"/>
            </a:xfrm>
            <a:prstGeom prst="line">
              <a:avLst/>
            </a:prstGeom>
            <a:ln>
              <a:solidFill>
                <a:schemeClr val="bg1">
                  <a:lumMod val="50000"/>
                </a:schemeClr>
              </a:solidFill>
              <a:headEnd type="oval"/>
              <a:tailEnd type="none"/>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a:off x="3084671" y="1833655"/>
            <a:ext cx="2119313" cy="2270068"/>
            <a:chOff x="6497" y="1549"/>
            <a:chExt cx="4450" cy="4766"/>
          </a:xfrm>
        </p:grpSpPr>
        <p:sp>
          <p:nvSpPr>
            <p:cNvPr id="32" name="右箭头 31"/>
            <p:cNvSpPr/>
            <p:nvPr/>
          </p:nvSpPr>
          <p:spPr>
            <a:xfrm>
              <a:off x="6632" y="5208"/>
              <a:ext cx="3265" cy="1107"/>
            </a:xfrm>
            <a:prstGeom prst="rightArrow">
              <a:avLst>
                <a:gd name="adj1" fmla="val 62125"/>
                <a:gd name="adj2" fmla="val 52205"/>
              </a:avLst>
            </a:prstGeom>
            <a:solidFill>
              <a:srgbClr val="0070C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20" tIns="45709" rIns="91420" bIns="45709" rtlCol="0" anchor="ctr"/>
            <a:lstStyle/>
            <a:p>
              <a:pPr algn="ctr"/>
              <a:endParaRPr lang="zh-CN" altLang="en-US" sz="1575">
                <a:latin typeface="微软雅黑" panose="020B0503020204020204" charset="-122"/>
                <a:ea typeface="微软雅黑" panose="020B0503020204020204" charset="-122"/>
              </a:endParaRPr>
            </a:p>
          </p:txBody>
        </p:sp>
        <p:sp>
          <p:nvSpPr>
            <p:cNvPr id="41" name="TextBox 40"/>
            <p:cNvSpPr txBox="1"/>
            <p:nvPr/>
          </p:nvSpPr>
          <p:spPr>
            <a:xfrm>
              <a:off x="7345" y="5503"/>
              <a:ext cx="2233" cy="721"/>
            </a:xfrm>
            <a:prstGeom prst="rect">
              <a:avLst/>
            </a:prstGeom>
            <a:noFill/>
          </p:spPr>
          <p:txBody>
            <a:bodyPr wrap="square" lIns="91420" tIns="45709" rIns="91420" bIns="45709" rtlCol="0">
              <a:spAutoFit/>
            </a:bodyPr>
            <a:lstStyle/>
            <a:p>
              <a:pPr algn="ctr"/>
              <a:r>
                <a:rPr lang="zh-CN" altLang="zh-CN" sz="1650" b="1" dirty="0">
                  <a:solidFill>
                    <a:schemeClr val="bg1"/>
                  </a:solidFill>
                  <a:latin typeface="黑体" panose="02010609060101010101" pitchFamily="49" charset="-122"/>
                  <a:ea typeface="黑体" panose="02010609060101010101" pitchFamily="49" charset="-122"/>
                  <a:sym typeface="+mn-ea"/>
                </a:rPr>
                <a:t>详细设计</a:t>
              </a:r>
              <a:endParaRPr lang="zh-CN" altLang="zh-CN" sz="1650" b="1" dirty="0">
                <a:solidFill>
                  <a:schemeClr val="bg1"/>
                </a:solidFill>
                <a:latin typeface="黑体" panose="02010609060101010101" pitchFamily="49" charset="-122"/>
                <a:ea typeface="黑体" panose="02010609060101010101" pitchFamily="49" charset="-122"/>
                <a:sym typeface="+mn-ea"/>
              </a:endParaRPr>
            </a:p>
          </p:txBody>
        </p:sp>
        <p:cxnSp>
          <p:nvCxnSpPr>
            <p:cNvPr id="45" name="直接连接符 44"/>
            <p:cNvCxnSpPr/>
            <p:nvPr/>
          </p:nvCxnSpPr>
          <p:spPr>
            <a:xfrm flipV="1">
              <a:off x="8285" y="4708"/>
              <a:ext cx="0" cy="737"/>
            </a:xfrm>
            <a:prstGeom prst="line">
              <a:avLst/>
            </a:prstGeom>
            <a:ln>
              <a:solidFill>
                <a:schemeClr val="bg1">
                  <a:lumMod val="50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6497" y="1549"/>
              <a:ext cx="4450" cy="3101"/>
            </a:xfrm>
            <a:prstGeom prst="rect">
              <a:avLst/>
            </a:prstGeom>
            <a:noFill/>
            <a:ln w="12700" cmpd="sng">
              <a:solidFill>
                <a:srgbClr val="002060"/>
              </a:solidFill>
              <a:prstDash val="solid"/>
            </a:ln>
          </p:spPr>
          <p:txBody>
            <a:bodyPr wrap="square" lIns="0" tIns="0" rIns="0" bIns="0" rtlCol="0">
              <a:spAutoFit/>
            </a:bodyPr>
            <a:lstStyle/>
            <a:p>
              <a:r>
                <a:rPr lang="zh-CN" altLang="zh-CN" sz="1600" dirty="0">
                  <a:sym typeface="+mn-ea"/>
                </a:rPr>
                <a:t>根据设计方案具体设计出各模块的详细模型、图纸，确定材料、外购件具体参数，并对设计进行虚拟验证，包括动力学、静力学分析等。</a:t>
              </a:r>
              <a:endParaRPr lang="zh-CN" altLang="en-US" sz="1600" dirty="0">
                <a:solidFill>
                  <a:schemeClr val="tx1">
                    <a:lumMod val="75000"/>
                    <a:lumOff val="25000"/>
                  </a:schemeClr>
                </a:solidFill>
                <a:latin typeface="微软雅黑" panose="020B0503020204020204" charset="-122"/>
                <a:ea typeface="微软雅黑" panose="020B0503020204020204" charset="-122"/>
              </a:endParaRPr>
            </a:p>
          </p:txBody>
        </p:sp>
      </p:grpSp>
      <p:grpSp>
        <p:nvGrpSpPr>
          <p:cNvPr id="3" name="组合 2"/>
          <p:cNvGrpSpPr/>
          <p:nvPr/>
        </p:nvGrpSpPr>
        <p:grpSpPr>
          <a:xfrm>
            <a:off x="1499235" y="3576172"/>
            <a:ext cx="2130266" cy="2568155"/>
            <a:chOff x="3168" y="5208"/>
            <a:chExt cx="4473" cy="5392"/>
          </a:xfrm>
        </p:grpSpPr>
        <p:sp>
          <p:nvSpPr>
            <p:cNvPr id="33" name="右箭头 32"/>
            <p:cNvSpPr/>
            <p:nvPr/>
          </p:nvSpPr>
          <p:spPr>
            <a:xfrm>
              <a:off x="3922" y="5208"/>
              <a:ext cx="3265" cy="1107"/>
            </a:xfrm>
            <a:prstGeom prst="rightArrow">
              <a:avLst>
                <a:gd name="adj1" fmla="val 62125"/>
                <a:gd name="adj2" fmla="val 52205"/>
              </a:avLst>
            </a:prstGeom>
            <a:solidFill>
              <a:srgbClr val="0020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20" tIns="45709" rIns="91420" bIns="45709" rtlCol="0" anchor="ctr"/>
            <a:lstStyle/>
            <a:p>
              <a:pPr algn="ctr"/>
              <a:endParaRPr lang="zh-CN" altLang="en-US" sz="1575">
                <a:latin typeface="微软雅黑" panose="020B0503020204020204" charset="-122"/>
                <a:ea typeface="微软雅黑" panose="020B0503020204020204" charset="-122"/>
              </a:endParaRPr>
            </a:p>
          </p:txBody>
        </p:sp>
        <p:sp>
          <p:nvSpPr>
            <p:cNvPr id="38" name="TextBox 37"/>
            <p:cNvSpPr txBox="1"/>
            <p:nvPr/>
          </p:nvSpPr>
          <p:spPr>
            <a:xfrm>
              <a:off x="3168" y="6982"/>
              <a:ext cx="4473" cy="3618"/>
            </a:xfrm>
            <a:prstGeom prst="rect">
              <a:avLst/>
            </a:prstGeom>
            <a:noFill/>
            <a:ln w="12700" cmpd="sng">
              <a:solidFill>
                <a:srgbClr val="002060"/>
              </a:solidFill>
              <a:prstDash val="solid"/>
            </a:ln>
          </p:spPr>
          <p:txBody>
            <a:bodyPr wrap="square" lIns="0" tIns="0" rIns="0" bIns="0" rtlCol="0">
              <a:spAutoFit/>
            </a:bodyPr>
            <a:lstStyle/>
            <a:p>
              <a:r>
                <a:rPr lang="zh-CN" altLang="zh-CN" sz="1200" dirty="0">
                  <a:sym typeface="+mn-ea"/>
                </a:rPr>
                <a:t>在</a:t>
              </a:r>
              <a:r>
                <a:rPr lang="zh-CN" altLang="zh-CN" sz="1600" dirty="0">
                  <a:sym typeface="+mn-ea"/>
                </a:rPr>
                <a:t>功能需求分析的基础上确定实现方法、构思设计要素、筛选原理方案，进行初步的概念性设计以验证产品规划中要求的实现方法，并确定参数分解。</a:t>
              </a:r>
              <a:endParaRPr lang="zh-CN" altLang="en-US" sz="1600" dirty="0">
                <a:solidFill>
                  <a:schemeClr val="tx1">
                    <a:lumMod val="75000"/>
                    <a:lumOff val="25000"/>
                  </a:schemeClr>
                </a:solidFill>
                <a:latin typeface="微软雅黑" panose="020B0503020204020204" charset="-122"/>
                <a:ea typeface="微软雅黑" panose="020B0503020204020204" charset="-122"/>
              </a:endParaRPr>
            </a:p>
          </p:txBody>
        </p:sp>
        <p:cxnSp>
          <p:nvCxnSpPr>
            <p:cNvPr id="39" name="直接连接符 38"/>
            <p:cNvCxnSpPr/>
            <p:nvPr/>
          </p:nvCxnSpPr>
          <p:spPr>
            <a:xfrm>
              <a:off x="5554" y="6095"/>
              <a:ext cx="0" cy="737"/>
            </a:xfrm>
            <a:prstGeom prst="line">
              <a:avLst/>
            </a:prstGeom>
            <a:ln>
              <a:solidFill>
                <a:schemeClr val="bg1">
                  <a:lumMod val="50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4504" y="5503"/>
              <a:ext cx="2368" cy="721"/>
            </a:xfrm>
            <a:prstGeom prst="rect">
              <a:avLst/>
            </a:prstGeom>
            <a:noFill/>
          </p:spPr>
          <p:txBody>
            <a:bodyPr wrap="square" lIns="91420" tIns="45709" rIns="91420" bIns="45709" rtlCol="0">
              <a:spAutoFit/>
            </a:bodyPr>
            <a:lstStyle/>
            <a:p>
              <a:pPr algn="ctr"/>
              <a:r>
                <a:rPr lang="zh-CN" altLang="zh-CN" sz="1650" b="1" dirty="0">
                  <a:solidFill>
                    <a:schemeClr val="bg1"/>
                  </a:solidFill>
                  <a:latin typeface="黑体" panose="02010609060101010101" pitchFamily="49" charset="-122"/>
                  <a:ea typeface="黑体" panose="02010609060101010101" pitchFamily="49" charset="-122"/>
                  <a:sym typeface="+mn-ea"/>
                </a:rPr>
                <a:t>概念设计</a:t>
              </a:r>
              <a:endParaRPr lang="zh-CN" altLang="zh-CN" sz="1650" b="1" dirty="0">
                <a:solidFill>
                  <a:schemeClr val="bg1"/>
                </a:solidFill>
                <a:latin typeface="黑体" panose="02010609060101010101" pitchFamily="49" charset="-122"/>
                <a:ea typeface="黑体" panose="02010609060101010101" pitchFamily="49" charset="-122"/>
                <a:sym typeface="+mn-ea"/>
              </a:endParaRPr>
            </a:p>
          </p:txBody>
        </p:sp>
      </p:grpSp>
      <p:grpSp>
        <p:nvGrpSpPr>
          <p:cNvPr id="2" name="组合 1"/>
          <p:cNvGrpSpPr/>
          <p:nvPr/>
        </p:nvGrpSpPr>
        <p:grpSpPr>
          <a:xfrm>
            <a:off x="225743" y="1063625"/>
            <a:ext cx="2399824" cy="3039904"/>
            <a:chOff x="494" y="-68"/>
            <a:chExt cx="5039" cy="6383"/>
          </a:xfrm>
        </p:grpSpPr>
        <p:sp>
          <p:nvSpPr>
            <p:cNvPr id="34" name="右箭头 33"/>
            <p:cNvSpPr/>
            <p:nvPr/>
          </p:nvSpPr>
          <p:spPr>
            <a:xfrm>
              <a:off x="1238" y="5208"/>
              <a:ext cx="3265" cy="1107"/>
            </a:xfrm>
            <a:prstGeom prst="rightArrow">
              <a:avLst>
                <a:gd name="adj1" fmla="val 62125"/>
                <a:gd name="adj2" fmla="val 52205"/>
              </a:avLst>
            </a:prstGeom>
            <a:solidFill>
              <a:srgbClr val="0070C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20" tIns="45709" rIns="91420" bIns="45709" rtlCol="0" anchor="ctr"/>
            <a:lstStyle/>
            <a:p>
              <a:pPr algn="ctr"/>
              <a:endParaRPr lang="zh-CN" altLang="en-US" sz="1575">
                <a:latin typeface="微软雅黑" panose="020B0503020204020204" charset="-122"/>
                <a:ea typeface="微软雅黑" panose="020B0503020204020204" charset="-122"/>
              </a:endParaRPr>
            </a:p>
          </p:txBody>
        </p:sp>
        <p:sp>
          <p:nvSpPr>
            <p:cNvPr id="35" name="TextBox 34"/>
            <p:cNvSpPr txBox="1"/>
            <p:nvPr/>
          </p:nvSpPr>
          <p:spPr>
            <a:xfrm>
              <a:off x="1109" y="5503"/>
              <a:ext cx="3085" cy="721"/>
            </a:xfrm>
            <a:prstGeom prst="rect">
              <a:avLst/>
            </a:prstGeom>
            <a:noFill/>
          </p:spPr>
          <p:txBody>
            <a:bodyPr wrap="square" lIns="91420" tIns="45709" rIns="91420" bIns="45709" rtlCol="0">
              <a:spAutoFit/>
            </a:bodyPr>
            <a:lstStyle/>
            <a:p>
              <a:pPr algn="ctr"/>
              <a:r>
                <a:rPr lang="zh-CN" altLang="zh-CN" sz="1650" b="1" kern="100" dirty="0">
                  <a:solidFill>
                    <a:schemeClr val="bg1"/>
                  </a:solidFill>
                  <a:effectLst/>
                  <a:latin typeface="黑体" panose="02010609060101010101" pitchFamily="49" charset="-122"/>
                  <a:ea typeface="黑体" panose="02010609060101010101" pitchFamily="49" charset="-122"/>
                  <a:cs typeface="Times New Roman" panose="02020603050405020304" pitchFamily="18" charset="0"/>
                  <a:sym typeface="+mn-ea"/>
                </a:rPr>
                <a:t>产品规划</a:t>
              </a:r>
              <a:endParaRPr lang="zh-CN" altLang="zh-CN" sz="1650" b="1" kern="100" dirty="0">
                <a:solidFill>
                  <a:schemeClr val="bg1"/>
                </a:solidFill>
                <a:effectLst/>
                <a:latin typeface="黑体" panose="02010609060101010101" pitchFamily="49" charset="-122"/>
                <a:ea typeface="黑体" panose="02010609060101010101" pitchFamily="49" charset="-122"/>
                <a:cs typeface="Times New Roman" panose="02020603050405020304" pitchFamily="18" charset="0"/>
                <a:sym typeface="+mn-ea"/>
              </a:endParaRPr>
            </a:p>
          </p:txBody>
        </p:sp>
        <p:cxnSp>
          <p:nvCxnSpPr>
            <p:cNvPr id="36" name="直接连接符 35"/>
            <p:cNvCxnSpPr/>
            <p:nvPr/>
          </p:nvCxnSpPr>
          <p:spPr>
            <a:xfrm flipV="1">
              <a:off x="2871" y="4675"/>
              <a:ext cx="6" cy="737"/>
            </a:xfrm>
            <a:prstGeom prst="line">
              <a:avLst/>
            </a:prstGeom>
            <a:ln>
              <a:solidFill>
                <a:schemeClr val="bg1">
                  <a:lumMod val="50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494" y="-68"/>
              <a:ext cx="5039" cy="4652"/>
            </a:xfrm>
            <a:prstGeom prst="rect">
              <a:avLst/>
            </a:prstGeom>
            <a:noFill/>
            <a:ln w="12700" cmpd="sng">
              <a:solidFill>
                <a:srgbClr val="002060"/>
              </a:solidFill>
              <a:prstDash val="solid"/>
            </a:ln>
          </p:spPr>
          <p:txBody>
            <a:bodyPr wrap="square" lIns="0" tIns="0" rIns="0" bIns="0" rtlCol="0">
              <a:spAutoFit/>
            </a:bodyPr>
            <a:lstStyle/>
            <a:p>
              <a:r>
                <a:rPr lang="zh-CN" altLang="zh-CN" sz="1600" kern="100" dirty="0">
                  <a:effectLst/>
                  <a:latin typeface="Calibri" panose="020F0502020204030204" charset="0"/>
                  <a:ea typeface="宋体" panose="02010600030101010101" pitchFamily="2" charset="-122"/>
                  <a:cs typeface="Times New Roman" panose="02020603050405020304" pitchFamily="18" charset="0"/>
                  <a:sym typeface="+mn-ea"/>
                </a:rPr>
                <a:t>根</a:t>
              </a:r>
              <a:r>
                <a:rPr lang="zh-CN" altLang="zh-CN" sz="1600" b="1" kern="100" dirty="0">
                  <a:effectLst/>
                  <a:latin typeface="Calibri" panose="020F0502020204030204" charset="0"/>
                  <a:ea typeface="宋体" panose="02010600030101010101" pitchFamily="2" charset="-122"/>
                  <a:cs typeface="Times New Roman" panose="02020603050405020304" pitchFamily="18" charset="0"/>
                  <a:sym typeface="+mn-ea"/>
                </a:rPr>
                <a:t>据需求分析、客户调研、市场预测、可行性分析，确定</a:t>
              </a:r>
              <a:r>
                <a:rPr lang="zh-CN" altLang="zh-CN" sz="1600" b="1" kern="100" dirty="0">
                  <a:solidFill>
                    <a:schemeClr val="tx1"/>
                  </a:solidFill>
                  <a:effectLst/>
                  <a:latin typeface="Calibri" panose="020F0502020204030204" charset="0"/>
                  <a:ea typeface="宋体" panose="02010600030101010101" pitchFamily="2" charset="-122"/>
                  <a:cs typeface="Times New Roman" panose="02020603050405020304" pitchFamily="18" charset="0"/>
                  <a:sym typeface="+mn-ea"/>
                </a:rPr>
                <a:t>设计基本要求，包括功</a:t>
              </a:r>
              <a:r>
                <a:rPr lang="zh-CN" altLang="zh-CN" sz="1600" b="1" kern="100" dirty="0">
                  <a:effectLst/>
                  <a:latin typeface="Calibri" panose="020F0502020204030204" charset="0"/>
                  <a:ea typeface="宋体" panose="02010600030101010101" pitchFamily="2" charset="-122"/>
                  <a:cs typeface="Times New Roman" panose="02020603050405020304" pitchFamily="18" charset="0"/>
                  <a:sym typeface="+mn-ea"/>
                </a:rPr>
                <a:t>能需求、基本参数、表现形式、设计分工等。有些面向大众市场的产品还需制定市场策略，形成详细的设计任务书，作为设计、评价、决策的依据。</a:t>
              </a:r>
              <a:endParaRPr lang="zh-CN" altLang="en-US" sz="1600" b="1" dirty="0">
                <a:solidFill>
                  <a:schemeClr val="tx1">
                    <a:lumMod val="75000"/>
                    <a:lumOff val="25000"/>
                  </a:schemeClr>
                </a:solidFill>
                <a:latin typeface="微软雅黑" panose="020B0503020204020204" charset="-122"/>
                <a:ea typeface="微软雅黑" panose="020B0503020204020204" charset="-122"/>
              </a:endParaRPr>
            </a:p>
          </p:txBody>
        </p:sp>
      </p:grpSp>
      <p:cxnSp>
        <p:nvCxnSpPr>
          <p:cNvPr id="26" name="直接连接符 25"/>
          <p:cNvCxnSpPr/>
          <p:nvPr/>
        </p:nvCxnSpPr>
        <p:spPr>
          <a:xfrm>
            <a:off x="291" y="873779"/>
            <a:ext cx="9148854"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27" name="TextBox 43"/>
          <p:cNvSpPr txBox="1">
            <a:spLocks noChangeArrowheads="1"/>
          </p:cNvSpPr>
          <p:nvPr/>
        </p:nvSpPr>
        <p:spPr bwMode="auto">
          <a:xfrm>
            <a:off x="1886903" y="231458"/>
            <a:ext cx="1288733" cy="41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charset="-122"/>
              </a:defRPr>
            </a:lvl1pPr>
            <a:lvl2pPr marL="742950" indent="-285750">
              <a:defRPr>
                <a:solidFill>
                  <a:schemeClr val="tx1"/>
                </a:solidFill>
                <a:latin typeface="Tahoma" panose="020B0604030504040204" pitchFamily="34" charset="0"/>
                <a:ea typeface="微软雅黑" panose="020B0503020204020204" charset="-122"/>
              </a:defRPr>
            </a:lvl2pPr>
            <a:lvl3pPr marL="1143000" indent="-228600">
              <a:defRPr>
                <a:solidFill>
                  <a:schemeClr val="tx1"/>
                </a:solidFill>
                <a:latin typeface="Tahoma" panose="020B0604030504040204" pitchFamily="34" charset="0"/>
                <a:ea typeface="微软雅黑" panose="020B0503020204020204" charset="-122"/>
              </a:defRPr>
            </a:lvl3pPr>
            <a:lvl4pPr marL="1600200" indent="-228600">
              <a:defRPr>
                <a:solidFill>
                  <a:schemeClr val="tx1"/>
                </a:solidFill>
                <a:latin typeface="Tahoma" panose="020B0604030504040204" pitchFamily="34" charset="0"/>
                <a:ea typeface="微软雅黑" panose="020B0503020204020204" charset="-122"/>
              </a:defRPr>
            </a:lvl4pPr>
            <a:lvl5pPr marL="2057400" indent="-228600">
              <a:defRPr>
                <a:solidFill>
                  <a:schemeClr val="tx1"/>
                </a:solidFill>
                <a:latin typeface="Tahoma" panose="020B0604030504040204" pitchFamily="34" charset="0"/>
                <a:ea typeface="微软雅黑" panose="020B050302020402020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charset="-122"/>
              </a:defRPr>
            </a:lvl9pPr>
          </a:lstStyle>
          <a:p>
            <a:r>
              <a:rPr lang="zh-CN" altLang="en-US" sz="2100" b="1" dirty="0">
                <a:solidFill>
                  <a:srgbClr val="FF0000"/>
                </a:solidFill>
                <a:latin typeface="微软雅黑" panose="020B0503020204020204" charset="-122"/>
              </a:rPr>
              <a:t>设计流程</a:t>
            </a:r>
            <a:endParaRPr lang="zh-CN" altLang="en-US" sz="2100" b="1" dirty="0">
              <a:solidFill>
                <a:srgbClr val="FF0000"/>
              </a:solidFill>
              <a:latin typeface="微软雅黑" panose="020B0503020204020204" charset="-122"/>
            </a:endParaRPr>
          </a:p>
        </p:txBody>
      </p:sp>
      <p:sp>
        <p:nvSpPr>
          <p:cNvPr id="28" name="燕尾形 27"/>
          <p:cNvSpPr/>
          <p:nvPr/>
        </p:nvSpPr>
        <p:spPr>
          <a:xfrm>
            <a:off x="971058" y="151766"/>
            <a:ext cx="644944" cy="682010"/>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0-#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0-#ppt_w/2"/>
                                          </p:val>
                                        </p:tav>
                                        <p:tav tm="100000">
                                          <p:val>
                                            <p:strVal val="#ppt_x"/>
                                          </p:val>
                                        </p:tav>
                                      </p:tavLst>
                                    </p:anim>
                                    <p:anim calcmode="lin" valueType="num">
                                      <p:cBhvr additive="base">
                                        <p:cTn id="26"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0-#ppt_w/2"/>
                                          </p:val>
                                        </p:tav>
                                        <p:tav tm="100000">
                                          <p:val>
                                            <p:strVal val="#ppt_x"/>
                                          </p:val>
                                        </p:tav>
                                      </p:tavLst>
                                    </p:anim>
                                    <p:anim calcmode="lin" valueType="num">
                                      <p:cBhvr additive="base">
                                        <p:cTn id="32"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0-#ppt_w/2"/>
                                          </p:val>
                                        </p:tav>
                                        <p:tav tm="100000">
                                          <p:val>
                                            <p:strVal val="#ppt_x"/>
                                          </p:val>
                                        </p:tav>
                                      </p:tavLst>
                                    </p:anim>
                                    <p:anim calcmode="lin" valueType="num">
                                      <p:cBhvr additive="base">
                                        <p:cTn id="3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7" name="Rectangle 3"/>
          <p:cNvSpPr>
            <a:spLocks noGrp="1" noChangeArrowheads="1"/>
          </p:cNvSpPr>
          <p:nvPr>
            <p:ph type="body" idx="4294967295"/>
          </p:nvPr>
        </p:nvSpPr>
        <p:spPr>
          <a:xfrm>
            <a:off x="309563" y="207963"/>
            <a:ext cx="8567737" cy="6650037"/>
          </a:xfrm>
          <a:prstGeom prst="rect">
            <a:avLst/>
          </a:prstGeom>
        </p:spPr>
        <p:txBody>
          <a:bodyPr/>
          <a:lstStyle/>
          <a:p>
            <a:pPr algn="just" eaLnBrk="1" hangingPunct="1">
              <a:spcAft>
                <a:spcPts val="0"/>
              </a:spcAft>
              <a:buFontTx/>
              <a:buNone/>
            </a:pPr>
            <a:r>
              <a:rPr lang="zh-CN" sz="2800" kern="1200" dirty="0">
                <a:solidFill>
                  <a:srgbClr val="FF0000"/>
                </a:solidFill>
                <a:latin typeface="黑体" panose="02010609060101010101" pitchFamily="49" charset="-122"/>
                <a:ea typeface="黑体" panose="02010609060101010101" pitchFamily="49" charset="-122"/>
              </a:rPr>
              <a:t>洗衣机设计</a:t>
            </a:r>
            <a:r>
              <a:rPr lang="zh-CN" sz="2800" dirty="0" smtClean="0">
                <a:solidFill>
                  <a:srgbClr val="FF0000"/>
                </a:solidFill>
                <a:latin typeface="黑体" panose="02010609060101010101" pitchFamily="49" charset="-122"/>
                <a:ea typeface="黑体" panose="02010609060101010101" pitchFamily="49" charset="-122"/>
              </a:rPr>
              <a:t>步骤</a:t>
            </a:r>
            <a:r>
              <a:rPr lang="zh-CN" altLang="en-US" sz="2800" dirty="0" smtClean="0">
                <a:solidFill>
                  <a:srgbClr val="FF0000"/>
                </a:solidFill>
                <a:latin typeface="黑体" panose="02010609060101010101" pitchFamily="49" charset="-122"/>
                <a:ea typeface="黑体" panose="02010609060101010101" pitchFamily="49" charset="-122"/>
              </a:rPr>
              <a:t>：</a:t>
            </a:r>
            <a:endParaRPr lang="zh-CN" sz="2800" dirty="0">
              <a:solidFill>
                <a:srgbClr val="FF0000"/>
              </a:solidFill>
              <a:latin typeface="黑体" panose="02010609060101010101" pitchFamily="49" charset="-122"/>
              <a:ea typeface="黑体" panose="02010609060101010101" pitchFamily="49" charset="-122"/>
            </a:endParaRPr>
          </a:p>
        </p:txBody>
      </p:sp>
      <p:grpSp>
        <p:nvGrpSpPr>
          <p:cNvPr id="6148" name="Group 4"/>
          <p:cNvGrpSpPr/>
          <p:nvPr/>
        </p:nvGrpSpPr>
        <p:grpSpPr bwMode="auto">
          <a:xfrm>
            <a:off x="1657350" y="896938"/>
            <a:ext cx="147638" cy="933450"/>
            <a:chOff x="0" y="0"/>
            <a:chExt cx="20001" cy="20005"/>
          </a:xfrm>
        </p:grpSpPr>
        <p:sp>
          <p:nvSpPr>
            <p:cNvPr id="6149" name="Arc 10"/>
            <p:cNvSpPr/>
            <p:nvPr/>
          </p:nvSpPr>
          <p:spPr bwMode="auto">
            <a:xfrm flipH="1" flipV="1">
              <a:off x="9946" y="18340"/>
              <a:ext cx="10055" cy="1665"/>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50" name="Line 11"/>
            <p:cNvSpPr>
              <a:spLocks noChangeShapeType="1"/>
            </p:cNvSpPr>
            <p:nvPr/>
          </p:nvSpPr>
          <p:spPr bwMode="auto">
            <a:xfrm>
              <a:off x="9946" y="11655"/>
              <a:ext cx="109" cy="6710"/>
            </a:xfrm>
            <a:prstGeom prst="line">
              <a:avLst/>
            </a:prstGeom>
            <a:noFill/>
            <a:ln w="952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51" name="Arc 12"/>
            <p:cNvSpPr/>
            <p:nvPr/>
          </p:nvSpPr>
          <p:spPr bwMode="auto">
            <a:xfrm>
              <a:off x="0" y="9990"/>
              <a:ext cx="9946" cy="1665"/>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52" name="Arc 13"/>
            <p:cNvSpPr/>
            <p:nvPr/>
          </p:nvSpPr>
          <p:spPr bwMode="auto">
            <a:xfrm flipV="1">
              <a:off x="0" y="8325"/>
              <a:ext cx="9946" cy="1665"/>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53" name="Line 14"/>
            <p:cNvSpPr>
              <a:spLocks noChangeShapeType="1"/>
            </p:cNvSpPr>
            <p:nvPr/>
          </p:nvSpPr>
          <p:spPr bwMode="auto">
            <a:xfrm>
              <a:off x="9946" y="1665"/>
              <a:ext cx="109" cy="6685"/>
            </a:xfrm>
            <a:prstGeom prst="line">
              <a:avLst/>
            </a:prstGeom>
            <a:noFill/>
            <a:ln w="952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54" name="Arc 15"/>
            <p:cNvSpPr/>
            <p:nvPr/>
          </p:nvSpPr>
          <p:spPr bwMode="auto">
            <a:xfrm flipH="1">
              <a:off x="9946" y="0"/>
              <a:ext cx="10055" cy="1665"/>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6155" name="Rectangle 16"/>
          <p:cNvSpPr>
            <a:spLocks noChangeArrowheads="1"/>
          </p:cNvSpPr>
          <p:nvPr/>
        </p:nvSpPr>
        <p:spPr bwMode="auto">
          <a:xfrm>
            <a:off x="6851650" y="1519238"/>
            <a:ext cx="1597025"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endParaRPr lang="en-US"/>
          </a:p>
          <a:p>
            <a:pPr algn="just"/>
            <a:endParaRPr lang="en-US" sz="2000"/>
          </a:p>
          <a:p>
            <a:pPr algn="just"/>
            <a:endParaRPr lang="en-US"/>
          </a:p>
        </p:txBody>
      </p:sp>
      <p:grpSp>
        <p:nvGrpSpPr>
          <p:cNvPr id="6156" name="Group 12"/>
          <p:cNvGrpSpPr/>
          <p:nvPr/>
        </p:nvGrpSpPr>
        <p:grpSpPr bwMode="auto">
          <a:xfrm>
            <a:off x="2787650" y="1333500"/>
            <a:ext cx="204788" cy="846138"/>
            <a:chOff x="0" y="0"/>
            <a:chExt cx="20000" cy="20003"/>
          </a:xfrm>
        </p:grpSpPr>
        <p:sp>
          <p:nvSpPr>
            <p:cNvPr id="6157" name="Arc 18"/>
            <p:cNvSpPr/>
            <p:nvPr/>
          </p:nvSpPr>
          <p:spPr bwMode="auto">
            <a:xfrm flipH="1" flipV="1">
              <a:off x="9934" y="18341"/>
              <a:ext cx="10066" cy="1662"/>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58" name="Line 19"/>
            <p:cNvSpPr>
              <a:spLocks noChangeShapeType="1"/>
            </p:cNvSpPr>
            <p:nvPr/>
          </p:nvSpPr>
          <p:spPr bwMode="auto">
            <a:xfrm>
              <a:off x="9934" y="11655"/>
              <a:ext cx="105" cy="6708"/>
            </a:xfrm>
            <a:prstGeom prst="line">
              <a:avLst/>
            </a:prstGeom>
            <a:noFill/>
            <a:ln w="952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59" name="Arc 20"/>
            <p:cNvSpPr/>
            <p:nvPr/>
          </p:nvSpPr>
          <p:spPr bwMode="auto">
            <a:xfrm>
              <a:off x="0" y="9988"/>
              <a:ext cx="9934" cy="1667"/>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60" name="Arc 21"/>
            <p:cNvSpPr/>
            <p:nvPr/>
          </p:nvSpPr>
          <p:spPr bwMode="auto">
            <a:xfrm flipV="1">
              <a:off x="0" y="8326"/>
              <a:ext cx="9934" cy="1662"/>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61" name="Line 22"/>
            <p:cNvSpPr>
              <a:spLocks noChangeShapeType="1"/>
            </p:cNvSpPr>
            <p:nvPr/>
          </p:nvSpPr>
          <p:spPr bwMode="auto">
            <a:xfrm>
              <a:off x="9934" y="1667"/>
              <a:ext cx="106" cy="6681"/>
            </a:xfrm>
            <a:prstGeom prst="line">
              <a:avLst/>
            </a:prstGeom>
            <a:noFill/>
            <a:ln w="952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62" name="Arc 23"/>
            <p:cNvSpPr/>
            <p:nvPr/>
          </p:nvSpPr>
          <p:spPr bwMode="auto">
            <a:xfrm flipH="1">
              <a:off x="9934" y="0"/>
              <a:ext cx="10066" cy="1667"/>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6163" name="Rectangle 24"/>
          <p:cNvSpPr>
            <a:spLocks noChangeArrowheads="1"/>
          </p:cNvSpPr>
          <p:nvPr/>
        </p:nvSpPr>
        <p:spPr bwMode="auto">
          <a:xfrm>
            <a:off x="8159750" y="2281238"/>
            <a:ext cx="717550" cy="973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endParaRPr lang="en-US" sz="2000"/>
          </a:p>
          <a:p>
            <a:pPr algn="just"/>
            <a:endParaRPr lang="en-US" sz="2000"/>
          </a:p>
          <a:p>
            <a:pPr algn="just"/>
            <a:endParaRPr lang="en-US" sz="2000"/>
          </a:p>
        </p:txBody>
      </p:sp>
      <p:sp>
        <p:nvSpPr>
          <p:cNvPr id="6164" name="Rectangle 25"/>
          <p:cNvSpPr>
            <a:spLocks noChangeArrowheads="1"/>
          </p:cNvSpPr>
          <p:nvPr/>
        </p:nvSpPr>
        <p:spPr bwMode="auto">
          <a:xfrm>
            <a:off x="7745413" y="2462213"/>
            <a:ext cx="1398587" cy="101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endParaRPr lang="en-US" sz="2000"/>
          </a:p>
          <a:p>
            <a:pPr algn="just"/>
            <a:endParaRPr lang="en-US" sz="2000"/>
          </a:p>
        </p:txBody>
      </p:sp>
      <p:grpSp>
        <p:nvGrpSpPr>
          <p:cNvPr id="6165" name="Group 21"/>
          <p:cNvGrpSpPr/>
          <p:nvPr/>
        </p:nvGrpSpPr>
        <p:grpSpPr bwMode="auto">
          <a:xfrm>
            <a:off x="4761114" y="2365960"/>
            <a:ext cx="103187" cy="815975"/>
            <a:chOff x="0" y="0"/>
            <a:chExt cx="20001" cy="19998"/>
          </a:xfrm>
        </p:grpSpPr>
        <p:sp>
          <p:nvSpPr>
            <p:cNvPr id="6166" name="Arc 27"/>
            <p:cNvSpPr/>
            <p:nvPr/>
          </p:nvSpPr>
          <p:spPr bwMode="auto">
            <a:xfrm flipH="1" flipV="1">
              <a:off x="9896" y="18324"/>
              <a:ext cx="10105" cy="1674"/>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67" name="Line 28"/>
            <p:cNvSpPr>
              <a:spLocks noChangeShapeType="1"/>
            </p:cNvSpPr>
            <p:nvPr/>
          </p:nvSpPr>
          <p:spPr bwMode="auto">
            <a:xfrm>
              <a:off x="9896" y="11661"/>
              <a:ext cx="209" cy="6710"/>
            </a:xfrm>
            <a:prstGeom prst="line">
              <a:avLst/>
            </a:prstGeom>
            <a:noFill/>
            <a:ln w="952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68" name="Arc 29"/>
            <p:cNvSpPr/>
            <p:nvPr/>
          </p:nvSpPr>
          <p:spPr bwMode="auto">
            <a:xfrm>
              <a:off x="0" y="9987"/>
              <a:ext cx="9896" cy="1674"/>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69" name="Arc 30"/>
            <p:cNvSpPr/>
            <p:nvPr/>
          </p:nvSpPr>
          <p:spPr bwMode="auto">
            <a:xfrm flipV="1">
              <a:off x="0" y="8318"/>
              <a:ext cx="9896" cy="1669"/>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70" name="Line 31"/>
            <p:cNvSpPr>
              <a:spLocks noChangeShapeType="1"/>
            </p:cNvSpPr>
            <p:nvPr/>
          </p:nvSpPr>
          <p:spPr bwMode="auto">
            <a:xfrm>
              <a:off x="9896" y="1674"/>
              <a:ext cx="209" cy="6687"/>
            </a:xfrm>
            <a:prstGeom prst="line">
              <a:avLst/>
            </a:prstGeom>
            <a:noFill/>
            <a:ln w="952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71" name="Arc 32"/>
            <p:cNvSpPr/>
            <p:nvPr/>
          </p:nvSpPr>
          <p:spPr bwMode="auto">
            <a:xfrm flipH="1">
              <a:off x="9896" y="0"/>
              <a:ext cx="10105" cy="1674"/>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6172" name="Group 28"/>
          <p:cNvGrpSpPr/>
          <p:nvPr/>
        </p:nvGrpSpPr>
        <p:grpSpPr bwMode="auto">
          <a:xfrm>
            <a:off x="5630863" y="2463800"/>
            <a:ext cx="282575" cy="752475"/>
            <a:chOff x="0" y="0"/>
            <a:chExt cx="20001" cy="19997"/>
          </a:xfrm>
        </p:grpSpPr>
        <p:sp>
          <p:nvSpPr>
            <p:cNvPr id="6173" name="Arc 34"/>
            <p:cNvSpPr/>
            <p:nvPr/>
          </p:nvSpPr>
          <p:spPr bwMode="auto">
            <a:xfrm flipH="1" flipV="1">
              <a:off x="9958" y="18341"/>
              <a:ext cx="10043" cy="1656"/>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74" name="Line 35"/>
            <p:cNvSpPr>
              <a:spLocks noChangeShapeType="1"/>
            </p:cNvSpPr>
            <p:nvPr/>
          </p:nvSpPr>
          <p:spPr bwMode="auto">
            <a:xfrm>
              <a:off x="9958" y="11645"/>
              <a:ext cx="85" cy="6696"/>
            </a:xfrm>
            <a:prstGeom prst="line">
              <a:avLst/>
            </a:prstGeom>
            <a:noFill/>
            <a:ln w="952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75" name="Arc 36"/>
            <p:cNvSpPr/>
            <p:nvPr/>
          </p:nvSpPr>
          <p:spPr bwMode="auto">
            <a:xfrm>
              <a:off x="0" y="9989"/>
              <a:ext cx="9958" cy="1656"/>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76" name="Arc 37"/>
            <p:cNvSpPr/>
            <p:nvPr/>
          </p:nvSpPr>
          <p:spPr bwMode="auto">
            <a:xfrm flipV="1">
              <a:off x="0" y="8333"/>
              <a:ext cx="9958" cy="1656"/>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77" name="Line 38"/>
            <p:cNvSpPr>
              <a:spLocks noChangeShapeType="1"/>
            </p:cNvSpPr>
            <p:nvPr/>
          </p:nvSpPr>
          <p:spPr bwMode="auto">
            <a:xfrm>
              <a:off x="9958" y="1661"/>
              <a:ext cx="85" cy="6672"/>
            </a:xfrm>
            <a:prstGeom prst="line">
              <a:avLst/>
            </a:prstGeom>
            <a:noFill/>
            <a:ln w="952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78" name="Arc 39"/>
            <p:cNvSpPr/>
            <p:nvPr/>
          </p:nvSpPr>
          <p:spPr bwMode="auto">
            <a:xfrm flipH="1">
              <a:off x="9958" y="0"/>
              <a:ext cx="10043" cy="1661"/>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6179" name="Line 40"/>
          <p:cNvSpPr>
            <a:spLocks noChangeShapeType="1"/>
          </p:cNvSpPr>
          <p:nvPr/>
        </p:nvSpPr>
        <p:spPr bwMode="auto">
          <a:xfrm>
            <a:off x="3717925" y="3113088"/>
            <a:ext cx="1588" cy="412750"/>
          </a:xfrm>
          <a:prstGeom prst="line">
            <a:avLst/>
          </a:prstGeom>
          <a:noFill/>
          <a:ln w="9525" cmpd="sng">
            <a:solidFill>
              <a:srgbClr val="000000"/>
            </a:solidFill>
            <a:round/>
            <a:tailEnd type="triangle" w="lg"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6180" name="Group 36"/>
          <p:cNvGrpSpPr/>
          <p:nvPr/>
        </p:nvGrpSpPr>
        <p:grpSpPr bwMode="auto">
          <a:xfrm>
            <a:off x="1616075" y="2868613"/>
            <a:ext cx="227013" cy="777875"/>
            <a:chOff x="0" y="0"/>
            <a:chExt cx="20001" cy="20008"/>
          </a:xfrm>
        </p:grpSpPr>
        <p:sp>
          <p:nvSpPr>
            <p:cNvPr id="6181" name="Arc 42"/>
            <p:cNvSpPr/>
            <p:nvPr/>
          </p:nvSpPr>
          <p:spPr bwMode="auto">
            <a:xfrm flipH="1" flipV="1">
              <a:off x="9965" y="18341"/>
              <a:ext cx="10036" cy="1667"/>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2" name="Line 43"/>
            <p:cNvSpPr>
              <a:spLocks noChangeShapeType="1"/>
            </p:cNvSpPr>
            <p:nvPr/>
          </p:nvSpPr>
          <p:spPr bwMode="auto">
            <a:xfrm>
              <a:off x="9965" y="11661"/>
              <a:ext cx="71" cy="6700"/>
            </a:xfrm>
            <a:prstGeom prst="line">
              <a:avLst/>
            </a:prstGeom>
            <a:noFill/>
            <a:ln w="952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3" name="Arc 44"/>
            <p:cNvSpPr/>
            <p:nvPr/>
          </p:nvSpPr>
          <p:spPr bwMode="auto">
            <a:xfrm>
              <a:off x="0" y="9994"/>
              <a:ext cx="9965" cy="1667"/>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4" name="Arc 45"/>
            <p:cNvSpPr/>
            <p:nvPr/>
          </p:nvSpPr>
          <p:spPr bwMode="auto">
            <a:xfrm flipV="1">
              <a:off x="0" y="8331"/>
              <a:ext cx="9965" cy="1663"/>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5" name="Line 46"/>
            <p:cNvSpPr>
              <a:spLocks noChangeShapeType="1"/>
            </p:cNvSpPr>
            <p:nvPr/>
          </p:nvSpPr>
          <p:spPr bwMode="auto">
            <a:xfrm>
              <a:off x="9965" y="1667"/>
              <a:ext cx="71" cy="6680"/>
            </a:xfrm>
            <a:prstGeom prst="line">
              <a:avLst/>
            </a:prstGeom>
            <a:noFill/>
            <a:ln w="952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 name="Arc 47"/>
            <p:cNvSpPr/>
            <p:nvPr/>
          </p:nvSpPr>
          <p:spPr bwMode="auto">
            <a:xfrm flipH="1">
              <a:off x="9965" y="0"/>
              <a:ext cx="10036" cy="1667"/>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6187" name="Line 48"/>
          <p:cNvSpPr>
            <a:spLocks noChangeShapeType="1"/>
          </p:cNvSpPr>
          <p:nvPr/>
        </p:nvSpPr>
        <p:spPr bwMode="auto">
          <a:xfrm>
            <a:off x="3952566" y="4877145"/>
            <a:ext cx="1587" cy="428625"/>
          </a:xfrm>
          <a:prstGeom prst="line">
            <a:avLst/>
          </a:prstGeom>
          <a:noFill/>
          <a:ln w="9525" cmpd="sng">
            <a:solidFill>
              <a:srgbClr val="000000"/>
            </a:solidFill>
            <a:round/>
            <a:tailEnd type="triangle" w="lg"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6188" name="Group 44"/>
          <p:cNvGrpSpPr/>
          <p:nvPr/>
        </p:nvGrpSpPr>
        <p:grpSpPr bwMode="auto">
          <a:xfrm>
            <a:off x="1657350" y="4706938"/>
            <a:ext cx="227013" cy="769937"/>
            <a:chOff x="0" y="0"/>
            <a:chExt cx="20001" cy="20002"/>
          </a:xfrm>
        </p:grpSpPr>
        <p:sp>
          <p:nvSpPr>
            <p:cNvPr id="6189" name="Arc 50"/>
            <p:cNvSpPr/>
            <p:nvPr/>
          </p:nvSpPr>
          <p:spPr bwMode="auto">
            <a:xfrm flipH="1" flipV="1">
              <a:off x="9965" y="18340"/>
              <a:ext cx="10036" cy="1662"/>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90" name="Line 51"/>
            <p:cNvSpPr>
              <a:spLocks noChangeShapeType="1"/>
            </p:cNvSpPr>
            <p:nvPr/>
          </p:nvSpPr>
          <p:spPr bwMode="auto">
            <a:xfrm>
              <a:off x="9965" y="11652"/>
              <a:ext cx="71" cy="6711"/>
            </a:xfrm>
            <a:prstGeom prst="line">
              <a:avLst/>
            </a:prstGeom>
            <a:noFill/>
            <a:ln w="952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91" name="Arc 52"/>
            <p:cNvSpPr/>
            <p:nvPr/>
          </p:nvSpPr>
          <p:spPr bwMode="auto">
            <a:xfrm>
              <a:off x="0" y="9990"/>
              <a:ext cx="9965" cy="1662"/>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92" name="Arc 53"/>
            <p:cNvSpPr/>
            <p:nvPr/>
          </p:nvSpPr>
          <p:spPr bwMode="auto">
            <a:xfrm flipV="1">
              <a:off x="0" y="8322"/>
              <a:ext cx="9965" cy="1668"/>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93" name="Line 54"/>
            <p:cNvSpPr>
              <a:spLocks noChangeShapeType="1"/>
            </p:cNvSpPr>
            <p:nvPr/>
          </p:nvSpPr>
          <p:spPr bwMode="auto">
            <a:xfrm>
              <a:off x="9965" y="1662"/>
              <a:ext cx="71" cy="6689"/>
            </a:xfrm>
            <a:prstGeom prst="line">
              <a:avLst/>
            </a:prstGeom>
            <a:noFill/>
            <a:ln w="952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94" name="Arc 55"/>
            <p:cNvSpPr/>
            <p:nvPr/>
          </p:nvSpPr>
          <p:spPr bwMode="auto">
            <a:xfrm flipH="1">
              <a:off x="9965" y="0"/>
              <a:ext cx="10036" cy="1662"/>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6195" name="Line 56"/>
          <p:cNvSpPr>
            <a:spLocks noChangeShapeType="1"/>
          </p:cNvSpPr>
          <p:nvPr/>
        </p:nvSpPr>
        <p:spPr bwMode="auto">
          <a:xfrm>
            <a:off x="912813" y="1728788"/>
            <a:ext cx="0" cy="1212850"/>
          </a:xfrm>
          <a:prstGeom prst="line">
            <a:avLst/>
          </a:prstGeom>
          <a:noFill/>
          <a:ln w="38100" cmpd="sng">
            <a:solidFill>
              <a:srgbClr val="0070C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96" name="Line 57"/>
          <p:cNvSpPr>
            <a:spLocks noChangeShapeType="1"/>
          </p:cNvSpPr>
          <p:nvPr/>
        </p:nvSpPr>
        <p:spPr bwMode="auto">
          <a:xfrm>
            <a:off x="912813" y="3522663"/>
            <a:ext cx="1587" cy="1377950"/>
          </a:xfrm>
          <a:prstGeom prst="line">
            <a:avLst/>
          </a:prstGeom>
          <a:noFill/>
          <a:ln w="38100" cmpd="sng">
            <a:solidFill>
              <a:srgbClr val="0070C0"/>
            </a:solidFill>
            <a:round/>
            <a:tailEnd type="triangle" w="lg"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97" name="Line 58"/>
          <p:cNvSpPr>
            <a:spLocks noChangeShapeType="1"/>
          </p:cNvSpPr>
          <p:nvPr/>
        </p:nvSpPr>
        <p:spPr bwMode="auto">
          <a:xfrm flipH="1">
            <a:off x="912813" y="5373688"/>
            <a:ext cx="1587" cy="642937"/>
          </a:xfrm>
          <a:prstGeom prst="line">
            <a:avLst/>
          </a:prstGeom>
          <a:noFill/>
          <a:ln w="38100" cmpd="sng">
            <a:solidFill>
              <a:srgbClr val="0070C0"/>
            </a:solidFill>
            <a:round/>
            <a:tailEnd type="triangle" w="lg"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98" name="Text Box 59"/>
          <p:cNvSpPr txBox="1">
            <a:spLocks noChangeArrowheads="1"/>
          </p:cNvSpPr>
          <p:nvPr/>
        </p:nvSpPr>
        <p:spPr bwMode="auto">
          <a:xfrm>
            <a:off x="232561" y="1168400"/>
            <a:ext cx="1422984" cy="460375"/>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a:noFill/>
          </a:ln>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smtClean="0">
                <a:solidFill>
                  <a:srgbClr val="FF5050"/>
                </a:solidFill>
                <a:latin typeface="黑体" panose="02010609060101010101" pitchFamily="49" charset="-122"/>
                <a:ea typeface="黑体" panose="02010609060101010101" pitchFamily="49" charset="-122"/>
              </a:rPr>
              <a:t>任务分析</a:t>
            </a:r>
            <a:endParaRPr lang="zh-CN" altLang="en-US" dirty="0">
              <a:solidFill>
                <a:srgbClr val="FF5050"/>
              </a:solidFill>
              <a:latin typeface="黑体" panose="02010609060101010101" pitchFamily="49" charset="-122"/>
              <a:ea typeface="黑体" panose="02010609060101010101" pitchFamily="49" charset="-122"/>
            </a:endParaRPr>
          </a:p>
        </p:txBody>
      </p:sp>
      <p:sp>
        <p:nvSpPr>
          <p:cNvPr id="6199" name="Text Box 60"/>
          <p:cNvSpPr txBox="1">
            <a:spLocks noChangeArrowheads="1"/>
          </p:cNvSpPr>
          <p:nvPr/>
        </p:nvSpPr>
        <p:spPr bwMode="auto">
          <a:xfrm>
            <a:off x="1884363" y="771525"/>
            <a:ext cx="1214437" cy="3987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ts val="0"/>
              </a:spcAft>
            </a:pPr>
            <a:r>
              <a:rPr lang="zh-CN" altLang="en-US" sz="2000" dirty="0">
                <a:latin typeface="黑体" panose="02010609060101010101" pitchFamily="49" charset="-122"/>
                <a:ea typeface="黑体" panose="02010609060101010101" pitchFamily="49" charset="-122"/>
              </a:rPr>
              <a:t>提出要求</a:t>
            </a:r>
            <a:endParaRPr lang="zh-CN" altLang="en-US" sz="2000" dirty="0">
              <a:latin typeface="黑体" panose="02010609060101010101" pitchFamily="49" charset="-122"/>
              <a:ea typeface="黑体" panose="02010609060101010101" pitchFamily="49" charset="-122"/>
            </a:endParaRPr>
          </a:p>
        </p:txBody>
      </p:sp>
      <p:sp>
        <p:nvSpPr>
          <p:cNvPr id="6200" name="Text Box 61"/>
          <p:cNvSpPr txBox="1">
            <a:spLocks noChangeArrowheads="1"/>
          </p:cNvSpPr>
          <p:nvPr/>
        </p:nvSpPr>
        <p:spPr bwMode="auto">
          <a:xfrm>
            <a:off x="1882775" y="1582738"/>
            <a:ext cx="1195388" cy="3987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ts val="0"/>
              </a:spcAft>
            </a:pPr>
            <a:r>
              <a:rPr lang="zh-CN" altLang="en-US" sz="2000" dirty="0">
                <a:latin typeface="黑体" panose="02010609060101010101" pitchFamily="49" charset="-122"/>
                <a:ea typeface="黑体" panose="02010609060101010101" pitchFamily="49" charset="-122"/>
              </a:rPr>
              <a:t>洗衣机</a:t>
            </a:r>
            <a:endParaRPr lang="zh-CN" altLang="en-US" sz="2000" dirty="0">
              <a:latin typeface="黑体" panose="02010609060101010101" pitchFamily="49" charset="-122"/>
              <a:ea typeface="黑体" panose="02010609060101010101" pitchFamily="49" charset="-122"/>
            </a:endParaRPr>
          </a:p>
        </p:txBody>
      </p:sp>
      <p:sp>
        <p:nvSpPr>
          <p:cNvPr id="6201" name="Text Box 62"/>
          <p:cNvSpPr txBox="1">
            <a:spLocks noChangeArrowheads="1"/>
          </p:cNvSpPr>
          <p:nvPr/>
        </p:nvSpPr>
        <p:spPr bwMode="auto">
          <a:xfrm>
            <a:off x="3036888" y="1120775"/>
            <a:ext cx="1338262" cy="3987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ts val="0"/>
              </a:spcAft>
            </a:pPr>
            <a:r>
              <a:rPr lang="zh-CN" altLang="en-US" sz="2000" dirty="0">
                <a:latin typeface="黑体" panose="02010609060101010101" pitchFamily="49" charset="-122"/>
                <a:ea typeface="黑体" panose="02010609060101010101" pitchFamily="49" charset="-122"/>
              </a:rPr>
              <a:t>自动进水</a:t>
            </a:r>
            <a:endParaRPr lang="zh-CN" altLang="en-US" sz="2000" dirty="0">
              <a:latin typeface="黑体" panose="02010609060101010101" pitchFamily="49" charset="-122"/>
              <a:ea typeface="黑体" panose="02010609060101010101" pitchFamily="49" charset="-122"/>
            </a:endParaRPr>
          </a:p>
        </p:txBody>
      </p:sp>
      <p:sp>
        <p:nvSpPr>
          <p:cNvPr id="6202" name="Text Box 63"/>
          <p:cNvSpPr txBox="1">
            <a:spLocks noChangeArrowheads="1"/>
          </p:cNvSpPr>
          <p:nvPr/>
        </p:nvSpPr>
        <p:spPr bwMode="auto">
          <a:xfrm>
            <a:off x="3057525" y="1590675"/>
            <a:ext cx="1214438" cy="3987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spcBef>
                <a:spcPct val="50000"/>
              </a:spcBef>
              <a:spcAft>
                <a:spcPts val="0"/>
              </a:spcAft>
            </a:pPr>
            <a:r>
              <a:rPr lang="zh-CN" altLang="en-US" sz="2000" dirty="0">
                <a:latin typeface="黑体" panose="02010609060101010101" pitchFamily="49" charset="-122"/>
                <a:ea typeface="黑体" panose="02010609060101010101" pitchFamily="49" charset="-122"/>
              </a:rPr>
              <a:t>洗    涤</a:t>
            </a:r>
            <a:endParaRPr lang="zh-CN" altLang="en-US" sz="2000" dirty="0">
              <a:latin typeface="黑体" panose="02010609060101010101" pitchFamily="49" charset="-122"/>
              <a:ea typeface="黑体" panose="02010609060101010101" pitchFamily="49" charset="-122"/>
            </a:endParaRPr>
          </a:p>
        </p:txBody>
      </p:sp>
      <p:sp>
        <p:nvSpPr>
          <p:cNvPr id="6203" name="Text Box 64"/>
          <p:cNvSpPr txBox="1">
            <a:spLocks noChangeArrowheads="1"/>
          </p:cNvSpPr>
          <p:nvPr/>
        </p:nvSpPr>
        <p:spPr bwMode="auto">
          <a:xfrm>
            <a:off x="3036888" y="2027238"/>
            <a:ext cx="1849437" cy="398780"/>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ts val="0"/>
              </a:spcAft>
            </a:pPr>
            <a:r>
              <a:rPr lang="zh-CN" altLang="en-US" sz="2000" dirty="0">
                <a:latin typeface="黑体" panose="02010609060101010101" pitchFamily="49" charset="-122"/>
                <a:ea typeface="黑体" panose="02010609060101010101" pitchFamily="49" charset="-122"/>
              </a:rPr>
              <a:t>甩干（脱水</a:t>
            </a:r>
            <a:r>
              <a:rPr lang="zh-CN" altLang="en-US" sz="2000" dirty="0"/>
              <a:t>）</a:t>
            </a:r>
            <a:endParaRPr lang="zh-CN" altLang="en-US" sz="2000" dirty="0"/>
          </a:p>
        </p:txBody>
      </p:sp>
      <p:sp>
        <p:nvSpPr>
          <p:cNvPr id="6204" name="Text Box 65"/>
          <p:cNvSpPr txBox="1">
            <a:spLocks noChangeArrowheads="1"/>
          </p:cNvSpPr>
          <p:nvPr/>
        </p:nvSpPr>
        <p:spPr bwMode="auto">
          <a:xfrm>
            <a:off x="144463" y="3048000"/>
            <a:ext cx="1512321" cy="461665"/>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a:noFill/>
          </a:ln>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dirty="0">
                <a:solidFill>
                  <a:srgbClr val="FF5050"/>
                </a:solidFill>
                <a:latin typeface="黑体" panose="02010609060101010101" pitchFamily="49" charset="-122"/>
                <a:ea typeface="黑体" panose="02010609060101010101" pitchFamily="49" charset="-122"/>
              </a:rPr>
              <a:t>方案设计</a:t>
            </a:r>
            <a:endParaRPr lang="zh-CN" altLang="en-US" dirty="0">
              <a:solidFill>
                <a:srgbClr val="FF5050"/>
              </a:solidFill>
              <a:latin typeface="黑体" panose="02010609060101010101" pitchFamily="49" charset="-122"/>
              <a:ea typeface="黑体" panose="02010609060101010101" pitchFamily="49" charset="-122"/>
            </a:endParaRPr>
          </a:p>
        </p:txBody>
      </p:sp>
      <p:sp>
        <p:nvSpPr>
          <p:cNvPr id="6205" name="Text Box 66"/>
          <p:cNvSpPr txBox="1">
            <a:spLocks noChangeArrowheads="1"/>
          </p:cNvSpPr>
          <p:nvPr/>
        </p:nvSpPr>
        <p:spPr bwMode="auto">
          <a:xfrm>
            <a:off x="1873751" y="2611237"/>
            <a:ext cx="3233738" cy="3987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spcBef>
                <a:spcPct val="50000"/>
              </a:spcBef>
              <a:spcAft>
                <a:spcPts val="0"/>
              </a:spcAft>
            </a:pPr>
            <a:r>
              <a:rPr lang="zh-CN" altLang="en-US" sz="2000" dirty="0">
                <a:latin typeface="黑体" panose="02010609060101010101" pitchFamily="49" charset="-122"/>
                <a:ea typeface="黑体" panose="02010609060101010101" pitchFamily="49" charset="-122"/>
              </a:rPr>
              <a:t>提出尽可能多的解决方法</a:t>
            </a:r>
            <a:endParaRPr lang="zh-CN" altLang="en-US" sz="2000" dirty="0">
              <a:latin typeface="黑体" panose="02010609060101010101" pitchFamily="49" charset="-122"/>
              <a:ea typeface="黑体" panose="02010609060101010101" pitchFamily="49" charset="-122"/>
            </a:endParaRPr>
          </a:p>
        </p:txBody>
      </p:sp>
      <p:sp>
        <p:nvSpPr>
          <p:cNvPr id="6206" name="Text Box 67"/>
          <p:cNvSpPr txBox="1">
            <a:spLocks noChangeArrowheads="1"/>
          </p:cNvSpPr>
          <p:nvPr/>
        </p:nvSpPr>
        <p:spPr bwMode="auto">
          <a:xfrm>
            <a:off x="1881832" y="3540770"/>
            <a:ext cx="6343650" cy="398780"/>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ts val="0"/>
              </a:spcAft>
            </a:pPr>
            <a:r>
              <a:rPr lang="zh-CN" altLang="en-US" sz="2000" dirty="0">
                <a:latin typeface="黑体" panose="02010609060101010101" pitchFamily="49" charset="-122"/>
                <a:ea typeface="黑体" panose="02010609060101010101" pitchFamily="49" charset="-122"/>
              </a:rPr>
              <a:t>筛选、决策、评价（可靠性、经济上），选出最佳方案</a:t>
            </a:r>
            <a:r>
              <a:rPr lang="zh-CN" altLang="en-US" sz="2000" dirty="0"/>
              <a:t>。</a:t>
            </a:r>
            <a:endParaRPr lang="zh-CN" altLang="en-US" sz="2000" dirty="0"/>
          </a:p>
        </p:txBody>
      </p:sp>
      <p:sp>
        <p:nvSpPr>
          <p:cNvPr id="6207" name="Text Box 68"/>
          <p:cNvSpPr txBox="1">
            <a:spLocks noChangeArrowheads="1"/>
          </p:cNvSpPr>
          <p:nvPr/>
        </p:nvSpPr>
        <p:spPr bwMode="auto">
          <a:xfrm>
            <a:off x="4828574" y="2271562"/>
            <a:ext cx="975460" cy="3987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spcBef>
                <a:spcPct val="50000"/>
              </a:spcBef>
              <a:spcAft>
                <a:spcPts val="0"/>
              </a:spcAft>
            </a:pPr>
            <a:r>
              <a:rPr lang="zh-CN" altLang="en-US" sz="2000" dirty="0">
                <a:latin typeface="黑体" panose="02010609060101010101" pitchFamily="49" charset="-122"/>
                <a:ea typeface="黑体" panose="02010609060101010101" pitchFamily="49" charset="-122"/>
              </a:rPr>
              <a:t>单  缸</a:t>
            </a:r>
            <a:endParaRPr lang="zh-CN" altLang="en-US" sz="2000" dirty="0">
              <a:latin typeface="黑体" panose="02010609060101010101" pitchFamily="49" charset="-122"/>
              <a:ea typeface="黑体" panose="02010609060101010101" pitchFamily="49" charset="-122"/>
            </a:endParaRPr>
          </a:p>
        </p:txBody>
      </p:sp>
      <p:sp>
        <p:nvSpPr>
          <p:cNvPr id="6208" name="Text Box 69"/>
          <p:cNvSpPr txBox="1">
            <a:spLocks noChangeArrowheads="1"/>
          </p:cNvSpPr>
          <p:nvPr/>
        </p:nvSpPr>
        <p:spPr bwMode="auto">
          <a:xfrm>
            <a:off x="4829075" y="2930258"/>
            <a:ext cx="1023085" cy="3987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spcBef>
                <a:spcPct val="50000"/>
              </a:spcBef>
              <a:spcAft>
                <a:spcPts val="0"/>
              </a:spcAft>
            </a:pPr>
            <a:r>
              <a:rPr lang="zh-CN" altLang="en-US" sz="2000" dirty="0">
                <a:latin typeface="黑体" panose="02010609060101010101" pitchFamily="49" charset="-122"/>
                <a:ea typeface="黑体" panose="02010609060101010101" pitchFamily="49" charset="-122"/>
              </a:rPr>
              <a:t>双  缸</a:t>
            </a:r>
            <a:endParaRPr lang="zh-CN" altLang="en-US" sz="2000" dirty="0">
              <a:latin typeface="黑体" panose="02010609060101010101" pitchFamily="49" charset="-122"/>
              <a:ea typeface="黑体" panose="02010609060101010101" pitchFamily="49" charset="-122"/>
            </a:endParaRPr>
          </a:p>
        </p:txBody>
      </p:sp>
      <p:sp>
        <p:nvSpPr>
          <p:cNvPr id="6210" name="Text Box 71"/>
          <p:cNvSpPr txBox="1">
            <a:spLocks noChangeArrowheads="1"/>
          </p:cNvSpPr>
          <p:nvPr/>
        </p:nvSpPr>
        <p:spPr bwMode="auto">
          <a:xfrm>
            <a:off x="5934075" y="2239963"/>
            <a:ext cx="1471613" cy="3987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ts val="0"/>
              </a:spcAft>
            </a:pPr>
            <a:r>
              <a:rPr lang="zh-CN" altLang="en-US" sz="2000" dirty="0">
                <a:latin typeface="黑体" panose="02010609060101010101" pitchFamily="49" charset="-122"/>
                <a:ea typeface="黑体" panose="02010609060101010101" pitchFamily="49" charset="-122"/>
              </a:rPr>
              <a:t>模糊控制</a:t>
            </a:r>
            <a:endParaRPr lang="zh-CN" altLang="en-US" sz="2000" dirty="0">
              <a:latin typeface="黑体" panose="02010609060101010101" pitchFamily="49" charset="-122"/>
              <a:ea typeface="黑体" panose="02010609060101010101" pitchFamily="49" charset="-122"/>
            </a:endParaRPr>
          </a:p>
        </p:txBody>
      </p:sp>
      <p:sp>
        <p:nvSpPr>
          <p:cNvPr id="6211" name="Text Box 72"/>
          <p:cNvSpPr txBox="1">
            <a:spLocks noChangeArrowheads="1"/>
          </p:cNvSpPr>
          <p:nvPr/>
        </p:nvSpPr>
        <p:spPr bwMode="auto">
          <a:xfrm>
            <a:off x="5922963" y="2630488"/>
            <a:ext cx="1657350" cy="3987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ts val="0"/>
              </a:spcAft>
            </a:pPr>
            <a:r>
              <a:rPr lang="zh-CN" altLang="en-US" sz="2000" dirty="0">
                <a:latin typeface="黑体" panose="02010609060101010101" pitchFamily="49" charset="-122"/>
                <a:ea typeface="黑体" panose="02010609060101010101" pitchFamily="49" charset="-122"/>
              </a:rPr>
              <a:t>自适应控制</a:t>
            </a:r>
            <a:endParaRPr lang="zh-CN" altLang="en-US" sz="2000" dirty="0">
              <a:latin typeface="黑体" panose="02010609060101010101" pitchFamily="49" charset="-122"/>
              <a:ea typeface="黑体" panose="02010609060101010101" pitchFamily="49" charset="-122"/>
            </a:endParaRPr>
          </a:p>
        </p:txBody>
      </p:sp>
      <p:sp>
        <p:nvSpPr>
          <p:cNvPr id="6212" name="Text Box 73"/>
          <p:cNvSpPr txBox="1">
            <a:spLocks noChangeArrowheads="1"/>
          </p:cNvSpPr>
          <p:nvPr/>
        </p:nvSpPr>
        <p:spPr bwMode="auto">
          <a:xfrm>
            <a:off x="5943600" y="3051175"/>
            <a:ext cx="1276350" cy="3987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ts val="0"/>
              </a:spcAft>
            </a:pPr>
            <a:r>
              <a:rPr lang="zh-CN" altLang="en-US" sz="2000" dirty="0">
                <a:latin typeface="黑体" panose="02010609060101010101" pitchFamily="49" charset="-122"/>
                <a:ea typeface="黑体" panose="02010609060101010101" pitchFamily="49" charset="-122"/>
              </a:rPr>
              <a:t>双模控制</a:t>
            </a:r>
            <a:endParaRPr lang="zh-CN" altLang="en-US" sz="2000" dirty="0">
              <a:latin typeface="黑体" panose="02010609060101010101" pitchFamily="49" charset="-122"/>
              <a:ea typeface="黑体" panose="02010609060101010101" pitchFamily="49" charset="-122"/>
            </a:endParaRPr>
          </a:p>
        </p:txBody>
      </p:sp>
      <p:sp>
        <p:nvSpPr>
          <p:cNvPr id="6213" name="Text Box 75"/>
          <p:cNvSpPr txBox="1">
            <a:spLocks noChangeArrowheads="1"/>
          </p:cNvSpPr>
          <p:nvPr/>
        </p:nvSpPr>
        <p:spPr bwMode="auto">
          <a:xfrm>
            <a:off x="144379" y="4859338"/>
            <a:ext cx="1482809" cy="461665"/>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a:noFill/>
          </a:ln>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dirty="0">
                <a:solidFill>
                  <a:srgbClr val="FF5050"/>
                </a:solidFill>
                <a:latin typeface="黑体" panose="02010609060101010101" pitchFamily="49" charset="-122"/>
                <a:ea typeface="黑体" panose="02010609060101010101" pitchFamily="49" charset="-122"/>
              </a:rPr>
              <a:t>技术设计</a:t>
            </a:r>
            <a:endParaRPr lang="zh-CN" altLang="en-US" dirty="0">
              <a:solidFill>
                <a:srgbClr val="FF5050"/>
              </a:solidFill>
              <a:latin typeface="黑体" panose="02010609060101010101" pitchFamily="49" charset="-122"/>
              <a:ea typeface="黑体" panose="02010609060101010101" pitchFamily="49" charset="-122"/>
            </a:endParaRPr>
          </a:p>
        </p:txBody>
      </p:sp>
      <p:sp>
        <p:nvSpPr>
          <p:cNvPr id="6214" name="Text Box 76"/>
          <p:cNvSpPr txBox="1">
            <a:spLocks noChangeArrowheads="1"/>
          </p:cNvSpPr>
          <p:nvPr/>
        </p:nvSpPr>
        <p:spPr bwMode="auto">
          <a:xfrm>
            <a:off x="1982747" y="4099442"/>
            <a:ext cx="7161253" cy="10147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spcBef>
                <a:spcPct val="50000"/>
              </a:spcBef>
              <a:spcAft>
                <a:spcPts val="0"/>
              </a:spcAft>
            </a:pPr>
            <a:r>
              <a:rPr lang="zh-CN" altLang="en-US" sz="2000" b="1" dirty="0" smtClean="0"/>
              <a:t>确定</a:t>
            </a:r>
            <a:r>
              <a:rPr lang="zh-CN" altLang="en-US" sz="2000" b="1" dirty="0"/>
              <a:t>原动机功率、零件运动动力参数、零件参数设计、系统总装图</a:t>
            </a:r>
            <a:r>
              <a:rPr lang="zh-CN" altLang="en-US" sz="2000" b="1" dirty="0" smtClean="0"/>
              <a:t>设计</a:t>
            </a:r>
            <a:r>
              <a:rPr lang="zh-CN" altLang="en-US" sz="2000" dirty="0" smtClean="0">
                <a:latin typeface="黑体" panose="02010609060101010101" pitchFamily="49" charset="-122"/>
                <a:ea typeface="黑体" panose="02010609060101010101" pitchFamily="49" charset="-122"/>
              </a:rPr>
              <a:t>部件装配草图，确定</a:t>
            </a:r>
            <a:r>
              <a:rPr lang="zh-CN" altLang="en-US" sz="2000" dirty="0">
                <a:latin typeface="黑体" panose="02010609060101010101" pitchFamily="49" charset="-122"/>
                <a:ea typeface="黑体" panose="02010609060101010101" pitchFamily="49" charset="-122"/>
              </a:rPr>
              <a:t>机械中各个零部件的结构尺寸（量化）</a:t>
            </a:r>
            <a:endParaRPr lang="zh-CN" altLang="en-US" sz="2000" dirty="0">
              <a:latin typeface="黑体" panose="02010609060101010101" pitchFamily="49" charset="-122"/>
              <a:ea typeface="黑体" panose="02010609060101010101" pitchFamily="49" charset="-122"/>
            </a:endParaRPr>
          </a:p>
        </p:txBody>
      </p:sp>
      <p:sp>
        <p:nvSpPr>
          <p:cNvPr id="6215" name="Text Box 77"/>
          <p:cNvSpPr txBox="1">
            <a:spLocks noChangeArrowheads="1"/>
          </p:cNvSpPr>
          <p:nvPr/>
        </p:nvSpPr>
        <p:spPr bwMode="auto">
          <a:xfrm>
            <a:off x="1980774" y="5267027"/>
            <a:ext cx="5370640" cy="7067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fontAlgn="ctr">
              <a:spcAft>
                <a:spcPts val="0"/>
              </a:spcAft>
            </a:pPr>
            <a:r>
              <a:rPr lang="zh-CN" altLang="en-US" sz="2000" b="1" dirty="0"/>
              <a:t>考虑结构、公差工艺要求</a:t>
            </a:r>
            <a:r>
              <a:rPr lang="zh-CN" altLang="en-US" sz="2000" b="1" dirty="0" smtClean="0"/>
              <a:t>，</a:t>
            </a:r>
            <a:r>
              <a:rPr lang="zh-CN" altLang="en-US" sz="2000" dirty="0">
                <a:latin typeface="黑体" panose="02010609060101010101" pitchFamily="49" charset="-122"/>
                <a:ea typeface="黑体" panose="02010609060101010101" pitchFamily="49" charset="-122"/>
              </a:rPr>
              <a:t>绘制零件工作图、</a:t>
            </a:r>
            <a:r>
              <a:rPr lang="zh-CN" altLang="en-US" sz="2000" b="1" dirty="0" smtClean="0"/>
              <a:t>绘制</a:t>
            </a:r>
            <a:r>
              <a:rPr lang="zh-CN" altLang="en-US" sz="2000" dirty="0" smtClean="0">
                <a:latin typeface="黑体" panose="02010609060101010101" pitchFamily="49" charset="-122"/>
                <a:ea typeface="黑体" panose="02010609060101010101" pitchFamily="49" charset="-122"/>
              </a:rPr>
              <a:t>部件装配图及总装图</a:t>
            </a:r>
            <a:endParaRPr lang="zh-CN" altLang="en-US" sz="2000" dirty="0">
              <a:latin typeface="黑体" panose="02010609060101010101" pitchFamily="49" charset="-122"/>
              <a:ea typeface="黑体" panose="02010609060101010101" pitchFamily="49" charset="-122"/>
            </a:endParaRPr>
          </a:p>
        </p:txBody>
      </p:sp>
      <p:sp>
        <p:nvSpPr>
          <p:cNvPr id="6216" name="Text Box 78"/>
          <p:cNvSpPr txBox="1">
            <a:spLocks noChangeArrowheads="1"/>
          </p:cNvSpPr>
          <p:nvPr/>
        </p:nvSpPr>
        <p:spPr bwMode="auto">
          <a:xfrm>
            <a:off x="115503" y="6016625"/>
            <a:ext cx="2297497" cy="457200"/>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a:noFill/>
          </a:ln>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dirty="0">
                <a:solidFill>
                  <a:srgbClr val="FF5050"/>
                </a:solidFill>
                <a:latin typeface="黑体" panose="02010609060101010101" pitchFamily="49" charset="-122"/>
                <a:ea typeface="黑体" panose="02010609060101010101" pitchFamily="49" charset="-122"/>
              </a:rPr>
              <a:t>技术文件编制：</a:t>
            </a:r>
            <a:endParaRPr lang="zh-CN" altLang="en-US" dirty="0">
              <a:solidFill>
                <a:srgbClr val="FF5050"/>
              </a:solidFill>
              <a:latin typeface="黑体" panose="02010609060101010101" pitchFamily="49" charset="-122"/>
              <a:ea typeface="黑体" panose="02010609060101010101" pitchFamily="49" charset="-122"/>
            </a:endParaRPr>
          </a:p>
        </p:txBody>
      </p:sp>
      <p:sp>
        <p:nvSpPr>
          <p:cNvPr id="6217" name="Text Box 79"/>
          <p:cNvSpPr txBox="1">
            <a:spLocks noChangeArrowheads="1"/>
          </p:cNvSpPr>
          <p:nvPr/>
        </p:nvSpPr>
        <p:spPr bwMode="auto">
          <a:xfrm>
            <a:off x="2422124" y="5933688"/>
            <a:ext cx="6323522" cy="706755"/>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spcBef>
                <a:spcPct val="50000"/>
              </a:spcBef>
              <a:spcAft>
                <a:spcPts val="0"/>
              </a:spcAft>
            </a:pPr>
            <a:r>
              <a:rPr lang="zh-CN" altLang="en-US" sz="2000" dirty="0">
                <a:latin typeface="黑体" panose="02010609060101010101" pitchFamily="49" charset="-122"/>
                <a:ea typeface="黑体" panose="02010609060101010101" pitchFamily="49" charset="-122"/>
              </a:rPr>
              <a:t>编制设计计算</a:t>
            </a:r>
            <a:r>
              <a:rPr lang="zh-CN" altLang="en-US" sz="2000" dirty="0" smtClean="0">
                <a:latin typeface="黑体" panose="02010609060101010101" pitchFamily="49" charset="-122"/>
                <a:ea typeface="黑体" panose="02010609060101010101" pitchFamily="49" charset="-122"/>
              </a:rPr>
              <a:t>说明书、使用说明书、标准件明细表等技术文件。</a:t>
            </a:r>
            <a:endParaRPr lang="zh-CN" altLang="en-US" sz="2000" dirty="0">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grpId="0" nodeType="clickEffect">
                                  <p:stCondLst>
                                    <p:cond delay="0"/>
                                  </p:stCondLst>
                                  <p:childTnLst>
                                    <p:set>
                                      <p:cBhvr>
                                        <p:cTn id="10" dur="1" fill="hold">
                                          <p:stCondLst>
                                            <p:cond delay="0"/>
                                          </p:stCondLst>
                                        </p:cTn>
                                        <p:tgtEl>
                                          <p:spTgt spid="6198"/>
                                        </p:tgtEl>
                                        <p:attrNameLst>
                                          <p:attrName>style.visibility</p:attrName>
                                        </p:attrNameLst>
                                      </p:cBhvr>
                                      <p:to>
                                        <p:strVal val="visible"/>
                                      </p:to>
                                    </p:set>
                                    <p:anim calcmode="lin" valueType="num">
                                      <p:cBhvr additive="base">
                                        <p:cTn id="11" dur="500" fill="hold"/>
                                        <p:tgtEl>
                                          <p:spTgt spid="6198"/>
                                        </p:tgtEl>
                                        <p:attrNameLst>
                                          <p:attrName>ppt_x</p:attrName>
                                        </p:attrNameLst>
                                      </p:cBhvr>
                                      <p:tavLst>
                                        <p:tav tm="0">
                                          <p:val>
                                            <p:strVal val="1+#ppt_w/2"/>
                                          </p:val>
                                        </p:tav>
                                        <p:tav tm="100000">
                                          <p:val>
                                            <p:strVal val="#ppt_x"/>
                                          </p:val>
                                        </p:tav>
                                      </p:tavLst>
                                    </p:anim>
                                    <p:anim calcmode="lin" valueType="num">
                                      <p:cBhvr additive="base">
                                        <p:cTn id="12" dur="500" fill="hold"/>
                                        <p:tgtEl>
                                          <p:spTgt spid="6198"/>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148"/>
                                        </p:tgtEl>
                                        <p:attrNameLst>
                                          <p:attrName>style.visibility</p:attrName>
                                        </p:attrNameLst>
                                      </p:cBhvr>
                                      <p:to>
                                        <p:strVal val="visible"/>
                                      </p:to>
                                    </p:set>
                                    <p:animEffect transition="in" filter="dissolve">
                                      <p:cBhvr>
                                        <p:cTn id="17" dur="500"/>
                                        <p:tgtEl>
                                          <p:spTgt spid="6148"/>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grpId="0" nodeType="clickEffect">
                                  <p:stCondLst>
                                    <p:cond delay="0"/>
                                  </p:stCondLst>
                                  <p:childTnLst>
                                    <p:set>
                                      <p:cBhvr>
                                        <p:cTn id="21" dur="1" fill="hold">
                                          <p:stCondLst>
                                            <p:cond delay="0"/>
                                          </p:stCondLst>
                                        </p:cTn>
                                        <p:tgtEl>
                                          <p:spTgt spid="6199"/>
                                        </p:tgtEl>
                                        <p:attrNameLst>
                                          <p:attrName>style.visibility</p:attrName>
                                        </p:attrNameLst>
                                      </p:cBhvr>
                                      <p:to>
                                        <p:strVal val="visible"/>
                                      </p:to>
                                    </p:set>
                                    <p:anim calcmode="lin" valueType="num">
                                      <p:cBhvr additive="base">
                                        <p:cTn id="22" dur="500" fill="hold"/>
                                        <p:tgtEl>
                                          <p:spTgt spid="6199"/>
                                        </p:tgtEl>
                                        <p:attrNameLst>
                                          <p:attrName>ppt_x</p:attrName>
                                        </p:attrNameLst>
                                      </p:cBhvr>
                                      <p:tavLst>
                                        <p:tav tm="0">
                                          <p:val>
                                            <p:strVal val="1+#ppt_w/2"/>
                                          </p:val>
                                        </p:tav>
                                        <p:tav tm="100000">
                                          <p:val>
                                            <p:strVal val="#ppt_x"/>
                                          </p:val>
                                        </p:tav>
                                      </p:tavLst>
                                    </p:anim>
                                    <p:anim calcmode="lin" valueType="num">
                                      <p:cBhvr additive="base">
                                        <p:cTn id="23" dur="500" fill="hold"/>
                                        <p:tgtEl>
                                          <p:spTgt spid="6199"/>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6200"/>
                                        </p:tgtEl>
                                        <p:attrNameLst>
                                          <p:attrName>style.visibility</p:attrName>
                                        </p:attrNameLst>
                                      </p:cBhvr>
                                      <p:to>
                                        <p:strVal val="visible"/>
                                      </p:to>
                                    </p:set>
                                    <p:anim calcmode="lin" valueType="num">
                                      <p:cBhvr additive="base">
                                        <p:cTn id="28" dur="500" fill="hold"/>
                                        <p:tgtEl>
                                          <p:spTgt spid="6200"/>
                                        </p:tgtEl>
                                        <p:attrNameLst>
                                          <p:attrName>ppt_x</p:attrName>
                                        </p:attrNameLst>
                                      </p:cBhvr>
                                      <p:tavLst>
                                        <p:tav tm="0">
                                          <p:val>
                                            <p:strVal val="1+#ppt_w/2"/>
                                          </p:val>
                                        </p:tav>
                                        <p:tav tm="100000">
                                          <p:val>
                                            <p:strVal val="#ppt_x"/>
                                          </p:val>
                                        </p:tav>
                                      </p:tavLst>
                                    </p:anim>
                                    <p:anim calcmode="lin" valueType="num">
                                      <p:cBhvr additive="base">
                                        <p:cTn id="29" dur="500" fill="hold"/>
                                        <p:tgtEl>
                                          <p:spTgt spid="6200"/>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6156"/>
                                        </p:tgtEl>
                                        <p:attrNameLst>
                                          <p:attrName>style.visibility</p:attrName>
                                        </p:attrNameLst>
                                      </p:cBhvr>
                                      <p:to>
                                        <p:strVal val="visible"/>
                                      </p:to>
                                    </p:set>
                                    <p:animEffect transition="in" filter="dissolve">
                                      <p:cBhvr>
                                        <p:cTn id="34" dur="500"/>
                                        <p:tgtEl>
                                          <p:spTgt spid="6156"/>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2" fill="hold" grpId="0" nodeType="clickEffect">
                                  <p:stCondLst>
                                    <p:cond delay="0"/>
                                  </p:stCondLst>
                                  <p:childTnLst>
                                    <p:set>
                                      <p:cBhvr>
                                        <p:cTn id="38" dur="1" fill="hold">
                                          <p:stCondLst>
                                            <p:cond delay="0"/>
                                          </p:stCondLst>
                                        </p:cTn>
                                        <p:tgtEl>
                                          <p:spTgt spid="6201"/>
                                        </p:tgtEl>
                                        <p:attrNameLst>
                                          <p:attrName>style.visibility</p:attrName>
                                        </p:attrNameLst>
                                      </p:cBhvr>
                                      <p:to>
                                        <p:strVal val="visible"/>
                                      </p:to>
                                    </p:set>
                                    <p:anim calcmode="lin" valueType="num">
                                      <p:cBhvr additive="base">
                                        <p:cTn id="39" dur="500" fill="hold"/>
                                        <p:tgtEl>
                                          <p:spTgt spid="6201"/>
                                        </p:tgtEl>
                                        <p:attrNameLst>
                                          <p:attrName>ppt_x</p:attrName>
                                        </p:attrNameLst>
                                      </p:cBhvr>
                                      <p:tavLst>
                                        <p:tav tm="0">
                                          <p:val>
                                            <p:strVal val="1+#ppt_w/2"/>
                                          </p:val>
                                        </p:tav>
                                        <p:tav tm="100000">
                                          <p:val>
                                            <p:strVal val="#ppt_x"/>
                                          </p:val>
                                        </p:tav>
                                      </p:tavLst>
                                    </p:anim>
                                    <p:anim calcmode="lin" valueType="num">
                                      <p:cBhvr additive="base">
                                        <p:cTn id="40" dur="500" fill="hold"/>
                                        <p:tgtEl>
                                          <p:spTgt spid="6201"/>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2" fill="hold" grpId="0" nodeType="clickEffect">
                                  <p:stCondLst>
                                    <p:cond delay="0"/>
                                  </p:stCondLst>
                                  <p:childTnLst>
                                    <p:set>
                                      <p:cBhvr>
                                        <p:cTn id="44" dur="1" fill="hold">
                                          <p:stCondLst>
                                            <p:cond delay="0"/>
                                          </p:stCondLst>
                                        </p:cTn>
                                        <p:tgtEl>
                                          <p:spTgt spid="6202"/>
                                        </p:tgtEl>
                                        <p:attrNameLst>
                                          <p:attrName>style.visibility</p:attrName>
                                        </p:attrNameLst>
                                      </p:cBhvr>
                                      <p:to>
                                        <p:strVal val="visible"/>
                                      </p:to>
                                    </p:set>
                                    <p:anim calcmode="lin" valueType="num">
                                      <p:cBhvr additive="base">
                                        <p:cTn id="45" dur="500" fill="hold"/>
                                        <p:tgtEl>
                                          <p:spTgt spid="6202"/>
                                        </p:tgtEl>
                                        <p:attrNameLst>
                                          <p:attrName>ppt_x</p:attrName>
                                        </p:attrNameLst>
                                      </p:cBhvr>
                                      <p:tavLst>
                                        <p:tav tm="0">
                                          <p:val>
                                            <p:strVal val="1+#ppt_w/2"/>
                                          </p:val>
                                        </p:tav>
                                        <p:tav tm="100000">
                                          <p:val>
                                            <p:strVal val="#ppt_x"/>
                                          </p:val>
                                        </p:tav>
                                      </p:tavLst>
                                    </p:anim>
                                    <p:anim calcmode="lin" valueType="num">
                                      <p:cBhvr additive="base">
                                        <p:cTn id="46" dur="500" fill="hold"/>
                                        <p:tgtEl>
                                          <p:spTgt spid="6202"/>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3" fill="hold" grpId="0" nodeType="clickEffect">
                                  <p:stCondLst>
                                    <p:cond delay="0"/>
                                  </p:stCondLst>
                                  <p:iterate type="lt">
                                    <p:tmPct val="100000"/>
                                  </p:iterate>
                                  <p:childTnLst>
                                    <p:set>
                                      <p:cBhvr>
                                        <p:cTn id="50" dur="1" fill="hold">
                                          <p:stCondLst>
                                            <p:cond delay="0"/>
                                          </p:stCondLst>
                                        </p:cTn>
                                        <p:tgtEl>
                                          <p:spTgt spid="6203">
                                            <p:txEl>
                                              <p:pRg st="0" end="0"/>
                                            </p:txEl>
                                          </p:spTgt>
                                        </p:tgtEl>
                                        <p:attrNameLst>
                                          <p:attrName>style.visibility</p:attrName>
                                        </p:attrNameLst>
                                      </p:cBhvr>
                                      <p:to>
                                        <p:strVal val="visible"/>
                                      </p:to>
                                    </p:set>
                                    <p:anim calcmode="lin" valueType="num">
                                      <p:cBhvr additive="base">
                                        <p:cTn id="51" dur="75" fill="hold"/>
                                        <p:tgtEl>
                                          <p:spTgt spid="6203">
                                            <p:txEl>
                                              <p:pRg st="0" end="0"/>
                                            </p:txEl>
                                          </p:spTgt>
                                        </p:tgtEl>
                                        <p:attrNameLst>
                                          <p:attrName>ppt_x</p:attrName>
                                        </p:attrNameLst>
                                      </p:cBhvr>
                                      <p:tavLst>
                                        <p:tav tm="0">
                                          <p:val>
                                            <p:strVal val="1+#ppt_w/2"/>
                                          </p:val>
                                        </p:tav>
                                        <p:tav tm="100000">
                                          <p:val>
                                            <p:strVal val="#ppt_x"/>
                                          </p:val>
                                        </p:tav>
                                      </p:tavLst>
                                    </p:anim>
                                    <p:anim calcmode="lin" valueType="num">
                                      <p:cBhvr additive="base">
                                        <p:cTn id="52" dur="75" fill="hold"/>
                                        <p:tgtEl>
                                          <p:spTgt spid="6203">
                                            <p:txEl>
                                              <p:pRg st="0" end="0"/>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1" name="LASER.WAV"/>
                                        </p:tgtEl>
                                      </p:cMediaNode>
                                    </p:audio>
                                  </p:sub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6195"/>
                                        </p:tgtEl>
                                        <p:attrNameLst>
                                          <p:attrName>style.visibility</p:attrName>
                                        </p:attrNameLst>
                                      </p:cBhvr>
                                      <p:to>
                                        <p:strVal val="visible"/>
                                      </p:to>
                                    </p:set>
                                    <p:animEffect transition="in" filter="dissolve">
                                      <p:cBhvr>
                                        <p:cTn id="57" dur="500"/>
                                        <p:tgtEl>
                                          <p:spTgt spid="6195"/>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2" fill="hold" grpId="0" nodeType="clickEffect">
                                  <p:stCondLst>
                                    <p:cond delay="0"/>
                                  </p:stCondLst>
                                  <p:childTnLst>
                                    <p:set>
                                      <p:cBhvr>
                                        <p:cTn id="61" dur="1" fill="hold">
                                          <p:stCondLst>
                                            <p:cond delay="0"/>
                                          </p:stCondLst>
                                        </p:cTn>
                                        <p:tgtEl>
                                          <p:spTgt spid="6204"/>
                                        </p:tgtEl>
                                        <p:attrNameLst>
                                          <p:attrName>style.visibility</p:attrName>
                                        </p:attrNameLst>
                                      </p:cBhvr>
                                      <p:to>
                                        <p:strVal val="visible"/>
                                      </p:to>
                                    </p:set>
                                    <p:anim calcmode="lin" valueType="num">
                                      <p:cBhvr additive="base">
                                        <p:cTn id="62" dur="500" fill="hold"/>
                                        <p:tgtEl>
                                          <p:spTgt spid="6204"/>
                                        </p:tgtEl>
                                        <p:attrNameLst>
                                          <p:attrName>ppt_x</p:attrName>
                                        </p:attrNameLst>
                                      </p:cBhvr>
                                      <p:tavLst>
                                        <p:tav tm="0">
                                          <p:val>
                                            <p:strVal val="1+#ppt_w/2"/>
                                          </p:val>
                                        </p:tav>
                                        <p:tav tm="100000">
                                          <p:val>
                                            <p:strVal val="#ppt_x"/>
                                          </p:val>
                                        </p:tav>
                                      </p:tavLst>
                                    </p:anim>
                                    <p:anim calcmode="lin" valueType="num">
                                      <p:cBhvr additive="base">
                                        <p:cTn id="63" dur="500" fill="hold"/>
                                        <p:tgtEl>
                                          <p:spTgt spid="6204"/>
                                        </p:tgtEl>
                                        <p:attrNameLst>
                                          <p:attrName>ppt_y</p:attrName>
                                        </p:attrNameLst>
                                      </p:cBhvr>
                                      <p:tavLst>
                                        <p:tav tm="0">
                                          <p:val>
                                            <p:strVal val="#ppt_y"/>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nodeType="clickEffect">
                                  <p:stCondLst>
                                    <p:cond delay="0"/>
                                  </p:stCondLst>
                                  <p:childTnLst>
                                    <p:set>
                                      <p:cBhvr>
                                        <p:cTn id="67" dur="1" fill="hold">
                                          <p:stCondLst>
                                            <p:cond delay="0"/>
                                          </p:stCondLst>
                                        </p:cTn>
                                        <p:tgtEl>
                                          <p:spTgt spid="6180"/>
                                        </p:tgtEl>
                                        <p:attrNameLst>
                                          <p:attrName>style.visibility</p:attrName>
                                        </p:attrNameLst>
                                      </p:cBhvr>
                                      <p:to>
                                        <p:strVal val="visible"/>
                                      </p:to>
                                    </p:set>
                                    <p:animEffect transition="in" filter="dissolve">
                                      <p:cBhvr>
                                        <p:cTn id="68" dur="500"/>
                                        <p:tgtEl>
                                          <p:spTgt spid="6180"/>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6205"/>
                                        </p:tgtEl>
                                        <p:attrNameLst>
                                          <p:attrName>style.visibility</p:attrName>
                                        </p:attrNameLst>
                                      </p:cBhvr>
                                      <p:to>
                                        <p:strVal val="visible"/>
                                      </p:to>
                                    </p:set>
                                    <p:animEffect transition="in" filter="wipe(left)">
                                      <p:cBhvr>
                                        <p:cTn id="73" dur="500"/>
                                        <p:tgtEl>
                                          <p:spTgt spid="6205"/>
                                        </p:tgtEl>
                                      </p:cBhvr>
                                    </p:animEffect>
                                  </p:childTnLst>
                                </p:cTn>
                              </p:par>
                            </p:childTnLst>
                          </p:cTn>
                        </p:par>
                      </p:childTnLst>
                    </p:cTn>
                  </p:par>
                  <p:par>
                    <p:cTn id="74" fill="hold">
                      <p:stCondLst>
                        <p:cond delay="indefinite"/>
                      </p:stCondLst>
                      <p:childTnLst>
                        <p:par>
                          <p:cTn id="75" fill="hold">
                            <p:stCondLst>
                              <p:cond delay="0"/>
                            </p:stCondLst>
                            <p:childTnLst>
                              <p:par>
                                <p:cTn id="76" presetID="9" presetClass="entr" presetSubtype="0" fill="hold" nodeType="clickEffect">
                                  <p:stCondLst>
                                    <p:cond delay="0"/>
                                  </p:stCondLst>
                                  <p:childTnLst>
                                    <p:set>
                                      <p:cBhvr>
                                        <p:cTn id="77" dur="1" fill="hold">
                                          <p:stCondLst>
                                            <p:cond delay="0"/>
                                          </p:stCondLst>
                                        </p:cTn>
                                        <p:tgtEl>
                                          <p:spTgt spid="6165"/>
                                        </p:tgtEl>
                                        <p:attrNameLst>
                                          <p:attrName>style.visibility</p:attrName>
                                        </p:attrNameLst>
                                      </p:cBhvr>
                                      <p:to>
                                        <p:strVal val="visible"/>
                                      </p:to>
                                    </p:set>
                                    <p:animEffect transition="in" filter="dissolve">
                                      <p:cBhvr>
                                        <p:cTn id="78" dur="500"/>
                                        <p:tgtEl>
                                          <p:spTgt spid="6165"/>
                                        </p:tgtEl>
                                      </p:cBhvr>
                                    </p:animEffect>
                                  </p:childTnLst>
                                </p:cTn>
                              </p:par>
                            </p:childTnLst>
                          </p:cTn>
                        </p:par>
                      </p:childTnLst>
                    </p:cTn>
                  </p:par>
                  <p:par>
                    <p:cTn id="79" fill="hold">
                      <p:stCondLst>
                        <p:cond delay="indefinite"/>
                      </p:stCondLst>
                      <p:childTnLst>
                        <p:par>
                          <p:cTn id="80" fill="hold">
                            <p:stCondLst>
                              <p:cond delay="0"/>
                            </p:stCondLst>
                            <p:childTnLst>
                              <p:par>
                                <p:cTn id="81" presetID="2" presetClass="entr" presetSubtype="2" fill="hold" grpId="0" nodeType="clickEffect">
                                  <p:stCondLst>
                                    <p:cond delay="0"/>
                                  </p:stCondLst>
                                  <p:childTnLst>
                                    <p:set>
                                      <p:cBhvr>
                                        <p:cTn id="82" dur="1" fill="hold">
                                          <p:stCondLst>
                                            <p:cond delay="0"/>
                                          </p:stCondLst>
                                        </p:cTn>
                                        <p:tgtEl>
                                          <p:spTgt spid="6207"/>
                                        </p:tgtEl>
                                        <p:attrNameLst>
                                          <p:attrName>style.visibility</p:attrName>
                                        </p:attrNameLst>
                                      </p:cBhvr>
                                      <p:to>
                                        <p:strVal val="visible"/>
                                      </p:to>
                                    </p:set>
                                    <p:anim calcmode="lin" valueType="num">
                                      <p:cBhvr additive="base">
                                        <p:cTn id="83" dur="500" fill="hold"/>
                                        <p:tgtEl>
                                          <p:spTgt spid="6207"/>
                                        </p:tgtEl>
                                        <p:attrNameLst>
                                          <p:attrName>ppt_x</p:attrName>
                                        </p:attrNameLst>
                                      </p:cBhvr>
                                      <p:tavLst>
                                        <p:tav tm="0">
                                          <p:val>
                                            <p:strVal val="1+#ppt_w/2"/>
                                          </p:val>
                                        </p:tav>
                                        <p:tav tm="100000">
                                          <p:val>
                                            <p:strVal val="#ppt_x"/>
                                          </p:val>
                                        </p:tav>
                                      </p:tavLst>
                                    </p:anim>
                                    <p:anim calcmode="lin" valueType="num">
                                      <p:cBhvr additive="base">
                                        <p:cTn id="84" dur="500" fill="hold"/>
                                        <p:tgtEl>
                                          <p:spTgt spid="6207"/>
                                        </p:tgtEl>
                                        <p:attrNameLst>
                                          <p:attrName>ppt_y</p:attrName>
                                        </p:attrNameLst>
                                      </p:cBhvr>
                                      <p:tavLst>
                                        <p:tav tm="0">
                                          <p:val>
                                            <p:strVal val="#ppt_y"/>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2" fill="hold" grpId="0" nodeType="clickEffect">
                                  <p:stCondLst>
                                    <p:cond delay="0"/>
                                  </p:stCondLst>
                                  <p:childTnLst>
                                    <p:set>
                                      <p:cBhvr>
                                        <p:cTn id="88" dur="1" fill="hold">
                                          <p:stCondLst>
                                            <p:cond delay="0"/>
                                          </p:stCondLst>
                                        </p:cTn>
                                        <p:tgtEl>
                                          <p:spTgt spid="6208"/>
                                        </p:tgtEl>
                                        <p:attrNameLst>
                                          <p:attrName>style.visibility</p:attrName>
                                        </p:attrNameLst>
                                      </p:cBhvr>
                                      <p:to>
                                        <p:strVal val="visible"/>
                                      </p:to>
                                    </p:set>
                                    <p:anim calcmode="lin" valueType="num">
                                      <p:cBhvr additive="base">
                                        <p:cTn id="89" dur="500" fill="hold"/>
                                        <p:tgtEl>
                                          <p:spTgt spid="6208"/>
                                        </p:tgtEl>
                                        <p:attrNameLst>
                                          <p:attrName>ppt_x</p:attrName>
                                        </p:attrNameLst>
                                      </p:cBhvr>
                                      <p:tavLst>
                                        <p:tav tm="0">
                                          <p:val>
                                            <p:strVal val="1+#ppt_w/2"/>
                                          </p:val>
                                        </p:tav>
                                        <p:tav tm="100000">
                                          <p:val>
                                            <p:strVal val="#ppt_x"/>
                                          </p:val>
                                        </p:tav>
                                      </p:tavLst>
                                    </p:anim>
                                    <p:anim calcmode="lin" valueType="num">
                                      <p:cBhvr additive="base">
                                        <p:cTn id="90" dur="500" fill="hold"/>
                                        <p:tgtEl>
                                          <p:spTgt spid="6208"/>
                                        </p:tgtEl>
                                        <p:attrNameLst>
                                          <p:attrName>ppt_y</p:attrName>
                                        </p:attrNameLst>
                                      </p:cBhvr>
                                      <p:tavLst>
                                        <p:tav tm="0">
                                          <p:val>
                                            <p:strVal val="#ppt_y"/>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9" presetClass="entr" presetSubtype="0" fill="hold" nodeType="clickEffect">
                                  <p:stCondLst>
                                    <p:cond delay="0"/>
                                  </p:stCondLst>
                                  <p:childTnLst>
                                    <p:set>
                                      <p:cBhvr>
                                        <p:cTn id="94" dur="1" fill="hold">
                                          <p:stCondLst>
                                            <p:cond delay="0"/>
                                          </p:stCondLst>
                                        </p:cTn>
                                        <p:tgtEl>
                                          <p:spTgt spid="6172"/>
                                        </p:tgtEl>
                                        <p:attrNameLst>
                                          <p:attrName>style.visibility</p:attrName>
                                        </p:attrNameLst>
                                      </p:cBhvr>
                                      <p:to>
                                        <p:strVal val="visible"/>
                                      </p:to>
                                    </p:set>
                                    <p:animEffect transition="in" filter="dissolve">
                                      <p:cBhvr>
                                        <p:cTn id="95" dur="500"/>
                                        <p:tgtEl>
                                          <p:spTgt spid="6172"/>
                                        </p:tgtEl>
                                      </p:cBhvr>
                                    </p:animEffect>
                                  </p:childTnLst>
                                </p:cTn>
                              </p:par>
                            </p:childTnLst>
                          </p:cTn>
                        </p:par>
                      </p:childTnLst>
                    </p:cTn>
                  </p:par>
                  <p:par>
                    <p:cTn id="96" fill="hold">
                      <p:stCondLst>
                        <p:cond delay="indefinite"/>
                      </p:stCondLst>
                      <p:childTnLst>
                        <p:par>
                          <p:cTn id="97" fill="hold">
                            <p:stCondLst>
                              <p:cond delay="0"/>
                            </p:stCondLst>
                            <p:childTnLst>
                              <p:par>
                                <p:cTn id="98" presetID="2" presetClass="entr" presetSubtype="2" fill="hold" grpId="0" nodeType="clickEffect">
                                  <p:stCondLst>
                                    <p:cond delay="0"/>
                                  </p:stCondLst>
                                  <p:childTnLst>
                                    <p:set>
                                      <p:cBhvr>
                                        <p:cTn id="99" dur="1" fill="hold">
                                          <p:stCondLst>
                                            <p:cond delay="0"/>
                                          </p:stCondLst>
                                        </p:cTn>
                                        <p:tgtEl>
                                          <p:spTgt spid="6210"/>
                                        </p:tgtEl>
                                        <p:attrNameLst>
                                          <p:attrName>style.visibility</p:attrName>
                                        </p:attrNameLst>
                                      </p:cBhvr>
                                      <p:to>
                                        <p:strVal val="visible"/>
                                      </p:to>
                                    </p:set>
                                    <p:anim calcmode="lin" valueType="num">
                                      <p:cBhvr additive="base">
                                        <p:cTn id="100" dur="500" fill="hold"/>
                                        <p:tgtEl>
                                          <p:spTgt spid="6210"/>
                                        </p:tgtEl>
                                        <p:attrNameLst>
                                          <p:attrName>ppt_x</p:attrName>
                                        </p:attrNameLst>
                                      </p:cBhvr>
                                      <p:tavLst>
                                        <p:tav tm="0">
                                          <p:val>
                                            <p:strVal val="1+#ppt_w/2"/>
                                          </p:val>
                                        </p:tav>
                                        <p:tav tm="100000">
                                          <p:val>
                                            <p:strVal val="#ppt_x"/>
                                          </p:val>
                                        </p:tav>
                                      </p:tavLst>
                                    </p:anim>
                                    <p:anim calcmode="lin" valueType="num">
                                      <p:cBhvr additive="base">
                                        <p:cTn id="101" dur="500" fill="hold"/>
                                        <p:tgtEl>
                                          <p:spTgt spid="6210"/>
                                        </p:tgtEl>
                                        <p:attrNameLst>
                                          <p:attrName>ppt_y</p:attrName>
                                        </p:attrNameLst>
                                      </p:cBhvr>
                                      <p:tavLst>
                                        <p:tav tm="0">
                                          <p:val>
                                            <p:strVal val="#ppt_y"/>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2" presetClass="entr" presetSubtype="2" fill="hold" grpId="0" nodeType="clickEffect">
                                  <p:stCondLst>
                                    <p:cond delay="0"/>
                                  </p:stCondLst>
                                  <p:childTnLst>
                                    <p:set>
                                      <p:cBhvr>
                                        <p:cTn id="105" dur="1" fill="hold">
                                          <p:stCondLst>
                                            <p:cond delay="0"/>
                                          </p:stCondLst>
                                        </p:cTn>
                                        <p:tgtEl>
                                          <p:spTgt spid="6211"/>
                                        </p:tgtEl>
                                        <p:attrNameLst>
                                          <p:attrName>style.visibility</p:attrName>
                                        </p:attrNameLst>
                                      </p:cBhvr>
                                      <p:to>
                                        <p:strVal val="visible"/>
                                      </p:to>
                                    </p:set>
                                    <p:anim calcmode="lin" valueType="num">
                                      <p:cBhvr additive="base">
                                        <p:cTn id="106" dur="500" fill="hold"/>
                                        <p:tgtEl>
                                          <p:spTgt spid="6211"/>
                                        </p:tgtEl>
                                        <p:attrNameLst>
                                          <p:attrName>ppt_x</p:attrName>
                                        </p:attrNameLst>
                                      </p:cBhvr>
                                      <p:tavLst>
                                        <p:tav tm="0">
                                          <p:val>
                                            <p:strVal val="1+#ppt_w/2"/>
                                          </p:val>
                                        </p:tav>
                                        <p:tav tm="100000">
                                          <p:val>
                                            <p:strVal val="#ppt_x"/>
                                          </p:val>
                                        </p:tav>
                                      </p:tavLst>
                                    </p:anim>
                                    <p:anim calcmode="lin" valueType="num">
                                      <p:cBhvr additive="base">
                                        <p:cTn id="107" dur="500" fill="hold"/>
                                        <p:tgtEl>
                                          <p:spTgt spid="6211"/>
                                        </p:tgtEl>
                                        <p:attrNameLst>
                                          <p:attrName>ppt_y</p:attrName>
                                        </p:attrNameLst>
                                      </p:cBhvr>
                                      <p:tavLst>
                                        <p:tav tm="0">
                                          <p:val>
                                            <p:strVal val="#ppt_y"/>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2" presetClass="entr" presetSubtype="2" fill="hold" grpId="0" nodeType="clickEffect">
                                  <p:stCondLst>
                                    <p:cond delay="0"/>
                                  </p:stCondLst>
                                  <p:childTnLst>
                                    <p:set>
                                      <p:cBhvr>
                                        <p:cTn id="111" dur="1" fill="hold">
                                          <p:stCondLst>
                                            <p:cond delay="0"/>
                                          </p:stCondLst>
                                        </p:cTn>
                                        <p:tgtEl>
                                          <p:spTgt spid="6212"/>
                                        </p:tgtEl>
                                        <p:attrNameLst>
                                          <p:attrName>style.visibility</p:attrName>
                                        </p:attrNameLst>
                                      </p:cBhvr>
                                      <p:to>
                                        <p:strVal val="visible"/>
                                      </p:to>
                                    </p:set>
                                    <p:anim calcmode="lin" valueType="num">
                                      <p:cBhvr additive="base">
                                        <p:cTn id="112" dur="500" fill="hold"/>
                                        <p:tgtEl>
                                          <p:spTgt spid="6212"/>
                                        </p:tgtEl>
                                        <p:attrNameLst>
                                          <p:attrName>ppt_x</p:attrName>
                                        </p:attrNameLst>
                                      </p:cBhvr>
                                      <p:tavLst>
                                        <p:tav tm="0">
                                          <p:val>
                                            <p:strVal val="1+#ppt_w/2"/>
                                          </p:val>
                                        </p:tav>
                                        <p:tav tm="100000">
                                          <p:val>
                                            <p:strVal val="#ppt_x"/>
                                          </p:val>
                                        </p:tav>
                                      </p:tavLst>
                                    </p:anim>
                                    <p:anim calcmode="lin" valueType="num">
                                      <p:cBhvr additive="base">
                                        <p:cTn id="113" dur="500" fill="hold"/>
                                        <p:tgtEl>
                                          <p:spTgt spid="6212"/>
                                        </p:tgtEl>
                                        <p:attrNameLst>
                                          <p:attrName>ppt_y</p:attrName>
                                        </p:attrNameLst>
                                      </p:cBhvr>
                                      <p:tavLst>
                                        <p:tav tm="0">
                                          <p:val>
                                            <p:strVal val="#ppt_y"/>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9" presetClass="entr" presetSubtype="0" fill="hold" grpId="0" nodeType="clickEffect">
                                  <p:stCondLst>
                                    <p:cond delay="0"/>
                                  </p:stCondLst>
                                  <p:childTnLst>
                                    <p:set>
                                      <p:cBhvr>
                                        <p:cTn id="117" dur="1" fill="hold">
                                          <p:stCondLst>
                                            <p:cond delay="0"/>
                                          </p:stCondLst>
                                        </p:cTn>
                                        <p:tgtEl>
                                          <p:spTgt spid="6179"/>
                                        </p:tgtEl>
                                        <p:attrNameLst>
                                          <p:attrName>style.visibility</p:attrName>
                                        </p:attrNameLst>
                                      </p:cBhvr>
                                      <p:to>
                                        <p:strVal val="visible"/>
                                      </p:to>
                                    </p:set>
                                    <p:animEffect transition="in" filter="dissolve">
                                      <p:cBhvr>
                                        <p:cTn id="118" dur="500"/>
                                        <p:tgtEl>
                                          <p:spTgt spid="6179"/>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6206"/>
                                        </p:tgtEl>
                                        <p:attrNameLst>
                                          <p:attrName>style.visibility</p:attrName>
                                        </p:attrNameLst>
                                      </p:cBhvr>
                                      <p:to>
                                        <p:strVal val="visible"/>
                                      </p:to>
                                    </p:set>
                                    <p:animEffect transition="in" filter="wipe(left)">
                                      <p:cBhvr>
                                        <p:cTn id="123" dur="500"/>
                                        <p:tgtEl>
                                          <p:spTgt spid="6206"/>
                                        </p:tgtEl>
                                      </p:cBhvr>
                                    </p:animEffect>
                                  </p:childTnLst>
                                </p:cTn>
                              </p:par>
                            </p:childTnLst>
                          </p:cTn>
                        </p:par>
                      </p:childTnLst>
                    </p:cTn>
                  </p:par>
                  <p:par>
                    <p:cTn id="124" fill="hold">
                      <p:stCondLst>
                        <p:cond delay="indefinite"/>
                      </p:stCondLst>
                      <p:childTnLst>
                        <p:par>
                          <p:cTn id="125" fill="hold">
                            <p:stCondLst>
                              <p:cond delay="0"/>
                            </p:stCondLst>
                            <p:childTnLst>
                              <p:par>
                                <p:cTn id="126" presetID="9" presetClass="entr" presetSubtype="0" fill="hold" grpId="0" nodeType="clickEffect">
                                  <p:stCondLst>
                                    <p:cond delay="0"/>
                                  </p:stCondLst>
                                  <p:childTnLst>
                                    <p:set>
                                      <p:cBhvr>
                                        <p:cTn id="127" dur="1" fill="hold">
                                          <p:stCondLst>
                                            <p:cond delay="0"/>
                                          </p:stCondLst>
                                        </p:cTn>
                                        <p:tgtEl>
                                          <p:spTgt spid="6196"/>
                                        </p:tgtEl>
                                        <p:attrNameLst>
                                          <p:attrName>style.visibility</p:attrName>
                                        </p:attrNameLst>
                                      </p:cBhvr>
                                      <p:to>
                                        <p:strVal val="visible"/>
                                      </p:to>
                                    </p:set>
                                    <p:animEffect transition="in" filter="dissolve">
                                      <p:cBhvr>
                                        <p:cTn id="128" dur="500"/>
                                        <p:tgtEl>
                                          <p:spTgt spid="6196"/>
                                        </p:tgtEl>
                                      </p:cBhvr>
                                    </p:animEffect>
                                  </p:childTnLst>
                                </p:cTn>
                              </p:par>
                            </p:childTnLst>
                          </p:cTn>
                        </p:par>
                      </p:childTnLst>
                    </p:cTn>
                  </p:par>
                  <p:par>
                    <p:cTn id="129" fill="hold">
                      <p:stCondLst>
                        <p:cond delay="indefinite"/>
                      </p:stCondLst>
                      <p:childTnLst>
                        <p:par>
                          <p:cTn id="130" fill="hold">
                            <p:stCondLst>
                              <p:cond delay="0"/>
                            </p:stCondLst>
                            <p:childTnLst>
                              <p:par>
                                <p:cTn id="131" presetID="2" presetClass="entr" presetSubtype="2" fill="hold" grpId="0" nodeType="clickEffect">
                                  <p:stCondLst>
                                    <p:cond delay="0"/>
                                  </p:stCondLst>
                                  <p:childTnLst>
                                    <p:set>
                                      <p:cBhvr>
                                        <p:cTn id="132" dur="1" fill="hold">
                                          <p:stCondLst>
                                            <p:cond delay="0"/>
                                          </p:stCondLst>
                                        </p:cTn>
                                        <p:tgtEl>
                                          <p:spTgt spid="6213"/>
                                        </p:tgtEl>
                                        <p:attrNameLst>
                                          <p:attrName>style.visibility</p:attrName>
                                        </p:attrNameLst>
                                      </p:cBhvr>
                                      <p:to>
                                        <p:strVal val="visible"/>
                                      </p:to>
                                    </p:set>
                                    <p:anim calcmode="lin" valueType="num">
                                      <p:cBhvr additive="base">
                                        <p:cTn id="133" dur="500" fill="hold"/>
                                        <p:tgtEl>
                                          <p:spTgt spid="6213"/>
                                        </p:tgtEl>
                                        <p:attrNameLst>
                                          <p:attrName>ppt_x</p:attrName>
                                        </p:attrNameLst>
                                      </p:cBhvr>
                                      <p:tavLst>
                                        <p:tav tm="0">
                                          <p:val>
                                            <p:strVal val="1+#ppt_w/2"/>
                                          </p:val>
                                        </p:tav>
                                        <p:tav tm="100000">
                                          <p:val>
                                            <p:strVal val="#ppt_x"/>
                                          </p:val>
                                        </p:tav>
                                      </p:tavLst>
                                    </p:anim>
                                    <p:anim calcmode="lin" valueType="num">
                                      <p:cBhvr additive="base">
                                        <p:cTn id="134" dur="500" fill="hold"/>
                                        <p:tgtEl>
                                          <p:spTgt spid="6213"/>
                                        </p:tgtEl>
                                        <p:attrNameLst>
                                          <p:attrName>ppt_y</p:attrName>
                                        </p:attrNameLst>
                                      </p:cBhvr>
                                      <p:tavLst>
                                        <p:tav tm="0">
                                          <p:val>
                                            <p:strVal val="#ppt_y"/>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9" presetClass="entr" presetSubtype="0" fill="hold" nodeType="clickEffect">
                                  <p:stCondLst>
                                    <p:cond delay="0"/>
                                  </p:stCondLst>
                                  <p:childTnLst>
                                    <p:set>
                                      <p:cBhvr>
                                        <p:cTn id="138" dur="1" fill="hold">
                                          <p:stCondLst>
                                            <p:cond delay="0"/>
                                          </p:stCondLst>
                                        </p:cTn>
                                        <p:tgtEl>
                                          <p:spTgt spid="6188"/>
                                        </p:tgtEl>
                                        <p:attrNameLst>
                                          <p:attrName>style.visibility</p:attrName>
                                        </p:attrNameLst>
                                      </p:cBhvr>
                                      <p:to>
                                        <p:strVal val="visible"/>
                                      </p:to>
                                    </p:set>
                                    <p:animEffect transition="in" filter="dissolve">
                                      <p:cBhvr>
                                        <p:cTn id="139" dur="500"/>
                                        <p:tgtEl>
                                          <p:spTgt spid="6188"/>
                                        </p:tgtEl>
                                      </p:cBhvr>
                                    </p:animEffect>
                                  </p:childTnLst>
                                </p:cTn>
                              </p:par>
                            </p:childTnLst>
                          </p:cTn>
                        </p:par>
                      </p:childTnLst>
                    </p:cTn>
                  </p:par>
                  <p:par>
                    <p:cTn id="140" fill="hold">
                      <p:stCondLst>
                        <p:cond delay="indefinite"/>
                      </p:stCondLst>
                      <p:childTnLst>
                        <p:par>
                          <p:cTn id="141" fill="hold">
                            <p:stCondLst>
                              <p:cond delay="0"/>
                            </p:stCondLst>
                            <p:childTnLst>
                              <p:par>
                                <p:cTn id="142" presetID="22" presetClass="entr" presetSubtype="8" fill="hold" grpId="0" nodeType="clickEffect">
                                  <p:stCondLst>
                                    <p:cond delay="0"/>
                                  </p:stCondLst>
                                  <p:childTnLst>
                                    <p:set>
                                      <p:cBhvr>
                                        <p:cTn id="143" dur="1" fill="hold">
                                          <p:stCondLst>
                                            <p:cond delay="0"/>
                                          </p:stCondLst>
                                        </p:cTn>
                                        <p:tgtEl>
                                          <p:spTgt spid="6214"/>
                                        </p:tgtEl>
                                        <p:attrNameLst>
                                          <p:attrName>style.visibility</p:attrName>
                                        </p:attrNameLst>
                                      </p:cBhvr>
                                      <p:to>
                                        <p:strVal val="visible"/>
                                      </p:to>
                                    </p:set>
                                    <p:animEffect transition="in" filter="wipe(left)">
                                      <p:cBhvr>
                                        <p:cTn id="144" dur="500"/>
                                        <p:tgtEl>
                                          <p:spTgt spid="6214"/>
                                        </p:tgtEl>
                                      </p:cBhvr>
                                    </p:animEffect>
                                  </p:childTnLst>
                                </p:cTn>
                              </p:par>
                            </p:childTnLst>
                          </p:cTn>
                        </p:par>
                      </p:childTnLst>
                    </p:cTn>
                  </p:par>
                  <p:par>
                    <p:cTn id="145" fill="hold">
                      <p:stCondLst>
                        <p:cond delay="indefinite"/>
                      </p:stCondLst>
                      <p:childTnLst>
                        <p:par>
                          <p:cTn id="146" fill="hold">
                            <p:stCondLst>
                              <p:cond delay="0"/>
                            </p:stCondLst>
                            <p:childTnLst>
                              <p:par>
                                <p:cTn id="147" presetID="9" presetClass="entr" presetSubtype="0" fill="hold" grpId="0" nodeType="clickEffect">
                                  <p:stCondLst>
                                    <p:cond delay="0"/>
                                  </p:stCondLst>
                                  <p:childTnLst>
                                    <p:set>
                                      <p:cBhvr>
                                        <p:cTn id="148" dur="1" fill="hold">
                                          <p:stCondLst>
                                            <p:cond delay="0"/>
                                          </p:stCondLst>
                                        </p:cTn>
                                        <p:tgtEl>
                                          <p:spTgt spid="6187"/>
                                        </p:tgtEl>
                                        <p:attrNameLst>
                                          <p:attrName>style.visibility</p:attrName>
                                        </p:attrNameLst>
                                      </p:cBhvr>
                                      <p:to>
                                        <p:strVal val="visible"/>
                                      </p:to>
                                    </p:set>
                                    <p:animEffect transition="in" filter="dissolve">
                                      <p:cBhvr>
                                        <p:cTn id="149" dur="500"/>
                                        <p:tgtEl>
                                          <p:spTgt spid="6187"/>
                                        </p:tgtEl>
                                      </p:cBhvr>
                                    </p:animEffect>
                                  </p:childTnLst>
                                </p:cTn>
                              </p:par>
                            </p:childTnLst>
                          </p:cTn>
                        </p:par>
                      </p:childTnLst>
                    </p:cTn>
                  </p:par>
                  <p:par>
                    <p:cTn id="150" fill="hold">
                      <p:stCondLst>
                        <p:cond delay="indefinite"/>
                      </p:stCondLst>
                      <p:childTnLst>
                        <p:par>
                          <p:cTn id="151" fill="hold">
                            <p:stCondLst>
                              <p:cond delay="0"/>
                            </p:stCondLst>
                            <p:childTnLst>
                              <p:par>
                                <p:cTn id="152" presetID="2" presetClass="entr" presetSubtype="2" fill="hold" grpId="0" nodeType="clickEffect">
                                  <p:stCondLst>
                                    <p:cond delay="0"/>
                                  </p:stCondLst>
                                  <p:childTnLst>
                                    <p:set>
                                      <p:cBhvr>
                                        <p:cTn id="153" dur="1" fill="hold">
                                          <p:stCondLst>
                                            <p:cond delay="0"/>
                                          </p:stCondLst>
                                        </p:cTn>
                                        <p:tgtEl>
                                          <p:spTgt spid="6215"/>
                                        </p:tgtEl>
                                        <p:attrNameLst>
                                          <p:attrName>style.visibility</p:attrName>
                                        </p:attrNameLst>
                                      </p:cBhvr>
                                      <p:to>
                                        <p:strVal val="visible"/>
                                      </p:to>
                                    </p:set>
                                    <p:anim calcmode="lin" valueType="num">
                                      <p:cBhvr additive="base">
                                        <p:cTn id="154" dur="500" fill="hold"/>
                                        <p:tgtEl>
                                          <p:spTgt spid="6215"/>
                                        </p:tgtEl>
                                        <p:attrNameLst>
                                          <p:attrName>ppt_x</p:attrName>
                                        </p:attrNameLst>
                                      </p:cBhvr>
                                      <p:tavLst>
                                        <p:tav tm="0">
                                          <p:val>
                                            <p:strVal val="1+#ppt_w/2"/>
                                          </p:val>
                                        </p:tav>
                                        <p:tav tm="100000">
                                          <p:val>
                                            <p:strVal val="#ppt_x"/>
                                          </p:val>
                                        </p:tav>
                                      </p:tavLst>
                                    </p:anim>
                                    <p:anim calcmode="lin" valueType="num">
                                      <p:cBhvr additive="base">
                                        <p:cTn id="155" dur="500" fill="hold"/>
                                        <p:tgtEl>
                                          <p:spTgt spid="6215"/>
                                        </p:tgtEl>
                                        <p:attrNameLst>
                                          <p:attrName>ppt_y</p:attrName>
                                        </p:attrNameLst>
                                      </p:cBhvr>
                                      <p:tavLst>
                                        <p:tav tm="0">
                                          <p:val>
                                            <p:strVal val="#ppt_y"/>
                                          </p:val>
                                        </p:tav>
                                        <p:tav tm="100000">
                                          <p:val>
                                            <p:strVal val="#ppt_y"/>
                                          </p:val>
                                        </p:tav>
                                      </p:tavLst>
                                    </p:anim>
                                  </p:childTnLst>
                                </p:cTn>
                              </p:par>
                            </p:childTnLst>
                          </p:cTn>
                        </p:par>
                      </p:childTnLst>
                    </p:cTn>
                  </p:par>
                  <p:par>
                    <p:cTn id="156" fill="hold">
                      <p:stCondLst>
                        <p:cond delay="indefinite"/>
                      </p:stCondLst>
                      <p:childTnLst>
                        <p:par>
                          <p:cTn id="157" fill="hold">
                            <p:stCondLst>
                              <p:cond delay="0"/>
                            </p:stCondLst>
                            <p:childTnLst>
                              <p:par>
                                <p:cTn id="158" presetID="9" presetClass="entr" presetSubtype="0" fill="hold" grpId="0" nodeType="clickEffect">
                                  <p:stCondLst>
                                    <p:cond delay="0"/>
                                  </p:stCondLst>
                                  <p:childTnLst>
                                    <p:set>
                                      <p:cBhvr>
                                        <p:cTn id="159" dur="1" fill="hold">
                                          <p:stCondLst>
                                            <p:cond delay="0"/>
                                          </p:stCondLst>
                                        </p:cTn>
                                        <p:tgtEl>
                                          <p:spTgt spid="6197"/>
                                        </p:tgtEl>
                                        <p:attrNameLst>
                                          <p:attrName>style.visibility</p:attrName>
                                        </p:attrNameLst>
                                      </p:cBhvr>
                                      <p:to>
                                        <p:strVal val="visible"/>
                                      </p:to>
                                    </p:set>
                                    <p:animEffect transition="in" filter="dissolve">
                                      <p:cBhvr>
                                        <p:cTn id="160" dur="500"/>
                                        <p:tgtEl>
                                          <p:spTgt spid="6197"/>
                                        </p:tgtEl>
                                      </p:cBhvr>
                                    </p:animEffect>
                                  </p:childTnLst>
                                </p:cTn>
                              </p:par>
                            </p:childTnLst>
                          </p:cTn>
                        </p:par>
                      </p:childTnLst>
                    </p:cTn>
                  </p:par>
                  <p:par>
                    <p:cTn id="161" fill="hold">
                      <p:stCondLst>
                        <p:cond delay="indefinite"/>
                      </p:stCondLst>
                      <p:childTnLst>
                        <p:par>
                          <p:cTn id="162" fill="hold">
                            <p:stCondLst>
                              <p:cond delay="0"/>
                            </p:stCondLst>
                            <p:childTnLst>
                              <p:par>
                                <p:cTn id="163" presetID="22" presetClass="entr" presetSubtype="8" fill="hold" grpId="0" nodeType="clickEffect">
                                  <p:stCondLst>
                                    <p:cond delay="0"/>
                                  </p:stCondLst>
                                  <p:childTnLst>
                                    <p:set>
                                      <p:cBhvr>
                                        <p:cTn id="164" dur="1" fill="hold">
                                          <p:stCondLst>
                                            <p:cond delay="0"/>
                                          </p:stCondLst>
                                        </p:cTn>
                                        <p:tgtEl>
                                          <p:spTgt spid="6216"/>
                                        </p:tgtEl>
                                        <p:attrNameLst>
                                          <p:attrName>style.visibility</p:attrName>
                                        </p:attrNameLst>
                                      </p:cBhvr>
                                      <p:to>
                                        <p:strVal val="visible"/>
                                      </p:to>
                                    </p:set>
                                    <p:animEffect transition="in" filter="wipe(left)">
                                      <p:cBhvr>
                                        <p:cTn id="165" dur="500"/>
                                        <p:tgtEl>
                                          <p:spTgt spid="6216"/>
                                        </p:tgtEl>
                                      </p:cBhvr>
                                    </p:animEffect>
                                  </p:childTnLst>
                                </p:cTn>
                              </p:par>
                            </p:childTnLst>
                          </p:cTn>
                        </p:par>
                      </p:childTnLst>
                    </p:cTn>
                  </p:par>
                  <p:par>
                    <p:cTn id="166" fill="hold">
                      <p:stCondLst>
                        <p:cond delay="indefinite"/>
                      </p:stCondLst>
                      <p:childTnLst>
                        <p:par>
                          <p:cTn id="167" fill="hold">
                            <p:stCondLst>
                              <p:cond delay="0"/>
                            </p:stCondLst>
                            <p:childTnLst>
                              <p:par>
                                <p:cTn id="168" presetID="22" presetClass="entr" presetSubtype="8" fill="hold" grpId="0" nodeType="clickEffect">
                                  <p:stCondLst>
                                    <p:cond delay="0"/>
                                  </p:stCondLst>
                                  <p:childTnLst>
                                    <p:set>
                                      <p:cBhvr>
                                        <p:cTn id="169" dur="1" fill="hold">
                                          <p:stCondLst>
                                            <p:cond delay="0"/>
                                          </p:stCondLst>
                                        </p:cTn>
                                        <p:tgtEl>
                                          <p:spTgt spid="6217"/>
                                        </p:tgtEl>
                                        <p:attrNameLst>
                                          <p:attrName>style.visibility</p:attrName>
                                        </p:attrNameLst>
                                      </p:cBhvr>
                                      <p:to>
                                        <p:strVal val="visible"/>
                                      </p:to>
                                    </p:set>
                                    <p:animEffect transition="in" filter="wipe(left)">
                                      <p:cBhvr>
                                        <p:cTn id="170" dur="500"/>
                                        <p:tgtEl>
                                          <p:spTgt spid="62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autoUpdateAnimBg="0" build="p"/>
      <p:bldP spid="6179" grpId="0" animBg="1"/>
      <p:bldP spid="6187" grpId="0" animBg="1"/>
      <p:bldP spid="6195" grpId="0" animBg="1"/>
      <p:bldP spid="6196" grpId="0" animBg="1"/>
      <p:bldP spid="6197" grpId="0" animBg="1"/>
      <p:bldP spid="6198" grpId="0" bldLvl="0" animBg="1" autoUpdateAnimBg="0"/>
      <p:bldP spid="6199" grpId="0" autoUpdateAnimBg="0"/>
      <p:bldP spid="6200" grpId="0" autoUpdateAnimBg="0"/>
      <p:bldP spid="6201" grpId="0" autoUpdateAnimBg="0"/>
      <p:bldP spid="6202" grpId="0" autoUpdateAnimBg="0"/>
      <p:bldP spid="6203" grpId="0" autoUpdateAnimBg="0" build="p"/>
      <p:bldP spid="6204" grpId="0" animBg="1" autoUpdateAnimBg="0"/>
      <p:bldP spid="6205" grpId="0"/>
      <p:bldP spid="6206" grpId="0"/>
      <p:bldP spid="6207" grpId="0" autoUpdateAnimBg="0"/>
      <p:bldP spid="6208" grpId="0" autoUpdateAnimBg="0"/>
      <p:bldP spid="6210" grpId="0" autoUpdateAnimBg="0"/>
      <p:bldP spid="6211" grpId="0" autoUpdateAnimBg="0"/>
      <p:bldP spid="6212" grpId="0" autoUpdateAnimBg="0"/>
      <p:bldP spid="6213" grpId="0" animBg="1" autoUpdateAnimBg="0"/>
      <p:bldP spid="6214" grpId="0"/>
      <p:bldP spid="6215" grpId="0" autoUpdateAnimBg="0"/>
      <p:bldP spid="6216" grpId="0" animBg="1"/>
      <p:bldP spid="621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0"/>
          <p:cNvSpPr txBox="1">
            <a:spLocks noChangeArrowheads="1"/>
          </p:cNvSpPr>
          <p:nvPr/>
        </p:nvSpPr>
        <p:spPr bwMode="auto">
          <a:xfrm>
            <a:off x="702644" y="1159758"/>
            <a:ext cx="8254709"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lnSpc>
                <a:spcPct val="150000"/>
              </a:lnSpc>
              <a:spcAft>
                <a:spcPts val="0"/>
              </a:spcAft>
            </a:pPr>
            <a:r>
              <a:rPr lang="zh-CN" altLang="en-US" b="0" dirty="0" smtClean="0">
                <a:solidFill>
                  <a:srgbClr val="FF0000"/>
                </a:solidFill>
                <a:ea typeface="黑体" panose="02010609060101010101" pitchFamily="49" charset="-122"/>
              </a:rPr>
              <a:t>失效  </a:t>
            </a:r>
            <a:r>
              <a:rPr lang="en-US" altLang="zh-CN" b="0" dirty="0" smtClean="0">
                <a:solidFill>
                  <a:srgbClr val="002060"/>
                </a:solidFill>
                <a:ea typeface="黑体" panose="02010609060101010101" pitchFamily="49" charset="-122"/>
              </a:rPr>
              <a:t>:</a:t>
            </a:r>
            <a:r>
              <a:rPr lang="zh-CN" altLang="zh-CN" b="0" dirty="0">
                <a:solidFill>
                  <a:srgbClr val="002060"/>
                </a:solidFill>
                <a:latin typeface="黑体" panose="02010609060101010101" pitchFamily="49" charset="-122"/>
                <a:ea typeface="黑体" panose="02010609060101010101" pitchFamily="49" charset="-122"/>
              </a:rPr>
              <a:t>在正常的工作条件下，机械零件丧失工作能力或达不到工作性能要求时，就称为零件失效</a:t>
            </a:r>
            <a:r>
              <a:rPr lang="zh-CN" altLang="zh-CN" b="0" dirty="0" smtClean="0">
                <a:solidFill>
                  <a:srgbClr val="002060"/>
                </a:solidFill>
                <a:latin typeface="黑体" panose="02010609060101010101" pitchFamily="49" charset="-122"/>
                <a:ea typeface="黑体" panose="02010609060101010101" pitchFamily="49" charset="-122"/>
              </a:rPr>
              <a:t>。</a:t>
            </a:r>
            <a:endParaRPr lang="zh-CN" altLang="zh-CN" b="0" dirty="0">
              <a:solidFill>
                <a:srgbClr val="002060"/>
              </a:solidFill>
              <a:latin typeface="黑体" panose="02010609060101010101" pitchFamily="49" charset="-122"/>
              <a:ea typeface="黑体" panose="02010609060101010101" pitchFamily="49" charset="-122"/>
            </a:endParaRPr>
          </a:p>
        </p:txBody>
      </p:sp>
      <p:sp>
        <p:nvSpPr>
          <p:cNvPr id="3" name="Rectangle 4"/>
          <p:cNvSpPr>
            <a:spLocks noChangeArrowheads="1"/>
          </p:cNvSpPr>
          <p:nvPr/>
        </p:nvSpPr>
        <p:spPr bwMode="auto">
          <a:xfrm>
            <a:off x="2416810" y="304800"/>
            <a:ext cx="6041390" cy="427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p>
            <a:pPr>
              <a:spcAft>
                <a:spcPts val="0"/>
              </a:spcAft>
            </a:pPr>
            <a:r>
              <a:rPr lang="en-US" altLang="zh-CN" sz="3000" dirty="0" smtClean="0">
                <a:solidFill>
                  <a:srgbClr val="CC0000"/>
                </a:solidFill>
                <a:latin typeface="黑体" panose="02010609060101010101" pitchFamily="49" charset="-122"/>
                <a:ea typeface="黑体" panose="02010609060101010101" pitchFamily="49" charset="-122"/>
              </a:rPr>
              <a:t>1.2-4 </a:t>
            </a:r>
            <a:r>
              <a:rPr lang="zh-CN" altLang="en-US" sz="3000" dirty="0">
                <a:solidFill>
                  <a:srgbClr val="CC0000"/>
                </a:solidFill>
                <a:latin typeface="黑体" panose="02010609060101010101" pitchFamily="49" charset="-122"/>
                <a:ea typeface="黑体" panose="02010609060101010101" pitchFamily="49" charset="-122"/>
              </a:rPr>
              <a:t>机械零件的主要失效形式</a:t>
            </a:r>
            <a:endParaRPr lang="zh-CN" altLang="en-US" sz="3000" dirty="0">
              <a:solidFill>
                <a:srgbClr val="CC0000"/>
              </a:solidFill>
              <a:latin typeface="黑体" panose="02010609060101010101" pitchFamily="49" charset="-122"/>
              <a:ea typeface="黑体" panose="02010609060101010101" pitchFamily="49" charset="-122"/>
            </a:endParaRPr>
          </a:p>
        </p:txBody>
      </p:sp>
      <p:sp>
        <p:nvSpPr>
          <p:cNvPr id="5"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矩形 1"/>
          <p:cNvSpPr/>
          <p:nvPr/>
        </p:nvSpPr>
        <p:spPr>
          <a:xfrm>
            <a:off x="1691326" y="3522845"/>
            <a:ext cx="5277677" cy="2306955"/>
          </a:xfrm>
          <a:prstGeom prst="rect">
            <a:avLst/>
          </a:prstGeom>
        </p:spPr>
        <p:txBody>
          <a:bodyPr wrap="square">
            <a:spAutoFit/>
          </a:bodyPr>
          <a:lstStyle/>
          <a:p>
            <a:pPr marL="342900" indent="-342900">
              <a:lnSpc>
                <a:spcPct val="150000"/>
              </a:lnSpc>
              <a:spcAft>
                <a:spcPts val="0"/>
              </a:spcAft>
              <a:buClr>
                <a:srgbClr val="FF0000"/>
              </a:buClr>
              <a:buFont typeface="Wingdings" panose="05000000000000000000" pitchFamily="2" charset="2"/>
              <a:buChar char="n"/>
            </a:pPr>
            <a:r>
              <a:rPr lang="zh-CN" altLang="en-US" sz="2400" dirty="0">
                <a:solidFill>
                  <a:srgbClr val="000099"/>
                </a:solidFill>
                <a:latin typeface="黑体" panose="02010609060101010101" pitchFamily="49" charset="-122"/>
                <a:ea typeface="黑体" panose="02010609060101010101" pitchFamily="49" charset="-122"/>
              </a:rPr>
              <a:t>整体</a:t>
            </a:r>
            <a:r>
              <a:rPr lang="zh-CN" altLang="en-US" sz="2400" dirty="0" smtClean="0">
                <a:solidFill>
                  <a:srgbClr val="000099"/>
                </a:solidFill>
                <a:latin typeface="黑体" panose="02010609060101010101" pitchFamily="49" charset="-122"/>
                <a:ea typeface="黑体" panose="02010609060101010101" pitchFamily="49" charset="-122"/>
              </a:rPr>
              <a:t>断裂</a:t>
            </a:r>
            <a:endParaRPr lang="en-US" altLang="zh-CN" sz="2400" dirty="0" smtClean="0">
              <a:solidFill>
                <a:srgbClr val="000099"/>
              </a:solidFill>
              <a:latin typeface="黑体" panose="02010609060101010101" pitchFamily="49" charset="-122"/>
              <a:ea typeface="黑体" panose="02010609060101010101" pitchFamily="49" charset="-122"/>
            </a:endParaRPr>
          </a:p>
          <a:p>
            <a:pPr marL="342900" indent="-342900">
              <a:lnSpc>
                <a:spcPct val="150000"/>
              </a:lnSpc>
              <a:spcBef>
                <a:spcPts val="0"/>
              </a:spcBef>
              <a:spcAft>
                <a:spcPts val="0"/>
              </a:spcAft>
              <a:buClr>
                <a:srgbClr val="FF0000"/>
              </a:buClr>
              <a:buFont typeface="Wingdings" panose="05000000000000000000" pitchFamily="2" charset="2"/>
              <a:buChar char="n"/>
            </a:pPr>
            <a:r>
              <a:rPr lang="zh-CN" altLang="en-US" sz="2400" dirty="0" smtClean="0">
                <a:solidFill>
                  <a:srgbClr val="000099"/>
                </a:solidFill>
                <a:latin typeface="黑体" panose="02010609060101010101" pitchFamily="49" charset="-122"/>
                <a:ea typeface="黑体" panose="02010609060101010101" pitchFamily="49" charset="-122"/>
              </a:rPr>
              <a:t>过</a:t>
            </a:r>
            <a:r>
              <a:rPr lang="zh-CN" altLang="en-US" sz="2400" dirty="0">
                <a:solidFill>
                  <a:srgbClr val="000099"/>
                </a:solidFill>
                <a:latin typeface="黑体" panose="02010609060101010101" pitchFamily="49" charset="-122"/>
                <a:ea typeface="黑体" panose="02010609060101010101" pitchFamily="49" charset="-122"/>
              </a:rPr>
              <a:t>大的残余变形</a:t>
            </a:r>
            <a:endParaRPr lang="en-US" altLang="zh-CN" sz="2400" dirty="0" smtClean="0">
              <a:solidFill>
                <a:srgbClr val="000099"/>
              </a:solidFill>
              <a:latin typeface="黑体" panose="02010609060101010101" pitchFamily="49" charset="-122"/>
              <a:ea typeface="黑体" panose="02010609060101010101" pitchFamily="49" charset="-122"/>
            </a:endParaRPr>
          </a:p>
          <a:p>
            <a:pPr marL="342900" indent="-342900">
              <a:lnSpc>
                <a:spcPct val="150000"/>
              </a:lnSpc>
              <a:spcBef>
                <a:spcPts val="0"/>
              </a:spcBef>
              <a:spcAft>
                <a:spcPts val="0"/>
              </a:spcAft>
              <a:buClr>
                <a:srgbClr val="FF0000"/>
              </a:buClr>
              <a:buFont typeface="Wingdings" panose="05000000000000000000" pitchFamily="2" charset="2"/>
              <a:buChar char="n"/>
            </a:pPr>
            <a:r>
              <a:rPr lang="zh-CN" altLang="en-US" sz="2400" dirty="0" smtClean="0">
                <a:solidFill>
                  <a:srgbClr val="000099"/>
                </a:solidFill>
                <a:latin typeface="黑体" panose="02010609060101010101" pitchFamily="49" charset="-122"/>
                <a:ea typeface="黑体" panose="02010609060101010101" pitchFamily="49" charset="-122"/>
              </a:rPr>
              <a:t>零件</a:t>
            </a:r>
            <a:r>
              <a:rPr lang="zh-CN" altLang="en-US" sz="2400" dirty="0">
                <a:solidFill>
                  <a:srgbClr val="000099"/>
                </a:solidFill>
                <a:latin typeface="黑体" panose="02010609060101010101" pitchFamily="49" charset="-122"/>
                <a:ea typeface="黑体" panose="02010609060101010101" pitchFamily="49" charset="-122"/>
              </a:rPr>
              <a:t>的表面</a:t>
            </a:r>
            <a:r>
              <a:rPr lang="zh-CN" altLang="en-US" sz="2400" dirty="0" smtClean="0">
                <a:solidFill>
                  <a:srgbClr val="000099"/>
                </a:solidFill>
                <a:latin typeface="黑体" panose="02010609060101010101" pitchFamily="49" charset="-122"/>
                <a:ea typeface="黑体" panose="02010609060101010101" pitchFamily="49" charset="-122"/>
              </a:rPr>
              <a:t>破坏</a:t>
            </a:r>
            <a:endParaRPr lang="en-US" altLang="zh-CN" sz="2400" dirty="0" smtClean="0">
              <a:solidFill>
                <a:srgbClr val="000099"/>
              </a:solidFill>
              <a:latin typeface="黑体" panose="02010609060101010101" pitchFamily="49" charset="-122"/>
              <a:ea typeface="黑体" panose="02010609060101010101" pitchFamily="49" charset="-122"/>
            </a:endParaRPr>
          </a:p>
          <a:p>
            <a:pPr marL="342900" indent="-342900">
              <a:lnSpc>
                <a:spcPct val="150000"/>
              </a:lnSpc>
              <a:spcBef>
                <a:spcPts val="0"/>
              </a:spcBef>
              <a:buClr>
                <a:srgbClr val="FF0000"/>
              </a:buClr>
              <a:buFont typeface="Wingdings" panose="05000000000000000000" pitchFamily="2" charset="2"/>
              <a:buChar char="n"/>
            </a:pPr>
            <a:r>
              <a:rPr lang="zh-CN" altLang="en-US" sz="2400" dirty="0" smtClean="0">
                <a:solidFill>
                  <a:srgbClr val="000099"/>
                </a:solidFill>
                <a:latin typeface="黑体" panose="02010609060101010101" pitchFamily="49" charset="-122"/>
                <a:ea typeface="黑体" panose="02010609060101010101" pitchFamily="49" charset="-122"/>
              </a:rPr>
              <a:t>破坏</a:t>
            </a:r>
            <a:r>
              <a:rPr lang="zh-CN" altLang="en-US" sz="2400" dirty="0">
                <a:solidFill>
                  <a:srgbClr val="000099"/>
                </a:solidFill>
                <a:latin typeface="黑体" panose="02010609060101010101" pitchFamily="49" charset="-122"/>
                <a:ea typeface="黑体" panose="02010609060101010101" pitchFamily="49" charset="-122"/>
              </a:rPr>
              <a:t>正常工作条件引起的</a:t>
            </a:r>
            <a:r>
              <a:rPr lang="zh-CN" altLang="en-US" sz="2400" dirty="0" smtClean="0">
                <a:solidFill>
                  <a:srgbClr val="000099"/>
                </a:solidFill>
                <a:latin typeface="黑体" panose="02010609060101010101" pitchFamily="49" charset="-122"/>
                <a:ea typeface="黑体" panose="02010609060101010101" pitchFamily="49" charset="-122"/>
              </a:rPr>
              <a:t>失效</a:t>
            </a:r>
            <a:endParaRPr lang="zh-CN" altLang="en-US" sz="2400" dirty="0">
              <a:solidFill>
                <a:srgbClr val="000099"/>
              </a:solidFill>
              <a:latin typeface="黑体" panose="02010609060101010101" pitchFamily="49" charset="-122"/>
              <a:ea typeface="黑体" panose="02010609060101010101" pitchFamily="49" charset="-122"/>
            </a:endParaRPr>
          </a:p>
        </p:txBody>
      </p:sp>
      <p:sp>
        <p:nvSpPr>
          <p:cNvPr id="6" name="矩形 5"/>
          <p:cNvSpPr/>
          <p:nvPr/>
        </p:nvSpPr>
        <p:spPr>
          <a:xfrm>
            <a:off x="817931" y="2793080"/>
            <a:ext cx="4185761" cy="646331"/>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p:spPr>
        <p:txBody>
          <a:bodyPr wrap="none">
            <a:spAutoFit/>
          </a:bodyPr>
          <a:lstStyle/>
          <a:p>
            <a:pPr eaLnBrk="1" hangingPunct="1">
              <a:lnSpc>
                <a:spcPct val="150000"/>
              </a:lnSpc>
            </a:pPr>
            <a:r>
              <a:rPr lang="zh-CN" altLang="en-US" sz="2400" dirty="0">
                <a:solidFill>
                  <a:srgbClr val="002060"/>
                </a:solidFill>
                <a:ea typeface="黑体" panose="02010609060101010101" pitchFamily="49" charset="-122"/>
              </a:rPr>
              <a:t>机械零件</a:t>
            </a:r>
            <a:r>
              <a:rPr lang="zh-CN" altLang="en-US" sz="2400" dirty="0" smtClean="0">
                <a:solidFill>
                  <a:srgbClr val="002060"/>
                </a:solidFill>
                <a:ea typeface="黑体" panose="02010609060101010101" pitchFamily="49" charset="-122"/>
              </a:rPr>
              <a:t>主要的失效</a:t>
            </a:r>
            <a:r>
              <a:rPr lang="zh-CN" altLang="en-US" sz="2400" dirty="0">
                <a:solidFill>
                  <a:srgbClr val="002060"/>
                </a:solidFill>
                <a:ea typeface="黑体" panose="02010609060101010101" pitchFamily="49" charset="-122"/>
              </a:rPr>
              <a:t>形式有：</a:t>
            </a:r>
            <a:endParaRPr lang="zh-CN" altLang="en-US" sz="2400" dirty="0">
              <a:solidFill>
                <a:srgbClr val="00206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iterate type="lt">
                                    <p:tmPct val="100000"/>
                                  </p:iterate>
                                  <p:childTnLst>
                                    <p:set>
                                      <p:cBhvr>
                                        <p:cTn id="6" dur="1" fill="hold">
                                          <p:stCondLst>
                                            <p:cond delay="0"/>
                                          </p:stCondLst>
                                        </p:cTn>
                                        <p:tgtEl>
                                          <p:spTgt spid="4"/>
                                        </p:tgtEl>
                                        <p:attrNameLst>
                                          <p:attrName>style.visibility</p:attrName>
                                        </p:attrNameLst>
                                      </p:cBhvr>
                                      <p:to>
                                        <p:strVal val="visible"/>
                                      </p:to>
                                    </p:set>
                                    <p:animEffect transition="in" filter="slide(fromBottom)">
                                      <p:cBhvr>
                                        <p:cTn id="7" dur="75"/>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up)">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2" grpId="0"/>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noChangeArrowheads="1"/>
          </p:cNvSpPr>
          <p:nvPr>
            <p:ph type="title"/>
          </p:nvPr>
        </p:nvSpPr>
        <p:spPr bwMode="auto">
          <a:xfrm>
            <a:off x="5715000" y="685800"/>
            <a:ext cx="1676400" cy="381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spcAft>
                <a:spcPts val="0"/>
              </a:spcAft>
            </a:pPr>
            <a:r>
              <a:rPr lang="zh-CN" altLang="en-US" sz="800" smtClean="0">
                <a:solidFill>
                  <a:schemeClr val="bg1"/>
                </a:solidFill>
                <a:latin typeface="楷体_GB2312" pitchFamily="49" charset="-122"/>
                <a:ea typeface="楷体_GB2312" pitchFamily="49" charset="-122"/>
              </a:rPr>
              <a:t>机械零件的主要失效形式</a:t>
            </a:r>
            <a:r>
              <a:rPr lang="en-US" altLang="zh-CN" sz="800" smtClean="0">
                <a:solidFill>
                  <a:schemeClr val="bg1"/>
                </a:solidFill>
                <a:latin typeface="楷体_GB2312" pitchFamily="49" charset="-122"/>
                <a:ea typeface="楷体_GB2312" pitchFamily="49" charset="-122"/>
              </a:rPr>
              <a:t>1</a:t>
            </a:r>
            <a:endParaRPr lang="en-US" altLang="zh-CN" sz="800" smtClean="0">
              <a:solidFill>
                <a:schemeClr val="bg1"/>
              </a:solidFill>
              <a:latin typeface="楷体_GB2312" pitchFamily="49" charset="-122"/>
              <a:ea typeface="楷体_GB2312" pitchFamily="49" charset="-122"/>
            </a:endParaRPr>
          </a:p>
        </p:txBody>
      </p:sp>
      <p:sp>
        <p:nvSpPr>
          <p:cNvPr id="9218" name="Rectangle 4"/>
          <p:cNvSpPr>
            <a:spLocks noChangeArrowheads="1"/>
          </p:cNvSpPr>
          <p:nvPr/>
        </p:nvSpPr>
        <p:spPr bwMode="auto">
          <a:xfrm>
            <a:off x="2520950" y="304800"/>
            <a:ext cx="5937250" cy="427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p>
            <a:pPr>
              <a:spcAft>
                <a:spcPts val="0"/>
              </a:spcAft>
            </a:pPr>
            <a:r>
              <a:rPr lang="en-US" altLang="zh-CN" sz="3000" dirty="0" smtClean="0">
                <a:solidFill>
                  <a:srgbClr val="CC0000"/>
                </a:solidFill>
                <a:latin typeface="黑体" panose="02010609060101010101" pitchFamily="49" charset="-122"/>
                <a:ea typeface="黑体" panose="02010609060101010101" pitchFamily="49" charset="-122"/>
              </a:rPr>
              <a:t>1.2-4 </a:t>
            </a:r>
            <a:r>
              <a:rPr lang="zh-CN" altLang="en-US" sz="3000" dirty="0">
                <a:solidFill>
                  <a:srgbClr val="CC0000"/>
                </a:solidFill>
                <a:latin typeface="黑体" panose="02010609060101010101" pitchFamily="49" charset="-122"/>
                <a:ea typeface="黑体" panose="02010609060101010101" pitchFamily="49" charset="-122"/>
              </a:rPr>
              <a:t>机械零件的主要失效形式</a:t>
            </a:r>
            <a:endParaRPr lang="zh-CN" altLang="en-US" sz="3000" dirty="0">
              <a:solidFill>
                <a:srgbClr val="CC0000"/>
              </a:solidFill>
              <a:latin typeface="黑体" panose="02010609060101010101" pitchFamily="49" charset="-122"/>
              <a:ea typeface="黑体" panose="02010609060101010101" pitchFamily="49" charset="-122"/>
            </a:endParaRPr>
          </a:p>
        </p:txBody>
      </p:sp>
      <p:sp>
        <p:nvSpPr>
          <p:cNvPr id="69637" name="Rectangle 5"/>
          <p:cNvSpPr>
            <a:spLocks noChangeArrowheads="1"/>
          </p:cNvSpPr>
          <p:nvPr/>
        </p:nvSpPr>
        <p:spPr bwMode="auto">
          <a:xfrm>
            <a:off x="381000" y="982601"/>
            <a:ext cx="8763000"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0000"/>
              </a:lnSpc>
            </a:pPr>
            <a:r>
              <a:rPr lang="zh-CN" altLang="en-US" dirty="0">
                <a:solidFill>
                  <a:srgbClr val="000099"/>
                </a:solidFill>
                <a:latin typeface="华文中宋" panose="02010600040101010101" pitchFamily="2" charset="-122"/>
              </a:rPr>
              <a:t>　　</a:t>
            </a:r>
            <a:endParaRPr lang="zh-CN" altLang="en-US" dirty="0">
              <a:solidFill>
                <a:srgbClr val="000099"/>
              </a:solidFill>
              <a:latin typeface="华文中宋" panose="02010600040101010101" pitchFamily="2" charset="-122"/>
            </a:endParaRPr>
          </a:p>
        </p:txBody>
      </p:sp>
      <p:sp>
        <p:nvSpPr>
          <p:cNvPr id="69641" name="Text Box 9"/>
          <p:cNvSpPr txBox="1">
            <a:spLocks noChangeArrowheads="1"/>
          </p:cNvSpPr>
          <p:nvPr/>
        </p:nvSpPr>
        <p:spPr bwMode="auto">
          <a:xfrm>
            <a:off x="257947" y="968623"/>
            <a:ext cx="3515156"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20000"/>
              </a:lnSpc>
              <a:spcAft>
                <a:spcPts val="0"/>
              </a:spcAft>
            </a:pPr>
            <a:r>
              <a:rPr lang="zh-CN" altLang="en-US" sz="2400" dirty="0">
                <a:solidFill>
                  <a:srgbClr val="FF0000"/>
                </a:solidFill>
                <a:latin typeface="黑体" panose="02010609060101010101" pitchFamily="49" charset="-122"/>
                <a:ea typeface="黑体" panose="02010609060101010101" pitchFamily="49" charset="-122"/>
              </a:rPr>
              <a:t>（一）整体断裂</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69658" name="Text Box 26"/>
          <p:cNvSpPr txBox="1">
            <a:spLocks noChangeArrowheads="1"/>
          </p:cNvSpPr>
          <p:nvPr/>
        </p:nvSpPr>
        <p:spPr bwMode="auto">
          <a:xfrm>
            <a:off x="6677025" y="6183313"/>
            <a:ext cx="271463"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a:t> </a:t>
            </a:r>
            <a:endParaRPr lang="en-US" altLang="zh-CN"/>
          </a:p>
        </p:txBody>
      </p:sp>
      <p:sp>
        <p:nvSpPr>
          <p:cNvPr id="9231"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grpSp>
        <p:nvGrpSpPr>
          <p:cNvPr id="17" name="Group 27"/>
          <p:cNvGrpSpPr/>
          <p:nvPr/>
        </p:nvGrpSpPr>
        <p:grpSpPr bwMode="auto">
          <a:xfrm>
            <a:off x="864877" y="1808569"/>
            <a:ext cx="2592387" cy="2160587"/>
            <a:chOff x="431" y="1531"/>
            <a:chExt cx="1633" cy="1361"/>
          </a:xfrm>
        </p:grpSpPr>
        <p:pic>
          <p:nvPicPr>
            <p:cNvPr id="18" name="Picture 22" descr="过载断齿2"/>
            <p:cNvPicPr>
              <a:picLocks noChangeAspect="1" noChangeArrowheads="1"/>
            </p:cNvPicPr>
            <p:nvPr/>
          </p:nvPicPr>
          <p:blipFill>
            <a:blip r:embed="rId1">
              <a:extLst>
                <a:ext uri="{28A0092B-C50C-407E-A947-70E740481C1C}">
                  <a14:useLocalDpi xmlns:a14="http://schemas.microsoft.com/office/drawing/2010/main" val="0"/>
                </a:ext>
              </a:extLst>
            </a:blip>
            <a:srcRect l="6387" t="2362" r="6247" b="6996"/>
            <a:stretch>
              <a:fillRect/>
            </a:stretch>
          </p:blipFill>
          <p:spPr bwMode="auto">
            <a:xfrm>
              <a:off x="431" y="1622"/>
              <a:ext cx="1361" cy="1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 Box 24"/>
            <p:cNvSpPr txBox="1">
              <a:spLocks noChangeArrowheads="1"/>
            </p:cNvSpPr>
            <p:nvPr/>
          </p:nvSpPr>
          <p:spPr bwMode="auto">
            <a:xfrm>
              <a:off x="1474" y="1531"/>
              <a:ext cx="590" cy="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zh-CN" altLang="en-US" sz="1800" b="1" dirty="0">
                  <a:solidFill>
                    <a:srgbClr val="FF3300"/>
                  </a:solidFill>
                </a:rPr>
                <a:t>轮齿整体断裂</a:t>
              </a:r>
              <a:endParaRPr lang="zh-CN" altLang="en-US" sz="1800" b="1" dirty="0">
                <a:solidFill>
                  <a:srgbClr val="FF3300"/>
                </a:solidFill>
              </a:endParaRPr>
            </a:p>
          </p:txBody>
        </p:sp>
        <p:sp>
          <p:nvSpPr>
            <p:cNvPr id="20" name="Line 26"/>
            <p:cNvSpPr>
              <a:spLocks noChangeShapeType="1"/>
            </p:cNvSpPr>
            <p:nvPr/>
          </p:nvSpPr>
          <p:spPr bwMode="auto">
            <a:xfrm flipH="1">
              <a:off x="1202" y="1848"/>
              <a:ext cx="499" cy="453"/>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grpSp>
      <p:grpSp>
        <p:nvGrpSpPr>
          <p:cNvPr id="21" name="Group 30"/>
          <p:cNvGrpSpPr/>
          <p:nvPr/>
        </p:nvGrpSpPr>
        <p:grpSpPr bwMode="auto">
          <a:xfrm>
            <a:off x="4862242" y="1844208"/>
            <a:ext cx="3225800" cy="2233612"/>
            <a:chOff x="2209" y="1712"/>
            <a:chExt cx="2032" cy="1407"/>
          </a:xfrm>
        </p:grpSpPr>
        <p:pic>
          <p:nvPicPr>
            <p:cNvPr id="22" name="Picture 23" descr="疲劳断裂"/>
            <p:cNvPicPr>
              <a:picLocks noChangeAspect="1" noChangeArrowheads="1"/>
            </p:cNvPicPr>
            <p:nvPr/>
          </p:nvPicPr>
          <p:blipFill>
            <a:blip r:embed="rId2">
              <a:lum contrast="12000"/>
              <a:extLst>
                <a:ext uri="{28A0092B-C50C-407E-A947-70E740481C1C}">
                  <a14:useLocalDpi xmlns:a14="http://schemas.microsoft.com/office/drawing/2010/main" val="0"/>
                </a:ext>
              </a:extLst>
            </a:blip>
            <a:srcRect l="5464" t="2766" r="7104" b="10382"/>
            <a:stretch>
              <a:fillRect/>
            </a:stretch>
          </p:blipFill>
          <p:spPr bwMode="auto">
            <a:xfrm>
              <a:off x="2209" y="1758"/>
              <a:ext cx="1397" cy="1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 name="Group 29"/>
            <p:cNvGrpSpPr/>
            <p:nvPr/>
          </p:nvGrpSpPr>
          <p:grpSpPr bwMode="auto">
            <a:xfrm>
              <a:off x="3424" y="1712"/>
              <a:ext cx="817" cy="583"/>
              <a:chOff x="3424" y="1712"/>
              <a:chExt cx="817" cy="583"/>
            </a:xfrm>
          </p:grpSpPr>
          <p:sp>
            <p:nvSpPr>
              <p:cNvPr id="24" name="Text Box 25"/>
              <p:cNvSpPr txBox="1">
                <a:spLocks noChangeArrowheads="1"/>
              </p:cNvSpPr>
              <p:nvPr/>
            </p:nvSpPr>
            <p:spPr bwMode="auto">
              <a:xfrm>
                <a:off x="3651" y="1712"/>
                <a:ext cx="590" cy="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1800" b="1" dirty="0">
                    <a:solidFill>
                      <a:srgbClr val="FF3300"/>
                    </a:solidFill>
                  </a:rPr>
                  <a:t>齿轮轴疲劳断裂</a:t>
                </a:r>
                <a:endParaRPr lang="zh-CN" altLang="en-US" sz="1800" b="1" dirty="0">
                  <a:solidFill>
                    <a:srgbClr val="FF3300"/>
                  </a:solidFill>
                </a:endParaRPr>
              </a:p>
            </p:txBody>
          </p:sp>
          <p:sp>
            <p:nvSpPr>
              <p:cNvPr id="25" name="Line 28"/>
              <p:cNvSpPr>
                <a:spLocks noChangeShapeType="1"/>
              </p:cNvSpPr>
              <p:nvPr/>
            </p:nvSpPr>
            <p:spPr bwMode="auto">
              <a:xfrm flipH="1">
                <a:off x="3424" y="1894"/>
                <a:ext cx="182" cy="272"/>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grpSp>
      </p:grpSp>
      <p:sp>
        <p:nvSpPr>
          <p:cNvPr id="26" name="Text Box 7"/>
          <p:cNvSpPr txBox="1">
            <a:spLocks noChangeArrowheads="1"/>
          </p:cNvSpPr>
          <p:nvPr/>
        </p:nvSpPr>
        <p:spPr bwMode="auto">
          <a:xfrm>
            <a:off x="753260" y="4396928"/>
            <a:ext cx="2665412" cy="157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fontAlgn="ctr" hangingPunct="1">
              <a:spcBef>
                <a:spcPct val="50000"/>
              </a:spcBef>
              <a:spcAft>
                <a:spcPts val="0"/>
              </a:spcAft>
              <a:buFontTx/>
              <a:buNone/>
            </a:pPr>
            <a:r>
              <a:rPr lang="en-US" altLang="zh-CN" sz="2400" dirty="0">
                <a:solidFill>
                  <a:srgbClr val="0000FF"/>
                </a:solidFill>
                <a:latin typeface="黑体" panose="02010609060101010101" pitchFamily="49" charset="-122"/>
                <a:ea typeface="黑体" panose="02010609060101010101" pitchFamily="49" charset="-122"/>
              </a:rPr>
              <a:t>(1)</a:t>
            </a:r>
            <a:r>
              <a:rPr lang="zh-CN" altLang="en-US" sz="2400" dirty="0">
                <a:solidFill>
                  <a:srgbClr val="0000FF"/>
                </a:solidFill>
                <a:latin typeface="黑体" panose="02010609060101010101" pitchFamily="49" charset="-122"/>
                <a:ea typeface="黑体" panose="02010609060101010101" pitchFamily="49" charset="-122"/>
              </a:rPr>
              <a:t>过载断裂</a:t>
            </a:r>
            <a:endParaRPr lang="en-US" altLang="zh-CN" sz="2400" dirty="0">
              <a:solidFill>
                <a:srgbClr val="0000FF"/>
              </a:solidFill>
              <a:latin typeface="黑体" panose="02010609060101010101" pitchFamily="49" charset="-122"/>
              <a:ea typeface="黑体" panose="02010609060101010101" pitchFamily="49" charset="-122"/>
            </a:endParaRPr>
          </a:p>
          <a:p>
            <a:pPr eaLnBrk="1" fontAlgn="ctr" hangingPunct="1">
              <a:spcBef>
                <a:spcPts val="50"/>
              </a:spcBef>
              <a:buFontTx/>
              <a:buNone/>
            </a:pPr>
            <a:r>
              <a:rPr lang="zh-CN" altLang="en-US" sz="2400" dirty="0">
                <a:latin typeface="黑体" panose="02010609060101010101" pitchFamily="49" charset="-122"/>
                <a:ea typeface="黑体" panose="02010609060101010101" pitchFamily="49" charset="-122"/>
              </a:rPr>
              <a:t>零件上作用（非正常）过大载荷，导致零件整体断裂；</a:t>
            </a:r>
            <a:endParaRPr lang="zh-CN" altLang="en-US" sz="2400" dirty="0">
              <a:latin typeface="黑体" panose="02010609060101010101" pitchFamily="49" charset="-122"/>
              <a:ea typeface="黑体" panose="02010609060101010101" pitchFamily="49" charset="-122"/>
            </a:endParaRPr>
          </a:p>
        </p:txBody>
      </p:sp>
      <p:sp>
        <p:nvSpPr>
          <p:cNvPr id="27" name="Text Box 7"/>
          <p:cNvSpPr txBox="1">
            <a:spLocks noChangeArrowheads="1"/>
          </p:cNvSpPr>
          <p:nvPr/>
        </p:nvSpPr>
        <p:spPr bwMode="auto">
          <a:xfrm>
            <a:off x="4974789" y="4462780"/>
            <a:ext cx="2665413" cy="157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fontAlgn="ctr" hangingPunct="1">
              <a:spcBef>
                <a:spcPct val="50000"/>
              </a:spcBef>
              <a:spcAft>
                <a:spcPts val="0"/>
              </a:spcAft>
              <a:buFontTx/>
              <a:buNone/>
            </a:pPr>
            <a:r>
              <a:rPr lang="en-US" altLang="zh-CN" sz="2400" dirty="0">
                <a:latin typeface="黑体" panose="02010609060101010101" pitchFamily="49" charset="-122"/>
                <a:ea typeface="黑体" panose="02010609060101010101" pitchFamily="49" charset="-122"/>
              </a:rPr>
              <a:t>(</a:t>
            </a:r>
            <a:r>
              <a:rPr lang="en-US" altLang="zh-CN" sz="2400" dirty="0">
                <a:solidFill>
                  <a:srgbClr val="0000FF"/>
                </a:solidFill>
                <a:latin typeface="黑体" panose="02010609060101010101" pitchFamily="49" charset="-122"/>
                <a:ea typeface="黑体" panose="02010609060101010101" pitchFamily="49" charset="-122"/>
              </a:rPr>
              <a:t>2) </a:t>
            </a:r>
            <a:r>
              <a:rPr lang="zh-CN" altLang="en-US" sz="2400" dirty="0">
                <a:solidFill>
                  <a:srgbClr val="0000FF"/>
                </a:solidFill>
                <a:latin typeface="黑体" panose="02010609060101010101" pitchFamily="49" charset="-122"/>
                <a:ea typeface="黑体" panose="02010609060101010101" pitchFamily="49" charset="-122"/>
              </a:rPr>
              <a:t>疲劳断裂</a:t>
            </a:r>
            <a:endParaRPr lang="zh-CN" altLang="en-US" sz="2400" dirty="0">
              <a:solidFill>
                <a:srgbClr val="0000FF"/>
              </a:solidFill>
              <a:latin typeface="黑体" panose="02010609060101010101" pitchFamily="49" charset="-122"/>
              <a:ea typeface="黑体" panose="02010609060101010101" pitchFamily="49" charset="-122"/>
            </a:endParaRPr>
          </a:p>
          <a:p>
            <a:pPr eaLnBrk="1" fontAlgn="ctr" hangingPunct="1">
              <a:spcBef>
                <a:spcPts val="50"/>
              </a:spcBef>
              <a:buFontTx/>
              <a:buNone/>
            </a:pPr>
            <a:r>
              <a:rPr lang="zh-CN" altLang="en-US" sz="2400" dirty="0" smtClean="0">
                <a:latin typeface="黑体" panose="02010609060101010101" pitchFamily="49" charset="-122"/>
                <a:ea typeface="黑体" panose="02010609060101010101" pitchFamily="49" charset="-122"/>
              </a:rPr>
              <a:t>变</a:t>
            </a:r>
            <a:r>
              <a:rPr lang="zh-CN" altLang="en-US" sz="2400" dirty="0">
                <a:latin typeface="黑体" panose="02010609060101010101" pitchFamily="49" charset="-122"/>
                <a:ea typeface="黑体" panose="02010609060101010101" pitchFamily="49" charset="-122"/>
              </a:rPr>
              <a:t>应力反复作用，导致疲劳裂纹生成、扩展、断裂。</a:t>
            </a:r>
            <a:endParaRPr lang="zh-CN" altLang="en-US" sz="2400" dirty="0">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9641"/>
                                        </p:tgtEl>
                                        <p:attrNameLst>
                                          <p:attrName>style.visibility</p:attrName>
                                        </p:attrNameLst>
                                      </p:cBhvr>
                                      <p:to>
                                        <p:strVal val="visible"/>
                                      </p:to>
                                    </p:set>
                                    <p:animEffect transition="in" filter="wipe(left)">
                                      <p:cBhvr>
                                        <p:cTn id="7" dur="500"/>
                                        <p:tgtEl>
                                          <p:spTgt spid="696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up)">
                                      <p:cBhvr>
                                        <p:cTn id="12" dur="500"/>
                                        <p:tgtEl>
                                          <p:spTgt spid="17"/>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wipe(up)">
                                      <p:cBhvr>
                                        <p:cTn id="15" dur="500"/>
                                        <p:tgtEl>
                                          <p:spTgt spid="26"/>
                                        </p:tgtEl>
                                      </p:cBhvr>
                                    </p:animEffect>
                                  </p:childTnLst>
                                </p:cTn>
                              </p:par>
                            </p:childTnLst>
                          </p:cTn>
                        </p:par>
                        <p:par>
                          <p:cTn id="16" fill="hold">
                            <p:stCondLst>
                              <p:cond delay="500"/>
                            </p:stCondLst>
                            <p:childTnLst>
                              <p:par>
                                <p:cTn id="17" presetID="22" presetClass="entr" presetSubtype="8" fill="hold" grpId="0" nodeType="afterEffect">
                                  <p:stCondLst>
                                    <p:cond delay="0"/>
                                  </p:stCondLst>
                                  <p:childTnLst>
                                    <p:set>
                                      <p:cBhvr>
                                        <p:cTn id="18" dur="1" fill="hold">
                                          <p:stCondLst>
                                            <p:cond delay="0"/>
                                          </p:stCondLst>
                                        </p:cTn>
                                        <p:tgtEl>
                                          <p:spTgt spid="69637"/>
                                        </p:tgtEl>
                                        <p:attrNameLst>
                                          <p:attrName>style.visibility</p:attrName>
                                        </p:attrNameLst>
                                      </p:cBhvr>
                                      <p:to>
                                        <p:strVal val="visible"/>
                                      </p:to>
                                    </p:set>
                                    <p:animEffect transition="in" filter="wipe(left)">
                                      <p:cBhvr>
                                        <p:cTn id="19" dur="500"/>
                                        <p:tgtEl>
                                          <p:spTgt spid="6963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wipe(up)">
                                      <p:cBhvr>
                                        <p:cTn id="24" dur="500"/>
                                        <p:tgtEl>
                                          <p:spTgt spid="21"/>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wipe(up)">
                                      <p:cBhvr>
                                        <p:cTn id="27" dur="5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69658"/>
                                        </p:tgtEl>
                                        <p:attrNameLst>
                                          <p:attrName>style.visibility</p:attrName>
                                        </p:attrNameLst>
                                      </p:cBhvr>
                                      <p:to>
                                        <p:strVal val="visible"/>
                                      </p:to>
                                    </p:set>
                                    <p:anim calcmode="lin" valueType="num">
                                      <p:cBhvr additive="base">
                                        <p:cTn id="32" dur="500" fill="hold"/>
                                        <p:tgtEl>
                                          <p:spTgt spid="69658"/>
                                        </p:tgtEl>
                                        <p:attrNameLst>
                                          <p:attrName>ppt_x</p:attrName>
                                        </p:attrNameLst>
                                      </p:cBhvr>
                                      <p:tavLst>
                                        <p:tav tm="0">
                                          <p:val>
                                            <p:strVal val="0-#ppt_w/2"/>
                                          </p:val>
                                        </p:tav>
                                        <p:tav tm="100000">
                                          <p:val>
                                            <p:strVal val="#ppt_x"/>
                                          </p:val>
                                        </p:tav>
                                      </p:tavLst>
                                    </p:anim>
                                    <p:anim calcmode="lin" valueType="num">
                                      <p:cBhvr additive="base">
                                        <p:cTn id="33" dur="500" fill="hold"/>
                                        <p:tgtEl>
                                          <p:spTgt spid="6965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7" grpId="0"/>
      <p:bldP spid="69641" grpId="0"/>
      <p:bldP spid="69658" grpId="0"/>
      <p:bldP spid="26" grpId="0"/>
      <p:bldP spid="2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ChangeArrowheads="1"/>
          </p:cNvSpPr>
          <p:nvPr>
            <p:ph type="title" idx="4294967295"/>
          </p:nvPr>
        </p:nvSpPr>
        <p:spPr bwMode="auto">
          <a:xfrm>
            <a:off x="7467600" y="685800"/>
            <a:ext cx="16764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Aft>
                <a:spcPts val="0"/>
              </a:spcAft>
            </a:pPr>
            <a:r>
              <a:rPr lang="zh-CN" altLang="en-US" sz="800" smtClean="0">
                <a:solidFill>
                  <a:schemeClr val="bg1"/>
                </a:solidFill>
                <a:latin typeface="楷体_GB2312" pitchFamily="49" charset="-122"/>
                <a:ea typeface="楷体_GB2312" pitchFamily="49" charset="-122"/>
              </a:rPr>
              <a:t>机械零件的主要失效形式</a:t>
            </a:r>
            <a:r>
              <a:rPr lang="en-US" altLang="zh-CN" sz="800" smtClean="0">
                <a:solidFill>
                  <a:schemeClr val="bg1"/>
                </a:solidFill>
                <a:latin typeface="楷体_GB2312" pitchFamily="49" charset="-122"/>
                <a:ea typeface="楷体_GB2312" pitchFamily="49" charset="-122"/>
              </a:rPr>
              <a:t>2</a:t>
            </a:r>
            <a:endParaRPr lang="en-US" altLang="zh-CN" sz="800" smtClean="0">
              <a:solidFill>
                <a:schemeClr val="bg1"/>
              </a:solidFill>
              <a:latin typeface="楷体_GB2312" pitchFamily="49" charset="-122"/>
              <a:ea typeface="楷体_GB2312" pitchFamily="49" charset="-122"/>
            </a:endParaRPr>
          </a:p>
        </p:txBody>
      </p:sp>
      <p:sp>
        <p:nvSpPr>
          <p:cNvPr id="10242" name="Rectangle 3"/>
          <p:cNvSpPr>
            <a:spLocks noChangeArrowheads="1"/>
          </p:cNvSpPr>
          <p:nvPr/>
        </p:nvSpPr>
        <p:spPr bwMode="auto">
          <a:xfrm>
            <a:off x="2336800" y="304800"/>
            <a:ext cx="61214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p>
            <a:pPr>
              <a:spcAft>
                <a:spcPts val="0"/>
              </a:spcAft>
            </a:pPr>
            <a:r>
              <a:rPr lang="en-US" altLang="zh-CN" sz="3000">
                <a:solidFill>
                  <a:srgbClr val="CC0000"/>
                </a:solidFill>
                <a:latin typeface="黑体" panose="02010609060101010101" pitchFamily="49" charset="-122"/>
                <a:ea typeface="黑体" panose="02010609060101010101" pitchFamily="49" charset="-122"/>
              </a:rPr>
              <a:t>§1.2-4 </a:t>
            </a:r>
            <a:r>
              <a:rPr lang="zh-CN" altLang="en-US" sz="3000">
                <a:solidFill>
                  <a:srgbClr val="CC0000"/>
                </a:solidFill>
                <a:latin typeface="黑体" panose="02010609060101010101" pitchFamily="49" charset="-122"/>
                <a:ea typeface="黑体" panose="02010609060101010101" pitchFamily="49" charset="-122"/>
              </a:rPr>
              <a:t>机械零件的主要失效形式</a:t>
            </a:r>
            <a:endParaRPr lang="zh-CN" altLang="en-US" sz="3000">
              <a:solidFill>
                <a:srgbClr val="CC0000"/>
              </a:solidFill>
              <a:latin typeface="黑体" panose="02010609060101010101" pitchFamily="49" charset="-122"/>
              <a:ea typeface="黑体" panose="02010609060101010101" pitchFamily="49" charset="-122"/>
            </a:endParaRPr>
          </a:p>
        </p:txBody>
      </p:sp>
      <p:sp>
        <p:nvSpPr>
          <p:cNvPr id="78855" name="Text Box 7"/>
          <p:cNvSpPr txBox="1">
            <a:spLocks noChangeArrowheads="1"/>
          </p:cNvSpPr>
          <p:nvPr/>
        </p:nvSpPr>
        <p:spPr bwMode="auto">
          <a:xfrm>
            <a:off x="441325" y="893763"/>
            <a:ext cx="2976880" cy="497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20000"/>
              </a:lnSpc>
              <a:spcAft>
                <a:spcPts val="0"/>
              </a:spcAft>
            </a:pPr>
            <a:r>
              <a:rPr lang="zh-CN" altLang="en-US" dirty="0">
                <a:solidFill>
                  <a:srgbClr val="FF0000"/>
                </a:solidFill>
                <a:latin typeface="黑体" panose="02010609060101010101" pitchFamily="49" charset="-122"/>
                <a:ea typeface="黑体" panose="02010609060101010101" pitchFamily="49" charset="-122"/>
              </a:rPr>
              <a:t>（二）过大的残余变形</a:t>
            </a:r>
            <a:endParaRPr lang="zh-CN" altLang="en-US" dirty="0">
              <a:solidFill>
                <a:srgbClr val="FF0000"/>
              </a:solidFill>
              <a:latin typeface="黑体" panose="02010609060101010101" pitchFamily="49" charset="-122"/>
              <a:ea typeface="黑体" panose="02010609060101010101" pitchFamily="49" charset="-122"/>
            </a:endParaRPr>
          </a:p>
        </p:txBody>
      </p:sp>
      <p:sp>
        <p:nvSpPr>
          <p:cNvPr id="78856" name="Text Box 8"/>
          <p:cNvSpPr txBox="1">
            <a:spLocks noChangeArrowheads="1"/>
          </p:cNvSpPr>
          <p:nvPr/>
        </p:nvSpPr>
        <p:spPr bwMode="auto">
          <a:xfrm>
            <a:off x="609600" y="1350963"/>
            <a:ext cx="8534400" cy="902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spcAft>
                <a:spcPts val="0"/>
              </a:spcAft>
            </a:pPr>
            <a:r>
              <a:rPr lang="en-US" altLang="zh-CN" dirty="0">
                <a:solidFill>
                  <a:srgbClr val="000099"/>
                </a:solidFill>
              </a:rPr>
              <a:t>      </a:t>
            </a:r>
            <a:r>
              <a:rPr lang="zh-CN" altLang="en-US" dirty="0">
                <a:solidFill>
                  <a:srgbClr val="000099"/>
                </a:solidFill>
              </a:rPr>
              <a:t>当作用于零件上的应力超过了材料的屈服强度，零件将产生残余变形。</a:t>
            </a:r>
            <a:endParaRPr lang="zh-CN" altLang="en-US" dirty="0">
              <a:solidFill>
                <a:srgbClr val="000099"/>
              </a:solidFill>
            </a:endParaRPr>
          </a:p>
        </p:txBody>
      </p:sp>
      <p:sp>
        <p:nvSpPr>
          <p:cNvPr id="78864" name="Text Box 16"/>
          <p:cNvSpPr txBox="1">
            <a:spLocks noChangeArrowheads="1"/>
          </p:cNvSpPr>
          <p:nvPr/>
        </p:nvSpPr>
        <p:spPr bwMode="auto">
          <a:xfrm>
            <a:off x="5495925" y="6284913"/>
            <a:ext cx="271463"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a:t> </a:t>
            </a:r>
            <a:endParaRPr lang="en-US" altLang="zh-CN"/>
          </a:p>
        </p:txBody>
      </p:sp>
      <p:sp>
        <p:nvSpPr>
          <p:cNvPr id="10255"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7" name="Text Box 7"/>
          <p:cNvSpPr txBox="1">
            <a:spLocks noChangeArrowheads="1"/>
          </p:cNvSpPr>
          <p:nvPr/>
        </p:nvSpPr>
        <p:spPr bwMode="auto">
          <a:xfrm>
            <a:off x="1236913" y="4608662"/>
            <a:ext cx="3455988" cy="157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fontAlgn="ctr" hangingPunct="1">
              <a:spcBef>
                <a:spcPct val="50000"/>
              </a:spcBef>
              <a:spcAft>
                <a:spcPts val="0"/>
              </a:spcAft>
              <a:buFontTx/>
              <a:buNone/>
            </a:pPr>
            <a:r>
              <a:rPr lang="en-US" altLang="zh-CN" sz="2000" dirty="0">
                <a:solidFill>
                  <a:srgbClr val="0000FF"/>
                </a:solidFill>
                <a:latin typeface="宋体" panose="02010600030101010101" pitchFamily="2" charset="-122"/>
              </a:rPr>
              <a:t>(</a:t>
            </a:r>
            <a:r>
              <a:rPr lang="en-US" altLang="zh-CN" sz="2400" dirty="0">
                <a:solidFill>
                  <a:srgbClr val="0000FF"/>
                </a:solidFill>
                <a:latin typeface="黑体" panose="02010609060101010101" pitchFamily="49" charset="-122"/>
                <a:ea typeface="黑体" panose="02010609060101010101" pitchFamily="49" charset="-122"/>
              </a:rPr>
              <a:t>1)</a:t>
            </a:r>
            <a:r>
              <a:rPr lang="zh-CN" altLang="en-US" sz="2400" dirty="0">
                <a:solidFill>
                  <a:srgbClr val="0000FF"/>
                </a:solidFill>
                <a:latin typeface="黑体" panose="02010609060101010101" pitchFamily="49" charset="-122"/>
                <a:ea typeface="黑体" panose="02010609060101010101" pitchFamily="49" charset="-122"/>
              </a:rPr>
              <a:t>塑性变形</a:t>
            </a:r>
            <a:endParaRPr lang="en-US" altLang="zh-CN" sz="2400" dirty="0">
              <a:solidFill>
                <a:srgbClr val="0000FF"/>
              </a:solidFill>
              <a:latin typeface="黑体" panose="02010609060101010101" pitchFamily="49" charset="-122"/>
              <a:ea typeface="黑体" panose="02010609060101010101" pitchFamily="49" charset="-122"/>
            </a:endParaRPr>
          </a:p>
          <a:p>
            <a:pPr eaLnBrk="1" fontAlgn="ctr" hangingPunct="1">
              <a:spcBef>
                <a:spcPts val="50"/>
              </a:spcBef>
              <a:buFontTx/>
              <a:buNone/>
            </a:pPr>
            <a:r>
              <a:rPr lang="zh-CN" altLang="en-US" sz="2400" dirty="0">
                <a:latin typeface="黑体" panose="02010609060101010101" pitchFamily="49" charset="-122"/>
                <a:ea typeface="黑体" panose="02010609060101010101" pitchFamily="49" charset="-122"/>
              </a:rPr>
              <a:t>载荷过大导致零件产生塑性变形，精度降低，零件失效；</a:t>
            </a:r>
            <a:endParaRPr lang="zh-CN" altLang="en-US" sz="2400" dirty="0">
              <a:latin typeface="黑体" panose="02010609060101010101" pitchFamily="49" charset="-122"/>
              <a:ea typeface="黑体" panose="02010609060101010101" pitchFamily="49" charset="-122"/>
            </a:endParaRPr>
          </a:p>
        </p:txBody>
      </p:sp>
      <p:pic>
        <p:nvPicPr>
          <p:cNvPr id="18" name="Picture 27" descr="齿体挤压塑变"/>
          <p:cNvPicPr>
            <a:picLocks noChangeAspect="1" noChangeArrowheads="1"/>
          </p:cNvPicPr>
          <p:nvPr/>
        </p:nvPicPr>
        <p:blipFill>
          <a:blip r:embed="rId1">
            <a:extLst>
              <a:ext uri="{28A0092B-C50C-407E-A947-70E740481C1C}">
                <a14:useLocalDpi xmlns:a14="http://schemas.microsoft.com/office/drawing/2010/main" val="0"/>
              </a:ext>
            </a:extLst>
          </a:blip>
          <a:srcRect l="3906" t="12903" r="4207" b="11273"/>
          <a:stretch>
            <a:fillRect/>
          </a:stretch>
        </p:blipFill>
        <p:spPr bwMode="auto">
          <a:xfrm>
            <a:off x="1423854" y="2569026"/>
            <a:ext cx="2160587" cy="183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4" descr="整体塑变"/>
          <p:cNvPicPr>
            <a:picLocks noChangeAspect="1" noChangeArrowheads="1"/>
          </p:cNvPicPr>
          <p:nvPr/>
        </p:nvPicPr>
        <p:blipFill>
          <a:blip r:embed="rId2">
            <a:extLst>
              <a:ext uri="{28A0092B-C50C-407E-A947-70E740481C1C}">
                <a14:useLocalDpi xmlns:a14="http://schemas.microsoft.com/office/drawing/2010/main" val="0"/>
              </a:ext>
            </a:extLst>
          </a:blip>
          <a:srcRect l="10843" t="1418" r="7831" b="56784"/>
          <a:stretch>
            <a:fillRect/>
          </a:stretch>
        </p:blipFill>
        <p:spPr bwMode="auto">
          <a:xfrm>
            <a:off x="5374456" y="2750519"/>
            <a:ext cx="2089150" cy="1922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 name="Group 47"/>
          <p:cNvGrpSpPr/>
          <p:nvPr/>
        </p:nvGrpSpPr>
        <p:grpSpPr bwMode="auto">
          <a:xfrm>
            <a:off x="6634364" y="2001252"/>
            <a:ext cx="1873250" cy="1295400"/>
            <a:chOff x="1202" y="714"/>
            <a:chExt cx="1134" cy="454"/>
          </a:xfrm>
        </p:grpSpPr>
        <p:sp>
          <p:nvSpPr>
            <p:cNvPr id="21" name="Text Box 7">
              <a:hlinkClick r:id="" action="ppaction://noaction"/>
            </p:cNvPr>
            <p:cNvSpPr txBox="1">
              <a:spLocks noChangeArrowheads="1"/>
            </p:cNvSpPr>
            <p:nvPr/>
          </p:nvSpPr>
          <p:spPr bwMode="auto">
            <a:xfrm>
              <a:off x="1837" y="714"/>
              <a:ext cx="499"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fontAlgn="ctr" hangingPunct="1">
                <a:spcBef>
                  <a:spcPct val="50000"/>
                </a:spcBef>
                <a:buFontTx/>
                <a:buNone/>
              </a:pPr>
              <a:r>
                <a:rPr lang="zh-CN" altLang="en-US" sz="2000" b="1" dirty="0">
                  <a:solidFill>
                    <a:srgbClr val="FF3300"/>
                  </a:solidFill>
                  <a:latin typeface="宋体" panose="02010600030101010101" pitchFamily="2" charset="-122"/>
                </a:rPr>
                <a:t>齿体塑变</a:t>
              </a:r>
              <a:endParaRPr lang="zh-CN" altLang="en-US" sz="2000" b="1" dirty="0">
                <a:solidFill>
                  <a:srgbClr val="FF3300"/>
                </a:solidFill>
                <a:latin typeface="宋体" panose="02010600030101010101" pitchFamily="2" charset="-122"/>
              </a:endParaRPr>
            </a:p>
          </p:txBody>
        </p:sp>
        <p:sp>
          <p:nvSpPr>
            <p:cNvPr id="22" name="Line 49"/>
            <p:cNvSpPr>
              <a:spLocks noChangeShapeType="1"/>
            </p:cNvSpPr>
            <p:nvPr/>
          </p:nvSpPr>
          <p:spPr bwMode="auto">
            <a:xfrm flipH="1">
              <a:off x="1202" y="896"/>
              <a:ext cx="635" cy="272"/>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grpSp>
      <p:grpSp>
        <p:nvGrpSpPr>
          <p:cNvPr id="23" name="Group 8"/>
          <p:cNvGrpSpPr/>
          <p:nvPr/>
        </p:nvGrpSpPr>
        <p:grpSpPr bwMode="auto">
          <a:xfrm>
            <a:off x="3313464" y="2336633"/>
            <a:ext cx="1800225" cy="720725"/>
            <a:chOff x="1202" y="714"/>
            <a:chExt cx="1134" cy="454"/>
          </a:xfrm>
        </p:grpSpPr>
        <p:sp>
          <p:nvSpPr>
            <p:cNvPr id="24" name="Text Box 7">
              <a:hlinkClick r:id="" action="ppaction://noaction"/>
            </p:cNvPr>
            <p:cNvSpPr txBox="1">
              <a:spLocks noChangeArrowheads="1"/>
            </p:cNvSpPr>
            <p:nvPr/>
          </p:nvSpPr>
          <p:spPr bwMode="auto">
            <a:xfrm>
              <a:off x="1837" y="714"/>
              <a:ext cx="499"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fontAlgn="ctr" hangingPunct="1">
                <a:spcBef>
                  <a:spcPct val="50000"/>
                </a:spcBef>
                <a:buFontTx/>
                <a:buNone/>
              </a:pPr>
              <a:r>
                <a:rPr lang="zh-CN" altLang="en-US" sz="2000" b="1" dirty="0">
                  <a:solidFill>
                    <a:srgbClr val="FF3300"/>
                  </a:solidFill>
                  <a:latin typeface="宋体" panose="02010600030101010101" pitchFamily="2" charset="-122"/>
                </a:rPr>
                <a:t>齿顶塑变</a:t>
              </a:r>
              <a:endParaRPr lang="zh-CN" altLang="en-US" sz="2000" b="1" dirty="0">
                <a:solidFill>
                  <a:srgbClr val="FF3300"/>
                </a:solidFill>
                <a:latin typeface="宋体" panose="02010600030101010101" pitchFamily="2" charset="-122"/>
              </a:endParaRPr>
            </a:p>
          </p:txBody>
        </p:sp>
        <p:sp>
          <p:nvSpPr>
            <p:cNvPr id="25" name="Line 10"/>
            <p:cNvSpPr>
              <a:spLocks noChangeShapeType="1"/>
            </p:cNvSpPr>
            <p:nvPr/>
          </p:nvSpPr>
          <p:spPr bwMode="auto">
            <a:xfrm flipH="1">
              <a:off x="1202" y="896"/>
              <a:ext cx="635" cy="272"/>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8855"/>
                                        </p:tgtEl>
                                        <p:attrNameLst>
                                          <p:attrName>style.visibility</p:attrName>
                                        </p:attrNameLst>
                                      </p:cBhvr>
                                      <p:to>
                                        <p:strVal val="visible"/>
                                      </p:to>
                                    </p:set>
                                    <p:animEffect transition="in" filter="wipe(left)">
                                      <p:cBhvr>
                                        <p:cTn id="7" dur="500"/>
                                        <p:tgtEl>
                                          <p:spTgt spid="788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8856"/>
                                        </p:tgtEl>
                                        <p:attrNameLst>
                                          <p:attrName>style.visibility</p:attrName>
                                        </p:attrNameLst>
                                      </p:cBhvr>
                                      <p:to>
                                        <p:strVal val="visible"/>
                                      </p:to>
                                    </p:set>
                                    <p:animEffect transition="in" filter="wipe(left)">
                                      <p:cBhvr>
                                        <p:cTn id="12" dur="500"/>
                                        <p:tgtEl>
                                          <p:spTgt spid="7885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78864"/>
                                        </p:tgtEl>
                                        <p:attrNameLst>
                                          <p:attrName>style.visibility</p:attrName>
                                        </p:attrNameLst>
                                      </p:cBhvr>
                                      <p:to>
                                        <p:strVal val="visible"/>
                                      </p:to>
                                    </p:set>
                                    <p:anim calcmode="lin" valueType="num">
                                      <p:cBhvr additive="base">
                                        <p:cTn id="17" dur="500" fill="hold"/>
                                        <p:tgtEl>
                                          <p:spTgt spid="78864"/>
                                        </p:tgtEl>
                                        <p:attrNameLst>
                                          <p:attrName>ppt_x</p:attrName>
                                        </p:attrNameLst>
                                      </p:cBhvr>
                                      <p:tavLst>
                                        <p:tav tm="0">
                                          <p:val>
                                            <p:strVal val="0-#ppt_w/2"/>
                                          </p:val>
                                        </p:tav>
                                        <p:tav tm="100000">
                                          <p:val>
                                            <p:strVal val="#ppt_x"/>
                                          </p:val>
                                        </p:tav>
                                      </p:tavLst>
                                    </p:anim>
                                    <p:anim calcmode="lin" valueType="num">
                                      <p:cBhvr additive="base">
                                        <p:cTn id="18" dur="500" fill="hold"/>
                                        <p:tgtEl>
                                          <p:spTgt spid="78864"/>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ipe(up)">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wipe(left)">
                                      <p:cBhvr>
                                        <p:cTn id="28" dur="500"/>
                                        <p:tgtEl>
                                          <p:spTgt spid="18"/>
                                        </p:tgtEl>
                                      </p:cBhvr>
                                    </p:animEffect>
                                  </p:childTnLst>
                                </p:cTn>
                              </p:par>
                              <p:par>
                                <p:cTn id="29" presetID="22" presetClass="entr" presetSubtype="8"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wipe(left)">
                                      <p:cBhvr>
                                        <p:cTn id="31" dur="500"/>
                                        <p:tgtEl>
                                          <p:spTgt spid="1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wipe(down)">
                                      <p:cBhvr>
                                        <p:cTn id="36" dur="500"/>
                                        <p:tgtEl>
                                          <p:spTgt spid="2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wipe(down)">
                                      <p:cBhvr>
                                        <p:cTn id="4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5" grpId="0"/>
      <p:bldP spid="78856" grpId="0"/>
      <p:bldP spid="78864" grpId="0"/>
      <p:bldP spid="1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ChangeArrowheads="1"/>
          </p:cNvSpPr>
          <p:nvPr>
            <p:ph type="title" idx="4294967295"/>
          </p:nvPr>
        </p:nvSpPr>
        <p:spPr bwMode="auto">
          <a:xfrm>
            <a:off x="7467600" y="685800"/>
            <a:ext cx="16764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Aft>
                <a:spcPts val="0"/>
              </a:spcAft>
            </a:pPr>
            <a:r>
              <a:rPr lang="zh-CN" altLang="en-US" sz="800" smtClean="0">
                <a:solidFill>
                  <a:schemeClr val="bg1"/>
                </a:solidFill>
                <a:latin typeface="楷体_GB2312" pitchFamily="49" charset="-122"/>
                <a:ea typeface="楷体_GB2312" pitchFamily="49" charset="-122"/>
              </a:rPr>
              <a:t>机械零件的主要失效形式</a:t>
            </a:r>
            <a:r>
              <a:rPr lang="en-US" altLang="zh-CN" sz="800" smtClean="0">
                <a:solidFill>
                  <a:schemeClr val="bg1"/>
                </a:solidFill>
                <a:latin typeface="楷体_GB2312" pitchFamily="49" charset="-122"/>
                <a:ea typeface="楷体_GB2312" pitchFamily="49" charset="-122"/>
              </a:rPr>
              <a:t>2</a:t>
            </a:r>
            <a:endParaRPr lang="en-US" altLang="zh-CN" sz="800" smtClean="0">
              <a:solidFill>
                <a:schemeClr val="bg1"/>
              </a:solidFill>
              <a:latin typeface="楷体_GB2312" pitchFamily="49" charset="-122"/>
              <a:ea typeface="楷体_GB2312" pitchFamily="49" charset="-122"/>
            </a:endParaRPr>
          </a:p>
        </p:txBody>
      </p:sp>
      <p:sp>
        <p:nvSpPr>
          <p:cNvPr id="10242" name="Rectangle 3"/>
          <p:cNvSpPr>
            <a:spLocks noChangeArrowheads="1"/>
          </p:cNvSpPr>
          <p:nvPr/>
        </p:nvSpPr>
        <p:spPr bwMode="auto">
          <a:xfrm>
            <a:off x="2336800" y="304800"/>
            <a:ext cx="61214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p>
            <a:pPr>
              <a:spcAft>
                <a:spcPts val="0"/>
              </a:spcAft>
            </a:pPr>
            <a:r>
              <a:rPr lang="en-US" altLang="zh-CN" sz="3000">
                <a:solidFill>
                  <a:srgbClr val="CC0000"/>
                </a:solidFill>
                <a:latin typeface="黑体" panose="02010609060101010101" pitchFamily="49" charset="-122"/>
                <a:ea typeface="黑体" panose="02010609060101010101" pitchFamily="49" charset="-122"/>
              </a:rPr>
              <a:t>1.2-4 </a:t>
            </a:r>
            <a:r>
              <a:rPr lang="zh-CN" altLang="en-US" sz="3000">
                <a:solidFill>
                  <a:srgbClr val="CC0000"/>
                </a:solidFill>
                <a:latin typeface="黑体" panose="02010609060101010101" pitchFamily="49" charset="-122"/>
                <a:ea typeface="黑体" panose="02010609060101010101" pitchFamily="49" charset="-122"/>
              </a:rPr>
              <a:t>机械零件的主要失效形式</a:t>
            </a:r>
            <a:endParaRPr lang="zh-CN" altLang="en-US" sz="3000">
              <a:solidFill>
                <a:srgbClr val="CC0000"/>
              </a:solidFill>
              <a:latin typeface="黑体" panose="02010609060101010101" pitchFamily="49" charset="-122"/>
              <a:ea typeface="黑体" panose="02010609060101010101" pitchFamily="49" charset="-122"/>
            </a:endParaRPr>
          </a:p>
        </p:txBody>
      </p:sp>
      <p:sp>
        <p:nvSpPr>
          <p:cNvPr id="78855" name="Text Box 7"/>
          <p:cNvSpPr txBox="1">
            <a:spLocks noChangeArrowheads="1"/>
          </p:cNvSpPr>
          <p:nvPr/>
        </p:nvSpPr>
        <p:spPr bwMode="auto">
          <a:xfrm>
            <a:off x="441325" y="893763"/>
            <a:ext cx="2976880" cy="497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20000"/>
              </a:lnSpc>
              <a:spcAft>
                <a:spcPts val="0"/>
              </a:spcAft>
            </a:pPr>
            <a:r>
              <a:rPr lang="zh-CN" altLang="en-US" dirty="0">
                <a:solidFill>
                  <a:srgbClr val="FF0000"/>
                </a:solidFill>
                <a:latin typeface="黑体" panose="02010609060101010101" pitchFamily="49" charset="-122"/>
                <a:ea typeface="黑体" panose="02010609060101010101" pitchFamily="49" charset="-122"/>
              </a:rPr>
              <a:t>（二）过大的残余变形</a:t>
            </a:r>
            <a:endParaRPr lang="zh-CN" altLang="en-US" dirty="0">
              <a:solidFill>
                <a:srgbClr val="FF0000"/>
              </a:solidFill>
              <a:latin typeface="黑体" panose="02010609060101010101" pitchFamily="49" charset="-122"/>
              <a:ea typeface="黑体" panose="02010609060101010101" pitchFamily="49" charset="-122"/>
            </a:endParaRPr>
          </a:p>
        </p:txBody>
      </p:sp>
      <p:sp>
        <p:nvSpPr>
          <p:cNvPr id="78864" name="Text Box 16"/>
          <p:cNvSpPr txBox="1">
            <a:spLocks noChangeArrowheads="1"/>
          </p:cNvSpPr>
          <p:nvPr/>
        </p:nvSpPr>
        <p:spPr bwMode="auto">
          <a:xfrm>
            <a:off x="5495925" y="6284913"/>
            <a:ext cx="271463"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a:t> </a:t>
            </a:r>
            <a:endParaRPr lang="en-US" altLang="zh-CN"/>
          </a:p>
        </p:txBody>
      </p:sp>
      <p:sp>
        <p:nvSpPr>
          <p:cNvPr id="10255"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4" name="Text Box 18"/>
          <p:cNvSpPr txBox="1">
            <a:spLocks noChangeArrowheads="1"/>
          </p:cNvSpPr>
          <p:nvPr/>
        </p:nvSpPr>
        <p:spPr bwMode="auto">
          <a:xfrm>
            <a:off x="720436" y="1970907"/>
            <a:ext cx="2520950" cy="1207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fontAlgn="ctr" hangingPunct="1">
              <a:spcBef>
                <a:spcPct val="50000"/>
              </a:spcBef>
              <a:spcAft>
                <a:spcPts val="0"/>
              </a:spcAft>
              <a:buFontTx/>
              <a:buNone/>
            </a:pPr>
            <a:r>
              <a:rPr lang="en-US" altLang="zh-CN" sz="2000" b="1" dirty="0">
                <a:solidFill>
                  <a:srgbClr val="0000FF"/>
                </a:solidFill>
              </a:rPr>
              <a:t>(</a:t>
            </a:r>
            <a:r>
              <a:rPr lang="en-US" altLang="zh-CN" sz="2400" dirty="0">
                <a:solidFill>
                  <a:srgbClr val="0000FF"/>
                </a:solidFill>
                <a:latin typeface="黑体" panose="02010609060101010101" pitchFamily="49" charset="-122"/>
                <a:ea typeface="黑体" panose="02010609060101010101" pitchFamily="49" charset="-122"/>
              </a:rPr>
              <a:t>2)</a:t>
            </a:r>
            <a:r>
              <a:rPr lang="zh-CN" altLang="en-US" sz="2400" dirty="0">
                <a:solidFill>
                  <a:srgbClr val="0000FF"/>
                </a:solidFill>
                <a:latin typeface="黑体" panose="02010609060101010101" pitchFamily="49" charset="-122"/>
                <a:ea typeface="黑体" panose="02010609060101010101" pitchFamily="49" charset="-122"/>
              </a:rPr>
              <a:t>过大</a:t>
            </a:r>
            <a:r>
              <a:rPr lang="zh-CN" altLang="en-US" sz="2400" dirty="0" smtClean="0">
                <a:solidFill>
                  <a:srgbClr val="0000FF"/>
                </a:solidFill>
                <a:latin typeface="黑体" panose="02010609060101010101" pitchFamily="49" charset="-122"/>
                <a:ea typeface="黑体" panose="02010609060101010101" pitchFamily="49" charset="-122"/>
              </a:rPr>
              <a:t>弹性</a:t>
            </a:r>
            <a:r>
              <a:rPr lang="zh-CN" altLang="en-US" sz="2400" dirty="0">
                <a:solidFill>
                  <a:srgbClr val="0000FF"/>
                </a:solidFill>
                <a:latin typeface="黑体" panose="02010609060101010101" pitchFamily="49" charset="-122"/>
                <a:ea typeface="黑体" panose="02010609060101010101" pitchFamily="49" charset="-122"/>
              </a:rPr>
              <a:t>变形</a:t>
            </a:r>
            <a:endParaRPr lang="zh-CN" altLang="en-US" sz="2400" dirty="0">
              <a:solidFill>
                <a:srgbClr val="0000FF"/>
              </a:solidFill>
              <a:latin typeface="黑体" panose="02010609060101010101" pitchFamily="49" charset="-122"/>
              <a:ea typeface="黑体" panose="02010609060101010101" pitchFamily="49" charset="-122"/>
            </a:endParaRPr>
          </a:p>
          <a:p>
            <a:pPr eaLnBrk="1" fontAlgn="ctr" hangingPunct="1">
              <a:spcBef>
                <a:spcPts val="50"/>
              </a:spcBef>
              <a:buFontTx/>
              <a:buNone/>
            </a:pPr>
            <a:r>
              <a:rPr lang="zh-CN" altLang="en-US" sz="2400" dirty="0">
                <a:latin typeface="黑体" panose="02010609060101010101" pitchFamily="49" charset="-122"/>
                <a:ea typeface="黑体" panose="02010609060101010101" pitchFamily="49" charset="-122"/>
              </a:rPr>
              <a:t>过大弹变，刚度不足、精度降低。</a:t>
            </a:r>
            <a:endParaRPr lang="zh-CN" altLang="en-US" sz="2400" dirty="0">
              <a:latin typeface="黑体" panose="02010609060101010101" pitchFamily="49" charset="-122"/>
              <a:ea typeface="黑体" panose="02010609060101010101" pitchFamily="49" charset="-122"/>
            </a:endParaRPr>
          </a:p>
        </p:txBody>
      </p:sp>
      <p:grpSp>
        <p:nvGrpSpPr>
          <p:cNvPr id="15" name="Group 6"/>
          <p:cNvGrpSpPr/>
          <p:nvPr/>
        </p:nvGrpSpPr>
        <p:grpSpPr bwMode="auto">
          <a:xfrm>
            <a:off x="5509540" y="2422332"/>
            <a:ext cx="2381718" cy="1938338"/>
            <a:chOff x="3742" y="533"/>
            <a:chExt cx="1043" cy="1221"/>
          </a:xfrm>
        </p:grpSpPr>
        <p:sp>
          <p:nvSpPr>
            <p:cNvPr id="16" name="Text Box 7">
              <a:hlinkClick r:id="" action="ppaction://noaction"/>
            </p:cNvPr>
            <p:cNvSpPr txBox="1">
              <a:spLocks noChangeArrowheads="1"/>
            </p:cNvSpPr>
            <p:nvPr/>
          </p:nvSpPr>
          <p:spPr bwMode="auto">
            <a:xfrm>
              <a:off x="4059" y="533"/>
              <a:ext cx="726" cy="1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fontAlgn="ctr" hangingPunct="1">
                <a:spcBef>
                  <a:spcPct val="50000"/>
                </a:spcBef>
                <a:buFontTx/>
                <a:buNone/>
              </a:pPr>
              <a:r>
                <a:rPr lang="zh-CN" altLang="en-US" sz="2000" b="1" dirty="0">
                  <a:solidFill>
                    <a:srgbClr val="FF3300"/>
                  </a:solidFill>
                  <a:latin typeface="宋体" panose="02010600030101010101" pitchFamily="2" charset="-122"/>
                </a:rPr>
                <a:t>机床主轴刚度不足加工圆柱孔</a:t>
              </a:r>
              <a:r>
                <a:rPr lang="en-US" altLang="zh-CN" sz="2000" b="1" dirty="0">
                  <a:solidFill>
                    <a:srgbClr val="FF3300"/>
                  </a:solidFill>
                  <a:latin typeface="宋体" panose="02010600030101010101" pitchFamily="2" charset="-122"/>
                </a:rPr>
                <a:t>--</a:t>
              </a:r>
              <a:r>
                <a:rPr lang="zh-CN" altLang="en-US" sz="2000" b="1" dirty="0">
                  <a:solidFill>
                    <a:srgbClr val="FF3300"/>
                  </a:solidFill>
                  <a:latin typeface="宋体" panose="02010600030101010101" pitchFamily="2" charset="-122"/>
                </a:rPr>
                <a:t>锥形孔</a:t>
              </a:r>
              <a:endParaRPr lang="zh-CN" altLang="en-US" sz="2000" b="1" dirty="0">
                <a:solidFill>
                  <a:srgbClr val="FF3300"/>
                </a:solidFill>
                <a:latin typeface="宋体" panose="02010600030101010101" pitchFamily="2" charset="-122"/>
              </a:endParaRPr>
            </a:p>
          </p:txBody>
        </p:sp>
        <p:sp>
          <p:nvSpPr>
            <p:cNvPr id="20" name="Line 8"/>
            <p:cNvSpPr>
              <a:spLocks noChangeShapeType="1"/>
            </p:cNvSpPr>
            <p:nvPr/>
          </p:nvSpPr>
          <p:spPr bwMode="auto">
            <a:xfrm flipH="1">
              <a:off x="3742" y="669"/>
              <a:ext cx="317" cy="227"/>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grpSp>
      <p:grpSp>
        <p:nvGrpSpPr>
          <p:cNvPr id="21" name="Group 13"/>
          <p:cNvGrpSpPr/>
          <p:nvPr/>
        </p:nvGrpSpPr>
        <p:grpSpPr bwMode="auto">
          <a:xfrm>
            <a:off x="3926803" y="2565207"/>
            <a:ext cx="2087562" cy="2016125"/>
            <a:chOff x="2472" y="578"/>
            <a:chExt cx="1587" cy="1452"/>
          </a:xfrm>
        </p:grpSpPr>
        <p:sp>
          <p:nvSpPr>
            <p:cNvPr id="22" name="Rectangle 14"/>
            <p:cNvSpPr>
              <a:spLocks noChangeArrowheads="1"/>
            </p:cNvSpPr>
            <p:nvPr/>
          </p:nvSpPr>
          <p:spPr bwMode="auto">
            <a:xfrm>
              <a:off x="2562" y="1259"/>
              <a:ext cx="1406" cy="182"/>
            </a:xfrm>
            <a:prstGeom prst="rect">
              <a:avLst/>
            </a:prstGeom>
            <a:noFill/>
            <a:ln w="19050">
              <a:solidFill>
                <a:schemeClr val="tx2"/>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chemeClr val="tx2"/>
                </a:solidFill>
              </a:endParaRPr>
            </a:p>
          </p:txBody>
        </p:sp>
        <p:sp>
          <p:nvSpPr>
            <p:cNvPr id="23" name="Line 15"/>
            <p:cNvSpPr>
              <a:spLocks noChangeShapeType="1"/>
            </p:cNvSpPr>
            <p:nvPr/>
          </p:nvSpPr>
          <p:spPr bwMode="auto">
            <a:xfrm>
              <a:off x="3742" y="1440"/>
              <a:ext cx="0" cy="318"/>
            </a:xfrm>
            <a:prstGeom prst="line">
              <a:avLst/>
            </a:prstGeom>
            <a:noFill/>
            <a:ln w="19050">
              <a:solidFill>
                <a:schemeClr val="tx2"/>
              </a:solidFill>
              <a:rou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24" name="Line 16"/>
            <p:cNvSpPr>
              <a:spLocks noChangeShapeType="1"/>
            </p:cNvSpPr>
            <p:nvPr/>
          </p:nvSpPr>
          <p:spPr bwMode="auto">
            <a:xfrm>
              <a:off x="3787" y="1440"/>
              <a:ext cx="0" cy="227"/>
            </a:xfrm>
            <a:prstGeom prst="line">
              <a:avLst/>
            </a:prstGeom>
            <a:noFill/>
            <a:ln w="19050">
              <a:solidFill>
                <a:schemeClr val="tx2"/>
              </a:solidFill>
              <a:rou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25" name="Line 17"/>
            <p:cNvSpPr>
              <a:spLocks noChangeShapeType="1"/>
            </p:cNvSpPr>
            <p:nvPr/>
          </p:nvSpPr>
          <p:spPr bwMode="auto">
            <a:xfrm flipH="1">
              <a:off x="3742" y="1667"/>
              <a:ext cx="45" cy="91"/>
            </a:xfrm>
            <a:prstGeom prst="line">
              <a:avLst/>
            </a:prstGeom>
            <a:noFill/>
            <a:ln w="19050">
              <a:solidFill>
                <a:schemeClr val="tx2"/>
              </a:solidFill>
              <a:rou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26" name="Line 18"/>
            <p:cNvSpPr>
              <a:spLocks noChangeShapeType="1"/>
            </p:cNvSpPr>
            <p:nvPr/>
          </p:nvSpPr>
          <p:spPr bwMode="auto">
            <a:xfrm>
              <a:off x="2472" y="1349"/>
              <a:ext cx="1587" cy="0"/>
            </a:xfrm>
            <a:prstGeom prst="line">
              <a:avLst/>
            </a:prstGeom>
            <a:noFill/>
            <a:ln w="9525">
              <a:solidFill>
                <a:schemeClr val="tx2"/>
              </a:solidFill>
              <a:prstDash val="dashDot"/>
              <a:rou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27" name="Rectangle 19"/>
            <p:cNvSpPr>
              <a:spLocks noChangeArrowheads="1"/>
            </p:cNvSpPr>
            <p:nvPr/>
          </p:nvSpPr>
          <p:spPr bwMode="auto">
            <a:xfrm>
              <a:off x="2653" y="1485"/>
              <a:ext cx="182" cy="46"/>
            </a:xfrm>
            <a:prstGeom prst="rect">
              <a:avLst/>
            </a:prstGeom>
            <a:noFill/>
            <a:ln w="19050">
              <a:solidFill>
                <a:schemeClr val="tx2"/>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chemeClr val="tx2"/>
                </a:solidFill>
              </a:endParaRPr>
            </a:p>
          </p:txBody>
        </p:sp>
        <p:sp>
          <p:nvSpPr>
            <p:cNvPr id="28" name="Rectangle 20"/>
            <p:cNvSpPr>
              <a:spLocks noChangeArrowheads="1"/>
            </p:cNvSpPr>
            <p:nvPr/>
          </p:nvSpPr>
          <p:spPr bwMode="auto">
            <a:xfrm>
              <a:off x="2925" y="1485"/>
              <a:ext cx="182" cy="46"/>
            </a:xfrm>
            <a:prstGeom prst="rect">
              <a:avLst/>
            </a:prstGeom>
            <a:noFill/>
            <a:ln w="19050">
              <a:solidFill>
                <a:schemeClr val="tx2"/>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chemeClr val="tx2"/>
                </a:solidFill>
              </a:endParaRPr>
            </a:p>
          </p:txBody>
        </p:sp>
        <p:sp>
          <p:nvSpPr>
            <p:cNvPr id="29" name="Rectangle 21"/>
            <p:cNvSpPr>
              <a:spLocks noChangeArrowheads="1"/>
            </p:cNvSpPr>
            <p:nvPr/>
          </p:nvSpPr>
          <p:spPr bwMode="auto">
            <a:xfrm>
              <a:off x="2653" y="1167"/>
              <a:ext cx="182" cy="46"/>
            </a:xfrm>
            <a:prstGeom prst="rect">
              <a:avLst/>
            </a:prstGeom>
            <a:noFill/>
            <a:ln w="19050">
              <a:solidFill>
                <a:schemeClr val="tx2"/>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chemeClr val="tx2"/>
                </a:solidFill>
              </a:endParaRPr>
            </a:p>
          </p:txBody>
        </p:sp>
        <p:sp>
          <p:nvSpPr>
            <p:cNvPr id="30" name="Rectangle 22"/>
            <p:cNvSpPr>
              <a:spLocks noChangeArrowheads="1"/>
            </p:cNvSpPr>
            <p:nvPr/>
          </p:nvSpPr>
          <p:spPr bwMode="auto">
            <a:xfrm>
              <a:off x="2925" y="1167"/>
              <a:ext cx="182" cy="46"/>
            </a:xfrm>
            <a:prstGeom prst="rect">
              <a:avLst/>
            </a:prstGeom>
            <a:noFill/>
            <a:ln w="19050">
              <a:solidFill>
                <a:schemeClr val="tx2"/>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chemeClr val="tx2"/>
                </a:solidFill>
              </a:endParaRPr>
            </a:p>
          </p:txBody>
        </p:sp>
        <p:sp>
          <p:nvSpPr>
            <p:cNvPr id="31" name="Line 23"/>
            <p:cNvSpPr>
              <a:spLocks noChangeShapeType="1"/>
            </p:cNvSpPr>
            <p:nvPr/>
          </p:nvSpPr>
          <p:spPr bwMode="auto">
            <a:xfrm flipV="1">
              <a:off x="3424" y="1758"/>
              <a:ext cx="454" cy="44"/>
            </a:xfrm>
            <a:prstGeom prst="line">
              <a:avLst/>
            </a:prstGeom>
            <a:noFill/>
            <a:ln w="19050">
              <a:solidFill>
                <a:schemeClr val="tx2"/>
              </a:solidFill>
              <a:rou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32" name="Line 24"/>
            <p:cNvSpPr>
              <a:spLocks noChangeShapeType="1"/>
            </p:cNvSpPr>
            <p:nvPr/>
          </p:nvSpPr>
          <p:spPr bwMode="auto">
            <a:xfrm>
              <a:off x="3424" y="849"/>
              <a:ext cx="454" cy="47"/>
            </a:xfrm>
            <a:prstGeom prst="line">
              <a:avLst/>
            </a:prstGeom>
            <a:noFill/>
            <a:ln w="19050">
              <a:solidFill>
                <a:schemeClr val="tx2"/>
              </a:solidFill>
              <a:rou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33" name="Line 25"/>
            <p:cNvSpPr>
              <a:spLocks noChangeShapeType="1"/>
            </p:cNvSpPr>
            <p:nvPr/>
          </p:nvSpPr>
          <p:spPr bwMode="auto">
            <a:xfrm>
              <a:off x="3424" y="578"/>
              <a:ext cx="0" cy="681"/>
            </a:xfrm>
            <a:prstGeom prst="line">
              <a:avLst/>
            </a:prstGeom>
            <a:noFill/>
            <a:ln w="19050">
              <a:solidFill>
                <a:schemeClr val="tx2"/>
              </a:solidFill>
              <a:rou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34" name="Line 26"/>
            <p:cNvSpPr>
              <a:spLocks noChangeShapeType="1"/>
            </p:cNvSpPr>
            <p:nvPr/>
          </p:nvSpPr>
          <p:spPr bwMode="auto">
            <a:xfrm>
              <a:off x="3424" y="1440"/>
              <a:ext cx="0" cy="590"/>
            </a:xfrm>
            <a:prstGeom prst="line">
              <a:avLst/>
            </a:prstGeom>
            <a:noFill/>
            <a:ln w="19050">
              <a:solidFill>
                <a:schemeClr val="tx2"/>
              </a:solidFill>
              <a:rou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35" name="Line 27"/>
            <p:cNvSpPr>
              <a:spLocks noChangeShapeType="1"/>
            </p:cNvSpPr>
            <p:nvPr/>
          </p:nvSpPr>
          <p:spPr bwMode="auto">
            <a:xfrm>
              <a:off x="3878" y="578"/>
              <a:ext cx="0" cy="681"/>
            </a:xfrm>
            <a:prstGeom prst="line">
              <a:avLst/>
            </a:prstGeom>
            <a:noFill/>
            <a:ln w="19050">
              <a:solidFill>
                <a:schemeClr val="tx2"/>
              </a:solidFill>
              <a:rou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36" name="Line 28"/>
            <p:cNvSpPr>
              <a:spLocks noChangeShapeType="1"/>
            </p:cNvSpPr>
            <p:nvPr/>
          </p:nvSpPr>
          <p:spPr bwMode="auto">
            <a:xfrm>
              <a:off x="3878" y="1440"/>
              <a:ext cx="0" cy="590"/>
            </a:xfrm>
            <a:prstGeom prst="line">
              <a:avLst/>
            </a:prstGeom>
            <a:noFill/>
            <a:ln w="19050">
              <a:solidFill>
                <a:schemeClr val="tx2"/>
              </a:solidFill>
              <a:rou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37" name="Line 29"/>
            <p:cNvSpPr>
              <a:spLocks noChangeShapeType="1"/>
            </p:cNvSpPr>
            <p:nvPr/>
          </p:nvSpPr>
          <p:spPr bwMode="auto">
            <a:xfrm>
              <a:off x="3424" y="1894"/>
              <a:ext cx="136" cy="136"/>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38" name="Line 30"/>
            <p:cNvSpPr>
              <a:spLocks noChangeShapeType="1"/>
            </p:cNvSpPr>
            <p:nvPr/>
          </p:nvSpPr>
          <p:spPr bwMode="auto">
            <a:xfrm>
              <a:off x="3470" y="1803"/>
              <a:ext cx="226" cy="227"/>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39" name="Line 31"/>
            <p:cNvSpPr>
              <a:spLocks noChangeShapeType="1"/>
            </p:cNvSpPr>
            <p:nvPr/>
          </p:nvSpPr>
          <p:spPr bwMode="auto">
            <a:xfrm>
              <a:off x="3598" y="1795"/>
              <a:ext cx="227" cy="227"/>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40" name="Line 32"/>
            <p:cNvSpPr>
              <a:spLocks noChangeShapeType="1"/>
            </p:cNvSpPr>
            <p:nvPr/>
          </p:nvSpPr>
          <p:spPr bwMode="auto">
            <a:xfrm>
              <a:off x="3721" y="1774"/>
              <a:ext cx="136" cy="136"/>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41" name="Line 33"/>
            <p:cNvSpPr>
              <a:spLocks noChangeShapeType="1"/>
            </p:cNvSpPr>
            <p:nvPr/>
          </p:nvSpPr>
          <p:spPr bwMode="auto">
            <a:xfrm>
              <a:off x="3438" y="714"/>
              <a:ext cx="136" cy="136"/>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42" name="Line 34"/>
            <p:cNvSpPr>
              <a:spLocks noChangeShapeType="1"/>
            </p:cNvSpPr>
            <p:nvPr/>
          </p:nvSpPr>
          <p:spPr bwMode="auto">
            <a:xfrm>
              <a:off x="3500" y="631"/>
              <a:ext cx="226" cy="227"/>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43" name="Line 35"/>
            <p:cNvSpPr>
              <a:spLocks noChangeShapeType="1"/>
            </p:cNvSpPr>
            <p:nvPr/>
          </p:nvSpPr>
          <p:spPr bwMode="auto">
            <a:xfrm>
              <a:off x="3630" y="623"/>
              <a:ext cx="227" cy="227"/>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44" name="Line 36"/>
            <p:cNvSpPr>
              <a:spLocks noChangeShapeType="1"/>
            </p:cNvSpPr>
            <p:nvPr/>
          </p:nvSpPr>
          <p:spPr bwMode="auto">
            <a:xfrm>
              <a:off x="3735" y="594"/>
              <a:ext cx="136" cy="136"/>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8855"/>
                                        </p:tgtEl>
                                        <p:attrNameLst>
                                          <p:attrName>style.visibility</p:attrName>
                                        </p:attrNameLst>
                                      </p:cBhvr>
                                      <p:to>
                                        <p:strVal val="visible"/>
                                      </p:to>
                                    </p:set>
                                    <p:animEffect transition="in" filter="wipe(left)">
                                      <p:cBhvr>
                                        <p:cTn id="7" dur="500"/>
                                        <p:tgtEl>
                                          <p:spTgt spid="788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up)">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78864"/>
                                        </p:tgtEl>
                                        <p:attrNameLst>
                                          <p:attrName>style.visibility</p:attrName>
                                        </p:attrNameLst>
                                      </p:cBhvr>
                                      <p:to>
                                        <p:strVal val="visible"/>
                                      </p:to>
                                    </p:set>
                                    <p:anim calcmode="lin" valueType="num">
                                      <p:cBhvr additive="base">
                                        <p:cTn id="17" dur="500" fill="hold"/>
                                        <p:tgtEl>
                                          <p:spTgt spid="78864"/>
                                        </p:tgtEl>
                                        <p:attrNameLst>
                                          <p:attrName>ppt_x</p:attrName>
                                        </p:attrNameLst>
                                      </p:cBhvr>
                                      <p:tavLst>
                                        <p:tav tm="0">
                                          <p:val>
                                            <p:strVal val="0-#ppt_w/2"/>
                                          </p:val>
                                        </p:tav>
                                        <p:tav tm="100000">
                                          <p:val>
                                            <p:strVal val="#ppt_x"/>
                                          </p:val>
                                        </p:tav>
                                      </p:tavLst>
                                    </p:anim>
                                    <p:anim calcmode="lin" valueType="num">
                                      <p:cBhvr additive="base">
                                        <p:cTn id="18" dur="500" fill="hold"/>
                                        <p:tgtEl>
                                          <p:spTgt spid="78864"/>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ipe(left)">
                                      <p:cBhvr>
                                        <p:cTn id="23" dur="500"/>
                                        <p:tgtEl>
                                          <p:spTgt spid="21"/>
                                        </p:tgtEl>
                                      </p:cBhvr>
                                    </p:animEffect>
                                  </p:childTnLst>
                                </p:cTn>
                              </p:par>
                            </p:childTnLst>
                          </p:cTn>
                        </p:par>
                        <p:par>
                          <p:cTn id="24" fill="hold">
                            <p:stCondLst>
                              <p:cond delay="500"/>
                            </p:stCondLst>
                            <p:childTnLst>
                              <p:par>
                                <p:cTn id="25" presetID="22" presetClass="entr" presetSubtype="8" fill="hold"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5" grpId="0"/>
      <p:bldP spid="78864" grpId="0"/>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noChangeArrowheads="1"/>
          </p:cNvSpPr>
          <p:nvPr>
            <p:ph type="title" idx="4294967295"/>
          </p:nvPr>
        </p:nvSpPr>
        <p:spPr bwMode="auto">
          <a:xfrm>
            <a:off x="7467600" y="685800"/>
            <a:ext cx="16764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Aft>
                <a:spcPts val="0"/>
              </a:spcAft>
            </a:pPr>
            <a:r>
              <a:rPr lang="zh-CN" altLang="en-US" sz="800" smtClean="0">
                <a:solidFill>
                  <a:schemeClr val="bg1"/>
                </a:solidFill>
                <a:latin typeface="楷体_GB2312" pitchFamily="49" charset="-122"/>
                <a:ea typeface="楷体_GB2312" pitchFamily="49" charset="-122"/>
              </a:rPr>
              <a:t>机械零件的主要失效形式</a:t>
            </a:r>
            <a:r>
              <a:rPr lang="en-US" altLang="zh-CN" sz="800" smtClean="0">
                <a:solidFill>
                  <a:schemeClr val="bg1"/>
                </a:solidFill>
                <a:latin typeface="楷体_GB2312" pitchFamily="49" charset="-122"/>
                <a:ea typeface="楷体_GB2312" pitchFamily="49" charset="-122"/>
              </a:rPr>
              <a:t>3</a:t>
            </a:r>
            <a:endParaRPr lang="en-US" altLang="zh-CN" sz="800" smtClean="0">
              <a:solidFill>
                <a:schemeClr val="bg1"/>
              </a:solidFill>
              <a:latin typeface="楷体_GB2312" pitchFamily="49" charset="-122"/>
              <a:ea typeface="楷体_GB2312" pitchFamily="49" charset="-122"/>
            </a:endParaRPr>
          </a:p>
        </p:txBody>
      </p:sp>
      <p:sp>
        <p:nvSpPr>
          <p:cNvPr id="11266" name="Rectangle 3"/>
          <p:cNvSpPr>
            <a:spLocks noChangeArrowheads="1"/>
          </p:cNvSpPr>
          <p:nvPr/>
        </p:nvSpPr>
        <p:spPr bwMode="auto">
          <a:xfrm>
            <a:off x="2729230" y="258445"/>
            <a:ext cx="6100445" cy="427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p>
            <a:pPr>
              <a:spcAft>
                <a:spcPts val="0"/>
              </a:spcAft>
            </a:pPr>
            <a:r>
              <a:rPr lang="en-US" altLang="zh-CN" sz="3000" dirty="0" smtClean="0">
                <a:solidFill>
                  <a:srgbClr val="CC0000"/>
                </a:solidFill>
                <a:latin typeface="黑体" panose="02010609060101010101" pitchFamily="49" charset="-122"/>
                <a:ea typeface="黑体" panose="02010609060101010101" pitchFamily="49" charset="-122"/>
              </a:rPr>
              <a:t>1.2-4 </a:t>
            </a:r>
            <a:r>
              <a:rPr lang="zh-CN" altLang="en-US" sz="3000" dirty="0">
                <a:solidFill>
                  <a:srgbClr val="CC0000"/>
                </a:solidFill>
                <a:latin typeface="黑体" panose="02010609060101010101" pitchFamily="49" charset="-122"/>
                <a:ea typeface="黑体" panose="02010609060101010101" pitchFamily="49" charset="-122"/>
              </a:rPr>
              <a:t>机械零件的主要失效形式</a:t>
            </a:r>
            <a:endParaRPr lang="zh-CN" altLang="en-US" sz="3000" dirty="0">
              <a:solidFill>
                <a:srgbClr val="CC0000"/>
              </a:solidFill>
              <a:latin typeface="黑体" panose="02010609060101010101" pitchFamily="49" charset="-122"/>
              <a:ea typeface="黑体" panose="02010609060101010101" pitchFamily="49" charset="-122"/>
            </a:endParaRPr>
          </a:p>
        </p:txBody>
      </p:sp>
      <p:sp>
        <p:nvSpPr>
          <p:cNvPr id="98311" name="Text Box 7"/>
          <p:cNvSpPr txBox="1">
            <a:spLocks noChangeArrowheads="1"/>
          </p:cNvSpPr>
          <p:nvPr/>
        </p:nvSpPr>
        <p:spPr bwMode="auto">
          <a:xfrm>
            <a:off x="457200" y="838200"/>
            <a:ext cx="323088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20000"/>
              </a:lnSpc>
              <a:spcAft>
                <a:spcPts val="0"/>
              </a:spcAft>
            </a:pPr>
            <a:r>
              <a:rPr lang="zh-CN" altLang="en-US" sz="2400" dirty="0">
                <a:solidFill>
                  <a:srgbClr val="FF0000"/>
                </a:solidFill>
                <a:latin typeface="黑体" panose="02010609060101010101" pitchFamily="49" charset="-122"/>
                <a:ea typeface="黑体" panose="02010609060101010101" pitchFamily="49" charset="-122"/>
              </a:rPr>
              <a:t>（三）零件的表面破坏</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98312" name="Text Box 8"/>
          <p:cNvSpPr txBox="1">
            <a:spLocks noChangeArrowheads="1"/>
          </p:cNvSpPr>
          <p:nvPr/>
        </p:nvSpPr>
        <p:spPr bwMode="auto">
          <a:xfrm>
            <a:off x="-1" y="1341507"/>
            <a:ext cx="8876145" cy="497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spcAft>
                <a:spcPts val="0"/>
              </a:spcAft>
            </a:pPr>
            <a:r>
              <a:rPr lang="en-US" altLang="zh-CN" dirty="0">
                <a:solidFill>
                  <a:srgbClr val="000099"/>
                </a:solidFill>
              </a:rPr>
              <a:t>      </a:t>
            </a:r>
            <a:r>
              <a:rPr lang="zh-CN" altLang="en-US" dirty="0">
                <a:solidFill>
                  <a:srgbClr val="000099"/>
                </a:solidFill>
              </a:rPr>
              <a:t>零件的表面破坏主要</a:t>
            </a:r>
            <a:r>
              <a:rPr lang="zh-CN" altLang="en-US" dirty="0" smtClean="0">
                <a:solidFill>
                  <a:srgbClr val="000099"/>
                </a:solidFill>
              </a:rPr>
              <a:t>是磨损</a:t>
            </a:r>
            <a:r>
              <a:rPr lang="zh-CN" altLang="en-US" dirty="0">
                <a:solidFill>
                  <a:srgbClr val="000099"/>
                </a:solidFill>
              </a:rPr>
              <a:t>和接触疲劳（点蚀</a:t>
            </a:r>
            <a:r>
              <a:rPr lang="zh-CN" altLang="en-US" dirty="0" smtClean="0">
                <a:solidFill>
                  <a:srgbClr val="000099"/>
                </a:solidFill>
              </a:rPr>
              <a:t>）、胶合、腐蚀。</a:t>
            </a:r>
            <a:endParaRPr lang="zh-CN" altLang="en-US" dirty="0">
              <a:solidFill>
                <a:srgbClr val="000099"/>
              </a:solidFill>
            </a:endParaRPr>
          </a:p>
        </p:txBody>
      </p:sp>
      <p:grpSp>
        <p:nvGrpSpPr>
          <p:cNvPr id="2" name="Group 15"/>
          <p:cNvGrpSpPr/>
          <p:nvPr/>
        </p:nvGrpSpPr>
        <p:grpSpPr bwMode="auto">
          <a:xfrm>
            <a:off x="5736656" y="2116004"/>
            <a:ext cx="3009098" cy="3223295"/>
            <a:chOff x="2774" y="1533"/>
            <a:chExt cx="2626" cy="2497"/>
          </a:xfrm>
        </p:grpSpPr>
        <p:pic>
          <p:nvPicPr>
            <p:cNvPr id="11273" name="Picture 10" descr="扩展性点蚀"/>
            <p:cNvPicPr>
              <a:picLocks noChangeAspect="1" noChangeArrowheads="1"/>
            </p:cNvPicPr>
            <p:nvPr/>
          </p:nvPicPr>
          <p:blipFill>
            <a:blip r:embed="rId1">
              <a:extLst>
                <a:ext uri="{28A0092B-C50C-407E-A947-70E740481C1C}">
                  <a14:useLocalDpi xmlns:a14="http://schemas.microsoft.com/office/drawing/2010/main" val="0"/>
                </a:ext>
              </a:extLst>
            </a:blip>
            <a:srcRect r="7767"/>
            <a:stretch>
              <a:fillRect/>
            </a:stretch>
          </p:blipFill>
          <p:spPr bwMode="auto">
            <a:xfrm>
              <a:off x="2774" y="1533"/>
              <a:ext cx="2626" cy="2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4" name="Rectangle 12"/>
            <p:cNvSpPr>
              <a:spLocks noChangeArrowheads="1"/>
            </p:cNvSpPr>
            <p:nvPr/>
          </p:nvSpPr>
          <p:spPr bwMode="auto">
            <a:xfrm>
              <a:off x="3776" y="3696"/>
              <a:ext cx="161"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dirty="0">
                <a:solidFill>
                  <a:srgbClr val="000099"/>
                </a:solidFill>
              </a:endParaRPr>
            </a:p>
          </p:txBody>
        </p:sp>
      </p:grpSp>
      <p:grpSp>
        <p:nvGrpSpPr>
          <p:cNvPr id="3" name="Group 14"/>
          <p:cNvGrpSpPr/>
          <p:nvPr/>
        </p:nvGrpSpPr>
        <p:grpSpPr bwMode="auto">
          <a:xfrm>
            <a:off x="2729120" y="2287084"/>
            <a:ext cx="2468078" cy="2583301"/>
            <a:chOff x="504" y="1612"/>
            <a:chExt cx="2338" cy="2305"/>
          </a:xfrm>
        </p:grpSpPr>
        <p:sp>
          <p:nvSpPr>
            <p:cNvPr id="11276" name="Rectangle 11"/>
            <p:cNvSpPr>
              <a:spLocks noChangeArrowheads="1"/>
            </p:cNvSpPr>
            <p:nvPr/>
          </p:nvSpPr>
          <p:spPr bwMode="auto">
            <a:xfrm>
              <a:off x="968" y="3648"/>
              <a:ext cx="82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a:solidFill>
                    <a:srgbClr val="000099"/>
                  </a:solidFill>
                </a:rPr>
                <a:t>轴瓦磨损</a:t>
              </a:r>
              <a:endParaRPr lang="zh-CN" altLang="en-US" dirty="0">
                <a:solidFill>
                  <a:srgbClr val="000099"/>
                </a:solidFill>
              </a:endParaRPr>
            </a:p>
          </p:txBody>
        </p:sp>
        <p:pic>
          <p:nvPicPr>
            <p:cNvPr id="11277" name="Picture 13" descr="轴瓦失效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 y="1612"/>
              <a:ext cx="2338" cy="1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8320" name="Text Box 16"/>
          <p:cNvSpPr txBox="1">
            <a:spLocks noChangeArrowheads="1"/>
          </p:cNvSpPr>
          <p:nvPr/>
        </p:nvSpPr>
        <p:spPr bwMode="auto">
          <a:xfrm>
            <a:off x="4632325" y="6323013"/>
            <a:ext cx="271463"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a:t> </a:t>
            </a:r>
            <a:endParaRPr lang="en-US" altLang="zh-CN"/>
          </a:p>
        </p:txBody>
      </p:sp>
      <p:sp>
        <p:nvSpPr>
          <p:cNvPr id="11279"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17" name="Picture 24" descr="圆柱齿面磨损1"/>
          <p:cNvPicPr>
            <a:picLocks noChangeAspect="1" noChangeArrowheads="1"/>
          </p:cNvPicPr>
          <p:nvPr/>
        </p:nvPicPr>
        <p:blipFill>
          <a:blip r:embed="rId3">
            <a:extLst>
              <a:ext uri="{28A0092B-C50C-407E-A947-70E740481C1C}">
                <a14:useLocalDpi xmlns:a14="http://schemas.microsoft.com/office/drawing/2010/main" val="0"/>
              </a:ext>
            </a:extLst>
          </a:blip>
          <a:srcRect r="17097"/>
          <a:stretch>
            <a:fillRect/>
          </a:stretch>
        </p:blipFill>
        <p:spPr bwMode="auto">
          <a:xfrm>
            <a:off x="226178" y="2192254"/>
            <a:ext cx="2447925" cy="202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 Box 7"/>
          <p:cNvSpPr txBox="1">
            <a:spLocks noChangeArrowheads="1"/>
          </p:cNvSpPr>
          <p:nvPr/>
        </p:nvSpPr>
        <p:spPr bwMode="auto">
          <a:xfrm>
            <a:off x="131512" y="4501700"/>
            <a:ext cx="3121827" cy="1697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fontAlgn="ctr" hangingPunct="1">
              <a:spcBef>
                <a:spcPct val="50000"/>
              </a:spcBef>
              <a:spcAft>
                <a:spcPts val="0"/>
              </a:spcAft>
              <a:buFontTx/>
              <a:buNone/>
            </a:pPr>
            <a:r>
              <a:rPr lang="en-US" altLang="zh-CN" sz="2400" dirty="0">
                <a:solidFill>
                  <a:srgbClr val="0000FF"/>
                </a:solidFill>
                <a:latin typeface="黑体" panose="02010609060101010101" pitchFamily="49" charset="-122"/>
                <a:ea typeface="黑体" panose="02010609060101010101" pitchFamily="49" charset="-122"/>
              </a:rPr>
              <a:t>(1)</a:t>
            </a:r>
            <a:r>
              <a:rPr lang="zh-CN" altLang="en-US" sz="2400" dirty="0">
                <a:solidFill>
                  <a:srgbClr val="0000FF"/>
                </a:solidFill>
                <a:latin typeface="黑体" panose="02010609060101010101" pitchFamily="49" charset="-122"/>
                <a:ea typeface="黑体" panose="02010609060101010101" pitchFamily="49" charset="-122"/>
              </a:rPr>
              <a:t>磨损</a:t>
            </a:r>
            <a:endParaRPr lang="en-US" altLang="zh-CN" sz="2400" dirty="0">
              <a:solidFill>
                <a:srgbClr val="0000FF"/>
              </a:solidFill>
              <a:latin typeface="黑体" panose="02010609060101010101" pitchFamily="49" charset="-122"/>
              <a:ea typeface="黑体" panose="02010609060101010101" pitchFamily="49" charset="-122"/>
            </a:endParaRPr>
          </a:p>
          <a:p>
            <a:pPr eaLnBrk="1" fontAlgn="ctr" hangingPunct="1">
              <a:spcBef>
                <a:spcPts val="50"/>
              </a:spcBef>
              <a:buFontTx/>
              <a:buNone/>
            </a:pPr>
            <a:r>
              <a:rPr lang="zh-CN" altLang="en-US" sz="2000" dirty="0">
                <a:latin typeface="黑体" panose="02010609060101010101" pitchFamily="49" charset="-122"/>
                <a:ea typeface="黑体" panose="02010609060101010101" pitchFamily="49" charset="-122"/>
              </a:rPr>
              <a:t>相对运动表面间进入第三体（磨料），引起表面磨损，精度降低；过度磨损强度降低；</a:t>
            </a:r>
            <a:endParaRPr lang="zh-CN" altLang="en-US" sz="2000" dirty="0">
              <a:latin typeface="黑体" panose="02010609060101010101" pitchFamily="49" charset="-122"/>
              <a:ea typeface="黑体" panose="02010609060101010101" pitchFamily="49" charset="-122"/>
            </a:endParaRPr>
          </a:p>
        </p:txBody>
      </p:sp>
      <p:sp>
        <p:nvSpPr>
          <p:cNvPr id="19" name="Text Box 18"/>
          <p:cNvSpPr txBox="1">
            <a:spLocks noChangeArrowheads="1"/>
          </p:cNvSpPr>
          <p:nvPr/>
        </p:nvSpPr>
        <p:spPr bwMode="auto">
          <a:xfrm>
            <a:off x="5380525" y="5007275"/>
            <a:ext cx="3955982" cy="1299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fontAlgn="ctr" hangingPunct="1">
              <a:spcBef>
                <a:spcPct val="50000"/>
              </a:spcBef>
              <a:spcAft>
                <a:spcPts val="0"/>
              </a:spcAft>
              <a:buFontTx/>
              <a:buNone/>
            </a:pPr>
            <a:r>
              <a:rPr lang="en-US" altLang="zh-CN" sz="2400" dirty="0">
                <a:solidFill>
                  <a:srgbClr val="0000FF"/>
                </a:solidFill>
                <a:latin typeface="黑体" panose="02010609060101010101" pitchFamily="49" charset="-122"/>
                <a:ea typeface="黑体" panose="02010609060101010101" pitchFamily="49" charset="-122"/>
              </a:rPr>
              <a:t>(2)</a:t>
            </a:r>
            <a:r>
              <a:rPr lang="zh-CN" altLang="en-US" sz="2400" dirty="0">
                <a:solidFill>
                  <a:srgbClr val="0000FF"/>
                </a:solidFill>
                <a:latin typeface="黑体" panose="02010609060101010101" pitchFamily="49" charset="-122"/>
                <a:ea typeface="黑体" panose="02010609060101010101" pitchFamily="49" charset="-122"/>
              </a:rPr>
              <a:t>点蚀</a:t>
            </a:r>
            <a:endParaRPr lang="zh-CN" altLang="en-US" sz="2400" dirty="0">
              <a:solidFill>
                <a:srgbClr val="0000FF"/>
              </a:solidFill>
              <a:latin typeface="黑体" panose="02010609060101010101" pitchFamily="49" charset="-122"/>
              <a:ea typeface="黑体" panose="02010609060101010101" pitchFamily="49" charset="-122"/>
            </a:endParaRPr>
          </a:p>
          <a:p>
            <a:pPr eaLnBrk="1" fontAlgn="ctr" hangingPunct="1">
              <a:spcBef>
                <a:spcPts val="50"/>
              </a:spcBef>
              <a:buFontTx/>
              <a:buNone/>
            </a:pPr>
            <a:r>
              <a:rPr lang="zh-CN" altLang="en-US" sz="1800" b="1" dirty="0"/>
              <a:t>交变接触应力反复作用，导致齿面形成裂纹、扩展，材料脱落。引起振动噪声或断裂；</a:t>
            </a:r>
            <a:endParaRPr lang="zh-CN" altLang="en-US" sz="1800"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8311"/>
                                        </p:tgtEl>
                                        <p:attrNameLst>
                                          <p:attrName>style.visibility</p:attrName>
                                        </p:attrNameLst>
                                      </p:cBhvr>
                                      <p:to>
                                        <p:strVal val="visible"/>
                                      </p:to>
                                    </p:set>
                                    <p:animEffect transition="in" filter="wipe(left)">
                                      <p:cBhvr>
                                        <p:cTn id="7" dur="500"/>
                                        <p:tgtEl>
                                          <p:spTgt spid="983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8312"/>
                                        </p:tgtEl>
                                        <p:attrNameLst>
                                          <p:attrName>style.visibility</p:attrName>
                                        </p:attrNameLst>
                                      </p:cBhvr>
                                      <p:to>
                                        <p:strVal val="visible"/>
                                      </p:to>
                                    </p:set>
                                    <p:animEffect transition="in" filter="wipe(left)">
                                      <p:cBhvr>
                                        <p:cTn id="12" dur="500"/>
                                        <p:tgtEl>
                                          <p:spTgt spid="983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up)">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left)">
                                      <p:cBhvr>
                                        <p:cTn id="22" dur="500"/>
                                        <p:tgtEl>
                                          <p:spTgt spid="17"/>
                                        </p:tgtEl>
                                      </p:cBhvr>
                                    </p:animEffect>
                                  </p:childTnLst>
                                </p:cTn>
                              </p:par>
                            </p:childTnLst>
                          </p:cTn>
                        </p:par>
                        <p:par>
                          <p:cTn id="23" fill="hold">
                            <p:stCondLst>
                              <p:cond delay="500"/>
                            </p:stCondLst>
                            <p:childTnLst>
                              <p:par>
                                <p:cTn id="24" presetID="22" presetClass="entr" presetSubtype="1"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up)">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up)">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wipe(up)">
                                      <p:cBhvr>
                                        <p:cTn id="3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11" grpId="0"/>
      <p:bldP spid="98312" grpId="0"/>
      <p:bldP spid="18" grpId="0"/>
      <p:bldP spid="1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8"/>
          <p:cNvSpPr txBox="1">
            <a:spLocks noChangeArrowheads="1"/>
          </p:cNvSpPr>
          <p:nvPr/>
        </p:nvSpPr>
        <p:spPr bwMode="auto">
          <a:xfrm>
            <a:off x="4463147" y="4175443"/>
            <a:ext cx="4238091" cy="1699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fontAlgn="ctr" hangingPunct="1">
              <a:spcBef>
                <a:spcPct val="50000"/>
              </a:spcBef>
              <a:spcAft>
                <a:spcPts val="0"/>
              </a:spcAft>
              <a:buFontTx/>
              <a:buNone/>
            </a:pPr>
            <a:r>
              <a:rPr lang="en-US" altLang="zh-CN" sz="2400" dirty="0">
                <a:solidFill>
                  <a:srgbClr val="0000FF"/>
                </a:solidFill>
                <a:latin typeface="黑体" panose="02010609060101010101" pitchFamily="49" charset="-122"/>
                <a:ea typeface="黑体" panose="02010609060101010101" pitchFamily="49" charset="-122"/>
              </a:rPr>
              <a:t>(3)</a:t>
            </a:r>
            <a:r>
              <a:rPr lang="zh-CN" altLang="en-US" sz="2400" dirty="0">
                <a:solidFill>
                  <a:srgbClr val="0000FF"/>
                </a:solidFill>
                <a:latin typeface="黑体" panose="02010609060101010101" pitchFamily="49" charset="-122"/>
                <a:ea typeface="黑体" panose="02010609060101010101" pitchFamily="49" charset="-122"/>
              </a:rPr>
              <a:t>胶合</a:t>
            </a:r>
            <a:r>
              <a:rPr lang="en-US" altLang="zh-CN" sz="2400" dirty="0">
                <a:solidFill>
                  <a:srgbClr val="0000FF"/>
                </a:solidFill>
                <a:latin typeface="黑体" panose="02010609060101010101" pitchFamily="49" charset="-122"/>
                <a:ea typeface="黑体" panose="02010609060101010101" pitchFamily="49" charset="-122"/>
              </a:rPr>
              <a:t>—</a:t>
            </a:r>
            <a:r>
              <a:rPr lang="zh-CN" altLang="en-US" sz="2400" dirty="0">
                <a:solidFill>
                  <a:srgbClr val="0000FF"/>
                </a:solidFill>
                <a:latin typeface="黑体" panose="02010609060101010101" pitchFamily="49" charset="-122"/>
                <a:ea typeface="黑体" panose="02010609060101010101" pitchFamily="49" charset="-122"/>
              </a:rPr>
              <a:t>热胶合</a:t>
            </a:r>
            <a:endParaRPr lang="zh-CN" altLang="en-US" sz="2400" dirty="0">
              <a:solidFill>
                <a:srgbClr val="0000FF"/>
              </a:solidFill>
              <a:latin typeface="黑体" panose="02010609060101010101" pitchFamily="49" charset="-122"/>
              <a:ea typeface="黑体" panose="02010609060101010101" pitchFamily="49" charset="-122"/>
            </a:endParaRPr>
          </a:p>
          <a:p>
            <a:pPr eaLnBrk="1" fontAlgn="ctr" hangingPunct="1">
              <a:spcBef>
                <a:spcPts val="50"/>
              </a:spcBef>
              <a:buFontTx/>
              <a:buNone/>
            </a:pPr>
            <a:r>
              <a:rPr lang="zh-CN" altLang="en-US" sz="2000" b="1" dirty="0"/>
              <a:t>高速、重载，润滑不良，高温导致油膜破裂，材料熔化、“焊接”，相对运动表面涂抹烧伤</a:t>
            </a:r>
            <a:r>
              <a:rPr lang="en-US" altLang="zh-CN" sz="2000" b="1" dirty="0"/>
              <a:t>-</a:t>
            </a:r>
            <a:r>
              <a:rPr lang="zh-CN" altLang="en-US" sz="2000" b="1" dirty="0"/>
              <a:t>表面精度降低、噪声。</a:t>
            </a:r>
            <a:endParaRPr lang="zh-CN" altLang="en-US" sz="2000" b="1" dirty="0"/>
          </a:p>
        </p:txBody>
      </p:sp>
      <p:sp>
        <p:nvSpPr>
          <p:cNvPr id="3" name="Text Box 7"/>
          <p:cNvSpPr txBox="1">
            <a:spLocks noChangeArrowheads="1"/>
          </p:cNvSpPr>
          <p:nvPr/>
        </p:nvSpPr>
        <p:spPr bwMode="auto">
          <a:xfrm>
            <a:off x="458688" y="4092876"/>
            <a:ext cx="3324040" cy="1697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fontAlgn="ctr" hangingPunct="1">
              <a:spcBef>
                <a:spcPct val="50000"/>
              </a:spcBef>
              <a:spcAft>
                <a:spcPts val="0"/>
              </a:spcAft>
              <a:buFontTx/>
              <a:buNone/>
            </a:pPr>
            <a:r>
              <a:rPr lang="en-US" altLang="zh-CN" sz="2400" dirty="0">
                <a:solidFill>
                  <a:srgbClr val="0000FF"/>
                </a:solidFill>
                <a:latin typeface="黑体" panose="02010609060101010101" pitchFamily="49" charset="-122"/>
                <a:ea typeface="黑体" panose="02010609060101010101" pitchFamily="49" charset="-122"/>
              </a:rPr>
              <a:t>(3)</a:t>
            </a:r>
            <a:r>
              <a:rPr lang="zh-CN" altLang="en-US" sz="2400" dirty="0">
                <a:solidFill>
                  <a:srgbClr val="0000FF"/>
                </a:solidFill>
                <a:latin typeface="黑体" panose="02010609060101010101" pitchFamily="49" charset="-122"/>
                <a:ea typeface="黑体" panose="02010609060101010101" pitchFamily="49" charset="-122"/>
              </a:rPr>
              <a:t>胶合</a:t>
            </a:r>
            <a:r>
              <a:rPr lang="en-US" altLang="zh-CN" sz="2400" dirty="0">
                <a:solidFill>
                  <a:srgbClr val="0000FF"/>
                </a:solidFill>
                <a:latin typeface="黑体" panose="02010609060101010101" pitchFamily="49" charset="-122"/>
                <a:ea typeface="黑体" panose="02010609060101010101" pitchFamily="49" charset="-122"/>
              </a:rPr>
              <a:t>--</a:t>
            </a:r>
            <a:r>
              <a:rPr lang="zh-CN" altLang="en-US" sz="2400" dirty="0">
                <a:solidFill>
                  <a:srgbClr val="0000FF"/>
                </a:solidFill>
                <a:latin typeface="黑体" panose="02010609060101010101" pitchFamily="49" charset="-122"/>
                <a:ea typeface="黑体" panose="02010609060101010101" pitchFamily="49" charset="-122"/>
              </a:rPr>
              <a:t>冷胶合</a:t>
            </a:r>
            <a:endParaRPr lang="en-US" altLang="zh-CN" sz="2400" dirty="0">
              <a:solidFill>
                <a:srgbClr val="0000FF"/>
              </a:solidFill>
              <a:latin typeface="黑体" panose="02010609060101010101" pitchFamily="49" charset="-122"/>
              <a:ea typeface="黑体" panose="02010609060101010101" pitchFamily="49" charset="-122"/>
            </a:endParaRPr>
          </a:p>
          <a:p>
            <a:pPr eaLnBrk="1" fontAlgn="ctr" hangingPunct="1">
              <a:spcBef>
                <a:spcPts val="50"/>
              </a:spcBef>
              <a:buFontTx/>
              <a:buNone/>
            </a:pPr>
            <a:r>
              <a:rPr lang="zh-CN" altLang="en-US" sz="2000" b="1" dirty="0"/>
              <a:t>低速重载</a:t>
            </a:r>
            <a:r>
              <a:rPr lang="en-US" altLang="zh-CN" sz="2000" b="1" dirty="0"/>
              <a:t>,</a:t>
            </a:r>
            <a:r>
              <a:rPr lang="zh-CN" altLang="en-US" sz="2000" b="1" dirty="0"/>
              <a:t>过高的接触压力导致表面间油膜破坏，金属直接接触粘着，相对运动产生撕裂</a:t>
            </a:r>
            <a:r>
              <a:rPr lang="en-US" altLang="zh-CN" sz="2000" b="1" dirty="0"/>
              <a:t>-</a:t>
            </a:r>
            <a:r>
              <a:rPr lang="zh-CN" altLang="en-US" sz="2000" b="1" dirty="0"/>
              <a:t>表面精度降低；</a:t>
            </a:r>
            <a:endParaRPr lang="zh-CN" altLang="en-US" sz="2000" b="1" dirty="0">
              <a:latin typeface="宋体" panose="02010600030101010101" pitchFamily="2" charset="-122"/>
            </a:endParaRPr>
          </a:p>
        </p:txBody>
      </p:sp>
      <p:pic>
        <p:nvPicPr>
          <p:cNvPr id="4" name="Picture 34" descr="冷胶合"/>
          <p:cNvPicPr>
            <a:picLocks noChangeAspect="1" noChangeArrowheads="1"/>
          </p:cNvPicPr>
          <p:nvPr/>
        </p:nvPicPr>
        <p:blipFill>
          <a:blip r:embed="rId1">
            <a:extLst>
              <a:ext uri="{28A0092B-C50C-407E-A947-70E740481C1C}">
                <a14:useLocalDpi xmlns:a14="http://schemas.microsoft.com/office/drawing/2010/main" val="0"/>
              </a:ext>
            </a:extLst>
          </a:blip>
          <a:srcRect l="28574" t="8626" r="26106" b="23430"/>
          <a:stretch>
            <a:fillRect/>
          </a:stretch>
        </p:blipFill>
        <p:spPr bwMode="auto">
          <a:xfrm>
            <a:off x="684213" y="1605112"/>
            <a:ext cx="2497232" cy="210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5" descr="胶合"/>
          <p:cNvPicPr>
            <a:picLocks noChangeAspect="1" noChangeArrowheads="1"/>
          </p:cNvPicPr>
          <p:nvPr/>
        </p:nvPicPr>
        <p:blipFill>
          <a:blip r:embed="rId2">
            <a:extLst>
              <a:ext uri="{28A0092B-C50C-407E-A947-70E740481C1C}">
                <a14:useLocalDpi xmlns:a14="http://schemas.microsoft.com/office/drawing/2010/main" val="0"/>
              </a:ext>
            </a:extLst>
          </a:blip>
          <a:srcRect l="2051" t="10258" r="15993" b="5197"/>
          <a:stretch>
            <a:fillRect/>
          </a:stretch>
        </p:blipFill>
        <p:spPr bwMode="auto">
          <a:xfrm>
            <a:off x="4973371" y="1370047"/>
            <a:ext cx="2669244" cy="2431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4"/>
          <p:cNvGrpSpPr/>
          <p:nvPr/>
        </p:nvGrpSpPr>
        <p:grpSpPr bwMode="auto">
          <a:xfrm>
            <a:off x="2264009" y="1394026"/>
            <a:ext cx="1771650" cy="865188"/>
            <a:chOff x="1220" y="866"/>
            <a:chExt cx="1116" cy="545"/>
          </a:xfrm>
        </p:grpSpPr>
        <p:sp>
          <p:nvSpPr>
            <p:cNvPr id="7" name="Text Box 7">
              <a:hlinkClick r:id="" action="ppaction://noaction"/>
            </p:cNvPr>
            <p:cNvSpPr txBox="1">
              <a:spLocks noChangeArrowheads="1"/>
            </p:cNvSpPr>
            <p:nvPr/>
          </p:nvSpPr>
          <p:spPr bwMode="auto">
            <a:xfrm>
              <a:off x="1837" y="866"/>
              <a:ext cx="499"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fontAlgn="ctr" hangingPunct="1">
                <a:spcBef>
                  <a:spcPct val="50000"/>
                </a:spcBef>
                <a:buFontTx/>
                <a:buNone/>
              </a:pPr>
              <a:r>
                <a:rPr lang="zh-CN" altLang="en-US" sz="2000" b="1" dirty="0">
                  <a:solidFill>
                    <a:srgbClr val="FF3300"/>
                  </a:solidFill>
                  <a:latin typeface="宋体" panose="02010600030101010101" pitchFamily="2" charset="-122"/>
                </a:rPr>
                <a:t>齿面粘着</a:t>
              </a:r>
              <a:endParaRPr lang="zh-CN" altLang="en-US" sz="2000" b="1" dirty="0">
                <a:solidFill>
                  <a:srgbClr val="FF3300"/>
                </a:solidFill>
                <a:latin typeface="宋体" panose="02010600030101010101" pitchFamily="2" charset="-122"/>
              </a:endParaRPr>
            </a:p>
          </p:txBody>
        </p:sp>
        <p:sp>
          <p:nvSpPr>
            <p:cNvPr id="8" name="Line 11"/>
            <p:cNvSpPr>
              <a:spLocks noChangeShapeType="1"/>
            </p:cNvSpPr>
            <p:nvPr/>
          </p:nvSpPr>
          <p:spPr bwMode="auto">
            <a:xfrm flipH="1">
              <a:off x="1220" y="1139"/>
              <a:ext cx="635" cy="272"/>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grpSp>
      <p:grpSp>
        <p:nvGrpSpPr>
          <p:cNvPr id="9" name="Group 15"/>
          <p:cNvGrpSpPr/>
          <p:nvPr/>
        </p:nvGrpSpPr>
        <p:grpSpPr bwMode="auto">
          <a:xfrm>
            <a:off x="6790039" y="1974934"/>
            <a:ext cx="1800225" cy="720725"/>
            <a:chOff x="3198" y="759"/>
            <a:chExt cx="1134" cy="454"/>
          </a:xfrm>
        </p:grpSpPr>
        <p:sp>
          <p:nvSpPr>
            <p:cNvPr id="10" name="Text Box 7">
              <a:hlinkClick r:id="" action="ppaction://noaction"/>
            </p:cNvPr>
            <p:cNvSpPr txBox="1">
              <a:spLocks noChangeArrowheads="1"/>
            </p:cNvSpPr>
            <p:nvPr/>
          </p:nvSpPr>
          <p:spPr bwMode="auto">
            <a:xfrm>
              <a:off x="3833" y="759"/>
              <a:ext cx="499"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fontAlgn="ctr" hangingPunct="1">
                <a:spcBef>
                  <a:spcPct val="50000"/>
                </a:spcBef>
                <a:buFontTx/>
                <a:buNone/>
              </a:pPr>
              <a:r>
                <a:rPr lang="zh-CN" altLang="en-US" sz="2000" b="1" dirty="0">
                  <a:solidFill>
                    <a:srgbClr val="FF3300"/>
                  </a:solidFill>
                  <a:latin typeface="宋体" panose="02010600030101010101" pitchFamily="2" charset="-122"/>
                </a:rPr>
                <a:t>齿面胶合</a:t>
              </a:r>
              <a:endParaRPr lang="en-US" altLang="zh-CN" sz="2000" b="1" dirty="0">
                <a:solidFill>
                  <a:srgbClr val="FF3300"/>
                </a:solidFill>
                <a:latin typeface="宋体" panose="02010600030101010101" pitchFamily="2" charset="-122"/>
              </a:endParaRPr>
            </a:p>
          </p:txBody>
        </p:sp>
        <p:sp>
          <p:nvSpPr>
            <p:cNvPr id="11" name="Line 13"/>
            <p:cNvSpPr>
              <a:spLocks noChangeShapeType="1"/>
            </p:cNvSpPr>
            <p:nvPr/>
          </p:nvSpPr>
          <p:spPr bwMode="auto">
            <a:xfrm flipH="1">
              <a:off x="3198" y="941"/>
              <a:ext cx="635" cy="272"/>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grpSp>
      <p:sp>
        <p:nvSpPr>
          <p:cNvPr id="12" name="Rectangle 3"/>
          <p:cNvSpPr>
            <a:spLocks noChangeArrowheads="1"/>
          </p:cNvSpPr>
          <p:nvPr/>
        </p:nvSpPr>
        <p:spPr bwMode="auto">
          <a:xfrm>
            <a:off x="2680970" y="201295"/>
            <a:ext cx="6020435" cy="427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p>
            <a:pPr>
              <a:spcAft>
                <a:spcPts val="0"/>
              </a:spcAft>
            </a:pPr>
            <a:r>
              <a:rPr lang="en-US" altLang="zh-CN" sz="3000" dirty="0" smtClean="0">
                <a:solidFill>
                  <a:srgbClr val="CC0000"/>
                </a:solidFill>
                <a:latin typeface="黑体" panose="02010609060101010101" pitchFamily="49" charset="-122"/>
                <a:ea typeface="黑体" panose="02010609060101010101" pitchFamily="49" charset="-122"/>
              </a:rPr>
              <a:t>1.2-4 </a:t>
            </a:r>
            <a:r>
              <a:rPr lang="zh-CN" altLang="en-US" sz="3000" dirty="0">
                <a:solidFill>
                  <a:srgbClr val="CC0000"/>
                </a:solidFill>
                <a:latin typeface="黑体" panose="02010609060101010101" pitchFamily="49" charset="-122"/>
                <a:ea typeface="黑体" panose="02010609060101010101" pitchFamily="49" charset="-122"/>
              </a:rPr>
              <a:t>机械零件的主要失效形式</a:t>
            </a:r>
            <a:endParaRPr lang="zh-CN" altLang="en-US" sz="3000" dirty="0">
              <a:solidFill>
                <a:srgbClr val="CC0000"/>
              </a:solidFill>
              <a:latin typeface="黑体" panose="02010609060101010101" pitchFamily="49" charset="-122"/>
              <a:ea typeface="黑体" panose="02010609060101010101" pitchFamily="49" charset="-122"/>
            </a:endParaRPr>
          </a:p>
        </p:txBody>
      </p:sp>
      <p:sp>
        <p:nvSpPr>
          <p:cNvPr id="13"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up)">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left)">
                                      <p:cBhvr>
                                        <p:cTn id="24" dur="500"/>
                                        <p:tgtEl>
                                          <p:spTgt spid="5"/>
                                        </p:tgtEl>
                                      </p:cBhvr>
                                    </p:animEffect>
                                  </p:childTnLst>
                                </p:cTn>
                              </p:par>
                              <p:par>
                                <p:cTn id="25" presetID="22" presetClass="entr" presetSubtype="8"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p:cNvSpPr>
            <a:spLocks noGrp="1" noChangeArrowheads="1"/>
          </p:cNvSpPr>
          <p:nvPr>
            <p:ph type="title" idx="4294967295"/>
          </p:nvPr>
        </p:nvSpPr>
        <p:spPr bwMode="auto">
          <a:xfrm>
            <a:off x="7467600" y="685800"/>
            <a:ext cx="16764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Aft>
                <a:spcPts val="0"/>
              </a:spcAft>
            </a:pPr>
            <a:r>
              <a:rPr lang="zh-CN" altLang="en-US" sz="800" smtClean="0">
                <a:solidFill>
                  <a:schemeClr val="bg1"/>
                </a:solidFill>
                <a:latin typeface="楷体_GB2312" pitchFamily="49" charset="-122"/>
                <a:ea typeface="楷体_GB2312" pitchFamily="49" charset="-122"/>
              </a:rPr>
              <a:t>机械零件的主要失效形式</a:t>
            </a:r>
            <a:r>
              <a:rPr lang="en-US" altLang="zh-CN" sz="800" smtClean="0">
                <a:solidFill>
                  <a:schemeClr val="bg1"/>
                </a:solidFill>
                <a:latin typeface="楷体_GB2312" pitchFamily="49" charset="-122"/>
                <a:ea typeface="楷体_GB2312" pitchFamily="49" charset="-122"/>
              </a:rPr>
              <a:t>4</a:t>
            </a:r>
            <a:endParaRPr lang="en-US" altLang="zh-CN" sz="800" smtClean="0">
              <a:solidFill>
                <a:schemeClr val="bg1"/>
              </a:solidFill>
              <a:latin typeface="楷体_GB2312" pitchFamily="49" charset="-122"/>
              <a:ea typeface="楷体_GB2312" pitchFamily="49" charset="-122"/>
            </a:endParaRPr>
          </a:p>
        </p:txBody>
      </p:sp>
      <p:sp>
        <p:nvSpPr>
          <p:cNvPr id="12290" name="Rectangle 3"/>
          <p:cNvSpPr>
            <a:spLocks noChangeArrowheads="1"/>
          </p:cNvSpPr>
          <p:nvPr/>
        </p:nvSpPr>
        <p:spPr bwMode="auto">
          <a:xfrm>
            <a:off x="2819400" y="304800"/>
            <a:ext cx="6172200" cy="427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p>
            <a:pPr>
              <a:spcAft>
                <a:spcPts val="0"/>
              </a:spcAft>
            </a:pPr>
            <a:r>
              <a:rPr lang="en-US" altLang="zh-CN" sz="3000" dirty="0" smtClean="0">
                <a:solidFill>
                  <a:srgbClr val="CC0000"/>
                </a:solidFill>
                <a:latin typeface="黑体" panose="02010609060101010101" pitchFamily="49" charset="-122"/>
                <a:ea typeface="黑体" panose="02010609060101010101" pitchFamily="49" charset="-122"/>
              </a:rPr>
              <a:t>1.2-4 </a:t>
            </a:r>
            <a:r>
              <a:rPr lang="zh-CN" altLang="en-US" sz="3000" dirty="0">
                <a:solidFill>
                  <a:srgbClr val="CC0000"/>
                </a:solidFill>
                <a:latin typeface="黑体" panose="02010609060101010101" pitchFamily="49" charset="-122"/>
                <a:ea typeface="黑体" panose="02010609060101010101" pitchFamily="49" charset="-122"/>
              </a:rPr>
              <a:t>机械零件的主要失效形式</a:t>
            </a:r>
            <a:endParaRPr lang="zh-CN" altLang="en-US" sz="3000" dirty="0">
              <a:solidFill>
                <a:srgbClr val="CC0000"/>
              </a:solidFill>
              <a:latin typeface="黑体" panose="02010609060101010101" pitchFamily="49" charset="-122"/>
              <a:ea typeface="黑体" panose="02010609060101010101" pitchFamily="49" charset="-122"/>
            </a:endParaRPr>
          </a:p>
        </p:txBody>
      </p:sp>
      <p:sp>
        <p:nvSpPr>
          <p:cNvPr id="99335" name="Text Box 7"/>
          <p:cNvSpPr txBox="1">
            <a:spLocks noChangeArrowheads="1"/>
          </p:cNvSpPr>
          <p:nvPr/>
        </p:nvSpPr>
        <p:spPr bwMode="auto">
          <a:xfrm>
            <a:off x="93317" y="888448"/>
            <a:ext cx="505968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20000"/>
              </a:lnSpc>
              <a:spcAft>
                <a:spcPts val="0"/>
              </a:spcAft>
            </a:pPr>
            <a:r>
              <a:rPr lang="zh-CN" altLang="en-US" sz="2400" dirty="0">
                <a:solidFill>
                  <a:srgbClr val="FF0000"/>
                </a:solidFill>
                <a:latin typeface="黑体" panose="02010609060101010101" pitchFamily="49" charset="-122"/>
                <a:ea typeface="黑体" panose="02010609060101010101" pitchFamily="49" charset="-122"/>
              </a:rPr>
              <a:t>（四）破坏正常工作条件引起的失效</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99336" name="Text Box 8"/>
          <p:cNvSpPr txBox="1">
            <a:spLocks noChangeArrowheads="1"/>
          </p:cNvSpPr>
          <p:nvPr/>
        </p:nvSpPr>
        <p:spPr bwMode="auto">
          <a:xfrm>
            <a:off x="145774" y="1530074"/>
            <a:ext cx="8229600" cy="497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spcAft>
                <a:spcPts val="0"/>
              </a:spcAft>
            </a:pPr>
            <a:r>
              <a:rPr lang="en-US" altLang="zh-CN" dirty="0">
                <a:solidFill>
                  <a:srgbClr val="000099"/>
                </a:solidFill>
              </a:rPr>
              <a:t>      </a:t>
            </a:r>
            <a:r>
              <a:rPr lang="zh-CN" altLang="en-US" dirty="0">
                <a:solidFill>
                  <a:srgbClr val="000099"/>
                </a:solidFill>
              </a:rPr>
              <a:t>有些零件只有在一定的工作条件下才能正常的工作，如：</a:t>
            </a:r>
            <a:endParaRPr lang="zh-CN" altLang="en-US" dirty="0">
              <a:solidFill>
                <a:srgbClr val="000099"/>
              </a:solidFill>
            </a:endParaRPr>
          </a:p>
        </p:txBody>
      </p:sp>
      <p:sp>
        <p:nvSpPr>
          <p:cNvPr id="99352" name="Text Box 24"/>
          <p:cNvSpPr txBox="1">
            <a:spLocks noChangeArrowheads="1"/>
          </p:cNvSpPr>
          <p:nvPr/>
        </p:nvSpPr>
        <p:spPr bwMode="auto">
          <a:xfrm>
            <a:off x="372805" y="2295903"/>
            <a:ext cx="8619297" cy="1850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spcAft>
                <a:spcPts val="0"/>
              </a:spcAft>
              <a:buSzPct val="75000"/>
              <a:buFontTx/>
              <a:buBlip>
                <a:blip r:embed="rId1"/>
              </a:buBlip>
            </a:pPr>
            <a:r>
              <a:rPr lang="en-US" altLang="zh-CN" dirty="0"/>
              <a:t> </a:t>
            </a:r>
            <a:r>
              <a:rPr lang="zh-CN" altLang="en-US" dirty="0">
                <a:solidFill>
                  <a:srgbClr val="000099"/>
                </a:solidFill>
              </a:rPr>
              <a:t>液体摩擦的滑动轴承，只有在存在完整的润滑油膜时才能正常工作。</a:t>
            </a:r>
            <a:endParaRPr lang="zh-CN" altLang="en-US" dirty="0">
              <a:solidFill>
                <a:srgbClr val="000099"/>
              </a:solidFill>
            </a:endParaRPr>
          </a:p>
          <a:p>
            <a:pPr>
              <a:lnSpc>
                <a:spcPct val="130000"/>
              </a:lnSpc>
              <a:buSzPct val="75000"/>
              <a:buFontTx/>
              <a:buBlip>
                <a:blip r:embed="rId1"/>
              </a:buBlip>
            </a:pPr>
            <a:r>
              <a:rPr lang="zh-CN" altLang="en-US" dirty="0">
                <a:solidFill>
                  <a:srgbClr val="000099"/>
                </a:solidFill>
              </a:rPr>
              <a:t> 带传动只有在传递的有效圆周力小于临界摩擦力时才能正常工作。</a:t>
            </a:r>
            <a:endParaRPr lang="zh-CN" altLang="en-US" dirty="0">
              <a:solidFill>
                <a:srgbClr val="000099"/>
              </a:solidFill>
            </a:endParaRPr>
          </a:p>
          <a:p>
            <a:pPr>
              <a:lnSpc>
                <a:spcPct val="130000"/>
              </a:lnSpc>
              <a:buSzPct val="75000"/>
              <a:buFontTx/>
              <a:buBlip>
                <a:blip r:embed="rId1"/>
              </a:buBlip>
            </a:pPr>
            <a:r>
              <a:rPr lang="zh-CN" altLang="en-US" dirty="0">
                <a:solidFill>
                  <a:srgbClr val="000099"/>
                </a:solidFill>
              </a:rPr>
              <a:t> 高速转动的零件，只有在转速与转动件系统的固有频率避开一个适当的间隔才能正常工作。</a:t>
            </a:r>
            <a:endParaRPr lang="zh-CN" altLang="en-US" dirty="0">
              <a:solidFill>
                <a:srgbClr val="000099"/>
              </a:solidFill>
            </a:endParaRPr>
          </a:p>
        </p:txBody>
      </p:sp>
      <p:sp>
        <p:nvSpPr>
          <p:cNvPr id="99354" name="Text Box 26"/>
          <p:cNvSpPr txBox="1">
            <a:spLocks noChangeArrowheads="1"/>
          </p:cNvSpPr>
          <p:nvPr/>
        </p:nvSpPr>
        <p:spPr bwMode="auto">
          <a:xfrm>
            <a:off x="392240" y="4488283"/>
            <a:ext cx="7888771" cy="1308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spcAft>
                <a:spcPts val="0"/>
              </a:spcAft>
            </a:pPr>
            <a:r>
              <a:rPr lang="zh-CN" altLang="en-US" dirty="0">
                <a:solidFill>
                  <a:srgbClr val="000099"/>
                </a:solidFill>
              </a:rPr>
              <a:t>　　大约</a:t>
            </a:r>
            <a:r>
              <a:rPr lang="en-US" altLang="en-US" dirty="0">
                <a:solidFill>
                  <a:srgbClr val="FF0000"/>
                </a:solidFill>
              </a:rPr>
              <a:t>80%</a:t>
            </a:r>
            <a:r>
              <a:rPr lang="zh-CN" altLang="en-US" dirty="0">
                <a:solidFill>
                  <a:srgbClr val="000099"/>
                </a:solidFill>
              </a:rPr>
              <a:t>左右的零件失效是由腐蚀、磨损和各种疲劳破坏所引起的，所以可以说，腐蚀、磨损和疲劳是引起零件失效的主要原因。</a:t>
            </a:r>
            <a:endParaRPr lang="zh-CN" altLang="en-US" dirty="0">
              <a:solidFill>
                <a:srgbClr val="000099"/>
              </a:solidFill>
            </a:endParaRPr>
          </a:p>
        </p:txBody>
      </p:sp>
      <p:sp>
        <p:nvSpPr>
          <p:cNvPr id="99355" name="Text Box 27"/>
          <p:cNvSpPr txBox="1">
            <a:spLocks noChangeArrowheads="1"/>
          </p:cNvSpPr>
          <p:nvPr/>
        </p:nvSpPr>
        <p:spPr bwMode="auto">
          <a:xfrm>
            <a:off x="4721225" y="6149975"/>
            <a:ext cx="4635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a:t>　</a:t>
            </a:r>
            <a:endParaRPr lang="zh-CN" altLang="en-US"/>
          </a:p>
        </p:txBody>
      </p:sp>
      <p:sp>
        <p:nvSpPr>
          <p:cNvPr id="12298"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9335"/>
                                        </p:tgtEl>
                                        <p:attrNameLst>
                                          <p:attrName>style.visibility</p:attrName>
                                        </p:attrNameLst>
                                      </p:cBhvr>
                                      <p:to>
                                        <p:strVal val="visible"/>
                                      </p:to>
                                    </p:set>
                                    <p:animEffect transition="in" filter="wipe(left)">
                                      <p:cBhvr>
                                        <p:cTn id="7" dur="500"/>
                                        <p:tgtEl>
                                          <p:spTgt spid="993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9336"/>
                                        </p:tgtEl>
                                        <p:attrNameLst>
                                          <p:attrName>style.visibility</p:attrName>
                                        </p:attrNameLst>
                                      </p:cBhvr>
                                      <p:to>
                                        <p:strVal val="visible"/>
                                      </p:to>
                                    </p:set>
                                    <p:animEffect transition="in" filter="wipe(left)">
                                      <p:cBhvr>
                                        <p:cTn id="12" dur="500"/>
                                        <p:tgtEl>
                                          <p:spTgt spid="99336"/>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99352"/>
                                        </p:tgtEl>
                                        <p:attrNameLst>
                                          <p:attrName>style.visibility</p:attrName>
                                        </p:attrNameLst>
                                      </p:cBhvr>
                                      <p:to>
                                        <p:strVal val="visible"/>
                                      </p:to>
                                    </p:set>
                                    <p:animEffect transition="in" filter="wipe(up)">
                                      <p:cBhvr>
                                        <p:cTn id="16" dur="500"/>
                                        <p:tgtEl>
                                          <p:spTgt spid="9935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9354"/>
                                        </p:tgtEl>
                                        <p:attrNameLst>
                                          <p:attrName>style.visibility</p:attrName>
                                        </p:attrNameLst>
                                      </p:cBhvr>
                                      <p:to>
                                        <p:strVal val="visible"/>
                                      </p:to>
                                    </p:set>
                                    <p:animEffect transition="in" filter="wipe(left)">
                                      <p:cBhvr>
                                        <p:cTn id="21" dur="500"/>
                                        <p:tgtEl>
                                          <p:spTgt spid="99354"/>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grpId="0" nodeType="clickEffect">
                                  <p:stCondLst>
                                    <p:cond delay="0"/>
                                  </p:stCondLst>
                                  <p:childTnLst>
                                    <p:set>
                                      <p:cBhvr>
                                        <p:cTn id="25" dur="1" fill="hold">
                                          <p:stCondLst>
                                            <p:cond delay="0"/>
                                          </p:stCondLst>
                                        </p:cTn>
                                        <p:tgtEl>
                                          <p:spTgt spid="99355"/>
                                        </p:tgtEl>
                                        <p:attrNameLst>
                                          <p:attrName>style.visibility</p:attrName>
                                        </p:attrNameLst>
                                      </p:cBhvr>
                                      <p:to>
                                        <p:strVal val="visible"/>
                                      </p:to>
                                    </p:set>
                                    <p:anim calcmode="lin" valueType="num">
                                      <p:cBhvr additive="base">
                                        <p:cTn id="26" dur="500" fill="hold"/>
                                        <p:tgtEl>
                                          <p:spTgt spid="99355"/>
                                        </p:tgtEl>
                                        <p:attrNameLst>
                                          <p:attrName>ppt_x</p:attrName>
                                        </p:attrNameLst>
                                      </p:cBhvr>
                                      <p:tavLst>
                                        <p:tav tm="0">
                                          <p:val>
                                            <p:strVal val="0-#ppt_w/2"/>
                                          </p:val>
                                        </p:tav>
                                        <p:tav tm="100000">
                                          <p:val>
                                            <p:strVal val="#ppt_x"/>
                                          </p:val>
                                        </p:tav>
                                      </p:tavLst>
                                    </p:anim>
                                    <p:anim calcmode="lin" valueType="num">
                                      <p:cBhvr additive="base">
                                        <p:cTn id="27" dur="500" fill="hold"/>
                                        <p:tgtEl>
                                          <p:spTgt spid="993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5" grpId="0"/>
      <p:bldP spid="99336" grpId="0"/>
      <p:bldP spid="99352" grpId="0"/>
      <p:bldP spid="99354" grpId="0"/>
      <p:bldP spid="9935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ChangeArrowheads="1"/>
          </p:cNvSpPr>
          <p:nvPr>
            <p:ph type="title"/>
          </p:nvPr>
        </p:nvSpPr>
        <p:spPr bwMode="auto">
          <a:xfrm>
            <a:off x="5257800" y="685800"/>
            <a:ext cx="16002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spcAft>
                <a:spcPts val="0"/>
              </a:spcAft>
            </a:pPr>
            <a:r>
              <a:rPr lang="zh-CN" altLang="en-US" sz="800" dirty="0" smtClean="0">
                <a:solidFill>
                  <a:schemeClr val="bg1"/>
                </a:solidFill>
                <a:latin typeface="楷体_GB2312" pitchFamily="49" charset="-122"/>
                <a:ea typeface="楷体_GB2312" pitchFamily="49" charset="-122"/>
              </a:rPr>
              <a:t>设计机械零件时应满足的基本要求</a:t>
            </a:r>
            <a:endParaRPr lang="zh-CN" altLang="en-US" sz="800" dirty="0" smtClean="0">
              <a:solidFill>
                <a:schemeClr val="bg1"/>
              </a:solidFill>
              <a:latin typeface="楷体_GB2312" pitchFamily="49" charset="-122"/>
              <a:ea typeface="楷体_GB2312" pitchFamily="49" charset="-122"/>
            </a:endParaRPr>
          </a:p>
        </p:txBody>
      </p:sp>
      <p:sp>
        <p:nvSpPr>
          <p:cNvPr id="13314" name="Rectangle 4"/>
          <p:cNvSpPr>
            <a:spLocks noChangeArrowheads="1"/>
          </p:cNvSpPr>
          <p:nvPr/>
        </p:nvSpPr>
        <p:spPr bwMode="auto">
          <a:xfrm>
            <a:off x="1270000" y="304800"/>
            <a:ext cx="72517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p>
            <a:pPr>
              <a:spcAft>
                <a:spcPts val="0"/>
              </a:spcAft>
            </a:pPr>
            <a:r>
              <a:rPr lang="en-US" altLang="zh-CN" sz="3000" dirty="0" smtClean="0">
                <a:solidFill>
                  <a:srgbClr val="CC0000"/>
                </a:solidFill>
                <a:latin typeface="黑体" panose="02010609060101010101" pitchFamily="49" charset="-122"/>
                <a:ea typeface="黑体" panose="02010609060101010101" pitchFamily="49" charset="-122"/>
              </a:rPr>
              <a:t> </a:t>
            </a:r>
            <a:r>
              <a:rPr lang="zh-CN" altLang="en-US" sz="3000" dirty="0">
                <a:solidFill>
                  <a:srgbClr val="CC0000"/>
                </a:solidFill>
                <a:latin typeface="黑体" panose="02010609060101010101" pitchFamily="49" charset="-122"/>
                <a:ea typeface="黑体" panose="02010609060101010101" pitchFamily="49" charset="-122"/>
              </a:rPr>
              <a:t>设计机械零件时应满足的基本要求</a:t>
            </a:r>
            <a:endParaRPr lang="zh-CN" altLang="en-US" sz="3000" dirty="0">
              <a:solidFill>
                <a:srgbClr val="CC0000"/>
              </a:solidFill>
              <a:latin typeface="黑体" panose="02010609060101010101" pitchFamily="49" charset="-122"/>
              <a:ea typeface="黑体" panose="02010609060101010101" pitchFamily="49" charset="-122"/>
            </a:endParaRPr>
          </a:p>
        </p:txBody>
      </p:sp>
      <p:sp>
        <p:nvSpPr>
          <p:cNvPr id="70661" name="Rectangle 5"/>
          <p:cNvSpPr>
            <a:spLocks noChangeArrowheads="1"/>
          </p:cNvSpPr>
          <p:nvPr/>
        </p:nvSpPr>
        <p:spPr bwMode="auto">
          <a:xfrm>
            <a:off x="248844" y="1167128"/>
            <a:ext cx="56388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Aft>
                <a:spcPts val="0"/>
              </a:spcAft>
              <a:buClr>
                <a:srgbClr val="CC0000"/>
              </a:buClr>
              <a:buSzPct val="80000"/>
            </a:pPr>
            <a:r>
              <a:rPr lang="en-US" altLang="zh-CN" sz="2400" dirty="0">
                <a:solidFill>
                  <a:srgbClr val="0000FF"/>
                </a:solidFill>
                <a:latin typeface="黑体" panose="02010609060101010101" pitchFamily="49" charset="-122"/>
                <a:ea typeface="黑体" panose="02010609060101010101" pitchFamily="49" charset="-122"/>
              </a:rPr>
              <a:t>1. </a:t>
            </a:r>
            <a:r>
              <a:rPr lang="zh-CN" altLang="en-US" sz="2400" dirty="0">
                <a:solidFill>
                  <a:srgbClr val="0000FF"/>
                </a:solidFill>
                <a:latin typeface="黑体" panose="02010609060101010101" pitchFamily="49" charset="-122"/>
                <a:ea typeface="黑体" panose="02010609060101010101" pitchFamily="49" charset="-122"/>
              </a:rPr>
              <a:t>避免在预定寿命期内失效的要求</a:t>
            </a:r>
            <a:endParaRPr lang="zh-CN" altLang="en-US" sz="2400" dirty="0">
              <a:solidFill>
                <a:srgbClr val="0000FF"/>
              </a:solidFill>
              <a:latin typeface="黑体" panose="02010609060101010101" pitchFamily="49" charset="-122"/>
              <a:ea typeface="黑体" panose="02010609060101010101" pitchFamily="49" charset="-122"/>
            </a:endParaRPr>
          </a:p>
        </p:txBody>
      </p:sp>
      <p:sp>
        <p:nvSpPr>
          <p:cNvPr id="70664" name="Rectangle 8"/>
          <p:cNvSpPr>
            <a:spLocks noChangeArrowheads="1"/>
          </p:cNvSpPr>
          <p:nvPr/>
        </p:nvSpPr>
        <p:spPr bwMode="auto">
          <a:xfrm>
            <a:off x="476153" y="1792609"/>
            <a:ext cx="4648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Aft>
                <a:spcPts val="0"/>
              </a:spcAft>
              <a:buClr>
                <a:srgbClr val="CC0000"/>
              </a:buClr>
              <a:buSzPct val="80000"/>
            </a:pPr>
            <a:r>
              <a:rPr lang="en-US" altLang="zh-CN" dirty="0">
                <a:solidFill>
                  <a:srgbClr val="000099"/>
                </a:solidFill>
                <a:latin typeface="Times New Roman" panose="02020603050405020304" pitchFamily="18" charset="0"/>
              </a:rPr>
              <a:t> </a:t>
            </a:r>
            <a:r>
              <a:rPr lang="zh-CN" altLang="en-US" sz="2400" dirty="0">
                <a:solidFill>
                  <a:srgbClr val="FF0000"/>
                </a:solidFill>
                <a:latin typeface="黑体" panose="02010609060101010101" pitchFamily="49" charset="-122"/>
                <a:ea typeface="黑体" panose="02010609060101010101" pitchFamily="49" charset="-122"/>
              </a:rPr>
              <a:t>（</a:t>
            </a:r>
            <a:r>
              <a:rPr lang="en-US" altLang="zh-CN" sz="2400" dirty="0">
                <a:solidFill>
                  <a:srgbClr val="FF0000"/>
                </a:solidFill>
                <a:latin typeface="黑体" panose="02010609060101010101" pitchFamily="49" charset="-122"/>
                <a:ea typeface="黑体" panose="02010609060101010101" pitchFamily="49" charset="-122"/>
              </a:rPr>
              <a:t>1</a:t>
            </a:r>
            <a:r>
              <a:rPr lang="zh-CN" altLang="en-US" sz="2400" dirty="0">
                <a:solidFill>
                  <a:srgbClr val="FF0000"/>
                </a:solidFill>
                <a:latin typeface="黑体" panose="02010609060101010101" pitchFamily="49" charset="-122"/>
                <a:ea typeface="黑体" panose="02010609060101010101" pitchFamily="49" charset="-122"/>
              </a:rPr>
              <a:t>）强度</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70665" name="Rectangle 9"/>
          <p:cNvSpPr>
            <a:spLocks noChangeArrowheads="1"/>
          </p:cNvSpPr>
          <p:nvPr/>
        </p:nvSpPr>
        <p:spPr bwMode="auto">
          <a:xfrm>
            <a:off x="364378" y="5197280"/>
            <a:ext cx="855980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Aft>
                <a:spcPts val="0"/>
              </a:spcAft>
              <a:buClr>
                <a:srgbClr val="CC0000"/>
              </a:buClr>
              <a:buSzPct val="80000"/>
            </a:pPr>
            <a:r>
              <a:rPr lang="zh-CN" altLang="en-US" dirty="0">
                <a:solidFill>
                  <a:srgbClr val="000099"/>
                </a:solidFill>
                <a:latin typeface="Times New Roman" panose="02020603050405020304" pitchFamily="18" charset="0"/>
              </a:rPr>
              <a:t>       零件在工作</a:t>
            </a:r>
            <a:r>
              <a:rPr lang="zh-CN" altLang="en-US" dirty="0" smtClean="0">
                <a:solidFill>
                  <a:srgbClr val="000099"/>
                </a:solidFill>
                <a:latin typeface="Times New Roman" panose="02020603050405020304" pitchFamily="18" charset="0"/>
              </a:rPr>
              <a:t>时生</a:t>
            </a:r>
            <a:r>
              <a:rPr lang="zh-CN" altLang="en-US" dirty="0">
                <a:solidFill>
                  <a:srgbClr val="000099"/>
                </a:solidFill>
                <a:latin typeface="Times New Roman" panose="02020603050405020304" pitchFamily="18" charset="0"/>
              </a:rPr>
              <a:t>超过规定要求的弹性</a:t>
            </a:r>
            <a:r>
              <a:rPr lang="zh-CN" altLang="en-US" dirty="0" smtClean="0">
                <a:solidFill>
                  <a:srgbClr val="000099"/>
                </a:solidFill>
                <a:latin typeface="Times New Roman" panose="02020603050405020304" pitchFamily="18" charset="0"/>
              </a:rPr>
              <a:t>变形量，则属于零件刚度不足。</a:t>
            </a:r>
            <a:endParaRPr lang="zh-CN" altLang="en-US" dirty="0">
              <a:solidFill>
                <a:srgbClr val="000099"/>
              </a:solidFill>
              <a:latin typeface="Times New Roman" panose="02020603050405020304" pitchFamily="18" charset="0"/>
            </a:endParaRPr>
          </a:p>
        </p:txBody>
      </p:sp>
      <p:sp>
        <p:nvSpPr>
          <p:cNvPr id="70677" name="Rectangle 21"/>
          <p:cNvSpPr>
            <a:spLocks noChangeArrowheads="1"/>
          </p:cNvSpPr>
          <p:nvPr/>
        </p:nvSpPr>
        <p:spPr bwMode="auto">
          <a:xfrm>
            <a:off x="614366" y="3859598"/>
            <a:ext cx="760730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Aft>
                <a:spcPts val="0"/>
              </a:spcAft>
              <a:buClr>
                <a:srgbClr val="CC0000"/>
              </a:buClr>
              <a:buSzPct val="80000"/>
              <a:buFont typeface="Wingdings" panose="05000000000000000000" pitchFamily="2" charset="2"/>
              <a:buNone/>
            </a:pPr>
            <a:r>
              <a:rPr lang="zh-CN" altLang="en-US" dirty="0">
                <a:solidFill>
                  <a:srgbClr val="000099"/>
                </a:solidFill>
                <a:latin typeface="华文中宋" panose="02010600040101010101" pitchFamily="2" charset="-122"/>
              </a:rPr>
              <a:t>零件具有适当的强度是设计零件时必须满足的</a:t>
            </a:r>
            <a:r>
              <a:rPr lang="zh-CN" altLang="en-US" dirty="0">
                <a:solidFill>
                  <a:srgbClr val="FF0000"/>
                </a:solidFill>
                <a:latin typeface="华文中宋" panose="02010600040101010101" pitchFamily="2" charset="-122"/>
              </a:rPr>
              <a:t>最基本要求</a:t>
            </a:r>
            <a:r>
              <a:rPr lang="zh-CN" altLang="en-US" dirty="0">
                <a:solidFill>
                  <a:srgbClr val="000099"/>
                </a:solidFill>
                <a:latin typeface="华文中宋" panose="02010600040101010101" pitchFamily="2" charset="-122"/>
              </a:rPr>
              <a:t>。</a:t>
            </a:r>
            <a:endParaRPr lang="zh-CN" altLang="en-US" dirty="0">
              <a:solidFill>
                <a:srgbClr val="000099"/>
              </a:solidFill>
              <a:latin typeface="华文中宋" panose="02010600040101010101" pitchFamily="2" charset="-122"/>
            </a:endParaRPr>
          </a:p>
        </p:txBody>
      </p:sp>
      <p:sp>
        <p:nvSpPr>
          <p:cNvPr id="17" name="矩形 16"/>
          <p:cNvSpPr>
            <a:spLocks noChangeArrowheads="1"/>
          </p:cNvSpPr>
          <p:nvPr/>
        </p:nvSpPr>
        <p:spPr bwMode="auto">
          <a:xfrm>
            <a:off x="318985" y="2271394"/>
            <a:ext cx="8623300" cy="1360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5000"/>
              </a:lnSpc>
              <a:spcAft>
                <a:spcPts val="0"/>
              </a:spcAft>
            </a:pPr>
            <a:r>
              <a:rPr lang="zh-CN" altLang="en-US" dirty="0">
                <a:solidFill>
                  <a:srgbClr val="000099"/>
                </a:solidFill>
                <a:latin typeface="华文中宋" panose="02010600040101010101" pitchFamily="2" charset="-122"/>
              </a:rPr>
              <a:t>       零件在工作</a:t>
            </a:r>
            <a:r>
              <a:rPr lang="zh-CN" altLang="en-US" dirty="0" smtClean="0">
                <a:solidFill>
                  <a:srgbClr val="000099"/>
                </a:solidFill>
                <a:latin typeface="华文中宋" panose="02010600040101010101" pitchFamily="2" charset="-122"/>
              </a:rPr>
              <a:t>中</a:t>
            </a:r>
            <a:r>
              <a:rPr lang="en-US" altLang="zh-CN" dirty="0">
                <a:solidFill>
                  <a:srgbClr val="000099"/>
                </a:solidFill>
                <a:latin typeface="华文中宋" panose="02010600040101010101" pitchFamily="2" charset="-122"/>
              </a:rPr>
              <a:t>(</a:t>
            </a:r>
            <a:r>
              <a:rPr lang="zh-CN" altLang="en-US" dirty="0" smtClean="0">
                <a:solidFill>
                  <a:srgbClr val="00B050"/>
                </a:solidFill>
                <a:latin typeface="华文中宋" panose="02010600040101010101" pitchFamily="2" charset="-122"/>
              </a:rPr>
              <a:t>在</a:t>
            </a:r>
            <a:r>
              <a:rPr lang="zh-CN" altLang="en-US" dirty="0">
                <a:solidFill>
                  <a:srgbClr val="00B050"/>
                </a:solidFill>
                <a:latin typeface="华文中宋" panose="02010600040101010101" pitchFamily="2" charset="-122"/>
              </a:rPr>
              <a:t>预定的寿命期</a:t>
            </a:r>
            <a:r>
              <a:rPr lang="zh-CN" altLang="en-US" dirty="0" smtClean="0">
                <a:solidFill>
                  <a:srgbClr val="00B050"/>
                </a:solidFill>
                <a:latin typeface="华文中宋" panose="02010600040101010101" pitchFamily="2" charset="-122"/>
              </a:rPr>
              <a:t>内</a:t>
            </a:r>
            <a:r>
              <a:rPr lang="en-US" altLang="zh-CN" dirty="0">
                <a:solidFill>
                  <a:srgbClr val="000099"/>
                </a:solidFill>
                <a:latin typeface="华文中宋" panose="02010600040101010101" pitchFamily="2" charset="-122"/>
              </a:rPr>
              <a:t>)</a:t>
            </a:r>
            <a:r>
              <a:rPr lang="zh-CN" altLang="en-US" dirty="0" smtClean="0">
                <a:solidFill>
                  <a:srgbClr val="000099"/>
                </a:solidFill>
                <a:latin typeface="华文中宋" panose="02010600040101010101" pitchFamily="2" charset="-122"/>
              </a:rPr>
              <a:t>发生</a:t>
            </a:r>
            <a:r>
              <a:rPr lang="zh-CN" altLang="en-US" dirty="0">
                <a:solidFill>
                  <a:srgbClr val="000099"/>
                </a:solidFill>
                <a:latin typeface="华文中宋" panose="02010600040101010101" pitchFamily="2" charset="-122"/>
              </a:rPr>
              <a:t>断裂或出现不允许的残余变形等失效</a:t>
            </a:r>
            <a:r>
              <a:rPr lang="zh-CN" altLang="en-US" dirty="0" smtClean="0">
                <a:solidFill>
                  <a:srgbClr val="000099"/>
                </a:solidFill>
                <a:latin typeface="华文中宋" panose="02010600040101010101" pitchFamily="2" charset="-122"/>
              </a:rPr>
              <a:t>形式（</a:t>
            </a:r>
            <a:r>
              <a:rPr lang="zh-CN" altLang="en-US" dirty="0" smtClean="0">
                <a:solidFill>
                  <a:srgbClr val="00B050"/>
                </a:solidFill>
                <a:latin typeface="华文中宋" panose="02010600040101010101" pitchFamily="2" charset="-122"/>
              </a:rPr>
              <a:t>除了用于安全装置中预定适时破坏的零件</a:t>
            </a:r>
            <a:r>
              <a:rPr lang="en-US" altLang="zh-CN" dirty="0" smtClean="0">
                <a:solidFill>
                  <a:srgbClr val="000099"/>
                </a:solidFill>
                <a:latin typeface="华文中宋" panose="02010600040101010101" pitchFamily="2" charset="-122"/>
              </a:rPr>
              <a:t>)</a:t>
            </a:r>
            <a:r>
              <a:rPr lang="zh-CN" altLang="en-US" dirty="0" smtClean="0">
                <a:solidFill>
                  <a:srgbClr val="000099"/>
                </a:solidFill>
                <a:latin typeface="华文中宋" panose="02010600040101010101" pitchFamily="2" charset="-122"/>
              </a:rPr>
              <a:t>都为零件</a:t>
            </a:r>
            <a:r>
              <a:rPr lang="zh-CN" altLang="en-US" dirty="0">
                <a:solidFill>
                  <a:srgbClr val="000099"/>
                </a:solidFill>
                <a:latin typeface="华文中宋" panose="02010600040101010101" pitchFamily="2" charset="-122"/>
              </a:rPr>
              <a:t>强度</a:t>
            </a:r>
            <a:r>
              <a:rPr lang="zh-CN" altLang="en-US" dirty="0" smtClean="0">
                <a:solidFill>
                  <a:srgbClr val="000099"/>
                </a:solidFill>
                <a:latin typeface="华文中宋" panose="02010600040101010101" pitchFamily="2" charset="-122"/>
              </a:rPr>
              <a:t>不足。</a:t>
            </a:r>
            <a:endParaRPr lang="zh-CN" altLang="en-US" dirty="0">
              <a:solidFill>
                <a:srgbClr val="000099"/>
              </a:solidFill>
              <a:latin typeface="华文中宋" panose="02010600040101010101" pitchFamily="2" charset="-122"/>
            </a:endParaRPr>
          </a:p>
        </p:txBody>
      </p:sp>
      <p:sp>
        <p:nvSpPr>
          <p:cNvPr id="22" name="Rectangle 8"/>
          <p:cNvSpPr>
            <a:spLocks noChangeArrowheads="1"/>
          </p:cNvSpPr>
          <p:nvPr/>
        </p:nvSpPr>
        <p:spPr bwMode="auto">
          <a:xfrm>
            <a:off x="402097" y="4667259"/>
            <a:ext cx="4648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Aft>
                <a:spcPts val="0"/>
              </a:spcAft>
              <a:buClr>
                <a:srgbClr val="CC0000"/>
              </a:buClr>
              <a:buSzPct val="80000"/>
            </a:pPr>
            <a:r>
              <a:rPr lang="en-US" altLang="zh-CN" dirty="0">
                <a:solidFill>
                  <a:srgbClr val="000099"/>
                </a:solidFill>
                <a:latin typeface="Times New Roman" panose="02020603050405020304" pitchFamily="18" charset="0"/>
              </a:rPr>
              <a:t> </a:t>
            </a:r>
            <a:r>
              <a:rPr lang="zh-CN" altLang="en-US" sz="2400" dirty="0">
                <a:solidFill>
                  <a:srgbClr val="FF0000"/>
                </a:solidFill>
                <a:latin typeface="黑体" panose="02010609060101010101" pitchFamily="49" charset="-122"/>
                <a:ea typeface="黑体" panose="02010609060101010101" pitchFamily="49" charset="-122"/>
              </a:rPr>
              <a:t>（</a:t>
            </a:r>
            <a:r>
              <a:rPr lang="en-US" altLang="zh-CN" sz="2400" dirty="0">
                <a:solidFill>
                  <a:srgbClr val="FF0000"/>
                </a:solidFill>
                <a:latin typeface="黑体" panose="02010609060101010101" pitchFamily="49" charset="-122"/>
                <a:ea typeface="黑体" panose="02010609060101010101" pitchFamily="49" charset="-122"/>
              </a:rPr>
              <a:t>2</a:t>
            </a:r>
            <a:r>
              <a:rPr lang="zh-CN" altLang="en-US" sz="2400" dirty="0">
                <a:solidFill>
                  <a:srgbClr val="FF0000"/>
                </a:solidFill>
                <a:latin typeface="黑体" panose="02010609060101010101" pitchFamily="49" charset="-122"/>
                <a:ea typeface="黑体" panose="02010609060101010101" pitchFamily="49" charset="-122"/>
              </a:rPr>
              <a:t>）刚度</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13325"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0661"/>
                                        </p:tgtEl>
                                        <p:attrNameLst>
                                          <p:attrName>style.visibility</p:attrName>
                                        </p:attrNameLst>
                                      </p:cBhvr>
                                      <p:to>
                                        <p:strVal val="visible"/>
                                      </p:to>
                                    </p:set>
                                    <p:animEffect transition="in" filter="wipe(left)">
                                      <p:cBhvr>
                                        <p:cTn id="7" dur="500"/>
                                        <p:tgtEl>
                                          <p:spTgt spid="7066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0664"/>
                                        </p:tgtEl>
                                        <p:attrNameLst>
                                          <p:attrName>style.visibility</p:attrName>
                                        </p:attrNameLst>
                                      </p:cBhvr>
                                      <p:to>
                                        <p:strVal val="visible"/>
                                      </p:to>
                                    </p:set>
                                    <p:animEffect transition="in" filter="wipe(left)">
                                      <p:cBhvr>
                                        <p:cTn id="12" dur="500"/>
                                        <p:tgtEl>
                                          <p:spTgt spid="7066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067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left)">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70665"/>
                                        </p:tgtEl>
                                        <p:attrNameLst>
                                          <p:attrName>style.visibility</p:attrName>
                                        </p:attrNameLst>
                                      </p:cBhvr>
                                      <p:to>
                                        <p:strVal val="visible"/>
                                      </p:to>
                                    </p:set>
                                    <p:animEffect transition="in" filter="wipe(left)">
                                      <p:cBhvr>
                                        <p:cTn id="30" dur="500"/>
                                        <p:tgtEl>
                                          <p:spTgt spid="706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1" grpId="0"/>
      <p:bldP spid="70664" grpId="0"/>
      <p:bldP spid="70665" grpId="0"/>
      <p:bldP spid="70677" grpId="0"/>
      <p:bldP spid="17" grpId="0"/>
      <p:bldP spid="2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ChangeArrowheads="1"/>
          </p:cNvSpPr>
          <p:nvPr>
            <p:ph type="title"/>
          </p:nvPr>
        </p:nvSpPr>
        <p:spPr bwMode="auto">
          <a:xfrm>
            <a:off x="5257800" y="685800"/>
            <a:ext cx="16002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spcAft>
                <a:spcPts val="0"/>
              </a:spcAft>
            </a:pPr>
            <a:r>
              <a:rPr lang="zh-CN" altLang="en-US" sz="800" smtClean="0">
                <a:solidFill>
                  <a:schemeClr val="bg1"/>
                </a:solidFill>
                <a:latin typeface="楷体_GB2312" pitchFamily="49" charset="-122"/>
                <a:ea typeface="楷体_GB2312" pitchFamily="49" charset="-122"/>
              </a:rPr>
              <a:t>设计机械零件时应满足的基本要求</a:t>
            </a:r>
            <a:endParaRPr lang="zh-CN" altLang="en-US" sz="800" smtClean="0">
              <a:solidFill>
                <a:schemeClr val="bg1"/>
              </a:solidFill>
              <a:latin typeface="楷体_GB2312" pitchFamily="49" charset="-122"/>
              <a:ea typeface="楷体_GB2312" pitchFamily="49" charset="-122"/>
            </a:endParaRPr>
          </a:p>
        </p:txBody>
      </p:sp>
      <p:sp>
        <p:nvSpPr>
          <p:cNvPr id="14338" name="Rectangle 4"/>
          <p:cNvSpPr>
            <a:spLocks noChangeArrowheads="1"/>
          </p:cNvSpPr>
          <p:nvPr/>
        </p:nvSpPr>
        <p:spPr bwMode="auto">
          <a:xfrm>
            <a:off x="927100" y="304800"/>
            <a:ext cx="7205663"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p>
            <a:pPr>
              <a:spcAft>
                <a:spcPts val="0"/>
              </a:spcAft>
            </a:pPr>
            <a:r>
              <a:rPr lang="en-US" altLang="zh-CN" sz="3000" dirty="0" smtClean="0">
                <a:solidFill>
                  <a:srgbClr val="CC0000"/>
                </a:solidFill>
                <a:latin typeface="黑体" panose="02010609060101010101" pitchFamily="49" charset="-122"/>
                <a:ea typeface="黑体" panose="02010609060101010101" pitchFamily="49" charset="-122"/>
              </a:rPr>
              <a:t> </a:t>
            </a:r>
            <a:r>
              <a:rPr lang="zh-CN" altLang="en-US" sz="3000" dirty="0">
                <a:solidFill>
                  <a:srgbClr val="CC0000"/>
                </a:solidFill>
                <a:latin typeface="黑体" panose="02010609060101010101" pitchFamily="49" charset="-122"/>
                <a:ea typeface="黑体" panose="02010609060101010101" pitchFamily="49" charset="-122"/>
              </a:rPr>
              <a:t>设计机械零件时应满足的基本要求</a:t>
            </a:r>
            <a:endParaRPr lang="zh-CN" altLang="en-US" sz="3000" dirty="0">
              <a:solidFill>
                <a:srgbClr val="CC0000"/>
              </a:solidFill>
              <a:latin typeface="黑体" panose="02010609060101010101" pitchFamily="49" charset="-122"/>
              <a:ea typeface="黑体" panose="02010609060101010101" pitchFamily="49" charset="-122"/>
            </a:endParaRPr>
          </a:p>
        </p:txBody>
      </p:sp>
      <p:sp>
        <p:nvSpPr>
          <p:cNvPr id="70664" name="Rectangle 8"/>
          <p:cNvSpPr>
            <a:spLocks noChangeArrowheads="1"/>
          </p:cNvSpPr>
          <p:nvPr/>
        </p:nvSpPr>
        <p:spPr bwMode="auto">
          <a:xfrm>
            <a:off x="355199" y="1343477"/>
            <a:ext cx="4648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Aft>
                <a:spcPts val="0"/>
              </a:spcAft>
              <a:buClr>
                <a:srgbClr val="CC0000"/>
              </a:buClr>
              <a:buSzPct val="80000"/>
            </a:pPr>
            <a:r>
              <a:rPr lang="en-US" altLang="zh-CN" dirty="0">
                <a:solidFill>
                  <a:srgbClr val="000099"/>
                </a:solidFill>
                <a:latin typeface="Times New Roman" panose="02020603050405020304" pitchFamily="18" charset="0"/>
              </a:rPr>
              <a:t> </a:t>
            </a:r>
            <a:r>
              <a:rPr lang="zh-CN" altLang="en-US" sz="2400" dirty="0">
                <a:solidFill>
                  <a:srgbClr val="FF0000"/>
                </a:solidFill>
                <a:latin typeface="黑体" panose="02010609060101010101" pitchFamily="49" charset="-122"/>
                <a:ea typeface="黑体" panose="02010609060101010101" pitchFamily="49" charset="-122"/>
              </a:rPr>
              <a:t>（</a:t>
            </a:r>
            <a:r>
              <a:rPr lang="en-US" altLang="zh-CN" sz="2400" dirty="0">
                <a:solidFill>
                  <a:srgbClr val="FF0000"/>
                </a:solidFill>
                <a:latin typeface="黑体" panose="02010609060101010101" pitchFamily="49" charset="-122"/>
                <a:ea typeface="黑体" panose="02010609060101010101" pitchFamily="49" charset="-122"/>
              </a:rPr>
              <a:t>3</a:t>
            </a:r>
            <a:r>
              <a:rPr lang="zh-CN" altLang="en-US" sz="2400" dirty="0">
                <a:solidFill>
                  <a:srgbClr val="FF0000"/>
                </a:solidFill>
                <a:latin typeface="黑体" panose="02010609060101010101" pitchFamily="49" charset="-122"/>
                <a:ea typeface="黑体" panose="02010609060101010101" pitchFamily="49" charset="-122"/>
              </a:rPr>
              <a:t>）寿命</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70677" name="Rectangle 21"/>
          <p:cNvSpPr>
            <a:spLocks noChangeArrowheads="1"/>
          </p:cNvSpPr>
          <p:nvPr/>
        </p:nvSpPr>
        <p:spPr bwMode="auto">
          <a:xfrm>
            <a:off x="250123" y="3270225"/>
            <a:ext cx="882650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5000"/>
              </a:lnSpc>
              <a:spcAft>
                <a:spcPts val="0"/>
              </a:spcAft>
              <a:buClr>
                <a:srgbClr val="CC0000"/>
              </a:buClr>
              <a:buSzPct val="80000"/>
              <a:buFont typeface="Wingdings" panose="05000000000000000000" pitchFamily="2" charset="2"/>
              <a:buNone/>
            </a:pPr>
            <a:r>
              <a:rPr lang="zh-CN" altLang="en-US" sz="2400" dirty="0">
                <a:solidFill>
                  <a:srgbClr val="000099"/>
                </a:solidFill>
                <a:latin typeface="黑体" panose="02010609060101010101" pitchFamily="49" charset="-122"/>
                <a:ea typeface="黑体" panose="02010609060101010101" pitchFamily="49" charset="-122"/>
              </a:rPr>
              <a:t>     </a:t>
            </a:r>
            <a:r>
              <a:rPr lang="zh-CN" altLang="en-US" sz="2400" dirty="0" smtClean="0">
                <a:solidFill>
                  <a:srgbClr val="000099"/>
                </a:solidFill>
                <a:latin typeface="黑体" panose="02010609060101010101" pitchFamily="49" charset="-122"/>
                <a:ea typeface="黑体" panose="02010609060101010101" pitchFamily="49" charset="-122"/>
              </a:rPr>
              <a:t>影响</a:t>
            </a:r>
            <a:r>
              <a:rPr lang="zh-CN" altLang="en-US" sz="2400" dirty="0">
                <a:solidFill>
                  <a:srgbClr val="000099"/>
                </a:solidFill>
                <a:latin typeface="黑体" panose="02010609060101010101" pitchFamily="49" charset="-122"/>
                <a:ea typeface="黑体" panose="02010609060101010101" pitchFamily="49" charset="-122"/>
              </a:rPr>
              <a:t>零件寿命的主要因素有：</a:t>
            </a:r>
            <a:r>
              <a:rPr lang="zh-CN" altLang="en-US" sz="2400" dirty="0">
                <a:solidFill>
                  <a:srgbClr val="0000FF"/>
                </a:solidFill>
                <a:latin typeface="黑体" panose="02010609060101010101" pitchFamily="49" charset="-122"/>
                <a:ea typeface="黑体" panose="02010609060101010101" pitchFamily="49" charset="-122"/>
              </a:rPr>
              <a:t>材料的疲劳</a:t>
            </a:r>
            <a:r>
              <a:rPr lang="zh-CN" altLang="en-US" sz="2400" dirty="0">
                <a:solidFill>
                  <a:srgbClr val="002060"/>
                </a:solidFill>
                <a:latin typeface="黑体" panose="02010609060101010101" pitchFamily="49" charset="-122"/>
                <a:ea typeface="黑体" panose="02010609060101010101" pitchFamily="49" charset="-122"/>
              </a:rPr>
              <a:t>，</a:t>
            </a:r>
            <a:r>
              <a:rPr lang="zh-CN" altLang="en-US" sz="2400" dirty="0">
                <a:solidFill>
                  <a:srgbClr val="0000FF"/>
                </a:solidFill>
                <a:latin typeface="黑体" panose="02010609060101010101" pitchFamily="49" charset="-122"/>
                <a:ea typeface="黑体" panose="02010609060101010101" pitchFamily="49" charset="-122"/>
              </a:rPr>
              <a:t>材料的腐蚀</a:t>
            </a:r>
            <a:r>
              <a:rPr lang="zh-CN" altLang="en-US" sz="2400" dirty="0">
                <a:solidFill>
                  <a:srgbClr val="002060"/>
                </a:solidFill>
                <a:latin typeface="黑体" panose="02010609060101010101" pitchFamily="49" charset="-122"/>
                <a:ea typeface="黑体" panose="02010609060101010101" pitchFamily="49" charset="-122"/>
              </a:rPr>
              <a:t>以及</a:t>
            </a:r>
            <a:r>
              <a:rPr lang="zh-CN" altLang="en-US" sz="2400" dirty="0">
                <a:solidFill>
                  <a:srgbClr val="0000FF"/>
                </a:solidFill>
                <a:latin typeface="黑体" panose="02010609060101010101" pitchFamily="49" charset="-122"/>
                <a:ea typeface="黑体" panose="02010609060101010101" pitchFamily="49" charset="-122"/>
              </a:rPr>
              <a:t>相对运动零件接触表面的磨损</a:t>
            </a:r>
            <a:r>
              <a:rPr lang="zh-CN" altLang="en-US" sz="2400" dirty="0">
                <a:solidFill>
                  <a:srgbClr val="000099"/>
                </a:solidFill>
                <a:latin typeface="黑体" panose="02010609060101010101" pitchFamily="49" charset="-122"/>
                <a:ea typeface="黑体" panose="02010609060101010101" pitchFamily="49" charset="-122"/>
              </a:rPr>
              <a:t>等三个方面。</a:t>
            </a:r>
            <a:endParaRPr lang="zh-CN" altLang="en-US" sz="2400" dirty="0">
              <a:solidFill>
                <a:srgbClr val="000099"/>
              </a:solidFill>
              <a:latin typeface="黑体" panose="02010609060101010101" pitchFamily="49" charset="-122"/>
              <a:ea typeface="黑体" panose="02010609060101010101" pitchFamily="49" charset="-122"/>
            </a:endParaRPr>
          </a:p>
        </p:txBody>
      </p:sp>
      <p:sp>
        <p:nvSpPr>
          <p:cNvPr id="17" name="矩形 16"/>
          <p:cNvSpPr>
            <a:spLocks noChangeArrowheads="1"/>
          </p:cNvSpPr>
          <p:nvPr/>
        </p:nvSpPr>
        <p:spPr bwMode="auto">
          <a:xfrm>
            <a:off x="346777" y="2088231"/>
            <a:ext cx="886460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5000"/>
              </a:lnSpc>
              <a:spcAft>
                <a:spcPts val="0"/>
              </a:spcAft>
            </a:pPr>
            <a:r>
              <a:rPr lang="zh-CN" altLang="en-US" dirty="0">
                <a:solidFill>
                  <a:srgbClr val="000099"/>
                </a:solidFill>
                <a:latin typeface="华文中宋" panose="02010600040101010101" pitchFamily="2" charset="-122"/>
              </a:rPr>
              <a:t>       </a:t>
            </a:r>
            <a:r>
              <a:rPr lang="zh-CN" altLang="en-US" sz="2400" dirty="0">
                <a:solidFill>
                  <a:srgbClr val="000099"/>
                </a:solidFill>
                <a:latin typeface="黑体" panose="02010609060101010101" pitchFamily="49" charset="-122"/>
                <a:ea typeface="黑体" panose="02010609060101010101" pitchFamily="49" charset="-122"/>
              </a:rPr>
              <a:t>零件在规定条件下完成规定功能的延续时间称为零件的寿命。零件应在其预定的寿命期内不发生失效。</a:t>
            </a:r>
            <a:endParaRPr lang="zh-CN" altLang="en-US" sz="2400" dirty="0">
              <a:solidFill>
                <a:srgbClr val="000099"/>
              </a:solidFill>
              <a:latin typeface="黑体" panose="02010609060101010101" pitchFamily="49" charset="-122"/>
              <a:ea typeface="黑体" panose="02010609060101010101" pitchFamily="49" charset="-122"/>
            </a:endParaRPr>
          </a:p>
        </p:txBody>
      </p:sp>
      <p:sp>
        <p:nvSpPr>
          <p:cNvPr id="14347"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0664"/>
                                        </p:tgtEl>
                                        <p:attrNameLst>
                                          <p:attrName>style.visibility</p:attrName>
                                        </p:attrNameLst>
                                      </p:cBhvr>
                                      <p:to>
                                        <p:strVal val="visible"/>
                                      </p:to>
                                    </p:set>
                                    <p:animEffect transition="in" filter="wipe(left)">
                                      <p:cBhvr>
                                        <p:cTn id="7" dur="500"/>
                                        <p:tgtEl>
                                          <p:spTgt spid="7066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706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4" grpId="0"/>
      <p:bldP spid="70677" grpId="0"/>
      <p:bldP spid="1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81" name="Text Box 17"/>
          <p:cNvSpPr txBox="1">
            <a:spLocks noChangeArrowheads="1"/>
          </p:cNvSpPr>
          <p:nvPr/>
        </p:nvSpPr>
        <p:spPr bwMode="auto">
          <a:xfrm>
            <a:off x="633680" y="1022121"/>
            <a:ext cx="35004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spcAft>
                <a:spcPts val="0"/>
              </a:spcAft>
            </a:pPr>
            <a:r>
              <a:rPr lang="zh-CN" altLang="en-US" b="0" dirty="0">
                <a:solidFill>
                  <a:srgbClr val="0000FF"/>
                </a:solidFill>
                <a:latin typeface="黑体" panose="02010609060101010101" pitchFamily="49" charset="-122"/>
                <a:ea typeface="黑体" panose="02010609060101010101" pitchFamily="49" charset="-122"/>
              </a:rPr>
              <a:t>零件的工作能力 </a:t>
            </a:r>
            <a:r>
              <a:rPr lang="en-US" altLang="zh-CN" b="0" dirty="0">
                <a:solidFill>
                  <a:srgbClr val="002060"/>
                </a:solidFill>
                <a:latin typeface="黑体" panose="02010609060101010101" pitchFamily="49" charset="-122"/>
                <a:ea typeface="黑体" panose="02010609060101010101" pitchFamily="49" charset="-122"/>
              </a:rPr>
              <a:t>——</a:t>
            </a:r>
            <a:endParaRPr lang="en-US" altLang="zh-CN" b="0" dirty="0">
              <a:solidFill>
                <a:srgbClr val="002060"/>
              </a:solidFill>
              <a:latin typeface="黑体" panose="02010609060101010101" pitchFamily="49" charset="-122"/>
              <a:ea typeface="黑体" panose="02010609060101010101" pitchFamily="49" charset="-122"/>
            </a:endParaRPr>
          </a:p>
        </p:txBody>
      </p:sp>
      <p:grpSp>
        <p:nvGrpSpPr>
          <p:cNvPr id="2" name="Group 18"/>
          <p:cNvGrpSpPr/>
          <p:nvPr/>
        </p:nvGrpSpPr>
        <p:grpSpPr bwMode="auto">
          <a:xfrm>
            <a:off x="1963787" y="2556071"/>
            <a:ext cx="2133600" cy="2438400"/>
            <a:chOff x="768" y="1632"/>
            <a:chExt cx="1344" cy="1536"/>
          </a:xfrm>
        </p:grpSpPr>
        <p:sp>
          <p:nvSpPr>
            <p:cNvPr id="19467" name="Freeform 19"/>
            <p:cNvSpPr/>
            <p:nvPr/>
          </p:nvSpPr>
          <p:spPr bwMode="auto">
            <a:xfrm>
              <a:off x="768" y="2064"/>
              <a:ext cx="624" cy="624"/>
            </a:xfrm>
            <a:custGeom>
              <a:avLst/>
              <a:gdLst>
                <a:gd name="T0" fmla="*/ 288 w 624"/>
                <a:gd name="T1" fmla="*/ 0 h 624"/>
                <a:gd name="T2" fmla="*/ 0 w 624"/>
                <a:gd name="T3" fmla="*/ 336 h 624"/>
                <a:gd name="T4" fmla="*/ 288 w 624"/>
                <a:gd name="T5" fmla="*/ 624 h 624"/>
                <a:gd name="T6" fmla="*/ 624 w 624"/>
                <a:gd name="T7" fmla="*/ 336 h 624"/>
                <a:gd name="T8" fmla="*/ 0 60000 65536"/>
                <a:gd name="T9" fmla="*/ 0 60000 65536"/>
                <a:gd name="T10" fmla="*/ 0 60000 65536"/>
                <a:gd name="T11" fmla="*/ 0 60000 65536"/>
                <a:gd name="T12" fmla="*/ 0 w 624"/>
                <a:gd name="T13" fmla="*/ 0 h 624"/>
                <a:gd name="T14" fmla="*/ 624 w 624"/>
                <a:gd name="T15" fmla="*/ 624 h 624"/>
              </a:gdLst>
              <a:ahLst/>
              <a:cxnLst>
                <a:cxn ang="T8">
                  <a:pos x="T0" y="T1"/>
                </a:cxn>
                <a:cxn ang="T9">
                  <a:pos x="T2" y="T3"/>
                </a:cxn>
                <a:cxn ang="T10">
                  <a:pos x="T4" y="T5"/>
                </a:cxn>
                <a:cxn ang="T11">
                  <a:pos x="T6" y="T7"/>
                </a:cxn>
              </a:cxnLst>
              <a:rect l="T12" t="T13" r="T14" b="T15"/>
              <a:pathLst>
                <a:path w="624" h="624">
                  <a:moveTo>
                    <a:pt x="288" y="0"/>
                  </a:moveTo>
                  <a:cubicBezTo>
                    <a:pt x="144" y="116"/>
                    <a:pt x="0" y="232"/>
                    <a:pt x="0" y="336"/>
                  </a:cubicBezTo>
                  <a:cubicBezTo>
                    <a:pt x="0" y="440"/>
                    <a:pt x="184" y="624"/>
                    <a:pt x="288" y="624"/>
                  </a:cubicBezTo>
                  <a:cubicBezTo>
                    <a:pt x="392" y="624"/>
                    <a:pt x="508" y="480"/>
                    <a:pt x="624" y="336"/>
                  </a:cubicBezTo>
                </a:path>
              </a:pathLst>
            </a:custGeom>
            <a:noFill/>
            <a:ln w="50800" cap="flat" cmpd="sng">
              <a:solidFill>
                <a:srgbClr val="002060"/>
              </a:solidFill>
              <a:prstDash val="solid"/>
              <a:rou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19468" name="Line 20"/>
            <p:cNvSpPr>
              <a:spLocks noChangeShapeType="1"/>
            </p:cNvSpPr>
            <p:nvPr/>
          </p:nvSpPr>
          <p:spPr bwMode="auto">
            <a:xfrm flipV="1">
              <a:off x="1056" y="1776"/>
              <a:ext cx="0" cy="288"/>
            </a:xfrm>
            <a:prstGeom prst="line">
              <a:avLst/>
            </a:prstGeom>
            <a:noFill/>
            <a:ln w="50800">
              <a:solidFill>
                <a:srgbClr val="002060"/>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9469" name="Line 21"/>
            <p:cNvSpPr>
              <a:spLocks noChangeShapeType="1"/>
            </p:cNvSpPr>
            <p:nvPr/>
          </p:nvSpPr>
          <p:spPr bwMode="auto">
            <a:xfrm>
              <a:off x="864" y="1776"/>
              <a:ext cx="432" cy="0"/>
            </a:xfrm>
            <a:prstGeom prst="line">
              <a:avLst/>
            </a:prstGeom>
            <a:noFill/>
            <a:ln w="50800">
              <a:solidFill>
                <a:srgbClr val="002060"/>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9470" name="Line 22"/>
            <p:cNvSpPr>
              <a:spLocks noChangeShapeType="1"/>
            </p:cNvSpPr>
            <p:nvPr/>
          </p:nvSpPr>
          <p:spPr bwMode="auto">
            <a:xfrm>
              <a:off x="1056" y="2688"/>
              <a:ext cx="0" cy="480"/>
            </a:xfrm>
            <a:prstGeom prst="line">
              <a:avLst/>
            </a:prstGeom>
            <a:noFill/>
            <a:ln w="38100">
              <a:solidFill>
                <a:srgbClr val="CC0000"/>
              </a:solidFill>
              <a:round/>
              <a:tailEnd type="triangle" w="sm"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9471" name="Line 23"/>
            <p:cNvSpPr>
              <a:spLocks noChangeShapeType="1"/>
            </p:cNvSpPr>
            <p:nvPr/>
          </p:nvSpPr>
          <p:spPr bwMode="auto">
            <a:xfrm flipV="1">
              <a:off x="912" y="1632"/>
              <a:ext cx="144" cy="144"/>
            </a:xfrm>
            <a:prstGeom prst="line">
              <a:avLst/>
            </a:prstGeom>
            <a:noFill/>
            <a:ln w="25400">
              <a:solidFill>
                <a:srgbClr val="002060"/>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9472" name="Line 24"/>
            <p:cNvSpPr>
              <a:spLocks noChangeShapeType="1"/>
            </p:cNvSpPr>
            <p:nvPr/>
          </p:nvSpPr>
          <p:spPr bwMode="auto">
            <a:xfrm flipV="1">
              <a:off x="1056" y="1632"/>
              <a:ext cx="144" cy="144"/>
            </a:xfrm>
            <a:prstGeom prst="line">
              <a:avLst/>
            </a:prstGeom>
            <a:noFill/>
            <a:ln w="25400">
              <a:solidFill>
                <a:srgbClr val="002060"/>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9473" name="Line 25"/>
            <p:cNvSpPr>
              <a:spLocks noChangeShapeType="1"/>
            </p:cNvSpPr>
            <p:nvPr/>
          </p:nvSpPr>
          <p:spPr bwMode="auto">
            <a:xfrm flipV="1">
              <a:off x="1200" y="1632"/>
              <a:ext cx="144" cy="144"/>
            </a:xfrm>
            <a:prstGeom prst="line">
              <a:avLst/>
            </a:prstGeom>
            <a:noFill/>
            <a:ln w="25400">
              <a:solidFill>
                <a:srgbClr val="002060"/>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9474" name="Text Box 26"/>
            <p:cNvSpPr txBox="1">
              <a:spLocks noChangeArrowheads="1"/>
            </p:cNvSpPr>
            <p:nvPr/>
          </p:nvSpPr>
          <p:spPr bwMode="auto">
            <a:xfrm>
              <a:off x="1104" y="2880"/>
              <a:ext cx="10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en-US" altLang="zh-CN" dirty="0">
                  <a:solidFill>
                    <a:srgbClr val="002060"/>
                  </a:solidFill>
                </a:rPr>
                <a:t>50 </a:t>
              </a:r>
              <a:r>
                <a:rPr lang="en-US" altLang="zh-CN" dirty="0" err="1">
                  <a:solidFill>
                    <a:srgbClr val="002060"/>
                  </a:solidFill>
                </a:rPr>
                <a:t>kN</a:t>
              </a:r>
              <a:endParaRPr lang="en-US" altLang="zh-CN" dirty="0">
                <a:solidFill>
                  <a:srgbClr val="002060"/>
                </a:solidFill>
              </a:endParaRPr>
            </a:p>
          </p:txBody>
        </p:sp>
      </p:grpSp>
      <p:sp>
        <p:nvSpPr>
          <p:cNvPr id="216091" name="Text Box 27"/>
          <p:cNvSpPr txBox="1">
            <a:spLocks noChangeArrowheads="1"/>
          </p:cNvSpPr>
          <p:nvPr/>
        </p:nvSpPr>
        <p:spPr bwMode="auto">
          <a:xfrm>
            <a:off x="3399048" y="2989001"/>
            <a:ext cx="4495800"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lnSpc>
                <a:spcPct val="150000"/>
              </a:lnSpc>
              <a:spcAft>
                <a:spcPts val="0"/>
              </a:spcAft>
            </a:pPr>
            <a:r>
              <a:rPr lang="zh-CN" altLang="en-US" dirty="0">
                <a:solidFill>
                  <a:srgbClr val="002060"/>
                </a:solidFill>
                <a:ea typeface="黑体" panose="02010609060101010101" pitchFamily="49" charset="-122"/>
              </a:rPr>
              <a:t>吊钩最大起重量</a:t>
            </a:r>
            <a:r>
              <a:rPr lang="en-US" altLang="zh-CN" dirty="0">
                <a:solidFill>
                  <a:srgbClr val="002060"/>
                </a:solidFill>
                <a:ea typeface="黑体" panose="02010609060101010101" pitchFamily="49" charset="-122"/>
              </a:rPr>
              <a:t>——50 </a:t>
            </a:r>
            <a:r>
              <a:rPr lang="en-US" altLang="zh-CN" dirty="0" err="1">
                <a:solidFill>
                  <a:srgbClr val="002060"/>
                </a:solidFill>
                <a:ea typeface="黑体" panose="02010609060101010101" pitchFamily="49" charset="-122"/>
              </a:rPr>
              <a:t>kN</a:t>
            </a:r>
            <a:endParaRPr lang="en-US" altLang="zh-CN" dirty="0">
              <a:solidFill>
                <a:srgbClr val="002060"/>
              </a:solidFill>
              <a:ea typeface="黑体" panose="02010609060101010101" pitchFamily="49" charset="-122"/>
            </a:endParaRPr>
          </a:p>
          <a:p>
            <a:pPr eaLnBrk="1" hangingPunct="1">
              <a:lnSpc>
                <a:spcPct val="150000"/>
              </a:lnSpc>
              <a:spcBef>
                <a:spcPts val="0"/>
              </a:spcBef>
            </a:pPr>
            <a:r>
              <a:rPr lang="zh-CN" altLang="en-US" dirty="0">
                <a:solidFill>
                  <a:srgbClr val="002060"/>
                </a:solidFill>
                <a:ea typeface="黑体" panose="02010609060101010101" pitchFamily="49" charset="-122"/>
              </a:rPr>
              <a:t>工作能力或承载能力</a:t>
            </a:r>
            <a:r>
              <a:rPr lang="en-US" altLang="zh-CN" dirty="0">
                <a:solidFill>
                  <a:srgbClr val="002060"/>
                </a:solidFill>
                <a:ea typeface="黑体" panose="02010609060101010101" pitchFamily="49" charset="-122"/>
              </a:rPr>
              <a:t>——50 </a:t>
            </a:r>
            <a:r>
              <a:rPr lang="en-US" altLang="zh-CN" dirty="0" err="1">
                <a:solidFill>
                  <a:srgbClr val="002060"/>
                </a:solidFill>
                <a:ea typeface="黑体" panose="02010609060101010101" pitchFamily="49" charset="-122"/>
              </a:rPr>
              <a:t>kN</a:t>
            </a:r>
            <a:endParaRPr lang="en-US" altLang="zh-CN" dirty="0">
              <a:solidFill>
                <a:srgbClr val="002060"/>
              </a:solidFill>
              <a:ea typeface="黑体" panose="02010609060101010101" pitchFamily="49" charset="-122"/>
            </a:endParaRPr>
          </a:p>
        </p:txBody>
      </p:sp>
      <p:sp>
        <p:nvSpPr>
          <p:cNvPr id="216092" name="Text Box 28"/>
          <p:cNvSpPr txBox="1">
            <a:spLocks noChangeArrowheads="1"/>
          </p:cNvSpPr>
          <p:nvPr/>
        </p:nvSpPr>
        <p:spPr bwMode="auto">
          <a:xfrm>
            <a:off x="1133986" y="1555972"/>
            <a:ext cx="8175384" cy="829945"/>
          </a:xfrm>
          <a:prstGeom prst="rect">
            <a:avLst/>
          </a:prstGeom>
          <a:noFill/>
          <a:ln w="9525">
            <a:noFill/>
            <a:miter lim="800000"/>
          </a:ln>
          <a:effectLst/>
        </p:spPr>
        <p:txBody>
          <a:bodyPr wrap="square">
            <a:spAutoFit/>
          </a:bodyPr>
          <a:lstStyle/>
          <a:p>
            <a:pPr>
              <a:spcAft>
                <a:spcPts val="0"/>
              </a:spcAft>
              <a:defRPr/>
            </a:pPr>
            <a:r>
              <a:rPr lang="zh-CN" altLang="en-US" sz="2400" dirty="0">
                <a:ea typeface="黑体" panose="02010609060101010101" pitchFamily="49" charset="-122"/>
              </a:rPr>
              <a:t>这个限度通常是以零件承受载荷的大小来表示，</a:t>
            </a:r>
            <a:endParaRPr lang="zh-CN" altLang="en-US" sz="2400" dirty="0">
              <a:ea typeface="黑体" panose="02010609060101010101" pitchFamily="49" charset="-122"/>
            </a:endParaRPr>
          </a:p>
          <a:p>
            <a:pPr>
              <a:spcBef>
                <a:spcPts val="0"/>
              </a:spcBef>
              <a:defRPr/>
            </a:pPr>
            <a:r>
              <a:rPr lang="zh-CN" altLang="en-US" sz="2400" dirty="0">
                <a:ea typeface="黑体" panose="02010609060101010101" pitchFamily="49" charset="-122"/>
              </a:rPr>
              <a:t>所以又常称为“</a:t>
            </a:r>
            <a:r>
              <a:rPr lang="zh-CN" altLang="en-US" sz="2400" u="sng" dirty="0">
                <a:solidFill>
                  <a:srgbClr val="FF0066"/>
                </a:solidFill>
                <a:effectLst>
                  <a:outerShdw blurRad="38100" dist="38100" dir="2700000" algn="tl">
                    <a:srgbClr val="C0C0C0"/>
                  </a:outerShdw>
                </a:effectLst>
                <a:ea typeface="黑体" panose="02010609060101010101" pitchFamily="49" charset="-122"/>
              </a:rPr>
              <a:t>承载能力</a:t>
            </a:r>
            <a:r>
              <a:rPr lang="zh-CN" altLang="en-US" sz="2400" dirty="0">
                <a:ea typeface="黑体" panose="02010609060101010101" pitchFamily="49" charset="-122"/>
              </a:rPr>
              <a:t>”</a:t>
            </a:r>
            <a:endParaRPr lang="zh-CN" altLang="en-US" sz="2400" dirty="0">
              <a:ea typeface="黑体" panose="02010609060101010101" pitchFamily="49" charset="-122"/>
            </a:endParaRPr>
          </a:p>
        </p:txBody>
      </p:sp>
      <p:pic>
        <p:nvPicPr>
          <p:cNvPr id="216093" name="Picture 29" descr="起重机吊钩"/>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1742" y="2588017"/>
            <a:ext cx="1076325" cy="219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6094" name="Text Box 30"/>
          <p:cNvSpPr txBox="1">
            <a:spLocks noChangeArrowheads="1"/>
          </p:cNvSpPr>
          <p:nvPr/>
        </p:nvSpPr>
        <p:spPr bwMode="auto">
          <a:xfrm>
            <a:off x="3639153" y="1025721"/>
            <a:ext cx="48768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spcAft>
                <a:spcPts val="0"/>
              </a:spcAft>
            </a:pPr>
            <a:r>
              <a:rPr lang="zh-CN" altLang="en-US" dirty="0">
                <a:solidFill>
                  <a:srgbClr val="002060"/>
                </a:solidFill>
                <a:ea typeface="黑体" panose="02010609060101010101" pitchFamily="49" charset="-122"/>
              </a:rPr>
              <a:t>不失效条件下零件的安全工作限度</a:t>
            </a:r>
            <a:endParaRPr lang="zh-CN" altLang="en-US" dirty="0">
              <a:solidFill>
                <a:srgbClr val="002060"/>
              </a:solidFill>
              <a:ea typeface="黑体" panose="02010609060101010101" pitchFamily="49" charset="-122"/>
            </a:endParaRPr>
          </a:p>
        </p:txBody>
      </p:sp>
      <p:sp>
        <p:nvSpPr>
          <p:cNvPr id="18" name="Rectangle 3"/>
          <p:cNvSpPr>
            <a:spLocks noChangeArrowheads="1"/>
          </p:cNvSpPr>
          <p:nvPr/>
        </p:nvSpPr>
        <p:spPr bwMode="auto">
          <a:xfrm>
            <a:off x="2730500" y="258763"/>
            <a:ext cx="54991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p>
            <a:pPr>
              <a:spcAft>
                <a:spcPts val="0"/>
              </a:spcAft>
            </a:pPr>
            <a:r>
              <a:rPr lang="en-US" altLang="zh-CN" sz="3000" dirty="0" smtClean="0">
                <a:solidFill>
                  <a:srgbClr val="CC0000"/>
                </a:solidFill>
                <a:latin typeface="黑体" panose="02010609060101010101" pitchFamily="49" charset="-122"/>
                <a:ea typeface="黑体" panose="02010609060101010101" pitchFamily="49" charset="-122"/>
              </a:rPr>
              <a:t>1.2-5 </a:t>
            </a:r>
            <a:r>
              <a:rPr lang="zh-CN" altLang="en-US" sz="3000" dirty="0">
                <a:solidFill>
                  <a:srgbClr val="CC0000"/>
                </a:solidFill>
                <a:latin typeface="黑体" panose="02010609060101010101" pitchFamily="49" charset="-122"/>
                <a:ea typeface="黑体" panose="02010609060101010101" pitchFamily="49" charset="-122"/>
              </a:rPr>
              <a:t>机械零件的设计准则</a:t>
            </a:r>
            <a:endParaRPr lang="zh-CN" altLang="en-US" sz="3000" dirty="0">
              <a:solidFill>
                <a:srgbClr val="CC0000"/>
              </a:solidFill>
              <a:latin typeface="黑体" panose="02010609060101010101" pitchFamily="49" charset="-122"/>
              <a:ea typeface="黑体" panose="02010609060101010101" pitchFamily="49" charset="-122"/>
            </a:endParaRPr>
          </a:p>
        </p:txBody>
      </p:sp>
      <p:sp>
        <p:nvSpPr>
          <p:cNvPr id="19" name="直接连接符 6"/>
          <p:cNvSpPr>
            <a:spLocks noChangeShapeType="1"/>
          </p:cNvSpPr>
          <p:nvPr/>
        </p:nvSpPr>
        <p:spPr bwMode="auto">
          <a:xfrm>
            <a:off x="-144379" y="861427"/>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0" name="Rectangle 11"/>
          <p:cNvSpPr>
            <a:spLocks noChangeArrowheads="1"/>
          </p:cNvSpPr>
          <p:nvPr/>
        </p:nvSpPr>
        <p:spPr bwMode="auto">
          <a:xfrm>
            <a:off x="998623" y="5890642"/>
            <a:ext cx="6858000" cy="534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0000"/>
              </a:lnSpc>
              <a:spcAft>
                <a:spcPts val="0"/>
              </a:spcAft>
            </a:pPr>
            <a:r>
              <a:rPr kumimoji="1" lang="zh-CN" altLang="en-US" sz="2400" b="1" dirty="0">
                <a:latin typeface="Times New Roman" panose="02020603050405020304" pitchFamily="18" charset="0"/>
              </a:rPr>
              <a:t>防止失效的判定条件是：</a:t>
            </a:r>
            <a:r>
              <a:rPr kumimoji="1" lang="zh-CN" altLang="en-US" sz="2400" b="1" dirty="0">
                <a:solidFill>
                  <a:srgbClr val="0000CC"/>
                </a:solidFill>
                <a:latin typeface="Times New Roman" panose="02020603050405020304" pitchFamily="18" charset="0"/>
              </a:rPr>
              <a:t>计算量 </a:t>
            </a:r>
            <a:r>
              <a:rPr kumimoji="1" lang="en-US" altLang="zh-CN" sz="2400" b="1" dirty="0">
                <a:solidFill>
                  <a:schemeClr val="accent2"/>
                </a:solidFill>
                <a:latin typeface="Times New Roman" panose="02020603050405020304" pitchFamily="18" charset="0"/>
              </a:rPr>
              <a:t>&lt; </a:t>
            </a:r>
            <a:r>
              <a:rPr kumimoji="1" lang="en-US" altLang="zh-CN" sz="2400" b="1" dirty="0">
                <a:solidFill>
                  <a:srgbClr val="0000CC"/>
                </a:solidFill>
                <a:latin typeface="Times New Roman" panose="02020603050405020304" pitchFamily="18" charset="0"/>
              </a:rPr>
              <a:t>[</a:t>
            </a:r>
            <a:r>
              <a:rPr kumimoji="1" lang="zh-CN" altLang="en-US" sz="2400" b="1" dirty="0">
                <a:solidFill>
                  <a:srgbClr val="0000CC"/>
                </a:solidFill>
                <a:latin typeface="Times New Roman" panose="02020603050405020304" pitchFamily="18" charset="0"/>
              </a:rPr>
              <a:t>许用量</a:t>
            </a:r>
            <a:r>
              <a:rPr kumimoji="1" lang="en-US" altLang="zh-CN" sz="2400" b="1" dirty="0">
                <a:solidFill>
                  <a:srgbClr val="0000CC"/>
                </a:solidFill>
                <a:latin typeface="Times New Roman" panose="02020603050405020304" pitchFamily="18" charset="0"/>
              </a:rPr>
              <a:t>]</a:t>
            </a:r>
            <a:endParaRPr kumimoji="1" lang="en-US" altLang="zh-CN" sz="2400" b="1" dirty="0">
              <a:solidFill>
                <a:srgbClr val="0000CC"/>
              </a:solidFill>
              <a:latin typeface="Times New Roman" panose="02020603050405020304" pitchFamily="18" charset="0"/>
            </a:endParaRPr>
          </a:p>
        </p:txBody>
      </p:sp>
      <p:sp>
        <p:nvSpPr>
          <p:cNvPr id="3" name="矩形 2"/>
          <p:cNvSpPr/>
          <p:nvPr/>
        </p:nvSpPr>
        <p:spPr>
          <a:xfrm>
            <a:off x="259715" y="5300345"/>
            <a:ext cx="8401050" cy="429895"/>
          </a:xfrm>
          <a:prstGeom prst="rect">
            <a:avLst/>
          </a:prstGeom>
        </p:spPr>
        <p:txBody>
          <a:bodyPr wrap="square">
            <a:spAutoFit/>
          </a:bodyPr>
          <a:lstStyle/>
          <a:p>
            <a:pPr>
              <a:spcBef>
                <a:spcPct val="50000"/>
              </a:spcBef>
              <a:spcAft>
                <a:spcPts val="0"/>
              </a:spcAft>
            </a:pPr>
            <a:r>
              <a:rPr lang="zh-CN" altLang="en-US" dirty="0" smtClean="0">
                <a:solidFill>
                  <a:srgbClr val="0000FF"/>
                </a:solidFill>
                <a:latin typeface="黑体" panose="02010609060101010101" pitchFamily="49" charset="-122"/>
                <a:ea typeface="黑体" panose="02010609060101010101" pitchFamily="49" charset="-122"/>
              </a:rPr>
              <a:t>工作</a:t>
            </a:r>
            <a:r>
              <a:rPr lang="zh-CN" altLang="en-US" dirty="0">
                <a:solidFill>
                  <a:srgbClr val="0000FF"/>
                </a:solidFill>
                <a:latin typeface="黑体" panose="02010609060101010101" pitchFamily="49" charset="-122"/>
                <a:ea typeface="黑体" panose="02010609060101010101" pitchFamily="49" charset="-122"/>
              </a:rPr>
              <a:t>能力计算准则：</a:t>
            </a:r>
            <a:r>
              <a:rPr lang="zh-CN" altLang="en-US" dirty="0">
                <a:latin typeface="黑体" panose="02010609060101010101" pitchFamily="49" charset="-122"/>
                <a:ea typeface="黑体" panose="02010609060101010101" pitchFamily="49" charset="-122"/>
              </a:rPr>
              <a:t>为防止机械零件发生某种失效而应满足的条件。</a:t>
            </a:r>
            <a:endParaRPr lang="zh-CN" altLang="en-US" dirty="0">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216081"/>
                                        </p:tgtEl>
                                        <p:attrNameLst>
                                          <p:attrName>style.visibility</p:attrName>
                                        </p:attrNameLst>
                                      </p:cBhvr>
                                      <p:to>
                                        <p:strVal val="visible"/>
                                      </p:to>
                                    </p:set>
                                    <p:animEffect transition="in" filter="checkerboard(across)">
                                      <p:cBhvr>
                                        <p:cTn id="7" dur="500"/>
                                        <p:tgtEl>
                                          <p:spTgt spid="216081"/>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16094"/>
                                        </p:tgtEl>
                                        <p:attrNameLst>
                                          <p:attrName>style.visibility</p:attrName>
                                        </p:attrNameLst>
                                      </p:cBhvr>
                                      <p:to>
                                        <p:strVal val="visible"/>
                                      </p:to>
                                    </p:set>
                                    <p:animEffect transition="in" filter="checkerboard(across)">
                                      <p:cBhvr>
                                        <p:cTn id="12" dur="500"/>
                                        <p:tgtEl>
                                          <p:spTgt spid="216094"/>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16092"/>
                                        </p:tgtEl>
                                        <p:attrNameLst>
                                          <p:attrName>style.visibility</p:attrName>
                                        </p:attrNameLst>
                                      </p:cBhvr>
                                      <p:to>
                                        <p:strVal val="visible"/>
                                      </p:to>
                                    </p:set>
                                    <p:animEffect transition="in" filter="checkerboard(across)">
                                      <p:cBhvr>
                                        <p:cTn id="17" dur="500"/>
                                        <p:tgtEl>
                                          <p:spTgt spid="216092"/>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nodeType="clickEffect">
                                  <p:stCondLst>
                                    <p:cond delay="0"/>
                                  </p:stCondLst>
                                  <p:childTnLst>
                                    <p:set>
                                      <p:cBhvr>
                                        <p:cTn id="21" dur="1" fill="hold">
                                          <p:stCondLst>
                                            <p:cond delay="0"/>
                                          </p:stCondLst>
                                        </p:cTn>
                                        <p:tgtEl>
                                          <p:spTgt spid="216093"/>
                                        </p:tgtEl>
                                        <p:attrNameLst>
                                          <p:attrName>style.visibility</p:attrName>
                                        </p:attrNameLst>
                                      </p:cBhvr>
                                      <p:to>
                                        <p:strVal val="visible"/>
                                      </p:to>
                                    </p:set>
                                    <p:animEffect transition="in" filter="slide(fromLeft)">
                                      <p:cBhvr>
                                        <p:cTn id="22" dur="500"/>
                                        <p:tgtEl>
                                          <p:spTgt spid="216093"/>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slide(from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6091"/>
                                        </p:tgtEl>
                                        <p:attrNameLst>
                                          <p:attrName>style.visibility</p:attrName>
                                        </p:attrNameLst>
                                      </p:cBhvr>
                                      <p:to>
                                        <p:strVal val="visible"/>
                                      </p:to>
                                    </p:set>
                                    <p:animEffect transition="in" filter="wipe(left)">
                                      <p:cBhvr>
                                        <p:cTn id="32" dur="500"/>
                                        <p:tgtEl>
                                          <p:spTgt spid="21609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slide(fromTop)">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81" grpId="0" autoUpdateAnimBg="0"/>
      <p:bldP spid="216091" grpId="0" autoUpdateAnimBg="0"/>
      <p:bldP spid="216092" grpId="0" bldLvl="0" animBg="1" autoUpdateAnimBg="0"/>
      <p:bldP spid="216094" grpId="0" autoUpdateAnimBg="0"/>
      <p:bldP spid="20" grpId="0" bldLvl="0" animBg="1" autoUpdateAnimBg="0"/>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ChangeArrowheads="1"/>
          </p:cNvSpPr>
          <p:nvPr>
            <p:ph type="title"/>
          </p:nvPr>
        </p:nvSpPr>
        <p:spPr bwMode="auto">
          <a:xfrm>
            <a:off x="5257800" y="685800"/>
            <a:ext cx="16002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spcAft>
                <a:spcPts val="0"/>
              </a:spcAft>
            </a:pPr>
            <a:r>
              <a:rPr lang="zh-CN" altLang="en-US" sz="800" smtClean="0">
                <a:solidFill>
                  <a:schemeClr val="bg1"/>
                </a:solidFill>
                <a:latin typeface="华文中宋" panose="02010600040101010101" pitchFamily="2" charset="-122"/>
                <a:ea typeface="华文中宋" panose="02010600040101010101" pitchFamily="2" charset="-122"/>
              </a:rPr>
              <a:t>机械零件的计算准则</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16386" name="Rectangle 3"/>
          <p:cNvSpPr>
            <a:spLocks noChangeArrowheads="1"/>
          </p:cNvSpPr>
          <p:nvPr/>
        </p:nvSpPr>
        <p:spPr bwMode="auto">
          <a:xfrm>
            <a:off x="2730500" y="258763"/>
            <a:ext cx="54991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p>
            <a:pPr>
              <a:spcAft>
                <a:spcPts val="0"/>
              </a:spcAft>
            </a:pPr>
            <a:r>
              <a:rPr lang="en-US" altLang="zh-CN" sz="3000" dirty="0" smtClean="0">
                <a:solidFill>
                  <a:srgbClr val="CC0000"/>
                </a:solidFill>
                <a:latin typeface="黑体" panose="02010609060101010101" pitchFamily="49" charset="-122"/>
                <a:ea typeface="黑体" panose="02010609060101010101" pitchFamily="49" charset="-122"/>
              </a:rPr>
              <a:t>1.2-5</a:t>
            </a:r>
            <a:r>
              <a:rPr lang="zh-CN" altLang="en-US" sz="3000" dirty="0">
                <a:solidFill>
                  <a:srgbClr val="CC0000"/>
                </a:solidFill>
                <a:latin typeface="黑体" panose="02010609060101010101" pitchFamily="49" charset="-122"/>
                <a:ea typeface="黑体" panose="02010609060101010101" pitchFamily="49" charset="-122"/>
              </a:rPr>
              <a:t>机械零件的设计准则</a:t>
            </a:r>
            <a:endParaRPr lang="zh-CN" altLang="en-US" sz="3000" dirty="0">
              <a:solidFill>
                <a:srgbClr val="CC0000"/>
              </a:solidFill>
              <a:latin typeface="黑体" panose="02010609060101010101" pitchFamily="49" charset="-122"/>
              <a:ea typeface="黑体" panose="02010609060101010101" pitchFamily="49" charset="-122"/>
            </a:endParaRPr>
          </a:p>
        </p:txBody>
      </p:sp>
      <p:sp>
        <p:nvSpPr>
          <p:cNvPr id="81933" name="Text Box 13"/>
          <p:cNvSpPr txBox="1">
            <a:spLocks noChangeArrowheads="1"/>
          </p:cNvSpPr>
          <p:nvPr/>
        </p:nvSpPr>
        <p:spPr bwMode="auto">
          <a:xfrm>
            <a:off x="324221" y="930798"/>
            <a:ext cx="8610600" cy="970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spcAft>
                <a:spcPts val="0"/>
              </a:spcAft>
            </a:pPr>
            <a:r>
              <a:rPr lang="en-US" altLang="zh-CN" dirty="0">
                <a:solidFill>
                  <a:srgbClr val="000099"/>
                </a:solidFill>
              </a:rPr>
              <a:t>      </a:t>
            </a:r>
            <a:r>
              <a:rPr lang="zh-CN" altLang="en-US" dirty="0">
                <a:solidFill>
                  <a:srgbClr val="000099"/>
                </a:solidFill>
                <a:latin typeface="黑体" panose="02010609060101010101" pitchFamily="49" charset="-122"/>
                <a:ea typeface="黑体" panose="02010609060101010101" pitchFamily="49" charset="-122"/>
              </a:rPr>
              <a:t>设计零件时，首先应根据零件的失效形式确定其设计准则以及相应的设计计算方法。一般来讲，有以下几种准则：</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16396" name="Rectangle 3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16398" name="Rectangle 3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16400"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6" name="Text Box 21"/>
          <p:cNvSpPr txBox="1">
            <a:spLocks noChangeArrowheads="1"/>
          </p:cNvSpPr>
          <p:nvPr/>
        </p:nvSpPr>
        <p:spPr bwMode="auto">
          <a:xfrm>
            <a:off x="779127" y="2868279"/>
            <a:ext cx="8239743" cy="829945"/>
          </a:xfrm>
          <a:prstGeom prst="rect">
            <a:avLst/>
          </a:prstGeom>
          <a:noFill/>
          <a:ln>
            <a:noFill/>
          </a:ln>
          <a:effectLst/>
          <a:extLst>
            <a:ext uri="{909E8E84-426E-40DD-AFC4-6F175D3DCCD1}">
              <a14:hiddenFill xmlns:a14="http://schemas.microsoft.com/office/drawing/2010/main">
                <a:gradFill rotWithShape="1">
                  <a:gsLst>
                    <a:gs pos="0">
                      <a:srgbClr val="CCFFFF"/>
                    </a:gs>
                    <a:gs pos="100000">
                      <a:srgbClr val="CCFFFF">
                        <a:gamma/>
                        <a:shade val="46275"/>
                        <a:invGamma/>
                      </a:srgbClr>
                    </a:gs>
                  </a:gsLst>
                  <a:lin ang="5400000" scaled="1"/>
                </a:gradFill>
              </a14:hiddenFill>
            </a:ext>
            <a:ext uri="{91240B29-F687-4F45-9708-019B960494DF}">
              <a14:hiddenLine xmlns:a14="http://schemas.microsoft.com/office/drawing/2010/main" w="28575">
                <a:solidFill>
                  <a:srgbClr val="CC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spcAft>
                <a:spcPts val="0"/>
              </a:spcAft>
            </a:pPr>
            <a:r>
              <a:rPr kumimoji="1" lang="zh-CN" altLang="en-US" sz="2400" dirty="0">
                <a:latin typeface="黑体" panose="02010609060101010101" pitchFamily="49" charset="-122"/>
                <a:ea typeface="黑体" panose="02010609060101010101" pitchFamily="49" charset="-122"/>
              </a:rPr>
              <a:t>强度是机械零件工作能力的最基本</a:t>
            </a:r>
            <a:r>
              <a:rPr kumimoji="1" lang="zh-CN" altLang="en-US" sz="2400" dirty="0" smtClean="0">
                <a:latin typeface="黑体" panose="02010609060101010101" pitchFamily="49" charset="-122"/>
                <a:ea typeface="黑体" panose="02010609060101010101" pitchFamily="49" charset="-122"/>
              </a:rPr>
              <a:t>准则</a:t>
            </a:r>
            <a:r>
              <a:rPr kumimoji="1" lang="en-US" altLang="zh-CN" sz="2400" dirty="0" smtClean="0">
                <a:latin typeface="黑体" panose="02010609060101010101" pitchFamily="49" charset="-122"/>
                <a:ea typeface="黑体" panose="02010609060101010101" pitchFamily="49" charset="-122"/>
              </a:rPr>
              <a:t>----</a:t>
            </a:r>
            <a:r>
              <a:rPr lang="zh-CN" altLang="en-US" sz="2400" dirty="0" smtClean="0">
                <a:latin typeface="黑体" panose="02010609060101010101" pitchFamily="49" charset="-122"/>
                <a:ea typeface="黑体" panose="02010609060101010101" pitchFamily="49" charset="-122"/>
              </a:rPr>
              <a:t>抗</a:t>
            </a:r>
            <a:r>
              <a:rPr lang="zh-CN" altLang="en-US" sz="2400" dirty="0">
                <a:latin typeface="黑体" panose="02010609060101010101" pitchFamily="49" charset="-122"/>
                <a:ea typeface="黑体" panose="02010609060101010101" pitchFamily="49" charset="-122"/>
              </a:rPr>
              <a:t>整体断裂、接触疲劳、塑性变形的</a:t>
            </a:r>
            <a:r>
              <a:rPr lang="zh-CN" altLang="en-US" sz="2400" dirty="0" smtClean="0">
                <a:latin typeface="黑体" panose="02010609060101010101" pitchFamily="49" charset="-122"/>
                <a:ea typeface="黑体" panose="02010609060101010101" pitchFamily="49" charset="-122"/>
              </a:rPr>
              <a:t>能力。</a:t>
            </a:r>
            <a:endParaRPr lang="zh-CN" altLang="en-US" sz="2400" dirty="0">
              <a:latin typeface="黑体" panose="02010609060101010101" pitchFamily="49" charset="-122"/>
              <a:ea typeface="黑体" panose="02010609060101010101" pitchFamily="49" charset="-122"/>
            </a:endParaRPr>
          </a:p>
        </p:txBody>
      </p:sp>
      <p:sp>
        <p:nvSpPr>
          <p:cNvPr id="27" name="Rectangle 22"/>
          <p:cNvSpPr>
            <a:spLocks noChangeArrowheads="1"/>
          </p:cNvSpPr>
          <p:nvPr/>
        </p:nvSpPr>
        <p:spPr bwMode="auto">
          <a:xfrm>
            <a:off x="654385" y="4999874"/>
            <a:ext cx="75438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Aft>
                <a:spcPts val="0"/>
              </a:spcAft>
            </a:pPr>
            <a:r>
              <a:rPr kumimoji="1" lang="zh-CN" altLang="en-US" sz="2400" dirty="0">
                <a:solidFill>
                  <a:srgbClr val="0000FF"/>
                </a:solidFill>
                <a:latin typeface="黑体" panose="02010609060101010101" pitchFamily="49" charset="-122"/>
                <a:ea typeface="黑体" panose="02010609060101010101" pitchFamily="49" charset="-122"/>
              </a:rPr>
              <a:t>载荷系数</a:t>
            </a:r>
            <a:r>
              <a:rPr kumimoji="1" lang="en-US" altLang="zh-CN" sz="2400" dirty="0">
                <a:solidFill>
                  <a:srgbClr val="0000FF"/>
                </a:solidFill>
                <a:latin typeface="黑体" panose="02010609060101010101" pitchFamily="49" charset="-122"/>
                <a:ea typeface="黑体" panose="02010609060101010101" pitchFamily="49" charset="-122"/>
              </a:rPr>
              <a:t>K</a:t>
            </a:r>
            <a:r>
              <a:rPr kumimoji="1" lang="en-US" altLang="zh-CN" sz="2400" dirty="0">
                <a:latin typeface="黑体" panose="02010609060101010101" pitchFamily="49" charset="-122"/>
                <a:ea typeface="黑体" panose="02010609060101010101" pitchFamily="49" charset="-122"/>
              </a:rPr>
              <a:t>----</a:t>
            </a:r>
            <a:r>
              <a:rPr kumimoji="1" lang="zh-CN" altLang="en-US" sz="2400" dirty="0">
                <a:latin typeface="黑体" panose="02010609060101010101" pitchFamily="49" charset="-122"/>
                <a:ea typeface="黑体" panose="02010609060101010101" pitchFamily="49" charset="-122"/>
              </a:rPr>
              <a:t>考虑各种附加载荷因素的影响</a:t>
            </a:r>
            <a:r>
              <a:rPr kumimoji="1" lang="zh-CN" altLang="en-US" sz="2400" b="1" dirty="0">
                <a:latin typeface="幼圆" panose="02010509060101010101" pitchFamily="49" charset="-122"/>
                <a:ea typeface="幼圆" panose="02010509060101010101" pitchFamily="49" charset="-122"/>
              </a:rPr>
              <a:t>。</a:t>
            </a:r>
            <a:endParaRPr kumimoji="1" lang="zh-CN" altLang="en-US" sz="2400" b="1" dirty="0">
              <a:latin typeface="幼圆" panose="02010509060101010101" pitchFamily="49" charset="-122"/>
              <a:ea typeface="幼圆" panose="02010509060101010101" pitchFamily="49" charset="-122"/>
            </a:endParaRPr>
          </a:p>
        </p:txBody>
      </p:sp>
      <p:sp>
        <p:nvSpPr>
          <p:cNvPr id="28" name="Rectangle 23"/>
          <p:cNvSpPr>
            <a:spLocks noChangeArrowheads="1"/>
          </p:cNvSpPr>
          <p:nvPr/>
        </p:nvSpPr>
        <p:spPr bwMode="auto">
          <a:xfrm>
            <a:off x="700109" y="4314926"/>
            <a:ext cx="71628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spcAft>
                <a:spcPts val="0"/>
              </a:spcAft>
            </a:pPr>
            <a:r>
              <a:rPr kumimoji="1" lang="zh-CN" altLang="en-US" sz="2400" dirty="0">
                <a:solidFill>
                  <a:srgbClr val="0000FF"/>
                </a:solidFill>
                <a:latin typeface="黑体" panose="02010609060101010101" pitchFamily="49" charset="-122"/>
                <a:ea typeface="黑体" panose="02010609060101010101" pitchFamily="49" charset="-122"/>
              </a:rPr>
              <a:t>名义应力</a:t>
            </a:r>
            <a:r>
              <a:rPr kumimoji="1" lang="en-US" altLang="zh-CN" sz="2400" dirty="0">
                <a:solidFill>
                  <a:srgbClr val="0000FF"/>
                </a:solidFill>
                <a:latin typeface="黑体" panose="02010609060101010101" pitchFamily="49" charset="-122"/>
                <a:ea typeface="黑体" panose="02010609060101010101" pitchFamily="49" charset="-122"/>
              </a:rPr>
              <a:t>-</a:t>
            </a:r>
            <a:r>
              <a:rPr kumimoji="1" lang="en-US" altLang="zh-CN" sz="2400" dirty="0">
                <a:latin typeface="黑体" panose="02010609060101010101" pitchFamily="49" charset="-122"/>
                <a:ea typeface="黑体" panose="02010609060101010101" pitchFamily="49" charset="-122"/>
              </a:rPr>
              <a:t>----</a:t>
            </a:r>
            <a:r>
              <a:rPr kumimoji="1" lang="zh-CN" altLang="en-US" sz="2400" dirty="0">
                <a:latin typeface="黑体" panose="02010609060101010101" pitchFamily="49" charset="-122"/>
                <a:ea typeface="黑体" panose="02010609060101010101" pitchFamily="49" charset="-122"/>
              </a:rPr>
              <a:t>按名义载荷计算所得之应力。</a:t>
            </a:r>
            <a:endParaRPr kumimoji="1" lang="zh-CN" altLang="en-US" sz="2400" dirty="0">
              <a:latin typeface="黑体" panose="02010609060101010101" pitchFamily="49" charset="-122"/>
              <a:ea typeface="黑体" panose="02010609060101010101" pitchFamily="49" charset="-122"/>
            </a:endParaRPr>
          </a:p>
        </p:txBody>
      </p:sp>
      <p:sp>
        <p:nvSpPr>
          <p:cNvPr id="29" name="Rectangle 24"/>
          <p:cNvSpPr>
            <a:spLocks noChangeArrowheads="1"/>
          </p:cNvSpPr>
          <p:nvPr/>
        </p:nvSpPr>
        <p:spPr bwMode="auto">
          <a:xfrm>
            <a:off x="3083979" y="4731202"/>
            <a:ext cx="4983480" cy="306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Aft>
                <a:spcPts val="0"/>
              </a:spcAft>
            </a:pPr>
            <a:r>
              <a:rPr kumimoji="1" lang="zh-CN" altLang="en-US" sz="1400" dirty="0">
                <a:solidFill>
                  <a:srgbClr val="B2B2B2"/>
                </a:solidFill>
                <a:latin typeface="Times New Roman" panose="02020603050405020304" pitchFamily="18" charset="0"/>
              </a:rPr>
              <a:t>然而在机器运转时，零件还会受到各种附加载荷，通常用引入</a:t>
            </a:r>
            <a:endParaRPr kumimoji="1" lang="zh-CN" altLang="en-US" sz="1400" dirty="0">
              <a:solidFill>
                <a:srgbClr val="B2B2B2"/>
              </a:solidFill>
              <a:latin typeface="Times New Roman" panose="02020603050405020304" pitchFamily="18" charset="0"/>
            </a:endParaRPr>
          </a:p>
        </p:txBody>
      </p:sp>
      <p:sp>
        <p:nvSpPr>
          <p:cNvPr id="30" name="Rectangle 25"/>
          <p:cNvSpPr>
            <a:spLocks noChangeArrowheads="1"/>
          </p:cNvSpPr>
          <p:nvPr/>
        </p:nvSpPr>
        <p:spPr bwMode="auto">
          <a:xfrm>
            <a:off x="645680" y="5571515"/>
            <a:ext cx="68516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Aft>
                <a:spcPts val="0"/>
              </a:spcAft>
            </a:pPr>
            <a:r>
              <a:rPr kumimoji="1" lang="zh-CN" altLang="en-US" sz="2400" dirty="0">
                <a:solidFill>
                  <a:srgbClr val="0000FF"/>
                </a:solidFill>
                <a:latin typeface="黑体" panose="02010609060101010101" pitchFamily="49" charset="-122"/>
                <a:ea typeface="黑体" panose="02010609060101010101" pitchFamily="49" charset="-122"/>
              </a:rPr>
              <a:t>计算载荷</a:t>
            </a:r>
            <a:r>
              <a:rPr kumimoji="1" lang="en-US" altLang="zh-CN" sz="2400" dirty="0">
                <a:latin typeface="黑体" panose="02010609060101010101" pitchFamily="49" charset="-122"/>
                <a:ea typeface="黑体" panose="02010609060101010101" pitchFamily="49" charset="-122"/>
              </a:rPr>
              <a:t>-----</a:t>
            </a:r>
            <a:r>
              <a:rPr kumimoji="1" lang="zh-CN" altLang="en-US" sz="2400" dirty="0">
                <a:latin typeface="黑体" panose="02010609060101010101" pitchFamily="49" charset="-122"/>
                <a:ea typeface="黑体" panose="02010609060101010101" pitchFamily="49" charset="-122"/>
              </a:rPr>
              <a:t>载荷系数与名义载荷的乘积</a:t>
            </a:r>
            <a:r>
              <a:rPr kumimoji="1" lang="zh-CN" altLang="en-US" sz="2400" b="1" dirty="0">
                <a:latin typeface="幼圆" panose="02010509060101010101" pitchFamily="49" charset="-122"/>
                <a:ea typeface="幼圆" panose="02010509060101010101" pitchFamily="49" charset="-122"/>
              </a:rPr>
              <a:t>。</a:t>
            </a:r>
            <a:endParaRPr kumimoji="1" lang="zh-CN" altLang="en-US" sz="2400" b="1" dirty="0">
              <a:latin typeface="幼圆" panose="02010509060101010101" pitchFamily="49" charset="-122"/>
              <a:ea typeface="幼圆" panose="02010509060101010101" pitchFamily="49" charset="-122"/>
            </a:endParaRPr>
          </a:p>
        </p:txBody>
      </p:sp>
      <p:sp>
        <p:nvSpPr>
          <p:cNvPr id="31" name="Rectangle 26"/>
          <p:cNvSpPr>
            <a:spLocks noChangeArrowheads="1"/>
          </p:cNvSpPr>
          <p:nvPr/>
        </p:nvSpPr>
        <p:spPr bwMode="auto">
          <a:xfrm>
            <a:off x="635179" y="6127884"/>
            <a:ext cx="7183438"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spcAft>
                <a:spcPts val="0"/>
              </a:spcAft>
            </a:pPr>
            <a:r>
              <a:rPr kumimoji="1" lang="zh-CN" altLang="en-US" sz="2400" dirty="0">
                <a:solidFill>
                  <a:srgbClr val="0000FF"/>
                </a:solidFill>
                <a:latin typeface="黑体" panose="02010609060101010101" pitchFamily="49" charset="-122"/>
                <a:ea typeface="黑体" panose="02010609060101010101" pitchFamily="49" charset="-122"/>
              </a:rPr>
              <a:t>计算应力</a:t>
            </a:r>
            <a:r>
              <a:rPr kumimoji="1" lang="en-US" altLang="zh-CN" sz="2400" dirty="0">
                <a:latin typeface="黑体" panose="02010609060101010101" pitchFamily="49" charset="-122"/>
                <a:ea typeface="黑体" panose="02010609060101010101" pitchFamily="49" charset="-122"/>
              </a:rPr>
              <a:t>-----</a:t>
            </a:r>
            <a:r>
              <a:rPr kumimoji="1" lang="zh-CN" altLang="en-US" sz="2400" dirty="0">
                <a:latin typeface="黑体" panose="02010609060101010101" pitchFamily="49" charset="-122"/>
                <a:ea typeface="黑体" panose="02010609060101010101" pitchFamily="49" charset="-122"/>
              </a:rPr>
              <a:t>按计算载荷计算所得之应力。</a:t>
            </a:r>
            <a:endParaRPr kumimoji="1" lang="zh-CN" altLang="en-US" sz="2400" dirty="0">
              <a:latin typeface="黑体" panose="02010609060101010101" pitchFamily="49" charset="-122"/>
              <a:ea typeface="黑体" panose="02010609060101010101" pitchFamily="49" charset="-122"/>
            </a:endParaRPr>
          </a:p>
        </p:txBody>
      </p:sp>
      <p:sp>
        <p:nvSpPr>
          <p:cNvPr id="32" name="Rectangle 27"/>
          <p:cNvSpPr>
            <a:spLocks noChangeArrowheads="1"/>
          </p:cNvSpPr>
          <p:nvPr/>
        </p:nvSpPr>
        <p:spPr bwMode="auto">
          <a:xfrm>
            <a:off x="656416" y="3812171"/>
            <a:ext cx="8487584"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spcAft>
                <a:spcPts val="0"/>
              </a:spcAft>
            </a:pPr>
            <a:r>
              <a:rPr kumimoji="1" lang="zh-CN" altLang="en-US" sz="2400" dirty="0">
                <a:solidFill>
                  <a:srgbClr val="0000FF"/>
                </a:solidFill>
                <a:latin typeface="黑体" panose="02010609060101010101" pitchFamily="49" charset="-122"/>
                <a:ea typeface="黑体" panose="02010609060101010101" pitchFamily="49" charset="-122"/>
              </a:rPr>
              <a:t>名义载荷</a:t>
            </a:r>
            <a:r>
              <a:rPr kumimoji="1" lang="en-US" altLang="zh-CN" sz="2400" dirty="0">
                <a:latin typeface="黑体" panose="02010609060101010101" pitchFamily="49" charset="-122"/>
                <a:ea typeface="黑体" panose="02010609060101010101" pitchFamily="49" charset="-122"/>
              </a:rPr>
              <a:t>----</a:t>
            </a:r>
            <a:r>
              <a:rPr kumimoji="1" lang="zh-CN" altLang="en-US" sz="2400" dirty="0">
                <a:latin typeface="黑体" panose="02010609060101010101" pitchFamily="49" charset="-122"/>
                <a:ea typeface="黑体" panose="02010609060101010101" pitchFamily="49" charset="-122"/>
              </a:rPr>
              <a:t>在理想的平稳工作条件下作用在零件上</a:t>
            </a:r>
            <a:r>
              <a:rPr kumimoji="1" lang="zh-CN" altLang="en-US" sz="2400" dirty="0" smtClean="0">
                <a:latin typeface="黑体" panose="02010609060101010101" pitchFamily="49" charset="-122"/>
                <a:ea typeface="黑体" panose="02010609060101010101" pitchFamily="49" charset="-122"/>
              </a:rPr>
              <a:t>的</a:t>
            </a:r>
            <a:r>
              <a:rPr kumimoji="1" lang="zh-CN" altLang="en-US" sz="2400" dirty="0">
                <a:latin typeface="黑体" panose="02010609060101010101" pitchFamily="49" charset="-122"/>
                <a:ea typeface="黑体" panose="02010609060101010101" pitchFamily="49" charset="-122"/>
              </a:rPr>
              <a:t>载荷。</a:t>
            </a:r>
            <a:endParaRPr kumimoji="1" lang="zh-CN" altLang="en-US" sz="2400" dirty="0">
              <a:latin typeface="黑体" panose="02010609060101010101" pitchFamily="49" charset="-122"/>
              <a:ea typeface="黑体" panose="02010609060101010101" pitchFamily="49" charset="-122"/>
            </a:endParaRPr>
          </a:p>
        </p:txBody>
      </p:sp>
      <p:sp>
        <p:nvSpPr>
          <p:cNvPr id="33" name="Rectangle 5"/>
          <p:cNvSpPr>
            <a:spLocks noChangeArrowheads="1"/>
          </p:cNvSpPr>
          <p:nvPr/>
        </p:nvSpPr>
        <p:spPr bwMode="auto">
          <a:xfrm>
            <a:off x="452722" y="2091139"/>
            <a:ext cx="179451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spcAft>
                <a:spcPts val="0"/>
              </a:spcAft>
              <a:buClr>
                <a:schemeClr val="hlink"/>
              </a:buClr>
              <a:buSzPct val="80000"/>
            </a:pPr>
            <a:r>
              <a:rPr lang="en-US" altLang="zh-CN" dirty="0">
                <a:solidFill>
                  <a:srgbClr val="000099"/>
                </a:solidFill>
              </a:rPr>
              <a:t> </a:t>
            </a:r>
            <a:r>
              <a:rPr lang="en-US" altLang="zh-CN" sz="2400" dirty="0">
                <a:solidFill>
                  <a:srgbClr val="FF0000"/>
                </a:solidFill>
                <a:latin typeface="黑体" panose="02010609060101010101" pitchFamily="49" charset="-122"/>
                <a:ea typeface="黑体" panose="02010609060101010101" pitchFamily="49" charset="-122"/>
              </a:rPr>
              <a:t>1.</a:t>
            </a:r>
            <a:r>
              <a:rPr lang="zh-CN" altLang="en-US" sz="2400" dirty="0">
                <a:solidFill>
                  <a:srgbClr val="FF0000"/>
                </a:solidFill>
                <a:latin typeface="黑体" panose="02010609060101010101" pitchFamily="49" charset="-122"/>
                <a:ea typeface="黑体" panose="02010609060101010101" pitchFamily="49" charset="-122"/>
              </a:rPr>
              <a:t>强度准则</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3" name="圆角矩形 2"/>
          <p:cNvSpPr/>
          <p:nvPr/>
        </p:nvSpPr>
        <p:spPr bwMode="auto">
          <a:xfrm>
            <a:off x="2688892" y="2151382"/>
            <a:ext cx="6246796" cy="539013"/>
          </a:xfrm>
          <a:prstGeom prst="round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ts val="0"/>
              </a:spcAft>
              <a:buClrTx/>
              <a:buSzTx/>
              <a:buFontTx/>
              <a:buNone/>
            </a:pPr>
            <a:r>
              <a:rPr kumimoji="1" lang="zh-CN" altLang="en-US" dirty="0" smtClean="0">
                <a:ln>
                  <a:noFill/>
                </a:ln>
                <a:effectLst/>
                <a:sym typeface="+mn-ea"/>
              </a:rPr>
              <a:t>螺纹连接、螺旋传动、齿轮传动、蜗轮蜗杆传动</a:t>
            </a:r>
            <a:endParaRPr kumimoji="1" lang="zh-CN" altLang="en-US" sz="2200" b="0" i="0" u="none" strike="noStrike" cap="none" normalizeH="0" baseline="0" dirty="0" smtClean="0">
              <a:ln>
                <a:noFill/>
              </a:ln>
              <a:solidFill>
                <a:schemeClr val="tx1"/>
              </a:solidFill>
              <a:effectLst/>
              <a:latin typeface="Tahoma" panose="020B0604030504040204" pitchFamily="34" charset="0"/>
              <a:ea typeface="华文中宋"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1933"/>
                                        </p:tgtEl>
                                        <p:attrNameLst>
                                          <p:attrName>style.visibility</p:attrName>
                                        </p:attrNameLst>
                                      </p:cBhvr>
                                      <p:to>
                                        <p:strVal val="visible"/>
                                      </p:to>
                                    </p:set>
                                    <p:animEffect transition="in" filter="wipe(left)">
                                      <p:cBhvr>
                                        <p:cTn id="7" dur="500"/>
                                        <p:tgtEl>
                                          <p:spTgt spid="819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wipe(left)">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left)">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1"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slide(fromTop)">
                                      <p:cBhvr>
                                        <p:cTn id="27" dur="5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0"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slide(fromTop)">
                                      <p:cBhvr>
                                        <p:cTn id="32" dur="500"/>
                                        <p:tgtEl>
                                          <p:spTgt spid="28"/>
                                        </p:tgtEl>
                                      </p:cBhvr>
                                    </p:animEffect>
                                  </p:childTnLst>
                                </p:cTn>
                              </p:par>
                            </p:childTnLst>
                          </p:cTn>
                        </p:par>
                        <p:par>
                          <p:cTn id="33" fill="hold">
                            <p:stCondLst>
                              <p:cond delay="500"/>
                            </p:stCondLst>
                            <p:childTnLst>
                              <p:par>
                                <p:cTn id="34" presetID="1" presetClass="entr" presetSubtype="0" fill="hold" grpId="0" nodeType="afterEffect">
                                  <p:stCondLst>
                                    <p:cond delay="0"/>
                                  </p:stCondLst>
                                  <p:childTnLst>
                                    <p:set>
                                      <p:cBhvr>
                                        <p:cTn id="35" dur="1" fill="hold">
                                          <p:stCondLst>
                                            <p:cond delay="499"/>
                                          </p:stCondLst>
                                        </p:cTn>
                                        <p:tgtEl>
                                          <p:spTgt spid="2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2" presetClass="entr" presetSubtype="1" fill="hold" grpId="0" nodeType="click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slide(fromTop)">
                                      <p:cBhvr>
                                        <p:cTn id="40" dur="500"/>
                                        <p:tgtEl>
                                          <p:spTgt spid="27"/>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1" fill="hold" grpId="0"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slide(fromTop)">
                                      <p:cBhvr>
                                        <p:cTn id="45" dur="500"/>
                                        <p:tgtEl>
                                          <p:spTgt spid="30"/>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1" fill="hold" grpId="0" nodeType="click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slide(fromTop)">
                                      <p:cBhvr>
                                        <p:cTn id="5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33" grpId="0"/>
      <p:bldP spid="26" grpId="0" bldLvl="0" animBg="1"/>
      <p:bldP spid="27" grpId="0" bldLvl="0" animBg="1" autoUpdateAnimBg="0"/>
      <p:bldP spid="28" grpId="0" bldLvl="0" animBg="1" autoUpdateAnimBg="0"/>
      <p:bldP spid="29" grpId="0" bldLvl="0" animBg="1" autoUpdateAnimBg="0"/>
      <p:bldP spid="30" grpId="0" bldLvl="0" animBg="1" autoUpdateAnimBg="0"/>
      <p:bldP spid="31" grpId="0" bldLvl="0" animBg="1" autoUpdateAnimBg="0"/>
      <p:bldP spid="32" grpId="0" bldLvl="0" animBg="1" autoUpdateAnimBg="0"/>
      <p:bldP spid="33" grpId="0"/>
      <p:bldP spid="3"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ChangeArrowheads="1"/>
          </p:cNvSpPr>
          <p:nvPr>
            <p:ph type="title"/>
          </p:nvPr>
        </p:nvSpPr>
        <p:spPr bwMode="auto">
          <a:xfrm>
            <a:off x="5257800" y="685800"/>
            <a:ext cx="16002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spcAft>
                <a:spcPts val="0"/>
              </a:spcAft>
            </a:pPr>
            <a:r>
              <a:rPr lang="zh-CN" altLang="en-US" sz="800" smtClean="0">
                <a:solidFill>
                  <a:schemeClr val="bg1"/>
                </a:solidFill>
                <a:latin typeface="华文中宋" panose="02010600040101010101" pitchFamily="2" charset="-122"/>
                <a:ea typeface="华文中宋" panose="02010600040101010101" pitchFamily="2" charset="-122"/>
              </a:rPr>
              <a:t>机械零件的计算准则</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16386" name="Rectangle 3"/>
          <p:cNvSpPr>
            <a:spLocks noChangeArrowheads="1"/>
          </p:cNvSpPr>
          <p:nvPr/>
        </p:nvSpPr>
        <p:spPr bwMode="auto">
          <a:xfrm>
            <a:off x="2730500" y="258763"/>
            <a:ext cx="54991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p>
            <a:pPr>
              <a:spcAft>
                <a:spcPts val="0"/>
              </a:spcAft>
            </a:pPr>
            <a:r>
              <a:rPr lang="en-US" altLang="zh-CN" sz="3000" dirty="0" smtClean="0">
                <a:solidFill>
                  <a:srgbClr val="CC0000"/>
                </a:solidFill>
                <a:latin typeface="黑体" panose="02010609060101010101" pitchFamily="49" charset="-122"/>
                <a:ea typeface="黑体" panose="02010609060101010101" pitchFamily="49" charset="-122"/>
              </a:rPr>
              <a:t>1.2-5 </a:t>
            </a:r>
            <a:r>
              <a:rPr lang="zh-CN" altLang="en-US" sz="3000" dirty="0">
                <a:solidFill>
                  <a:srgbClr val="CC0000"/>
                </a:solidFill>
                <a:latin typeface="黑体" panose="02010609060101010101" pitchFamily="49" charset="-122"/>
                <a:ea typeface="黑体" panose="02010609060101010101" pitchFamily="49" charset="-122"/>
              </a:rPr>
              <a:t>机械零件的设计准则</a:t>
            </a:r>
            <a:endParaRPr lang="zh-CN" altLang="en-US" sz="3000" dirty="0">
              <a:solidFill>
                <a:srgbClr val="CC0000"/>
              </a:solidFill>
              <a:latin typeface="黑体" panose="02010609060101010101" pitchFamily="49" charset="-122"/>
              <a:ea typeface="黑体" panose="02010609060101010101" pitchFamily="49" charset="-122"/>
            </a:endParaRPr>
          </a:p>
        </p:txBody>
      </p:sp>
      <p:sp>
        <p:nvSpPr>
          <p:cNvPr id="81925" name="Rectangle 5"/>
          <p:cNvSpPr>
            <a:spLocks noChangeArrowheads="1"/>
          </p:cNvSpPr>
          <p:nvPr/>
        </p:nvSpPr>
        <p:spPr bwMode="auto">
          <a:xfrm>
            <a:off x="625976" y="1272991"/>
            <a:ext cx="179451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spcAft>
                <a:spcPts val="0"/>
              </a:spcAft>
              <a:buClr>
                <a:schemeClr val="hlink"/>
              </a:buClr>
              <a:buSzPct val="80000"/>
            </a:pPr>
            <a:r>
              <a:rPr lang="en-US" altLang="zh-CN" dirty="0">
                <a:solidFill>
                  <a:srgbClr val="000099"/>
                </a:solidFill>
              </a:rPr>
              <a:t> </a:t>
            </a:r>
            <a:r>
              <a:rPr lang="en-US" altLang="zh-CN" sz="2400" dirty="0">
                <a:solidFill>
                  <a:srgbClr val="FF0000"/>
                </a:solidFill>
                <a:latin typeface="黑体" panose="02010609060101010101" pitchFamily="49" charset="-122"/>
                <a:ea typeface="黑体" panose="02010609060101010101" pitchFamily="49" charset="-122"/>
              </a:rPr>
              <a:t>1.</a:t>
            </a:r>
            <a:r>
              <a:rPr lang="zh-CN" altLang="en-US" sz="2400" dirty="0">
                <a:solidFill>
                  <a:srgbClr val="FF0000"/>
                </a:solidFill>
                <a:latin typeface="黑体" panose="02010609060101010101" pitchFamily="49" charset="-122"/>
                <a:ea typeface="黑体" panose="02010609060101010101" pitchFamily="49" charset="-122"/>
              </a:rPr>
              <a:t>强度准则</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81950" name="Rectangle 30"/>
          <p:cNvSpPr>
            <a:spLocks noChangeArrowheads="1"/>
          </p:cNvSpPr>
          <p:nvPr/>
        </p:nvSpPr>
        <p:spPr bwMode="auto">
          <a:xfrm>
            <a:off x="387951" y="3235642"/>
            <a:ext cx="8623300" cy="454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0000"/>
              </a:lnSpc>
              <a:buClr>
                <a:schemeClr val="hlink"/>
              </a:buClr>
              <a:buSzPct val="80000"/>
              <a:buFont typeface="Wingdings" panose="05000000000000000000" pitchFamily="2" charset="2"/>
              <a:buNone/>
            </a:pPr>
            <a:r>
              <a:rPr lang="zh-CN" altLang="en-US" dirty="0">
                <a:solidFill>
                  <a:srgbClr val="000099"/>
                </a:solidFill>
              </a:rPr>
              <a:t>       </a:t>
            </a:r>
            <a:endParaRPr lang="zh-CN" altLang="en-US" dirty="0">
              <a:solidFill>
                <a:srgbClr val="000099"/>
              </a:solidFill>
            </a:endParaRPr>
          </a:p>
        </p:txBody>
      </p:sp>
      <p:sp>
        <p:nvSpPr>
          <p:cNvPr id="16392" name="Text Box 35"/>
          <p:cNvSpPr txBox="1">
            <a:spLocks noChangeArrowheads="1"/>
          </p:cNvSpPr>
          <p:nvPr/>
        </p:nvSpPr>
        <p:spPr bwMode="auto">
          <a:xfrm>
            <a:off x="5800725" y="6183313"/>
            <a:ext cx="271463"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a:t> </a:t>
            </a:r>
            <a:endParaRPr lang="en-US" altLang="zh-CN"/>
          </a:p>
        </p:txBody>
      </p:sp>
      <p:sp>
        <p:nvSpPr>
          <p:cNvPr id="16396" name="Rectangle 3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16398" name="Rectangle 3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16400"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9" name="Object 8"/>
          <p:cNvGraphicFramePr>
            <a:graphicFrameLocks noChangeAspect="1"/>
          </p:cNvGraphicFramePr>
          <p:nvPr/>
        </p:nvGraphicFramePr>
        <p:xfrm>
          <a:off x="1146325" y="2289811"/>
          <a:ext cx="2692400" cy="1052513"/>
        </p:xfrm>
        <a:graphic>
          <a:graphicData uri="http://schemas.openxmlformats.org/presentationml/2006/ole">
            <mc:AlternateContent xmlns:mc="http://schemas.openxmlformats.org/markup-compatibility/2006">
              <mc:Choice xmlns:v="urn:schemas-microsoft-com:vml" Requires="v">
                <p:oleObj spid="_x0000_s16487" name="Microsoft 公式 3.0" r:id="rId1" imgW="1168400" imgH="457200" progId="Equation.3">
                  <p:embed/>
                </p:oleObj>
              </mc:Choice>
              <mc:Fallback>
                <p:oleObj name="Microsoft 公式 3.0" r:id="rId1" imgW="1168400" imgH="457200" progId="Equation.3">
                  <p:embed/>
                  <p:pic>
                    <p:nvPicPr>
                      <p:cNvPr id="0" name="图片 16486"/>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6325" y="2289811"/>
                        <a:ext cx="2692400" cy="1052513"/>
                      </a:xfrm>
                      <a:prstGeom prst="rect">
                        <a:avLst/>
                      </a:prstGeom>
                      <a:solidFill>
                        <a:srgbClr val="CCFFFF"/>
                      </a:solidFill>
                      <a:ln>
                        <a:noFill/>
                      </a:ln>
                      <a:extLst>
                        <a:ext uri="{91240B29-F687-4F45-9708-019B960494DF}">
                          <a14:hiddenLine xmlns:a14="http://schemas.microsoft.com/office/drawing/2010/main" w="9525">
                            <a:solidFill>
                              <a:srgbClr val="66FF33"/>
                            </a:solidFill>
                            <a:miter lim="800000"/>
                            <a:headEnd/>
                            <a:tailEnd/>
                          </a14:hiddenLine>
                        </a:ext>
                      </a:extLst>
                    </p:spPr>
                  </p:pic>
                </p:oleObj>
              </mc:Fallback>
            </mc:AlternateContent>
          </a:graphicData>
        </a:graphic>
      </p:graphicFrame>
      <p:graphicFrame>
        <p:nvGraphicFramePr>
          <p:cNvPr id="20" name="Object 9"/>
          <p:cNvGraphicFramePr>
            <a:graphicFrameLocks noChangeAspect="1"/>
          </p:cNvGraphicFramePr>
          <p:nvPr/>
        </p:nvGraphicFramePr>
        <p:xfrm>
          <a:off x="4158348" y="1957837"/>
          <a:ext cx="2395538" cy="1928813"/>
        </p:xfrm>
        <a:graphic>
          <a:graphicData uri="http://schemas.openxmlformats.org/presentationml/2006/ole">
            <mc:AlternateContent xmlns:mc="http://schemas.openxmlformats.org/markup-compatibility/2006">
              <mc:Choice xmlns:v="urn:schemas-microsoft-com:vml" Requires="v">
                <p:oleObj spid="_x0000_s16488" name="Microsoft 公式 3.0" r:id="rId3" imgW="1041400" imgH="838200" progId="Equation.3">
                  <p:embed/>
                </p:oleObj>
              </mc:Choice>
              <mc:Fallback>
                <p:oleObj name="Microsoft 公式 3.0" r:id="rId3" imgW="1041400" imgH="838200" progId="Equation.3">
                  <p:embed/>
                  <p:pic>
                    <p:nvPicPr>
                      <p:cNvPr id="0" name="图片 16487"/>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8348" y="1957837"/>
                        <a:ext cx="2395538" cy="1928813"/>
                      </a:xfrm>
                      <a:prstGeom prst="rect">
                        <a:avLst/>
                      </a:prstGeom>
                      <a:solidFill>
                        <a:srgbClr val="CCFFFF"/>
                      </a:solidFill>
                      <a:ln>
                        <a:noFill/>
                      </a:ln>
                      <a:extLst>
                        <a:ext uri="{91240B29-F687-4F45-9708-019B960494DF}">
                          <a14:hiddenLine xmlns:a14="http://schemas.microsoft.com/office/drawing/2010/main" w="9525">
                            <a:solidFill>
                              <a:srgbClr val="66FF33"/>
                            </a:solidFill>
                            <a:miter lim="800000"/>
                            <a:headEnd/>
                            <a:tailEnd/>
                          </a14:hiddenLine>
                        </a:ext>
                      </a:extLst>
                    </p:spPr>
                  </p:pic>
                </p:oleObj>
              </mc:Fallback>
            </mc:AlternateContent>
          </a:graphicData>
        </a:graphic>
      </p:graphicFrame>
      <p:sp>
        <p:nvSpPr>
          <p:cNvPr id="21" name="Rectangle 10"/>
          <p:cNvSpPr>
            <a:spLocks noChangeArrowheads="1"/>
          </p:cNvSpPr>
          <p:nvPr/>
        </p:nvSpPr>
        <p:spPr bwMode="auto">
          <a:xfrm>
            <a:off x="845102" y="4785845"/>
            <a:ext cx="49276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Aft>
                <a:spcPts val="0"/>
              </a:spcAft>
            </a:pPr>
            <a:r>
              <a:rPr kumimoji="1" lang="en-US" altLang="zh-CN" sz="2400" b="1" dirty="0">
                <a:latin typeface="Times New Roman" panose="02020603050405020304" pitchFamily="18" charset="0"/>
              </a:rPr>
              <a:t>[</a:t>
            </a:r>
            <a:r>
              <a:rPr kumimoji="1" lang="en-US" altLang="zh-CN" sz="2400" b="1" dirty="0">
                <a:latin typeface="Times New Roman" panose="02020603050405020304" pitchFamily="18" charset="0"/>
                <a:cs typeface="Times New Roman" panose="02020603050405020304" pitchFamily="18" charset="0"/>
              </a:rPr>
              <a:t>σ</a:t>
            </a:r>
            <a:r>
              <a:rPr kumimoji="1" lang="en-US" altLang="zh-CN" sz="2400" b="1" dirty="0">
                <a:latin typeface="Times New Roman" panose="02020603050405020304" pitchFamily="18" charset="0"/>
              </a:rPr>
              <a:t>]</a:t>
            </a:r>
            <a:r>
              <a:rPr kumimoji="1" lang="zh-CN" altLang="en-US" sz="2400" b="1" dirty="0">
                <a:latin typeface="Times New Roman" panose="02020603050405020304" pitchFamily="18" charset="0"/>
              </a:rPr>
              <a:t>、</a:t>
            </a:r>
            <a:r>
              <a:rPr kumimoji="1" lang="en-US" altLang="zh-CN" sz="2400" b="1" dirty="0">
                <a:latin typeface="Times New Roman" panose="02020603050405020304" pitchFamily="18" charset="0"/>
              </a:rPr>
              <a:t>[</a:t>
            </a:r>
            <a:r>
              <a:rPr kumimoji="1" lang="en-US" altLang="zh-CN" sz="2400" b="1" dirty="0">
                <a:latin typeface="Times New Roman" panose="02020603050405020304" pitchFamily="18" charset="0"/>
                <a:cs typeface="Times New Roman" panose="02020603050405020304" pitchFamily="18" charset="0"/>
              </a:rPr>
              <a:t>τ</a:t>
            </a:r>
            <a:r>
              <a:rPr kumimoji="1" lang="en-US" altLang="zh-CN" sz="2400" b="1" dirty="0">
                <a:latin typeface="Times New Roman" panose="02020603050405020304" pitchFamily="18" charset="0"/>
              </a:rPr>
              <a:t>]-----</a:t>
            </a:r>
            <a:r>
              <a:rPr kumimoji="1" lang="zh-CN" altLang="en-US" sz="2400" b="1" dirty="0">
                <a:latin typeface="Times New Roman" panose="02020603050405020304" pitchFamily="18" charset="0"/>
              </a:rPr>
              <a:t>许用应力</a:t>
            </a:r>
            <a:endParaRPr kumimoji="1" lang="zh-CN" altLang="en-US" sz="2400" b="1" dirty="0">
              <a:latin typeface="Times New Roman" panose="02020603050405020304" pitchFamily="18" charset="0"/>
            </a:endParaRPr>
          </a:p>
        </p:txBody>
      </p:sp>
      <p:sp>
        <p:nvSpPr>
          <p:cNvPr id="22" name="Rectangle 11"/>
          <p:cNvSpPr>
            <a:spLocks noChangeArrowheads="1"/>
          </p:cNvSpPr>
          <p:nvPr/>
        </p:nvSpPr>
        <p:spPr bwMode="auto">
          <a:xfrm>
            <a:off x="963495" y="5327282"/>
            <a:ext cx="710247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Aft>
                <a:spcPts val="0"/>
              </a:spcAft>
            </a:pPr>
            <a:r>
              <a:rPr kumimoji="1" lang="en-US" altLang="zh-CN" sz="2400" b="1" dirty="0" err="1">
                <a:latin typeface="Times New Roman" panose="02020603050405020304" pitchFamily="18" charset="0"/>
                <a:cs typeface="Times New Roman" panose="02020603050405020304" pitchFamily="18" charset="0"/>
              </a:rPr>
              <a:t>σ</a:t>
            </a:r>
            <a:r>
              <a:rPr kumimoji="1" lang="en-US" altLang="zh-CN" sz="2400" b="1" baseline="-25000" dirty="0" err="1">
                <a:latin typeface="Times New Roman" panose="02020603050405020304" pitchFamily="18" charset="0"/>
                <a:cs typeface="Times New Roman" panose="02020603050405020304" pitchFamily="18" charset="0"/>
              </a:rPr>
              <a:t>lim</a:t>
            </a:r>
            <a:r>
              <a:rPr kumimoji="1" lang="zh-CN" altLang="en-US" sz="2400" b="1" dirty="0">
                <a:latin typeface="Times New Roman" panose="02020603050405020304" pitchFamily="18" charset="0"/>
              </a:rPr>
              <a:t>、</a:t>
            </a:r>
            <a:r>
              <a:rPr kumimoji="1" lang="en-US" altLang="zh-CN" sz="2400" b="1" dirty="0">
                <a:latin typeface="Times New Roman" panose="02020603050405020304" pitchFamily="18" charset="0"/>
                <a:cs typeface="Times New Roman" panose="02020603050405020304" pitchFamily="18" charset="0"/>
              </a:rPr>
              <a:t>τ</a:t>
            </a:r>
            <a:r>
              <a:rPr kumimoji="1" lang="en-US" altLang="zh-CN" sz="2400" b="1" dirty="0">
                <a:latin typeface="Times New Roman" panose="02020603050405020304" pitchFamily="18" charset="0"/>
              </a:rPr>
              <a:t> </a:t>
            </a:r>
            <a:r>
              <a:rPr kumimoji="1" lang="en-US" altLang="zh-CN" sz="2400" b="1" baseline="-25000" dirty="0" err="1">
                <a:latin typeface="Times New Roman" panose="02020603050405020304" pitchFamily="18" charset="0"/>
                <a:cs typeface="Times New Roman" panose="02020603050405020304" pitchFamily="18" charset="0"/>
              </a:rPr>
              <a:t>lim</a:t>
            </a:r>
            <a:r>
              <a:rPr kumimoji="1" lang="en-US" altLang="zh-CN" sz="2400" b="1" dirty="0">
                <a:solidFill>
                  <a:schemeClr val="bg1"/>
                </a:solidFill>
                <a:latin typeface="Times New Roman" panose="02020603050405020304" pitchFamily="18" charset="0"/>
              </a:rPr>
              <a:t> </a:t>
            </a:r>
            <a:r>
              <a:rPr kumimoji="1" lang="en-US" altLang="zh-CN" sz="2400" b="1" dirty="0">
                <a:latin typeface="Times New Roman" panose="02020603050405020304" pitchFamily="18" charset="0"/>
              </a:rPr>
              <a:t>-----</a:t>
            </a:r>
            <a:r>
              <a:rPr kumimoji="1" lang="zh-CN" altLang="en-US" sz="2400" b="1" dirty="0">
                <a:latin typeface="Times New Roman" panose="02020603050405020304" pitchFamily="18" charset="0"/>
              </a:rPr>
              <a:t>极限应力，由实验方法测定</a:t>
            </a:r>
            <a:r>
              <a:rPr kumimoji="1" lang="zh-CN" altLang="en-US" sz="2800" b="1" dirty="0">
                <a:latin typeface="Times New Roman" panose="02020603050405020304" pitchFamily="18" charset="0"/>
              </a:rPr>
              <a:t>。</a:t>
            </a:r>
            <a:endParaRPr kumimoji="1" lang="zh-CN" altLang="en-US" sz="2800" b="1" dirty="0">
              <a:latin typeface="Times New Roman" panose="02020603050405020304" pitchFamily="18" charset="0"/>
            </a:endParaRPr>
          </a:p>
        </p:txBody>
      </p:sp>
      <p:sp>
        <p:nvSpPr>
          <p:cNvPr id="23" name="Rectangle 12"/>
          <p:cNvSpPr>
            <a:spLocks noChangeArrowheads="1"/>
          </p:cNvSpPr>
          <p:nvPr/>
        </p:nvSpPr>
        <p:spPr bwMode="auto">
          <a:xfrm>
            <a:off x="982831" y="5884879"/>
            <a:ext cx="30480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Aft>
                <a:spcPts val="0"/>
              </a:spcAft>
            </a:pPr>
            <a:r>
              <a:rPr kumimoji="1" lang="en-US" altLang="zh-CN" sz="2400" b="1" i="1" dirty="0">
                <a:latin typeface="Times New Roman" panose="02020603050405020304" pitchFamily="18" charset="0"/>
              </a:rPr>
              <a:t>S</a:t>
            </a:r>
            <a:r>
              <a:rPr kumimoji="1" lang="en-US" altLang="zh-CN" sz="2400" b="1" dirty="0">
                <a:latin typeface="Times New Roman" panose="02020603050405020304" pitchFamily="18" charset="0"/>
              </a:rPr>
              <a:t>-----</a:t>
            </a:r>
            <a:r>
              <a:rPr kumimoji="1" lang="zh-CN" altLang="en-US" sz="2400" b="1" dirty="0">
                <a:latin typeface="Times New Roman" panose="02020603050405020304" pitchFamily="18" charset="0"/>
              </a:rPr>
              <a:t>安全系数</a:t>
            </a:r>
            <a:endParaRPr kumimoji="1" lang="zh-CN" altLang="en-US" sz="2400" b="1" dirty="0">
              <a:latin typeface="Times New Roman" panose="02020603050405020304" pitchFamily="18" charset="0"/>
            </a:endParaRPr>
          </a:p>
        </p:txBody>
      </p:sp>
      <p:sp>
        <p:nvSpPr>
          <p:cNvPr id="24" name="Rectangle 14"/>
          <p:cNvSpPr>
            <a:spLocks noChangeArrowheads="1"/>
          </p:cNvSpPr>
          <p:nvPr/>
        </p:nvSpPr>
        <p:spPr bwMode="auto">
          <a:xfrm>
            <a:off x="1025391" y="4218906"/>
            <a:ext cx="49276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Aft>
                <a:spcPts val="0"/>
              </a:spcAft>
            </a:pPr>
            <a:r>
              <a:rPr kumimoji="1" lang="en-US" altLang="zh-CN" sz="2400" b="1" dirty="0">
                <a:latin typeface="Times New Roman" panose="02020603050405020304" pitchFamily="18" charset="0"/>
                <a:cs typeface="Times New Roman" panose="02020603050405020304" pitchFamily="18" charset="0"/>
              </a:rPr>
              <a:t>σ</a:t>
            </a:r>
            <a:r>
              <a:rPr kumimoji="1" lang="zh-CN" altLang="en-US" sz="2400" b="1" dirty="0">
                <a:latin typeface="Times New Roman" panose="02020603050405020304" pitchFamily="18" charset="0"/>
              </a:rPr>
              <a:t>、</a:t>
            </a:r>
            <a:r>
              <a:rPr kumimoji="1" lang="en-US" altLang="zh-CN" sz="2400" b="1" dirty="0">
                <a:latin typeface="Times New Roman" panose="02020603050405020304" pitchFamily="18" charset="0"/>
                <a:cs typeface="Times New Roman" panose="02020603050405020304" pitchFamily="18" charset="0"/>
              </a:rPr>
              <a:t>τ</a:t>
            </a:r>
            <a:r>
              <a:rPr kumimoji="1" lang="en-US" altLang="zh-CN" sz="2400" b="1" dirty="0">
                <a:latin typeface="Times New Roman" panose="02020603050405020304" pitchFamily="18" charset="0"/>
              </a:rPr>
              <a:t>----- </a:t>
            </a:r>
            <a:r>
              <a:rPr kumimoji="1" lang="zh-CN" altLang="en-US" sz="2400" b="1" dirty="0">
                <a:latin typeface="Times New Roman" panose="02020603050405020304" pitchFamily="18" charset="0"/>
              </a:rPr>
              <a:t>计算应力</a:t>
            </a:r>
            <a:endParaRPr kumimoji="1" lang="zh-CN" altLang="en-US" sz="2400" b="1" dirty="0">
              <a:latin typeface="Times New Roman" panose="02020603050405020304" pitchFamily="18" charset="0"/>
            </a:endParaRPr>
          </a:p>
        </p:txBody>
      </p:sp>
      <p:sp>
        <p:nvSpPr>
          <p:cNvPr id="25" name="Text Box 15"/>
          <p:cNvSpPr txBox="1">
            <a:spLocks noChangeArrowheads="1"/>
          </p:cNvSpPr>
          <p:nvPr/>
        </p:nvSpPr>
        <p:spPr bwMode="auto">
          <a:xfrm>
            <a:off x="2943930" y="1244615"/>
            <a:ext cx="4068762" cy="460375"/>
          </a:xfrm>
          <a:prstGeom prst="rect">
            <a:avLst/>
          </a:prstGeom>
          <a:solidFill>
            <a:srgbClr val="FFFF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spcAft>
                <a:spcPts val="0"/>
              </a:spcAft>
            </a:pPr>
            <a:r>
              <a:rPr lang="zh-CN" altLang="en-US" sz="2400" b="1" dirty="0"/>
              <a:t>取危险截面处的计算应力</a:t>
            </a:r>
            <a:endParaRPr lang="zh-CN" altLang="en-US" sz="2400"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25"/>
                                        </p:tgtEl>
                                        <p:attrNameLst>
                                          <p:attrName>style.visibility</p:attrName>
                                        </p:attrNameLst>
                                      </p:cBhvr>
                                      <p:to>
                                        <p:strVal val="visible"/>
                                      </p:to>
                                    </p:set>
                                    <p:animEffect transition="in" filter="wipe(left)">
                                      <p:cBhvr>
                                        <p:cTn id="7" dur="500"/>
                                        <p:tgtEl>
                                          <p:spTgt spid="8192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1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499"/>
                                          </p:stCondLst>
                                        </p:cTn>
                                        <p:tgtEl>
                                          <p:spTgt spid="2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24"/>
                                        </p:tgtEl>
                                        <p:attrNameLst>
                                          <p:attrName>style.visibility</p:attrName>
                                        </p:attrNameLst>
                                      </p:cBhvr>
                                      <p:to>
                                        <p:strVal val="visible"/>
                                      </p:to>
                                    </p:set>
                                    <p:anim calcmode="lin" valueType="num">
                                      <p:cBhvr additive="base">
                                        <p:cTn id="20" dur="500" fill="hold"/>
                                        <p:tgtEl>
                                          <p:spTgt spid="24"/>
                                        </p:tgtEl>
                                        <p:attrNameLst>
                                          <p:attrName>ppt_x</p:attrName>
                                        </p:attrNameLst>
                                      </p:cBhvr>
                                      <p:tavLst>
                                        <p:tav tm="0">
                                          <p:val>
                                            <p:strVal val="#ppt_x"/>
                                          </p:val>
                                        </p:tav>
                                        <p:tav tm="100000">
                                          <p:val>
                                            <p:strVal val="#ppt_x"/>
                                          </p:val>
                                        </p:tav>
                                      </p:tavLst>
                                    </p:anim>
                                    <p:anim calcmode="lin" valueType="num">
                                      <p:cBhvr additive="base">
                                        <p:cTn id="21"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21"/>
                                        </p:tgtEl>
                                        <p:attrNameLst>
                                          <p:attrName>style.visibility</p:attrName>
                                        </p:attrNameLst>
                                      </p:cBhvr>
                                      <p:to>
                                        <p:strVal val="visible"/>
                                      </p:to>
                                    </p:set>
                                    <p:anim calcmode="lin" valueType="num">
                                      <p:cBhvr additive="base">
                                        <p:cTn id="26" dur="500" fill="hold"/>
                                        <p:tgtEl>
                                          <p:spTgt spid="21"/>
                                        </p:tgtEl>
                                        <p:attrNameLst>
                                          <p:attrName>ppt_x</p:attrName>
                                        </p:attrNameLst>
                                      </p:cBhvr>
                                      <p:tavLst>
                                        <p:tav tm="0">
                                          <p:val>
                                            <p:strVal val="#ppt_x"/>
                                          </p:val>
                                        </p:tav>
                                        <p:tav tm="100000">
                                          <p:val>
                                            <p:strVal val="#ppt_x"/>
                                          </p:val>
                                        </p:tav>
                                      </p:tavLst>
                                    </p:anim>
                                    <p:anim calcmode="lin" valueType="num">
                                      <p:cBhvr additive="base">
                                        <p:cTn id="27"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 calcmode="lin" valueType="num">
                                      <p:cBhvr additive="base">
                                        <p:cTn id="32" dur="500" fill="hold"/>
                                        <p:tgtEl>
                                          <p:spTgt spid="22"/>
                                        </p:tgtEl>
                                        <p:attrNameLst>
                                          <p:attrName>ppt_x</p:attrName>
                                        </p:attrNameLst>
                                      </p:cBhvr>
                                      <p:tavLst>
                                        <p:tav tm="0">
                                          <p:val>
                                            <p:strVal val="#ppt_x"/>
                                          </p:val>
                                        </p:tav>
                                        <p:tav tm="100000">
                                          <p:val>
                                            <p:strVal val="#ppt_x"/>
                                          </p:val>
                                        </p:tav>
                                      </p:tavLst>
                                    </p:anim>
                                    <p:anim calcmode="lin" valueType="num">
                                      <p:cBhvr additive="base">
                                        <p:cTn id="33"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fill="hold"/>
                                        <p:tgtEl>
                                          <p:spTgt spid="23"/>
                                        </p:tgtEl>
                                        <p:attrNameLst>
                                          <p:attrName>ppt_x</p:attrName>
                                        </p:attrNameLst>
                                      </p:cBhvr>
                                      <p:tavLst>
                                        <p:tav tm="0">
                                          <p:val>
                                            <p:strVal val="#ppt_x"/>
                                          </p:val>
                                        </p:tav>
                                        <p:tav tm="100000">
                                          <p:val>
                                            <p:strVal val="#ppt_x"/>
                                          </p:val>
                                        </p:tav>
                                      </p:tavLst>
                                    </p:anim>
                                    <p:anim calcmode="lin" valueType="num">
                                      <p:cBhvr additive="base">
                                        <p:cTn id="39"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5" grpId="0"/>
      <p:bldP spid="21" grpId="0" bldLvl="0" animBg="1" autoUpdateAnimBg="0"/>
      <p:bldP spid="22" grpId="0" bldLvl="0" animBg="1" autoUpdateAnimBg="0"/>
      <p:bldP spid="23" grpId="0" bldLvl="0" animBg="1" autoUpdateAnimBg="0"/>
      <p:bldP spid="24" grpId="0" bldLvl="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bwMode="auto">
          <a:xfrm>
            <a:off x="5257800" y="685800"/>
            <a:ext cx="16002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spcAft>
                <a:spcPts val="0"/>
              </a:spcAft>
            </a:pPr>
            <a:r>
              <a:rPr lang="zh-CN" altLang="en-US" sz="800" smtClean="0">
                <a:solidFill>
                  <a:schemeClr val="bg1"/>
                </a:solidFill>
                <a:latin typeface="华文中宋" panose="02010600040101010101" pitchFamily="2" charset="-122"/>
                <a:ea typeface="华文中宋" panose="02010600040101010101" pitchFamily="2" charset="-122"/>
              </a:rPr>
              <a:t>机械零件的计算准则</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17410" name="Rectangle 3"/>
          <p:cNvSpPr>
            <a:spLocks noChangeArrowheads="1"/>
          </p:cNvSpPr>
          <p:nvPr/>
        </p:nvSpPr>
        <p:spPr bwMode="auto">
          <a:xfrm>
            <a:off x="3022600" y="258763"/>
            <a:ext cx="52070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p>
            <a:pPr>
              <a:spcAft>
                <a:spcPts val="0"/>
              </a:spcAft>
            </a:pPr>
            <a:r>
              <a:rPr lang="en-US" altLang="zh-CN" sz="3000" dirty="0" smtClean="0">
                <a:solidFill>
                  <a:srgbClr val="CC0000"/>
                </a:solidFill>
                <a:latin typeface="黑体" panose="02010609060101010101" pitchFamily="49" charset="-122"/>
                <a:ea typeface="黑体" panose="02010609060101010101" pitchFamily="49" charset="-122"/>
              </a:rPr>
              <a:t>1.2-5 </a:t>
            </a:r>
            <a:r>
              <a:rPr lang="zh-CN" altLang="en-US" sz="3000" dirty="0">
                <a:solidFill>
                  <a:srgbClr val="CC0000"/>
                </a:solidFill>
                <a:latin typeface="黑体" panose="02010609060101010101" pitchFamily="49" charset="-122"/>
                <a:ea typeface="黑体" panose="02010609060101010101" pitchFamily="49" charset="-122"/>
              </a:rPr>
              <a:t>机械零件的设计准则</a:t>
            </a:r>
            <a:endParaRPr lang="zh-CN" altLang="en-US" sz="3000" dirty="0">
              <a:solidFill>
                <a:srgbClr val="CC0000"/>
              </a:solidFill>
              <a:latin typeface="黑体" panose="02010609060101010101" pitchFamily="49" charset="-122"/>
              <a:ea typeface="黑体" panose="02010609060101010101" pitchFamily="49" charset="-122"/>
            </a:endParaRPr>
          </a:p>
        </p:txBody>
      </p:sp>
      <p:sp>
        <p:nvSpPr>
          <p:cNvPr id="81925" name="Rectangle 5"/>
          <p:cNvSpPr>
            <a:spLocks noChangeArrowheads="1"/>
          </p:cNvSpPr>
          <p:nvPr/>
        </p:nvSpPr>
        <p:spPr bwMode="auto">
          <a:xfrm>
            <a:off x="552450" y="757238"/>
            <a:ext cx="179451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spcAft>
                <a:spcPts val="0"/>
              </a:spcAft>
              <a:buClr>
                <a:schemeClr val="hlink"/>
              </a:buClr>
              <a:buSzPct val="80000"/>
            </a:pPr>
            <a:r>
              <a:rPr lang="en-US" altLang="zh-CN" dirty="0">
                <a:solidFill>
                  <a:srgbClr val="000099"/>
                </a:solidFill>
              </a:rPr>
              <a:t> </a:t>
            </a:r>
            <a:r>
              <a:rPr lang="en-US" altLang="zh-CN" sz="2400" dirty="0">
                <a:solidFill>
                  <a:srgbClr val="FF0000"/>
                </a:solidFill>
                <a:latin typeface="黑体" panose="02010609060101010101" pitchFamily="49" charset="-122"/>
                <a:ea typeface="黑体" panose="02010609060101010101" pitchFamily="49" charset="-122"/>
              </a:rPr>
              <a:t>2.</a:t>
            </a:r>
            <a:r>
              <a:rPr lang="zh-CN" altLang="en-US" sz="2400" dirty="0">
                <a:solidFill>
                  <a:srgbClr val="FF0000"/>
                </a:solidFill>
                <a:latin typeface="黑体" panose="02010609060101010101" pitchFamily="49" charset="-122"/>
                <a:ea typeface="黑体" panose="02010609060101010101" pitchFamily="49" charset="-122"/>
              </a:rPr>
              <a:t>刚度准则</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81952" name="Rectangle 32"/>
          <p:cNvSpPr>
            <a:spLocks noChangeArrowheads="1"/>
          </p:cNvSpPr>
          <p:nvPr/>
        </p:nvSpPr>
        <p:spPr bwMode="auto">
          <a:xfrm>
            <a:off x="2584583" y="1682947"/>
            <a:ext cx="5621153" cy="553085"/>
          </a:xfrm>
          <a:prstGeom prst="rect">
            <a:avLst/>
          </a:prstGeom>
          <a:solidFill>
            <a:srgbClr val="FFFF00"/>
          </a:solidFill>
          <a:ln>
            <a:noFill/>
          </a:ln>
        </p:spPr>
        <p:txBody>
          <a:bodyPr wrap="square">
            <a:spAutoFit/>
          </a:bodyPr>
          <a:lstStyle/>
          <a:p>
            <a:pPr algn="ctr">
              <a:lnSpc>
                <a:spcPct val="125000"/>
              </a:lnSpc>
              <a:spcBef>
                <a:spcPct val="50000"/>
              </a:spcBef>
              <a:spcAft>
                <a:spcPts val="0"/>
              </a:spcAft>
              <a:buClr>
                <a:schemeClr val="hlink"/>
              </a:buClr>
              <a:buSzPct val="80000"/>
            </a:pPr>
            <a:r>
              <a:rPr lang="zh-CN" altLang="en-US" sz="2400" dirty="0" smtClean="0">
                <a:latin typeface="黑体" panose="02010609060101010101" pitchFamily="49" charset="-122"/>
                <a:ea typeface="黑体" panose="02010609060101010101" pitchFamily="49" charset="-122"/>
              </a:rPr>
              <a:t>设计</a:t>
            </a:r>
            <a:r>
              <a:rPr lang="zh-CN" altLang="en-US" sz="2400" dirty="0">
                <a:latin typeface="黑体" panose="02010609060101010101" pitchFamily="49" charset="-122"/>
                <a:ea typeface="黑体" panose="02010609060101010101" pitchFamily="49" charset="-122"/>
              </a:rPr>
              <a:t>寿命   </a:t>
            </a:r>
            <a:r>
              <a:rPr lang="en-US" altLang="zh-CN" sz="2400" dirty="0">
                <a:latin typeface="黑体" panose="02010609060101010101" pitchFamily="49" charset="-122"/>
                <a:ea typeface="黑体" panose="02010609060101010101" pitchFamily="49" charset="-122"/>
              </a:rPr>
              <a:t>L≥[L]   </a:t>
            </a:r>
            <a:r>
              <a:rPr lang="zh-CN" altLang="en-US" sz="2400" dirty="0">
                <a:latin typeface="黑体" panose="02010609060101010101" pitchFamily="49" charset="-122"/>
                <a:ea typeface="黑体" panose="02010609060101010101" pitchFamily="49" charset="-122"/>
              </a:rPr>
              <a:t>要求</a:t>
            </a:r>
            <a:r>
              <a:rPr lang="zh-CN" altLang="en-US" sz="2400" dirty="0" smtClean="0">
                <a:latin typeface="黑体" panose="02010609060101010101" pitchFamily="49" charset="-122"/>
                <a:ea typeface="黑体" panose="02010609060101010101" pitchFamily="49" charset="-122"/>
              </a:rPr>
              <a:t>寿命</a:t>
            </a:r>
            <a:endParaRPr lang="zh-CN" altLang="en-US" sz="2400" dirty="0">
              <a:latin typeface="黑体" panose="02010609060101010101" pitchFamily="49" charset="-122"/>
              <a:ea typeface="黑体" panose="02010609060101010101" pitchFamily="49" charset="-122"/>
            </a:endParaRPr>
          </a:p>
        </p:txBody>
      </p:sp>
      <p:sp>
        <p:nvSpPr>
          <p:cNvPr id="17415" name="Text Box 35"/>
          <p:cNvSpPr txBox="1">
            <a:spLocks noChangeArrowheads="1"/>
          </p:cNvSpPr>
          <p:nvPr/>
        </p:nvSpPr>
        <p:spPr bwMode="auto">
          <a:xfrm>
            <a:off x="5800725" y="6183313"/>
            <a:ext cx="271463"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a:t> </a:t>
            </a:r>
            <a:endParaRPr lang="en-US" altLang="zh-CN"/>
          </a:p>
        </p:txBody>
      </p:sp>
      <p:pic>
        <p:nvPicPr>
          <p:cNvPr id="17416" name="Picture 5" descr="back1">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44708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7" name="Picture 4" descr="rewind1">
            <a:hlinkClick r:id="rId2" action="ppaction://hlinksldjump"/>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391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8" name="Rectangle 3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17419" name="Rectangle 3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17420"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20" name="Rectangle 5"/>
          <p:cNvSpPr>
            <a:spLocks noChangeArrowheads="1"/>
          </p:cNvSpPr>
          <p:nvPr/>
        </p:nvSpPr>
        <p:spPr bwMode="auto">
          <a:xfrm>
            <a:off x="568225" y="1660274"/>
            <a:ext cx="179451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spcAft>
                <a:spcPts val="0"/>
              </a:spcAft>
              <a:buClr>
                <a:schemeClr val="hlink"/>
              </a:buClr>
              <a:buSzPct val="80000"/>
            </a:pPr>
            <a:r>
              <a:rPr lang="en-US" altLang="zh-CN" dirty="0">
                <a:solidFill>
                  <a:srgbClr val="000099"/>
                </a:solidFill>
              </a:rPr>
              <a:t> </a:t>
            </a:r>
            <a:r>
              <a:rPr lang="en-US" altLang="zh-CN" sz="2400" dirty="0">
                <a:solidFill>
                  <a:srgbClr val="FF0000"/>
                </a:solidFill>
                <a:latin typeface="黑体" panose="02010609060101010101" pitchFamily="49" charset="-122"/>
                <a:ea typeface="黑体" panose="02010609060101010101" pitchFamily="49" charset="-122"/>
              </a:rPr>
              <a:t>3.</a:t>
            </a:r>
            <a:r>
              <a:rPr lang="zh-CN" altLang="en-US" sz="2400" dirty="0">
                <a:solidFill>
                  <a:srgbClr val="FF0000"/>
                </a:solidFill>
                <a:latin typeface="黑体" panose="02010609060101010101" pitchFamily="49" charset="-122"/>
                <a:ea typeface="黑体" panose="02010609060101010101" pitchFamily="49" charset="-122"/>
              </a:rPr>
              <a:t>寿命准则</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21" name="矩形 20"/>
          <p:cNvSpPr>
            <a:spLocks noChangeArrowheads="1"/>
          </p:cNvSpPr>
          <p:nvPr/>
        </p:nvSpPr>
        <p:spPr bwMode="auto">
          <a:xfrm>
            <a:off x="765981" y="5995325"/>
            <a:ext cx="8623300" cy="467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5000"/>
              </a:lnSpc>
            </a:pPr>
            <a:r>
              <a:rPr lang="zh-CN" altLang="en-US" dirty="0">
                <a:solidFill>
                  <a:srgbClr val="000099"/>
                </a:solidFill>
              </a:rPr>
              <a:t>       </a:t>
            </a:r>
            <a:endParaRPr lang="zh-CN" altLang="en-US" dirty="0">
              <a:solidFill>
                <a:srgbClr val="000099"/>
              </a:solidFill>
            </a:endParaRPr>
          </a:p>
        </p:txBody>
      </p:sp>
      <p:sp>
        <p:nvSpPr>
          <p:cNvPr id="17425"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矩形 1"/>
          <p:cNvSpPr/>
          <p:nvPr/>
        </p:nvSpPr>
        <p:spPr>
          <a:xfrm>
            <a:off x="1256902" y="1195946"/>
            <a:ext cx="3237865" cy="460375"/>
          </a:xfrm>
          <a:prstGeom prst="rect">
            <a:avLst/>
          </a:prstGeom>
        </p:spPr>
        <p:txBody>
          <a:bodyPr wrap="none">
            <a:spAutoFit/>
          </a:bodyPr>
          <a:lstStyle/>
          <a:p>
            <a:pPr eaLnBrk="1" hangingPunct="1">
              <a:spcBef>
                <a:spcPct val="50000"/>
              </a:spcBef>
              <a:spcAft>
                <a:spcPts val="0"/>
              </a:spcAft>
              <a:buFontTx/>
              <a:buNone/>
            </a:pPr>
            <a:r>
              <a:rPr lang="en-US" altLang="zh-CN" sz="2400" b="1" dirty="0">
                <a:latin typeface="宋体" panose="02010600030101010101" pitchFamily="2" charset="-122"/>
              </a:rPr>
              <a:t>—</a:t>
            </a:r>
            <a:r>
              <a:rPr lang="zh-CN" altLang="en-US" sz="2400" b="1" dirty="0">
                <a:latin typeface="宋体" panose="02010600030101010101" pitchFamily="2" charset="-122"/>
              </a:rPr>
              <a:t>抵抗弹性变形的能力</a:t>
            </a:r>
            <a:endParaRPr lang="zh-CN" altLang="en-US" sz="2400" b="1" dirty="0">
              <a:latin typeface="宋体" panose="02010600030101010101" pitchFamily="2" charset="-122"/>
            </a:endParaRPr>
          </a:p>
        </p:txBody>
      </p:sp>
      <p:sp>
        <p:nvSpPr>
          <p:cNvPr id="3" name="矩形 2"/>
          <p:cNvSpPr/>
          <p:nvPr/>
        </p:nvSpPr>
        <p:spPr>
          <a:xfrm>
            <a:off x="4915302" y="954781"/>
            <a:ext cx="2788285" cy="460375"/>
          </a:xfrm>
          <a:prstGeom prst="rect">
            <a:avLst/>
          </a:prstGeom>
          <a:solidFill>
            <a:srgbClr val="FFC000"/>
          </a:solidFill>
        </p:spPr>
        <p:txBody>
          <a:bodyPr wrap="none">
            <a:spAutoFit/>
          </a:bodyPr>
          <a:lstStyle/>
          <a:p>
            <a:pPr eaLnBrk="1" hangingPunct="1">
              <a:spcBef>
                <a:spcPct val="50000"/>
              </a:spcBef>
              <a:spcAft>
                <a:spcPts val="0"/>
              </a:spcAft>
              <a:buFontTx/>
              <a:buNone/>
            </a:pPr>
            <a:r>
              <a:rPr lang="en-US" altLang="zh-CN" sz="2400" b="1" dirty="0">
                <a:latin typeface="宋体" panose="02010600030101010101" pitchFamily="2" charset="-122"/>
              </a:rPr>
              <a:t>y≤[y] </a:t>
            </a:r>
            <a:r>
              <a:rPr lang="zh-CN" altLang="en-US" sz="2400" b="1" dirty="0">
                <a:latin typeface="宋体" panose="02010600030101010101" pitchFamily="2" charset="-122"/>
              </a:rPr>
              <a:t>、</a:t>
            </a:r>
            <a:r>
              <a:rPr lang="el-GR" altLang="zh-CN" sz="2400" b="1" dirty="0">
                <a:latin typeface="宋体" panose="02010600030101010101" pitchFamily="2" charset="-122"/>
                <a:cs typeface="Times New Roman" panose="02020603050405020304" pitchFamily="18" charset="0"/>
              </a:rPr>
              <a:t>θ</a:t>
            </a:r>
            <a:r>
              <a:rPr lang="en-US" altLang="zh-CN" sz="2400" b="1" dirty="0">
                <a:latin typeface="宋体" panose="02010600030101010101" pitchFamily="2" charset="-122"/>
              </a:rPr>
              <a:t>≤</a:t>
            </a:r>
            <a:r>
              <a:rPr lang="en-US" altLang="zh-CN" sz="2400" b="1" dirty="0">
                <a:latin typeface="宋体" panose="02010600030101010101" pitchFamily="2" charset="-122"/>
                <a:cs typeface="Times New Roman" panose="02020603050405020304" pitchFamily="18" charset="0"/>
              </a:rPr>
              <a:t>[</a:t>
            </a:r>
            <a:r>
              <a:rPr lang="el-GR" altLang="zh-CN" sz="2400" b="1" dirty="0">
                <a:latin typeface="宋体" panose="02010600030101010101" pitchFamily="2" charset="-122"/>
                <a:cs typeface="Times New Roman" panose="02020603050405020304" pitchFamily="18" charset="0"/>
              </a:rPr>
              <a:t>θ</a:t>
            </a:r>
            <a:r>
              <a:rPr lang="en-US" altLang="zh-CN" sz="2400" b="1" dirty="0">
                <a:latin typeface="宋体" panose="02010600030101010101" pitchFamily="2" charset="-122"/>
                <a:cs typeface="Times New Roman" panose="02020603050405020304" pitchFamily="18" charset="0"/>
              </a:rPr>
              <a:t>]</a:t>
            </a:r>
            <a:endParaRPr lang="en-US" altLang="zh-CN" sz="2400" b="1" dirty="0">
              <a:latin typeface="宋体" panose="02010600030101010101" pitchFamily="2" charset="-122"/>
              <a:cs typeface="Times New Roman" panose="02020603050405020304" pitchFamily="18" charset="0"/>
            </a:endParaRPr>
          </a:p>
        </p:txBody>
      </p:sp>
      <p:grpSp>
        <p:nvGrpSpPr>
          <p:cNvPr id="23" name="Group 25"/>
          <p:cNvGrpSpPr/>
          <p:nvPr/>
        </p:nvGrpSpPr>
        <p:grpSpPr bwMode="auto">
          <a:xfrm>
            <a:off x="490788" y="4395382"/>
            <a:ext cx="7483244" cy="1655763"/>
            <a:chOff x="49" y="2030"/>
            <a:chExt cx="4192" cy="1043"/>
          </a:xfrm>
        </p:grpSpPr>
        <p:sp>
          <p:nvSpPr>
            <p:cNvPr id="24" name="Text Box 17"/>
            <p:cNvSpPr txBox="1">
              <a:spLocks noChangeArrowheads="1"/>
            </p:cNvSpPr>
            <p:nvPr/>
          </p:nvSpPr>
          <p:spPr bwMode="auto">
            <a:xfrm>
              <a:off x="49" y="2030"/>
              <a:ext cx="2631" cy="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dirty="0" smtClean="0">
                  <a:solidFill>
                    <a:srgbClr val="FF0000"/>
                  </a:solidFill>
                  <a:latin typeface="黑体" panose="02010609060101010101" pitchFamily="49" charset="-122"/>
                  <a:ea typeface="黑体" panose="02010609060101010101" pitchFamily="49" charset="-122"/>
                </a:rPr>
                <a:t>5.</a:t>
              </a:r>
              <a:r>
                <a:rPr lang="zh-CN" altLang="en-US" sz="2400" dirty="0" smtClean="0">
                  <a:solidFill>
                    <a:srgbClr val="FF0000"/>
                  </a:solidFill>
                  <a:latin typeface="黑体" panose="02010609060101010101" pitchFamily="49" charset="-122"/>
                  <a:ea typeface="黑体" panose="02010609060101010101" pitchFamily="49" charset="-122"/>
                </a:rPr>
                <a:t>振动</a:t>
              </a:r>
              <a:r>
                <a:rPr lang="zh-CN" altLang="en-US" sz="2400" dirty="0">
                  <a:solidFill>
                    <a:srgbClr val="FF0000"/>
                  </a:solidFill>
                  <a:latin typeface="黑体" panose="02010609060101010101" pitchFamily="49" charset="-122"/>
                  <a:ea typeface="黑体" panose="02010609060101010101" pitchFamily="49" charset="-122"/>
                </a:rPr>
                <a:t>稳定性准则：</a:t>
              </a:r>
              <a:r>
                <a:rPr lang="zh-CN" altLang="en-US" sz="2400" dirty="0">
                  <a:latin typeface="黑体" panose="02010609060101010101" pitchFamily="49" charset="-122"/>
                  <a:ea typeface="黑体" panose="02010609060101010101" pitchFamily="49" charset="-122"/>
                </a:rPr>
                <a:t>避免</a:t>
              </a:r>
              <a:r>
                <a:rPr lang="zh-CN" altLang="en-US" sz="2400" dirty="0" smtClean="0">
                  <a:latin typeface="黑体" panose="02010609060101010101" pitchFamily="49" charset="-122"/>
                  <a:ea typeface="黑体" panose="02010609060101010101" pitchFamily="49" charset="-122"/>
                </a:rPr>
                <a:t>共振</a:t>
              </a:r>
              <a:r>
                <a:rPr lang="zh-CN" altLang="en-US" sz="2400" b="1" dirty="0" smtClean="0">
                  <a:latin typeface="宋体" panose="02010600030101010101" pitchFamily="2" charset="-122"/>
                </a:rPr>
                <a:t>  </a:t>
              </a:r>
              <a:endParaRPr lang="en-US" altLang="zh-CN" sz="2400" b="1" dirty="0" smtClean="0">
                <a:latin typeface="宋体" panose="02010600030101010101" pitchFamily="2" charset="-122"/>
              </a:endParaRPr>
            </a:p>
            <a:p>
              <a:pPr eaLnBrk="1" hangingPunct="1">
                <a:spcBef>
                  <a:spcPct val="50000"/>
                </a:spcBef>
                <a:buFontTx/>
                <a:buNone/>
              </a:pPr>
              <a:r>
                <a:rPr lang="en-US" altLang="zh-CN" sz="2000" b="1" dirty="0" err="1" smtClean="0">
                  <a:latin typeface="宋体" panose="02010600030101010101" pitchFamily="2" charset="-122"/>
                </a:rPr>
                <a:t>f</a:t>
              </a:r>
              <a:r>
                <a:rPr lang="en-US" altLang="zh-CN" sz="2000" b="1" baseline="-25000" dirty="0" err="1" smtClean="0">
                  <a:latin typeface="宋体" panose="02010600030101010101" pitchFamily="2" charset="-122"/>
                </a:rPr>
                <a:t>P</a:t>
              </a:r>
              <a:r>
                <a:rPr lang="en-US" altLang="zh-CN" sz="2000" b="1" baseline="-25000" dirty="0" smtClean="0">
                  <a:latin typeface="宋体" panose="02010600030101010101" pitchFamily="2" charset="-122"/>
                </a:rPr>
                <a:t> </a:t>
              </a:r>
              <a:r>
                <a:rPr lang="zh-CN" altLang="en-US" sz="2000" b="1" dirty="0">
                  <a:latin typeface="宋体" panose="02010600030101010101" pitchFamily="2" charset="-122"/>
                </a:rPr>
                <a:t>＜</a:t>
              </a:r>
              <a:r>
                <a:rPr lang="en-US" altLang="zh-CN" sz="2000" b="1" dirty="0">
                  <a:latin typeface="宋体" panose="02010600030101010101" pitchFamily="2" charset="-122"/>
                </a:rPr>
                <a:t>0.85f</a:t>
              </a:r>
              <a:r>
                <a:rPr lang="en-US" altLang="zh-CN" sz="2000" b="1" baseline="-25000" dirty="0">
                  <a:latin typeface="宋体" panose="02010600030101010101" pitchFamily="2" charset="-122"/>
                </a:rPr>
                <a:t>0  </a:t>
              </a:r>
              <a:r>
                <a:rPr lang="zh-CN" altLang="en-US" sz="2000" b="1" baseline="-25000" dirty="0">
                  <a:latin typeface="宋体" panose="02010600030101010101" pitchFamily="2" charset="-122"/>
                </a:rPr>
                <a:t>； </a:t>
              </a:r>
              <a:r>
                <a:rPr lang="en-US" altLang="zh-CN" sz="2000" b="1" dirty="0" err="1">
                  <a:latin typeface="宋体" panose="02010600030101010101" pitchFamily="2" charset="-122"/>
                </a:rPr>
                <a:t>f</a:t>
              </a:r>
              <a:r>
                <a:rPr lang="en-US" altLang="zh-CN" sz="2000" b="1" baseline="-25000" dirty="0" err="1">
                  <a:latin typeface="宋体" panose="02010600030101010101" pitchFamily="2" charset="-122"/>
                </a:rPr>
                <a:t>P</a:t>
              </a:r>
              <a:r>
                <a:rPr lang="en-US" altLang="zh-CN" sz="2000" b="1" baseline="-25000" dirty="0">
                  <a:latin typeface="宋体" panose="02010600030101010101" pitchFamily="2" charset="-122"/>
                </a:rPr>
                <a:t> </a:t>
              </a:r>
              <a:r>
                <a:rPr lang="zh-CN" altLang="en-US" sz="2000" b="1" dirty="0">
                  <a:latin typeface="宋体" panose="02010600030101010101" pitchFamily="2" charset="-122"/>
                </a:rPr>
                <a:t>＞</a:t>
              </a:r>
              <a:r>
                <a:rPr lang="en-US" altLang="zh-CN" sz="2000" b="1" dirty="0">
                  <a:latin typeface="宋体" panose="02010600030101010101" pitchFamily="2" charset="-122"/>
                </a:rPr>
                <a:t>1.15 f</a:t>
              </a:r>
              <a:r>
                <a:rPr lang="en-US" altLang="zh-CN" sz="2000" b="1" baseline="-25000" dirty="0">
                  <a:latin typeface="宋体" panose="02010600030101010101" pitchFamily="2" charset="-122"/>
                </a:rPr>
                <a:t>0</a:t>
              </a:r>
              <a:endParaRPr lang="en-US" altLang="zh-CN" sz="2000" b="1" dirty="0">
                <a:latin typeface="宋体" panose="02010600030101010101" pitchFamily="2" charset="-122"/>
              </a:endParaRPr>
            </a:p>
            <a:p>
              <a:pPr eaLnBrk="1" hangingPunct="1">
                <a:lnSpc>
                  <a:spcPct val="120000"/>
                </a:lnSpc>
                <a:spcBef>
                  <a:spcPct val="50000"/>
                </a:spcBef>
                <a:buFontTx/>
                <a:buNone/>
              </a:pPr>
              <a:r>
                <a:rPr lang="en-US" altLang="zh-CN" sz="2400" b="1" dirty="0">
                  <a:latin typeface="宋体" panose="02010600030101010101" pitchFamily="2" charset="-122"/>
                </a:rPr>
                <a:t> </a:t>
              </a:r>
              <a:r>
                <a:rPr lang="en-US" altLang="zh-CN" sz="2000" b="1" dirty="0">
                  <a:latin typeface="宋体" panose="02010600030101010101" pitchFamily="2" charset="-122"/>
                </a:rPr>
                <a:t>f</a:t>
              </a:r>
              <a:r>
                <a:rPr lang="en-US" altLang="zh-CN" sz="2000" b="1" baseline="-25000" dirty="0">
                  <a:latin typeface="宋体" panose="02010600030101010101" pitchFamily="2" charset="-122"/>
                </a:rPr>
                <a:t>0</a:t>
              </a:r>
              <a:r>
                <a:rPr lang="en-US" altLang="zh-CN" sz="2000" b="1" dirty="0">
                  <a:latin typeface="宋体" panose="02010600030101010101" pitchFamily="2" charset="-122"/>
                </a:rPr>
                <a:t>—</a:t>
              </a:r>
              <a:r>
                <a:rPr kumimoji="0" lang="zh-CN" altLang="en-US" sz="2000" b="1" dirty="0">
                  <a:latin typeface="宋体" panose="02010600030101010101" pitchFamily="2" charset="-122"/>
                </a:rPr>
                <a:t>固</a:t>
              </a:r>
              <a:r>
                <a:rPr lang="zh-CN" altLang="en-US" sz="2000" b="1" dirty="0">
                  <a:latin typeface="宋体" panose="02010600030101010101" pitchFamily="2" charset="-122"/>
                </a:rPr>
                <a:t>有频率；</a:t>
              </a:r>
              <a:r>
                <a:rPr lang="en-US" altLang="zh-CN" sz="2000" b="1" dirty="0" err="1">
                  <a:latin typeface="宋体" panose="02010600030101010101" pitchFamily="2" charset="-122"/>
                </a:rPr>
                <a:t>f</a:t>
              </a:r>
              <a:r>
                <a:rPr lang="en-US" altLang="zh-CN" sz="2000" b="1" baseline="-25000" dirty="0" err="1">
                  <a:latin typeface="宋体" panose="02010600030101010101" pitchFamily="2" charset="-122"/>
                </a:rPr>
                <a:t>P</a:t>
              </a:r>
              <a:r>
                <a:rPr lang="en-US" altLang="zh-CN" sz="2000" b="1" dirty="0">
                  <a:latin typeface="宋体" panose="02010600030101010101" pitchFamily="2" charset="-122"/>
                </a:rPr>
                <a:t>—</a:t>
              </a:r>
              <a:r>
                <a:rPr kumimoji="0" lang="zh-CN" altLang="en-US" sz="2000" b="1" dirty="0">
                  <a:latin typeface="宋体" panose="02010600030101010101" pitchFamily="2" charset="-122"/>
                </a:rPr>
                <a:t>激振</a:t>
              </a:r>
              <a:r>
                <a:rPr lang="zh-CN" altLang="en-US" sz="2000" b="1" dirty="0">
                  <a:latin typeface="宋体" panose="02010600030101010101" pitchFamily="2" charset="-122"/>
                </a:rPr>
                <a:t>频率；</a:t>
              </a:r>
              <a:endParaRPr lang="zh-CN" altLang="en-US" sz="2000" b="1" dirty="0">
                <a:latin typeface="宋体" panose="02010600030101010101" pitchFamily="2" charset="-122"/>
              </a:endParaRPr>
            </a:p>
          </p:txBody>
        </p:sp>
        <p:grpSp>
          <p:nvGrpSpPr>
            <p:cNvPr id="25" name="Group 24"/>
            <p:cNvGrpSpPr/>
            <p:nvPr/>
          </p:nvGrpSpPr>
          <p:grpSpPr bwMode="auto">
            <a:xfrm>
              <a:off x="2653" y="2246"/>
              <a:ext cx="1588" cy="827"/>
              <a:chOff x="3515" y="1933"/>
              <a:chExt cx="1588" cy="827"/>
            </a:xfrm>
          </p:grpSpPr>
          <p:sp>
            <p:nvSpPr>
              <p:cNvPr id="26" name="Line 10"/>
              <p:cNvSpPr>
                <a:spLocks noChangeShapeType="1"/>
              </p:cNvSpPr>
              <p:nvPr/>
            </p:nvSpPr>
            <p:spPr bwMode="auto">
              <a:xfrm>
                <a:off x="3515" y="2574"/>
                <a:ext cx="1588"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27" name="Line 11"/>
              <p:cNvSpPr>
                <a:spLocks noChangeShapeType="1"/>
              </p:cNvSpPr>
              <p:nvPr/>
            </p:nvSpPr>
            <p:spPr bwMode="auto">
              <a:xfrm flipH="1" flipV="1">
                <a:off x="3526" y="1933"/>
                <a:ext cx="0" cy="635"/>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28" name="Line 12"/>
              <p:cNvSpPr>
                <a:spLocks noChangeShapeType="1"/>
              </p:cNvSpPr>
              <p:nvPr/>
            </p:nvSpPr>
            <p:spPr bwMode="auto">
              <a:xfrm>
                <a:off x="4105" y="1939"/>
                <a:ext cx="0" cy="635"/>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29" name="Freeform 13"/>
              <p:cNvSpPr/>
              <p:nvPr/>
            </p:nvSpPr>
            <p:spPr bwMode="auto">
              <a:xfrm>
                <a:off x="3515" y="1984"/>
                <a:ext cx="408" cy="590"/>
              </a:xfrm>
              <a:custGeom>
                <a:avLst/>
                <a:gdLst>
                  <a:gd name="T0" fmla="*/ 408 w 408"/>
                  <a:gd name="T1" fmla="*/ 0 h 590"/>
                  <a:gd name="T2" fmla="*/ 318 w 408"/>
                  <a:gd name="T3" fmla="*/ 363 h 590"/>
                  <a:gd name="T4" fmla="*/ 0 w 408"/>
                  <a:gd name="T5" fmla="*/ 590 h 590"/>
                  <a:gd name="T6" fmla="*/ 0 60000 65536"/>
                  <a:gd name="T7" fmla="*/ 0 60000 65536"/>
                  <a:gd name="T8" fmla="*/ 0 60000 65536"/>
                  <a:gd name="T9" fmla="*/ 0 w 408"/>
                  <a:gd name="T10" fmla="*/ 0 h 590"/>
                  <a:gd name="T11" fmla="*/ 408 w 408"/>
                  <a:gd name="T12" fmla="*/ 590 h 590"/>
                </a:gdLst>
                <a:ahLst/>
                <a:cxnLst>
                  <a:cxn ang="T6">
                    <a:pos x="T0" y="T1"/>
                  </a:cxn>
                  <a:cxn ang="T7">
                    <a:pos x="T2" y="T3"/>
                  </a:cxn>
                  <a:cxn ang="T8">
                    <a:pos x="T4" y="T5"/>
                  </a:cxn>
                </a:cxnLst>
                <a:rect l="T9" t="T10" r="T11" b="T12"/>
                <a:pathLst>
                  <a:path w="408" h="590">
                    <a:moveTo>
                      <a:pt x="408" y="0"/>
                    </a:moveTo>
                    <a:cubicBezTo>
                      <a:pt x="397" y="132"/>
                      <a:pt x="386" y="265"/>
                      <a:pt x="318" y="363"/>
                    </a:cubicBezTo>
                    <a:cubicBezTo>
                      <a:pt x="250" y="461"/>
                      <a:pt x="125" y="525"/>
                      <a:pt x="0" y="590"/>
                    </a:cubicBez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p>
                <a:endParaRPr lang="zh-CN" altLang="en-US"/>
              </a:p>
            </p:txBody>
          </p:sp>
          <p:sp>
            <p:nvSpPr>
              <p:cNvPr id="30" name="Freeform 14"/>
              <p:cNvSpPr/>
              <p:nvPr/>
            </p:nvSpPr>
            <p:spPr bwMode="auto">
              <a:xfrm flipH="1">
                <a:off x="4286" y="1984"/>
                <a:ext cx="633" cy="545"/>
              </a:xfrm>
              <a:custGeom>
                <a:avLst/>
                <a:gdLst>
                  <a:gd name="T0" fmla="*/ 982 w 408"/>
                  <a:gd name="T1" fmla="*/ 0 h 590"/>
                  <a:gd name="T2" fmla="*/ 765 w 408"/>
                  <a:gd name="T3" fmla="*/ 309 h 590"/>
                  <a:gd name="T4" fmla="*/ 0 w 408"/>
                  <a:gd name="T5" fmla="*/ 503 h 590"/>
                  <a:gd name="T6" fmla="*/ 0 60000 65536"/>
                  <a:gd name="T7" fmla="*/ 0 60000 65536"/>
                  <a:gd name="T8" fmla="*/ 0 60000 65536"/>
                  <a:gd name="T9" fmla="*/ 0 w 408"/>
                  <a:gd name="T10" fmla="*/ 0 h 590"/>
                  <a:gd name="T11" fmla="*/ 408 w 408"/>
                  <a:gd name="T12" fmla="*/ 590 h 590"/>
                </a:gdLst>
                <a:ahLst/>
                <a:cxnLst>
                  <a:cxn ang="T6">
                    <a:pos x="T0" y="T1"/>
                  </a:cxn>
                  <a:cxn ang="T7">
                    <a:pos x="T2" y="T3"/>
                  </a:cxn>
                  <a:cxn ang="T8">
                    <a:pos x="T4" y="T5"/>
                  </a:cxn>
                </a:cxnLst>
                <a:rect l="T9" t="T10" r="T11" b="T12"/>
                <a:pathLst>
                  <a:path w="408" h="590">
                    <a:moveTo>
                      <a:pt x="408" y="0"/>
                    </a:moveTo>
                    <a:cubicBezTo>
                      <a:pt x="397" y="132"/>
                      <a:pt x="386" y="265"/>
                      <a:pt x="318" y="363"/>
                    </a:cubicBezTo>
                    <a:cubicBezTo>
                      <a:pt x="250" y="461"/>
                      <a:pt x="125" y="525"/>
                      <a:pt x="0" y="590"/>
                    </a:cubicBez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p>
                <a:endParaRPr lang="zh-CN" altLang="en-US"/>
              </a:p>
            </p:txBody>
          </p:sp>
          <p:sp>
            <p:nvSpPr>
              <p:cNvPr id="31" name="Rectangle 15"/>
              <p:cNvSpPr>
                <a:spLocks noChangeArrowheads="1"/>
              </p:cNvSpPr>
              <p:nvPr/>
            </p:nvSpPr>
            <p:spPr bwMode="auto">
              <a:xfrm>
                <a:off x="4014" y="2529"/>
                <a:ext cx="2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spAutoFit/>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800" b="1"/>
                  <a:t>f</a:t>
                </a:r>
                <a:r>
                  <a:rPr lang="en-US" altLang="zh-CN" sz="1800" b="1" baseline="-25000"/>
                  <a:t>0</a:t>
                </a:r>
                <a:endParaRPr lang="zh-CN" altLang="en-US" sz="1800" b="1" baseline="-25000"/>
              </a:p>
            </p:txBody>
          </p:sp>
          <p:sp>
            <p:nvSpPr>
              <p:cNvPr id="32" name="Line 17"/>
              <p:cNvSpPr>
                <a:spLocks noChangeShapeType="1"/>
              </p:cNvSpPr>
              <p:nvPr/>
            </p:nvSpPr>
            <p:spPr bwMode="auto">
              <a:xfrm>
                <a:off x="3862" y="2120"/>
                <a:ext cx="0" cy="45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33" name="Line 18"/>
              <p:cNvSpPr>
                <a:spLocks noChangeShapeType="1"/>
              </p:cNvSpPr>
              <p:nvPr/>
            </p:nvSpPr>
            <p:spPr bwMode="auto">
              <a:xfrm flipH="1">
                <a:off x="4377" y="2120"/>
                <a:ext cx="0" cy="45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34" name="Rectangle 20"/>
              <p:cNvSpPr>
                <a:spLocks noChangeArrowheads="1"/>
              </p:cNvSpPr>
              <p:nvPr/>
            </p:nvSpPr>
            <p:spPr bwMode="auto">
              <a:xfrm>
                <a:off x="3515" y="2529"/>
                <a:ext cx="49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spAutoFit/>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800" dirty="0">
                    <a:solidFill>
                      <a:schemeClr val="tx2"/>
                    </a:solidFill>
                  </a:rPr>
                  <a:t>0.85 </a:t>
                </a:r>
                <a:r>
                  <a:rPr lang="en-US" altLang="zh-CN" sz="1800" b="1" dirty="0"/>
                  <a:t>f</a:t>
                </a:r>
                <a:r>
                  <a:rPr lang="en-US" altLang="zh-CN" sz="1800" b="1" baseline="-25000" dirty="0"/>
                  <a:t>0</a:t>
                </a:r>
                <a:endParaRPr lang="zh-CN" altLang="en-US" sz="1800" dirty="0">
                  <a:solidFill>
                    <a:schemeClr val="tx2"/>
                  </a:solidFill>
                </a:endParaRPr>
              </a:p>
            </p:txBody>
          </p:sp>
          <p:sp>
            <p:nvSpPr>
              <p:cNvPr id="35" name="Rectangle 22"/>
              <p:cNvSpPr>
                <a:spLocks noChangeArrowheads="1"/>
              </p:cNvSpPr>
              <p:nvPr/>
            </p:nvSpPr>
            <p:spPr bwMode="auto">
              <a:xfrm>
                <a:off x="4241" y="2529"/>
                <a:ext cx="49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spAutoFit/>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800" dirty="0">
                    <a:solidFill>
                      <a:schemeClr val="tx2"/>
                    </a:solidFill>
                  </a:rPr>
                  <a:t>1.15 </a:t>
                </a:r>
                <a:r>
                  <a:rPr lang="en-US" altLang="zh-CN" sz="1800" b="1" dirty="0"/>
                  <a:t>f</a:t>
                </a:r>
                <a:r>
                  <a:rPr lang="en-US" altLang="zh-CN" sz="1800" b="1" baseline="-25000" dirty="0"/>
                  <a:t>0</a:t>
                </a:r>
                <a:endParaRPr lang="zh-CN" altLang="en-US" sz="1800" dirty="0">
                  <a:solidFill>
                    <a:schemeClr val="tx2"/>
                  </a:solidFill>
                </a:endParaRPr>
              </a:p>
            </p:txBody>
          </p:sp>
        </p:grpSp>
      </p:grpSp>
      <p:sp>
        <p:nvSpPr>
          <p:cNvPr id="6" name="矩形 5"/>
          <p:cNvSpPr/>
          <p:nvPr/>
        </p:nvSpPr>
        <p:spPr>
          <a:xfrm>
            <a:off x="640080" y="2493739"/>
            <a:ext cx="7300761" cy="460375"/>
          </a:xfrm>
          <a:prstGeom prst="rect">
            <a:avLst/>
          </a:prstGeom>
        </p:spPr>
        <p:txBody>
          <a:bodyPr wrap="square">
            <a:spAutoFit/>
          </a:bodyPr>
          <a:lstStyle/>
          <a:p>
            <a:pPr eaLnBrk="1" hangingPunct="1">
              <a:spcBef>
                <a:spcPct val="50000"/>
              </a:spcBef>
              <a:spcAft>
                <a:spcPts val="0"/>
              </a:spcAft>
              <a:buFontTx/>
              <a:buNone/>
            </a:pPr>
            <a:r>
              <a:rPr lang="en-US" altLang="zh-CN" sz="2400" dirty="0" smtClean="0">
                <a:solidFill>
                  <a:srgbClr val="FF0000"/>
                </a:solidFill>
                <a:latin typeface="黑体" panose="02010609060101010101" pitchFamily="49" charset="-122"/>
                <a:ea typeface="黑体" panose="02010609060101010101" pitchFamily="49" charset="-122"/>
              </a:rPr>
              <a:t>4.</a:t>
            </a:r>
            <a:r>
              <a:rPr lang="zh-CN" altLang="en-US" sz="2400" dirty="0" smtClean="0">
                <a:solidFill>
                  <a:srgbClr val="FF0000"/>
                </a:solidFill>
                <a:latin typeface="黑体" panose="02010609060101010101" pitchFamily="49" charset="-122"/>
                <a:ea typeface="黑体" panose="02010609060101010101" pitchFamily="49" charset="-122"/>
              </a:rPr>
              <a:t>耐磨性</a:t>
            </a:r>
            <a:r>
              <a:rPr lang="zh-CN" altLang="en-US" sz="2400" dirty="0">
                <a:solidFill>
                  <a:srgbClr val="FF0000"/>
                </a:solidFill>
                <a:latin typeface="黑体" panose="02010609060101010101" pitchFamily="49" charset="-122"/>
                <a:ea typeface="黑体" panose="02010609060101010101" pitchFamily="49" charset="-122"/>
              </a:rPr>
              <a:t>准则：</a:t>
            </a:r>
            <a:r>
              <a:rPr lang="zh-CN" altLang="en-US" sz="2400" dirty="0">
                <a:latin typeface="黑体" panose="02010609060101010101" pitchFamily="49" charset="-122"/>
                <a:ea typeface="黑体" panose="02010609060101010101" pitchFamily="49" charset="-122"/>
              </a:rPr>
              <a:t>零件抗磨损失效的能力</a:t>
            </a:r>
            <a:endParaRPr lang="zh-CN" altLang="en-US" sz="2400" dirty="0">
              <a:latin typeface="黑体" panose="02010609060101010101" pitchFamily="49" charset="-122"/>
              <a:ea typeface="黑体" panose="02010609060101010101" pitchFamily="49" charset="-122"/>
            </a:endParaRPr>
          </a:p>
        </p:txBody>
      </p:sp>
      <p:sp>
        <p:nvSpPr>
          <p:cNvPr id="37" name="Text Box 23"/>
          <p:cNvSpPr txBox="1">
            <a:spLocks noChangeArrowheads="1"/>
          </p:cNvSpPr>
          <p:nvPr/>
        </p:nvSpPr>
        <p:spPr bwMode="auto">
          <a:xfrm>
            <a:off x="947036" y="2941538"/>
            <a:ext cx="7391400" cy="1341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ts val="0"/>
              </a:spcAft>
            </a:pPr>
            <a:r>
              <a:rPr lang="zh-CN" altLang="en-US" sz="2000" b="1" dirty="0">
                <a:latin typeface="宋体" panose="02010600030101010101" pitchFamily="2" charset="-122"/>
              </a:rPr>
              <a:t>压强条件： </a:t>
            </a:r>
            <a:r>
              <a:rPr lang="en-US" altLang="zh-CN" sz="2000" b="1" dirty="0">
                <a:latin typeface="宋体" panose="02010600030101010101" pitchFamily="2" charset="-122"/>
              </a:rPr>
              <a:t>p≤[p]  </a:t>
            </a:r>
            <a:r>
              <a:rPr lang="zh-CN" altLang="en-US" sz="2000" b="1" dirty="0">
                <a:latin typeface="宋体" panose="02010600030101010101" pitchFamily="2" charset="-122"/>
              </a:rPr>
              <a:t>防表面间油膜破坏产生磨损</a:t>
            </a:r>
            <a:endParaRPr lang="zh-CN" altLang="en-US" sz="2000" b="1" dirty="0">
              <a:latin typeface="宋体" panose="02010600030101010101" pitchFamily="2" charset="-122"/>
            </a:endParaRPr>
          </a:p>
          <a:p>
            <a:pPr eaLnBrk="1" hangingPunct="1">
              <a:spcBef>
                <a:spcPts val="50"/>
              </a:spcBef>
              <a:spcAft>
                <a:spcPts val="0"/>
              </a:spcAft>
            </a:pPr>
            <a:r>
              <a:rPr lang="en-US" altLang="zh-CN" sz="2000" b="1" dirty="0" err="1">
                <a:latin typeface="宋体" panose="02010600030101010101" pitchFamily="2" charset="-122"/>
              </a:rPr>
              <a:t>pv</a:t>
            </a:r>
            <a:r>
              <a:rPr lang="zh-CN" altLang="en-US" sz="2000" b="1" dirty="0">
                <a:latin typeface="宋体" panose="02010600030101010101" pitchFamily="2" charset="-122"/>
              </a:rPr>
              <a:t>值条件：</a:t>
            </a:r>
            <a:r>
              <a:rPr lang="en-US" altLang="zh-CN" sz="2000" b="1" dirty="0" err="1">
                <a:latin typeface="宋体" panose="02010600030101010101" pitchFamily="2" charset="-122"/>
              </a:rPr>
              <a:t>pv</a:t>
            </a:r>
            <a:r>
              <a:rPr lang="en-US" altLang="zh-CN" sz="2000" b="1" dirty="0">
                <a:latin typeface="宋体" panose="02010600030101010101" pitchFamily="2" charset="-122"/>
              </a:rPr>
              <a:t>≤[</a:t>
            </a:r>
            <a:r>
              <a:rPr lang="en-US" altLang="zh-CN" sz="2000" b="1" dirty="0" err="1">
                <a:latin typeface="宋体" panose="02010600030101010101" pitchFamily="2" charset="-122"/>
              </a:rPr>
              <a:t>pv</a:t>
            </a:r>
            <a:r>
              <a:rPr lang="en-US" altLang="zh-CN" sz="2000" b="1" dirty="0">
                <a:latin typeface="宋体" panose="02010600030101010101" pitchFamily="2" charset="-122"/>
              </a:rPr>
              <a:t>]  </a:t>
            </a:r>
            <a:r>
              <a:rPr lang="en-US" altLang="zh-CN" sz="2000" b="1" dirty="0">
                <a:latin typeface="宋体" panose="02010600030101010101" pitchFamily="2" charset="-122"/>
                <a:sym typeface="+mn-ea"/>
              </a:rPr>
              <a:t>(v—</a:t>
            </a:r>
            <a:r>
              <a:rPr lang="zh-CN" altLang="en-US" sz="2000" b="1" dirty="0">
                <a:latin typeface="宋体" panose="02010600030101010101" pitchFamily="2" charset="-122"/>
                <a:sym typeface="+mn-ea"/>
              </a:rPr>
              <a:t>相对滑动速度</a:t>
            </a:r>
            <a:r>
              <a:rPr lang="en-US" altLang="zh-CN" sz="2000" b="1" dirty="0">
                <a:latin typeface="宋体" panose="02010600030101010101" pitchFamily="2" charset="-122"/>
                <a:sym typeface="+mn-ea"/>
              </a:rPr>
              <a:t>)</a:t>
            </a:r>
            <a:endParaRPr lang="en-US" altLang="zh-CN" sz="2000" b="1" dirty="0">
              <a:latin typeface="宋体" panose="02010600030101010101" pitchFamily="2" charset="-122"/>
            </a:endParaRPr>
          </a:p>
          <a:p>
            <a:pPr eaLnBrk="1" hangingPunct="1">
              <a:spcBef>
                <a:spcPts val="50"/>
              </a:spcBef>
              <a:spcAft>
                <a:spcPts val="0"/>
              </a:spcAft>
            </a:pPr>
            <a:r>
              <a:rPr lang="zh-CN" altLang="en-US" sz="2000" b="1" dirty="0">
                <a:latin typeface="宋体" panose="02010600030101010101" pitchFamily="2" charset="-122"/>
              </a:rPr>
              <a:t>速度条件：</a:t>
            </a:r>
            <a:r>
              <a:rPr lang="en-US" altLang="zh-CN" sz="2000" b="1" dirty="0" err="1">
                <a:latin typeface="宋体" panose="02010600030101010101" pitchFamily="2" charset="-122"/>
                <a:sym typeface="+mn-ea"/>
              </a:rPr>
              <a:t>v</a:t>
            </a:r>
            <a:r>
              <a:rPr lang="en-US" altLang="zh-CN" sz="2000" b="1" dirty="0">
                <a:latin typeface="宋体" panose="02010600030101010101" pitchFamily="2" charset="-122"/>
                <a:sym typeface="+mn-ea"/>
              </a:rPr>
              <a:t>≤[v]</a:t>
            </a:r>
            <a:endParaRPr lang="en-US" altLang="zh-CN" sz="2000" b="1" dirty="0">
              <a:latin typeface="宋体" panose="02010600030101010101" pitchFamily="2" charset="-122"/>
              <a:sym typeface="+mn-ea"/>
            </a:endParaRPr>
          </a:p>
          <a:p>
            <a:pPr indent="0" eaLnBrk="1" hangingPunct="1">
              <a:spcBef>
                <a:spcPts val="50"/>
              </a:spcBef>
              <a:spcAft>
                <a:spcPts val="0"/>
              </a:spcAft>
              <a:buNone/>
            </a:pPr>
            <a:r>
              <a:rPr lang="en-US" altLang="zh-CN" sz="2000" b="1" dirty="0">
                <a:latin typeface="宋体" panose="02010600030101010101" pitchFamily="2" charset="-122"/>
              </a:rPr>
              <a:t> ----</a:t>
            </a:r>
            <a:r>
              <a:rPr lang="zh-CN" altLang="en-US" sz="2000" b="1" dirty="0">
                <a:latin typeface="宋体" panose="02010600030101010101" pitchFamily="2" charset="-122"/>
              </a:rPr>
              <a:t>防止表面间温升过高，油膜破坏加剧磨损</a:t>
            </a:r>
            <a:r>
              <a:rPr lang="en-US" altLang="zh-CN" sz="2000" b="1" dirty="0">
                <a:latin typeface="宋体" panose="02010600030101010101" pitchFamily="2" charset="-122"/>
              </a:rPr>
              <a:t>—</a:t>
            </a:r>
            <a:r>
              <a:rPr lang="zh-CN" altLang="en-US" sz="2000" b="1" dirty="0">
                <a:latin typeface="宋体" panose="02010600030101010101" pitchFamily="2" charset="-122"/>
              </a:rPr>
              <a:t>胶合</a:t>
            </a:r>
            <a:endParaRPr lang="zh-CN" altLang="en-US" sz="2000" b="1" dirty="0">
              <a:latin typeface="宋体" panose="02010600030101010101" pitchFamily="2" charset="-122"/>
            </a:endParaRPr>
          </a:p>
        </p:txBody>
      </p:sp>
      <p:sp>
        <p:nvSpPr>
          <p:cNvPr id="4" name="文本框 3"/>
          <p:cNvSpPr txBox="1"/>
          <p:nvPr/>
        </p:nvSpPr>
        <p:spPr>
          <a:xfrm>
            <a:off x="1059815" y="6000115"/>
            <a:ext cx="3408680" cy="429895"/>
          </a:xfrm>
          <a:prstGeom prst="rect">
            <a:avLst/>
          </a:prstGeom>
          <a:noFill/>
        </p:spPr>
        <p:txBody>
          <a:bodyPr wrap="none" rtlCol="0" anchor="t">
            <a:spAutoFit/>
          </a:bodyPr>
          <a:p>
            <a:pPr>
              <a:spcAft>
                <a:spcPts val="0"/>
              </a:spcAft>
              <a:defRPr/>
            </a:pPr>
            <a:r>
              <a:rPr lang="zh-CN" altLang="en-US" dirty="0">
                <a:solidFill>
                  <a:srgbClr val="002060"/>
                </a:solidFill>
                <a:ea typeface="黑体" panose="02010609060101010101" pitchFamily="49" charset="-122"/>
                <a:sym typeface="+mn-ea"/>
              </a:rPr>
              <a:t>工作转速 </a:t>
            </a:r>
            <a:r>
              <a:rPr lang="en-US" altLang="zh-CN" i="1" dirty="0">
                <a:solidFill>
                  <a:srgbClr val="002060"/>
                </a:solidFill>
                <a:ea typeface="黑体" panose="02010609060101010101" pitchFamily="49" charset="-122"/>
                <a:sym typeface="+mn-ea"/>
              </a:rPr>
              <a:t>n</a:t>
            </a:r>
            <a:r>
              <a:rPr lang="en-US" altLang="zh-CN" dirty="0">
                <a:solidFill>
                  <a:srgbClr val="002060"/>
                </a:solidFill>
                <a:ea typeface="黑体" panose="02010609060101010101" pitchFamily="49" charset="-122"/>
                <a:sym typeface="+mn-ea"/>
              </a:rPr>
              <a:t> ≤</a:t>
            </a:r>
            <a:r>
              <a:rPr lang="zh-CN" altLang="en-US" dirty="0">
                <a:solidFill>
                  <a:srgbClr val="002060"/>
                </a:solidFill>
                <a:ea typeface="黑体" panose="02010609060101010101" pitchFamily="49" charset="-122"/>
                <a:sym typeface="+mn-ea"/>
              </a:rPr>
              <a:t>许用转速 </a:t>
            </a:r>
            <a:r>
              <a:rPr lang="en-US" altLang="zh-CN" dirty="0">
                <a:solidFill>
                  <a:srgbClr val="002060"/>
                </a:solidFill>
                <a:ea typeface="黑体" panose="02010609060101010101" pitchFamily="49" charset="-122"/>
                <a:sym typeface="+mn-ea"/>
              </a:rPr>
              <a:t>[</a:t>
            </a:r>
            <a:r>
              <a:rPr lang="en-US" altLang="zh-CN" i="1" dirty="0">
                <a:solidFill>
                  <a:srgbClr val="002060"/>
                </a:solidFill>
                <a:ea typeface="黑体" panose="02010609060101010101" pitchFamily="49" charset="-122"/>
                <a:sym typeface="+mn-ea"/>
              </a:rPr>
              <a:t>n</a:t>
            </a:r>
            <a:r>
              <a:rPr lang="en-US" altLang="zh-CN" dirty="0">
                <a:solidFill>
                  <a:srgbClr val="002060"/>
                </a:solidFill>
                <a:ea typeface="黑体" panose="02010609060101010101" pitchFamily="49" charset="-122"/>
                <a:sym typeface="+mn-ea"/>
              </a:rPr>
              <a:t>]</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25"/>
                                        </p:tgtEl>
                                        <p:attrNameLst>
                                          <p:attrName>style.visibility</p:attrName>
                                        </p:attrNameLst>
                                      </p:cBhvr>
                                      <p:to>
                                        <p:strVal val="visible"/>
                                      </p:to>
                                    </p:set>
                                    <p:animEffect transition="in" filter="wipe(left)">
                                      <p:cBhvr>
                                        <p:cTn id="7" dur="500"/>
                                        <p:tgtEl>
                                          <p:spTgt spid="819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left)">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1952"/>
                                        </p:tgtEl>
                                        <p:attrNameLst>
                                          <p:attrName>style.visibility</p:attrName>
                                        </p:attrNameLst>
                                      </p:cBhvr>
                                      <p:to>
                                        <p:strVal val="visible"/>
                                      </p:to>
                                    </p:set>
                                    <p:animEffect transition="in" filter="wipe(left)">
                                      <p:cBhvr>
                                        <p:cTn id="27" dur="500"/>
                                        <p:tgtEl>
                                          <p:spTgt spid="8195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wipe(up)">
                                      <p:cBhvr>
                                        <p:cTn id="37" dur="1000"/>
                                        <p:tgtEl>
                                          <p:spTgt spid="3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wipe(up)">
                                      <p:cBhvr>
                                        <p:cTn id="42" dur="10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left)">
                                      <p:cBhvr>
                                        <p:cTn id="4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5" grpId="0"/>
      <p:bldP spid="81952" grpId="0" bldLvl="0" animBg="1"/>
      <p:bldP spid="20" grpId="0"/>
      <p:bldP spid="2" grpId="0"/>
      <p:bldP spid="3" grpId="0" bldLvl="0" animBg="1"/>
      <p:bldP spid="6" grpId="0"/>
      <p:bldP spid="37" grpId="0" autoUpdateAnimBg="0"/>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8837" name="Text Box 1029"/>
          <p:cNvSpPr txBox="1">
            <a:spLocks noChangeArrowheads="1"/>
          </p:cNvSpPr>
          <p:nvPr/>
        </p:nvSpPr>
        <p:spPr bwMode="auto">
          <a:xfrm>
            <a:off x="574140" y="491182"/>
            <a:ext cx="6821488" cy="460375"/>
          </a:xfrm>
          <a:prstGeom prst="rect">
            <a:avLst/>
          </a:prstGeom>
          <a:solidFill>
            <a:schemeClr val="tx2"/>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spcAft>
                <a:spcPts val="0"/>
              </a:spcAft>
            </a:pPr>
            <a:r>
              <a:rPr lang="zh-CN" altLang="en-US" u="sng" dirty="0" smtClean="0">
                <a:solidFill>
                  <a:schemeClr val="bg1"/>
                </a:solidFill>
                <a:ea typeface="黑体" panose="02010609060101010101" pitchFamily="49" charset="-122"/>
              </a:rPr>
              <a:t>承载能力</a:t>
            </a:r>
            <a:r>
              <a:rPr lang="zh-CN" altLang="en-US" u="sng" dirty="0">
                <a:solidFill>
                  <a:schemeClr val="bg1"/>
                </a:solidFill>
                <a:ea typeface="黑体" panose="02010609060101010101" pitchFamily="49" charset="-122"/>
              </a:rPr>
              <a:t>判定条件（设计</a:t>
            </a:r>
            <a:r>
              <a:rPr lang="zh-CN" altLang="en-US" u="sng" dirty="0" smtClean="0">
                <a:solidFill>
                  <a:schemeClr val="bg1"/>
                </a:solidFill>
                <a:ea typeface="黑体" panose="02010609060101010101" pitchFamily="49" charset="-122"/>
              </a:rPr>
              <a:t>准则）</a:t>
            </a:r>
            <a:endParaRPr lang="zh-CN" altLang="en-US" u="sng" dirty="0">
              <a:solidFill>
                <a:schemeClr val="bg1"/>
              </a:solidFill>
              <a:ea typeface="黑体" panose="02010609060101010101" pitchFamily="49" charset="-122"/>
            </a:endParaRPr>
          </a:p>
        </p:txBody>
      </p:sp>
      <p:sp>
        <p:nvSpPr>
          <p:cNvPr id="248838" name="Text Box 1030"/>
          <p:cNvSpPr txBox="1">
            <a:spLocks noChangeArrowheads="1"/>
          </p:cNvSpPr>
          <p:nvPr/>
        </p:nvSpPr>
        <p:spPr bwMode="auto">
          <a:xfrm>
            <a:off x="533400" y="1154113"/>
            <a:ext cx="58388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spcAft>
                <a:spcPts val="0"/>
              </a:spcAft>
            </a:pPr>
            <a:r>
              <a:rPr lang="zh-CN" altLang="en-US" dirty="0">
                <a:solidFill>
                  <a:srgbClr val="002060"/>
                </a:solidFill>
                <a:ea typeface="黑体" panose="02010609060101010101" pitchFamily="49" charset="-122"/>
              </a:rPr>
              <a:t>同一零件可能发生各种不同形式的失效</a:t>
            </a:r>
            <a:endParaRPr lang="zh-CN" altLang="en-US" dirty="0">
              <a:solidFill>
                <a:srgbClr val="002060"/>
              </a:solidFill>
              <a:ea typeface="黑体" panose="02010609060101010101" pitchFamily="49" charset="-122"/>
            </a:endParaRPr>
          </a:p>
        </p:txBody>
      </p:sp>
      <p:grpSp>
        <p:nvGrpSpPr>
          <p:cNvPr id="2" name="Group 1031"/>
          <p:cNvGrpSpPr/>
          <p:nvPr/>
        </p:nvGrpSpPr>
        <p:grpSpPr bwMode="auto">
          <a:xfrm>
            <a:off x="533400" y="2601913"/>
            <a:ext cx="2667000" cy="228600"/>
            <a:chOff x="432" y="1488"/>
            <a:chExt cx="1680" cy="144"/>
          </a:xfrm>
        </p:grpSpPr>
        <p:sp>
          <p:nvSpPr>
            <p:cNvPr id="20503" name="Line 1032"/>
            <p:cNvSpPr>
              <a:spLocks noChangeShapeType="1"/>
            </p:cNvSpPr>
            <p:nvPr/>
          </p:nvSpPr>
          <p:spPr bwMode="auto">
            <a:xfrm>
              <a:off x="480" y="1488"/>
              <a:ext cx="1632" cy="0"/>
            </a:xfrm>
            <a:prstGeom prst="line">
              <a:avLst/>
            </a:prstGeom>
            <a:noFill/>
            <a:ln w="50800">
              <a:solidFill>
                <a:srgbClr val="002060"/>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0504" name="AutoShape 1033"/>
            <p:cNvSpPr>
              <a:spLocks noChangeArrowheads="1"/>
            </p:cNvSpPr>
            <p:nvPr/>
          </p:nvSpPr>
          <p:spPr bwMode="auto">
            <a:xfrm>
              <a:off x="432" y="1488"/>
              <a:ext cx="144" cy="144"/>
            </a:xfrm>
            <a:prstGeom prst="triangle">
              <a:avLst>
                <a:gd name="adj" fmla="val 50000"/>
              </a:avLst>
            </a:prstGeom>
            <a:noFill/>
            <a:ln w="38100">
              <a:solidFill>
                <a:srgbClr val="002060"/>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endParaRPr lang="zh-CN" altLang="en-US"/>
            </a:p>
          </p:txBody>
        </p:sp>
        <p:sp>
          <p:nvSpPr>
            <p:cNvPr id="20505" name="AutoShape 1034"/>
            <p:cNvSpPr>
              <a:spLocks noChangeArrowheads="1"/>
            </p:cNvSpPr>
            <p:nvPr/>
          </p:nvSpPr>
          <p:spPr bwMode="auto">
            <a:xfrm>
              <a:off x="1968" y="1488"/>
              <a:ext cx="144" cy="144"/>
            </a:xfrm>
            <a:prstGeom prst="triangle">
              <a:avLst>
                <a:gd name="adj" fmla="val 50000"/>
              </a:avLst>
            </a:prstGeom>
            <a:noFill/>
            <a:ln w="38100">
              <a:solidFill>
                <a:srgbClr val="002060"/>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endParaRPr lang="zh-CN" altLang="en-US"/>
            </a:p>
          </p:txBody>
        </p:sp>
      </p:grpSp>
      <p:sp>
        <p:nvSpPr>
          <p:cNvPr id="248843" name="Freeform 1035"/>
          <p:cNvSpPr/>
          <p:nvPr/>
        </p:nvSpPr>
        <p:spPr bwMode="auto">
          <a:xfrm>
            <a:off x="533400" y="2601913"/>
            <a:ext cx="2667000" cy="228600"/>
          </a:xfrm>
          <a:custGeom>
            <a:avLst/>
            <a:gdLst>
              <a:gd name="T0" fmla="*/ 0 w 2448"/>
              <a:gd name="T1" fmla="*/ 0 h 160"/>
              <a:gd name="T2" fmla="*/ 1196419686 w 2448"/>
              <a:gd name="T3" fmla="*/ 293951025 h 160"/>
              <a:gd name="T4" fmla="*/ 2147483647 w 2448"/>
              <a:gd name="T5" fmla="*/ 195967350 h 160"/>
              <a:gd name="T6" fmla="*/ 2147483647 w 2448"/>
              <a:gd name="T7" fmla="*/ 0 h 160"/>
              <a:gd name="T8" fmla="*/ 0 60000 65536"/>
              <a:gd name="T9" fmla="*/ 0 60000 65536"/>
              <a:gd name="T10" fmla="*/ 0 60000 65536"/>
              <a:gd name="T11" fmla="*/ 0 60000 65536"/>
              <a:gd name="T12" fmla="*/ 0 w 2448"/>
              <a:gd name="T13" fmla="*/ 0 h 160"/>
              <a:gd name="T14" fmla="*/ 2448 w 2448"/>
              <a:gd name="T15" fmla="*/ 160 h 160"/>
            </a:gdLst>
            <a:ahLst/>
            <a:cxnLst>
              <a:cxn ang="T8">
                <a:pos x="T0" y="T1"/>
              </a:cxn>
              <a:cxn ang="T9">
                <a:pos x="T2" y="T3"/>
              </a:cxn>
              <a:cxn ang="T10">
                <a:pos x="T4" y="T5"/>
              </a:cxn>
              <a:cxn ang="T11">
                <a:pos x="T6" y="T7"/>
              </a:cxn>
            </a:cxnLst>
            <a:rect l="T12" t="T13" r="T14" b="T15"/>
            <a:pathLst>
              <a:path w="2448" h="160">
                <a:moveTo>
                  <a:pt x="0" y="0"/>
                </a:moveTo>
                <a:cubicBezTo>
                  <a:pt x="352" y="64"/>
                  <a:pt x="704" y="128"/>
                  <a:pt x="1008" y="144"/>
                </a:cubicBezTo>
                <a:cubicBezTo>
                  <a:pt x="1312" y="160"/>
                  <a:pt x="1584" y="120"/>
                  <a:pt x="1824" y="96"/>
                </a:cubicBezTo>
                <a:cubicBezTo>
                  <a:pt x="2064" y="72"/>
                  <a:pt x="2256" y="36"/>
                  <a:pt x="2448" y="0"/>
                </a:cubicBezTo>
              </a:path>
            </a:pathLst>
          </a:custGeom>
          <a:noFill/>
          <a:ln w="25400" cap="flat" cmpd="sng">
            <a:solidFill>
              <a:srgbClr val="002060"/>
            </a:solidFill>
            <a:prstDash val="dash"/>
            <a:rou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grpSp>
        <p:nvGrpSpPr>
          <p:cNvPr id="3" name="Group 1036"/>
          <p:cNvGrpSpPr/>
          <p:nvPr/>
        </p:nvGrpSpPr>
        <p:grpSpPr bwMode="auto">
          <a:xfrm>
            <a:off x="1828800" y="1916113"/>
            <a:ext cx="838200" cy="685800"/>
            <a:chOff x="1248" y="1056"/>
            <a:chExt cx="528" cy="432"/>
          </a:xfrm>
        </p:grpSpPr>
        <p:sp>
          <p:nvSpPr>
            <p:cNvPr id="20501" name="Line 1037"/>
            <p:cNvSpPr>
              <a:spLocks noChangeShapeType="1"/>
            </p:cNvSpPr>
            <p:nvPr/>
          </p:nvSpPr>
          <p:spPr bwMode="auto">
            <a:xfrm>
              <a:off x="1248" y="1104"/>
              <a:ext cx="0" cy="384"/>
            </a:xfrm>
            <a:prstGeom prst="line">
              <a:avLst/>
            </a:prstGeom>
            <a:noFill/>
            <a:ln w="50800">
              <a:solidFill>
                <a:srgbClr val="CC0000"/>
              </a:solidFill>
              <a:round/>
              <a:tailEnd type="triangle" w="sm"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8846" name="Text Box 1038"/>
            <p:cNvSpPr txBox="1">
              <a:spLocks noChangeArrowheads="1"/>
            </p:cNvSpPr>
            <p:nvPr/>
          </p:nvSpPr>
          <p:spPr bwMode="auto">
            <a:xfrm>
              <a:off x="1296" y="1056"/>
              <a:ext cx="480" cy="271"/>
            </a:xfrm>
            <a:prstGeom prst="rect">
              <a:avLst/>
            </a:prstGeom>
            <a:noFill/>
            <a:ln w="9525">
              <a:noFill/>
              <a:miter lim="800000"/>
            </a:ln>
            <a:effectLst/>
          </p:spPr>
          <p:txBody>
            <a:bodyPr>
              <a:spAutoFit/>
            </a:bodyPr>
            <a:lstStyle/>
            <a:p>
              <a:pPr>
                <a:defRPr/>
              </a:pPr>
              <a:r>
                <a:rPr lang="en-US" altLang="zh-CN" i="1" dirty="0">
                  <a:solidFill>
                    <a:srgbClr val="C00000"/>
                  </a:solidFill>
                  <a:effectLst>
                    <a:outerShdw blurRad="38100" dist="38100" dir="2700000" algn="tl">
                      <a:srgbClr val="C0C0C0"/>
                    </a:outerShdw>
                  </a:effectLst>
                </a:rPr>
                <a:t>F</a:t>
              </a:r>
              <a:endParaRPr lang="en-US" altLang="zh-CN" i="1" dirty="0">
                <a:solidFill>
                  <a:srgbClr val="C00000"/>
                </a:solidFill>
                <a:effectLst>
                  <a:outerShdw blurRad="38100" dist="38100" dir="2700000" algn="tl">
                    <a:srgbClr val="C0C0C0"/>
                  </a:outerShdw>
                </a:effectLst>
              </a:endParaRPr>
            </a:p>
          </p:txBody>
        </p:sp>
      </p:grpSp>
      <p:grpSp>
        <p:nvGrpSpPr>
          <p:cNvPr id="4" name="Group 1039"/>
          <p:cNvGrpSpPr/>
          <p:nvPr/>
        </p:nvGrpSpPr>
        <p:grpSpPr bwMode="auto">
          <a:xfrm>
            <a:off x="990600" y="1916113"/>
            <a:ext cx="762000" cy="914400"/>
            <a:chOff x="720" y="1056"/>
            <a:chExt cx="480" cy="576"/>
          </a:xfrm>
        </p:grpSpPr>
        <p:sp>
          <p:nvSpPr>
            <p:cNvPr id="20499" name="Arc 1040"/>
            <p:cNvSpPr/>
            <p:nvPr/>
          </p:nvSpPr>
          <p:spPr bwMode="auto">
            <a:xfrm rot="18922211" flipH="1">
              <a:off x="768" y="1392"/>
              <a:ext cx="192" cy="2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rgbClr val="0000FF"/>
              </a:solidFill>
              <a:round/>
              <a:tailEnd type="triangle" w="sm" len="me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248849" name="Text Box 1041"/>
            <p:cNvSpPr txBox="1">
              <a:spLocks noChangeArrowheads="1"/>
            </p:cNvSpPr>
            <p:nvPr/>
          </p:nvSpPr>
          <p:spPr bwMode="auto">
            <a:xfrm>
              <a:off x="720" y="1056"/>
              <a:ext cx="480" cy="327"/>
            </a:xfrm>
            <a:prstGeom prst="rect">
              <a:avLst/>
            </a:prstGeom>
            <a:noFill/>
            <a:ln w="9525">
              <a:noFill/>
              <a:miter lim="800000"/>
            </a:ln>
            <a:effectLst/>
          </p:spPr>
          <p:txBody>
            <a:bodyPr>
              <a:spAutoFit/>
            </a:bodyPr>
            <a:lstStyle/>
            <a:p>
              <a:pPr>
                <a:defRPr/>
              </a:pPr>
              <a:r>
                <a:rPr lang="en-US" altLang="zh-CN" sz="2800" i="1" dirty="0">
                  <a:solidFill>
                    <a:srgbClr val="C00000"/>
                  </a:solidFill>
                  <a:effectLst>
                    <a:outerShdw blurRad="38100" dist="38100" dir="2700000" algn="tl">
                      <a:srgbClr val="C0C0C0"/>
                    </a:outerShdw>
                  </a:effectLst>
                </a:rPr>
                <a:t>n</a:t>
              </a:r>
              <a:endParaRPr lang="en-US" altLang="zh-CN" dirty="0">
                <a:solidFill>
                  <a:srgbClr val="C00000"/>
                </a:solidFill>
                <a:effectLst>
                  <a:outerShdw blurRad="38100" dist="38100" dir="2700000" algn="tl">
                    <a:srgbClr val="C0C0C0"/>
                  </a:outerShdw>
                </a:effectLst>
              </a:endParaRPr>
            </a:p>
          </p:txBody>
        </p:sp>
      </p:grpSp>
      <p:sp>
        <p:nvSpPr>
          <p:cNvPr id="248850" name="Text Box 1042"/>
          <p:cNvSpPr txBox="1">
            <a:spLocks noChangeArrowheads="1"/>
          </p:cNvSpPr>
          <p:nvPr/>
        </p:nvSpPr>
        <p:spPr bwMode="auto">
          <a:xfrm>
            <a:off x="3352800" y="1744663"/>
            <a:ext cx="3883025" cy="429895"/>
          </a:xfrm>
          <a:prstGeom prst="rect">
            <a:avLst/>
          </a:prstGeom>
          <a:noFill/>
          <a:ln w="9525">
            <a:noFill/>
            <a:miter lim="800000"/>
          </a:ln>
          <a:effectLst/>
        </p:spPr>
        <p:txBody>
          <a:bodyPr>
            <a:spAutoFit/>
          </a:bodyPr>
          <a:lstStyle/>
          <a:p>
            <a:pPr>
              <a:spcAft>
                <a:spcPts val="0"/>
              </a:spcAft>
              <a:defRPr/>
            </a:pPr>
            <a:r>
              <a:rPr lang="zh-CN" altLang="en-US" dirty="0">
                <a:solidFill>
                  <a:srgbClr val="C00000"/>
                </a:solidFill>
                <a:effectLst>
                  <a:outerShdw blurRad="38100" dist="38100" dir="2700000" algn="tl">
                    <a:srgbClr val="C0C0C0"/>
                  </a:outerShdw>
                </a:effectLst>
                <a:ea typeface="黑体" panose="02010609060101010101" pitchFamily="49" charset="-122"/>
              </a:rPr>
              <a:t>轴可能出现的失效形式：</a:t>
            </a:r>
            <a:endParaRPr lang="zh-CN" altLang="en-US" dirty="0">
              <a:solidFill>
                <a:srgbClr val="C00000"/>
              </a:solidFill>
              <a:effectLst>
                <a:outerShdw blurRad="38100" dist="38100" dir="2700000" algn="tl">
                  <a:srgbClr val="C0C0C0"/>
                </a:outerShdw>
              </a:effectLst>
              <a:ea typeface="黑体" panose="02010609060101010101" pitchFamily="49" charset="-122"/>
            </a:endParaRPr>
          </a:p>
        </p:txBody>
      </p:sp>
      <p:sp>
        <p:nvSpPr>
          <p:cNvPr id="248851" name="Text Box 1043"/>
          <p:cNvSpPr txBox="1">
            <a:spLocks noChangeArrowheads="1"/>
          </p:cNvSpPr>
          <p:nvPr/>
        </p:nvSpPr>
        <p:spPr bwMode="auto">
          <a:xfrm>
            <a:off x="3352800" y="2297113"/>
            <a:ext cx="838200" cy="429895"/>
          </a:xfrm>
          <a:prstGeom prst="rect">
            <a:avLst/>
          </a:prstGeom>
          <a:solidFill>
            <a:srgbClr val="CCFFFF"/>
          </a:solidFill>
          <a:ln w="9525">
            <a:noFill/>
            <a:miter lim="800000"/>
          </a:ln>
          <a:effectLst/>
        </p:spPr>
        <p:txBody>
          <a:bodyPr>
            <a:spAutoFit/>
          </a:bodyPr>
          <a:lstStyle/>
          <a:p>
            <a:pPr>
              <a:spcAft>
                <a:spcPts val="0"/>
              </a:spcAft>
              <a:defRPr/>
            </a:pPr>
            <a:r>
              <a:rPr lang="zh-CN" altLang="en-US" dirty="0">
                <a:solidFill>
                  <a:srgbClr val="C00000"/>
                </a:solidFill>
                <a:effectLst>
                  <a:outerShdw blurRad="38100" dist="38100" dir="2700000" algn="tl">
                    <a:srgbClr val="000000"/>
                  </a:outerShdw>
                </a:effectLst>
                <a:ea typeface="黑体" panose="02010609060101010101" pitchFamily="49" charset="-122"/>
              </a:rPr>
              <a:t>断裂</a:t>
            </a:r>
            <a:endParaRPr lang="zh-CN" altLang="en-US" dirty="0">
              <a:solidFill>
                <a:srgbClr val="C00000"/>
              </a:solidFill>
              <a:effectLst>
                <a:outerShdw blurRad="38100" dist="38100" dir="2700000" algn="tl">
                  <a:srgbClr val="000000"/>
                </a:outerShdw>
              </a:effectLst>
              <a:ea typeface="黑体" panose="02010609060101010101" pitchFamily="49" charset="-122"/>
            </a:endParaRPr>
          </a:p>
        </p:txBody>
      </p:sp>
      <p:sp>
        <p:nvSpPr>
          <p:cNvPr id="248852" name="Text Box 1044"/>
          <p:cNvSpPr txBox="1">
            <a:spLocks noChangeArrowheads="1"/>
          </p:cNvSpPr>
          <p:nvPr/>
        </p:nvSpPr>
        <p:spPr bwMode="auto">
          <a:xfrm>
            <a:off x="1244786" y="3455616"/>
            <a:ext cx="5930900" cy="768350"/>
          </a:xfrm>
          <a:prstGeom prst="rect">
            <a:avLst/>
          </a:prstGeom>
          <a:solidFill>
            <a:srgbClr val="FFFF99"/>
          </a:solidFill>
          <a:ln w="9525">
            <a:noFill/>
            <a:miter lim="800000"/>
          </a:ln>
          <a:effectLst>
            <a:outerShdw dist="107763" dir="2700000" algn="ctr" rotWithShape="0">
              <a:schemeClr val="bg2"/>
            </a:outerShdw>
          </a:effectLst>
        </p:spPr>
        <p:txBody>
          <a:bodyPr>
            <a:spAutoFit/>
          </a:bodyPr>
          <a:lstStyle/>
          <a:p>
            <a:pPr>
              <a:spcAft>
                <a:spcPts val="0"/>
              </a:spcAft>
              <a:defRPr/>
            </a:pPr>
            <a:r>
              <a:rPr lang="zh-CN" altLang="en-US" dirty="0">
                <a:solidFill>
                  <a:srgbClr val="002060"/>
                </a:solidFill>
                <a:effectLst>
                  <a:outerShdw blurRad="38100" dist="38100" dir="2700000" algn="tl">
                    <a:srgbClr val="000000"/>
                  </a:outerShdw>
                </a:effectLst>
                <a:ea typeface="黑体" panose="02010609060101010101" pitchFamily="49" charset="-122"/>
              </a:rPr>
              <a:t>强度条件：</a:t>
            </a:r>
            <a:r>
              <a:rPr lang="zh-CN" altLang="en-US" dirty="0">
                <a:solidFill>
                  <a:srgbClr val="002060"/>
                </a:solidFill>
                <a:ea typeface="黑体" panose="02010609060101010101" pitchFamily="49" charset="-122"/>
              </a:rPr>
              <a:t>	工作应力≤许用应力</a:t>
            </a:r>
            <a:endParaRPr lang="zh-CN" altLang="en-US" dirty="0">
              <a:solidFill>
                <a:srgbClr val="002060"/>
              </a:solidFill>
              <a:ea typeface="黑体" panose="02010609060101010101" pitchFamily="49" charset="-122"/>
            </a:endParaRPr>
          </a:p>
          <a:p>
            <a:pPr>
              <a:spcBef>
                <a:spcPts val="0"/>
              </a:spcBef>
              <a:defRPr/>
            </a:pPr>
            <a:r>
              <a:rPr lang="zh-CN" altLang="en-US" dirty="0">
                <a:solidFill>
                  <a:srgbClr val="002060"/>
                </a:solidFill>
                <a:ea typeface="黑体" panose="02010609060101010101" pitchFamily="49" charset="-122"/>
              </a:rPr>
              <a:t>		</a:t>
            </a:r>
            <a:r>
              <a:rPr lang="en-US" altLang="zh-CN" i="1" dirty="0">
                <a:solidFill>
                  <a:srgbClr val="002060"/>
                </a:solidFill>
                <a:ea typeface="楷体_GB2312" pitchFamily="49" charset="-122"/>
              </a:rPr>
              <a:t>σ</a:t>
            </a:r>
            <a:r>
              <a:rPr lang="en-US" altLang="zh-CN" dirty="0">
                <a:solidFill>
                  <a:srgbClr val="002060"/>
                </a:solidFill>
                <a:ea typeface="黑体" panose="02010609060101010101" pitchFamily="49" charset="-122"/>
              </a:rPr>
              <a:t>≤ [</a:t>
            </a:r>
            <a:r>
              <a:rPr lang="en-US" altLang="zh-CN" i="1" dirty="0">
                <a:solidFill>
                  <a:srgbClr val="002060"/>
                </a:solidFill>
                <a:ea typeface="楷体_GB2312" pitchFamily="49" charset="-122"/>
              </a:rPr>
              <a:t>σ</a:t>
            </a:r>
            <a:r>
              <a:rPr lang="en-US" altLang="zh-CN" dirty="0">
                <a:solidFill>
                  <a:srgbClr val="002060"/>
                </a:solidFill>
                <a:ea typeface="黑体" panose="02010609060101010101" pitchFamily="49" charset="-122"/>
              </a:rPr>
              <a:t>] </a:t>
            </a:r>
            <a:r>
              <a:rPr lang="zh-CN" altLang="en-US" dirty="0">
                <a:solidFill>
                  <a:srgbClr val="002060"/>
                </a:solidFill>
                <a:ea typeface="黑体" panose="02010609060101010101" pitchFamily="49" charset="-122"/>
              </a:rPr>
              <a:t>或 </a:t>
            </a:r>
            <a:r>
              <a:rPr lang="en-US" altLang="zh-CN" i="1" dirty="0">
                <a:solidFill>
                  <a:srgbClr val="002060"/>
                </a:solidFill>
                <a:ea typeface="楷体_GB2312" pitchFamily="49" charset="-122"/>
              </a:rPr>
              <a:t>τ</a:t>
            </a:r>
            <a:r>
              <a:rPr lang="en-US" altLang="zh-CN" dirty="0">
                <a:solidFill>
                  <a:srgbClr val="002060"/>
                </a:solidFill>
                <a:ea typeface="黑体" panose="02010609060101010101" pitchFamily="49" charset="-122"/>
              </a:rPr>
              <a:t>≤ [</a:t>
            </a:r>
            <a:r>
              <a:rPr lang="en-US" altLang="zh-CN" i="1" dirty="0">
                <a:solidFill>
                  <a:srgbClr val="002060"/>
                </a:solidFill>
                <a:ea typeface="楷体_GB2312" pitchFamily="49" charset="-122"/>
              </a:rPr>
              <a:t>τ</a:t>
            </a:r>
            <a:r>
              <a:rPr lang="en-US" altLang="zh-CN" dirty="0">
                <a:solidFill>
                  <a:srgbClr val="002060"/>
                </a:solidFill>
                <a:ea typeface="黑体" panose="02010609060101010101" pitchFamily="49" charset="-122"/>
              </a:rPr>
              <a:t>]</a:t>
            </a:r>
            <a:endParaRPr lang="en-US" altLang="zh-CN" dirty="0">
              <a:solidFill>
                <a:srgbClr val="002060"/>
              </a:solidFill>
              <a:ea typeface="黑体" panose="02010609060101010101" pitchFamily="49" charset="-122"/>
            </a:endParaRPr>
          </a:p>
        </p:txBody>
      </p:sp>
      <p:sp>
        <p:nvSpPr>
          <p:cNvPr id="248853" name="Text Box 1045"/>
          <p:cNvSpPr txBox="1">
            <a:spLocks noChangeArrowheads="1"/>
          </p:cNvSpPr>
          <p:nvPr/>
        </p:nvSpPr>
        <p:spPr bwMode="auto">
          <a:xfrm>
            <a:off x="1256128" y="4542936"/>
            <a:ext cx="5943600" cy="768350"/>
          </a:xfrm>
          <a:prstGeom prst="rect">
            <a:avLst/>
          </a:prstGeom>
          <a:solidFill>
            <a:srgbClr val="FFFF99"/>
          </a:solidFill>
          <a:ln w="9525">
            <a:noFill/>
            <a:miter lim="800000"/>
          </a:ln>
          <a:effectLst>
            <a:outerShdw dist="107763" dir="2700000" algn="ctr" rotWithShape="0">
              <a:schemeClr val="bg2"/>
            </a:outerShdw>
          </a:effectLst>
        </p:spPr>
        <p:txBody>
          <a:bodyPr>
            <a:spAutoFit/>
          </a:bodyPr>
          <a:lstStyle/>
          <a:p>
            <a:pPr>
              <a:spcAft>
                <a:spcPts val="0"/>
              </a:spcAft>
              <a:defRPr/>
            </a:pPr>
            <a:r>
              <a:rPr lang="zh-CN" altLang="en-US" dirty="0">
                <a:solidFill>
                  <a:srgbClr val="002060"/>
                </a:solidFill>
                <a:effectLst>
                  <a:outerShdw blurRad="38100" dist="38100" dir="2700000" algn="tl">
                    <a:srgbClr val="000000"/>
                  </a:outerShdw>
                </a:effectLst>
                <a:ea typeface="黑体" panose="02010609060101010101" pitchFamily="49" charset="-122"/>
              </a:rPr>
              <a:t>刚度条件：</a:t>
            </a:r>
            <a:r>
              <a:rPr lang="zh-CN" altLang="en-US" dirty="0">
                <a:solidFill>
                  <a:srgbClr val="002060"/>
                </a:solidFill>
                <a:ea typeface="黑体" panose="02010609060101010101" pitchFamily="49" charset="-122"/>
              </a:rPr>
              <a:t>  实际变形量≤许用变形量</a:t>
            </a:r>
            <a:endParaRPr lang="zh-CN" altLang="en-US" dirty="0">
              <a:solidFill>
                <a:srgbClr val="002060"/>
              </a:solidFill>
              <a:ea typeface="黑体" panose="02010609060101010101" pitchFamily="49" charset="-122"/>
            </a:endParaRPr>
          </a:p>
          <a:p>
            <a:pPr>
              <a:spcBef>
                <a:spcPts val="0"/>
              </a:spcBef>
              <a:defRPr/>
            </a:pPr>
            <a:r>
              <a:rPr lang="zh-CN" altLang="en-US" dirty="0">
                <a:solidFill>
                  <a:srgbClr val="002060"/>
                </a:solidFill>
                <a:ea typeface="黑体" panose="02010609060101010101" pitchFamily="49" charset="-122"/>
              </a:rPr>
              <a:t>                     </a:t>
            </a:r>
            <a:r>
              <a:rPr lang="en-US" altLang="zh-CN" i="1" dirty="0">
                <a:solidFill>
                  <a:srgbClr val="002060"/>
                </a:solidFill>
                <a:ea typeface="黑体" panose="02010609060101010101" pitchFamily="49" charset="-122"/>
              </a:rPr>
              <a:t>y</a:t>
            </a:r>
            <a:r>
              <a:rPr lang="en-US" altLang="zh-CN" dirty="0">
                <a:solidFill>
                  <a:srgbClr val="002060"/>
                </a:solidFill>
                <a:ea typeface="黑体" panose="02010609060101010101" pitchFamily="49" charset="-122"/>
              </a:rPr>
              <a:t> ≤[</a:t>
            </a:r>
            <a:r>
              <a:rPr lang="en-US" altLang="zh-CN" i="1" dirty="0">
                <a:solidFill>
                  <a:srgbClr val="002060"/>
                </a:solidFill>
                <a:ea typeface="黑体" panose="02010609060101010101" pitchFamily="49" charset="-122"/>
              </a:rPr>
              <a:t>y</a:t>
            </a:r>
            <a:r>
              <a:rPr lang="en-US" altLang="zh-CN" dirty="0">
                <a:solidFill>
                  <a:srgbClr val="002060"/>
                </a:solidFill>
                <a:ea typeface="黑体" panose="02010609060101010101" pitchFamily="49" charset="-122"/>
              </a:rPr>
              <a:t>]</a:t>
            </a:r>
            <a:r>
              <a:rPr lang="zh-CN" altLang="en-US" dirty="0">
                <a:solidFill>
                  <a:srgbClr val="002060"/>
                </a:solidFill>
                <a:ea typeface="黑体" panose="02010609060101010101" pitchFamily="49" charset="-122"/>
              </a:rPr>
              <a:t>、</a:t>
            </a:r>
            <a:r>
              <a:rPr lang="en-US" altLang="zh-CN" i="1" dirty="0">
                <a:solidFill>
                  <a:srgbClr val="002060"/>
                </a:solidFill>
                <a:ea typeface="黑体" panose="02010609060101010101" pitchFamily="49" charset="-122"/>
              </a:rPr>
              <a:t>θ</a:t>
            </a:r>
            <a:r>
              <a:rPr lang="en-US" altLang="zh-CN" dirty="0">
                <a:solidFill>
                  <a:srgbClr val="002060"/>
                </a:solidFill>
                <a:ea typeface="黑体" panose="02010609060101010101" pitchFamily="49" charset="-122"/>
              </a:rPr>
              <a:t> ≤[</a:t>
            </a:r>
            <a:r>
              <a:rPr lang="en-US" altLang="zh-CN" i="1" dirty="0">
                <a:solidFill>
                  <a:srgbClr val="002060"/>
                </a:solidFill>
                <a:ea typeface="黑体" panose="02010609060101010101" pitchFamily="49" charset="-122"/>
              </a:rPr>
              <a:t>θ</a:t>
            </a:r>
            <a:r>
              <a:rPr lang="en-US" altLang="zh-CN" dirty="0">
                <a:solidFill>
                  <a:srgbClr val="002060"/>
                </a:solidFill>
                <a:ea typeface="黑体" panose="02010609060101010101" pitchFamily="49" charset="-122"/>
              </a:rPr>
              <a:t>]</a:t>
            </a:r>
            <a:r>
              <a:rPr lang="zh-CN" altLang="en-US" dirty="0">
                <a:solidFill>
                  <a:srgbClr val="002060"/>
                </a:solidFill>
                <a:ea typeface="黑体" panose="02010609060101010101" pitchFamily="49" charset="-122"/>
              </a:rPr>
              <a:t>、</a:t>
            </a:r>
            <a:r>
              <a:rPr lang="en-US" altLang="zh-CN" i="1" dirty="0">
                <a:solidFill>
                  <a:srgbClr val="002060"/>
                </a:solidFill>
                <a:ea typeface="隶书" panose="02010509060101010101" pitchFamily="49" charset="-122"/>
              </a:rPr>
              <a:t>φ</a:t>
            </a:r>
            <a:r>
              <a:rPr lang="en-US" altLang="zh-CN" dirty="0">
                <a:solidFill>
                  <a:srgbClr val="002060"/>
                </a:solidFill>
                <a:ea typeface="黑体" panose="02010609060101010101" pitchFamily="49" charset="-122"/>
              </a:rPr>
              <a:t> ≤ [</a:t>
            </a:r>
            <a:r>
              <a:rPr lang="en-US" altLang="zh-CN" i="1" dirty="0">
                <a:solidFill>
                  <a:srgbClr val="002060"/>
                </a:solidFill>
                <a:ea typeface="隶书" panose="02010509060101010101" pitchFamily="49" charset="-122"/>
              </a:rPr>
              <a:t>φ</a:t>
            </a:r>
            <a:r>
              <a:rPr lang="en-US" altLang="zh-CN" dirty="0">
                <a:solidFill>
                  <a:srgbClr val="002060"/>
                </a:solidFill>
                <a:ea typeface="黑体" panose="02010609060101010101" pitchFamily="49" charset="-122"/>
              </a:rPr>
              <a:t>]</a:t>
            </a:r>
            <a:endParaRPr lang="en-US" altLang="zh-CN" dirty="0">
              <a:solidFill>
                <a:srgbClr val="002060"/>
              </a:solidFill>
              <a:ea typeface="黑体" panose="02010609060101010101" pitchFamily="49" charset="-122"/>
            </a:endParaRPr>
          </a:p>
        </p:txBody>
      </p:sp>
      <p:sp>
        <p:nvSpPr>
          <p:cNvPr id="248854" name="Text Box 1046"/>
          <p:cNvSpPr txBox="1">
            <a:spLocks noChangeArrowheads="1"/>
          </p:cNvSpPr>
          <p:nvPr/>
        </p:nvSpPr>
        <p:spPr bwMode="auto">
          <a:xfrm>
            <a:off x="1219913" y="5628540"/>
            <a:ext cx="5943600" cy="429895"/>
          </a:xfrm>
          <a:prstGeom prst="rect">
            <a:avLst/>
          </a:prstGeom>
          <a:solidFill>
            <a:srgbClr val="FFFF99"/>
          </a:solidFill>
          <a:ln w="9525">
            <a:noFill/>
            <a:miter lim="800000"/>
          </a:ln>
          <a:effectLst>
            <a:outerShdw dist="107763" dir="2700000" algn="ctr" rotWithShape="0">
              <a:schemeClr val="bg2"/>
            </a:outerShdw>
          </a:effectLst>
        </p:spPr>
        <p:txBody>
          <a:bodyPr>
            <a:spAutoFit/>
          </a:bodyPr>
          <a:lstStyle/>
          <a:p>
            <a:pPr>
              <a:spcAft>
                <a:spcPts val="0"/>
              </a:spcAft>
              <a:defRPr/>
            </a:pPr>
            <a:r>
              <a:rPr lang="zh-CN" altLang="en-US" dirty="0">
                <a:solidFill>
                  <a:srgbClr val="002060"/>
                </a:solidFill>
                <a:effectLst>
                  <a:outerShdw blurRad="38100" dist="38100" dir="2700000" algn="tl">
                    <a:srgbClr val="000000"/>
                  </a:outerShdw>
                </a:effectLst>
                <a:ea typeface="黑体" panose="02010609060101010101" pitchFamily="49" charset="-122"/>
              </a:rPr>
              <a:t>稳定性条件：</a:t>
            </a:r>
            <a:r>
              <a:rPr lang="zh-CN" altLang="en-US" dirty="0">
                <a:solidFill>
                  <a:srgbClr val="002060"/>
                </a:solidFill>
                <a:ea typeface="黑体" panose="02010609060101010101" pitchFamily="49" charset="-122"/>
              </a:rPr>
              <a:t>工作转速 </a:t>
            </a:r>
            <a:r>
              <a:rPr lang="en-US" altLang="zh-CN" i="1" dirty="0">
                <a:solidFill>
                  <a:srgbClr val="002060"/>
                </a:solidFill>
                <a:ea typeface="黑体" panose="02010609060101010101" pitchFamily="49" charset="-122"/>
              </a:rPr>
              <a:t>n</a:t>
            </a:r>
            <a:r>
              <a:rPr lang="en-US" altLang="zh-CN" dirty="0">
                <a:solidFill>
                  <a:srgbClr val="002060"/>
                </a:solidFill>
                <a:ea typeface="黑体" panose="02010609060101010101" pitchFamily="49" charset="-122"/>
              </a:rPr>
              <a:t> ≤</a:t>
            </a:r>
            <a:r>
              <a:rPr lang="zh-CN" altLang="en-US" dirty="0">
                <a:solidFill>
                  <a:srgbClr val="002060"/>
                </a:solidFill>
                <a:ea typeface="黑体" panose="02010609060101010101" pitchFamily="49" charset="-122"/>
              </a:rPr>
              <a:t>许用转速 </a:t>
            </a:r>
            <a:r>
              <a:rPr lang="en-US" altLang="zh-CN" dirty="0">
                <a:solidFill>
                  <a:srgbClr val="002060"/>
                </a:solidFill>
                <a:ea typeface="黑体" panose="02010609060101010101" pitchFamily="49" charset="-122"/>
              </a:rPr>
              <a:t>[</a:t>
            </a:r>
            <a:r>
              <a:rPr lang="en-US" altLang="zh-CN" i="1" dirty="0">
                <a:solidFill>
                  <a:srgbClr val="002060"/>
                </a:solidFill>
                <a:ea typeface="黑体" panose="02010609060101010101" pitchFamily="49" charset="-122"/>
              </a:rPr>
              <a:t>n</a:t>
            </a:r>
            <a:r>
              <a:rPr lang="en-US" altLang="zh-CN" dirty="0">
                <a:solidFill>
                  <a:srgbClr val="002060"/>
                </a:solidFill>
                <a:ea typeface="黑体" panose="02010609060101010101" pitchFamily="49" charset="-122"/>
              </a:rPr>
              <a:t>]</a:t>
            </a:r>
            <a:endParaRPr lang="en-US" altLang="zh-CN" dirty="0">
              <a:solidFill>
                <a:srgbClr val="002060"/>
              </a:solidFill>
              <a:ea typeface="黑体" panose="02010609060101010101" pitchFamily="49" charset="-122"/>
            </a:endParaRPr>
          </a:p>
        </p:txBody>
      </p:sp>
      <p:sp>
        <p:nvSpPr>
          <p:cNvPr id="248855" name="Text Box 1047"/>
          <p:cNvSpPr txBox="1">
            <a:spLocks noChangeArrowheads="1"/>
          </p:cNvSpPr>
          <p:nvPr/>
        </p:nvSpPr>
        <p:spPr bwMode="auto">
          <a:xfrm>
            <a:off x="4267200" y="2286000"/>
            <a:ext cx="1447800" cy="429895"/>
          </a:xfrm>
          <a:prstGeom prst="rect">
            <a:avLst/>
          </a:prstGeom>
          <a:solidFill>
            <a:srgbClr val="CCFFFF"/>
          </a:solidFill>
          <a:ln w="9525">
            <a:noFill/>
            <a:miter lim="800000"/>
          </a:ln>
          <a:effectLst/>
        </p:spPr>
        <p:txBody>
          <a:bodyPr>
            <a:spAutoFit/>
          </a:bodyPr>
          <a:lstStyle/>
          <a:p>
            <a:pPr>
              <a:spcAft>
                <a:spcPts val="0"/>
              </a:spcAft>
              <a:defRPr/>
            </a:pPr>
            <a:r>
              <a:rPr lang="zh-CN" altLang="en-US" dirty="0">
                <a:solidFill>
                  <a:srgbClr val="C00000"/>
                </a:solidFill>
                <a:effectLst>
                  <a:outerShdw blurRad="38100" dist="38100" dir="2700000" algn="tl">
                    <a:srgbClr val="000000"/>
                  </a:outerShdw>
                </a:effectLst>
                <a:ea typeface="黑体" panose="02010609060101010101" pitchFamily="49" charset="-122"/>
              </a:rPr>
              <a:t>塑性变形</a:t>
            </a:r>
            <a:endParaRPr lang="zh-CN" altLang="en-US" dirty="0">
              <a:solidFill>
                <a:srgbClr val="C00000"/>
              </a:solidFill>
              <a:effectLst>
                <a:outerShdw blurRad="38100" dist="38100" dir="2700000" algn="tl">
                  <a:srgbClr val="000000"/>
                </a:outerShdw>
              </a:effectLst>
              <a:ea typeface="黑体" panose="02010609060101010101" pitchFamily="49" charset="-122"/>
            </a:endParaRPr>
          </a:p>
        </p:txBody>
      </p:sp>
      <p:sp>
        <p:nvSpPr>
          <p:cNvPr id="248856" name="Text Box 1048"/>
          <p:cNvSpPr txBox="1">
            <a:spLocks noChangeArrowheads="1"/>
          </p:cNvSpPr>
          <p:nvPr/>
        </p:nvSpPr>
        <p:spPr bwMode="auto">
          <a:xfrm>
            <a:off x="5791200" y="2286000"/>
            <a:ext cx="2057400" cy="429895"/>
          </a:xfrm>
          <a:prstGeom prst="rect">
            <a:avLst/>
          </a:prstGeom>
          <a:solidFill>
            <a:srgbClr val="CCFFFF"/>
          </a:solidFill>
          <a:ln w="9525">
            <a:noFill/>
            <a:miter lim="800000"/>
          </a:ln>
          <a:effectLst/>
        </p:spPr>
        <p:txBody>
          <a:bodyPr>
            <a:spAutoFit/>
          </a:bodyPr>
          <a:lstStyle/>
          <a:p>
            <a:pPr>
              <a:spcAft>
                <a:spcPts val="0"/>
              </a:spcAft>
              <a:defRPr/>
            </a:pPr>
            <a:r>
              <a:rPr lang="zh-CN" altLang="en-US" dirty="0">
                <a:solidFill>
                  <a:srgbClr val="C00000"/>
                </a:solidFill>
                <a:effectLst>
                  <a:outerShdw blurRad="38100" dist="38100" dir="2700000" algn="tl">
                    <a:srgbClr val="000000"/>
                  </a:outerShdw>
                </a:effectLst>
                <a:ea typeface="黑体" panose="02010609060101010101" pitchFamily="49" charset="-122"/>
              </a:rPr>
              <a:t>过大弹性变形</a:t>
            </a:r>
            <a:endParaRPr lang="zh-CN" altLang="en-US" dirty="0">
              <a:solidFill>
                <a:srgbClr val="C00000"/>
              </a:solidFill>
              <a:effectLst>
                <a:outerShdw blurRad="38100" dist="38100" dir="2700000" algn="tl">
                  <a:srgbClr val="000000"/>
                </a:outerShdw>
              </a:effectLst>
              <a:ea typeface="黑体" panose="02010609060101010101" pitchFamily="49" charset="-122"/>
            </a:endParaRPr>
          </a:p>
        </p:txBody>
      </p:sp>
      <p:sp>
        <p:nvSpPr>
          <p:cNvPr id="248857" name="Text Box 1049"/>
          <p:cNvSpPr txBox="1">
            <a:spLocks noChangeArrowheads="1"/>
          </p:cNvSpPr>
          <p:nvPr/>
        </p:nvSpPr>
        <p:spPr bwMode="auto">
          <a:xfrm>
            <a:off x="7924800" y="2286000"/>
            <a:ext cx="838200" cy="429895"/>
          </a:xfrm>
          <a:prstGeom prst="rect">
            <a:avLst/>
          </a:prstGeom>
          <a:solidFill>
            <a:srgbClr val="CCFFFF"/>
          </a:solidFill>
          <a:ln w="9525">
            <a:noFill/>
            <a:miter lim="800000"/>
          </a:ln>
          <a:effectLst/>
        </p:spPr>
        <p:txBody>
          <a:bodyPr>
            <a:spAutoFit/>
          </a:bodyPr>
          <a:lstStyle/>
          <a:p>
            <a:pPr>
              <a:spcAft>
                <a:spcPts val="0"/>
              </a:spcAft>
              <a:defRPr/>
            </a:pPr>
            <a:r>
              <a:rPr lang="zh-CN" altLang="en-US" dirty="0">
                <a:solidFill>
                  <a:srgbClr val="C00000"/>
                </a:solidFill>
                <a:effectLst>
                  <a:outerShdw blurRad="38100" dist="38100" dir="2700000" algn="tl">
                    <a:srgbClr val="000000"/>
                  </a:outerShdw>
                </a:effectLst>
                <a:ea typeface="黑体" panose="02010609060101010101" pitchFamily="49" charset="-122"/>
              </a:rPr>
              <a:t>共振</a:t>
            </a:r>
            <a:endParaRPr lang="zh-CN" altLang="en-US" dirty="0">
              <a:solidFill>
                <a:srgbClr val="C00000"/>
              </a:solidFill>
              <a:effectLst>
                <a:outerShdw blurRad="38100" dist="38100" dir="2700000" algn="tl">
                  <a:srgbClr val="000000"/>
                </a:outerShdw>
              </a:effectLst>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248837"/>
                                        </p:tgtEl>
                                        <p:attrNameLst>
                                          <p:attrName>style.visibility</p:attrName>
                                        </p:attrNameLst>
                                      </p:cBhvr>
                                      <p:to>
                                        <p:strVal val="visible"/>
                                      </p:to>
                                    </p:set>
                                    <p:animEffect transition="in" filter="box(in)">
                                      <p:cBhvr>
                                        <p:cTn id="7" dur="500"/>
                                        <p:tgtEl>
                                          <p:spTgt spid="24883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8838"/>
                                        </p:tgtEl>
                                        <p:attrNameLst>
                                          <p:attrName>style.visibility</p:attrName>
                                        </p:attrNameLst>
                                      </p:cBhvr>
                                      <p:to>
                                        <p:strVal val="visible"/>
                                      </p:to>
                                    </p:set>
                                    <p:animEffect transition="in" filter="blinds(horizontal)">
                                      <p:cBhvr>
                                        <p:cTn id="12" dur="500"/>
                                        <p:tgtEl>
                                          <p:spTgt spid="248838"/>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0-#ppt_w/2"/>
                                          </p:val>
                                        </p:tav>
                                        <p:tav tm="100000">
                                          <p:val>
                                            <p:strVal val="#ppt_x"/>
                                          </p:val>
                                        </p:tav>
                                      </p:tavLst>
                                    </p:anim>
                                    <p:anim calcmode="lin" valueType="num">
                                      <p:cBhvr additive="base">
                                        <p:cTn id="1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2" presetClass="entr" presetSubtype="1"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slide(fromTop)">
                                      <p:cBhvr>
                                        <p:cTn id="23" dur="5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1"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slide(fromTop)">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19" presetClass="entr" presetSubtype="10" fill="hold" grpId="0" nodeType="clickEffect">
                                  <p:stCondLst>
                                    <p:cond delay="0"/>
                                  </p:stCondLst>
                                  <p:childTnLst>
                                    <p:set>
                                      <p:cBhvr>
                                        <p:cTn id="32" dur="1" fill="hold">
                                          <p:stCondLst>
                                            <p:cond delay="0"/>
                                          </p:stCondLst>
                                        </p:cTn>
                                        <p:tgtEl>
                                          <p:spTgt spid="248850"/>
                                        </p:tgtEl>
                                        <p:attrNameLst>
                                          <p:attrName>style.visibility</p:attrName>
                                        </p:attrNameLst>
                                      </p:cBhvr>
                                      <p:to>
                                        <p:strVal val="visible"/>
                                      </p:to>
                                    </p:set>
                                    <p:anim calcmode="lin" valueType="num">
                                      <p:cBhvr>
                                        <p:cTn id="33" dur="5000" fill="hold"/>
                                        <p:tgtEl>
                                          <p:spTgt spid="248850"/>
                                        </p:tgtEl>
                                        <p:attrNameLst>
                                          <p:attrName>ppt_w</p:attrName>
                                        </p:attrNameLst>
                                      </p:cBhvr>
                                      <p:tavLst>
                                        <p:tav tm="0" fmla="#ppt_w*sin(2.5*pi*$)">
                                          <p:val>
                                            <p:fltVal val="0"/>
                                          </p:val>
                                        </p:tav>
                                        <p:tav tm="100000">
                                          <p:val>
                                            <p:fltVal val="1"/>
                                          </p:val>
                                        </p:tav>
                                      </p:tavLst>
                                    </p:anim>
                                    <p:anim calcmode="lin" valueType="num">
                                      <p:cBhvr>
                                        <p:cTn id="34" dur="5000" fill="hold"/>
                                        <p:tgtEl>
                                          <p:spTgt spid="248850"/>
                                        </p:tgtEl>
                                        <p:attrNameLst>
                                          <p:attrName>ppt_h</p:attrName>
                                        </p:attrNameLst>
                                      </p:cBhvr>
                                      <p:tavLst>
                                        <p:tav tm="0">
                                          <p:val>
                                            <p:strVal val="#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4" presetClass="entr" presetSubtype="32" fill="hold" grpId="0" nodeType="clickEffect">
                                  <p:stCondLst>
                                    <p:cond delay="0"/>
                                  </p:stCondLst>
                                  <p:childTnLst>
                                    <p:set>
                                      <p:cBhvr>
                                        <p:cTn id="38" dur="1" fill="hold">
                                          <p:stCondLst>
                                            <p:cond delay="0"/>
                                          </p:stCondLst>
                                        </p:cTn>
                                        <p:tgtEl>
                                          <p:spTgt spid="248851"/>
                                        </p:tgtEl>
                                        <p:attrNameLst>
                                          <p:attrName>style.visibility</p:attrName>
                                        </p:attrNameLst>
                                      </p:cBhvr>
                                      <p:to>
                                        <p:strVal val="visible"/>
                                      </p:to>
                                    </p:set>
                                    <p:animEffect transition="in" filter="box(out)">
                                      <p:cBhvr>
                                        <p:cTn id="39" dur="500"/>
                                        <p:tgtEl>
                                          <p:spTgt spid="248851"/>
                                        </p:tgtEl>
                                      </p:cBhvr>
                                    </p:animEffect>
                                  </p:childTnLst>
                                </p:cTn>
                              </p:par>
                            </p:childTnLst>
                          </p:cTn>
                        </p:par>
                      </p:childTnLst>
                    </p:cTn>
                  </p:par>
                  <p:par>
                    <p:cTn id="40" fill="hold">
                      <p:stCondLst>
                        <p:cond delay="indefinite"/>
                      </p:stCondLst>
                      <p:childTnLst>
                        <p:par>
                          <p:cTn id="41" fill="hold">
                            <p:stCondLst>
                              <p:cond delay="0"/>
                            </p:stCondLst>
                            <p:childTnLst>
                              <p:par>
                                <p:cTn id="42" presetID="4" presetClass="entr" presetSubtype="32" fill="hold" grpId="0" nodeType="clickEffect">
                                  <p:stCondLst>
                                    <p:cond delay="0"/>
                                  </p:stCondLst>
                                  <p:childTnLst>
                                    <p:set>
                                      <p:cBhvr>
                                        <p:cTn id="43" dur="1" fill="hold">
                                          <p:stCondLst>
                                            <p:cond delay="0"/>
                                          </p:stCondLst>
                                        </p:cTn>
                                        <p:tgtEl>
                                          <p:spTgt spid="248855"/>
                                        </p:tgtEl>
                                        <p:attrNameLst>
                                          <p:attrName>style.visibility</p:attrName>
                                        </p:attrNameLst>
                                      </p:cBhvr>
                                      <p:to>
                                        <p:strVal val="visible"/>
                                      </p:to>
                                    </p:set>
                                    <p:animEffect transition="in" filter="box(out)">
                                      <p:cBhvr>
                                        <p:cTn id="44" dur="500"/>
                                        <p:tgtEl>
                                          <p:spTgt spid="248855"/>
                                        </p:tgtEl>
                                      </p:cBhvr>
                                    </p:animEffect>
                                  </p:childTnLst>
                                </p:cTn>
                              </p:par>
                            </p:childTnLst>
                          </p:cTn>
                        </p:par>
                        <p:par>
                          <p:cTn id="45" fill="hold">
                            <p:stCondLst>
                              <p:cond delay="500"/>
                            </p:stCondLst>
                            <p:childTnLst>
                              <p:par>
                                <p:cTn id="46" presetID="4" presetClass="entr" presetSubtype="32" fill="hold" grpId="0" nodeType="afterEffect">
                                  <p:stCondLst>
                                    <p:cond delay="0"/>
                                  </p:stCondLst>
                                  <p:childTnLst>
                                    <p:set>
                                      <p:cBhvr>
                                        <p:cTn id="47" dur="1" fill="hold">
                                          <p:stCondLst>
                                            <p:cond delay="0"/>
                                          </p:stCondLst>
                                        </p:cTn>
                                        <p:tgtEl>
                                          <p:spTgt spid="248843"/>
                                        </p:tgtEl>
                                        <p:attrNameLst>
                                          <p:attrName>style.visibility</p:attrName>
                                        </p:attrNameLst>
                                      </p:cBhvr>
                                      <p:to>
                                        <p:strVal val="visible"/>
                                      </p:to>
                                    </p:set>
                                    <p:animEffect transition="in" filter="box(out)">
                                      <p:cBhvr>
                                        <p:cTn id="48" dur="500"/>
                                        <p:tgtEl>
                                          <p:spTgt spid="248843"/>
                                        </p:tgtEl>
                                      </p:cBhvr>
                                    </p:animEffect>
                                  </p:childTnLst>
                                </p:cTn>
                              </p:par>
                            </p:childTnLst>
                          </p:cTn>
                        </p:par>
                      </p:childTnLst>
                    </p:cTn>
                  </p:par>
                  <p:par>
                    <p:cTn id="49" fill="hold">
                      <p:stCondLst>
                        <p:cond delay="indefinite"/>
                      </p:stCondLst>
                      <p:childTnLst>
                        <p:par>
                          <p:cTn id="50" fill="hold">
                            <p:stCondLst>
                              <p:cond delay="0"/>
                            </p:stCondLst>
                            <p:childTnLst>
                              <p:par>
                                <p:cTn id="51" presetID="4" presetClass="entr" presetSubtype="32" fill="hold" grpId="0" nodeType="clickEffect">
                                  <p:stCondLst>
                                    <p:cond delay="0"/>
                                  </p:stCondLst>
                                  <p:childTnLst>
                                    <p:set>
                                      <p:cBhvr>
                                        <p:cTn id="52" dur="1" fill="hold">
                                          <p:stCondLst>
                                            <p:cond delay="0"/>
                                          </p:stCondLst>
                                        </p:cTn>
                                        <p:tgtEl>
                                          <p:spTgt spid="248856"/>
                                        </p:tgtEl>
                                        <p:attrNameLst>
                                          <p:attrName>style.visibility</p:attrName>
                                        </p:attrNameLst>
                                      </p:cBhvr>
                                      <p:to>
                                        <p:strVal val="visible"/>
                                      </p:to>
                                    </p:set>
                                    <p:animEffect transition="in" filter="box(out)">
                                      <p:cBhvr>
                                        <p:cTn id="53" dur="500"/>
                                        <p:tgtEl>
                                          <p:spTgt spid="248856"/>
                                        </p:tgtEl>
                                      </p:cBhvr>
                                    </p:animEffect>
                                  </p:childTnLst>
                                </p:cTn>
                              </p:par>
                            </p:childTnLst>
                          </p:cTn>
                        </p:par>
                      </p:childTnLst>
                    </p:cTn>
                  </p:par>
                  <p:par>
                    <p:cTn id="54" fill="hold">
                      <p:stCondLst>
                        <p:cond delay="indefinite"/>
                      </p:stCondLst>
                      <p:childTnLst>
                        <p:par>
                          <p:cTn id="55" fill="hold">
                            <p:stCondLst>
                              <p:cond delay="0"/>
                            </p:stCondLst>
                            <p:childTnLst>
                              <p:par>
                                <p:cTn id="56" presetID="4" presetClass="entr" presetSubtype="32" fill="hold" grpId="0" nodeType="clickEffect">
                                  <p:stCondLst>
                                    <p:cond delay="0"/>
                                  </p:stCondLst>
                                  <p:childTnLst>
                                    <p:set>
                                      <p:cBhvr>
                                        <p:cTn id="57" dur="1" fill="hold">
                                          <p:stCondLst>
                                            <p:cond delay="0"/>
                                          </p:stCondLst>
                                        </p:cTn>
                                        <p:tgtEl>
                                          <p:spTgt spid="248857"/>
                                        </p:tgtEl>
                                        <p:attrNameLst>
                                          <p:attrName>style.visibility</p:attrName>
                                        </p:attrNameLst>
                                      </p:cBhvr>
                                      <p:to>
                                        <p:strVal val="visible"/>
                                      </p:to>
                                    </p:set>
                                    <p:animEffect transition="in" filter="box(out)">
                                      <p:cBhvr>
                                        <p:cTn id="58" dur="500"/>
                                        <p:tgtEl>
                                          <p:spTgt spid="248857"/>
                                        </p:tgtEl>
                                      </p:cBhvr>
                                    </p:animEffect>
                                  </p:childTnLst>
                                </p:cTn>
                              </p:par>
                            </p:childTnLst>
                          </p:cTn>
                        </p:par>
                      </p:childTnLst>
                    </p:cTn>
                  </p:par>
                  <p:par>
                    <p:cTn id="59" fill="hold">
                      <p:stCondLst>
                        <p:cond delay="indefinite"/>
                      </p:stCondLst>
                      <p:childTnLst>
                        <p:par>
                          <p:cTn id="60" fill="hold">
                            <p:stCondLst>
                              <p:cond delay="0"/>
                            </p:stCondLst>
                            <p:childTnLst>
                              <p:par>
                                <p:cTn id="61" presetID="4" presetClass="entr" presetSubtype="16" fill="hold" grpId="0" nodeType="clickEffect">
                                  <p:stCondLst>
                                    <p:cond delay="0"/>
                                  </p:stCondLst>
                                  <p:childTnLst>
                                    <p:set>
                                      <p:cBhvr>
                                        <p:cTn id="62" dur="1" fill="hold">
                                          <p:stCondLst>
                                            <p:cond delay="0"/>
                                          </p:stCondLst>
                                        </p:cTn>
                                        <p:tgtEl>
                                          <p:spTgt spid="248852"/>
                                        </p:tgtEl>
                                        <p:attrNameLst>
                                          <p:attrName>style.visibility</p:attrName>
                                        </p:attrNameLst>
                                      </p:cBhvr>
                                      <p:to>
                                        <p:strVal val="visible"/>
                                      </p:to>
                                    </p:set>
                                    <p:animEffect transition="in" filter="box(in)">
                                      <p:cBhvr>
                                        <p:cTn id="63" dur="500"/>
                                        <p:tgtEl>
                                          <p:spTgt spid="248852"/>
                                        </p:tgtEl>
                                      </p:cBhvr>
                                    </p:animEffect>
                                  </p:childTnLst>
                                </p:cTn>
                              </p:par>
                            </p:childTnLst>
                          </p:cTn>
                        </p:par>
                      </p:childTnLst>
                    </p:cTn>
                  </p:par>
                  <p:par>
                    <p:cTn id="64" fill="hold">
                      <p:stCondLst>
                        <p:cond delay="indefinite"/>
                      </p:stCondLst>
                      <p:childTnLst>
                        <p:par>
                          <p:cTn id="65" fill="hold">
                            <p:stCondLst>
                              <p:cond delay="0"/>
                            </p:stCondLst>
                            <p:childTnLst>
                              <p:par>
                                <p:cTn id="66" presetID="4" presetClass="entr" presetSubtype="32" fill="hold" grpId="0" nodeType="clickEffect">
                                  <p:stCondLst>
                                    <p:cond delay="0"/>
                                  </p:stCondLst>
                                  <p:childTnLst>
                                    <p:set>
                                      <p:cBhvr>
                                        <p:cTn id="67" dur="1" fill="hold">
                                          <p:stCondLst>
                                            <p:cond delay="0"/>
                                          </p:stCondLst>
                                        </p:cTn>
                                        <p:tgtEl>
                                          <p:spTgt spid="248853"/>
                                        </p:tgtEl>
                                        <p:attrNameLst>
                                          <p:attrName>style.visibility</p:attrName>
                                        </p:attrNameLst>
                                      </p:cBhvr>
                                      <p:to>
                                        <p:strVal val="visible"/>
                                      </p:to>
                                    </p:set>
                                    <p:animEffect transition="in" filter="box(out)">
                                      <p:cBhvr>
                                        <p:cTn id="68" dur="500"/>
                                        <p:tgtEl>
                                          <p:spTgt spid="248853"/>
                                        </p:tgtEl>
                                      </p:cBhvr>
                                    </p:animEffect>
                                  </p:childTnLst>
                                </p:cTn>
                              </p:par>
                            </p:childTnLst>
                          </p:cTn>
                        </p:par>
                      </p:childTnLst>
                    </p:cTn>
                  </p:par>
                  <p:par>
                    <p:cTn id="69" fill="hold">
                      <p:stCondLst>
                        <p:cond delay="indefinite"/>
                      </p:stCondLst>
                      <p:childTnLst>
                        <p:par>
                          <p:cTn id="70" fill="hold">
                            <p:stCondLst>
                              <p:cond delay="0"/>
                            </p:stCondLst>
                            <p:childTnLst>
                              <p:par>
                                <p:cTn id="71" presetID="4" presetClass="entr" presetSubtype="32" fill="hold" grpId="0" nodeType="clickEffect">
                                  <p:stCondLst>
                                    <p:cond delay="0"/>
                                  </p:stCondLst>
                                  <p:childTnLst>
                                    <p:set>
                                      <p:cBhvr>
                                        <p:cTn id="72" dur="1" fill="hold">
                                          <p:stCondLst>
                                            <p:cond delay="0"/>
                                          </p:stCondLst>
                                        </p:cTn>
                                        <p:tgtEl>
                                          <p:spTgt spid="248854"/>
                                        </p:tgtEl>
                                        <p:attrNameLst>
                                          <p:attrName>style.visibility</p:attrName>
                                        </p:attrNameLst>
                                      </p:cBhvr>
                                      <p:to>
                                        <p:strVal val="visible"/>
                                      </p:to>
                                    </p:set>
                                    <p:animEffect transition="in" filter="box(out)">
                                      <p:cBhvr>
                                        <p:cTn id="73" dur="500"/>
                                        <p:tgtEl>
                                          <p:spTgt spid="2488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7" grpId="0" bldLvl="0" animBg="1" autoUpdateAnimBg="0"/>
      <p:bldP spid="248838" grpId="0" autoUpdateAnimBg="0"/>
      <p:bldP spid="248843" grpId="0" animBg="1"/>
      <p:bldP spid="248850" grpId="0" bldLvl="0" animBg="1" autoUpdateAnimBg="0"/>
      <p:bldP spid="248851" grpId="0" bldLvl="0" animBg="1" autoUpdateAnimBg="0"/>
      <p:bldP spid="248852" grpId="0" bldLvl="0" animBg="1" autoUpdateAnimBg="0"/>
      <p:bldP spid="248853" grpId="0" bldLvl="0" animBg="1" autoUpdateAnimBg="0"/>
      <p:bldP spid="248854" grpId="0" bldLvl="0" animBg="1" autoUpdateAnimBg="0"/>
      <p:bldP spid="248855" grpId="0" bldLvl="0" animBg="1" autoUpdateAnimBg="0"/>
      <p:bldP spid="248856" grpId="0" bldLvl="0" animBg="1" autoUpdateAnimBg="0"/>
      <p:bldP spid="248857" grpId="0" bldLvl="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ChangeArrowheads="1"/>
          </p:cNvSpPr>
          <p:nvPr>
            <p:ph type="title"/>
          </p:nvPr>
        </p:nvSpPr>
        <p:spPr bwMode="auto">
          <a:xfrm>
            <a:off x="5257800" y="685800"/>
            <a:ext cx="16002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spcAft>
                <a:spcPts val="0"/>
              </a:spcAft>
            </a:pPr>
            <a:r>
              <a:rPr lang="zh-CN" altLang="en-US" sz="500" smtClean="0">
                <a:solidFill>
                  <a:schemeClr val="bg1"/>
                </a:solidFill>
                <a:latin typeface="华文中宋" panose="02010600040101010101" pitchFamily="2" charset="-122"/>
                <a:ea typeface="华文中宋" panose="02010600040101010101" pitchFamily="2" charset="-122"/>
              </a:rPr>
              <a:t>机械零件设计的一般步骤</a:t>
            </a:r>
            <a:endParaRPr lang="zh-CN" altLang="en-US" sz="500" smtClean="0">
              <a:solidFill>
                <a:schemeClr val="bg1"/>
              </a:solidFill>
              <a:latin typeface="楷体_GB2312" pitchFamily="49" charset="-122"/>
              <a:ea typeface="楷体_GB2312" pitchFamily="49" charset="-122"/>
            </a:endParaRPr>
          </a:p>
        </p:txBody>
      </p:sp>
      <p:sp>
        <p:nvSpPr>
          <p:cNvPr id="18434" name="Rectangle 3"/>
          <p:cNvSpPr>
            <a:spLocks noChangeArrowheads="1"/>
          </p:cNvSpPr>
          <p:nvPr/>
        </p:nvSpPr>
        <p:spPr bwMode="auto">
          <a:xfrm>
            <a:off x="1567815" y="259080"/>
            <a:ext cx="6661785" cy="426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p>
            <a:pPr>
              <a:spcAft>
                <a:spcPts val="0"/>
              </a:spcAft>
            </a:pPr>
            <a:r>
              <a:rPr lang="en-US" altLang="zh-CN" sz="3000" dirty="0">
                <a:solidFill>
                  <a:srgbClr val="CC0000"/>
                </a:solidFill>
                <a:latin typeface="黑体" panose="02010609060101010101" pitchFamily="49" charset="-122"/>
                <a:ea typeface="黑体" panose="02010609060101010101" pitchFamily="49" charset="-122"/>
              </a:rPr>
              <a:t>1.2-6 </a:t>
            </a:r>
            <a:r>
              <a:rPr lang="zh-CN" altLang="en-US" sz="3000" dirty="0">
                <a:solidFill>
                  <a:srgbClr val="CC0000"/>
                </a:solidFill>
                <a:latin typeface="黑体" panose="02010609060101010101" pitchFamily="49" charset="-122"/>
                <a:ea typeface="黑体" panose="02010609060101010101" pitchFamily="49" charset="-122"/>
              </a:rPr>
              <a:t>机械零件设计的一般步骤</a:t>
            </a:r>
            <a:endParaRPr lang="zh-CN" altLang="en-US" sz="3000" dirty="0">
              <a:solidFill>
                <a:srgbClr val="CC0000"/>
              </a:solidFill>
              <a:latin typeface="黑体" panose="02010609060101010101" pitchFamily="49" charset="-122"/>
              <a:ea typeface="黑体" panose="02010609060101010101" pitchFamily="49" charset="-122"/>
            </a:endParaRPr>
          </a:p>
        </p:txBody>
      </p:sp>
      <p:sp>
        <p:nvSpPr>
          <p:cNvPr id="86033" name="Text Box 17"/>
          <p:cNvSpPr txBox="1">
            <a:spLocks noChangeArrowheads="1"/>
          </p:cNvSpPr>
          <p:nvPr/>
        </p:nvSpPr>
        <p:spPr bwMode="auto">
          <a:xfrm>
            <a:off x="4612489" y="1421977"/>
            <a:ext cx="2519363" cy="323850"/>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w="9525">
            <a:solidFill>
              <a:schemeClr val="tx1"/>
            </a:solidFill>
            <a:miter lim="800000"/>
          </a:ln>
        </p:spPr>
        <p:txBody>
          <a:bodyPr wrap="none" tIns="0" bIns="0" anchor="ctr"/>
          <a:lstStyle/>
          <a:p>
            <a:pPr algn="ctr">
              <a:buClr>
                <a:srgbClr val="CC0000"/>
              </a:buClr>
              <a:buSzPct val="80000"/>
              <a:buFont typeface="Wingdings" panose="05000000000000000000" pitchFamily="2" charset="2"/>
              <a:buNone/>
            </a:pPr>
            <a:r>
              <a:rPr lang="zh-CN" altLang="en-US" sz="2000" dirty="0">
                <a:solidFill>
                  <a:srgbClr val="000099"/>
                </a:solidFill>
                <a:latin typeface="华文中宋" panose="02010600040101010101" pitchFamily="2" charset="-122"/>
              </a:rPr>
              <a:t>选择零件类型、结构</a:t>
            </a:r>
            <a:endParaRPr lang="zh-CN" altLang="en-US" sz="2000" dirty="0">
              <a:solidFill>
                <a:srgbClr val="000099"/>
              </a:solidFill>
              <a:latin typeface="华文中宋" panose="02010600040101010101" pitchFamily="2" charset="-122"/>
            </a:endParaRPr>
          </a:p>
        </p:txBody>
      </p:sp>
      <p:pic>
        <p:nvPicPr>
          <p:cNvPr id="86046" name="Picture 30"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042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49" name="Text Box 33"/>
          <p:cNvSpPr txBox="1">
            <a:spLocks noChangeArrowheads="1"/>
          </p:cNvSpPr>
          <p:nvPr/>
        </p:nvSpPr>
        <p:spPr bwMode="auto">
          <a:xfrm>
            <a:off x="498826" y="959127"/>
            <a:ext cx="3331676" cy="460375"/>
          </a:xfrm>
          <a:prstGeom prst="rect">
            <a:avLst/>
          </a:prstGeom>
          <a:solidFill>
            <a:srgbClr val="FFC000"/>
          </a:solidFill>
          <a:ln>
            <a:noFill/>
          </a:ln>
        </p:spPr>
        <p:txBody>
          <a:bodyPr wrap="square">
            <a:spAutoFit/>
          </a:bodyPr>
          <a:lstStyle/>
          <a:p>
            <a:pPr>
              <a:spcAft>
                <a:spcPts val="0"/>
              </a:spcAft>
            </a:pPr>
            <a:r>
              <a:rPr lang="zh-CN" altLang="en-US" sz="2400" dirty="0" smtClean="0">
                <a:solidFill>
                  <a:srgbClr val="000099"/>
                </a:solidFill>
                <a:latin typeface="黑体" panose="02010609060101010101" pitchFamily="49" charset="-122"/>
                <a:ea typeface="黑体" panose="02010609060101010101" pitchFamily="49" charset="-122"/>
              </a:rPr>
              <a:t>机械零件</a:t>
            </a:r>
            <a:r>
              <a:rPr lang="zh-CN" altLang="en-US" sz="2400" dirty="0">
                <a:solidFill>
                  <a:srgbClr val="000099"/>
                </a:solidFill>
                <a:latin typeface="黑体" panose="02010609060101010101" pitchFamily="49" charset="-122"/>
                <a:ea typeface="黑体" panose="02010609060101010101" pitchFamily="49" charset="-122"/>
              </a:rPr>
              <a:t>的</a:t>
            </a:r>
            <a:r>
              <a:rPr lang="zh-CN" altLang="en-US" sz="2400" dirty="0" smtClean="0">
                <a:solidFill>
                  <a:srgbClr val="000099"/>
                </a:solidFill>
                <a:latin typeface="黑体" panose="02010609060101010101" pitchFamily="49" charset="-122"/>
                <a:ea typeface="黑体" panose="02010609060101010101" pitchFamily="49" charset="-122"/>
              </a:rPr>
              <a:t>设计流程图</a:t>
            </a:r>
            <a:endParaRPr lang="en-US" altLang="zh-CN" sz="2400" dirty="0" smtClean="0">
              <a:solidFill>
                <a:srgbClr val="000099"/>
              </a:solidFill>
              <a:latin typeface="黑体" panose="02010609060101010101" pitchFamily="49" charset="-122"/>
              <a:ea typeface="黑体" panose="02010609060101010101" pitchFamily="49" charset="-122"/>
            </a:endParaRPr>
          </a:p>
        </p:txBody>
      </p:sp>
      <p:grpSp>
        <p:nvGrpSpPr>
          <p:cNvPr id="2" name="Group 48"/>
          <p:cNvGrpSpPr/>
          <p:nvPr/>
        </p:nvGrpSpPr>
        <p:grpSpPr bwMode="auto">
          <a:xfrm>
            <a:off x="4612489" y="1750589"/>
            <a:ext cx="2519363" cy="598488"/>
            <a:chOff x="1936" y="1040"/>
            <a:chExt cx="1587" cy="377"/>
          </a:xfrm>
        </p:grpSpPr>
        <p:sp>
          <p:nvSpPr>
            <p:cNvPr id="18439" name="Text Box 18"/>
            <p:cNvSpPr txBox="1">
              <a:spLocks noChangeArrowheads="1"/>
            </p:cNvSpPr>
            <p:nvPr/>
          </p:nvSpPr>
          <p:spPr bwMode="auto">
            <a:xfrm>
              <a:off x="1936" y="1213"/>
              <a:ext cx="1587" cy="204"/>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w="9525">
              <a:solidFill>
                <a:schemeClr val="tx1"/>
              </a:solidFill>
              <a:miter lim="800000"/>
            </a:ln>
          </p:spPr>
          <p:txBody>
            <a:bodyPr wrap="none" tIns="0" bIns="0" anchor="ctr"/>
            <a:lstStyle>
              <a:defPPr>
                <a:defRPr lang="zh-CN"/>
              </a:defPPr>
              <a:lvl1pPr algn="ctr">
                <a:buClr>
                  <a:srgbClr val="CC0000"/>
                </a:buClr>
                <a:buSzPct val="80000"/>
                <a:buFont typeface="Wingdings" panose="05000000000000000000" pitchFamily="2" charset="2"/>
                <a:buNone/>
                <a:defRPr sz="2000">
                  <a:solidFill>
                    <a:srgbClr val="000099"/>
                  </a:solidFill>
                  <a:latin typeface="华文中宋" panose="02010600040101010101" pitchFamily="2" charset="-122"/>
                </a:defRPr>
              </a:lvl1pPr>
            </a:lstStyle>
            <a:p>
              <a:r>
                <a:rPr lang="en-US" altLang="zh-CN" dirty="0"/>
                <a:t> </a:t>
              </a:r>
              <a:r>
                <a:rPr lang="zh-CN" altLang="en-US" dirty="0"/>
                <a:t>计算零件上的载荷</a:t>
              </a:r>
              <a:endParaRPr lang="zh-CN" altLang="en-US" dirty="0"/>
            </a:p>
          </p:txBody>
        </p:sp>
        <p:sp>
          <p:nvSpPr>
            <p:cNvPr id="18440" name="Line 40"/>
            <p:cNvSpPr>
              <a:spLocks noChangeShapeType="1"/>
            </p:cNvSpPr>
            <p:nvPr/>
          </p:nvSpPr>
          <p:spPr bwMode="auto">
            <a:xfrm>
              <a:off x="2730" y="1040"/>
              <a:ext cx="0" cy="17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49"/>
          <p:cNvGrpSpPr/>
          <p:nvPr/>
        </p:nvGrpSpPr>
        <p:grpSpPr bwMode="auto">
          <a:xfrm>
            <a:off x="4612489" y="2353839"/>
            <a:ext cx="2519363" cy="598488"/>
            <a:chOff x="1936" y="1420"/>
            <a:chExt cx="1587" cy="377"/>
          </a:xfrm>
          <a:solidFill>
            <a:srgbClr val="FFC000"/>
          </a:solidFill>
        </p:grpSpPr>
        <p:sp>
          <p:nvSpPr>
            <p:cNvPr id="18442" name="Text Box 19"/>
            <p:cNvSpPr txBox="1">
              <a:spLocks noChangeArrowheads="1"/>
            </p:cNvSpPr>
            <p:nvPr/>
          </p:nvSpPr>
          <p:spPr bwMode="auto">
            <a:xfrm>
              <a:off x="1936" y="1593"/>
              <a:ext cx="1587" cy="204"/>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w="9525">
              <a:solidFill>
                <a:schemeClr val="tx1"/>
              </a:solidFill>
              <a:miter lim="800000"/>
            </a:ln>
          </p:spPr>
          <p:txBody>
            <a:bodyPr wrap="none" tIns="0" bIns="0" anchor="ctr"/>
            <a:lstStyle>
              <a:defPPr>
                <a:defRPr lang="zh-CN"/>
              </a:defPPr>
              <a:lvl1pPr algn="ctr">
                <a:buClr>
                  <a:srgbClr val="CC0000"/>
                </a:buClr>
                <a:buSzPct val="80000"/>
                <a:buFont typeface="Wingdings" panose="05000000000000000000" pitchFamily="2" charset="2"/>
                <a:buNone/>
                <a:defRPr sz="2000">
                  <a:solidFill>
                    <a:srgbClr val="000099"/>
                  </a:solidFill>
                  <a:latin typeface="华文中宋" panose="02010600040101010101" pitchFamily="2" charset="-122"/>
                </a:defRPr>
              </a:lvl1pPr>
            </a:lstStyle>
            <a:p>
              <a:r>
                <a:rPr lang="zh-CN" altLang="en-US"/>
                <a:t>确定计算准则</a:t>
              </a:r>
              <a:endParaRPr lang="zh-CN" altLang="en-US"/>
            </a:p>
          </p:txBody>
        </p:sp>
        <p:sp>
          <p:nvSpPr>
            <p:cNvPr id="18443" name="Line 41"/>
            <p:cNvSpPr>
              <a:spLocks noChangeShapeType="1"/>
            </p:cNvSpPr>
            <p:nvPr/>
          </p:nvSpPr>
          <p:spPr bwMode="auto">
            <a:xfrm>
              <a:off x="2729" y="1420"/>
              <a:ext cx="0" cy="170"/>
            </a:xfrm>
            <a:prstGeom prst="line">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w="9525">
              <a:solidFill>
                <a:schemeClr val="tx1"/>
              </a:solidFill>
              <a:miter lim="800000"/>
            </a:ln>
          </p:spPr>
          <p:txBody>
            <a:bodyPr wrap="none" tIns="0" bIns="0" anchor="ctr"/>
            <a:lstStyle/>
            <a:p>
              <a:pPr algn="ctr">
                <a:buClr>
                  <a:srgbClr val="CC0000"/>
                </a:buClr>
                <a:buSzPct val="80000"/>
                <a:buFont typeface="Wingdings" panose="05000000000000000000" pitchFamily="2" charset="2"/>
                <a:buNone/>
              </a:pPr>
              <a:endParaRPr lang="zh-CN" altLang="en-US" sz="2000">
                <a:solidFill>
                  <a:srgbClr val="000099"/>
                </a:solidFill>
                <a:latin typeface="华文中宋" panose="02010600040101010101" pitchFamily="2" charset="-122"/>
              </a:endParaRPr>
            </a:p>
          </p:txBody>
        </p:sp>
      </p:grpSp>
      <p:grpSp>
        <p:nvGrpSpPr>
          <p:cNvPr id="4" name="Group 50"/>
          <p:cNvGrpSpPr/>
          <p:nvPr/>
        </p:nvGrpSpPr>
        <p:grpSpPr bwMode="auto">
          <a:xfrm>
            <a:off x="4612489" y="2957089"/>
            <a:ext cx="2519363" cy="600075"/>
            <a:chOff x="1936" y="1800"/>
            <a:chExt cx="1587" cy="378"/>
          </a:xfrm>
          <a:solidFill>
            <a:srgbClr val="FFC000"/>
          </a:solidFill>
        </p:grpSpPr>
        <p:sp>
          <p:nvSpPr>
            <p:cNvPr id="18445" name="Text Box 20"/>
            <p:cNvSpPr txBox="1">
              <a:spLocks noChangeArrowheads="1"/>
            </p:cNvSpPr>
            <p:nvPr/>
          </p:nvSpPr>
          <p:spPr bwMode="auto">
            <a:xfrm>
              <a:off x="1936" y="1974"/>
              <a:ext cx="1587" cy="204"/>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w="9525">
              <a:solidFill>
                <a:schemeClr val="tx1"/>
              </a:solidFill>
              <a:miter lim="800000"/>
            </a:ln>
          </p:spPr>
          <p:txBody>
            <a:bodyPr wrap="none" tIns="0" bIns="0" anchor="ctr"/>
            <a:lstStyle>
              <a:defPPr>
                <a:defRPr lang="zh-CN"/>
              </a:defPPr>
              <a:lvl1pPr algn="ctr">
                <a:buClr>
                  <a:srgbClr val="CC0000"/>
                </a:buClr>
                <a:buSzPct val="80000"/>
                <a:buFont typeface="Wingdings" panose="05000000000000000000" pitchFamily="2" charset="2"/>
                <a:buNone/>
                <a:defRPr sz="2000">
                  <a:solidFill>
                    <a:srgbClr val="000099"/>
                  </a:solidFill>
                  <a:latin typeface="华文中宋" panose="02010600040101010101" pitchFamily="2" charset="-122"/>
                </a:defRPr>
              </a:lvl1pPr>
            </a:lstStyle>
            <a:p>
              <a:r>
                <a:rPr lang="zh-CN" altLang="en-US" dirty="0"/>
                <a:t>选择零件的材料</a:t>
              </a:r>
              <a:endParaRPr lang="zh-CN" altLang="en-US" dirty="0"/>
            </a:p>
          </p:txBody>
        </p:sp>
        <p:sp>
          <p:nvSpPr>
            <p:cNvPr id="18446" name="Line 42"/>
            <p:cNvSpPr>
              <a:spLocks noChangeShapeType="1"/>
            </p:cNvSpPr>
            <p:nvPr/>
          </p:nvSpPr>
          <p:spPr bwMode="auto">
            <a:xfrm>
              <a:off x="2729" y="1800"/>
              <a:ext cx="0" cy="170"/>
            </a:xfrm>
            <a:prstGeom prst="line">
              <a:avLst/>
            </a:prstGeom>
            <a:grpFill/>
            <a:ln w="9525">
              <a:solidFill>
                <a:schemeClr val="tx1"/>
              </a:solidFill>
              <a:round/>
              <a:tailEnd type="triangle" w="sm" len="med"/>
            </a:ln>
          </p:spPr>
          <p:txBody>
            <a:bodyPr/>
            <a:lstStyle/>
            <a:p>
              <a:endParaRPr lang="zh-CN" altLang="en-US"/>
            </a:p>
          </p:txBody>
        </p:sp>
      </p:grpSp>
      <p:grpSp>
        <p:nvGrpSpPr>
          <p:cNvPr id="5" name="Group 51"/>
          <p:cNvGrpSpPr/>
          <p:nvPr/>
        </p:nvGrpSpPr>
        <p:grpSpPr bwMode="auto">
          <a:xfrm>
            <a:off x="4612489" y="3561927"/>
            <a:ext cx="2519363" cy="598487"/>
            <a:chOff x="1936" y="2181"/>
            <a:chExt cx="1587" cy="377"/>
          </a:xfrm>
        </p:grpSpPr>
        <p:sp>
          <p:nvSpPr>
            <p:cNvPr id="18448" name="Text Box 22"/>
            <p:cNvSpPr txBox="1">
              <a:spLocks noChangeArrowheads="1"/>
            </p:cNvSpPr>
            <p:nvPr/>
          </p:nvSpPr>
          <p:spPr bwMode="auto">
            <a:xfrm>
              <a:off x="1936" y="2354"/>
              <a:ext cx="1587" cy="204"/>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w="9525">
              <a:solidFill>
                <a:schemeClr val="tx1"/>
              </a:solidFill>
              <a:miter lim="800000"/>
            </a:ln>
          </p:spPr>
          <p:txBody>
            <a:bodyPr wrap="none" tIns="0" bIns="0" anchor="ctr"/>
            <a:lstStyle>
              <a:defPPr>
                <a:defRPr lang="zh-CN"/>
              </a:defPPr>
              <a:lvl1pPr algn="ctr">
                <a:buClr>
                  <a:srgbClr val="CC0000"/>
                </a:buClr>
                <a:buSzPct val="80000"/>
                <a:buFont typeface="Wingdings" panose="05000000000000000000" pitchFamily="2" charset="2"/>
                <a:buNone/>
                <a:defRPr sz="2000">
                  <a:solidFill>
                    <a:srgbClr val="000099"/>
                  </a:solidFill>
                  <a:latin typeface="华文中宋" panose="02010600040101010101" pitchFamily="2" charset="-122"/>
                </a:defRPr>
              </a:lvl1pPr>
            </a:lstStyle>
            <a:p>
              <a:r>
                <a:rPr lang="zh-CN" altLang="en-US" dirty="0"/>
                <a:t>确定零件的基本尺寸</a:t>
              </a:r>
              <a:endParaRPr lang="zh-CN" altLang="en-US" dirty="0"/>
            </a:p>
          </p:txBody>
        </p:sp>
        <p:sp>
          <p:nvSpPr>
            <p:cNvPr id="18449" name="Line 43"/>
            <p:cNvSpPr>
              <a:spLocks noChangeShapeType="1"/>
            </p:cNvSpPr>
            <p:nvPr/>
          </p:nvSpPr>
          <p:spPr bwMode="auto">
            <a:xfrm>
              <a:off x="2729" y="2181"/>
              <a:ext cx="0" cy="17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52"/>
          <p:cNvGrpSpPr/>
          <p:nvPr/>
        </p:nvGrpSpPr>
        <p:grpSpPr bwMode="auto">
          <a:xfrm>
            <a:off x="4612489" y="4165177"/>
            <a:ext cx="2519363" cy="598487"/>
            <a:chOff x="1936" y="2561"/>
            <a:chExt cx="1587" cy="377"/>
          </a:xfrm>
          <a:solidFill>
            <a:srgbClr val="FFC000"/>
          </a:solidFill>
        </p:grpSpPr>
        <p:sp>
          <p:nvSpPr>
            <p:cNvPr id="18451" name="Text Box 24"/>
            <p:cNvSpPr txBox="1">
              <a:spLocks noChangeArrowheads="1"/>
            </p:cNvSpPr>
            <p:nvPr/>
          </p:nvSpPr>
          <p:spPr bwMode="auto">
            <a:xfrm>
              <a:off x="1936" y="2734"/>
              <a:ext cx="1587" cy="204"/>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w="9525">
              <a:solidFill>
                <a:schemeClr val="tx1"/>
              </a:solidFill>
              <a:miter lim="800000"/>
            </a:ln>
          </p:spPr>
          <p:txBody>
            <a:bodyPr wrap="none" tIns="0" bIns="0" anchor="ctr"/>
            <a:lstStyle>
              <a:defPPr>
                <a:defRPr lang="zh-CN"/>
              </a:defPPr>
              <a:lvl1pPr algn="ctr">
                <a:buClr>
                  <a:srgbClr val="CC0000"/>
                </a:buClr>
                <a:buSzPct val="80000"/>
                <a:buFont typeface="Wingdings" panose="05000000000000000000" pitchFamily="2" charset="2"/>
                <a:buNone/>
                <a:defRPr sz="2000">
                  <a:solidFill>
                    <a:srgbClr val="000099"/>
                  </a:solidFill>
                  <a:latin typeface="华文中宋" panose="02010600040101010101" pitchFamily="2" charset="-122"/>
                </a:defRPr>
              </a:lvl1pPr>
            </a:lstStyle>
            <a:p>
              <a:r>
                <a:rPr lang="zh-CN" altLang="en-US"/>
                <a:t>结 构 设 计</a:t>
              </a:r>
              <a:endParaRPr lang="zh-CN" altLang="en-US"/>
            </a:p>
          </p:txBody>
        </p:sp>
        <p:sp>
          <p:nvSpPr>
            <p:cNvPr id="18452" name="Line 44"/>
            <p:cNvSpPr>
              <a:spLocks noChangeShapeType="1"/>
            </p:cNvSpPr>
            <p:nvPr/>
          </p:nvSpPr>
          <p:spPr bwMode="auto">
            <a:xfrm>
              <a:off x="2729" y="2561"/>
              <a:ext cx="0" cy="170"/>
            </a:xfrm>
            <a:prstGeom prst="line">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w="9525">
              <a:solidFill>
                <a:schemeClr val="tx1"/>
              </a:solidFill>
              <a:miter lim="800000"/>
            </a:ln>
          </p:spPr>
          <p:txBody>
            <a:bodyPr wrap="none" tIns="0" bIns="0" anchor="ctr"/>
            <a:lstStyle/>
            <a:p>
              <a:pPr algn="ctr">
                <a:buClr>
                  <a:srgbClr val="CC0000"/>
                </a:buClr>
                <a:buSzPct val="80000"/>
                <a:buFont typeface="Wingdings" panose="05000000000000000000" pitchFamily="2" charset="2"/>
                <a:buNone/>
              </a:pPr>
              <a:endParaRPr lang="zh-CN" altLang="en-US" sz="2000">
                <a:solidFill>
                  <a:srgbClr val="000099"/>
                </a:solidFill>
                <a:latin typeface="华文中宋" panose="02010600040101010101" pitchFamily="2" charset="-122"/>
              </a:endParaRPr>
            </a:p>
          </p:txBody>
        </p:sp>
      </p:grpSp>
      <p:grpSp>
        <p:nvGrpSpPr>
          <p:cNvPr id="7" name="Group 53"/>
          <p:cNvGrpSpPr/>
          <p:nvPr/>
        </p:nvGrpSpPr>
        <p:grpSpPr bwMode="auto">
          <a:xfrm>
            <a:off x="4612489" y="4770014"/>
            <a:ext cx="2519363" cy="598488"/>
            <a:chOff x="1936" y="2942"/>
            <a:chExt cx="1587" cy="377"/>
          </a:xfrm>
          <a:solidFill>
            <a:srgbClr val="FFC000"/>
          </a:solidFill>
        </p:grpSpPr>
        <p:sp>
          <p:nvSpPr>
            <p:cNvPr id="18454" name="Text Box 25"/>
            <p:cNvSpPr txBox="1">
              <a:spLocks noChangeArrowheads="1"/>
            </p:cNvSpPr>
            <p:nvPr/>
          </p:nvSpPr>
          <p:spPr bwMode="auto">
            <a:xfrm>
              <a:off x="1936" y="3115"/>
              <a:ext cx="1587" cy="204"/>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w="9525">
              <a:solidFill>
                <a:schemeClr val="tx1"/>
              </a:solidFill>
              <a:miter lim="800000"/>
            </a:ln>
          </p:spPr>
          <p:txBody>
            <a:bodyPr wrap="none" tIns="0" bIns="0" anchor="ctr"/>
            <a:lstStyle>
              <a:defPPr>
                <a:defRPr lang="zh-CN"/>
              </a:defPPr>
              <a:lvl1pPr algn="ctr">
                <a:buClr>
                  <a:srgbClr val="CC0000"/>
                </a:buClr>
                <a:buSzPct val="80000"/>
                <a:buFont typeface="Wingdings" panose="05000000000000000000" pitchFamily="2" charset="2"/>
                <a:buNone/>
                <a:defRPr sz="2000">
                  <a:solidFill>
                    <a:srgbClr val="000099"/>
                  </a:solidFill>
                  <a:latin typeface="华文中宋" panose="02010600040101010101" pitchFamily="2" charset="-122"/>
                </a:defRPr>
              </a:lvl1pPr>
            </a:lstStyle>
            <a:p>
              <a:r>
                <a:rPr lang="zh-CN" altLang="en-US"/>
                <a:t>校 核 计 算</a:t>
              </a:r>
              <a:endParaRPr lang="zh-CN" altLang="en-US"/>
            </a:p>
          </p:txBody>
        </p:sp>
        <p:sp>
          <p:nvSpPr>
            <p:cNvPr id="18455" name="Line 45"/>
            <p:cNvSpPr>
              <a:spLocks noChangeShapeType="1"/>
            </p:cNvSpPr>
            <p:nvPr/>
          </p:nvSpPr>
          <p:spPr bwMode="auto">
            <a:xfrm>
              <a:off x="2729" y="2942"/>
              <a:ext cx="0" cy="170"/>
            </a:xfrm>
            <a:prstGeom prst="line">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w="9525">
              <a:solidFill>
                <a:schemeClr val="tx1"/>
              </a:solidFill>
              <a:miter lim="800000"/>
            </a:ln>
          </p:spPr>
          <p:txBody>
            <a:bodyPr wrap="none" tIns="0" bIns="0" anchor="ctr"/>
            <a:lstStyle/>
            <a:p>
              <a:pPr algn="ctr">
                <a:buClr>
                  <a:srgbClr val="CC0000"/>
                </a:buClr>
                <a:buSzPct val="80000"/>
                <a:buFont typeface="Wingdings" panose="05000000000000000000" pitchFamily="2" charset="2"/>
                <a:buNone/>
              </a:pPr>
              <a:endParaRPr lang="zh-CN" altLang="en-US" sz="2000">
                <a:solidFill>
                  <a:srgbClr val="000099"/>
                </a:solidFill>
                <a:latin typeface="华文中宋" panose="02010600040101010101" pitchFamily="2" charset="-122"/>
              </a:endParaRPr>
            </a:p>
          </p:txBody>
        </p:sp>
      </p:grpSp>
      <p:grpSp>
        <p:nvGrpSpPr>
          <p:cNvPr id="8" name="Group 54"/>
          <p:cNvGrpSpPr/>
          <p:nvPr/>
        </p:nvGrpSpPr>
        <p:grpSpPr bwMode="auto">
          <a:xfrm>
            <a:off x="4612489" y="5373264"/>
            <a:ext cx="2519363" cy="598488"/>
            <a:chOff x="1936" y="3322"/>
            <a:chExt cx="1587" cy="377"/>
          </a:xfrm>
          <a:solidFill>
            <a:srgbClr val="FFC000"/>
          </a:solidFill>
        </p:grpSpPr>
        <p:sp>
          <p:nvSpPr>
            <p:cNvPr id="18457" name="Text Box 27"/>
            <p:cNvSpPr txBox="1">
              <a:spLocks noChangeArrowheads="1"/>
            </p:cNvSpPr>
            <p:nvPr/>
          </p:nvSpPr>
          <p:spPr bwMode="auto">
            <a:xfrm>
              <a:off x="1936" y="3495"/>
              <a:ext cx="1587" cy="204"/>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w="9525">
              <a:solidFill>
                <a:schemeClr val="tx1"/>
              </a:solidFill>
              <a:miter lim="800000"/>
            </a:ln>
          </p:spPr>
          <p:txBody>
            <a:bodyPr wrap="none" tIns="0" bIns="0" anchor="ctr"/>
            <a:lstStyle>
              <a:defPPr>
                <a:defRPr lang="zh-CN"/>
              </a:defPPr>
              <a:lvl1pPr algn="ctr">
                <a:buClr>
                  <a:srgbClr val="CC0000"/>
                </a:buClr>
                <a:buSzPct val="80000"/>
                <a:buFont typeface="Wingdings" panose="05000000000000000000" pitchFamily="2" charset="2"/>
                <a:buNone/>
                <a:defRPr sz="2000">
                  <a:solidFill>
                    <a:srgbClr val="000099"/>
                  </a:solidFill>
                  <a:latin typeface="华文中宋" panose="02010600040101010101" pitchFamily="2" charset="-122"/>
                </a:defRPr>
              </a:lvl1pPr>
            </a:lstStyle>
            <a:p>
              <a:r>
                <a:rPr lang="zh-CN" altLang="en-US" dirty="0"/>
                <a:t>画出零件工作图</a:t>
              </a:r>
              <a:endParaRPr lang="zh-CN" altLang="en-US" dirty="0"/>
            </a:p>
          </p:txBody>
        </p:sp>
        <p:sp>
          <p:nvSpPr>
            <p:cNvPr id="18458" name="Line 46"/>
            <p:cNvSpPr>
              <a:spLocks noChangeShapeType="1"/>
            </p:cNvSpPr>
            <p:nvPr/>
          </p:nvSpPr>
          <p:spPr bwMode="auto">
            <a:xfrm>
              <a:off x="2730" y="3322"/>
              <a:ext cx="0" cy="170"/>
            </a:xfrm>
            <a:prstGeom prst="line">
              <a:avLst/>
            </a:prstGeom>
            <a:grpFill/>
            <a:ln w="9525">
              <a:solidFill>
                <a:schemeClr val="tx1"/>
              </a:solidFill>
              <a:round/>
              <a:tailEnd type="triangle" w="sm" len="med"/>
            </a:ln>
          </p:spPr>
          <p:txBody>
            <a:bodyPr/>
            <a:lstStyle/>
            <a:p>
              <a:endParaRPr lang="zh-CN" altLang="en-US"/>
            </a:p>
          </p:txBody>
        </p:sp>
      </p:grpSp>
      <p:grpSp>
        <p:nvGrpSpPr>
          <p:cNvPr id="9" name="Group 55"/>
          <p:cNvGrpSpPr/>
          <p:nvPr/>
        </p:nvGrpSpPr>
        <p:grpSpPr bwMode="auto">
          <a:xfrm>
            <a:off x="4612489" y="5976514"/>
            <a:ext cx="2519363" cy="600075"/>
            <a:chOff x="1936" y="3702"/>
            <a:chExt cx="1587" cy="378"/>
          </a:xfrm>
        </p:grpSpPr>
        <p:sp>
          <p:nvSpPr>
            <p:cNvPr id="18460" name="Text Box 26"/>
            <p:cNvSpPr txBox="1">
              <a:spLocks noChangeArrowheads="1"/>
            </p:cNvSpPr>
            <p:nvPr/>
          </p:nvSpPr>
          <p:spPr bwMode="auto">
            <a:xfrm>
              <a:off x="1936" y="3876"/>
              <a:ext cx="1587" cy="204"/>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w="9525">
              <a:solidFill>
                <a:schemeClr val="tx1"/>
              </a:solidFill>
              <a:miter lim="800000"/>
            </a:ln>
          </p:spPr>
          <p:txBody>
            <a:bodyPr wrap="none" tIns="0" bIns="0" anchor="ctr"/>
            <a:lstStyle>
              <a:defPPr>
                <a:defRPr lang="zh-CN"/>
              </a:defPPr>
              <a:lvl1pPr algn="ctr">
                <a:buClr>
                  <a:srgbClr val="CC0000"/>
                </a:buClr>
                <a:buSzPct val="80000"/>
                <a:buFont typeface="Wingdings" panose="05000000000000000000" pitchFamily="2" charset="2"/>
                <a:buNone/>
                <a:defRPr sz="2000">
                  <a:solidFill>
                    <a:srgbClr val="000099"/>
                  </a:solidFill>
                  <a:latin typeface="华文中宋" panose="02010600040101010101" pitchFamily="2" charset="-122"/>
                </a:defRPr>
              </a:lvl1pPr>
            </a:lstStyle>
            <a:p>
              <a:r>
                <a:rPr lang="zh-CN" altLang="en-US" dirty="0"/>
                <a:t>写出计算说明书</a:t>
              </a:r>
              <a:endParaRPr lang="zh-CN" altLang="en-US" dirty="0"/>
            </a:p>
          </p:txBody>
        </p:sp>
        <p:sp>
          <p:nvSpPr>
            <p:cNvPr id="18461" name="Line 47"/>
            <p:cNvSpPr>
              <a:spLocks noChangeShapeType="1"/>
            </p:cNvSpPr>
            <p:nvPr/>
          </p:nvSpPr>
          <p:spPr bwMode="auto">
            <a:xfrm>
              <a:off x="2730" y="3702"/>
              <a:ext cx="0" cy="17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86074" name="Text Box 58"/>
          <p:cNvSpPr txBox="1">
            <a:spLocks noChangeArrowheads="1"/>
          </p:cNvSpPr>
          <p:nvPr/>
        </p:nvSpPr>
        <p:spPr bwMode="auto">
          <a:xfrm>
            <a:off x="6323013" y="6303963"/>
            <a:ext cx="46355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a:t>　</a:t>
            </a:r>
            <a:endParaRPr lang="zh-CN" altLang="en-US"/>
          </a:p>
        </p:txBody>
      </p:sp>
      <p:sp>
        <p:nvSpPr>
          <p:cNvPr id="18463"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6049"/>
                                        </p:tgtEl>
                                        <p:attrNameLst>
                                          <p:attrName>style.visibility</p:attrName>
                                        </p:attrNameLst>
                                      </p:cBhvr>
                                      <p:to>
                                        <p:strVal val="visible"/>
                                      </p:to>
                                    </p:set>
                                    <p:animEffect transition="in" filter="wipe(left)">
                                      <p:cBhvr>
                                        <p:cTn id="7" dur="500"/>
                                        <p:tgtEl>
                                          <p:spTgt spid="86049"/>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6033"/>
                                        </p:tgtEl>
                                        <p:attrNameLst>
                                          <p:attrName>style.visibility</p:attrName>
                                        </p:attrNameLst>
                                      </p:cBhvr>
                                      <p:to>
                                        <p:strVal val="visible"/>
                                      </p:to>
                                    </p:set>
                                    <p:animEffect transition="in" filter="wipe(up)">
                                      <p:cBhvr>
                                        <p:cTn id="11" dur="500"/>
                                        <p:tgtEl>
                                          <p:spTgt spid="8603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up)">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up)">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up)">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up)">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up)">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up)">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wipe(up)">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wipe(up)">
                                      <p:cBhvr>
                                        <p:cTn id="51" dur="500"/>
                                        <p:tgtEl>
                                          <p:spTgt spid="9"/>
                                        </p:tgtEl>
                                      </p:cBhvr>
                                    </p:animEffect>
                                  </p:childTnLst>
                                </p:cTn>
                              </p:par>
                            </p:childTnLst>
                          </p:cTn>
                        </p:par>
                        <p:par>
                          <p:cTn id="52" fill="hold">
                            <p:stCondLst>
                              <p:cond delay="500"/>
                            </p:stCondLst>
                            <p:childTnLst>
                              <p:par>
                                <p:cTn id="53" presetID="2" presetClass="entr" presetSubtype="8" fill="hold" nodeType="afterEffect">
                                  <p:stCondLst>
                                    <p:cond delay="0"/>
                                  </p:stCondLst>
                                  <p:childTnLst>
                                    <p:set>
                                      <p:cBhvr>
                                        <p:cTn id="54" dur="1" fill="hold">
                                          <p:stCondLst>
                                            <p:cond delay="0"/>
                                          </p:stCondLst>
                                        </p:cTn>
                                        <p:tgtEl>
                                          <p:spTgt spid="86046"/>
                                        </p:tgtEl>
                                        <p:attrNameLst>
                                          <p:attrName>style.visibility</p:attrName>
                                        </p:attrNameLst>
                                      </p:cBhvr>
                                      <p:to>
                                        <p:strVal val="visible"/>
                                      </p:to>
                                    </p:set>
                                    <p:anim calcmode="lin" valueType="num">
                                      <p:cBhvr additive="base">
                                        <p:cTn id="55" dur="500" fill="hold"/>
                                        <p:tgtEl>
                                          <p:spTgt spid="86046"/>
                                        </p:tgtEl>
                                        <p:attrNameLst>
                                          <p:attrName>ppt_x</p:attrName>
                                        </p:attrNameLst>
                                      </p:cBhvr>
                                      <p:tavLst>
                                        <p:tav tm="0">
                                          <p:val>
                                            <p:strVal val="0-#ppt_w/2"/>
                                          </p:val>
                                        </p:tav>
                                        <p:tav tm="100000">
                                          <p:val>
                                            <p:strVal val="#ppt_x"/>
                                          </p:val>
                                        </p:tav>
                                      </p:tavLst>
                                    </p:anim>
                                    <p:anim calcmode="lin" valueType="num">
                                      <p:cBhvr additive="base">
                                        <p:cTn id="56" dur="500" fill="hold"/>
                                        <p:tgtEl>
                                          <p:spTgt spid="86046"/>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86074"/>
                                        </p:tgtEl>
                                        <p:attrNameLst>
                                          <p:attrName>style.visibility</p:attrName>
                                        </p:attrNameLst>
                                      </p:cBhvr>
                                      <p:to>
                                        <p:strVal val="visible"/>
                                      </p:to>
                                    </p:set>
                                    <p:anim calcmode="lin" valueType="num">
                                      <p:cBhvr additive="base">
                                        <p:cTn id="61" dur="500" fill="hold"/>
                                        <p:tgtEl>
                                          <p:spTgt spid="86074"/>
                                        </p:tgtEl>
                                        <p:attrNameLst>
                                          <p:attrName>ppt_x</p:attrName>
                                        </p:attrNameLst>
                                      </p:cBhvr>
                                      <p:tavLst>
                                        <p:tav tm="0">
                                          <p:val>
                                            <p:strVal val="0-#ppt_w/2"/>
                                          </p:val>
                                        </p:tav>
                                        <p:tav tm="100000">
                                          <p:val>
                                            <p:strVal val="#ppt_x"/>
                                          </p:val>
                                        </p:tav>
                                      </p:tavLst>
                                    </p:anim>
                                    <p:anim calcmode="lin" valueType="num">
                                      <p:cBhvr additive="base">
                                        <p:cTn id="62" dur="500" fill="hold"/>
                                        <p:tgtEl>
                                          <p:spTgt spid="860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33" grpId="0" animBg="1"/>
      <p:bldP spid="86049" grpId="0" bldLvl="0" animBg="1"/>
      <p:bldP spid="8607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6" name="Text Box 6"/>
          <p:cNvSpPr txBox="1">
            <a:spLocks noChangeArrowheads="1"/>
          </p:cNvSpPr>
          <p:nvPr/>
        </p:nvSpPr>
        <p:spPr bwMode="auto">
          <a:xfrm>
            <a:off x="961554" y="2962747"/>
            <a:ext cx="3581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spcAft>
                <a:spcPts val="0"/>
              </a:spcAft>
            </a:pPr>
            <a:r>
              <a:rPr lang="en-US" altLang="zh-CN" b="0" dirty="0">
                <a:solidFill>
                  <a:schemeClr val="hlink"/>
                </a:solidFill>
                <a:ea typeface="黑体" panose="02010609060101010101" pitchFamily="49" charset="-122"/>
              </a:rPr>
              <a:t>3</a:t>
            </a:r>
            <a:r>
              <a:rPr lang="zh-CN" altLang="en-US" b="0" dirty="0">
                <a:solidFill>
                  <a:schemeClr val="hlink"/>
                </a:solidFill>
                <a:ea typeface="黑体" panose="02010609060101010101" pitchFamily="49" charset="-122"/>
              </a:rPr>
              <a:t>）选择材料；</a:t>
            </a:r>
            <a:endParaRPr lang="zh-CN" altLang="en-US" b="0" dirty="0">
              <a:solidFill>
                <a:schemeClr val="hlink"/>
              </a:solidFill>
              <a:ea typeface="黑体" panose="02010609060101010101" pitchFamily="49" charset="-122"/>
            </a:endParaRPr>
          </a:p>
        </p:txBody>
      </p:sp>
      <p:sp>
        <p:nvSpPr>
          <p:cNvPr id="250887" name="Text Box 7"/>
          <p:cNvSpPr txBox="1">
            <a:spLocks noChangeArrowheads="1"/>
          </p:cNvSpPr>
          <p:nvPr/>
        </p:nvSpPr>
        <p:spPr bwMode="auto">
          <a:xfrm>
            <a:off x="907234" y="3453803"/>
            <a:ext cx="6400800" cy="423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lnSpc>
                <a:spcPct val="90000"/>
              </a:lnSpc>
              <a:spcAft>
                <a:spcPts val="0"/>
              </a:spcAft>
            </a:pPr>
            <a:r>
              <a:rPr lang="en-US" altLang="zh-CN" b="0" dirty="0">
                <a:solidFill>
                  <a:schemeClr val="hlink"/>
                </a:solidFill>
                <a:ea typeface="黑体" panose="02010609060101010101" pitchFamily="49" charset="-122"/>
              </a:rPr>
              <a:t>4</a:t>
            </a:r>
            <a:r>
              <a:rPr lang="zh-CN" altLang="en-US" b="0" dirty="0">
                <a:solidFill>
                  <a:schemeClr val="hlink"/>
                </a:solidFill>
                <a:ea typeface="黑体" panose="02010609060101010101" pitchFamily="49" charset="-122"/>
              </a:rPr>
              <a:t>）根据失效形式</a:t>
            </a:r>
            <a:r>
              <a:rPr lang="zh-CN" altLang="en-US" b="0" dirty="0" smtClean="0">
                <a:solidFill>
                  <a:schemeClr val="hlink"/>
                </a:solidFill>
                <a:ea typeface="黑体" panose="02010609060101010101" pitchFamily="49" charset="-122"/>
              </a:rPr>
              <a:t>选用零件的设计准则，</a:t>
            </a:r>
            <a:endParaRPr lang="zh-CN" altLang="en-US" b="0" dirty="0">
              <a:solidFill>
                <a:schemeClr val="hlink"/>
              </a:solidFill>
              <a:ea typeface="黑体" panose="02010609060101010101" pitchFamily="49" charset="-122"/>
            </a:endParaRPr>
          </a:p>
        </p:txBody>
      </p:sp>
      <p:sp>
        <p:nvSpPr>
          <p:cNvPr id="250888" name="Text Box 8"/>
          <p:cNvSpPr txBox="1">
            <a:spLocks noChangeArrowheads="1"/>
          </p:cNvSpPr>
          <p:nvPr/>
        </p:nvSpPr>
        <p:spPr bwMode="auto">
          <a:xfrm>
            <a:off x="925340" y="5756495"/>
            <a:ext cx="58039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spcAft>
                <a:spcPts val="0"/>
              </a:spcAft>
            </a:pPr>
            <a:r>
              <a:rPr lang="en-US" altLang="zh-CN" dirty="0">
                <a:solidFill>
                  <a:schemeClr val="hlink"/>
                </a:solidFill>
                <a:ea typeface="黑体" panose="02010609060101010101" pitchFamily="49" charset="-122"/>
              </a:rPr>
              <a:t>5</a:t>
            </a:r>
            <a:r>
              <a:rPr lang="zh-CN" altLang="en-US" b="0" dirty="0">
                <a:solidFill>
                  <a:schemeClr val="hlink"/>
                </a:solidFill>
                <a:ea typeface="黑体" panose="02010609060101010101" pitchFamily="49" charset="-122"/>
              </a:rPr>
              <a:t>）结构设计，绘制零件工作图。</a:t>
            </a:r>
            <a:endParaRPr lang="zh-CN" altLang="en-US" b="0" dirty="0">
              <a:solidFill>
                <a:schemeClr val="hlink"/>
              </a:solidFill>
              <a:ea typeface="黑体" panose="02010609060101010101" pitchFamily="49" charset="-122"/>
            </a:endParaRPr>
          </a:p>
        </p:txBody>
      </p:sp>
      <p:grpSp>
        <p:nvGrpSpPr>
          <p:cNvPr id="2" name="Group 9"/>
          <p:cNvGrpSpPr/>
          <p:nvPr/>
        </p:nvGrpSpPr>
        <p:grpSpPr bwMode="auto">
          <a:xfrm>
            <a:off x="4914900" y="1252538"/>
            <a:ext cx="1905000" cy="609600"/>
            <a:chOff x="3504" y="768"/>
            <a:chExt cx="1200" cy="384"/>
          </a:xfrm>
        </p:grpSpPr>
        <p:sp>
          <p:nvSpPr>
            <p:cNvPr id="21544" name="AutoShape 10"/>
            <p:cNvSpPr/>
            <p:nvPr/>
          </p:nvSpPr>
          <p:spPr bwMode="auto">
            <a:xfrm>
              <a:off x="3504" y="768"/>
              <a:ext cx="144" cy="384"/>
            </a:xfrm>
            <a:prstGeom prst="rightBrace">
              <a:avLst>
                <a:gd name="adj1" fmla="val 22222"/>
                <a:gd name="adj2" fmla="val 50000"/>
              </a:avLst>
            </a:prstGeom>
            <a:noFill/>
            <a:ln w="317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endParaRPr lang="zh-CN" altLang="en-US"/>
            </a:p>
          </p:txBody>
        </p:sp>
        <p:sp>
          <p:nvSpPr>
            <p:cNvPr id="21545" name="Text Box 11"/>
            <p:cNvSpPr txBox="1">
              <a:spLocks noChangeArrowheads="1"/>
            </p:cNvSpPr>
            <p:nvPr/>
          </p:nvSpPr>
          <p:spPr bwMode="auto">
            <a:xfrm>
              <a:off x="3744" y="816"/>
              <a:ext cx="960" cy="288"/>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zh-CN" altLang="en-US" dirty="0">
                  <a:solidFill>
                    <a:srgbClr val="002060"/>
                  </a:solidFill>
                  <a:ea typeface="黑体" panose="02010609060101010101" pitchFamily="49" charset="-122"/>
                </a:rPr>
                <a:t>受力分析</a:t>
              </a:r>
              <a:endParaRPr lang="zh-CN" altLang="en-US" dirty="0">
                <a:solidFill>
                  <a:srgbClr val="002060"/>
                </a:solidFill>
                <a:ea typeface="黑体" panose="02010609060101010101" pitchFamily="49" charset="-122"/>
              </a:endParaRPr>
            </a:p>
          </p:txBody>
        </p:sp>
      </p:grpSp>
      <p:sp>
        <p:nvSpPr>
          <p:cNvPr id="250892" name="Text Box 12"/>
          <p:cNvSpPr txBox="1">
            <a:spLocks noChangeArrowheads="1"/>
          </p:cNvSpPr>
          <p:nvPr/>
        </p:nvSpPr>
        <p:spPr bwMode="auto">
          <a:xfrm>
            <a:off x="952500" y="1100138"/>
            <a:ext cx="39068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spcAft>
                <a:spcPts val="0"/>
              </a:spcAft>
            </a:pPr>
            <a:r>
              <a:rPr lang="en-US" altLang="zh-CN" b="0" dirty="0">
                <a:solidFill>
                  <a:schemeClr val="hlink"/>
                </a:solidFill>
                <a:ea typeface="黑体" panose="02010609060101010101" pitchFamily="49" charset="-122"/>
              </a:rPr>
              <a:t>1</a:t>
            </a:r>
            <a:r>
              <a:rPr lang="zh-CN" altLang="en-US" b="0" dirty="0">
                <a:solidFill>
                  <a:schemeClr val="hlink"/>
                </a:solidFill>
                <a:ea typeface="黑体" panose="02010609060101010101" pitchFamily="49" charset="-122"/>
              </a:rPr>
              <a:t>）拟订零件的设计简图；</a:t>
            </a:r>
            <a:endParaRPr lang="zh-CN" altLang="en-US" b="0" dirty="0">
              <a:solidFill>
                <a:schemeClr val="hlink"/>
              </a:solidFill>
              <a:ea typeface="黑体" panose="02010609060101010101" pitchFamily="49" charset="-122"/>
            </a:endParaRPr>
          </a:p>
        </p:txBody>
      </p:sp>
      <p:sp>
        <p:nvSpPr>
          <p:cNvPr id="250893" name="Text Box 13"/>
          <p:cNvSpPr txBox="1">
            <a:spLocks noChangeArrowheads="1"/>
          </p:cNvSpPr>
          <p:nvPr/>
        </p:nvSpPr>
        <p:spPr bwMode="auto">
          <a:xfrm>
            <a:off x="952500" y="1509713"/>
            <a:ext cx="41957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spcAft>
                <a:spcPts val="0"/>
              </a:spcAft>
            </a:pPr>
            <a:r>
              <a:rPr lang="en-US" altLang="zh-CN" b="0" dirty="0">
                <a:solidFill>
                  <a:schemeClr val="hlink"/>
                </a:solidFill>
                <a:ea typeface="黑体" panose="02010609060101010101" pitchFamily="49" charset="-122"/>
              </a:rPr>
              <a:t>2</a:t>
            </a:r>
            <a:r>
              <a:rPr lang="zh-CN" altLang="en-US" b="0" dirty="0">
                <a:solidFill>
                  <a:schemeClr val="hlink"/>
                </a:solidFill>
                <a:ea typeface="黑体" panose="02010609060101010101" pitchFamily="49" charset="-122"/>
              </a:rPr>
              <a:t>）确定载荷的大小及位置；</a:t>
            </a:r>
            <a:endParaRPr lang="zh-CN" altLang="en-US" b="0" dirty="0">
              <a:solidFill>
                <a:schemeClr val="hlink"/>
              </a:solidFill>
              <a:ea typeface="黑体" panose="02010609060101010101" pitchFamily="49" charset="-122"/>
            </a:endParaRPr>
          </a:p>
        </p:txBody>
      </p:sp>
      <p:sp>
        <p:nvSpPr>
          <p:cNvPr id="250894" name="Text Box 14"/>
          <p:cNvSpPr txBox="1">
            <a:spLocks noChangeArrowheads="1"/>
          </p:cNvSpPr>
          <p:nvPr/>
        </p:nvSpPr>
        <p:spPr bwMode="auto">
          <a:xfrm>
            <a:off x="1423517" y="3888180"/>
            <a:ext cx="4525962" cy="423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lnSpc>
                <a:spcPct val="90000"/>
              </a:lnSpc>
              <a:spcAft>
                <a:spcPts val="0"/>
              </a:spcAft>
            </a:pPr>
            <a:r>
              <a:rPr lang="zh-CN" altLang="en-US" b="0" dirty="0">
                <a:solidFill>
                  <a:schemeClr val="hlink"/>
                </a:solidFill>
                <a:ea typeface="黑体" panose="02010609060101010101" pitchFamily="49" charset="-122"/>
              </a:rPr>
              <a:t>设计或校核零件的主要参数；</a:t>
            </a:r>
            <a:endParaRPr lang="zh-CN" altLang="en-US" b="0" dirty="0">
              <a:solidFill>
                <a:schemeClr val="hlink"/>
              </a:solidFill>
              <a:ea typeface="黑体" panose="02010609060101010101" pitchFamily="49" charset="-122"/>
            </a:endParaRPr>
          </a:p>
        </p:txBody>
      </p:sp>
      <p:grpSp>
        <p:nvGrpSpPr>
          <p:cNvPr id="3" name="Group 15"/>
          <p:cNvGrpSpPr/>
          <p:nvPr/>
        </p:nvGrpSpPr>
        <p:grpSpPr bwMode="auto">
          <a:xfrm>
            <a:off x="1714500" y="2590800"/>
            <a:ext cx="2667000" cy="228600"/>
            <a:chOff x="432" y="1488"/>
            <a:chExt cx="1680" cy="144"/>
          </a:xfrm>
        </p:grpSpPr>
        <p:sp>
          <p:nvSpPr>
            <p:cNvPr id="21541" name="Line 16"/>
            <p:cNvSpPr>
              <a:spLocks noChangeShapeType="1"/>
            </p:cNvSpPr>
            <p:nvPr/>
          </p:nvSpPr>
          <p:spPr bwMode="auto">
            <a:xfrm>
              <a:off x="480" y="1488"/>
              <a:ext cx="1632" cy="0"/>
            </a:xfrm>
            <a:prstGeom prst="line">
              <a:avLst/>
            </a:prstGeom>
            <a:noFill/>
            <a:ln w="50800">
              <a:solidFill>
                <a:srgbClr val="002060"/>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1542" name="AutoShape 17"/>
            <p:cNvSpPr>
              <a:spLocks noChangeArrowheads="1"/>
            </p:cNvSpPr>
            <p:nvPr/>
          </p:nvSpPr>
          <p:spPr bwMode="auto">
            <a:xfrm>
              <a:off x="432" y="1488"/>
              <a:ext cx="144" cy="144"/>
            </a:xfrm>
            <a:prstGeom prst="triangle">
              <a:avLst>
                <a:gd name="adj" fmla="val 50000"/>
              </a:avLst>
            </a:prstGeom>
            <a:noFill/>
            <a:ln w="38100">
              <a:solidFill>
                <a:srgbClr val="002060"/>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endParaRPr lang="zh-CN" altLang="en-US"/>
            </a:p>
          </p:txBody>
        </p:sp>
        <p:sp>
          <p:nvSpPr>
            <p:cNvPr id="21543" name="AutoShape 18"/>
            <p:cNvSpPr>
              <a:spLocks noChangeArrowheads="1"/>
            </p:cNvSpPr>
            <p:nvPr/>
          </p:nvSpPr>
          <p:spPr bwMode="auto">
            <a:xfrm>
              <a:off x="1968" y="1488"/>
              <a:ext cx="144" cy="144"/>
            </a:xfrm>
            <a:prstGeom prst="triangle">
              <a:avLst>
                <a:gd name="adj" fmla="val 50000"/>
              </a:avLst>
            </a:prstGeom>
            <a:noFill/>
            <a:ln w="38100">
              <a:solidFill>
                <a:srgbClr val="002060"/>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endParaRPr lang="zh-CN" altLang="en-US"/>
            </a:p>
          </p:txBody>
        </p:sp>
      </p:grpSp>
      <p:grpSp>
        <p:nvGrpSpPr>
          <p:cNvPr id="4" name="Group 19"/>
          <p:cNvGrpSpPr/>
          <p:nvPr/>
        </p:nvGrpSpPr>
        <p:grpSpPr bwMode="auto">
          <a:xfrm>
            <a:off x="3009900" y="1905000"/>
            <a:ext cx="838200" cy="685800"/>
            <a:chOff x="1248" y="1056"/>
            <a:chExt cx="528" cy="432"/>
          </a:xfrm>
        </p:grpSpPr>
        <p:sp>
          <p:nvSpPr>
            <p:cNvPr id="21539" name="Line 20"/>
            <p:cNvSpPr>
              <a:spLocks noChangeShapeType="1"/>
            </p:cNvSpPr>
            <p:nvPr/>
          </p:nvSpPr>
          <p:spPr bwMode="auto">
            <a:xfrm>
              <a:off x="1248" y="1104"/>
              <a:ext cx="0" cy="384"/>
            </a:xfrm>
            <a:prstGeom prst="line">
              <a:avLst/>
            </a:prstGeom>
            <a:noFill/>
            <a:ln w="50800">
              <a:solidFill>
                <a:srgbClr val="FF0000"/>
              </a:solidFill>
              <a:round/>
              <a:tailEnd type="triangle" w="sm"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0901" name="Text Box 21"/>
            <p:cNvSpPr txBox="1">
              <a:spLocks noChangeArrowheads="1"/>
            </p:cNvSpPr>
            <p:nvPr/>
          </p:nvSpPr>
          <p:spPr bwMode="auto">
            <a:xfrm>
              <a:off x="1296" y="1056"/>
              <a:ext cx="480" cy="271"/>
            </a:xfrm>
            <a:prstGeom prst="rect">
              <a:avLst/>
            </a:prstGeom>
            <a:noFill/>
            <a:ln w="9525">
              <a:noFill/>
              <a:miter lim="800000"/>
            </a:ln>
            <a:effectLst/>
          </p:spPr>
          <p:txBody>
            <a:bodyPr>
              <a:spAutoFit/>
            </a:bodyPr>
            <a:lstStyle/>
            <a:p>
              <a:pPr>
                <a:defRPr/>
              </a:pPr>
              <a:r>
                <a:rPr lang="en-US" altLang="zh-CN" i="1" dirty="0">
                  <a:solidFill>
                    <a:srgbClr val="FF0000"/>
                  </a:solidFill>
                  <a:effectLst>
                    <a:outerShdw blurRad="38100" dist="38100" dir="2700000" algn="tl">
                      <a:srgbClr val="C0C0C0"/>
                    </a:outerShdw>
                  </a:effectLst>
                </a:rPr>
                <a:t>F</a:t>
              </a:r>
              <a:endParaRPr lang="en-US" altLang="zh-CN" i="1" dirty="0">
                <a:solidFill>
                  <a:srgbClr val="FF0000"/>
                </a:solidFill>
                <a:effectLst>
                  <a:outerShdw blurRad="38100" dist="38100" dir="2700000" algn="tl">
                    <a:srgbClr val="C0C0C0"/>
                  </a:outerShdw>
                </a:effectLst>
              </a:endParaRPr>
            </a:p>
          </p:txBody>
        </p:sp>
      </p:grpSp>
      <p:grpSp>
        <p:nvGrpSpPr>
          <p:cNvPr id="5" name="Group 27"/>
          <p:cNvGrpSpPr/>
          <p:nvPr/>
        </p:nvGrpSpPr>
        <p:grpSpPr bwMode="auto">
          <a:xfrm>
            <a:off x="1113954" y="4407293"/>
            <a:ext cx="5715000" cy="536575"/>
            <a:chOff x="576" y="2976"/>
            <a:chExt cx="3600" cy="338"/>
          </a:xfrm>
        </p:grpSpPr>
        <p:sp>
          <p:nvSpPr>
            <p:cNvPr id="21535" name="Text Box 28"/>
            <p:cNvSpPr txBox="1">
              <a:spLocks noChangeArrowheads="1"/>
            </p:cNvSpPr>
            <p:nvPr/>
          </p:nvSpPr>
          <p:spPr bwMode="auto">
            <a:xfrm>
              <a:off x="576" y="3024"/>
              <a:ext cx="2016" cy="29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en-US" altLang="zh-CN" dirty="0">
                  <a:ea typeface="黑体" panose="02010609060101010101" pitchFamily="49" charset="-122"/>
                </a:rPr>
                <a:t>    </a:t>
              </a:r>
              <a:r>
                <a:rPr lang="zh-CN" altLang="en-US" dirty="0">
                  <a:solidFill>
                    <a:srgbClr val="002060"/>
                  </a:solidFill>
                  <a:ea typeface="黑体" panose="02010609060101010101" pitchFamily="49" charset="-122"/>
                </a:rPr>
                <a:t>强度条件（或刚度）  </a:t>
              </a:r>
              <a:endParaRPr lang="zh-CN" altLang="en-US" dirty="0">
                <a:solidFill>
                  <a:srgbClr val="002060"/>
                </a:solidFill>
                <a:ea typeface="黑体" panose="02010609060101010101" pitchFamily="49" charset="-122"/>
              </a:endParaRPr>
            </a:p>
          </p:txBody>
        </p:sp>
        <p:sp>
          <p:nvSpPr>
            <p:cNvPr id="21536" name="Line 29"/>
            <p:cNvSpPr>
              <a:spLocks noChangeShapeType="1"/>
            </p:cNvSpPr>
            <p:nvPr/>
          </p:nvSpPr>
          <p:spPr bwMode="auto">
            <a:xfrm>
              <a:off x="2592" y="3216"/>
              <a:ext cx="816" cy="0"/>
            </a:xfrm>
            <a:prstGeom prst="line">
              <a:avLst/>
            </a:prstGeom>
            <a:noFill/>
            <a:ln w="25400">
              <a:solidFill>
                <a:srgbClr val="002060"/>
              </a:solidFill>
              <a:rou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537" name="Text Box 30"/>
            <p:cNvSpPr txBox="1">
              <a:spLocks noChangeArrowheads="1"/>
            </p:cNvSpPr>
            <p:nvPr/>
          </p:nvSpPr>
          <p:spPr bwMode="auto">
            <a:xfrm>
              <a:off x="2640" y="2976"/>
              <a:ext cx="12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zh-CN" altLang="en-US" sz="1800" dirty="0">
                  <a:solidFill>
                    <a:srgbClr val="002060"/>
                  </a:solidFill>
                  <a:ea typeface="黑体" panose="02010609060101010101" pitchFamily="49" charset="-122"/>
                </a:rPr>
                <a:t>设计计算</a:t>
              </a:r>
              <a:endParaRPr lang="zh-CN" altLang="en-US" dirty="0">
                <a:solidFill>
                  <a:srgbClr val="002060"/>
                </a:solidFill>
                <a:ea typeface="黑体" panose="02010609060101010101" pitchFamily="49" charset="-122"/>
              </a:endParaRPr>
            </a:p>
          </p:txBody>
        </p:sp>
        <p:sp>
          <p:nvSpPr>
            <p:cNvPr id="21538" name="Text Box 31"/>
            <p:cNvSpPr txBox="1">
              <a:spLocks noChangeArrowheads="1"/>
            </p:cNvSpPr>
            <p:nvPr/>
          </p:nvSpPr>
          <p:spPr bwMode="auto">
            <a:xfrm>
              <a:off x="3504" y="3024"/>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zh-CN" altLang="en-US" dirty="0">
                  <a:solidFill>
                    <a:srgbClr val="002060"/>
                  </a:solidFill>
                  <a:ea typeface="黑体" panose="02010609060101010101" pitchFamily="49" charset="-122"/>
                </a:rPr>
                <a:t>尺寸</a:t>
              </a:r>
              <a:endParaRPr lang="zh-CN" altLang="en-US" dirty="0">
                <a:solidFill>
                  <a:srgbClr val="002060"/>
                </a:solidFill>
                <a:ea typeface="黑体" panose="02010609060101010101" pitchFamily="49" charset="-122"/>
              </a:endParaRPr>
            </a:p>
          </p:txBody>
        </p:sp>
      </p:grpSp>
      <p:grpSp>
        <p:nvGrpSpPr>
          <p:cNvPr id="6" name="Group 32"/>
          <p:cNvGrpSpPr/>
          <p:nvPr/>
        </p:nvGrpSpPr>
        <p:grpSpPr bwMode="auto">
          <a:xfrm>
            <a:off x="1418754" y="5093093"/>
            <a:ext cx="5715000" cy="533400"/>
            <a:chOff x="768" y="3408"/>
            <a:chExt cx="3600" cy="336"/>
          </a:xfrm>
        </p:grpSpPr>
        <p:sp>
          <p:nvSpPr>
            <p:cNvPr id="21531" name="Text Box 33"/>
            <p:cNvSpPr txBox="1">
              <a:spLocks noChangeArrowheads="1"/>
            </p:cNvSpPr>
            <p:nvPr/>
          </p:nvSpPr>
          <p:spPr bwMode="auto">
            <a:xfrm>
              <a:off x="768" y="3408"/>
              <a:ext cx="10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zh-CN" altLang="en-US" dirty="0">
                  <a:solidFill>
                    <a:srgbClr val="002060"/>
                  </a:solidFill>
                  <a:ea typeface="黑体" panose="02010609060101010101" pitchFamily="49" charset="-122"/>
                </a:rPr>
                <a:t>尺寸</a:t>
              </a:r>
              <a:endParaRPr lang="zh-CN" altLang="en-US" dirty="0">
                <a:solidFill>
                  <a:srgbClr val="002060"/>
                </a:solidFill>
                <a:ea typeface="黑体" panose="02010609060101010101" pitchFamily="49" charset="-122"/>
              </a:endParaRPr>
            </a:p>
          </p:txBody>
        </p:sp>
        <p:sp>
          <p:nvSpPr>
            <p:cNvPr id="21532" name="Line 34"/>
            <p:cNvSpPr>
              <a:spLocks noChangeShapeType="1"/>
            </p:cNvSpPr>
            <p:nvPr/>
          </p:nvSpPr>
          <p:spPr bwMode="auto">
            <a:xfrm>
              <a:off x="1344" y="3648"/>
              <a:ext cx="816" cy="0"/>
            </a:xfrm>
            <a:prstGeom prst="line">
              <a:avLst/>
            </a:prstGeom>
            <a:noFill/>
            <a:ln w="25400">
              <a:solidFill>
                <a:srgbClr val="002060"/>
              </a:solidFill>
              <a:rou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533" name="Text Box 35"/>
            <p:cNvSpPr txBox="1">
              <a:spLocks noChangeArrowheads="1"/>
            </p:cNvSpPr>
            <p:nvPr/>
          </p:nvSpPr>
          <p:spPr bwMode="auto">
            <a:xfrm>
              <a:off x="1392" y="3408"/>
              <a:ext cx="8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zh-CN" altLang="en-US" sz="1800" dirty="0">
                  <a:solidFill>
                    <a:srgbClr val="002060"/>
                  </a:solidFill>
                  <a:ea typeface="黑体" panose="02010609060101010101" pitchFamily="49" charset="-122"/>
                </a:rPr>
                <a:t>校核计算</a:t>
              </a:r>
              <a:endParaRPr lang="zh-CN" altLang="en-US" dirty="0">
                <a:solidFill>
                  <a:srgbClr val="002060"/>
                </a:solidFill>
                <a:ea typeface="黑体" panose="02010609060101010101" pitchFamily="49" charset="-122"/>
              </a:endParaRPr>
            </a:p>
          </p:txBody>
        </p:sp>
        <p:sp>
          <p:nvSpPr>
            <p:cNvPr id="21534" name="Text Box 36"/>
            <p:cNvSpPr txBox="1">
              <a:spLocks noChangeArrowheads="1"/>
            </p:cNvSpPr>
            <p:nvPr/>
          </p:nvSpPr>
          <p:spPr bwMode="auto">
            <a:xfrm>
              <a:off x="2208" y="3456"/>
              <a:ext cx="21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zh-CN" altLang="en-US" dirty="0">
                  <a:solidFill>
                    <a:srgbClr val="002060"/>
                  </a:solidFill>
                  <a:ea typeface="黑体" panose="02010609060101010101" pitchFamily="49" charset="-122"/>
                </a:rPr>
                <a:t>强度条件（或刚度）</a:t>
              </a:r>
              <a:endParaRPr lang="zh-CN" altLang="en-US" dirty="0">
                <a:solidFill>
                  <a:srgbClr val="002060"/>
                </a:solidFill>
                <a:ea typeface="黑体" panose="02010609060101010101" pitchFamily="49" charset="-122"/>
              </a:endParaRPr>
            </a:p>
          </p:txBody>
        </p:sp>
      </p:grpSp>
      <p:sp>
        <p:nvSpPr>
          <p:cNvPr id="250917" name="Text Box 37"/>
          <p:cNvSpPr txBox="1">
            <a:spLocks noChangeArrowheads="1"/>
          </p:cNvSpPr>
          <p:nvPr/>
        </p:nvSpPr>
        <p:spPr bwMode="auto">
          <a:xfrm>
            <a:off x="6968654" y="4470793"/>
            <a:ext cx="1270000" cy="429895"/>
          </a:xfrm>
          <a:prstGeom prst="rect">
            <a:avLst/>
          </a:prstGeom>
          <a:solidFill>
            <a:srgbClr val="CCFFFF"/>
          </a:solidFill>
          <a:ln w="9525">
            <a:noFill/>
            <a:miter lim="800000"/>
          </a:ln>
          <a:effectLst/>
        </p:spPr>
        <p:txBody>
          <a:bodyPr>
            <a:spAutoFit/>
          </a:bodyPr>
          <a:lstStyle/>
          <a:p>
            <a:pPr>
              <a:spcAft>
                <a:spcPts val="0"/>
              </a:spcAft>
              <a:buFont typeface="隶书" panose="02010509060101010101" pitchFamily="49" charset="-122"/>
              <a:buNone/>
              <a:defRPr/>
            </a:pPr>
            <a:r>
              <a:rPr lang="zh-CN" altLang="en-US">
                <a:solidFill>
                  <a:srgbClr val="FF0000"/>
                </a:solidFill>
                <a:effectLst>
                  <a:outerShdw blurRad="38100" dist="38100" dir="2700000" algn="tl">
                    <a:srgbClr val="000000"/>
                  </a:outerShdw>
                </a:effectLst>
                <a:ea typeface="黑体" panose="02010609060101010101" pitchFamily="49" charset="-122"/>
              </a:rPr>
              <a:t>设计式</a:t>
            </a:r>
            <a:endParaRPr lang="zh-CN" altLang="en-US">
              <a:solidFill>
                <a:srgbClr val="FF0000"/>
              </a:solidFill>
              <a:effectLst>
                <a:outerShdw blurRad="38100" dist="38100" dir="2700000" algn="tl">
                  <a:srgbClr val="000000"/>
                </a:outerShdw>
              </a:effectLst>
              <a:ea typeface="黑体" panose="02010609060101010101" pitchFamily="49" charset="-122"/>
            </a:endParaRPr>
          </a:p>
        </p:txBody>
      </p:sp>
      <p:sp>
        <p:nvSpPr>
          <p:cNvPr id="250918" name="Text Box 38"/>
          <p:cNvSpPr txBox="1">
            <a:spLocks noChangeArrowheads="1"/>
          </p:cNvSpPr>
          <p:nvPr/>
        </p:nvSpPr>
        <p:spPr bwMode="auto">
          <a:xfrm>
            <a:off x="6968654" y="5070868"/>
            <a:ext cx="1270000" cy="429895"/>
          </a:xfrm>
          <a:prstGeom prst="rect">
            <a:avLst/>
          </a:prstGeom>
          <a:solidFill>
            <a:srgbClr val="CCFFFF"/>
          </a:solidFill>
          <a:ln w="9525">
            <a:noFill/>
            <a:miter lim="800000"/>
          </a:ln>
          <a:effectLst/>
        </p:spPr>
        <p:txBody>
          <a:bodyPr>
            <a:spAutoFit/>
          </a:bodyPr>
          <a:lstStyle/>
          <a:p>
            <a:pPr>
              <a:spcAft>
                <a:spcPts val="0"/>
              </a:spcAft>
              <a:buFont typeface="隶书" panose="02010509060101010101" pitchFamily="49" charset="-122"/>
              <a:buNone/>
              <a:defRPr/>
            </a:pPr>
            <a:r>
              <a:rPr lang="zh-CN" altLang="en-US">
                <a:solidFill>
                  <a:srgbClr val="FF0000"/>
                </a:solidFill>
                <a:effectLst>
                  <a:outerShdw blurRad="38100" dist="38100" dir="2700000" algn="tl">
                    <a:srgbClr val="000000"/>
                  </a:outerShdw>
                </a:effectLst>
                <a:ea typeface="黑体" panose="02010609060101010101" pitchFamily="49" charset="-122"/>
              </a:rPr>
              <a:t>校核式</a:t>
            </a:r>
            <a:endParaRPr lang="zh-CN" altLang="en-US">
              <a:solidFill>
                <a:srgbClr val="FF0000"/>
              </a:solidFill>
              <a:effectLst>
                <a:outerShdw blurRad="38100" dist="38100" dir="2700000" algn="tl">
                  <a:srgbClr val="000000"/>
                </a:outerShdw>
              </a:effectLst>
              <a:ea typeface="黑体" panose="02010609060101010101" pitchFamily="49" charset="-122"/>
            </a:endParaRPr>
          </a:p>
        </p:txBody>
      </p:sp>
      <p:grpSp>
        <p:nvGrpSpPr>
          <p:cNvPr id="7" name="Group 41"/>
          <p:cNvGrpSpPr/>
          <p:nvPr/>
        </p:nvGrpSpPr>
        <p:grpSpPr bwMode="auto">
          <a:xfrm>
            <a:off x="1827213" y="1905000"/>
            <a:ext cx="2439987" cy="698500"/>
            <a:chOff x="1151" y="1200"/>
            <a:chExt cx="1537" cy="440"/>
          </a:xfrm>
        </p:grpSpPr>
        <p:grpSp>
          <p:nvGrpSpPr>
            <p:cNvPr id="21524" name="Group 22"/>
            <p:cNvGrpSpPr/>
            <p:nvPr/>
          </p:nvGrpSpPr>
          <p:grpSpPr bwMode="auto">
            <a:xfrm>
              <a:off x="1151" y="1368"/>
              <a:ext cx="1537" cy="272"/>
              <a:chOff x="4040" y="352"/>
              <a:chExt cx="1536" cy="272"/>
            </a:xfrm>
          </p:grpSpPr>
          <p:sp>
            <p:nvSpPr>
              <p:cNvPr id="21527" name="Line 23"/>
              <p:cNvSpPr>
                <a:spLocks noChangeShapeType="1"/>
              </p:cNvSpPr>
              <p:nvPr/>
            </p:nvSpPr>
            <p:spPr bwMode="auto">
              <a:xfrm>
                <a:off x="4040" y="352"/>
                <a:ext cx="0" cy="272"/>
              </a:xfrm>
              <a:prstGeom prst="line">
                <a:avLst/>
              </a:prstGeom>
              <a:noFill/>
              <a:ln w="12700">
                <a:solidFill>
                  <a:schemeClr val="tx1">
                    <a:lumMod val="50000"/>
                  </a:schemeClr>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1528" name="Line 24"/>
              <p:cNvSpPr>
                <a:spLocks noChangeShapeType="1"/>
              </p:cNvSpPr>
              <p:nvPr/>
            </p:nvSpPr>
            <p:spPr bwMode="auto">
              <a:xfrm>
                <a:off x="5576" y="352"/>
                <a:ext cx="0" cy="272"/>
              </a:xfrm>
              <a:prstGeom prst="line">
                <a:avLst/>
              </a:prstGeom>
              <a:noFill/>
              <a:ln w="12700">
                <a:solidFill>
                  <a:schemeClr val="tx1">
                    <a:lumMod val="50000"/>
                  </a:schemeClr>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1529" name="Line 25"/>
              <p:cNvSpPr>
                <a:spLocks noChangeShapeType="1"/>
              </p:cNvSpPr>
              <p:nvPr/>
            </p:nvSpPr>
            <p:spPr bwMode="auto">
              <a:xfrm>
                <a:off x="4040" y="432"/>
                <a:ext cx="752" cy="0"/>
              </a:xfrm>
              <a:prstGeom prst="line">
                <a:avLst/>
              </a:prstGeom>
              <a:noFill/>
              <a:ln w="12700">
                <a:solidFill>
                  <a:schemeClr val="tx1">
                    <a:lumMod val="50000"/>
                  </a:schemeClr>
                </a:solidFill>
                <a:round/>
                <a:headEnd type="triangle" w="sm" len="lg"/>
                <a:tailEnd type="triangle" w="sm"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1530" name="Line 26"/>
              <p:cNvSpPr>
                <a:spLocks noChangeShapeType="1"/>
              </p:cNvSpPr>
              <p:nvPr/>
            </p:nvSpPr>
            <p:spPr bwMode="auto">
              <a:xfrm>
                <a:off x="4784" y="432"/>
                <a:ext cx="784" cy="0"/>
              </a:xfrm>
              <a:prstGeom prst="line">
                <a:avLst/>
              </a:prstGeom>
              <a:noFill/>
              <a:ln w="12700">
                <a:solidFill>
                  <a:schemeClr val="tx1">
                    <a:lumMod val="50000"/>
                  </a:schemeClr>
                </a:solidFill>
                <a:round/>
                <a:headEnd type="triangle" w="sm" len="lg"/>
                <a:tailEnd type="triangle" w="sm" len="lg"/>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21525" name="Text Box 39"/>
            <p:cNvSpPr txBox="1">
              <a:spLocks noChangeArrowheads="1"/>
            </p:cNvSpPr>
            <p:nvPr/>
          </p:nvSpPr>
          <p:spPr bwMode="auto">
            <a:xfrm>
              <a:off x="1392" y="1200"/>
              <a:ext cx="432" cy="288"/>
            </a:xfrm>
            <a:prstGeom prst="rect">
              <a:avLst/>
            </a:prstGeom>
            <a:noFill/>
            <a:ln w="12700">
              <a:no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en-US" altLang="zh-CN" i="1" dirty="0">
                  <a:solidFill>
                    <a:srgbClr val="002060"/>
                  </a:solidFill>
                </a:rPr>
                <a:t>L</a:t>
              </a:r>
              <a:r>
                <a:rPr lang="en-US" altLang="zh-CN" baseline="-16000" dirty="0">
                  <a:solidFill>
                    <a:srgbClr val="002060"/>
                  </a:solidFill>
                </a:rPr>
                <a:t>1</a:t>
              </a:r>
              <a:endParaRPr lang="en-US" altLang="zh-CN" baseline="-16000" dirty="0">
                <a:solidFill>
                  <a:srgbClr val="002060"/>
                </a:solidFill>
              </a:endParaRPr>
            </a:p>
          </p:txBody>
        </p:sp>
        <p:sp>
          <p:nvSpPr>
            <p:cNvPr id="21526" name="Text Box 40"/>
            <p:cNvSpPr txBox="1">
              <a:spLocks noChangeArrowheads="1"/>
            </p:cNvSpPr>
            <p:nvPr/>
          </p:nvSpPr>
          <p:spPr bwMode="auto">
            <a:xfrm>
              <a:off x="2256" y="1200"/>
              <a:ext cx="432" cy="288"/>
            </a:xfrm>
            <a:prstGeom prst="rect">
              <a:avLst/>
            </a:prstGeom>
            <a:noFill/>
            <a:ln w="12700">
              <a:no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en-US" altLang="zh-CN" i="1" dirty="0">
                  <a:solidFill>
                    <a:srgbClr val="002060"/>
                  </a:solidFill>
                </a:rPr>
                <a:t>L</a:t>
              </a:r>
              <a:r>
                <a:rPr lang="en-US" altLang="zh-CN" baseline="-16000" dirty="0">
                  <a:solidFill>
                    <a:srgbClr val="002060"/>
                  </a:solidFill>
                </a:rPr>
                <a:t>2</a:t>
              </a:r>
              <a:endParaRPr lang="en-US" altLang="zh-CN" baseline="-16000" dirty="0">
                <a:solidFill>
                  <a:srgbClr val="002060"/>
                </a:solidFill>
              </a:endParaRPr>
            </a:p>
          </p:txBody>
        </p:sp>
      </p:grpSp>
      <p:sp>
        <p:nvSpPr>
          <p:cNvPr id="42" name="Rectangle 3"/>
          <p:cNvSpPr>
            <a:spLocks noChangeArrowheads="1"/>
          </p:cNvSpPr>
          <p:nvPr/>
        </p:nvSpPr>
        <p:spPr bwMode="auto">
          <a:xfrm>
            <a:off x="2413000" y="259080"/>
            <a:ext cx="6577965" cy="426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p>
            <a:pPr>
              <a:spcAft>
                <a:spcPts val="0"/>
              </a:spcAft>
            </a:pPr>
            <a:r>
              <a:rPr lang="en-US" altLang="zh-CN" sz="3000" dirty="0">
                <a:solidFill>
                  <a:srgbClr val="CC0000"/>
                </a:solidFill>
                <a:latin typeface="黑体" panose="02010609060101010101" pitchFamily="49" charset="-122"/>
                <a:ea typeface="黑体" panose="02010609060101010101" pitchFamily="49" charset="-122"/>
              </a:rPr>
              <a:t>1.2-6 </a:t>
            </a:r>
            <a:r>
              <a:rPr lang="zh-CN" altLang="en-US" sz="3000" dirty="0">
                <a:solidFill>
                  <a:srgbClr val="CC0000"/>
                </a:solidFill>
                <a:latin typeface="黑体" panose="02010609060101010101" pitchFamily="49" charset="-122"/>
                <a:ea typeface="黑体" panose="02010609060101010101" pitchFamily="49" charset="-122"/>
              </a:rPr>
              <a:t>机械零件设计的一般步骤</a:t>
            </a:r>
            <a:endParaRPr lang="zh-CN" altLang="en-US" sz="3000" dirty="0">
              <a:solidFill>
                <a:srgbClr val="CC0000"/>
              </a:solidFill>
              <a:latin typeface="黑体" panose="02010609060101010101" pitchFamily="49" charset="-122"/>
              <a:ea typeface="黑体" panose="02010609060101010101" pitchFamily="49" charset="-122"/>
            </a:endParaRPr>
          </a:p>
        </p:txBody>
      </p:sp>
      <p:sp>
        <p:nvSpPr>
          <p:cNvPr id="43"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8" name="圆角矩形 7"/>
          <p:cNvSpPr/>
          <p:nvPr/>
        </p:nvSpPr>
        <p:spPr>
          <a:xfrm>
            <a:off x="1303655" y="4334510"/>
            <a:ext cx="5455920" cy="646430"/>
          </a:xfrm>
          <a:prstGeom prst="roundRect">
            <a:avLst/>
          </a:prstGeom>
          <a:noFill/>
          <a:ln w="9525" cap="flat" cmpd="sng" algn="ctr">
            <a:solidFill>
              <a:srgbClr val="C0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9" name="圆角矩形 8"/>
          <p:cNvSpPr/>
          <p:nvPr/>
        </p:nvSpPr>
        <p:spPr>
          <a:xfrm>
            <a:off x="1273175" y="5072380"/>
            <a:ext cx="5455920" cy="646430"/>
          </a:xfrm>
          <a:prstGeom prst="roundRect">
            <a:avLst/>
          </a:prstGeom>
          <a:noFill/>
          <a:ln w="9525" cap="flat" cmpd="sng" algn="ctr">
            <a:solidFill>
              <a:srgbClr val="00B05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250892"/>
                                        </p:tgtEl>
                                        <p:attrNameLst>
                                          <p:attrName>style.visibility</p:attrName>
                                        </p:attrNameLst>
                                      </p:cBhvr>
                                      <p:to>
                                        <p:strVal val="visible"/>
                                      </p:to>
                                    </p:set>
                                    <p:animEffect transition="in" filter="slide(fromTop)">
                                      <p:cBhvr>
                                        <p:cTn id="7" dur="500"/>
                                        <p:tgtEl>
                                          <p:spTgt spid="25089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slide(fromTo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250893"/>
                                        </p:tgtEl>
                                        <p:attrNameLst>
                                          <p:attrName>style.visibility</p:attrName>
                                        </p:attrNameLst>
                                      </p:cBhvr>
                                      <p:to>
                                        <p:strVal val="visible"/>
                                      </p:to>
                                    </p:set>
                                    <p:animEffect transition="in" filter="slide(fromTop)">
                                      <p:cBhvr>
                                        <p:cTn id="17" dur="500"/>
                                        <p:tgtEl>
                                          <p:spTgt spid="250893"/>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1"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slide(fromTop)">
                                      <p:cBhvr>
                                        <p:cTn id="22" dur="500"/>
                                        <p:tgtEl>
                                          <p:spTgt spid="4"/>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slide(fromLeft)">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1" fill="hold" grpId="0" nodeType="clickEffect">
                                  <p:stCondLst>
                                    <p:cond delay="0"/>
                                  </p:stCondLst>
                                  <p:childTnLst>
                                    <p:set>
                                      <p:cBhvr>
                                        <p:cTn id="35" dur="1" fill="hold">
                                          <p:stCondLst>
                                            <p:cond delay="0"/>
                                          </p:stCondLst>
                                        </p:cTn>
                                        <p:tgtEl>
                                          <p:spTgt spid="250886"/>
                                        </p:tgtEl>
                                        <p:attrNameLst>
                                          <p:attrName>style.visibility</p:attrName>
                                        </p:attrNameLst>
                                      </p:cBhvr>
                                      <p:to>
                                        <p:strVal val="visible"/>
                                      </p:to>
                                    </p:set>
                                    <p:animEffect transition="in" filter="slide(fromTop)">
                                      <p:cBhvr>
                                        <p:cTn id="36" dur="500"/>
                                        <p:tgtEl>
                                          <p:spTgt spid="250886"/>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1" fill="hold" grpId="0" nodeType="clickEffect">
                                  <p:stCondLst>
                                    <p:cond delay="0"/>
                                  </p:stCondLst>
                                  <p:childTnLst>
                                    <p:set>
                                      <p:cBhvr>
                                        <p:cTn id="40" dur="1" fill="hold">
                                          <p:stCondLst>
                                            <p:cond delay="0"/>
                                          </p:stCondLst>
                                        </p:cTn>
                                        <p:tgtEl>
                                          <p:spTgt spid="250887"/>
                                        </p:tgtEl>
                                        <p:attrNameLst>
                                          <p:attrName>style.visibility</p:attrName>
                                        </p:attrNameLst>
                                      </p:cBhvr>
                                      <p:to>
                                        <p:strVal val="visible"/>
                                      </p:to>
                                    </p:set>
                                    <p:animEffect transition="in" filter="slide(fromTop)">
                                      <p:cBhvr>
                                        <p:cTn id="41" dur="500"/>
                                        <p:tgtEl>
                                          <p:spTgt spid="250887"/>
                                        </p:tgtEl>
                                      </p:cBhvr>
                                    </p:animEffect>
                                  </p:childTnLst>
                                </p:cTn>
                              </p:par>
                            </p:childTnLst>
                          </p:cTn>
                        </p:par>
                        <p:par>
                          <p:cTn id="42" fill="hold">
                            <p:stCondLst>
                              <p:cond delay="500"/>
                            </p:stCondLst>
                            <p:childTnLst>
                              <p:par>
                                <p:cTn id="43" presetID="12" presetClass="entr" presetSubtype="1" fill="hold" grpId="0" nodeType="afterEffect">
                                  <p:stCondLst>
                                    <p:cond delay="0"/>
                                  </p:stCondLst>
                                  <p:childTnLst>
                                    <p:set>
                                      <p:cBhvr>
                                        <p:cTn id="44" dur="1" fill="hold">
                                          <p:stCondLst>
                                            <p:cond delay="0"/>
                                          </p:stCondLst>
                                        </p:cTn>
                                        <p:tgtEl>
                                          <p:spTgt spid="250894"/>
                                        </p:tgtEl>
                                        <p:attrNameLst>
                                          <p:attrName>style.visibility</p:attrName>
                                        </p:attrNameLst>
                                      </p:cBhvr>
                                      <p:to>
                                        <p:strVal val="visible"/>
                                      </p:to>
                                    </p:set>
                                    <p:animEffect transition="in" filter="slide(fromTop)">
                                      <p:cBhvr>
                                        <p:cTn id="45" dur="500"/>
                                        <p:tgtEl>
                                          <p:spTgt spid="250894"/>
                                        </p:tgtEl>
                                      </p:cBhvr>
                                    </p:animEffect>
                                  </p:childTnLst>
                                </p:cTn>
                              </p:par>
                            </p:childTnLst>
                          </p:cTn>
                        </p:par>
                      </p:childTnLst>
                    </p:cTn>
                  </p:par>
                  <p:par>
                    <p:cTn id="46" fill="hold">
                      <p:stCondLst>
                        <p:cond delay="indefinite"/>
                      </p:stCondLst>
                      <p:childTnLst>
                        <p:par>
                          <p:cTn id="47" fill="hold">
                            <p:stCondLst>
                              <p:cond delay="0"/>
                            </p:stCondLst>
                            <p:childTnLst>
                              <p:par>
                                <p:cTn id="48" presetID="5" presetClass="entr" presetSubtype="10" fill="hold" nodeType="clickEffect">
                                  <p:stCondLst>
                                    <p:cond delay="0"/>
                                  </p:stCondLst>
                                  <p:childTnLst>
                                    <p:set>
                                      <p:cBhvr>
                                        <p:cTn id="49" dur="1" fill="hold">
                                          <p:stCondLst>
                                            <p:cond delay="0"/>
                                          </p:stCondLst>
                                        </p:cTn>
                                        <p:tgtEl>
                                          <p:spTgt spid="5"/>
                                        </p:tgtEl>
                                        <p:attrNameLst>
                                          <p:attrName>style.visibility</p:attrName>
                                        </p:attrNameLst>
                                      </p:cBhvr>
                                      <p:to>
                                        <p:strVal val="visible"/>
                                      </p:to>
                                    </p:set>
                                    <p:animEffect transition="in" filter="checkerboard(across)">
                                      <p:cBhvr>
                                        <p:cTn id="50" dur="500"/>
                                        <p:tgtEl>
                                          <p:spTgt spid="5"/>
                                        </p:tgtEl>
                                      </p:cBhvr>
                                    </p:animEffect>
                                  </p:childTnLst>
                                </p:cTn>
                              </p:par>
                            </p:childTnLst>
                          </p:cTn>
                        </p:par>
                      </p:childTnLst>
                    </p:cTn>
                  </p:par>
                  <p:par>
                    <p:cTn id="51" fill="hold">
                      <p:stCondLst>
                        <p:cond delay="indefinite"/>
                      </p:stCondLst>
                      <p:childTnLst>
                        <p:par>
                          <p:cTn id="52" fill="hold">
                            <p:stCondLst>
                              <p:cond delay="0"/>
                            </p:stCondLst>
                            <p:childTnLst>
                              <p:par>
                                <p:cTn id="53" presetID="21" presetClass="entr" presetSubtype="1"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wheel(1)">
                                      <p:cBhvr>
                                        <p:cTn id="55" dur="2000"/>
                                        <p:tgtEl>
                                          <p:spTgt spid="8"/>
                                        </p:tgtEl>
                                      </p:cBhvr>
                                    </p:animEffect>
                                  </p:childTnLst>
                                </p:cTn>
                              </p:par>
                            </p:childTnLst>
                          </p:cTn>
                        </p:par>
                      </p:childTnLst>
                    </p:cTn>
                  </p:par>
                  <p:par>
                    <p:cTn id="56" fill="hold">
                      <p:stCondLst>
                        <p:cond delay="indefinite"/>
                      </p:stCondLst>
                      <p:childTnLst>
                        <p:par>
                          <p:cTn id="57" fill="hold">
                            <p:stCondLst>
                              <p:cond delay="0"/>
                            </p:stCondLst>
                            <p:childTnLst>
                              <p:par>
                                <p:cTn id="58" presetID="4" presetClass="entr" presetSubtype="32" fill="hold" grpId="0" nodeType="clickEffect">
                                  <p:stCondLst>
                                    <p:cond delay="0"/>
                                  </p:stCondLst>
                                  <p:childTnLst>
                                    <p:set>
                                      <p:cBhvr>
                                        <p:cTn id="59" dur="1" fill="hold">
                                          <p:stCondLst>
                                            <p:cond delay="0"/>
                                          </p:stCondLst>
                                        </p:cTn>
                                        <p:tgtEl>
                                          <p:spTgt spid="250917"/>
                                        </p:tgtEl>
                                        <p:attrNameLst>
                                          <p:attrName>style.visibility</p:attrName>
                                        </p:attrNameLst>
                                      </p:cBhvr>
                                      <p:to>
                                        <p:strVal val="visible"/>
                                      </p:to>
                                    </p:set>
                                    <p:animEffect transition="in" filter="box(out)">
                                      <p:cBhvr>
                                        <p:cTn id="60" dur="500"/>
                                        <p:tgtEl>
                                          <p:spTgt spid="250917"/>
                                        </p:tgtEl>
                                      </p:cBhvr>
                                    </p:animEffect>
                                  </p:childTnLst>
                                </p:cTn>
                              </p:par>
                            </p:childTnLst>
                          </p:cTn>
                        </p:par>
                      </p:childTnLst>
                    </p:cTn>
                  </p:par>
                  <p:par>
                    <p:cTn id="61" fill="hold">
                      <p:stCondLst>
                        <p:cond delay="indefinite"/>
                      </p:stCondLst>
                      <p:childTnLst>
                        <p:par>
                          <p:cTn id="62" fill="hold">
                            <p:stCondLst>
                              <p:cond delay="0"/>
                            </p:stCondLst>
                            <p:childTnLst>
                              <p:par>
                                <p:cTn id="63" presetID="5" presetClass="entr" presetSubtype="10" fill="hold" nodeType="clickEffect">
                                  <p:stCondLst>
                                    <p:cond delay="0"/>
                                  </p:stCondLst>
                                  <p:childTnLst>
                                    <p:set>
                                      <p:cBhvr>
                                        <p:cTn id="64" dur="1" fill="hold">
                                          <p:stCondLst>
                                            <p:cond delay="0"/>
                                          </p:stCondLst>
                                        </p:cTn>
                                        <p:tgtEl>
                                          <p:spTgt spid="6"/>
                                        </p:tgtEl>
                                        <p:attrNameLst>
                                          <p:attrName>style.visibility</p:attrName>
                                        </p:attrNameLst>
                                      </p:cBhvr>
                                      <p:to>
                                        <p:strVal val="visible"/>
                                      </p:to>
                                    </p:set>
                                    <p:animEffect transition="in" filter="checkerboard(across)">
                                      <p:cBhvr>
                                        <p:cTn id="65" dur="500"/>
                                        <p:tgtEl>
                                          <p:spTgt spid="6"/>
                                        </p:tgtEl>
                                      </p:cBhvr>
                                    </p:animEffect>
                                  </p:childTnLst>
                                </p:cTn>
                              </p:par>
                            </p:childTnLst>
                          </p:cTn>
                        </p:par>
                      </p:childTnLst>
                    </p:cTn>
                  </p:par>
                  <p:par>
                    <p:cTn id="66" fill="hold">
                      <p:stCondLst>
                        <p:cond delay="indefinite"/>
                      </p:stCondLst>
                      <p:childTnLst>
                        <p:par>
                          <p:cTn id="67" fill="hold">
                            <p:stCondLst>
                              <p:cond delay="0"/>
                            </p:stCondLst>
                            <p:childTnLst>
                              <p:par>
                                <p:cTn id="68" presetID="21" presetClass="entr" presetSubtype="1" fill="hold" grpId="0" nodeType="clickEffect">
                                  <p:stCondLst>
                                    <p:cond delay="0"/>
                                  </p:stCondLst>
                                  <p:childTnLst>
                                    <p:set>
                                      <p:cBhvr>
                                        <p:cTn id="69" dur="1" fill="hold">
                                          <p:stCondLst>
                                            <p:cond delay="0"/>
                                          </p:stCondLst>
                                        </p:cTn>
                                        <p:tgtEl>
                                          <p:spTgt spid="9"/>
                                        </p:tgtEl>
                                        <p:attrNameLst>
                                          <p:attrName>style.visibility</p:attrName>
                                        </p:attrNameLst>
                                      </p:cBhvr>
                                      <p:to>
                                        <p:strVal val="visible"/>
                                      </p:to>
                                    </p:set>
                                    <p:animEffect transition="in" filter="wheel(1)">
                                      <p:cBhvr>
                                        <p:cTn id="70" dur="2000"/>
                                        <p:tgtEl>
                                          <p:spTgt spid="9"/>
                                        </p:tgtEl>
                                      </p:cBhvr>
                                    </p:animEffect>
                                  </p:childTnLst>
                                </p:cTn>
                              </p:par>
                            </p:childTnLst>
                          </p:cTn>
                        </p:par>
                      </p:childTnLst>
                    </p:cTn>
                  </p:par>
                  <p:par>
                    <p:cTn id="71" fill="hold">
                      <p:stCondLst>
                        <p:cond delay="indefinite"/>
                      </p:stCondLst>
                      <p:childTnLst>
                        <p:par>
                          <p:cTn id="72" fill="hold">
                            <p:stCondLst>
                              <p:cond delay="0"/>
                            </p:stCondLst>
                            <p:childTnLst>
                              <p:par>
                                <p:cTn id="73" presetID="4" presetClass="entr" presetSubtype="32" fill="hold" grpId="0" nodeType="clickEffect">
                                  <p:stCondLst>
                                    <p:cond delay="0"/>
                                  </p:stCondLst>
                                  <p:childTnLst>
                                    <p:set>
                                      <p:cBhvr>
                                        <p:cTn id="74" dur="1" fill="hold">
                                          <p:stCondLst>
                                            <p:cond delay="0"/>
                                          </p:stCondLst>
                                        </p:cTn>
                                        <p:tgtEl>
                                          <p:spTgt spid="250918"/>
                                        </p:tgtEl>
                                        <p:attrNameLst>
                                          <p:attrName>style.visibility</p:attrName>
                                        </p:attrNameLst>
                                      </p:cBhvr>
                                      <p:to>
                                        <p:strVal val="visible"/>
                                      </p:to>
                                    </p:set>
                                    <p:animEffect transition="in" filter="box(out)">
                                      <p:cBhvr>
                                        <p:cTn id="75" dur="500"/>
                                        <p:tgtEl>
                                          <p:spTgt spid="250918"/>
                                        </p:tgtEl>
                                      </p:cBhvr>
                                    </p:animEffect>
                                  </p:childTnLst>
                                </p:cTn>
                              </p:par>
                            </p:childTnLst>
                          </p:cTn>
                        </p:par>
                      </p:childTnLst>
                    </p:cTn>
                  </p:par>
                  <p:par>
                    <p:cTn id="76" fill="hold">
                      <p:stCondLst>
                        <p:cond delay="indefinite"/>
                      </p:stCondLst>
                      <p:childTnLst>
                        <p:par>
                          <p:cTn id="77" fill="hold">
                            <p:stCondLst>
                              <p:cond delay="0"/>
                            </p:stCondLst>
                            <p:childTnLst>
                              <p:par>
                                <p:cTn id="78" presetID="12" presetClass="entr" presetSubtype="1" fill="hold" grpId="0" nodeType="clickEffect">
                                  <p:stCondLst>
                                    <p:cond delay="0"/>
                                  </p:stCondLst>
                                  <p:childTnLst>
                                    <p:set>
                                      <p:cBhvr>
                                        <p:cTn id="79" dur="1" fill="hold">
                                          <p:stCondLst>
                                            <p:cond delay="0"/>
                                          </p:stCondLst>
                                        </p:cTn>
                                        <p:tgtEl>
                                          <p:spTgt spid="250888"/>
                                        </p:tgtEl>
                                        <p:attrNameLst>
                                          <p:attrName>style.visibility</p:attrName>
                                        </p:attrNameLst>
                                      </p:cBhvr>
                                      <p:to>
                                        <p:strVal val="visible"/>
                                      </p:to>
                                    </p:set>
                                    <p:animEffect transition="in" filter="slide(fromTop)">
                                      <p:cBhvr>
                                        <p:cTn id="80" dur="500"/>
                                        <p:tgtEl>
                                          <p:spTgt spid="2508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6" grpId="0" autoUpdateAnimBg="0"/>
      <p:bldP spid="250887" grpId="0" autoUpdateAnimBg="0"/>
      <p:bldP spid="250888" grpId="0" autoUpdateAnimBg="0"/>
      <p:bldP spid="250892" grpId="0" autoUpdateAnimBg="0"/>
      <p:bldP spid="250893" grpId="0" autoUpdateAnimBg="0"/>
      <p:bldP spid="250894" grpId="0" autoUpdateAnimBg="0"/>
      <p:bldP spid="250917" grpId="0" bldLvl="0" animBg="1" autoUpdateAnimBg="0"/>
      <p:bldP spid="250918" grpId="0" bldLvl="0" animBg="1" autoUpdateAnimBg="0"/>
      <p:bldP spid="8" grpId="0" animBg="1"/>
      <p:bldP spid="9"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p:nvPr>
        </p:nvSpPr>
        <p:spPr bwMode="auto">
          <a:xfrm>
            <a:off x="5257800" y="685800"/>
            <a:ext cx="16002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spcAft>
                <a:spcPts val="0"/>
              </a:spcAft>
            </a:pPr>
            <a:r>
              <a:rPr lang="zh-CN" altLang="en-US" sz="800" smtClean="0">
                <a:solidFill>
                  <a:schemeClr val="bg1"/>
                </a:solidFill>
                <a:latin typeface="华文中宋" panose="02010600040101010101" pitchFamily="2" charset="-122"/>
                <a:ea typeface="华文中宋" panose="02010600040101010101" pitchFamily="2" charset="-122"/>
              </a:rPr>
              <a:t>机械零件材料的选用原则</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latin typeface="楷体_GB2312" pitchFamily="49" charset="-122"/>
              <a:ea typeface="楷体_GB2312" pitchFamily="49" charset="-122"/>
            </a:endParaRPr>
          </a:p>
        </p:txBody>
      </p:sp>
      <p:sp>
        <p:nvSpPr>
          <p:cNvPr id="19458" name="Rectangle 3"/>
          <p:cNvSpPr>
            <a:spLocks noChangeArrowheads="1"/>
          </p:cNvSpPr>
          <p:nvPr/>
        </p:nvSpPr>
        <p:spPr bwMode="auto">
          <a:xfrm>
            <a:off x="3077845" y="259080"/>
            <a:ext cx="5913755" cy="426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p>
            <a:pPr>
              <a:spcAft>
                <a:spcPts val="0"/>
              </a:spcAft>
            </a:pPr>
            <a:r>
              <a:rPr lang="en-US" altLang="zh-CN" sz="3000" dirty="0">
                <a:solidFill>
                  <a:srgbClr val="CC0000"/>
                </a:solidFill>
                <a:latin typeface="黑体" panose="02010609060101010101" pitchFamily="49" charset="-122"/>
                <a:ea typeface="黑体" panose="02010609060101010101" pitchFamily="49" charset="-122"/>
              </a:rPr>
              <a:t>1.2-7 </a:t>
            </a:r>
            <a:r>
              <a:rPr lang="zh-CN" altLang="en-US" sz="3000" dirty="0">
                <a:solidFill>
                  <a:srgbClr val="CC0000"/>
                </a:solidFill>
                <a:latin typeface="黑体" panose="02010609060101010101" pitchFamily="49" charset="-122"/>
                <a:ea typeface="黑体" panose="02010609060101010101" pitchFamily="49" charset="-122"/>
              </a:rPr>
              <a:t>零件的材料与选用</a:t>
            </a:r>
            <a:endParaRPr lang="zh-CN" altLang="en-US" sz="3000" dirty="0">
              <a:solidFill>
                <a:srgbClr val="CC0000"/>
              </a:solidFill>
              <a:latin typeface="黑体" panose="02010609060101010101" pitchFamily="49" charset="-122"/>
              <a:ea typeface="黑体" panose="02010609060101010101" pitchFamily="49" charset="-122"/>
            </a:endParaRPr>
          </a:p>
        </p:txBody>
      </p:sp>
      <p:sp>
        <p:nvSpPr>
          <p:cNvPr id="88075" name="Text Box 11"/>
          <p:cNvSpPr txBox="1">
            <a:spLocks noChangeArrowheads="1"/>
          </p:cNvSpPr>
          <p:nvPr/>
        </p:nvSpPr>
        <p:spPr bwMode="auto">
          <a:xfrm>
            <a:off x="3193106" y="3021129"/>
            <a:ext cx="415290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tIns="0">
            <a:spAutoFit/>
          </a:bodyPr>
          <a:lstStyle/>
          <a:p>
            <a:pPr>
              <a:spcAft>
                <a:spcPts val="0"/>
              </a:spcAft>
            </a:pPr>
            <a:r>
              <a:rPr lang="zh-CN" altLang="en-US" dirty="0">
                <a:solidFill>
                  <a:srgbClr val="000099"/>
                </a:solidFill>
                <a:latin typeface="Times New Roman" panose="02020603050405020304" pitchFamily="18" charset="0"/>
              </a:rPr>
              <a:t>：铝</a:t>
            </a:r>
            <a:r>
              <a:rPr lang="en-US" altLang="zh-CN" dirty="0">
                <a:solidFill>
                  <a:srgbClr val="000099"/>
                </a:solidFill>
                <a:latin typeface="Times New Roman" panose="02020603050405020304" pitchFamily="18" charset="0"/>
              </a:rPr>
              <a:t>(LY12)</a:t>
            </a:r>
            <a:r>
              <a:rPr lang="zh-CN" altLang="en-US" dirty="0">
                <a:solidFill>
                  <a:srgbClr val="000099"/>
                </a:solidFill>
                <a:latin typeface="Times New Roman" panose="02020603050405020304" pitchFamily="18" charset="0"/>
              </a:rPr>
              <a:t>、铜</a:t>
            </a:r>
            <a:r>
              <a:rPr lang="en-US" altLang="zh-CN" dirty="0">
                <a:solidFill>
                  <a:srgbClr val="000099"/>
                </a:solidFill>
                <a:latin typeface="Times New Roman" panose="02020603050405020304" pitchFamily="18" charset="0"/>
              </a:rPr>
              <a:t>(ZCuSn10P1)…...</a:t>
            </a:r>
            <a:endParaRPr lang="en-US" altLang="zh-CN" dirty="0">
              <a:solidFill>
                <a:srgbClr val="000099"/>
              </a:solidFill>
              <a:latin typeface="Times New Roman" panose="02020603050405020304" pitchFamily="18" charset="0"/>
            </a:endParaRPr>
          </a:p>
        </p:txBody>
      </p:sp>
      <p:grpSp>
        <p:nvGrpSpPr>
          <p:cNvPr id="2" name="Group 40"/>
          <p:cNvGrpSpPr/>
          <p:nvPr/>
        </p:nvGrpSpPr>
        <p:grpSpPr bwMode="auto">
          <a:xfrm>
            <a:off x="1726256" y="1702234"/>
            <a:ext cx="1466850" cy="1676400"/>
            <a:chOff x="1107" y="775"/>
            <a:chExt cx="924" cy="1056"/>
          </a:xfrm>
        </p:grpSpPr>
        <p:sp>
          <p:nvSpPr>
            <p:cNvPr id="19461" name="Text Box 6"/>
            <p:cNvSpPr txBox="1">
              <a:spLocks noChangeArrowheads="1"/>
            </p:cNvSpPr>
            <p:nvPr/>
          </p:nvSpPr>
          <p:spPr bwMode="auto">
            <a:xfrm>
              <a:off x="1163" y="775"/>
              <a:ext cx="82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tIns="0">
              <a:spAutoFit/>
            </a:bodyPr>
            <a:lstStyle/>
            <a:p>
              <a:r>
                <a:rPr lang="zh-CN" altLang="en-US">
                  <a:solidFill>
                    <a:srgbClr val="000099"/>
                  </a:solidFill>
                  <a:latin typeface="Times New Roman" panose="02020603050405020304" pitchFamily="18" charset="0"/>
                </a:rPr>
                <a:t>黑色金属</a:t>
              </a:r>
              <a:endParaRPr lang="zh-CN" altLang="en-US">
                <a:solidFill>
                  <a:srgbClr val="000099"/>
                </a:solidFill>
                <a:latin typeface="Times New Roman" panose="02020603050405020304" pitchFamily="18" charset="0"/>
              </a:endParaRPr>
            </a:p>
          </p:txBody>
        </p:sp>
        <p:sp>
          <p:nvSpPr>
            <p:cNvPr id="19462" name="Text Box 7"/>
            <p:cNvSpPr txBox="1">
              <a:spLocks noChangeArrowheads="1"/>
            </p:cNvSpPr>
            <p:nvPr/>
          </p:nvSpPr>
          <p:spPr bwMode="auto">
            <a:xfrm>
              <a:off x="1211" y="1591"/>
              <a:ext cx="82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tIns="0">
              <a:spAutoFit/>
            </a:bodyPr>
            <a:lstStyle/>
            <a:p>
              <a:r>
                <a:rPr lang="zh-CN" altLang="en-US">
                  <a:solidFill>
                    <a:srgbClr val="000099"/>
                  </a:solidFill>
                  <a:latin typeface="Times New Roman" panose="02020603050405020304" pitchFamily="18" charset="0"/>
                </a:rPr>
                <a:t>有色金属</a:t>
              </a:r>
              <a:endParaRPr lang="zh-CN" altLang="en-US">
                <a:solidFill>
                  <a:srgbClr val="000099"/>
                </a:solidFill>
                <a:latin typeface="Times New Roman" panose="02020603050405020304" pitchFamily="18" charset="0"/>
              </a:endParaRPr>
            </a:p>
          </p:txBody>
        </p:sp>
        <p:sp>
          <p:nvSpPr>
            <p:cNvPr id="19463" name="AutoShape 18"/>
            <p:cNvSpPr/>
            <p:nvPr/>
          </p:nvSpPr>
          <p:spPr bwMode="auto">
            <a:xfrm>
              <a:off x="1107" y="858"/>
              <a:ext cx="96" cy="864"/>
            </a:xfrm>
            <a:prstGeom prst="leftBrace">
              <a:avLst>
                <a:gd name="adj1" fmla="val 75000"/>
                <a:gd name="adj2" fmla="val 50000"/>
              </a:avLst>
            </a:prstGeom>
            <a:noFill/>
            <a:ln w="19050">
              <a:solidFill>
                <a:srgbClr val="000099"/>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3" name="Group 44"/>
          <p:cNvGrpSpPr/>
          <p:nvPr/>
        </p:nvGrpSpPr>
        <p:grpSpPr bwMode="auto">
          <a:xfrm>
            <a:off x="3116906" y="1452996"/>
            <a:ext cx="633412" cy="1187450"/>
            <a:chOff x="1935" y="522"/>
            <a:chExt cx="399" cy="748"/>
          </a:xfrm>
        </p:grpSpPr>
        <p:sp>
          <p:nvSpPr>
            <p:cNvPr id="19465" name="Text Box 9"/>
            <p:cNvSpPr txBox="1">
              <a:spLocks noChangeArrowheads="1"/>
            </p:cNvSpPr>
            <p:nvPr/>
          </p:nvSpPr>
          <p:spPr bwMode="auto">
            <a:xfrm>
              <a:off x="2042" y="522"/>
              <a:ext cx="2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tIns="0">
              <a:spAutoFit/>
            </a:bodyPr>
            <a:lstStyle/>
            <a:p>
              <a:r>
                <a:rPr lang="zh-CN" altLang="en-US">
                  <a:solidFill>
                    <a:srgbClr val="000099"/>
                  </a:solidFill>
                  <a:latin typeface="Times New Roman" panose="02020603050405020304" pitchFamily="18" charset="0"/>
                </a:rPr>
                <a:t>铁</a:t>
              </a:r>
              <a:endParaRPr lang="zh-CN" altLang="en-US">
                <a:solidFill>
                  <a:srgbClr val="000099"/>
                </a:solidFill>
                <a:latin typeface="Times New Roman" panose="02020603050405020304" pitchFamily="18" charset="0"/>
              </a:endParaRPr>
            </a:p>
          </p:txBody>
        </p:sp>
        <p:sp>
          <p:nvSpPr>
            <p:cNvPr id="19466" name="Text Box 10"/>
            <p:cNvSpPr txBox="1">
              <a:spLocks noChangeArrowheads="1"/>
            </p:cNvSpPr>
            <p:nvPr/>
          </p:nvSpPr>
          <p:spPr bwMode="auto">
            <a:xfrm>
              <a:off x="2042" y="1030"/>
              <a:ext cx="2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tIns="0">
              <a:spAutoFit/>
            </a:bodyPr>
            <a:lstStyle/>
            <a:p>
              <a:r>
                <a:rPr lang="zh-CN" altLang="en-US">
                  <a:solidFill>
                    <a:srgbClr val="000099"/>
                  </a:solidFill>
                  <a:latin typeface="Times New Roman" panose="02020603050405020304" pitchFamily="18" charset="0"/>
                </a:rPr>
                <a:t>钢</a:t>
              </a:r>
              <a:endParaRPr lang="zh-CN" altLang="en-US">
                <a:solidFill>
                  <a:srgbClr val="000099"/>
                </a:solidFill>
                <a:latin typeface="Times New Roman" panose="02020603050405020304" pitchFamily="18" charset="0"/>
              </a:endParaRPr>
            </a:p>
          </p:txBody>
        </p:sp>
        <p:sp>
          <p:nvSpPr>
            <p:cNvPr id="19467" name="AutoShape 19"/>
            <p:cNvSpPr/>
            <p:nvPr/>
          </p:nvSpPr>
          <p:spPr bwMode="auto">
            <a:xfrm>
              <a:off x="1935" y="618"/>
              <a:ext cx="96" cy="528"/>
            </a:xfrm>
            <a:prstGeom prst="leftBrace">
              <a:avLst>
                <a:gd name="adj1" fmla="val 45808"/>
                <a:gd name="adj2" fmla="val 50000"/>
              </a:avLst>
            </a:prstGeom>
            <a:noFill/>
            <a:ln w="19050">
              <a:solidFill>
                <a:srgbClr val="000099"/>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9470" name="Text Box 8"/>
          <p:cNvSpPr txBox="1">
            <a:spLocks noChangeArrowheads="1"/>
          </p:cNvSpPr>
          <p:nvPr/>
        </p:nvSpPr>
        <p:spPr bwMode="auto">
          <a:xfrm>
            <a:off x="394970" y="5227320"/>
            <a:ext cx="130048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tIns="0">
            <a:spAutoFit/>
          </a:bodyPr>
          <a:lstStyle/>
          <a:p>
            <a:pPr>
              <a:spcAft>
                <a:spcPts val="0"/>
              </a:spcAft>
            </a:pPr>
            <a:r>
              <a:rPr lang="zh-CN" altLang="en-US" dirty="0">
                <a:ln>
                  <a:solidFill>
                    <a:sysClr val="windowText" lastClr="000000"/>
                  </a:solidFill>
                </a:ln>
                <a:solidFill>
                  <a:srgbClr val="000099"/>
                </a:solidFill>
                <a:latin typeface="华文中宋" panose="02010600040101010101" pitchFamily="2" charset="-122"/>
              </a:rPr>
              <a:t>复合材料</a:t>
            </a:r>
            <a:endParaRPr lang="zh-CN" altLang="en-US" dirty="0">
              <a:ln>
                <a:solidFill>
                  <a:sysClr val="windowText" lastClr="000000"/>
                </a:solidFill>
              </a:ln>
              <a:solidFill>
                <a:srgbClr val="000099"/>
              </a:solidFill>
              <a:latin typeface="华文中宋" panose="02010600040101010101" pitchFamily="2" charset="-122"/>
            </a:endParaRPr>
          </a:p>
        </p:txBody>
      </p:sp>
      <p:grpSp>
        <p:nvGrpSpPr>
          <p:cNvPr id="8" name="组合 7"/>
          <p:cNvGrpSpPr/>
          <p:nvPr/>
        </p:nvGrpSpPr>
        <p:grpSpPr>
          <a:xfrm>
            <a:off x="1812925" y="3791585"/>
            <a:ext cx="1916430" cy="916940"/>
            <a:chOff x="2808" y="6488"/>
            <a:chExt cx="3018" cy="1444"/>
          </a:xfrm>
        </p:grpSpPr>
        <p:sp>
          <p:nvSpPr>
            <p:cNvPr id="19469" name="Text Box 5"/>
            <p:cNvSpPr txBox="1">
              <a:spLocks noChangeArrowheads="1"/>
            </p:cNvSpPr>
            <p:nvPr/>
          </p:nvSpPr>
          <p:spPr bwMode="auto">
            <a:xfrm>
              <a:off x="3048" y="6488"/>
              <a:ext cx="249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tIns="0">
              <a:spAutoFit/>
            </a:bodyPr>
            <a:lstStyle/>
            <a:p>
              <a:r>
                <a:rPr lang="zh-CN" altLang="en-US">
                  <a:solidFill>
                    <a:srgbClr val="000099"/>
                  </a:solidFill>
                  <a:latin typeface="Times New Roman" panose="02020603050405020304" pitchFamily="18" charset="0"/>
                </a:rPr>
                <a:t>高分子材料</a:t>
              </a:r>
              <a:endParaRPr lang="zh-CN" altLang="en-US">
                <a:solidFill>
                  <a:srgbClr val="000099"/>
                </a:solidFill>
                <a:latin typeface="Times New Roman" panose="02020603050405020304" pitchFamily="18" charset="0"/>
              </a:endParaRPr>
            </a:p>
          </p:txBody>
        </p:sp>
        <p:sp>
          <p:nvSpPr>
            <p:cNvPr id="19471" name="Text Box 17"/>
            <p:cNvSpPr txBox="1">
              <a:spLocks noChangeArrowheads="1"/>
            </p:cNvSpPr>
            <p:nvPr/>
          </p:nvSpPr>
          <p:spPr bwMode="auto">
            <a:xfrm>
              <a:off x="3048" y="7328"/>
              <a:ext cx="2778" cy="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tIns="0">
              <a:spAutoFit/>
            </a:bodyPr>
            <a:lstStyle/>
            <a:p>
              <a:r>
                <a:rPr lang="zh-CN" altLang="en-US">
                  <a:solidFill>
                    <a:srgbClr val="000099"/>
                  </a:solidFill>
                  <a:latin typeface="华文中宋" panose="02010600040101010101" pitchFamily="2" charset="-122"/>
                </a:rPr>
                <a:t>陶瓷材料</a:t>
              </a:r>
              <a:endParaRPr lang="zh-CN" altLang="en-US">
                <a:solidFill>
                  <a:srgbClr val="000099"/>
                </a:solidFill>
                <a:latin typeface="华文中宋" panose="02010600040101010101" pitchFamily="2" charset="-122"/>
              </a:endParaRPr>
            </a:p>
          </p:txBody>
        </p:sp>
        <p:sp>
          <p:nvSpPr>
            <p:cNvPr id="19472" name="AutoShape 20"/>
            <p:cNvSpPr/>
            <p:nvPr/>
          </p:nvSpPr>
          <p:spPr bwMode="auto">
            <a:xfrm>
              <a:off x="2808" y="6696"/>
              <a:ext cx="320" cy="1048"/>
            </a:xfrm>
            <a:prstGeom prst="leftBrace">
              <a:avLst>
                <a:gd name="adj1" fmla="val 41644"/>
                <a:gd name="adj2" fmla="val 50000"/>
              </a:avLst>
            </a:prstGeom>
            <a:noFill/>
            <a:ln w="19050">
              <a:solidFill>
                <a:srgbClr val="000099"/>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 name="Group 39"/>
          <p:cNvGrpSpPr/>
          <p:nvPr/>
        </p:nvGrpSpPr>
        <p:grpSpPr bwMode="auto">
          <a:xfrm>
            <a:off x="273693" y="2235634"/>
            <a:ext cx="1581150" cy="2192337"/>
            <a:chOff x="144" y="1165"/>
            <a:chExt cx="996" cy="1381"/>
          </a:xfrm>
        </p:grpSpPr>
        <p:sp>
          <p:nvSpPr>
            <p:cNvPr id="19474" name="Text Box 4"/>
            <p:cNvSpPr txBox="1">
              <a:spLocks noChangeArrowheads="1"/>
            </p:cNvSpPr>
            <p:nvPr/>
          </p:nvSpPr>
          <p:spPr bwMode="auto">
            <a:xfrm>
              <a:off x="144" y="1165"/>
              <a:ext cx="821"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tIns="0">
              <a:spAutoFit/>
            </a:bodyPr>
            <a:lstStyle/>
            <a:p>
              <a:r>
                <a:rPr lang="zh-CN" altLang="en-US" b="1">
                  <a:solidFill>
                    <a:srgbClr val="000099"/>
                  </a:solidFill>
                  <a:latin typeface="Times New Roman" panose="02020603050405020304" pitchFamily="18" charset="0"/>
                </a:rPr>
                <a:t>金属材料</a:t>
              </a:r>
              <a:endParaRPr lang="zh-CN" altLang="en-US" b="1">
                <a:solidFill>
                  <a:srgbClr val="000099"/>
                </a:solidFill>
                <a:latin typeface="Times New Roman" panose="02020603050405020304" pitchFamily="18" charset="0"/>
              </a:endParaRPr>
            </a:p>
          </p:txBody>
        </p:sp>
        <p:sp>
          <p:nvSpPr>
            <p:cNvPr id="19475" name="Text Box 21"/>
            <p:cNvSpPr txBox="1">
              <a:spLocks noChangeArrowheads="1"/>
            </p:cNvSpPr>
            <p:nvPr/>
          </p:nvSpPr>
          <p:spPr bwMode="auto">
            <a:xfrm>
              <a:off x="144" y="2304"/>
              <a:ext cx="996"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tIns="0">
              <a:spAutoFit/>
            </a:bodyPr>
            <a:lstStyle/>
            <a:p>
              <a:r>
                <a:rPr lang="zh-CN" altLang="en-US" b="1">
                  <a:ln>
                    <a:solidFill>
                      <a:schemeClr val="accent1">
                        <a:lumMod val="50000"/>
                      </a:schemeClr>
                    </a:solidFill>
                  </a:ln>
                  <a:solidFill>
                    <a:schemeClr val="accent5">
                      <a:lumMod val="50000"/>
                    </a:schemeClr>
                  </a:solidFill>
                  <a:latin typeface="华文中宋" panose="02010600040101010101" pitchFamily="2" charset="-122"/>
                </a:rPr>
                <a:t>非</a:t>
              </a:r>
              <a:r>
                <a:rPr lang="zh-CN" altLang="en-US">
                  <a:ln>
                    <a:solidFill>
                      <a:schemeClr val="accent1">
                        <a:lumMod val="50000"/>
                      </a:schemeClr>
                    </a:solidFill>
                  </a:ln>
                  <a:solidFill>
                    <a:schemeClr val="accent5">
                      <a:lumMod val="50000"/>
                    </a:schemeClr>
                  </a:solidFill>
                  <a:latin typeface="华文中宋" panose="02010600040101010101" pitchFamily="2" charset="-122"/>
                </a:rPr>
                <a:t>金属材料</a:t>
              </a:r>
              <a:endParaRPr lang="zh-CN" altLang="en-US">
                <a:ln>
                  <a:solidFill>
                    <a:schemeClr val="accent1">
                      <a:lumMod val="50000"/>
                    </a:schemeClr>
                  </a:solidFill>
                </a:ln>
                <a:solidFill>
                  <a:schemeClr val="accent5">
                    <a:lumMod val="50000"/>
                  </a:schemeClr>
                </a:solidFill>
                <a:latin typeface="华文中宋" panose="02010600040101010101" pitchFamily="2" charset="-122"/>
              </a:endParaRPr>
            </a:p>
          </p:txBody>
        </p:sp>
      </p:grpSp>
      <p:sp>
        <p:nvSpPr>
          <p:cNvPr id="88093" name="Text Box 29"/>
          <p:cNvSpPr txBox="1">
            <a:spLocks noChangeArrowheads="1"/>
          </p:cNvSpPr>
          <p:nvPr/>
        </p:nvSpPr>
        <p:spPr bwMode="auto">
          <a:xfrm>
            <a:off x="244041" y="914243"/>
            <a:ext cx="29260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Aft>
                <a:spcPts val="0"/>
              </a:spcAft>
            </a:pPr>
            <a:r>
              <a:rPr lang="zh-CN" altLang="en-US" sz="2400" dirty="0">
                <a:solidFill>
                  <a:srgbClr val="0000FF"/>
                </a:solidFill>
                <a:latin typeface="黑体" panose="02010609060101010101" pitchFamily="49" charset="-122"/>
                <a:ea typeface="黑体" panose="02010609060101010101" pitchFamily="49" charset="-122"/>
              </a:rPr>
              <a:t>一、常用的工程材料</a:t>
            </a:r>
            <a:endParaRPr lang="zh-CN" altLang="en-US" sz="2400" dirty="0">
              <a:solidFill>
                <a:srgbClr val="0000FF"/>
              </a:solidFill>
              <a:latin typeface="黑体" panose="02010609060101010101" pitchFamily="49" charset="-122"/>
              <a:ea typeface="黑体" panose="02010609060101010101" pitchFamily="49" charset="-122"/>
            </a:endParaRPr>
          </a:p>
        </p:txBody>
      </p:sp>
      <p:pic>
        <p:nvPicPr>
          <p:cNvPr id="88096" name="Picture 32"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042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105" name="Text Box 41"/>
          <p:cNvSpPr txBox="1">
            <a:spLocks noChangeArrowheads="1"/>
          </p:cNvSpPr>
          <p:nvPr/>
        </p:nvSpPr>
        <p:spPr bwMode="auto">
          <a:xfrm>
            <a:off x="3647131" y="3745346"/>
            <a:ext cx="381508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Aft>
                <a:spcPts val="0"/>
              </a:spcAft>
            </a:pPr>
            <a:r>
              <a:rPr lang="zh-CN" altLang="en-US" dirty="0">
                <a:solidFill>
                  <a:srgbClr val="000099"/>
                </a:solidFill>
                <a:latin typeface="Times New Roman" panose="02020603050405020304" pitchFamily="18" charset="0"/>
              </a:rPr>
              <a:t>：工程塑料、橡胶、合成纤维</a:t>
            </a:r>
            <a:endParaRPr lang="zh-CN" altLang="en-US" dirty="0">
              <a:solidFill>
                <a:srgbClr val="000099"/>
              </a:solidFill>
              <a:latin typeface="Times New Roman" panose="02020603050405020304" pitchFamily="18" charset="0"/>
            </a:endParaRPr>
          </a:p>
        </p:txBody>
      </p:sp>
      <p:sp>
        <p:nvSpPr>
          <p:cNvPr id="88106" name="Text Box 42"/>
          <p:cNvSpPr txBox="1">
            <a:spLocks noChangeArrowheads="1"/>
          </p:cNvSpPr>
          <p:nvPr/>
        </p:nvSpPr>
        <p:spPr bwMode="auto">
          <a:xfrm>
            <a:off x="3719308" y="2253270"/>
            <a:ext cx="5343037"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Aft>
                <a:spcPts val="0"/>
              </a:spcAft>
            </a:pPr>
            <a:r>
              <a:rPr lang="en-US" altLang="zh-CN" dirty="0">
                <a:solidFill>
                  <a:srgbClr val="000099"/>
                </a:solidFill>
                <a:latin typeface="Times New Roman" panose="02020603050405020304" pitchFamily="18" charset="0"/>
              </a:rPr>
              <a:t> </a:t>
            </a:r>
            <a:r>
              <a:rPr lang="zh-CN" altLang="en-US" dirty="0">
                <a:solidFill>
                  <a:srgbClr val="000099"/>
                </a:solidFill>
                <a:latin typeface="Times New Roman" panose="02020603050405020304" pitchFamily="18" charset="0"/>
              </a:rPr>
              <a:t>：低碳钢、中碳钢、高碳钢、合金钢</a:t>
            </a:r>
            <a:r>
              <a:rPr lang="en-US" altLang="zh-CN" dirty="0">
                <a:solidFill>
                  <a:srgbClr val="000099"/>
                </a:solidFill>
                <a:latin typeface="Times New Roman" panose="02020603050405020304" pitchFamily="18" charset="0"/>
              </a:rPr>
              <a:t>…</a:t>
            </a:r>
            <a:endParaRPr lang="en-US" altLang="zh-CN" dirty="0">
              <a:solidFill>
                <a:srgbClr val="000099"/>
              </a:solidFill>
              <a:latin typeface="Times New Roman" panose="02020603050405020304" pitchFamily="18" charset="0"/>
            </a:endParaRPr>
          </a:p>
          <a:p>
            <a:pPr>
              <a:spcBef>
                <a:spcPts val="0"/>
              </a:spcBef>
            </a:pPr>
            <a:r>
              <a:rPr lang="en-US" altLang="zh-CN" dirty="0">
                <a:solidFill>
                  <a:srgbClr val="000099"/>
                </a:solidFill>
                <a:latin typeface="Times New Roman" panose="02020603050405020304" pitchFamily="18" charset="0"/>
              </a:rPr>
              <a:t>(</a:t>
            </a:r>
            <a:r>
              <a:rPr lang="zh-CN" altLang="en-US" dirty="0">
                <a:solidFill>
                  <a:srgbClr val="000099"/>
                </a:solidFill>
                <a:latin typeface="Times New Roman" panose="02020603050405020304" pitchFamily="18" charset="0"/>
              </a:rPr>
              <a:t>如：</a:t>
            </a:r>
            <a:r>
              <a:rPr lang="en-US" altLang="zh-CN" dirty="0">
                <a:solidFill>
                  <a:srgbClr val="000099"/>
                </a:solidFill>
                <a:latin typeface="Times New Roman" panose="02020603050405020304" pitchFamily="18" charset="0"/>
              </a:rPr>
              <a:t>08F</a:t>
            </a:r>
            <a:r>
              <a:rPr lang="zh-CN" altLang="en-US" dirty="0">
                <a:solidFill>
                  <a:srgbClr val="000099"/>
                </a:solidFill>
                <a:latin typeface="Times New Roman" panose="02020603050405020304" pitchFamily="18" charset="0"/>
              </a:rPr>
              <a:t>　　 </a:t>
            </a:r>
            <a:r>
              <a:rPr lang="en-US" altLang="zh-CN" dirty="0">
                <a:solidFill>
                  <a:srgbClr val="000099"/>
                </a:solidFill>
                <a:latin typeface="Times New Roman" panose="02020603050405020304" pitchFamily="18" charset="0"/>
              </a:rPr>
              <a:t>45</a:t>
            </a:r>
            <a:r>
              <a:rPr lang="zh-CN" altLang="en-US" dirty="0">
                <a:solidFill>
                  <a:srgbClr val="000099"/>
                </a:solidFill>
                <a:latin typeface="Times New Roman" panose="02020603050405020304" pitchFamily="18" charset="0"/>
              </a:rPr>
              <a:t>　  　  </a:t>
            </a:r>
            <a:r>
              <a:rPr lang="en-US" altLang="zh-CN" dirty="0">
                <a:solidFill>
                  <a:srgbClr val="000099"/>
                </a:solidFill>
                <a:latin typeface="Times New Roman" panose="02020603050405020304" pitchFamily="18" charset="0"/>
              </a:rPr>
              <a:t>60</a:t>
            </a:r>
            <a:r>
              <a:rPr lang="zh-CN" altLang="en-US" dirty="0">
                <a:solidFill>
                  <a:srgbClr val="000099"/>
                </a:solidFill>
                <a:latin typeface="Times New Roman" panose="02020603050405020304" pitchFamily="18" charset="0"/>
              </a:rPr>
              <a:t>　 　 </a:t>
            </a:r>
            <a:r>
              <a:rPr lang="en-US" altLang="zh-CN" dirty="0">
                <a:solidFill>
                  <a:srgbClr val="000099"/>
                </a:solidFill>
                <a:latin typeface="Times New Roman" panose="02020603050405020304" pitchFamily="18" charset="0"/>
              </a:rPr>
              <a:t>1Cr18</a:t>
            </a:r>
            <a:r>
              <a:rPr lang="zh-CN" altLang="en-US" dirty="0">
                <a:solidFill>
                  <a:srgbClr val="000099"/>
                </a:solidFill>
                <a:latin typeface="Times New Roman" panose="02020603050405020304" pitchFamily="18" charset="0"/>
              </a:rPr>
              <a:t>）　</a:t>
            </a:r>
            <a:endParaRPr lang="zh-CN" altLang="en-US" dirty="0"/>
          </a:p>
        </p:txBody>
      </p:sp>
      <p:sp>
        <p:nvSpPr>
          <p:cNvPr id="88107" name="Text Box 43"/>
          <p:cNvSpPr txBox="1">
            <a:spLocks noChangeArrowheads="1"/>
          </p:cNvSpPr>
          <p:nvPr/>
        </p:nvSpPr>
        <p:spPr bwMode="auto">
          <a:xfrm>
            <a:off x="3361381" y="1399021"/>
            <a:ext cx="318643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Aft>
                <a:spcPts val="0"/>
              </a:spcAft>
            </a:pPr>
            <a:r>
              <a:rPr lang="en-US" altLang="zh-CN">
                <a:solidFill>
                  <a:srgbClr val="000099"/>
                </a:solidFill>
                <a:latin typeface="Times New Roman" panose="02020603050405020304" pitchFamily="18" charset="0"/>
              </a:rPr>
              <a:t>   </a:t>
            </a:r>
            <a:r>
              <a:rPr lang="zh-CN" altLang="en-US">
                <a:solidFill>
                  <a:srgbClr val="000099"/>
                </a:solidFill>
                <a:latin typeface="Times New Roman" panose="02020603050405020304" pitchFamily="18" charset="0"/>
              </a:rPr>
              <a:t>：灰铸铁、球墨铸铁</a:t>
            </a:r>
            <a:r>
              <a:rPr lang="en-US" altLang="zh-CN">
                <a:solidFill>
                  <a:srgbClr val="000099"/>
                </a:solidFill>
                <a:latin typeface="Times New Roman" panose="02020603050405020304" pitchFamily="18" charset="0"/>
              </a:rPr>
              <a:t>…</a:t>
            </a:r>
            <a:endParaRPr lang="en-US" altLang="zh-CN">
              <a:solidFill>
                <a:srgbClr val="000099"/>
              </a:solidFill>
              <a:latin typeface="Times New Roman" panose="02020603050405020304" pitchFamily="18" charset="0"/>
            </a:endParaRPr>
          </a:p>
          <a:p>
            <a:pPr>
              <a:spcBef>
                <a:spcPts val="0"/>
              </a:spcBef>
            </a:pPr>
            <a:r>
              <a:rPr lang="en-US" altLang="zh-CN">
                <a:solidFill>
                  <a:srgbClr val="000099"/>
                </a:solidFill>
                <a:latin typeface="Times New Roman" panose="02020603050405020304" pitchFamily="18" charset="0"/>
              </a:rPr>
              <a:t>(</a:t>
            </a:r>
            <a:r>
              <a:rPr lang="zh-CN" altLang="en-US">
                <a:solidFill>
                  <a:srgbClr val="000099"/>
                </a:solidFill>
                <a:latin typeface="Times New Roman" panose="02020603050405020304" pitchFamily="18" charset="0"/>
              </a:rPr>
              <a:t>如：</a:t>
            </a:r>
            <a:r>
              <a:rPr lang="en-US" altLang="zh-CN">
                <a:solidFill>
                  <a:srgbClr val="000099"/>
                </a:solidFill>
                <a:latin typeface="Times New Roman" panose="02020603050405020304" pitchFamily="18" charset="0"/>
              </a:rPr>
              <a:t>TH200   QT500-5)</a:t>
            </a:r>
            <a:endParaRPr lang="en-US" altLang="zh-CN"/>
          </a:p>
        </p:txBody>
      </p:sp>
      <p:sp>
        <p:nvSpPr>
          <p:cNvPr id="88110" name="Text Box 46"/>
          <p:cNvSpPr txBox="1">
            <a:spLocks noChangeArrowheads="1"/>
          </p:cNvSpPr>
          <p:nvPr/>
        </p:nvSpPr>
        <p:spPr bwMode="auto">
          <a:xfrm>
            <a:off x="3361698" y="4281921"/>
            <a:ext cx="409448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Aft>
                <a:spcPts val="0"/>
              </a:spcAft>
            </a:pPr>
            <a:r>
              <a:rPr lang="zh-CN" altLang="en-US">
                <a:solidFill>
                  <a:srgbClr val="000099"/>
                </a:solidFill>
                <a:latin typeface="Times New Roman" panose="02020603050405020304" pitchFamily="18" charset="0"/>
              </a:rPr>
              <a:t>：强如钢、轻如铝、硬如金刚石</a:t>
            </a:r>
            <a:endParaRPr lang="zh-CN" altLang="en-US">
              <a:solidFill>
                <a:srgbClr val="000099"/>
              </a:solidFill>
              <a:latin typeface="Times New Roman" panose="02020603050405020304" pitchFamily="18" charset="0"/>
            </a:endParaRPr>
          </a:p>
        </p:txBody>
      </p:sp>
      <p:sp>
        <p:nvSpPr>
          <p:cNvPr id="88112" name="Text Box 48"/>
          <p:cNvSpPr txBox="1">
            <a:spLocks noChangeArrowheads="1"/>
          </p:cNvSpPr>
          <p:nvPr/>
        </p:nvSpPr>
        <p:spPr bwMode="auto">
          <a:xfrm>
            <a:off x="6164263" y="6197600"/>
            <a:ext cx="27146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dirty="0"/>
              <a:t> </a:t>
            </a:r>
            <a:endParaRPr lang="en-US" altLang="zh-CN" dirty="0"/>
          </a:p>
        </p:txBody>
      </p:sp>
      <p:sp>
        <p:nvSpPr>
          <p:cNvPr id="19490"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6" name="圆角矩形标注 5"/>
          <p:cNvSpPr/>
          <p:nvPr/>
        </p:nvSpPr>
        <p:spPr bwMode="auto">
          <a:xfrm>
            <a:off x="6435725" y="6120765"/>
            <a:ext cx="1673225" cy="581660"/>
          </a:xfrm>
          <a:prstGeom prst="wedgeRoundRectCallout">
            <a:avLst>
              <a:gd name="adj1" fmla="val -55388"/>
              <a:gd name="adj2" fmla="val -71724"/>
              <a:gd name="adj3" fmla="val 16667"/>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ts val="0"/>
              </a:spcAft>
              <a:buClrTx/>
              <a:buSzTx/>
              <a:buFontTx/>
              <a:buNone/>
            </a:pPr>
            <a:r>
              <a:rPr kumimoji="1" lang="zh-CN" altLang="en-US" sz="2400" dirty="0" smtClean="0">
                <a:ln>
                  <a:noFill/>
                </a:ln>
                <a:solidFill>
                  <a:srgbClr val="FF0000"/>
                </a:solidFill>
                <a:effectLst/>
                <a:latin typeface="黑体" panose="02010609060101010101" pitchFamily="49" charset="-122"/>
                <a:ea typeface="黑体" panose="02010609060101010101" pitchFamily="49" charset="-122"/>
                <a:sym typeface="+mn-ea"/>
              </a:rPr>
              <a:t>碳纤维</a:t>
            </a:r>
            <a:endParaRPr kumimoji="1" lang="zh-CN" altLang="en-US" sz="2000" b="0" i="0" u="none" strike="noStrike" cap="none" normalizeH="0" baseline="0" dirty="0" smtClean="0">
              <a:ln>
                <a:noFill/>
              </a:ln>
              <a:solidFill>
                <a:schemeClr val="tx1"/>
              </a:solidFill>
              <a:effectLst/>
              <a:latin typeface="黑体" panose="02010609060101010101" pitchFamily="49" charset="-122"/>
              <a:ea typeface="黑体" panose="02010609060101010101" pitchFamily="49" charset="-122"/>
            </a:endParaRPr>
          </a:p>
        </p:txBody>
      </p:sp>
      <p:sp>
        <p:nvSpPr>
          <p:cNvPr id="7" name="文本框 6"/>
          <p:cNvSpPr txBox="1"/>
          <p:nvPr/>
        </p:nvSpPr>
        <p:spPr>
          <a:xfrm>
            <a:off x="1726565" y="5002530"/>
            <a:ext cx="7294880" cy="1106805"/>
          </a:xfrm>
          <a:prstGeom prst="rect">
            <a:avLst/>
          </a:prstGeom>
          <a:noFill/>
          <a:ln>
            <a:solidFill>
              <a:schemeClr val="bg2">
                <a:lumMod val="75000"/>
              </a:schemeClr>
            </a:solidFill>
          </a:ln>
        </p:spPr>
        <p:txBody>
          <a:bodyPr wrap="square" rtlCol="0">
            <a:spAutoFit/>
          </a:bodyPr>
          <a:p>
            <a:pPr>
              <a:spcAft>
                <a:spcPts val="0"/>
              </a:spcAft>
            </a:pPr>
            <a:r>
              <a:rPr lang="zh-CN" altLang="en-US"/>
              <a:t>由两种或两种以上性质不同的金属材料或非金属材料，按设计要求进行定向处理或复合而得的新型材料。特性</a:t>
            </a:r>
            <a:r>
              <a:rPr lang="zh-CN" altLang="en-US" dirty="0">
                <a:solidFill>
                  <a:srgbClr val="000099"/>
                </a:solidFill>
                <a:latin typeface="Times New Roman" panose="02020603050405020304" pitchFamily="18" charset="0"/>
                <a:sym typeface="+mn-ea"/>
              </a:rPr>
              <a:t>：强度高、弹性模量大、质量轻。</a:t>
            </a:r>
            <a:endParaRPr lang="zh-CN" altLang="en-US"/>
          </a:p>
        </p:txBody>
      </p:sp>
      <p:sp>
        <p:nvSpPr>
          <p:cNvPr id="4" name="文本框 3"/>
          <p:cNvSpPr txBox="1"/>
          <p:nvPr/>
        </p:nvSpPr>
        <p:spPr>
          <a:xfrm>
            <a:off x="6924675" y="1022985"/>
            <a:ext cx="1674495" cy="429895"/>
          </a:xfrm>
          <a:prstGeom prst="rect">
            <a:avLst/>
          </a:prstGeom>
          <a:solidFill>
            <a:schemeClr val="accent6">
              <a:lumMod val="20000"/>
              <a:lumOff val="80000"/>
            </a:schemeClr>
          </a:solidFill>
          <a:ln>
            <a:solidFill>
              <a:schemeClr val="accent1"/>
            </a:solidFill>
          </a:ln>
          <a:effectLst>
            <a:outerShdw blurRad="50800" dist="38100" dir="18900000" algn="bl" rotWithShape="0">
              <a:prstClr val="black">
                <a:alpha val="40000"/>
              </a:prstClr>
            </a:outerShdw>
          </a:effectLst>
        </p:spPr>
        <p:txBody>
          <a:bodyPr wrap="square" rtlCol="0">
            <a:spAutoFit/>
          </a:bodyPr>
          <a:p>
            <a:r>
              <a:rPr lang="en-US" altLang="zh-CN">
                <a:solidFill>
                  <a:srgbClr val="FF0000"/>
                </a:solidFill>
              </a:rPr>
              <a:t>P14 </a:t>
            </a:r>
            <a:r>
              <a:rPr lang="zh-CN" altLang="en-US">
                <a:solidFill>
                  <a:srgbClr val="FF0000"/>
                </a:solidFill>
              </a:rPr>
              <a:t>表</a:t>
            </a:r>
            <a:r>
              <a:rPr lang="en-US" altLang="zh-CN">
                <a:solidFill>
                  <a:srgbClr val="FF0000"/>
                </a:solidFill>
              </a:rPr>
              <a:t>1.2-2</a:t>
            </a:r>
            <a:endParaRPr lang="en-US" altLang="zh-CN">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8093"/>
                                        </p:tgtEl>
                                        <p:attrNameLst>
                                          <p:attrName>style.visibility</p:attrName>
                                        </p:attrNameLst>
                                      </p:cBhvr>
                                      <p:to>
                                        <p:strVal val="visible"/>
                                      </p:to>
                                    </p:set>
                                    <p:animEffect transition="in" filter="wipe(left)">
                                      <p:cBhvr>
                                        <p:cTn id="7" dur="500"/>
                                        <p:tgtEl>
                                          <p:spTgt spid="8809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9470"/>
                                        </p:tgtEl>
                                        <p:attrNameLst>
                                          <p:attrName>style.visibility</p:attrName>
                                        </p:attrNameLst>
                                      </p:cBhvr>
                                      <p:to>
                                        <p:strVal val="visible"/>
                                      </p:to>
                                    </p:set>
                                    <p:animEffect transition="in" filter="wipe(left)">
                                      <p:cBhvr>
                                        <p:cTn id="15" dur="500"/>
                                        <p:tgtEl>
                                          <p:spTgt spid="1947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88107"/>
                                        </p:tgtEl>
                                        <p:attrNameLst>
                                          <p:attrName>style.visibility</p:attrName>
                                        </p:attrNameLst>
                                      </p:cBhvr>
                                      <p:to>
                                        <p:strVal val="visible"/>
                                      </p:to>
                                    </p:set>
                                    <p:animEffect transition="in" filter="wipe(left)">
                                      <p:cBhvr>
                                        <p:cTn id="30" dur="500"/>
                                        <p:tgtEl>
                                          <p:spTgt spid="8810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88106"/>
                                        </p:tgtEl>
                                        <p:attrNameLst>
                                          <p:attrName>style.visibility</p:attrName>
                                        </p:attrNameLst>
                                      </p:cBhvr>
                                      <p:to>
                                        <p:strVal val="visible"/>
                                      </p:to>
                                    </p:set>
                                    <p:animEffect transition="in" filter="wipe(left)">
                                      <p:cBhvr>
                                        <p:cTn id="35" dur="500"/>
                                        <p:tgtEl>
                                          <p:spTgt spid="8810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88075"/>
                                        </p:tgtEl>
                                        <p:attrNameLst>
                                          <p:attrName>style.visibility</p:attrName>
                                        </p:attrNameLst>
                                      </p:cBhvr>
                                      <p:to>
                                        <p:strVal val="visible"/>
                                      </p:to>
                                    </p:set>
                                    <p:animEffect transition="in" filter="wipe(left)">
                                      <p:cBhvr>
                                        <p:cTn id="40" dur="500"/>
                                        <p:tgtEl>
                                          <p:spTgt spid="8807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left)">
                                      <p:cBhvr>
                                        <p:cTn id="45" dur="500"/>
                                        <p:tgtEl>
                                          <p:spTgt spid="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88105"/>
                                        </p:tgtEl>
                                        <p:attrNameLst>
                                          <p:attrName>style.visibility</p:attrName>
                                        </p:attrNameLst>
                                      </p:cBhvr>
                                      <p:to>
                                        <p:strVal val="visible"/>
                                      </p:to>
                                    </p:set>
                                    <p:animEffect transition="in" filter="wipe(left)">
                                      <p:cBhvr>
                                        <p:cTn id="50" dur="500"/>
                                        <p:tgtEl>
                                          <p:spTgt spid="8810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88110"/>
                                        </p:tgtEl>
                                        <p:attrNameLst>
                                          <p:attrName>style.visibility</p:attrName>
                                        </p:attrNameLst>
                                      </p:cBhvr>
                                      <p:to>
                                        <p:strVal val="visible"/>
                                      </p:to>
                                    </p:set>
                                    <p:animEffect transition="in" filter="wipe(left)">
                                      <p:cBhvr>
                                        <p:cTn id="55" dur="500"/>
                                        <p:tgtEl>
                                          <p:spTgt spid="88110"/>
                                        </p:tgtEl>
                                      </p:cBhvr>
                                    </p:animEffect>
                                  </p:childTnLst>
                                </p:cTn>
                              </p:par>
                            </p:childTnLst>
                          </p:cTn>
                        </p:par>
                        <p:par>
                          <p:cTn id="56" fill="hold">
                            <p:stCondLst>
                              <p:cond delay="500"/>
                            </p:stCondLst>
                            <p:childTnLst>
                              <p:par>
                                <p:cTn id="57" presetID="2" presetClass="entr" presetSubtype="8" fill="hold" nodeType="afterEffect">
                                  <p:stCondLst>
                                    <p:cond delay="0"/>
                                  </p:stCondLst>
                                  <p:childTnLst>
                                    <p:set>
                                      <p:cBhvr>
                                        <p:cTn id="58" dur="1" fill="hold">
                                          <p:stCondLst>
                                            <p:cond delay="0"/>
                                          </p:stCondLst>
                                        </p:cTn>
                                        <p:tgtEl>
                                          <p:spTgt spid="88096"/>
                                        </p:tgtEl>
                                        <p:attrNameLst>
                                          <p:attrName>style.visibility</p:attrName>
                                        </p:attrNameLst>
                                      </p:cBhvr>
                                      <p:to>
                                        <p:strVal val="visible"/>
                                      </p:to>
                                    </p:set>
                                    <p:anim calcmode="lin" valueType="num">
                                      <p:cBhvr additive="base">
                                        <p:cTn id="59" dur="500" fill="hold"/>
                                        <p:tgtEl>
                                          <p:spTgt spid="88096"/>
                                        </p:tgtEl>
                                        <p:attrNameLst>
                                          <p:attrName>ppt_x</p:attrName>
                                        </p:attrNameLst>
                                      </p:cBhvr>
                                      <p:tavLst>
                                        <p:tav tm="0">
                                          <p:val>
                                            <p:strVal val="0-#ppt_w/2"/>
                                          </p:val>
                                        </p:tav>
                                        <p:tav tm="100000">
                                          <p:val>
                                            <p:strVal val="#ppt_x"/>
                                          </p:val>
                                        </p:tav>
                                      </p:tavLst>
                                    </p:anim>
                                    <p:anim calcmode="lin" valueType="num">
                                      <p:cBhvr additive="base">
                                        <p:cTn id="60" dur="500" fill="hold"/>
                                        <p:tgtEl>
                                          <p:spTgt spid="88096"/>
                                        </p:tgtEl>
                                        <p:attrNameLst>
                                          <p:attrName>ppt_y</p:attrName>
                                        </p:attrNameLst>
                                      </p:cBhvr>
                                      <p:tavLst>
                                        <p:tav tm="0">
                                          <p:val>
                                            <p:strVal val="#ppt_y"/>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7"/>
                                        </p:tgtEl>
                                        <p:attrNameLst>
                                          <p:attrName>style.visibility</p:attrName>
                                        </p:attrNameLst>
                                      </p:cBhvr>
                                      <p:to>
                                        <p:strVal val="visible"/>
                                      </p:to>
                                    </p:set>
                                    <p:animEffect transition="in" filter="wipe(left)">
                                      <p:cBhvr>
                                        <p:cTn id="65" dur="500"/>
                                        <p:tgtEl>
                                          <p:spTgt spid="7"/>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1" fill="hold" grpId="0" nodeType="clickEffect">
                                  <p:stCondLst>
                                    <p:cond delay="0"/>
                                  </p:stCondLst>
                                  <p:childTnLst>
                                    <p:set>
                                      <p:cBhvr>
                                        <p:cTn id="69" dur="1" fill="hold">
                                          <p:stCondLst>
                                            <p:cond delay="0"/>
                                          </p:stCondLst>
                                        </p:cTn>
                                        <p:tgtEl>
                                          <p:spTgt spid="6"/>
                                        </p:tgtEl>
                                        <p:attrNameLst>
                                          <p:attrName>style.visibility</p:attrName>
                                        </p:attrNameLst>
                                      </p:cBhvr>
                                      <p:to>
                                        <p:strVal val="visible"/>
                                      </p:to>
                                    </p:set>
                                    <p:animEffect transition="in" filter="wipe(up)">
                                      <p:cBhvr>
                                        <p:cTn id="70" dur="500"/>
                                        <p:tgtEl>
                                          <p:spTgt spid="6"/>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4"/>
                                        </p:tgtEl>
                                        <p:attrNameLst>
                                          <p:attrName>style.visibility</p:attrName>
                                        </p:attrNameLst>
                                      </p:cBhvr>
                                      <p:to>
                                        <p:strVal val="visible"/>
                                      </p:to>
                                    </p:set>
                                    <p:animEffect transition="in" filter="wipe(left)">
                                      <p:cBhvr>
                                        <p:cTn id="7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75" grpId="0"/>
      <p:bldP spid="88093" grpId="0"/>
      <p:bldP spid="88105" grpId="0"/>
      <p:bldP spid="88106" grpId="0"/>
      <p:bldP spid="88107" grpId="0"/>
      <p:bldP spid="88110" grpId="0"/>
      <p:bldP spid="6" grpId="0" bldLvl="0" animBg="1"/>
      <p:bldP spid="19470" grpId="0"/>
      <p:bldP spid="7" grpId="0" bldLvl="0" animBg="1"/>
      <p:bldP spid="4" grpId="0" bldLvl="0" animBg="1"/>
      <p:bldP spid="4" grpId="1"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3191510" y="269240"/>
            <a:ext cx="5823585" cy="426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p>
            <a:pPr>
              <a:spcAft>
                <a:spcPts val="0"/>
              </a:spcAft>
            </a:pPr>
            <a:r>
              <a:rPr lang="en-US" altLang="zh-CN" sz="3000" dirty="0">
                <a:solidFill>
                  <a:srgbClr val="CC0000"/>
                </a:solidFill>
                <a:latin typeface="黑体" panose="02010609060101010101" pitchFamily="49" charset="-122"/>
                <a:ea typeface="黑体" panose="02010609060101010101" pitchFamily="49" charset="-122"/>
              </a:rPr>
              <a:t>1.2-7 </a:t>
            </a:r>
            <a:r>
              <a:rPr lang="zh-CN" altLang="en-US" sz="3000" dirty="0">
                <a:solidFill>
                  <a:srgbClr val="CC0000"/>
                </a:solidFill>
                <a:latin typeface="黑体" panose="02010609060101010101" pitchFamily="49" charset="-122"/>
                <a:ea typeface="黑体" panose="02010609060101010101" pitchFamily="49" charset="-122"/>
              </a:rPr>
              <a:t>零件的材料与选用</a:t>
            </a:r>
            <a:endParaRPr lang="zh-CN" altLang="en-US" sz="3000" dirty="0">
              <a:solidFill>
                <a:srgbClr val="CC0000"/>
              </a:solidFill>
              <a:latin typeface="黑体" panose="02010609060101010101" pitchFamily="49" charset="-122"/>
              <a:ea typeface="黑体" panose="02010609060101010101" pitchFamily="49" charset="-122"/>
            </a:endParaRPr>
          </a:p>
        </p:txBody>
      </p:sp>
      <p:sp>
        <p:nvSpPr>
          <p:cNvPr id="5"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1" name="Text Box 30"/>
          <p:cNvSpPr txBox="1">
            <a:spLocks noChangeArrowheads="1"/>
          </p:cNvSpPr>
          <p:nvPr/>
        </p:nvSpPr>
        <p:spPr bwMode="auto">
          <a:xfrm>
            <a:off x="174279" y="1084907"/>
            <a:ext cx="2926080" cy="41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tIns="0">
            <a:spAutoFit/>
          </a:bodyPr>
          <a:lstStyle/>
          <a:p>
            <a:pPr>
              <a:spcAft>
                <a:spcPts val="0"/>
              </a:spcAft>
            </a:pPr>
            <a:r>
              <a:rPr lang="zh-CN" altLang="en-US" sz="2400" dirty="0">
                <a:solidFill>
                  <a:srgbClr val="0000FF"/>
                </a:solidFill>
                <a:latin typeface="黑体" panose="02010609060101010101" pitchFamily="49" charset="-122"/>
                <a:ea typeface="黑体" panose="02010609060101010101" pitchFamily="49" charset="-122"/>
              </a:rPr>
              <a:t>二、材料的选用原则</a:t>
            </a:r>
            <a:endParaRPr lang="zh-CN" altLang="en-US" sz="2400" dirty="0">
              <a:solidFill>
                <a:srgbClr val="0000FF"/>
              </a:solidFill>
              <a:latin typeface="黑体" panose="02010609060101010101" pitchFamily="49" charset="-122"/>
              <a:ea typeface="黑体" panose="02010609060101010101" pitchFamily="49" charset="-122"/>
            </a:endParaRPr>
          </a:p>
        </p:txBody>
      </p:sp>
      <p:sp>
        <p:nvSpPr>
          <p:cNvPr id="2" name="文本框 1"/>
          <p:cNvSpPr txBox="1"/>
          <p:nvPr/>
        </p:nvSpPr>
        <p:spPr>
          <a:xfrm>
            <a:off x="681355" y="1561465"/>
            <a:ext cx="6360795" cy="460375"/>
          </a:xfrm>
          <a:prstGeom prst="rect">
            <a:avLst/>
          </a:prstGeom>
          <a:noFill/>
        </p:spPr>
        <p:txBody>
          <a:bodyPr wrap="square" rtlCol="0">
            <a:spAutoFit/>
          </a:bodyPr>
          <a:p>
            <a:pPr>
              <a:spcAft>
                <a:spcPts val="0"/>
              </a:spcAft>
            </a:pPr>
            <a:r>
              <a:rPr lang="zh-CN" altLang="en-US" sz="2400">
                <a:solidFill>
                  <a:schemeClr val="tx1">
                    <a:lumMod val="50000"/>
                  </a:schemeClr>
                </a:solidFill>
                <a:latin typeface="黑体" panose="02010609060101010101" pitchFamily="49" charset="-122"/>
                <a:ea typeface="黑体" panose="02010609060101010101" pitchFamily="49" charset="-122"/>
              </a:rPr>
              <a:t>主要考虑</a:t>
            </a:r>
            <a:r>
              <a:rPr lang="zh-CN" altLang="en-US" sz="2400">
                <a:solidFill>
                  <a:srgbClr val="C00000"/>
                </a:solidFill>
                <a:latin typeface="黑体" panose="02010609060101010101" pitchFamily="49" charset="-122"/>
                <a:ea typeface="黑体" panose="02010609060101010101" pitchFamily="49" charset="-122"/>
              </a:rPr>
              <a:t>使用要求、工艺要求</a:t>
            </a:r>
            <a:r>
              <a:rPr lang="zh-CN" altLang="en-US" sz="2400">
                <a:solidFill>
                  <a:schemeClr val="tx1">
                    <a:lumMod val="50000"/>
                  </a:schemeClr>
                </a:solidFill>
                <a:latin typeface="黑体" panose="02010609060101010101" pitchFamily="49" charset="-122"/>
                <a:ea typeface="黑体" panose="02010609060101010101" pitchFamily="49" charset="-122"/>
              </a:rPr>
              <a:t>和</a:t>
            </a:r>
            <a:r>
              <a:rPr lang="zh-CN" altLang="en-US" sz="2400">
                <a:solidFill>
                  <a:srgbClr val="C00000"/>
                </a:solidFill>
                <a:latin typeface="黑体" panose="02010609060101010101" pitchFamily="49" charset="-122"/>
                <a:ea typeface="黑体" panose="02010609060101010101" pitchFamily="49" charset="-122"/>
              </a:rPr>
              <a:t>经济性要求。</a:t>
            </a:r>
            <a:endParaRPr lang="zh-CN" altLang="en-US" sz="2400">
              <a:solidFill>
                <a:srgbClr val="C00000"/>
              </a:solidFill>
              <a:latin typeface="黑体" panose="02010609060101010101" pitchFamily="49" charset="-122"/>
              <a:ea typeface="黑体" panose="02010609060101010101" pitchFamily="49" charset="-122"/>
            </a:endParaRPr>
          </a:p>
        </p:txBody>
      </p:sp>
      <p:sp>
        <p:nvSpPr>
          <p:cNvPr id="3" name="文本框 2"/>
          <p:cNvSpPr txBox="1"/>
          <p:nvPr/>
        </p:nvSpPr>
        <p:spPr>
          <a:xfrm>
            <a:off x="352425" y="2673985"/>
            <a:ext cx="2070100" cy="460375"/>
          </a:xfrm>
          <a:prstGeom prst="rect">
            <a:avLst/>
          </a:prstGeom>
          <a:noFill/>
        </p:spPr>
        <p:txBody>
          <a:bodyPr wrap="square" rtlCol="0">
            <a:spAutoFit/>
          </a:bodyPr>
          <a:p>
            <a:pPr>
              <a:spcAft>
                <a:spcPts val="0"/>
              </a:spcAft>
            </a:pPr>
            <a:r>
              <a:rPr lang="en-US" altLang="zh-CN" sz="2400">
                <a:latin typeface="黑体" panose="02010609060101010101" pitchFamily="49" charset="-122"/>
                <a:ea typeface="黑体" panose="02010609060101010101" pitchFamily="49" charset="-122"/>
                <a:cs typeface="黑体" panose="02010609060101010101" pitchFamily="49" charset="-122"/>
              </a:rPr>
              <a:t>1.</a:t>
            </a:r>
            <a:r>
              <a:rPr lang="zh-CN" altLang="en-US" sz="2400">
                <a:latin typeface="黑体" panose="02010609060101010101" pitchFamily="49" charset="-122"/>
                <a:ea typeface="黑体" panose="02010609060101010101" pitchFamily="49" charset="-122"/>
                <a:cs typeface="黑体" panose="02010609060101010101" pitchFamily="49" charset="-122"/>
                <a:hlinkClick r:id="" action="ppaction://hlinkshowjump?jump=nextslide"/>
              </a:rPr>
              <a:t>使用要求</a:t>
            </a:r>
            <a:endParaRPr lang="zh-CN" altLang="en-US" sz="2400">
              <a:latin typeface="黑体" panose="02010609060101010101" pitchFamily="49" charset="-122"/>
              <a:ea typeface="黑体" panose="02010609060101010101" pitchFamily="49" charset="-122"/>
              <a:cs typeface="黑体" panose="02010609060101010101" pitchFamily="49" charset="-122"/>
            </a:endParaRPr>
          </a:p>
        </p:txBody>
      </p:sp>
      <p:sp>
        <p:nvSpPr>
          <p:cNvPr id="13" name="文本框 12"/>
          <p:cNvSpPr txBox="1"/>
          <p:nvPr/>
        </p:nvSpPr>
        <p:spPr>
          <a:xfrm>
            <a:off x="2108835" y="2340610"/>
            <a:ext cx="6640830" cy="130873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a:outerShdw blurRad="50800" dist="38100" dir="16200000" rotWithShape="0">
              <a:prstClr val="black">
                <a:alpha val="40000"/>
              </a:prstClr>
            </a:outerShdw>
          </a:effectLst>
        </p:spPr>
        <p:txBody>
          <a:bodyPr wrap="square" rtlCol="0">
            <a:spAutoFit/>
          </a:bodyPr>
          <a:p>
            <a:pPr marL="457200" indent="-457200" eaLnBrk="1" latinLnBrk="0" hangingPunct="1">
              <a:lnSpc>
                <a:spcPct val="120000"/>
              </a:lnSpc>
              <a:buFont typeface="+mj-ea"/>
              <a:buAutoNum type="circleNumDbPlain"/>
            </a:pPr>
            <a:r>
              <a:rPr lang="zh-CN" altLang="en-US"/>
              <a:t>零件所受载荷和应力的大小、性质和分布情况；</a:t>
            </a:r>
            <a:endParaRPr lang="zh-CN" altLang="en-US"/>
          </a:p>
          <a:p>
            <a:pPr marL="457200" indent="-457200" eaLnBrk="1" latinLnBrk="0" hangingPunct="1">
              <a:lnSpc>
                <a:spcPct val="120000"/>
              </a:lnSpc>
              <a:buFont typeface="+mj-ea"/>
              <a:buAutoNum type="circleNumDbPlain"/>
            </a:pPr>
            <a:r>
              <a:rPr lang="zh-CN" altLang="en-US"/>
              <a:t>对零件尺寸和质量的限制；</a:t>
            </a:r>
            <a:endParaRPr lang="zh-CN" altLang="en-US"/>
          </a:p>
          <a:p>
            <a:pPr marL="457200" indent="-457200" eaLnBrk="1" latinLnBrk="0" hangingPunct="1">
              <a:lnSpc>
                <a:spcPct val="120000"/>
              </a:lnSpc>
              <a:buFont typeface="+mj-ea"/>
              <a:buAutoNum type="circleNumDbPlain"/>
            </a:pPr>
            <a:r>
              <a:rPr lang="zh-CN" altLang="en-US"/>
              <a:t>工作状况（环境介质、工作温度、摩擦性质等）。</a:t>
            </a:r>
            <a:endParaRPr lang="zh-CN" altLang="en-US"/>
          </a:p>
        </p:txBody>
      </p:sp>
      <p:sp>
        <p:nvSpPr>
          <p:cNvPr id="14" name="文本框 13"/>
          <p:cNvSpPr txBox="1"/>
          <p:nvPr/>
        </p:nvSpPr>
        <p:spPr>
          <a:xfrm>
            <a:off x="208280" y="4446270"/>
            <a:ext cx="2070100" cy="460375"/>
          </a:xfrm>
          <a:prstGeom prst="rect">
            <a:avLst/>
          </a:prstGeom>
          <a:noFill/>
        </p:spPr>
        <p:txBody>
          <a:bodyPr wrap="square" rtlCol="0">
            <a:spAutoFit/>
          </a:bodyPr>
          <a:p>
            <a:pPr>
              <a:spcAft>
                <a:spcPts val="0"/>
              </a:spcAft>
            </a:pPr>
            <a:r>
              <a:rPr lang="en-US" altLang="zh-CN" sz="2400">
                <a:latin typeface="黑体" panose="02010609060101010101" pitchFamily="49" charset="-122"/>
                <a:ea typeface="黑体" panose="02010609060101010101" pitchFamily="49" charset="-122"/>
                <a:cs typeface="黑体" panose="02010609060101010101" pitchFamily="49" charset="-122"/>
              </a:rPr>
              <a:t>2.</a:t>
            </a:r>
            <a:r>
              <a:rPr lang="zh-CN" altLang="en-US" sz="2400">
                <a:latin typeface="黑体" panose="02010609060101010101" pitchFamily="49" charset="-122"/>
                <a:ea typeface="黑体" panose="02010609060101010101" pitchFamily="49" charset="-122"/>
                <a:cs typeface="黑体" panose="02010609060101010101" pitchFamily="49" charset="-122"/>
                <a:hlinkClick r:id="rId1" action="ppaction://hlinksldjump"/>
              </a:rPr>
              <a:t>工艺要求</a:t>
            </a:r>
            <a:endParaRPr lang="zh-CN" altLang="en-US" sz="2400">
              <a:latin typeface="黑体" panose="02010609060101010101" pitchFamily="49" charset="-122"/>
              <a:ea typeface="黑体" panose="02010609060101010101" pitchFamily="49" charset="-122"/>
              <a:cs typeface="黑体" panose="02010609060101010101" pitchFamily="49" charset="-122"/>
            </a:endParaRPr>
          </a:p>
        </p:txBody>
      </p:sp>
      <p:sp>
        <p:nvSpPr>
          <p:cNvPr id="15" name="文本框 14"/>
          <p:cNvSpPr txBox="1"/>
          <p:nvPr/>
        </p:nvSpPr>
        <p:spPr>
          <a:xfrm>
            <a:off x="173990" y="5492750"/>
            <a:ext cx="2070100" cy="460375"/>
          </a:xfrm>
          <a:prstGeom prst="rect">
            <a:avLst/>
          </a:prstGeom>
          <a:noFill/>
        </p:spPr>
        <p:txBody>
          <a:bodyPr wrap="square" rtlCol="0">
            <a:spAutoFit/>
          </a:bodyPr>
          <a:p>
            <a:pPr>
              <a:spcAft>
                <a:spcPts val="0"/>
              </a:spcAft>
            </a:pPr>
            <a:r>
              <a:rPr lang="en-US" altLang="zh-CN" sz="2400">
                <a:latin typeface="黑体" panose="02010609060101010101" pitchFamily="49" charset="-122"/>
                <a:ea typeface="黑体" panose="02010609060101010101" pitchFamily="49" charset="-122"/>
                <a:cs typeface="黑体" panose="02010609060101010101" pitchFamily="49" charset="-122"/>
              </a:rPr>
              <a:t>3.</a:t>
            </a:r>
            <a:r>
              <a:rPr lang="zh-CN" altLang="en-US" sz="2400">
                <a:latin typeface="黑体" panose="02010609060101010101" pitchFamily="49" charset="-122"/>
                <a:ea typeface="黑体" panose="02010609060101010101" pitchFamily="49" charset="-122"/>
                <a:cs typeface="黑体" panose="02010609060101010101" pitchFamily="49" charset="-122"/>
              </a:rPr>
              <a:t>经济性</a:t>
            </a:r>
            <a:r>
              <a:rPr lang="zh-CN" altLang="en-US" sz="2400">
                <a:latin typeface="黑体" panose="02010609060101010101" pitchFamily="49" charset="-122"/>
                <a:ea typeface="黑体" panose="02010609060101010101" pitchFamily="49" charset="-122"/>
                <a:cs typeface="黑体" panose="02010609060101010101" pitchFamily="49" charset="-122"/>
              </a:rPr>
              <a:t>要求</a:t>
            </a:r>
            <a:endParaRPr lang="zh-CN" altLang="en-US" sz="2400">
              <a:latin typeface="黑体" panose="02010609060101010101" pitchFamily="49" charset="-122"/>
              <a:ea typeface="黑体" panose="02010609060101010101" pitchFamily="49" charset="-122"/>
              <a:cs typeface="黑体" panose="02010609060101010101" pitchFamily="49" charset="-122"/>
            </a:endParaRPr>
          </a:p>
        </p:txBody>
      </p:sp>
      <p:sp>
        <p:nvSpPr>
          <p:cNvPr id="17" name="文本框 16"/>
          <p:cNvSpPr txBox="1"/>
          <p:nvPr/>
        </p:nvSpPr>
        <p:spPr>
          <a:xfrm>
            <a:off x="2108835" y="4225290"/>
            <a:ext cx="6640830" cy="90297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a:outerShdw blurRad="50800" dist="38100" dir="16200000" rotWithShape="0">
              <a:prstClr val="black">
                <a:alpha val="40000"/>
              </a:prstClr>
            </a:outerShdw>
          </a:effectLst>
        </p:spPr>
        <p:txBody>
          <a:bodyPr wrap="square" rtlCol="0">
            <a:spAutoFit/>
          </a:bodyPr>
          <a:p>
            <a:pPr marL="0" indent="0" eaLnBrk="1" latinLnBrk="0" hangingPunct="1">
              <a:lnSpc>
                <a:spcPct val="120000"/>
              </a:lnSpc>
              <a:buFont typeface="+mj-ea"/>
              <a:buNone/>
            </a:pPr>
            <a:r>
              <a:rPr lang="zh-CN" altLang="en-US"/>
              <a:t>要考虑零件加工的工艺方法、生产条件和毛坯的制作方法。</a:t>
            </a:r>
            <a:endParaRPr lang="zh-CN" altLang="en-US"/>
          </a:p>
        </p:txBody>
      </p:sp>
      <p:sp>
        <p:nvSpPr>
          <p:cNvPr id="18" name="文本框 17"/>
          <p:cNvSpPr txBox="1"/>
          <p:nvPr/>
        </p:nvSpPr>
        <p:spPr>
          <a:xfrm>
            <a:off x="2174240" y="5412740"/>
            <a:ext cx="6640830" cy="90297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a:outerShdw blurRad="50800" dist="38100" dir="16200000" rotWithShape="0">
              <a:prstClr val="black">
                <a:alpha val="40000"/>
              </a:prstClr>
            </a:outerShdw>
          </a:effectLst>
        </p:spPr>
        <p:txBody>
          <a:bodyPr wrap="square" rtlCol="0">
            <a:spAutoFit/>
          </a:bodyPr>
          <a:p>
            <a:pPr marL="0" indent="0" eaLnBrk="1" latinLnBrk="0" hangingPunct="1">
              <a:lnSpc>
                <a:spcPct val="120000"/>
              </a:lnSpc>
              <a:buFont typeface="+mj-ea"/>
              <a:buNone/>
            </a:pPr>
            <a:r>
              <a:rPr lang="zh-CN" altLang="en-US"/>
              <a:t>在满足使用要求和工艺要求的下，应尽可能选用普通材料和价格低廉的材料，以降低生产成本。</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left)">
                                      <p:cBhvr>
                                        <p:cTn id="20" dur="500"/>
                                        <p:tgtEl>
                                          <p:spTgt spid="14"/>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down)">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left)">
                                      <p:cBhvr>
                                        <p:cTn id="33" dur="500"/>
                                        <p:tgtEl>
                                          <p:spTgt spid="1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wipe(left)">
                                      <p:cBhvr>
                                        <p:cTn id="3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 grpId="0"/>
      <p:bldP spid="13" grpId="0" animBg="1"/>
      <p:bldP spid="13" grpId="1" animBg="1"/>
      <p:bldP spid="3" grpId="0"/>
      <p:bldP spid="14" grpId="0"/>
      <p:bldP spid="15" grpId="0"/>
      <p:bldP spid="3" grpId="1"/>
      <p:bldP spid="14" grpId="1"/>
      <p:bldP spid="15" grpId="1"/>
      <p:bldP spid="17" grpId="0" animBg="1"/>
      <p:bldP spid="18"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Rectangle 2"/>
          <p:cNvSpPr>
            <a:spLocks noGrp="1"/>
          </p:cNvSpPr>
          <p:nvPr>
            <p:ph type="title"/>
          </p:nvPr>
        </p:nvSpPr>
        <p:spPr>
          <a:xfrm>
            <a:off x="6869113" y="758825"/>
            <a:ext cx="1817687" cy="265113"/>
          </a:xfrm>
          <a:noFill/>
          <a:ln>
            <a:noFill/>
          </a:ln>
        </p:spPr>
        <p:txBody>
          <a:bodyPr anchor="t"/>
          <a:p>
            <a:pPr eaLnBrk="1" hangingPunct="1"/>
            <a:r>
              <a:rPr lang="zh-CN" altLang="en-US" sz="800" dirty="0">
                <a:solidFill>
                  <a:schemeClr val="bg1"/>
                </a:solidFill>
                <a:latin typeface="华文中宋" panose="02010600040101010101" pitchFamily="2" charset="-122"/>
                <a:ea typeface="华文中宋" panose="02010600040101010101" pitchFamily="2" charset="-122"/>
              </a:rPr>
              <a:t>机械零件的设计方法</a:t>
            </a:r>
            <a:endParaRPr lang="zh-CN" altLang="en-US" sz="800" dirty="0">
              <a:solidFill>
                <a:schemeClr val="bg1"/>
              </a:solidFill>
              <a:latin typeface="楷体_GB2312" pitchFamily="49" charset="-122"/>
              <a:ea typeface="楷体_GB2312" pitchFamily="49" charset="-122"/>
            </a:endParaRPr>
          </a:p>
        </p:txBody>
      </p:sp>
      <p:sp>
        <p:nvSpPr>
          <p:cNvPr id="83989" name="Text Box 21"/>
          <p:cNvSpPr txBox="1"/>
          <p:nvPr/>
        </p:nvSpPr>
        <p:spPr>
          <a:xfrm>
            <a:off x="7353300" y="6256338"/>
            <a:ext cx="271463" cy="427037"/>
          </a:xfrm>
          <a:prstGeom prst="rect">
            <a:avLst/>
          </a:prstGeom>
          <a:noFill/>
          <a:ln w="9525">
            <a:noFill/>
          </a:ln>
        </p:spPr>
        <p:txBody>
          <a:bodyPr wrap="none" anchor="t">
            <a:spAutoFit/>
          </a:bodyPr>
          <a:p>
            <a:r>
              <a:rPr lang="en-US" altLang="zh-CN" dirty="0">
                <a:latin typeface="Tahoma" panose="020B0604030504040204" pitchFamily="34" charset="0"/>
                <a:ea typeface="华文中宋" panose="02010600040101010101" pitchFamily="2" charset="-122"/>
              </a:rPr>
              <a:t> </a:t>
            </a:r>
            <a:endParaRPr lang="en-US" altLang="zh-CN" dirty="0">
              <a:latin typeface="Tahoma" panose="020B0604030504040204" pitchFamily="34" charset="0"/>
              <a:ea typeface="华文中宋" panose="02010600040101010101" pitchFamily="2" charset="-122"/>
            </a:endParaRPr>
          </a:p>
        </p:txBody>
      </p:sp>
      <p:pic>
        <p:nvPicPr>
          <p:cNvPr id="12" name="Picture 4" descr="rewind1">
            <a:hlinkClick r:id="rId1" action="ppaction://hlinksldjump"/>
          </p:cNvPr>
          <p:cNvPicPr>
            <a:picLocks noChangeAspect="1"/>
          </p:cNvPicPr>
          <p:nvPr/>
        </p:nvPicPr>
        <p:blipFill>
          <a:blip r:embed="rId2"/>
          <a:stretch>
            <a:fillRect/>
          </a:stretch>
        </p:blipFill>
        <p:spPr>
          <a:xfrm>
            <a:off x="7872413" y="6535738"/>
            <a:ext cx="287337" cy="287337"/>
          </a:xfrm>
          <a:prstGeom prst="rect">
            <a:avLst/>
          </a:prstGeom>
          <a:noFill/>
          <a:ln w="9525">
            <a:noFill/>
          </a:ln>
        </p:spPr>
      </p:pic>
      <p:pic>
        <p:nvPicPr>
          <p:cNvPr id="13" name="Picture 5" descr="back1">
            <a:hlinkClick r:id="" action="ppaction://hlinkshowjump?jump=previousslide"/>
          </p:cNvPr>
          <p:cNvPicPr>
            <a:picLocks noChangeAspect="1"/>
          </p:cNvPicPr>
          <p:nvPr/>
        </p:nvPicPr>
        <p:blipFill>
          <a:blip r:embed="rId3"/>
          <a:stretch>
            <a:fillRect/>
          </a:stretch>
        </p:blipFill>
        <p:spPr>
          <a:xfrm>
            <a:off x="8280400" y="6535738"/>
            <a:ext cx="287338" cy="287337"/>
          </a:xfrm>
          <a:prstGeom prst="rect">
            <a:avLst/>
          </a:prstGeom>
          <a:noFill/>
          <a:ln w="9525">
            <a:noFill/>
          </a:ln>
        </p:spPr>
      </p:pic>
      <p:pic>
        <p:nvPicPr>
          <p:cNvPr id="14" name="Picture 6" descr="NEXT1">
            <a:hlinkClick r:id="" action="ppaction://hlinkshowjump?jump=nextslide"/>
          </p:cNvPr>
          <p:cNvPicPr>
            <a:picLocks noChangeAspect="1"/>
          </p:cNvPicPr>
          <p:nvPr/>
        </p:nvPicPr>
        <p:blipFill>
          <a:blip r:embed="rId4"/>
          <a:stretch>
            <a:fillRect/>
          </a:stretch>
        </p:blipFill>
        <p:spPr>
          <a:xfrm>
            <a:off x="8689975" y="6535738"/>
            <a:ext cx="287338" cy="287337"/>
          </a:xfrm>
          <a:prstGeom prst="rect">
            <a:avLst/>
          </a:prstGeom>
          <a:noFill/>
          <a:ln w="9525">
            <a:noFill/>
          </a:ln>
        </p:spPr>
      </p:pic>
      <p:sp>
        <p:nvSpPr>
          <p:cNvPr id="4" name="文本框 3"/>
          <p:cNvSpPr txBox="1"/>
          <p:nvPr/>
        </p:nvSpPr>
        <p:spPr>
          <a:xfrm>
            <a:off x="544195" y="692150"/>
            <a:ext cx="5083175" cy="460375"/>
          </a:xfrm>
          <a:prstGeom prst="rect">
            <a:avLst/>
          </a:prstGeom>
          <a:noFill/>
          <a:ln w="9525">
            <a:noFill/>
          </a:ln>
        </p:spPr>
        <p:txBody>
          <a:bodyPr wrap="square" anchor="t">
            <a:spAutoFit/>
          </a:bodyPr>
          <a:p>
            <a:pPr eaLnBrk="0" hangingPunct="0"/>
            <a:r>
              <a:rPr lang="zh-CN" altLang="zh-CN" sz="2400" dirty="0">
                <a:latin typeface="黑体" panose="02010609060101010101" pitchFamily="49" charset="-122"/>
                <a:ea typeface="黑体" panose="02010609060101010101" pitchFamily="49" charset="-122"/>
                <a:cs typeface="黑体" panose="02010609060101010101" pitchFamily="49" charset="-122"/>
              </a:rPr>
              <a:t>按使用要求选用材料的一般原则是</a:t>
            </a:r>
            <a:r>
              <a:rPr lang="en-US" altLang="zh-CN" sz="2400" dirty="0">
                <a:latin typeface="黑体" panose="02010609060101010101" pitchFamily="49" charset="-122"/>
                <a:ea typeface="黑体" panose="02010609060101010101" pitchFamily="49" charset="-122"/>
                <a:cs typeface="黑体" panose="02010609060101010101" pitchFamily="49" charset="-122"/>
              </a:rPr>
              <a:t>:</a:t>
            </a:r>
            <a:endParaRPr lang="zh-CN" altLang="zh-CN" sz="2400" dirty="0">
              <a:latin typeface="黑体" panose="02010609060101010101" pitchFamily="49" charset="-122"/>
              <a:ea typeface="黑体" panose="02010609060101010101" pitchFamily="49" charset="-122"/>
              <a:cs typeface="黑体" panose="02010609060101010101" pitchFamily="49" charset="-122"/>
            </a:endParaRPr>
          </a:p>
        </p:txBody>
      </p:sp>
      <p:sp>
        <p:nvSpPr>
          <p:cNvPr id="10" name="文本框 9"/>
          <p:cNvSpPr txBox="1"/>
          <p:nvPr/>
        </p:nvSpPr>
        <p:spPr>
          <a:xfrm>
            <a:off x="544195" y="1262380"/>
            <a:ext cx="8249920" cy="758190"/>
          </a:xfrm>
          <a:prstGeom prst="rect">
            <a:avLst/>
          </a:prstGeom>
          <a:noFill/>
          <a:ln w="9525">
            <a:solidFill>
              <a:srgbClr val="0000FF"/>
            </a:solidFill>
          </a:ln>
        </p:spPr>
        <p:txBody>
          <a:bodyPr wrap="square" anchor="t">
            <a:spAutoFit/>
          </a:bodyPr>
          <a:p>
            <a:pPr eaLnBrk="0" hangingPunct="0">
              <a:lnSpc>
                <a:spcPts val="2600"/>
              </a:lnSpc>
            </a:pPr>
            <a:r>
              <a:rPr lang="en-US" altLang="zh-CN" sz="1800" dirty="0">
                <a:latin typeface="Tahoma" panose="020B0604030504040204" pitchFamily="34" charset="0"/>
                <a:ea typeface="华文中宋" panose="02010600040101010101" pitchFamily="2" charset="-122"/>
              </a:rPr>
              <a:t>    </a:t>
            </a:r>
            <a:r>
              <a:rPr lang="zh-CN" altLang="zh-CN" sz="2000" dirty="0">
                <a:latin typeface="Tahoma" panose="020B0604030504040204" pitchFamily="34" charset="0"/>
                <a:ea typeface="华文中宋" panose="02010600040101010101" pitchFamily="2" charset="-122"/>
              </a:rPr>
              <a:t>（</a:t>
            </a:r>
            <a:r>
              <a:rPr lang="en-US" altLang="zh-CN" sz="2000" dirty="0">
                <a:latin typeface="Tahoma" panose="020B0604030504040204" pitchFamily="34" charset="0"/>
                <a:ea typeface="华文中宋" panose="02010600040101010101" pitchFamily="2" charset="-122"/>
              </a:rPr>
              <a:t>1</a:t>
            </a:r>
            <a:r>
              <a:rPr lang="zh-CN" altLang="zh-CN" sz="2000" dirty="0">
                <a:latin typeface="Tahoma" panose="020B0604030504040204" pitchFamily="34" charset="0"/>
                <a:ea typeface="华文中宋" panose="02010600040101010101" pitchFamily="2" charset="-122"/>
              </a:rPr>
              <a:t>）若零件的尺寸取决于</a:t>
            </a:r>
            <a:r>
              <a:rPr lang="zh-CN" altLang="zh-CN" sz="2000" dirty="0">
                <a:solidFill>
                  <a:srgbClr val="FF0000"/>
                </a:solidFill>
                <a:latin typeface="Tahoma" panose="020B0604030504040204" pitchFamily="34" charset="0"/>
                <a:ea typeface="华文中宋" panose="02010600040101010101" pitchFamily="2" charset="-122"/>
              </a:rPr>
              <a:t>强度</a:t>
            </a:r>
            <a:r>
              <a:rPr lang="zh-CN" altLang="en-US" sz="2000" dirty="0">
                <a:latin typeface="Tahoma" panose="020B0604030504040204" pitchFamily="34" charset="0"/>
                <a:ea typeface="华文中宋" panose="02010600040101010101" pitchFamily="2" charset="-122"/>
              </a:rPr>
              <a:t>，</a:t>
            </a:r>
            <a:r>
              <a:rPr lang="zh-CN" altLang="zh-CN" sz="2000" dirty="0">
                <a:latin typeface="Tahoma" panose="020B0604030504040204" pitchFamily="34" charset="0"/>
                <a:ea typeface="华文中宋" panose="02010600040101010101" pitchFamily="2" charset="-122"/>
              </a:rPr>
              <a:t>且尺寸和质量又受到某些限制时</a:t>
            </a:r>
            <a:r>
              <a:rPr lang="zh-CN" altLang="en-US" sz="2000" dirty="0">
                <a:latin typeface="Tahoma" panose="020B0604030504040204" pitchFamily="34" charset="0"/>
                <a:ea typeface="华文中宋" panose="02010600040101010101" pitchFamily="2" charset="-122"/>
              </a:rPr>
              <a:t>，</a:t>
            </a:r>
            <a:r>
              <a:rPr lang="zh-CN" altLang="zh-CN" sz="2000" dirty="0">
                <a:latin typeface="Tahoma" panose="020B0604030504040204" pitchFamily="34" charset="0"/>
                <a:ea typeface="华文中宋" panose="02010600040101010101" pitchFamily="2" charset="-122"/>
              </a:rPr>
              <a:t>应选用强度较高的材料。</a:t>
            </a:r>
            <a:endParaRPr lang="zh-CN" altLang="zh-CN" sz="2000" dirty="0">
              <a:latin typeface="Tahoma" panose="020B0604030504040204" pitchFamily="34" charset="0"/>
              <a:ea typeface="华文中宋" panose="02010600040101010101" pitchFamily="2" charset="-122"/>
            </a:endParaRPr>
          </a:p>
        </p:txBody>
      </p:sp>
      <p:sp>
        <p:nvSpPr>
          <p:cNvPr id="11" name="文本框 10"/>
          <p:cNvSpPr txBox="1"/>
          <p:nvPr/>
        </p:nvSpPr>
        <p:spPr>
          <a:xfrm>
            <a:off x="543878" y="2123758"/>
            <a:ext cx="8250237" cy="1424940"/>
          </a:xfrm>
          <a:prstGeom prst="rect">
            <a:avLst/>
          </a:prstGeom>
          <a:noFill/>
          <a:ln w="9525">
            <a:solidFill>
              <a:srgbClr val="0000FF"/>
            </a:solidFill>
          </a:ln>
        </p:spPr>
        <p:txBody>
          <a:bodyPr anchor="t">
            <a:spAutoFit/>
          </a:bodyPr>
          <a:p>
            <a:pPr eaLnBrk="0" hangingPunct="0">
              <a:lnSpc>
                <a:spcPts val="2600"/>
              </a:lnSpc>
            </a:pPr>
            <a:r>
              <a:rPr lang="en-US" altLang="zh-CN" sz="1800" dirty="0">
                <a:latin typeface="Tahoma" panose="020B0604030504040204" pitchFamily="34" charset="0"/>
                <a:ea typeface="华文中宋" panose="02010600040101010101" pitchFamily="2" charset="-122"/>
              </a:rPr>
              <a:t>    </a:t>
            </a:r>
            <a:r>
              <a:rPr lang="zh-CN" altLang="zh-CN" sz="2000" dirty="0">
                <a:latin typeface="Tahoma" panose="020B0604030504040204" pitchFamily="34" charset="0"/>
                <a:ea typeface="华文中宋" panose="02010600040101010101" pitchFamily="2" charset="-122"/>
              </a:rPr>
              <a:t>（</a:t>
            </a:r>
            <a:r>
              <a:rPr lang="en-US" altLang="zh-CN" sz="2000" dirty="0">
                <a:latin typeface="Tahoma" panose="020B0604030504040204" pitchFamily="34" charset="0"/>
                <a:ea typeface="华文中宋" panose="02010600040101010101" pitchFamily="2" charset="-122"/>
              </a:rPr>
              <a:t>2</a:t>
            </a:r>
            <a:r>
              <a:rPr lang="zh-CN" altLang="zh-CN" sz="2000" dirty="0">
                <a:latin typeface="Tahoma" panose="020B0604030504040204" pitchFamily="34" charset="0"/>
                <a:ea typeface="华文中宋" panose="02010600040101010101" pitchFamily="2" charset="-122"/>
              </a:rPr>
              <a:t>）若零件的尺寸取决于</a:t>
            </a:r>
            <a:r>
              <a:rPr lang="zh-CN" altLang="zh-CN" sz="2000" dirty="0">
                <a:solidFill>
                  <a:srgbClr val="FF0000"/>
                </a:solidFill>
                <a:latin typeface="Tahoma" panose="020B0604030504040204" pitchFamily="34" charset="0"/>
                <a:ea typeface="华文中宋" panose="02010600040101010101" pitchFamily="2" charset="-122"/>
              </a:rPr>
              <a:t>刚度</a:t>
            </a:r>
            <a:r>
              <a:rPr lang="zh-CN" altLang="en-US" sz="2000" dirty="0">
                <a:latin typeface="Tahoma" panose="020B0604030504040204" pitchFamily="34" charset="0"/>
                <a:ea typeface="华文中宋" panose="02010600040101010101" pitchFamily="2" charset="-122"/>
              </a:rPr>
              <a:t>，</a:t>
            </a:r>
            <a:r>
              <a:rPr lang="zh-CN" altLang="zh-CN" sz="2000" dirty="0">
                <a:latin typeface="Tahoma" panose="020B0604030504040204" pitchFamily="34" charset="0"/>
                <a:ea typeface="华文中宋" panose="02010600040101010101" pitchFamily="2" charset="-122"/>
              </a:rPr>
              <a:t>则应选用弹性模量较大的材料。</a:t>
            </a:r>
            <a:r>
              <a:rPr lang="zh-CN" altLang="zh-CN" sz="2000" dirty="0">
                <a:solidFill>
                  <a:srgbClr val="C00000"/>
                </a:solidFill>
                <a:latin typeface="Tahoma" panose="020B0604030504040204" pitchFamily="34" charset="0"/>
                <a:ea typeface="华文中宋" panose="02010600040101010101" pitchFamily="2" charset="-122"/>
              </a:rPr>
              <a:t>碳素结构钢和合金钢的弹性模量相差甚小</a:t>
            </a:r>
            <a:r>
              <a:rPr lang="zh-CN" altLang="en-US" sz="2000" dirty="0">
                <a:latin typeface="Tahoma" panose="020B0604030504040204" pitchFamily="34" charset="0"/>
                <a:ea typeface="华文中宋" panose="02010600040101010101" pitchFamily="2" charset="-122"/>
              </a:rPr>
              <a:t>，</a:t>
            </a:r>
            <a:r>
              <a:rPr lang="zh-CN" altLang="zh-CN" sz="2000" dirty="0">
                <a:latin typeface="Tahoma" panose="020B0604030504040204" pitchFamily="34" charset="0"/>
                <a:ea typeface="华文中宋" panose="02010600040101010101" pitchFamily="2" charset="-122"/>
              </a:rPr>
              <a:t>为提高刚度而选用后者是没有意义的。当截面积相同</a:t>
            </a:r>
            <a:r>
              <a:rPr lang="zh-CN" altLang="en-US" sz="2000" dirty="0">
                <a:latin typeface="Tahoma" panose="020B0604030504040204" pitchFamily="34" charset="0"/>
                <a:ea typeface="华文中宋" panose="02010600040101010101" pitchFamily="2" charset="-122"/>
              </a:rPr>
              <a:t>，</a:t>
            </a:r>
            <a:r>
              <a:rPr lang="zh-CN" altLang="zh-CN" sz="2000" dirty="0">
                <a:latin typeface="Tahoma" panose="020B0604030504040204" pitchFamily="34" charset="0"/>
                <a:ea typeface="华文中宋" panose="02010600040101010101" pitchFamily="2" charset="-122"/>
              </a:rPr>
              <a:t>改变零件形状能得到较大的刚度</a:t>
            </a:r>
            <a:r>
              <a:rPr lang="en-US" altLang="zh-CN" sz="2000" dirty="0">
                <a:latin typeface="Tahoma" panose="020B0604030504040204" pitchFamily="34" charset="0"/>
                <a:ea typeface="华文中宋" panose="02010600040101010101" pitchFamily="2" charset="-122"/>
              </a:rPr>
              <a:t>,</a:t>
            </a:r>
            <a:r>
              <a:rPr lang="zh-CN" altLang="zh-CN" sz="2000" dirty="0">
                <a:latin typeface="Tahoma" panose="020B0604030504040204" pitchFamily="34" charset="0"/>
                <a:ea typeface="华文中宋" panose="02010600040101010101" pitchFamily="2" charset="-122"/>
              </a:rPr>
              <a:t>如某些空心轴结构的应用。</a:t>
            </a:r>
            <a:endParaRPr lang="zh-CN" altLang="zh-CN" sz="2000" dirty="0">
              <a:latin typeface="Tahoma" panose="020B0604030504040204" pitchFamily="34" charset="0"/>
              <a:ea typeface="华文中宋" panose="02010600040101010101" pitchFamily="2" charset="-122"/>
            </a:endParaRPr>
          </a:p>
        </p:txBody>
      </p:sp>
      <p:sp>
        <p:nvSpPr>
          <p:cNvPr id="15" name="文本框 14"/>
          <p:cNvSpPr txBox="1"/>
          <p:nvPr/>
        </p:nvSpPr>
        <p:spPr>
          <a:xfrm>
            <a:off x="515620" y="3712528"/>
            <a:ext cx="8170863" cy="758190"/>
          </a:xfrm>
          <a:prstGeom prst="rect">
            <a:avLst/>
          </a:prstGeom>
          <a:noFill/>
          <a:ln w="9525">
            <a:solidFill>
              <a:srgbClr val="0000FF"/>
            </a:solidFill>
          </a:ln>
        </p:spPr>
        <p:txBody>
          <a:bodyPr anchor="t">
            <a:spAutoFit/>
          </a:bodyPr>
          <a:p>
            <a:pPr eaLnBrk="0" hangingPunct="0">
              <a:lnSpc>
                <a:spcPts val="2600"/>
              </a:lnSpc>
            </a:pPr>
            <a:r>
              <a:rPr lang="en-US" altLang="zh-CN" sz="1800" dirty="0">
                <a:latin typeface="Tahoma" panose="020B0604030504040204" pitchFamily="34" charset="0"/>
                <a:ea typeface="华文中宋" panose="02010600040101010101" pitchFamily="2" charset="-122"/>
              </a:rPr>
              <a:t>    </a:t>
            </a:r>
            <a:r>
              <a:rPr lang="zh-CN" altLang="zh-CN" sz="1800" dirty="0">
                <a:latin typeface="Tahoma" panose="020B0604030504040204" pitchFamily="34" charset="0"/>
                <a:ea typeface="华文中宋" panose="02010600040101010101" pitchFamily="2" charset="-122"/>
              </a:rPr>
              <a:t>（</a:t>
            </a:r>
            <a:r>
              <a:rPr lang="en-US" altLang="zh-CN" sz="2000" dirty="0">
                <a:latin typeface="Tahoma" panose="020B0604030504040204" pitchFamily="34" charset="0"/>
                <a:ea typeface="华文中宋" panose="02010600040101010101" pitchFamily="2" charset="-122"/>
              </a:rPr>
              <a:t>3</a:t>
            </a:r>
            <a:r>
              <a:rPr lang="zh-CN" altLang="zh-CN" sz="2000" dirty="0">
                <a:latin typeface="Tahoma" panose="020B0604030504040204" pitchFamily="34" charset="0"/>
                <a:ea typeface="华文中宋" panose="02010600040101010101" pitchFamily="2" charset="-122"/>
              </a:rPr>
              <a:t>）若零件的尺寸取决于</a:t>
            </a:r>
            <a:r>
              <a:rPr lang="zh-CN" altLang="zh-CN" sz="2000" dirty="0">
                <a:solidFill>
                  <a:srgbClr val="FF0000"/>
                </a:solidFill>
                <a:latin typeface="Tahoma" panose="020B0604030504040204" pitchFamily="34" charset="0"/>
                <a:ea typeface="华文中宋" panose="02010600040101010101" pitchFamily="2" charset="-122"/>
              </a:rPr>
              <a:t>接触强度</a:t>
            </a:r>
            <a:r>
              <a:rPr lang="zh-CN" altLang="en-US" sz="2000" dirty="0">
                <a:latin typeface="Tahoma" panose="020B0604030504040204" pitchFamily="34" charset="0"/>
                <a:ea typeface="华文中宋" panose="02010600040101010101" pitchFamily="2" charset="-122"/>
              </a:rPr>
              <a:t>，</a:t>
            </a:r>
            <a:r>
              <a:rPr lang="zh-CN" altLang="zh-CN" sz="2000" dirty="0">
                <a:latin typeface="Tahoma" panose="020B0604030504040204" pitchFamily="34" charset="0"/>
                <a:ea typeface="华文中宋" panose="02010600040101010101" pitchFamily="2" charset="-122"/>
              </a:rPr>
              <a:t>应选用可以进行表面强化处理的材料</a:t>
            </a:r>
            <a:r>
              <a:rPr lang="zh-CN" altLang="en-US" sz="2000" dirty="0">
                <a:latin typeface="Tahoma" panose="020B0604030504040204" pitchFamily="34" charset="0"/>
                <a:ea typeface="华文中宋" panose="02010600040101010101" pitchFamily="2" charset="-122"/>
              </a:rPr>
              <a:t>，</a:t>
            </a:r>
            <a:r>
              <a:rPr lang="zh-CN" altLang="zh-CN" sz="2000" dirty="0">
                <a:latin typeface="Tahoma" panose="020B0604030504040204" pitchFamily="34" charset="0"/>
                <a:ea typeface="华文中宋" panose="02010600040101010101" pitchFamily="2" charset="-122"/>
              </a:rPr>
              <a:t>如调质钢、渗碳钢、渗氮钢等。</a:t>
            </a:r>
            <a:endParaRPr lang="zh-CN" altLang="zh-CN" sz="2000" dirty="0">
              <a:latin typeface="Tahoma" panose="020B0604030504040204" pitchFamily="34" charset="0"/>
              <a:ea typeface="华文中宋" panose="02010600040101010101" pitchFamily="2" charset="-122"/>
            </a:endParaRPr>
          </a:p>
        </p:txBody>
      </p:sp>
      <p:sp>
        <p:nvSpPr>
          <p:cNvPr id="17" name="文本框 16"/>
          <p:cNvSpPr txBox="1"/>
          <p:nvPr/>
        </p:nvSpPr>
        <p:spPr>
          <a:xfrm>
            <a:off x="544195" y="4769803"/>
            <a:ext cx="8232775" cy="1091565"/>
          </a:xfrm>
          <a:prstGeom prst="rect">
            <a:avLst/>
          </a:prstGeom>
          <a:noFill/>
          <a:ln w="9525">
            <a:solidFill>
              <a:srgbClr val="0000FF"/>
            </a:solidFill>
          </a:ln>
        </p:spPr>
        <p:txBody>
          <a:bodyPr anchor="t">
            <a:spAutoFit/>
          </a:bodyPr>
          <a:p>
            <a:pPr eaLnBrk="0" hangingPunct="0">
              <a:lnSpc>
                <a:spcPts val="2600"/>
              </a:lnSpc>
            </a:pPr>
            <a:r>
              <a:rPr lang="en-US" altLang="zh-CN" sz="1800" dirty="0">
                <a:latin typeface="Tahoma" panose="020B0604030504040204" pitchFamily="34" charset="0"/>
                <a:ea typeface="华文中宋" panose="02010600040101010101" pitchFamily="2" charset="-122"/>
              </a:rPr>
              <a:t>    </a:t>
            </a:r>
            <a:r>
              <a:rPr lang="zh-CN" altLang="zh-CN" sz="2000" dirty="0">
                <a:latin typeface="Tahoma" panose="020B0604030504040204" pitchFamily="34" charset="0"/>
                <a:ea typeface="华文中宋" panose="02010600040101010101" pitchFamily="2" charset="-122"/>
              </a:rPr>
              <a:t>（</a:t>
            </a:r>
            <a:r>
              <a:rPr lang="en-US" altLang="zh-CN" sz="2000" dirty="0">
                <a:latin typeface="Tahoma" panose="020B0604030504040204" pitchFamily="34" charset="0"/>
                <a:ea typeface="华文中宋" panose="02010600040101010101" pitchFamily="2" charset="-122"/>
              </a:rPr>
              <a:t>4</a:t>
            </a:r>
            <a:r>
              <a:rPr lang="zh-CN" altLang="zh-CN" sz="2000" dirty="0">
                <a:latin typeface="Tahoma" panose="020B0604030504040204" pitchFamily="34" charset="0"/>
                <a:ea typeface="华文中宋" panose="02010600040101010101" pitchFamily="2" charset="-122"/>
              </a:rPr>
              <a:t>）滑动摩擦下工作的零件</a:t>
            </a:r>
            <a:r>
              <a:rPr lang="zh-CN" altLang="en-US" sz="2000" dirty="0">
                <a:latin typeface="Tahoma" panose="020B0604030504040204" pitchFamily="34" charset="0"/>
                <a:ea typeface="华文中宋" panose="02010600040101010101" pitchFamily="2" charset="-122"/>
              </a:rPr>
              <a:t>，</a:t>
            </a:r>
            <a:r>
              <a:rPr lang="zh-CN" altLang="zh-CN" sz="2000" dirty="0">
                <a:latin typeface="Tahoma" panose="020B0604030504040204" pitchFamily="34" charset="0"/>
                <a:ea typeface="华文中宋" panose="02010600040101010101" pitchFamily="2" charset="-122"/>
              </a:rPr>
              <a:t>为减小阻力应选用减摩性能好的材料。在高温下工作的零件</a:t>
            </a:r>
            <a:r>
              <a:rPr lang="zh-CN" altLang="en-US" sz="2000" dirty="0">
                <a:latin typeface="Tahoma" panose="020B0604030504040204" pitchFamily="34" charset="0"/>
                <a:ea typeface="华文中宋" panose="02010600040101010101" pitchFamily="2" charset="-122"/>
              </a:rPr>
              <a:t>，</a:t>
            </a:r>
            <a:r>
              <a:rPr lang="zh-CN" altLang="zh-CN" sz="2000" dirty="0">
                <a:latin typeface="Tahoma" panose="020B0604030504040204" pitchFamily="34" charset="0"/>
                <a:ea typeface="华文中宋" panose="02010600040101010101" pitchFamily="2" charset="-122"/>
              </a:rPr>
              <a:t>应选用耐热材料。在腐蚀介质中工作的零件应选用耐腐蚀材料等。</a:t>
            </a:r>
            <a:endParaRPr lang="zh-CN" altLang="zh-CN" sz="2000" dirty="0">
              <a:latin typeface="Tahoma" panose="020B0604030504040204" pitchFamily="34" charset="0"/>
              <a:ea typeface="华文中宋" panose="02010600040101010101" pitchFamily="2" charset="-122"/>
            </a:endParaRPr>
          </a:p>
        </p:txBody>
      </p:sp>
      <p:sp>
        <p:nvSpPr>
          <p:cNvPr id="18" name="文本框 17"/>
          <p:cNvSpPr txBox="1"/>
          <p:nvPr/>
        </p:nvSpPr>
        <p:spPr>
          <a:xfrm>
            <a:off x="231775" y="5999480"/>
            <a:ext cx="8679815" cy="398780"/>
          </a:xfrm>
          <a:prstGeom prst="rect">
            <a:avLst/>
          </a:prstGeom>
          <a:noFill/>
          <a:ln w="9525">
            <a:noFill/>
          </a:ln>
        </p:spPr>
        <p:txBody>
          <a:bodyPr wrap="square" anchor="t">
            <a:spAutoFit/>
          </a:bodyPr>
          <a:p>
            <a:pPr eaLnBrk="0" hangingPunct="0"/>
            <a:r>
              <a:rPr lang="en-US" altLang="zh-CN" sz="1800" dirty="0">
                <a:latin typeface="Tahoma" panose="020B0604030504040204" pitchFamily="34" charset="0"/>
                <a:ea typeface="华文中宋" panose="02010600040101010101" pitchFamily="2" charset="-122"/>
              </a:rPr>
              <a:t>    </a:t>
            </a:r>
            <a:r>
              <a:rPr lang="zh-CN" altLang="zh-CN" sz="2000" dirty="0">
                <a:latin typeface="Tahoma" panose="020B0604030504040204" pitchFamily="34" charset="0"/>
                <a:ea typeface="华文中宋" panose="02010600040101010101" pitchFamily="2" charset="-122"/>
              </a:rPr>
              <a:t>在选用材料时</a:t>
            </a:r>
            <a:r>
              <a:rPr lang="en-US" altLang="zh-CN" sz="2000" dirty="0">
                <a:latin typeface="Tahoma" panose="020B0604030504040204" pitchFamily="34" charset="0"/>
                <a:ea typeface="华文中宋" panose="02010600040101010101" pitchFamily="2" charset="-122"/>
              </a:rPr>
              <a:t>,</a:t>
            </a:r>
            <a:r>
              <a:rPr lang="zh-CN" altLang="zh-CN" sz="2000" dirty="0">
                <a:latin typeface="Tahoma" panose="020B0604030504040204" pitchFamily="34" charset="0"/>
                <a:ea typeface="华文中宋" panose="02010600040101010101" pitchFamily="2" charset="-122"/>
              </a:rPr>
              <a:t>应同时考虑采用何种热处理工艺</a:t>
            </a:r>
            <a:r>
              <a:rPr lang="zh-CN" altLang="en-US" sz="2000" dirty="0">
                <a:latin typeface="Tahoma" panose="020B0604030504040204" pitchFamily="34" charset="0"/>
                <a:ea typeface="华文中宋" panose="02010600040101010101" pitchFamily="2" charset="-122"/>
              </a:rPr>
              <a:t>，</a:t>
            </a:r>
            <a:r>
              <a:rPr lang="zh-CN" altLang="zh-CN" sz="2000" dirty="0">
                <a:latin typeface="Tahoma" panose="020B0604030504040204" pitchFamily="34" charset="0"/>
                <a:ea typeface="华文中宋" panose="02010600040101010101" pitchFamily="2" charset="-122"/>
              </a:rPr>
              <a:t>以充分发挥材料的潜力。</a:t>
            </a:r>
            <a:endParaRPr lang="zh-CN" altLang="zh-CN" sz="2000" dirty="0">
              <a:latin typeface="Tahoma" panose="020B0604030504040204" pitchFamily="34" charset="0"/>
              <a:ea typeface="华文中宋"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3989"/>
                                        </p:tgtEl>
                                        <p:attrNameLst>
                                          <p:attrName>style.visibility</p:attrName>
                                        </p:attrNameLst>
                                      </p:cBhvr>
                                      <p:to>
                                        <p:strVal val="visible"/>
                                      </p:to>
                                    </p:set>
                                    <p:anim calcmode="lin" valueType="num">
                                      <p:cBhvr additive="base">
                                        <p:cTn id="7" dur="500" fill="hold"/>
                                        <p:tgtEl>
                                          <p:spTgt spid="83989"/>
                                        </p:tgtEl>
                                        <p:attrNameLst>
                                          <p:attrName>ppt_x</p:attrName>
                                        </p:attrNameLst>
                                      </p:cBhvr>
                                      <p:tavLst>
                                        <p:tav tm="0">
                                          <p:val>
                                            <p:strVal val="0-#ppt_w/2"/>
                                          </p:val>
                                        </p:tav>
                                        <p:tav tm="100000">
                                          <p:val>
                                            <p:strVal val="#ppt_x"/>
                                          </p:val>
                                        </p:tav>
                                      </p:tavLst>
                                    </p:anim>
                                    <p:anim calcmode="lin" valueType="num">
                                      <p:cBhvr additive="base">
                                        <p:cTn id="8" dur="500" fill="hold"/>
                                        <p:tgtEl>
                                          <p:spTgt spid="8398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 presetClass="entr" presetSubtype="0" fill="hold" nodeType="afterEffect">
                                  <p:stCondLst>
                                    <p:cond delay="0"/>
                                  </p:stCondLst>
                                  <p:childTnLst>
                                    <p:set>
                                      <p:cBhvr>
                                        <p:cTn id="11" dur="1" fill="hold">
                                          <p:stCondLst>
                                            <p:cond delay="499"/>
                                          </p:stCondLst>
                                        </p:cTn>
                                        <p:tgtEl>
                                          <p:spTgt spid="13"/>
                                        </p:tgtEl>
                                        <p:attrNameLst>
                                          <p:attrName>style.visibility</p:attrName>
                                        </p:attrNameLst>
                                      </p:cBhvr>
                                      <p:to>
                                        <p:strVal val="visible"/>
                                      </p:to>
                                    </p:set>
                                  </p:childTnLst>
                                </p:cTn>
                              </p:par>
                            </p:childTnLst>
                          </p:cTn>
                        </p:par>
                        <p:par>
                          <p:cTn id="12" fill="hold">
                            <p:stCondLst>
                              <p:cond delay="1000"/>
                            </p:stCondLst>
                            <p:childTnLst>
                              <p:par>
                                <p:cTn id="13" presetID="1" presetClass="entr" presetSubtype="0" fill="hold" nodeType="afterEffect">
                                  <p:stCondLst>
                                    <p:cond delay="0"/>
                                  </p:stCondLst>
                                  <p:childTnLst>
                                    <p:set>
                                      <p:cBhvr>
                                        <p:cTn id="14" dur="1" fill="hold">
                                          <p:stCondLst>
                                            <p:cond delay="499"/>
                                          </p:stCondLst>
                                        </p:cTn>
                                        <p:tgtEl>
                                          <p:spTgt spid="14"/>
                                        </p:tgtEl>
                                        <p:attrNameLst>
                                          <p:attrName>style.visibility</p:attrName>
                                        </p:attrNameLst>
                                      </p:cBhvr>
                                      <p:to>
                                        <p:strVal val="visible"/>
                                      </p:to>
                                    </p:set>
                                  </p:childTnLst>
                                </p:cTn>
                              </p:par>
                            </p:childTnLst>
                          </p:cTn>
                        </p:par>
                        <p:par>
                          <p:cTn id="15" fill="hold">
                            <p:stCondLst>
                              <p:cond delay="1500"/>
                            </p:stCondLst>
                            <p:childTnLst>
                              <p:par>
                                <p:cTn id="16" presetID="2" presetClass="entr" presetSubtype="8" fill="hold" nodeType="after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additive="base">
                                        <p:cTn id="18" dur="500" fill="hold"/>
                                        <p:tgtEl>
                                          <p:spTgt spid="12"/>
                                        </p:tgtEl>
                                        <p:attrNameLst>
                                          <p:attrName>ppt_x</p:attrName>
                                        </p:attrNameLst>
                                      </p:cBhvr>
                                      <p:tavLst>
                                        <p:tav tm="0">
                                          <p:val>
                                            <p:strVal val="0-#ppt_w/2"/>
                                          </p:val>
                                        </p:tav>
                                        <p:tav tm="100000">
                                          <p:val>
                                            <p:strVal val="#ppt_x"/>
                                          </p:val>
                                        </p:tav>
                                      </p:tavLst>
                                    </p:anim>
                                    <p:anim calcmode="lin" valueType="num">
                                      <p:cBhvr additive="base">
                                        <p:cTn id="19"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4">
                                            <p:txEl>
                                              <p:charRg st="0" end="17"/>
                                            </p:txEl>
                                          </p:spTgt>
                                        </p:tgtEl>
                                        <p:attrNameLst>
                                          <p:attrName>style.visibility</p:attrName>
                                        </p:attrNameLst>
                                      </p:cBhvr>
                                      <p:to>
                                        <p:strVal val="visible"/>
                                      </p:to>
                                    </p:set>
                                    <p:animEffect transition="in" filter="wipe(left)">
                                      <p:cBhvr>
                                        <p:cTn id="24" dur="500"/>
                                        <p:tgtEl>
                                          <p:spTgt spid="4">
                                            <p:txEl>
                                              <p:charRg st="0" end="17"/>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left)">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wipe(left)">
                                      <p:cBhvr>
                                        <p:cTn id="39" dur="50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wipe(left)">
                                      <p:cBhvr>
                                        <p:cTn id="44" dur="500"/>
                                        <p:tgtEl>
                                          <p:spTgt spid="17"/>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wipe(left)">
                                      <p:cBhvr>
                                        <p:cTn id="4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89" grpId="0"/>
      <p:bldP spid="10" grpId="0" bldLvl="0" animBg="1"/>
      <p:bldP spid="11" grpId="0" bldLvl="0" animBg="1"/>
      <p:bldP spid="15" grpId="0" bldLvl="0" animBg="1"/>
      <p:bldP spid="17" grpId="0" bldLvl="0" animBg="1"/>
      <p:bldP spid="1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89" name="Text Box 21"/>
          <p:cNvSpPr txBox="1"/>
          <p:nvPr/>
        </p:nvSpPr>
        <p:spPr>
          <a:xfrm>
            <a:off x="7353300" y="6256338"/>
            <a:ext cx="271463" cy="427037"/>
          </a:xfrm>
          <a:prstGeom prst="rect">
            <a:avLst/>
          </a:prstGeom>
          <a:noFill/>
          <a:ln w="9525">
            <a:noFill/>
          </a:ln>
        </p:spPr>
        <p:txBody>
          <a:bodyPr wrap="none" anchor="t">
            <a:spAutoFit/>
          </a:bodyPr>
          <a:p>
            <a:r>
              <a:rPr lang="en-US" altLang="zh-CN" dirty="0">
                <a:latin typeface="Tahoma" panose="020B0604030504040204" pitchFamily="34" charset="0"/>
                <a:ea typeface="华文中宋" panose="02010600040101010101" pitchFamily="2" charset="-122"/>
              </a:rPr>
              <a:t> </a:t>
            </a:r>
            <a:endParaRPr lang="en-US" altLang="zh-CN" dirty="0">
              <a:latin typeface="Tahoma" panose="020B0604030504040204" pitchFamily="34" charset="0"/>
              <a:ea typeface="华文中宋" panose="02010600040101010101" pitchFamily="2" charset="-122"/>
            </a:endParaRPr>
          </a:p>
        </p:txBody>
      </p:sp>
      <p:pic>
        <p:nvPicPr>
          <p:cNvPr id="12" name="Picture 4" descr="rewind1">
            <a:hlinkClick r:id="rId1" action="ppaction://hlinksldjump"/>
          </p:cNvPr>
          <p:cNvPicPr>
            <a:picLocks noChangeAspect="1"/>
          </p:cNvPicPr>
          <p:nvPr/>
        </p:nvPicPr>
        <p:blipFill>
          <a:blip r:embed="rId2"/>
          <a:stretch>
            <a:fillRect/>
          </a:stretch>
        </p:blipFill>
        <p:spPr>
          <a:xfrm>
            <a:off x="7872413" y="6535738"/>
            <a:ext cx="287337" cy="287337"/>
          </a:xfrm>
          <a:prstGeom prst="rect">
            <a:avLst/>
          </a:prstGeom>
          <a:noFill/>
          <a:ln w="9525">
            <a:noFill/>
          </a:ln>
        </p:spPr>
      </p:pic>
      <p:pic>
        <p:nvPicPr>
          <p:cNvPr id="13" name="Picture 5" descr="back1">
            <a:hlinkClick r:id="" action="ppaction://hlinkshowjump?jump=previousslide"/>
          </p:cNvPr>
          <p:cNvPicPr>
            <a:picLocks noChangeAspect="1"/>
          </p:cNvPicPr>
          <p:nvPr/>
        </p:nvPicPr>
        <p:blipFill>
          <a:blip r:embed="rId3"/>
          <a:stretch>
            <a:fillRect/>
          </a:stretch>
        </p:blipFill>
        <p:spPr>
          <a:xfrm>
            <a:off x="8280400" y="6535738"/>
            <a:ext cx="287338" cy="287337"/>
          </a:xfrm>
          <a:prstGeom prst="rect">
            <a:avLst/>
          </a:prstGeom>
          <a:noFill/>
          <a:ln w="9525">
            <a:noFill/>
          </a:ln>
        </p:spPr>
      </p:pic>
      <p:pic>
        <p:nvPicPr>
          <p:cNvPr id="14" name="Picture 6" descr="NEXT1">
            <a:hlinkClick r:id="" action="ppaction://hlinkshowjump?jump=nextslide"/>
          </p:cNvPr>
          <p:cNvPicPr>
            <a:picLocks noChangeAspect="1"/>
          </p:cNvPicPr>
          <p:nvPr/>
        </p:nvPicPr>
        <p:blipFill>
          <a:blip r:embed="rId4"/>
          <a:stretch>
            <a:fillRect/>
          </a:stretch>
        </p:blipFill>
        <p:spPr>
          <a:xfrm>
            <a:off x="8689975" y="6535738"/>
            <a:ext cx="287338" cy="287337"/>
          </a:xfrm>
          <a:prstGeom prst="rect">
            <a:avLst/>
          </a:prstGeom>
          <a:noFill/>
          <a:ln w="9525">
            <a:noFill/>
          </a:ln>
        </p:spPr>
      </p:pic>
      <p:sp>
        <p:nvSpPr>
          <p:cNvPr id="4" name="文本框 3"/>
          <p:cNvSpPr txBox="1"/>
          <p:nvPr/>
        </p:nvSpPr>
        <p:spPr>
          <a:xfrm>
            <a:off x="535305" y="476885"/>
            <a:ext cx="6752590" cy="460375"/>
          </a:xfrm>
          <a:prstGeom prst="rect">
            <a:avLst/>
          </a:prstGeom>
          <a:noFill/>
          <a:ln w="9525">
            <a:noFill/>
          </a:ln>
        </p:spPr>
        <p:txBody>
          <a:bodyPr wrap="square" anchor="t">
            <a:spAutoFit/>
          </a:bodyPr>
          <a:p>
            <a:pPr eaLnBrk="0" hangingPunct="0"/>
            <a:r>
              <a:rPr lang="zh-CN" altLang="zh-CN" sz="2400" dirty="0">
                <a:latin typeface="Tahoma" panose="020B0604030504040204" pitchFamily="34" charset="0"/>
                <a:ea typeface="华文中宋" panose="02010600040101010101" pitchFamily="2" charset="-122"/>
              </a:rPr>
              <a:t>按</a:t>
            </a:r>
            <a:r>
              <a:rPr lang="zh-CN" altLang="en-US" sz="2400" dirty="0">
                <a:latin typeface="Tahoma" panose="020B0604030504040204" pitchFamily="34" charset="0"/>
                <a:ea typeface="华文中宋" panose="02010600040101010101" pitchFamily="2" charset="-122"/>
              </a:rPr>
              <a:t>工艺</a:t>
            </a:r>
            <a:r>
              <a:rPr lang="zh-CN" altLang="zh-CN" sz="2400" dirty="0">
                <a:latin typeface="Tahoma" panose="020B0604030504040204" pitchFamily="34" charset="0"/>
                <a:ea typeface="华文中宋" panose="02010600040101010101" pitchFamily="2" charset="-122"/>
              </a:rPr>
              <a:t>要求选用材料的一般原则是</a:t>
            </a:r>
            <a:r>
              <a:rPr lang="en-US" altLang="zh-CN" sz="2400" dirty="0">
                <a:latin typeface="Tahoma" panose="020B0604030504040204" pitchFamily="34" charset="0"/>
                <a:ea typeface="华文中宋" panose="02010600040101010101" pitchFamily="2" charset="-122"/>
              </a:rPr>
              <a:t>:</a:t>
            </a:r>
            <a:endParaRPr lang="zh-CN" altLang="zh-CN" sz="2400" dirty="0">
              <a:latin typeface="Tahoma" panose="020B0604030504040204" pitchFamily="34" charset="0"/>
              <a:ea typeface="华文中宋" panose="02010600040101010101" pitchFamily="2" charset="-122"/>
            </a:endParaRPr>
          </a:p>
        </p:txBody>
      </p:sp>
      <p:sp>
        <p:nvSpPr>
          <p:cNvPr id="10" name="文本框 9"/>
          <p:cNvSpPr txBox="1"/>
          <p:nvPr/>
        </p:nvSpPr>
        <p:spPr>
          <a:xfrm>
            <a:off x="452755" y="3862705"/>
            <a:ext cx="8328025" cy="398780"/>
          </a:xfrm>
          <a:prstGeom prst="rect">
            <a:avLst/>
          </a:prstGeom>
          <a:noFill/>
          <a:ln w="9525">
            <a:solidFill>
              <a:srgbClr val="00B050"/>
            </a:solidFill>
          </a:ln>
        </p:spPr>
        <p:txBody>
          <a:bodyPr wrap="square" anchor="t">
            <a:spAutoFit/>
          </a:bodyPr>
          <a:p>
            <a:pPr algn="l" eaLnBrk="0" hangingPunct="0">
              <a:lnSpc>
                <a:spcPct val="100000"/>
              </a:lnSpc>
              <a:buClrTx/>
              <a:buSzTx/>
              <a:buFontTx/>
            </a:pPr>
            <a:r>
              <a:rPr lang="en-US" altLang="zh-CN" sz="1800" dirty="0">
                <a:latin typeface="Tahoma" panose="020B0604030504040204" pitchFamily="34" charset="0"/>
                <a:ea typeface="华文中宋" panose="02010600040101010101" pitchFamily="2" charset="-122"/>
              </a:rPr>
              <a:t> </a:t>
            </a:r>
            <a:r>
              <a:rPr lang="zh-CN" altLang="zh-CN" sz="1800" dirty="0">
                <a:latin typeface="Tahoma" panose="020B0604030504040204" pitchFamily="34" charset="0"/>
                <a:ea typeface="华文中宋" panose="02010600040101010101" pitchFamily="2" charset="-122"/>
              </a:rPr>
              <a:t>（</a:t>
            </a:r>
            <a:r>
              <a:rPr lang="zh-CN" altLang="zh-CN" sz="2000" dirty="0">
                <a:latin typeface="Tahoma" panose="020B0604030504040204" pitchFamily="34" charset="0"/>
                <a:ea typeface="华文中宋" panose="02010600040101010101" pitchFamily="2" charset="-122"/>
              </a:rPr>
              <a:t>4）对于锻件，要视批量大小而决定采用模锻或自由锻。</a:t>
            </a:r>
            <a:endParaRPr lang="zh-CN" altLang="zh-CN" sz="2000" dirty="0">
              <a:latin typeface="Tahoma" panose="020B0604030504040204" pitchFamily="34" charset="0"/>
              <a:ea typeface="华文中宋" panose="02010600040101010101" pitchFamily="2" charset="-122"/>
            </a:endParaRPr>
          </a:p>
        </p:txBody>
      </p:sp>
      <p:sp>
        <p:nvSpPr>
          <p:cNvPr id="11" name="文本框 10"/>
          <p:cNvSpPr txBox="1"/>
          <p:nvPr/>
        </p:nvSpPr>
        <p:spPr>
          <a:xfrm>
            <a:off x="458470" y="2935605"/>
            <a:ext cx="8352790" cy="706755"/>
          </a:xfrm>
          <a:prstGeom prst="rect">
            <a:avLst/>
          </a:prstGeom>
          <a:noFill/>
          <a:ln w="9525">
            <a:solidFill>
              <a:srgbClr val="00B050"/>
            </a:solidFill>
          </a:ln>
        </p:spPr>
        <p:txBody>
          <a:bodyPr wrap="square" anchor="t">
            <a:spAutoFit/>
          </a:bodyPr>
          <a:p>
            <a:pPr algn="l" eaLnBrk="0" hangingPunct="0">
              <a:lnSpc>
                <a:spcPct val="100000"/>
              </a:lnSpc>
              <a:buClrTx/>
              <a:buSzTx/>
              <a:buFontTx/>
            </a:pPr>
            <a:r>
              <a:rPr lang="zh-CN" altLang="zh-CN" sz="2000" dirty="0">
                <a:latin typeface="Tahoma" panose="020B0604030504040204" pitchFamily="34" charset="0"/>
                <a:ea typeface="华文中宋" panose="02010600040101010101" pitchFamily="2" charset="-122"/>
              </a:rPr>
              <a:t>（3）形状复杂、尺寸较大的零件采用铸造时，必须考虑材料的铸造性能    在结构上也必须要符合铸造要求。</a:t>
            </a:r>
            <a:endParaRPr lang="zh-CN" altLang="zh-CN" sz="2000" dirty="0">
              <a:latin typeface="Tahoma" panose="020B0604030504040204" pitchFamily="34" charset="0"/>
              <a:ea typeface="华文中宋" panose="02010600040101010101" pitchFamily="2" charset="-122"/>
            </a:endParaRPr>
          </a:p>
        </p:txBody>
      </p:sp>
      <p:sp>
        <p:nvSpPr>
          <p:cNvPr id="15" name="文本框 14"/>
          <p:cNvSpPr txBox="1"/>
          <p:nvPr/>
        </p:nvSpPr>
        <p:spPr>
          <a:xfrm>
            <a:off x="458470" y="1087755"/>
            <a:ext cx="8352155" cy="706755"/>
          </a:xfrm>
          <a:prstGeom prst="rect">
            <a:avLst/>
          </a:prstGeom>
          <a:noFill/>
          <a:ln w="9525">
            <a:solidFill>
              <a:srgbClr val="00B050"/>
            </a:solidFill>
          </a:ln>
        </p:spPr>
        <p:txBody>
          <a:bodyPr wrap="square" anchor="t">
            <a:spAutoFit/>
          </a:bodyPr>
          <a:p>
            <a:pPr eaLnBrk="0" hangingPunct="0"/>
            <a:r>
              <a:rPr lang="en-US" altLang="zh-CN" sz="1800" dirty="0">
                <a:latin typeface="Tahoma" panose="020B0604030504040204" pitchFamily="34" charset="0"/>
                <a:ea typeface="华文中宋" panose="02010600040101010101" pitchFamily="2" charset="-122"/>
              </a:rPr>
              <a:t>  </a:t>
            </a:r>
            <a:r>
              <a:rPr lang="zh-CN" altLang="zh-CN" sz="2000" dirty="0">
                <a:latin typeface="Tahoma" panose="020B0604030504040204" pitchFamily="34" charset="0"/>
                <a:ea typeface="华文中宋" panose="02010600040101010101" pitchFamily="2" charset="-122"/>
              </a:rPr>
              <a:t>（</a:t>
            </a:r>
            <a:r>
              <a:rPr lang="en-US" altLang="zh-CN" sz="2000" dirty="0">
                <a:latin typeface="Tahoma" panose="020B0604030504040204" pitchFamily="34" charset="0"/>
                <a:ea typeface="华文中宋" panose="02010600040101010101" pitchFamily="2" charset="-122"/>
              </a:rPr>
              <a:t>1</a:t>
            </a:r>
            <a:r>
              <a:rPr lang="zh-CN" altLang="zh-CN" sz="2000" dirty="0">
                <a:latin typeface="Tahoma" panose="020B0604030504040204" pitchFamily="34" charset="0"/>
                <a:ea typeface="华文中宋" panose="02010600040101010101" pitchFamily="2" charset="-122"/>
              </a:rPr>
              <a:t>）对于尺寸较小的齿轮坯、蜗杆、轴类等旋转体零件</a:t>
            </a:r>
            <a:r>
              <a:rPr lang="zh-CN" altLang="en-US" sz="2000" dirty="0">
                <a:latin typeface="Tahoma" panose="020B0604030504040204" pitchFamily="34" charset="0"/>
                <a:ea typeface="华文中宋" panose="02010600040101010101" pitchFamily="2" charset="-122"/>
              </a:rPr>
              <a:t>，</a:t>
            </a:r>
            <a:r>
              <a:rPr lang="zh-CN" altLang="zh-CN" sz="2000" dirty="0">
                <a:latin typeface="Tahoma" panose="020B0604030504040204" pitchFamily="34" charset="0"/>
                <a:ea typeface="华文中宋" panose="02010600040101010101" pitchFamily="2" charset="-122"/>
              </a:rPr>
              <a:t>可采用钢、铜合金、铝合金棒料直接进行机械加工。</a:t>
            </a:r>
            <a:endParaRPr lang="zh-CN" altLang="zh-CN" sz="2000" dirty="0">
              <a:latin typeface="Tahoma" panose="020B0604030504040204" pitchFamily="34" charset="0"/>
              <a:ea typeface="华文中宋" panose="02010600040101010101" pitchFamily="2" charset="-122"/>
            </a:endParaRPr>
          </a:p>
        </p:txBody>
      </p:sp>
      <p:sp>
        <p:nvSpPr>
          <p:cNvPr id="17" name="文本框 16"/>
          <p:cNvSpPr txBox="1"/>
          <p:nvPr/>
        </p:nvSpPr>
        <p:spPr>
          <a:xfrm>
            <a:off x="452755" y="1944370"/>
            <a:ext cx="8387715" cy="706755"/>
          </a:xfrm>
          <a:prstGeom prst="rect">
            <a:avLst/>
          </a:prstGeom>
          <a:noFill/>
          <a:ln w="9525">
            <a:solidFill>
              <a:srgbClr val="00B050"/>
            </a:solidFill>
          </a:ln>
        </p:spPr>
        <p:txBody>
          <a:bodyPr wrap="square" anchor="t">
            <a:spAutoFit/>
          </a:bodyPr>
          <a:p>
            <a:pPr algn="l" eaLnBrk="0" hangingPunct="0">
              <a:lnSpc>
                <a:spcPct val="100000"/>
              </a:lnSpc>
              <a:buClrTx/>
              <a:buSzTx/>
              <a:buFontTx/>
            </a:pPr>
            <a:r>
              <a:rPr lang="en-US" altLang="zh-CN" sz="1800" dirty="0">
                <a:latin typeface="Tahoma" panose="020B0604030504040204" pitchFamily="34" charset="0"/>
                <a:ea typeface="华文中宋" panose="02010600040101010101" pitchFamily="2" charset="-122"/>
              </a:rPr>
              <a:t>  </a:t>
            </a:r>
            <a:r>
              <a:rPr lang="zh-CN" altLang="zh-CN" sz="2000" dirty="0">
                <a:latin typeface="Tahoma" panose="020B0604030504040204" pitchFamily="34" charset="0"/>
                <a:ea typeface="华文中宋" panose="02010600040101010101" pitchFamily="2" charset="-122"/>
              </a:rPr>
              <a:t>（2）对于形状简单、薄壁、高度或深度小的零件，如生产批量较大时，考虑采用低碳钢、铜、铝等塑性好的材料，由压力加工成形。</a:t>
            </a:r>
            <a:endParaRPr lang="zh-CN" altLang="zh-CN" sz="2000" dirty="0">
              <a:latin typeface="Tahoma" panose="020B0604030504040204" pitchFamily="34" charset="0"/>
              <a:ea typeface="华文中宋" panose="02010600040101010101" pitchFamily="2" charset="-122"/>
            </a:endParaRPr>
          </a:p>
        </p:txBody>
      </p:sp>
      <p:sp>
        <p:nvSpPr>
          <p:cNvPr id="18" name="文本框 17"/>
          <p:cNvSpPr txBox="1"/>
          <p:nvPr/>
        </p:nvSpPr>
        <p:spPr>
          <a:xfrm>
            <a:off x="473075" y="4563745"/>
            <a:ext cx="8322310" cy="706755"/>
          </a:xfrm>
          <a:prstGeom prst="rect">
            <a:avLst/>
          </a:prstGeom>
          <a:noFill/>
          <a:ln w="9525">
            <a:solidFill>
              <a:srgbClr val="00B050"/>
            </a:solidFill>
          </a:ln>
        </p:spPr>
        <p:txBody>
          <a:bodyPr wrap="square" anchor="t">
            <a:spAutoFit/>
          </a:bodyPr>
          <a:p>
            <a:pPr algn="l" eaLnBrk="0" hangingPunct="0">
              <a:buClrTx/>
              <a:buSzTx/>
              <a:buFontTx/>
            </a:pPr>
            <a:r>
              <a:rPr lang="en-US" altLang="zh-CN" sz="1800" dirty="0">
                <a:latin typeface="Tahoma" panose="020B0604030504040204" pitchFamily="34" charset="0"/>
                <a:ea typeface="华文中宋" panose="02010600040101010101" pitchFamily="2" charset="-122"/>
              </a:rPr>
              <a:t> </a:t>
            </a:r>
            <a:r>
              <a:rPr lang="zh-CN" altLang="zh-CN" sz="2000" dirty="0">
                <a:latin typeface="Tahoma" panose="020B0604030504040204" pitchFamily="34" charset="0"/>
                <a:ea typeface="华文中宋" panose="02010600040101010101" pitchFamily="2" charset="-122"/>
              </a:rPr>
              <a:t>（5）在自动机床上进行大批量生产的零件，应考虑材料的切削性能好（易断屑、刀具磨损小、表面光滑等）。</a:t>
            </a:r>
            <a:endParaRPr lang="zh-CN" altLang="zh-CN" sz="2000" dirty="0">
              <a:latin typeface="Tahoma" panose="020B0604030504040204" pitchFamily="34" charset="0"/>
              <a:ea typeface="华文中宋" panose="02010600040101010101" pitchFamily="2" charset="-122"/>
            </a:endParaRPr>
          </a:p>
        </p:txBody>
      </p:sp>
      <p:sp>
        <p:nvSpPr>
          <p:cNvPr id="3" name="文本框 2"/>
          <p:cNvSpPr txBox="1"/>
          <p:nvPr/>
        </p:nvSpPr>
        <p:spPr>
          <a:xfrm>
            <a:off x="473075" y="5473065"/>
            <a:ext cx="8397875" cy="706755"/>
          </a:xfrm>
          <a:prstGeom prst="rect">
            <a:avLst/>
          </a:prstGeom>
          <a:noFill/>
          <a:ln w="9525">
            <a:solidFill>
              <a:srgbClr val="00B050"/>
            </a:solidFill>
          </a:ln>
        </p:spPr>
        <p:txBody>
          <a:bodyPr wrap="square" anchor="t">
            <a:spAutoFit/>
          </a:bodyPr>
          <a:p>
            <a:pPr algn="l" eaLnBrk="0" latinLnBrk="0" hangingPunct="1">
              <a:buClrTx/>
              <a:buSzTx/>
              <a:buFontTx/>
            </a:pPr>
            <a:r>
              <a:rPr lang="en-US" altLang="zh-CN" sz="1800" dirty="0">
                <a:latin typeface="Tahoma" panose="020B0604030504040204" pitchFamily="34" charset="0"/>
                <a:ea typeface="华文中宋" panose="02010600040101010101" pitchFamily="2" charset="-122"/>
              </a:rPr>
              <a:t> </a:t>
            </a:r>
            <a:r>
              <a:rPr lang="zh-CN" altLang="zh-CN" sz="2000" dirty="0">
                <a:latin typeface="Tahoma" panose="020B0604030504040204" pitchFamily="34" charset="0"/>
                <a:ea typeface="华文中宋" panose="02010600040101010101" pitchFamily="2" charset="-122"/>
              </a:rPr>
              <a:t>（6）选择材料时，还必须考虑材料的热处理工艺性能（淬透性、淬硬性、 变形开裂倾向性、回火脆性等）。</a:t>
            </a:r>
            <a:endParaRPr lang="zh-CN" altLang="zh-CN" sz="2000" dirty="0">
              <a:latin typeface="Tahoma" panose="020B0604030504040204" pitchFamily="34" charset="0"/>
              <a:ea typeface="华文中宋"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3989"/>
                                        </p:tgtEl>
                                        <p:attrNameLst>
                                          <p:attrName>style.visibility</p:attrName>
                                        </p:attrNameLst>
                                      </p:cBhvr>
                                      <p:to>
                                        <p:strVal val="visible"/>
                                      </p:to>
                                    </p:set>
                                    <p:anim calcmode="lin" valueType="num">
                                      <p:cBhvr additive="base">
                                        <p:cTn id="7" dur="500" fill="hold"/>
                                        <p:tgtEl>
                                          <p:spTgt spid="83989"/>
                                        </p:tgtEl>
                                        <p:attrNameLst>
                                          <p:attrName>ppt_x</p:attrName>
                                        </p:attrNameLst>
                                      </p:cBhvr>
                                      <p:tavLst>
                                        <p:tav tm="0">
                                          <p:val>
                                            <p:strVal val="0-#ppt_w/2"/>
                                          </p:val>
                                        </p:tav>
                                        <p:tav tm="100000">
                                          <p:val>
                                            <p:strVal val="#ppt_x"/>
                                          </p:val>
                                        </p:tav>
                                      </p:tavLst>
                                    </p:anim>
                                    <p:anim calcmode="lin" valueType="num">
                                      <p:cBhvr additive="base">
                                        <p:cTn id="8" dur="500" fill="hold"/>
                                        <p:tgtEl>
                                          <p:spTgt spid="8398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 presetClass="entr" presetSubtype="0" fill="hold" nodeType="afterEffect">
                                  <p:stCondLst>
                                    <p:cond delay="0"/>
                                  </p:stCondLst>
                                  <p:childTnLst>
                                    <p:set>
                                      <p:cBhvr>
                                        <p:cTn id="11" dur="1" fill="hold">
                                          <p:stCondLst>
                                            <p:cond delay="499"/>
                                          </p:stCondLst>
                                        </p:cTn>
                                        <p:tgtEl>
                                          <p:spTgt spid="13"/>
                                        </p:tgtEl>
                                        <p:attrNameLst>
                                          <p:attrName>style.visibility</p:attrName>
                                        </p:attrNameLst>
                                      </p:cBhvr>
                                      <p:to>
                                        <p:strVal val="visible"/>
                                      </p:to>
                                    </p:set>
                                  </p:childTnLst>
                                </p:cTn>
                              </p:par>
                            </p:childTnLst>
                          </p:cTn>
                        </p:par>
                        <p:par>
                          <p:cTn id="12" fill="hold">
                            <p:stCondLst>
                              <p:cond delay="1000"/>
                            </p:stCondLst>
                            <p:childTnLst>
                              <p:par>
                                <p:cTn id="13" presetID="1" presetClass="entr" presetSubtype="0" fill="hold" nodeType="afterEffect">
                                  <p:stCondLst>
                                    <p:cond delay="0"/>
                                  </p:stCondLst>
                                  <p:childTnLst>
                                    <p:set>
                                      <p:cBhvr>
                                        <p:cTn id="14" dur="1" fill="hold">
                                          <p:stCondLst>
                                            <p:cond delay="499"/>
                                          </p:stCondLst>
                                        </p:cTn>
                                        <p:tgtEl>
                                          <p:spTgt spid="14"/>
                                        </p:tgtEl>
                                        <p:attrNameLst>
                                          <p:attrName>style.visibility</p:attrName>
                                        </p:attrNameLst>
                                      </p:cBhvr>
                                      <p:to>
                                        <p:strVal val="visible"/>
                                      </p:to>
                                    </p:set>
                                  </p:childTnLst>
                                </p:cTn>
                              </p:par>
                            </p:childTnLst>
                          </p:cTn>
                        </p:par>
                        <p:par>
                          <p:cTn id="15" fill="hold">
                            <p:stCondLst>
                              <p:cond delay="1500"/>
                            </p:stCondLst>
                            <p:childTnLst>
                              <p:par>
                                <p:cTn id="16" presetID="2" presetClass="entr" presetSubtype="8" fill="hold" nodeType="after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additive="base">
                                        <p:cTn id="18" dur="500" fill="hold"/>
                                        <p:tgtEl>
                                          <p:spTgt spid="12"/>
                                        </p:tgtEl>
                                        <p:attrNameLst>
                                          <p:attrName>ppt_x</p:attrName>
                                        </p:attrNameLst>
                                      </p:cBhvr>
                                      <p:tavLst>
                                        <p:tav tm="0">
                                          <p:val>
                                            <p:strVal val="0-#ppt_w/2"/>
                                          </p:val>
                                        </p:tav>
                                        <p:tav tm="100000">
                                          <p:val>
                                            <p:strVal val="#ppt_x"/>
                                          </p:val>
                                        </p:tav>
                                      </p:tavLst>
                                    </p:anim>
                                    <p:anim calcmode="lin" valueType="num">
                                      <p:cBhvr additive="base">
                                        <p:cTn id="19"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4">
                                            <p:txEl>
                                              <p:charRg st="0" end="17"/>
                                            </p:txEl>
                                          </p:spTgt>
                                        </p:tgtEl>
                                        <p:attrNameLst>
                                          <p:attrName>style.visibility</p:attrName>
                                        </p:attrNameLst>
                                      </p:cBhvr>
                                      <p:to>
                                        <p:strVal val="visible"/>
                                      </p:to>
                                    </p:set>
                                    <p:animEffect transition="in" filter="wipe(left)">
                                      <p:cBhvr>
                                        <p:cTn id="24" dur="500"/>
                                        <p:tgtEl>
                                          <p:spTgt spid="4">
                                            <p:txEl>
                                              <p:charRg st="0" end="17"/>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left)">
                                      <p:cBhvr>
                                        <p:cTn id="29" dur="5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left)">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left)">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wipe(left)">
                                      <p:cBhvr>
                                        <p:cTn id="44" dur="500"/>
                                        <p:tgtEl>
                                          <p:spTgt spid="10"/>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wipe(left)">
                                      <p:cBhvr>
                                        <p:cTn id="49" dur="500"/>
                                        <p:tgtEl>
                                          <p:spTgt spid="18"/>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3"/>
                                        </p:tgtEl>
                                        <p:attrNameLst>
                                          <p:attrName>style.visibility</p:attrName>
                                        </p:attrNameLst>
                                      </p:cBhvr>
                                      <p:to>
                                        <p:strVal val="visible"/>
                                      </p:to>
                                    </p:set>
                                    <p:animEffect transition="in" filter="wipe(left)">
                                      <p:cBhvr>
                                        <p:cTn id="5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89" grpId="0"/>
      <p:bldP spid="10" grpId="0" bldLvl="0" animBg="1"/>
      <p:bldP spid="11" grpId="0" bldLvl="0" animBg="1"/>
      <p:bldP spid="15" grpId="0" bldLvl="0" animBg="1"/>
      <p:bldP spid="17" grpId="0" bldLvl="0" animBg="1"/>
      <p:bldP spid="18" grpId="0" bldLvl="0" animBg="1"/>
      <p:bldP spid="3"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bwMode="auto">
          <a:xfrm>
            <a:off x="5257800" y="685800"/>
            <a:ext cx="16002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spcAft>
                <a:spcPts val="0"/>
              </a:spcAft>
            </a:pPr>
            <a:r>
              <a:rPr lang="zh-CN" altLang="en-US" sz="800" smtClean="0">
                <a:solidFill>
                  <a:schemeClr val="bg1"/>
                </a:solidFill>
                <a:latin typeface="华文中宋" panose="02010600040101010101" pitchFamily="2" charset="-122"/>
                <a:ea typeface="华文中宋" panose="02010600040101010101" pitchFamily="2" charset="-122"/>
              </a:rPr>
              <a:t>机械现代设计方法简介</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20482" name="Rectangle 3"/>
          <p:cNvSpPr>
            <a:spLocks noChangeArrowheads="1"/>
          </p:cNvSpPr>
          <p:nvPr/>
        </p:nvSpPr>
        <p:spPr bwMode="auto">
          <a:xfrm>
            <a:off x="1355725" y="259080"/>
            <a:ext cx="6873875" cy="426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p>
            <a:pPr>
              <a:spcAft>
                <a:spcPts val="0"/>
              </a:spcAft>
            </a:pPr>
            <a:r>
              <a:rPr lang="en-US" altLang="zh-CN" sz="3000" dirty="0" smtClean="0">
                <a:solidFill>
                  <a:srgbClr val="CC0000"/>
                </a:solidFill>
                <a:latin typeface="黑体" panose="02010609060101010101" pitchFamily="49" charset="-122"/>
                <a:ea typeface="黑体" panose="02010609060101010101" pitchFamily="49" charset="-122"/>
              </a:rPr>
              <a:t>1.2-8   </a:t>
            </a:r>
            <a:r>
              <a:rPr lang="zh-CN" altLang="en-US" sz="3000" dirty="0">
                <a:solidFill>
                  <a:srgbClr val="CC0000"/>
                </a:solidFill>
                <a:latin typeface="黑体" panose="02010609060101010101" pitchFamily="49" charset="-122"/>
                <a:ea typeface="黑体" panose="02010609060101010101" pitchFamily="49" charset="-122"/>
              </a:rPr>
              <a:t>零件的工艺性</a:t>
            </a:r>
            <a:endParaRPr lang="zh-CN" altLang="en-US" sz="3000" dirty="0">
              <a:solidFill>
                <a:srgbClr val="CC0000"/>
              </a:solidFill>
              <a:latin typeface="黑体" panose="02010609060101010101" pitchFamily="49" charset="-122"/>
              <a:ea typeface="黑体" panose="02010609060101010101" pitchFamily="49" charset="-122"/>
            </a:endParaRPr>
          </a:p>
        </p:txBody>
      </p:sp>
      <p:pic>
        <p:nvPicPr>
          <p:cNvPr id="92167" name="Picture 7"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042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73" name="Text Box 13"/>
          <p:cNvSpPr txBox="1">
            <a:spLocks noChangeArrowheads="1"/>
          </p:cNvSpPr>
          <p:nvPr/>
        </p:nvSpPr>
        <p:spPr bwMode="auto">
          <a:xfrm>
            <a:off x="5407025" y="6162675"/>
            <a:ext cx="4635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a:t>　</a:t>
            </a:r>
            <a:endParaRPr lang="zh-CN" altLang="en-US"/>
          </a:p>
        </p:txBody>
      </p:sp>
      <p:sp>
        <p:nvSpPr>
          <p:cNvPr id="20488"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83975" name="Rectangle 7"/>
          <p:cNvSpPr/>
          <p:nvPr/>
        </p:nvSpPr>
        <p:spPr>
          <a:xfrm>
            <a:off x="295275" y="974090"/>
            <a:ext cx="5269230" cy="460375"/>
          </a:xfrm>
          <a:prstGeom prst="rect">
            <a:avLst/>
          </a:prstGeom>
          <a:noFill/>
          <a:ln w="9525">
            <a:noFill/>
          </a:ln>
        </p:spPr>
        <p:txBody>
          <a:bodyPr wrap="square" anchor="t">
            <a:spAutoFit/>
          </a:bodyPr>
          <a:p>
            <a:pPr indent="0">
              <a:buSzPct val="80000"/>
              <a:buNone/>
            </a:pPr>
            <a:r>
              <a:rPr lang="en-US" altLang="zh-CN" sz="2100" dirty="0">
                <a:solidFill>
                  <a:srgbClr val="000099"/>
                </a:solidFill>
                <a:latin typeface="华文中宋" panose="02010600040101010101" pitchFamily="2" charset="-122"/>
                <a:ea typeface="华文中宋" panose="02010600040101010101" pitchFamily="2" charset="-122"/>
              </a:rPr>
              <a:t> </a:t>
            </a:r>
            <a:r>
              <a:rPr lang="zh-CN" altLang="en-US" sz="2400" dirty="0">
                <a:solidFill>
                  <a:srgbClr val="000099"/>
                </a:solidFill>
                <a:latin typeface="黑体" panose="02010609060101010101" pitchFamily="49" charset="-122"/>
                <a:ea typeface="黑体" panose="02010609060101010101" pitchFamily="49" charset="-122"/>
              </a:rPr>
              <a:t>改善零件工艺性的一般原则：</a:t>
            </a:r>
            <a:endParaRPr lang="zh-CN" altLang="en-US" sz="2400" dirty="0">
              <a:solidFill>
                <a:srgbClr val="000099"/>
              </a:solidFill>
              <a:latin typeface="黑体" panose="02010609060101010101" pitchFamily="49" charset="-122"/>
              <a:ea typeface="黑体" panose="02010609060101010101" pitchFamily="49" charset="-122"/>
            </a:endParaRPr>
          </a:p>
        </p:txBody>
      </p:sp>
      <p:sp>
        <p:nvSpPr>
          <p:cNvPr id="2" name="文本框 1"/>
          <p:cNvSpPr txBox="1"/>
          <p:nvPr/>
        </p:nvSpPr>
        <p:spPr>
          <a:xfrm>
            <a:off x="372745" y="1434465"/>
            <a:ext cx="8331835" cy="1614805"/>
          </a:xfrm>
          <a:prstGeom prst="rect">
            <a:avLst/>
          </a:prstGeom>
          <a:noFill/>
          <a:ln w="9525">
            <a:noFill/>
          </a:ln>
        </p:spPr>
        <p:txBody>
          <a:bodyPr wrap="square" anchor="t">
            <a:spAutoFit/>
          </a:bodyPr>
          <a:p>
            <a:pPr eaLnBrk="0" hangingPunct="0">
              <a:lnSpc>
                <a:spcPct val="150000"/>
              </a:lnSpc>
            </a:pPr>
            <a:r>
              <a:rPr lang="en-US" altLang="zh-CN" dirty="0">
                <a:solidFill>
                  <a:schemeClr val="accent4">
                    <a:lumMod val="75000"/>
                  </a:schemeClr>
                </a:solidFill>
                <a:latin typeface="Tahoma" panose="020B0604030504040204" pitchFamily="34" charset="0"/>
                <a:ea typeface="华文中宋" panose="02010600040101010101" pitchFamily="2" charset="-122"/>
              </a:rPr>
              <a:t>1)</a:t>
            </a:r>
            <a:r>
              <a:rPr lang="zh-CN" altLang="zh-CN" dirty="0">
                <a:solidFill>
                  <a:schemeClr val="accent4">
                    <a:lumMod val="75000"/>
                  </a:schemeClr>
                </a:solidFill>
                <a:latin typeface="Tahoma" panose="020B0604030504040204" pitchFamily="34" charset="0"/>
                <a:ea typeface="华文中宋" panose="02010600040101010101" pitchFamily="2" charset="-122"/>
              </a:rPr>
              <a:t>合理选择零件毛坯的种类。如模锻件、冲压件一般仅适用于大批量生产</a:t>
            </a:r>
            <a:r>
              <a:rPr lang="zh-CN" altLang="en-US" dirty="0">
                <a:solidFill>
                  <a:schemeClr val="accent4">
                    <a:lumMod val="75000"/>
                  </a:schemeClr>
                </a:solidFill>
                <a:latin typeface="Tahoma" panose="020B0604030504040204" pitchFamily="34" charset="0"/>
                <a:ea typeface="华文中宋" panose="02010600040101010101" pitchFamily="2" charset="-122"/>
              </a:rPr>
              <a:t>，</a:t>
            </a:r>
            <a:r>
              <a:rPr lang="zh-CN" altLang="zh-CN" dirty="0">
                <a:solidFill>
                  <a:schemeClr val="accent4">
                    <a:lumMod val="75000"/>
                  </a:schemeClr>
                </a:solidFill>
                <a:latin typeface="Tahoma" panose="020B0604030504040204" pitchFamily="34" charset="0"/>
                <a:ea typeface="华文中宋" panose="02010600040101010101" pitchFamily="2" charset="-122"/>
              </a:rPr>
              <a:t>在单件或小批量生产时</a:t>
            </a:r>
            <a:r>
              <a:rPr lang="zh-CN" altLang="en-US" dirty="0">
                <a:solidFill>
                  <a:schemeClr val="accent4">
                    <a:lumMod val="75000"/>
                  </a:schemeClr>
                </a:solidFill>
                <a:latin typeface="Tahoma" panose="020B0604030504040204" pitchFamily="34" charset="0"/>
                <a:ea typeface="华文中宋" panose="02010600040101010101" pitchFamily="2" charset="-122"/>
              </a:rPr>
              <a:t>，</a:t>
            </a:r>
            <a:r>
              <a:rPr lang="zh-CN" altLang="zh-CN" dirty="0">
                <a:solidFill>
                  <a:schemeClr val="accent4">
                    <a:lumMod val="75000"/>
                  </a:schemeClr>
                </a:solidFill>
                <a:latin typeface="Tahoma" panose="020B0604030504040204" pitchFamily="34" charset="0"/>
                <a:ea typeface="华文中宋" panose="02010600040101010101" pitchFamily="2" charset="-122"/>
              </a:rPr>
              <a:t>则不宜采用</a:t>
            </a:r>
            <a:r>
              <a:rPr lang="en-US" altLang="zh-CN" dirty="0">
                <a:solidFill>
                  <a:schemeClr val="accent4">
                    <a:lumMod val="75000"/>
                  </a:schemeClr>
                </a:solidFill>
                <a:latin typeface="Tahoma" panose="020B0604030504040204" pitchFamily="34" charset="0"/>
                <a:ea typeface="华文中宋" panose="02010600040101010101" pitchFamily="2" charset="-122"/>
              </a:rPr>
              <a:t>,</a:t>
            </a:r>
            <a:r>
              <a:rPr lang="zh-CN" altLang="zh-CN" dirty="0">
                <a:solidFill>
                  <a:schemeClr val="accent4">
                    <a:lumMod val="75000"/>
                  </a:schemeClr>
                </a:solidFill>
                <a:latin typeface="Tahoma" panose="020B0604030504040204" pitchFamily="34" charset="0"/>
                <a:ea typeface="华文中宋" panose="02010600040101010101" pitchFamily="2" charset="-122"/>
              </a:rPr>
              <a:t>以免模具造价太贵而提高零件成本</a:t>
            </a:r>
            <a:r>
              <a:rPr lang="zh-CN" altLang="en-US" dirty="0">
                <a:solidFill>
                  <a:schemeClr val="accent4">
                    <a:lumMod val="75000"/>
                  </a:schemeClr>
                </a:solidFill>
                <a:latin typeface="Tahoma" panose="020B0604030504040204" pitchFamily="34" charset="0"/>
                <a:ea typeface="华文中宋" panose="02010600040101010101" pitchFamily="2" charset="-122"/>
              </a:rPr>
              <a:t>；</a:t>
            </a:r>
            <a:endParaRPr lang="zh-CN" altLang="en-US" dirty="0">
              <a:solidFill>
                <a:schemeClr val="accent4">
                  <a:lumMod val="75000"/>
                </a:schemeClr>
              </a:solidFill>
              <a:latin typeface="Tahoma" panose="020B0604030504040204" pitchFamily="34" charset="0"/>
              <a:ea typeface="华文中宋" panose="02010600040101010101" pitchFamily="2" charset="-122"/>
            </a:endParaRPr>
          </a:p>
        </p:txBody>
      </p:sp>
      <p:sp>
        <p:nvSpPr>
          <p:cNvPr id="5" name="文本框 4"/>
          <p:cNvSpPr txBox="1"/>
          <p:nvPr/>
        </p:nvSpPr>
        <p:spPr>
          <a:xfrm>
            <a:off x="387350" y="2948940"/>
            <a:ext cx="8317230" cy="1106805"/>
          </a:xfrm>
          <a:prstGeom prst="rect">
            <a:avLst/>
          </a:prstGeom>
          <a:noFill/>
          <a:ln w="9525">
            <a:noFill/>
          </a:ln>
        </p:spPr>
        <p:txBody>
          <a:bodyPr wrap="square" anchor="t">
            <a:spAutoFit/>
          </a:bodyPr>
          <a:p>
            <a:pPr eaLnBrk="0" hangingPunct="0">
              <a:lnSpc>
                <a:spcPct val="150000"/>
              </a:lnSpc>
            </a:pPr>
            <a:r>
              <a:rPr lang="en-US" altLang="zh-CN" dirty="0">
                <a:solidFill>
                  <a:schemeClr val="accent4">
                    <a:lumMod val="75000"/>
                  </a:schemeClr>
                </a:solidFill>
                <a:latin typeface="Tahoma" panose="020B0604030504040204" pitchFamily="34" charset="0"/>
                <a:ea typeface="华文中宋" panose="02010600040101010101" pitchFamily="2" charset="-122"/>
              </a:rPr>
              <a:t>2)</a:t>
            </a:r>
            <a:r>
              <a:rPr lang="zh-CN" altLang="zh-CN" dirty="0">
                <a:solidFill>
                  <a:schemeClr val="accent4">
                    <a:lumMod val="75000"/>
                  </a:schemeClr>
                </a:solidFill>
                <a:latin typeface="Tahoma" panose="020B0604030504040204" pitchFamily="34" charset="0"/>
                <a:ea typeface="华文中宋" panose="02010600040101010101" pitchFamily="2" charset="-122"/>
              </a:rPr>
              <a:t>零件的结构形状应力求简单合理</a:t>
            </a:r>
            <a:r>
              <a:rPr lang="zh-CN" altLang="en-US" dirty="0">
                <a:solidFill>
                  <a:schemeClr val="accent4">
                    <a:lumMod val="75000"/>
                  </a:schemeClr>
                </a:solidFill>
                <a:latin typeface="Tahoma" panose="020B0604030504040204" pitchFamily="34" charset="0"/>
                <a:ea typeface="华文中宋" panose="02010600040101010101" pitchFamily="2" charset="-122"/>
              </a:rPr>
              <a:t>，</a:t>
            </a:r>
            <a:r>
              <a:rPr lang="zh-CN" altLang="zh-CN" dirty="0">
                <a:solidFill>
                  <a:schemeClr val="accent4">
                    <a:lumMod val="75000"/>
                  </a:schemeClr>
                </a:solidFill>
                <a:latin typeface="Tahoma" panose="020B0604030504040204" pitchFamily="34" charset="0"/>
                <a:ea typeface="华文中宋" panose="02010600040101010101" pitchFamily="2" charset="-122"/>
              </a:rPr>
              <a:t>尽可能减少加工量</a:t>
            </a:r>
            <a:r>
              <a:rPr lang="zh-CN" altLang="en-US" dirty="0">
                <a:solidFill>
                  <a:schemeClr val="accent4">
                    <a:lumMod val="75000"/>
                  </a:schemeClr>
                </a:solidFill>
                <a:latin typeface="Tahoma" panose="020B0604030504040204" pitchFamily="34" charset="0"/>
                <a:ea typeface="华文中宋" panose="02010600040101010101" pitchFamily="2" charset="-122"/>
              </a:rPr>
              <a:t>，</a:t>
            </a:r>
            <a:r>
              <a:rPr lang="zh-CN" altLang="zh-CN" dirty="0">
                <a:solidFill>
                  <a:schemeClr val="accent4">
                    <a:lumMod val="75000"/>
                  </a:schemeClr>
                </a:solidFill>
                <a:latin typeface="Tahoma" panose="020B0604030504040204" pitchFamily="34" charset="0"/>
                <a:ea typeface="华文中宋" panose="02010600040101010101" pitchFamily="2" charset="-122"/>
              </a:rPr>
              <a:t>以降低加工费用</a:t>
            </a:r>
            <a:r>
              <a:rPr lang="zh-CN" altLang="en-US" dirty="0">
                <a:solidFill>
                  <a:schemeClr val="accent4">
                    <a:lumMod val="75000"/>
                  </a:schemeClr>
                </a:solidFill>
                <a:latin typeface="Tahoma" panose="020B0604030504040204" pitchFamily="34" charset="0"/>
                <a:ea typeface="华文中宋" panose="02010600040101010101" pitchFamily="2" charset="-122"/>
              </a:rPr>
              <a:t>；</a:t>
            </a:r>
            <a:endParaRPr lang="zh-CN" altLang="en-US" dirty="0">
              <a:solidFill>
                <a:schemeClr val="accent4">
                  <a:lumMod val="75000"/>
                </a:schemeClr>
              </a:solidFill>
              <a:latin typeface="Tahoma" panose="020B0604030504040204" pitchFamily="34" charset="0"/>
              <a:ea typeface="华文中宋" panose="02010600040101010101" pitchFamily="2" charset="-122"/>
            </a:endParaRPr>
          </a:p>
        </p:txBody>
      </p:sp>
      <p:sp>
        <p:nvSpPr>
          <p:cNvPr id="6" name="文本框 5"/>
          <p:cNvSpPr txBox="1"/>
          <p:nvPr/>
        </p:nvSpPr>
        <p:spPr>
          <a:xfrm>
            <a:off x="372745" y="4274820"/>
            <a:ext cx="8195310" cy="429895"/>
          </a:xfrm>
          <a:prstGeom prst="rect">
            <a:avLst/>
          </a:prstGeom>
          <a:noFill/>
          <a:ln w="9525">
            <a:noFill/>
          </a:ln>
        </p:spPr>
        <p:txBody>
          <a:bodyPr wrap="square" anchor="t">
            <a:spAutoFit/>
          </a:bodyPr>
          <a:p>
            <a:pPr eaLnBrk="0" hangingPunct="0"/>
            <a:r>
              <a:rPr lang="en-US" altLang="zh-CN" dirty="0">
                <a:solidFill>
                  <a:schemeClr val="accent4">
                    <a:lumMod val="75000"/>
                  </a:schemeClr>
                </a:solidFill>
                <a:latin typeface="Tahoma" panose="020B0604030504040204" pitchFamily="34" charset="0"/>
                <a:ea typeface="华文中宋" panose="02010600040101010101" pitchFamily="2" charset="-122"/>
              </a:rPr>
              <a:t>3</a:t>
            </a:r>
            <a:r>
              <a:rPr lang="zh-CN" altLang="zh-CN" dirty="0">
                <a:solidFill>
                  <a:schemeClr val="accent4">
                    <a:lumMod val="75000"/>
                  </a:schemeClr>
                </a:solidFill>
                <a:latin typeface="Tahoma" panose="020B0604030504040204" pitchFamily="34" charset="0"/>
                <a:ea typeface="华文中宋" panose="02010600040101010101" pitchFamily="2" charset="-122"/>
              </a:rPr>
              <a:t>）零件上的孔、槽等</a:t>
            </a:r>
            <a:r>
              <a:rPr lang="zh-CN" altLang="en-US" dirty="0">
                <a:solidFill>
                  <a:schemeClr val="accent4">
                    <a:lumMod val="75000"/>
                  </a:schemeClr>
                </a:solidFill>
                <a:latin typeface="Tahoma" panose="020B0604030504040204" pitchFamily="34" charset="0"/>
                <a:ea typeface="华文中宋" panose="02010600040101010101" pitchFamily="2" charset="-122"/>
              </a:rPr>
              <a:t>，</a:t>
            </a:r>
            <a:r>
              <a:rPr lang="zh-CN" altLang="zh-CN" dirty="0">
                <a:solidFill>
                  <a:schemeClr val="accent4">
                    <a:lumMod val="75000"/>
                  </a:schemeClr>
                </a:solidFill>
                <a:latin typeface="Tahoma" panose="020B0604030504040204" pitchFamily="34" charset="0"/>
                <a:ea typeface="华文中宋" panose="02010600040101010101" pitchFamily="2" charset="-122"/>
              </a:rPr>
              <a:t>应尽可能选用标准刀具来加工</a:t>
            </a:r>
            <a:r>
              <a:rPr lang="zh-CN" altLang="en-US" dirty="0">
                <a:solidFill>
                  <a:schemeClr val="accent4">
                    <a:lumMod val="75000"/>
                  </a:schemeClr>
                </a:solidFill>
                <a:latin typeface="Tahoma" panose="020B0604030504040204" pitchFamily="34" charset="0"/>
                <a:ea typeface="华文中宋" panose="02010600040101010101" pitchFamily="2" charset="-122"/>
              </a:rPr>
              <a:t>；</a:t>
            </a:r>
            <a:endParaRPr lang="zh-CN" altLang="en-US" dirty="0">
              <a:solidFill>
                <a:schemeClr val="accent4">
                  <a:lumMod val="75000"/>
                </a:schemeClr>
              </a:solidFill>
              <a:latin typeface="Tahoma" panose="020B0604030504040204" pitchFamily="34" charset="0"/>
              <a:ea typeface="华文中宋" panose="02010600040101010101" pitchFamily="2" charset="-122"/>
            </a:endParaRPr>
          </a:p>
        </p:txBody>
      </p:sp>
      <p:sp>
        <p:nvSpPr>
          <p:cNvPr id="3" name="文本框 2"/>
          <p:cNvSpPr txBox="1"/>
          <p:nvPr/>
        </p:nvSpPr>
        <p:spPr>
          <a:xfrm>
            <a:off x="448945" y="4838700"/>
            <a:ext cx="8194675" cy="1106805"/>
          </a:xfrm>
          <a:prstGeom prst="rect">
            <a:avLst/>
          </a:prstGeom>
          <a:noFill/>
          <a:ln w="9525">
            <a:noFill/>
          </a:ln>
        </p:spPr>
        <p:txBody>
          <a:bodyPr wrap="square" anchor="t">
            <a:spAutoFit/>
          </a:bodyPr>
          <a:p>
            <a:pPr eaLnBrk="0" hangingPunct="0">
              <a:lnSpc>
                <a:spcPct val="150000"/>
              </a:lnSpc>
            </a:pPr>
            <a:r>
              <a:rPr lang="en-US" altLang="zh-CN" dirty="0">
                <a:solidFill>
                  <a:schemeClr val="accent4">
                    <a:lumMod val="75000"/>
                  </a:schemeClr>
                </a:solidFill>
                <a:latin typeface="Tahoma" panose="020B0604030504040204" pitchFamily="34" charset="0"/>
                <a:ea typeface="华文中宋" panose="02010600040101010101" pitchFamily="2" charset="-122"/>
              </a:rPr>
              <a:t>4)</a:t>
            </a:r>
            <a:r>
              <a:rPr lang="zh-CN" altLang="zh-CN" dirty="0">
                <a:solidFill>
                  <a:schemeClr val="accent4">
                    <a:lumMod val="75000"/>
                  </a:schemeClr>
                </a:solidFill>
                <a:latin typeface="Tahoma" panose="020B0604030504040204" pitchFamily="34" charset="0"/>
                <a:ea typeface="华文中宋" panose="02010600040101010101" pitchFamily="2" charset="-122"/>
              </a:rPr>
              <a:t>在满足工作要求的前提下</a:t>
            </a:r>
            <a:r>
              <a:rPr lang="zh-CN" altLang="en-US" dirty="0">
                <a:solidFill>
                  <a:schemeClr val="accent4">
                    <a:lumMod val="75000"/>
                  </a:schemeClr>
                </a:solidFill>
                <a:latin typeface="Tahoma" panose="020B0604030504040204" pitchFamily="34" charset="0"/>
                <a:ea typeface="华文中宋" panose="02010600040101010101" pitchFamily="2" charset="-122"/>
              </a:rPr>
              <a:t>，</a:t>
            </a:r>
            <a:r>
              <a:rPr lang="zh-CN" altLang="zh-CN" dirty="0">
                <a:solidFill>
                  <a:schemeClr val="accent4">
                    <a:lumMod val="75000"/>
                  </a:schemeClr>
                </a:solidFill>
                <a:latin typeface="Tahoma" panose="020B0604030504040204" pitchFamily="34" charset="0"/>
                <a:ea typeface="华文中宋" panose="02010600040101010101" pitchFamily="2" charset="-122"/>
              </a:rPr>
              <a:t>合理地确定加工精度、表面粗糙度和热处理条件等。</a:t>
            </a:r>
            <a:endParaRPr lang="zh-CN" altLang="zh-CN" dirty="0">
              <a:solidFill>
                <a:schemeClr val="accent4">
                  <a:lumMod val="75000"/>
                </a:schemeClr>
              </a:solidFill>
              <a:latin typeface="Tahoma" panose="020B0604030504040204" pitchFamily="34" charset="0"/>
              <a:ea typeface="华文中宋"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92167"/>
                                        </p:tgtEl>
                                        <p:attrNameLst>
                                          <p:attrName>style.visibility</p:attrName>
                                        </p:attrNameLst>
                                      </p:cBhvr>
                                      <p:to>
                                        <p:strVal val="visible"/>
                                      </p:to>
                                    </p:set>
                                    <p:anim calcmode="lin" valueType="num">
                                      <p:cBhvr additive="base">
                                        <p:cTn id="7" dur="500" fill="hold"/>
                                        <p:tgtEl>
                                          <p:spTgt spid="92167"/>
                                        </p:tgtEl>
                                        <p:attrNameLst>
                                          <p:attrName>ppt_x</p:attrName>
                                        </p:attrNameLst>
                                      </p:cBhvr>
                                      <p:tavLst>
                                        <p:tav tm="0">
                                          <p:val>
                                            <p:strVal val="0-#ppt_w/2"/>
                                          </p:val>
                                        </p:tav>
                                        <p:tav tm="100000">
                                          <p:val>
                                            <p:strVal val="#ppt_x"/>
                                          </p:val>
                                        </p:tav>
                                      </p:tavLst>
                                    </p:anim>
                                    <p:anim calcmode="lin" valueType="num">
                                      <p:cBhvr additive="base">
                                        <p:cTn id="8" dur="500" fill="hold"/>
                                        <p:tgtEl>
                                          <p:spTgt spid="9216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2173"/>
                                        </p:tgtEl>
                                        <p:attrNameLst>
                                          <p:attrName>style.visibility</p:attrName>
                                        </p:attrNameLst>
                                      </p:cBhvr>
                                      <p:to>
                                        <p:strVal val="visible"/>
                                      </p:to>
                                    </p:set>
                                    <p:anim calcmode="lin" valueType="num">
                                      <p:cBhvr additive="base">
                                        <p:cTn id="13" dur="500" fill="hold"/>
                                        <p:tgtEl>
                                          <p:spTgt spid="92173"/>
                                        </p:tgtEl>
                                        <p:attrNameLst>
                                          <p:attrName>ppt_x</p:attrName>
                                        </p:attrNameLst>
                                      </p:cBhvr>
                                      <p:tavLst>
                                        <p:tav tm="0">
                                          <p:val>
                                            <p:strVal val="0-#ppt_w/2"/>
                                          </p:val>
                                        </p:tav>
                                        <p:tav tm="100000">
                                          <p:val>
                                            <p:strVal val="#ppt_x"/>
                                          </p:val>
                                        </p:tav>
                                      </p:tavLst>
                                    </p:anim>
                                    <p:anim calcmode="lin" valueType="num">
                                      <p:cBhvr additive="base">
                                        <p:cTn id="14" dur="500" fill="hold"/>
                                        <p:tgtEl>
                                          <p:spTgt spid="92173"/>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12" presetClass="entr" presetSubtype="4" fill="hold" grpId="0" nodeType="afterEffect">
                                  <p:stCondLst>
                                    <p:cond delay="0"/>
                                  </p:stCondLst>
                                  <p:childTnLst>
                                    <p:set>
                                      <p:cBhvr>
                                        <p:cTn id="17" dur="1" fill="hold">
                                          <p:stCondLst>
                                            <p:cond delay="0"/>
                                          </p:stCondLst>
                                        </p:cTn>
                                        <p:tgtEl>
                                          <p:spTgt spid="83975"/>
                                        </p:tgtEl>
                                        <p:attrNameLst>
                                          <p:attrName>style.visibility</p:attrName>
                                        </p:attrNameLst>
                                      </p:cBhvr>
                                      <p:to>
                                        <p:strVal val="visible"/>
                                      </p:to>
                                    </p:set>
                                    <p:animEffect transition="in" filter="slide(fromBottom)">
                                      <p:cBhvr>
                                        <p:cTn id="18" dur="500"/>
                                        <p:tgtEl>
                                          <p:spTgt spid="8397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left)">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left)">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wipe(left)">
                                      <p:cBhvr>
                                        <p:cTn id="3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73" grpId="0"/>
      <p:bldP spid="83975" grpId="0"/>
      <p:bldP spid="2" grpId="0"/>
      <p:bldP spid="5" grpId="0"/>
      <p:bldP spid="6" grpId="0"/>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p:nvPr/>
        </p:nvSpPr>
        <p:spPr>
          <a:xfrm>
            <a:off x="0" y="0"/>
            <a:ext cx="9144000" cy="68580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13315" name="Rectangle 3"/>
          <p:cNvSpPr>
            <a:spLocks noGrp="1"/>
          </p:cNvSpPr>
          <p:nvPr>
            <p:ph type="body" idx="4294967295"/>
          </p:nvPr>
        </p:nvSpPr>
        <p:spPr>
          <a:xfrm>
            <a:off x="420370" y="703580"/>
            <a:ext cx="8020685" cy="5664835"/>
          </a:xfrm>
        </p:spPr>
        <p:txBody>
          <a:bodyPr vert="horz" wrap="square" anchor="t"/>
          <a:lstStyle/>
          <a:p>
            <a:pPr algn="ctr" eaLnBrk="1" hangingPunct="1">
              <a:buNone/>
            </a:pPr>
            <a:endParaRPr lang="en-US" altLang="zh-CN" dirty="0"/>
          </a:p>
          <a:p>
            <a:pPr marL="306070" algn="just">
              <a:lnSpc>
                <a:spcPts val="3500"/>
              </a:lnSpc>
              <a:spcBef>
                <a:spcPts val="0"/>
              </a:spcBef>
              <a:spcAft>
                <a:spcPts val="0"/>
              </a:spcAft>
              <a:buNone/>
            </a:pPr>
            <a:r>
              <a:rPr lang="en-US" altLang="zh-CN" sz="2400" dirty="0">
                <a:latin typeface="黑体" panose="02010609060101010101" pitchFamily="49" charset="-122"/>
                <a:ea typeface="黑体" panose="02010609060101010101" pitchFamily="49" charset="-122"/>
              </a:rPr>
              <a:t>1.2-1</a:t>
            </a:r>
            <a:r>
              <a:rPr lang="zh-CN" altLang="en-US" sz="2400" dirty="0">
                <a:latin typeface="黑体" panose="02010609060101010101" pitchFamily="49" charset="-122"/>
                <a:ea typeface="黑体" panose="02010609060101010101" pitchFamily="49" charset="-122"/>
              </a:rPr>
              <a:t>至</a:t>
            </a:r>
            <a:r>
              <a:rPr lang="en-US" altLang="zh-CN" sz="2400" dirty="0">
                <a:latin typeface="黑体" panose="02010609060101010101" pitchFamily="49" charset="-122"/>
                <a:ea typeface="黑体" panose="02010609060101010101" pitchFamily="49" charset="-122"/>
              </a:rPr>
              <a:t>1.2-9</a:t>
            </a:r>
            <a:endParaRPr lang="en-US" altLang="zh-CN" sz="2400" dirty="0">
              <a:latin typeface="黑体" panose="02010609060101010101" pitchFamily="49" charset="-122"/>
              <a:ea typeface="黑体" panose="02010609060101010101" pitchFamily="49" charset="-122"/>
            </a:endParaRPr>
          </a:p>
          <a:p>
            <a:pPr marL="306070" algn="just">
              <a:lnSpc>
                <a:spcPts val="3500"/>
              </a:lnSpc>
              <a:spcBef>
                <a:spcPts val="0"/>
              </a:spcBef>
              <a:spcAft>
                <a:spcPts val="0"/>
              </a:spcAft>
              <a:buNone/>
            </a:pPr>
            <a:r>
              <a:rPr lang="en-US" altLang="zh-CN" sz="2400" dirty="0">
                <a:latin typeface="黑体" panose="02010609060101010101" pitchFamily="49" charset="-122"/>
                <a:ea typeface="黑体" panose="02010609060101010101" pitchFamily="49" charset="-122"/>
              </a:rPr>
              <a:t>1.2-10 </a:t>
            </a:r>
            <a:r>
              <a:rPr lang="zh-CN" altLang="en-US" sz="2400" dirty="0">
                <a:latin typeface="黑体" panose="02010609060101010101" pitchFamily="49" charset="-122"/>
                <a:ea typeface="黑体" panose="02010609060101010101" pitchFamily="49" charset="-122"/>
              </a:rPr>
              <a:t>按国家标准绘制如题</a:t>
            </a:r>
            <a:r>
              <a:rPr lang="en-US" altLang="zh-CN" sz="2400" dirty="0">
                <a:latin typeface="黑体" panose="02010609060101010101" pitchFamily="49" charset="-122"/>
                <a:ea typeface="黑体" panose="02010609060101010101" pitchFamily="49" charset="-122"/>
              </a:rPr>
              <a:t>1.2-10</a:t>
            </a:r>
            <a:r>
              <a:rPr lang="zh-CN" altLang="en-US" sz="2400" dirty="0">
                <a:latin typeface="黑体" panose="02010609060101010101" pitchFamily="49" charset="-122"/>
                <a:ea typeface="黑体" panose="02010609060101010101" pitchFamily="49" charset="-122"/>
              </a:rPr>
              <a:t>图所示的零件图并打印出图。看懂图中所有结构要素和尺寸标注，回答如下问题：</a:t>
            </a:r>
            <a:endParaRPr lang="zh-CN" altLang="en-US" sz="2400" dirty="0">
              <a:latin typeface="黑体" panose="02010609060101010101" pitchFamily="49" charset="-122"/>
              <a:ea typeface="黑体" panose="02010609060101010101" pitchFamily="49" charset="-122"/>
            </a:endParaRPr>
          </a:p>
          <a:p>
            <a:pPr marL="306070" algn="just">
              <a:lnSpc>
                <a:spcPts val="3500"/>
              </a:lnSpc>
              <a:spcBef>
                <a:spcPts val="0"/>
              </a:spcBef>
              <a:spcAft>
                <a:spcPts val="0"/>
              </a:spcAft>
              <a:buNone/>
            </a:pPr>
            <a:r>
              <a:rPr lang="zh-CN" altLang="en-US" sz="3600" dirty="0" smtClean="0">
                <a:solidFill>
                  <a:srgbClr val="FF6699"/>
                </a:solidFill>
              </a:rPr>
              <a:t>                                            </a:t>
            </a:r>
            <a:endParaRPr lang="zh-CN" altLang="en-US" sz="3600" dirty="0">
              <a:solidFill>
                <a:srgbClr val="FF6699"/>
              </a:solidFill>
            </a:endParaRPr>
          </a:p>
        </p:txBody>
      </p:sp>
      <p:graphicFrame>
        <p:nvGraphicFramePr>
          <p:cNvPr id="13316" name="Object 4"/>
          <p:cNvGraphicFramePr/>
          <p:nvPr/>
        </p:nvGraphicFramePr>
        <p:xfrm>
          <a:off x="1208088" y="5167313"/>
          <a:ext cx="1787525" cy="1011237"/>
        </p:xfrm>
        <a:graphic>
          <a:graphicData uri="http://schemas.openxmlformats.org/presentationml/2006/ole">
            <mc:AlternateContent xmlns:mc="http://schemas.openxmlformats.org/markup-compatibility/2006">
              <mc:Choice xmlns:v="urn:schemas-microsoft-com:vml" Requires="v">
                <p:oleObj spid="_x0000_s10288" name="" r:id="rId1" imgW="1803400" imgH="1026795" progId="Word.Document.6">
                  <p:embed/>
                </p:oleObj>
              </mc:Choice>
              <mc:Fallback>
                <p:oleObj name="" r:id="rId1" imgW="1803400" imgH="1026795" progId="Word.Document.6">
                  <p:embed/>
                  <p:pic>
                    <p:nvPicPr>
                      <p:cNvPr id="0" name="图片 3086"/>
                      <p:cNvPicPr/>
                      <p:nvPr/>
                    </p:nvPicPr>
                    <p:blipFill>
                      <a:blip r:embed="rId2"/>
                      <a:stretch>
                        <a:fillRect/>
                      </a:stretch>
                    </p:blipFill>
                    <p:spPr>
                      <a:xfrm>
                        <a:off x="1208088" y="5167313"/>
                        <a:ext cx="1787525" cy="1011237"/>
                      </a:xfrm>
                      <a:prstGeom prst="rect">
                        <a:avLst/>
                      </a:prstGeom>
                      <a:noFill/>
                      <a:ln w="38100">
                        <a:noFill/>
                        <a:miter/>
                      </a:ln>
                    </p:spPr>
                  </p:pic>
                </p:oleObj>
              </mc:Fallback>
            </mc:AlternateContent>
          </a:graphicData>
        </a:graphic>
      </p:graphicFrame>
      <p:sp>
        <p:nvSpPr>
          <p:cNvPr id="13317" name="Text Box 6"/>
          <p:cNvSpPr txBox="1"/>
          <p:nvPr/>
        </p:nvSpPr>
        <p:spPr>
          <a:xfrm>
            <a:off x="566420" y="512445"/>
            <a:ext cx="2429510" cy="521970"/>
          </a:xfrm>
          <a:prstGeom prst="rect">
            <a:avLst/>
          </a:prstGeom>
          <a:noFill/>
          <a:ln w="9525" cap="flat" cmpd="sng">
            <a:solidFill>
              <a:srgbClr val="FF0000"/>
            </a:solidFill>
            <a:prstDash val="solid"/>
            <a:miter/>
            <a:headEnd type="none" w="med" len="med"/>
            <a:tailEnd type="none" w="med" len="med"/>
          </a:ln>
        </p:spPr>
        <p:txBody>
          <a:bodyPr wrap="square">
            <a:spAutoFit/>
          </a:bodyPr>
          <a:lstStyle/>
          <a:p>
            <a:pPr algn="ctr" eaLnBrk="1" hangingPunct="1">
              <a:spcBef>
                <a:spcPct val="50000"/>
              </a:spcBef>
              <a:spcAft>
                <a:spcPts val="0"/>
              </a:spcAft>
            </a:pPr>
            <a:r>
              <a:rPr lang="en-US" altLang="zh-CN" sz="2800" b="1" dirty="0">
                <a:solidFill>
                  <a:schemeClr val="accent4">
                    <a:lumMod val="75000"/>
                  </a:schemeClr>
                </a:solidFill>
                <a:latin typeface="Times New Roman" panose="02020603050405020304" pitchFamily="18" charset="0"/>
              </a:rPr>
              <a:t>P18</a:t>
            </a:r>
            <a:r>
              <a:rPr lang="zh-CN" altLang="en-US" sz="2800" b="1" dirty="0">
                <a:solidFill>
                  <a:schemeClr val="accent4">
                    <a:lumMod val="75000"/>
                  </a:schemeClr>
                </a:solidFill>
                <a:latin typeface="Times New Roman" panose="02020603050405020304" pitchFamily="18" charset="0"/>
              </a:rPr>
              <a:t>习  题</a:t>
            </a:r>
            <a:endParaRPr lang="zh-CN" altLang="en-US" sz="2800" b="1" dirty="0">
              <a:solidFill>
                <a:schemeClr val="accent4">
                  <a:lumMod val="75000"/>
                </a:schemeClr>
              </a:solidFill>
              <a:latin typeface="Times New Roman" panose="02020603050405020304" pitchFamily="18" charset="0"/>
            </a:endParaRPr>
          </a:p>
        </p:txBody>
      </p:sp>
      <p:graphicFrame>
        <p:nvGraphicFramePr>
          <p:cNvPr id="3" name="对象 2">
            <a:hlinkClick r:id="" action="ppaction://ole?verb="/>
          </p:cNvPr>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spid="_x0000_s1026" name="" r:id="rId3" imgW="914400" imgH="215900" progId="Equation.KSEE3">
                  <p:embed/>
                </p:oleObj>
              </mc:Choice>
              <mc:Fallback>
                <p:oleObj name="" r:id="rId3" imgW="914400" imgH="215900" progId="Equation.KSEE3">
                  <p:embed/>
                  <p:pic>
                    <p:nvPicPr>
                      <p:cNvPr id="0" name="图片 1025"/>
                      <p:cNvPicPr/>
                      <p:nvPr/>
                    </p:nvPicPr>
                    <p:blipFill>
                      <a:blip r:embed="rId4"/>
                      <a:stretch>
                        <a:fillRect/>
                      </a:stretch>
                    </p:blipFill>
                    <p:spPr>
                      <a:xfrm>
                        <a:off x="4114800" y="3321050"/>
                        <a:ext cx="914400" cy="215900"/>
                      </a:xfrm>
                      <a:prstGeom prst="rect">
                        <a:avLst/>
                      </a:prstGeom>
                    </p:spPr>
                  </p:pic>
                </p:oleObj>
              </mc:Fallback>
            </mc:AlternateContent>
          </a:graphicData>
        </a:graphic>
      </p:graphicFrame>
      <p:pic>
        <p:nvPicPr>
          <p:cNvPr id="4" name="图片 3"/>
          <p:cNvPicPr>
            <a:picLocks noChangeAspect="1"/>
          </p:cNvPicPr>
          <p:nvPr/>
        </p:nvPicPr>
        <p:blipFill>
          <a:blip r:embed="rId5"/>
          <a:stretch>
            <a:fillRect/>
          </a:stretch>
        </p:blipFill>
        <p:spPr>
          <a:xfrm>
            <a:off x="420370" y="3179445"/>
            <a:ext cx="8133080" cy="1494155"/>
          </a:xfrm>
          <a:prstGeom prst="rect">
            <a:avLst/>
          </a:prstGeom>
        </p:spPr>
      </p:pic>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l="3454" t="3563" r="3881" b="2369"/>
          <a:stretch>
            <a:fillRect/>
          </a:stretch>
        </p:blipFill>
        <p:spPr>
          <a:xfrm>
            <a:off x="446405" y="303530"/>
            <a:ext cx="4239895" cy="6250305"/>
          </a:xfrm>
          <a:prstGeom prst="rect">
            <a:avLst/>
          </a:prstGeom>
          <a:ln>
            <a:solidFill>
              <a:srgbClr val="002060"/>
            </a:solidFill>
          </a:ln>
        </p:spPr>
      </p:pic>
      <p:sp>
        <p:nvSpPr>
          <p:cNvPr id="3" name="文本框 2"/>
          <p:cNvSpPr txBox="1"/>
          <p:nvPr/>
        </p:nvSpPr>
        <p:spPr>
          <a:xfrm>
            <a:off x="5176520" y="540385"/>
            <a:ext cx="3215640" cy="293243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a:outerShdw blurRad="50800" dist="38100" dir="16200000" rotWithShape="0">
              <a:prstClr val="black">
                <a:alpha val="40000"/>
              </a:prstClr>
            </a:outerShdw>
          </a:effectLst>
        </p:spPr>
        <p:txBody>
          <a:bodyPr wrap="square" rtlCol="0">
            <a:spAutoFit/>
          </a:bodyPr>
          <a:p>
            <a:pPr marL="0" indent="0" eaLnBrk="1" latinLnBrk="0" hangingPunct="1">
              <a:lnSpc>
                <a:spcPct val="120000"/>
              </a:lnSpc>
              <a:buFont typeface="+mj-ea"/>
              <a:buNone/>
            </a:pPr>
            <a:r>
              <a:rPr lang="zh-CN" altLang="en-US"/>
              <a:t>图幅：</a:t>
            </a:r>
            <a:r>
              <a:rPr lang="en-US" altLang="zh-CN"/>
              <a:t>A4</a:t>
            </a:r>
            <a:r>
              <a:rPr lang="zh-CN" altLang="en-US"/>
              <a:t>（</a:t>
            </a:r>
            <a:r>
              <a:rPr lang="en-US" altLang="zh-CN"/>
              <a:t>210</a:t>
            </a:r>
            <a:r>
              <a:rPr lang="en-US" altLang="zh-CN">
                <a:sym typeface="Symbol" panose="05050102010706020507" charset="0"/>
              </a:rPr>
              <a:t>297</a:t>
            </a:r>
            <a:r>
              <a:rPr lang="zh-CN" altLang="en-US">
                <a:sym typeface="Symbol" panose="05050102010706020507" charset="0"/>
              </a:rPr>
              <a:t>）</a:t>
            </a:r>
            <a:endParaRPr lang="en-US" altLang="zh-CN"/>
          </a:p>
          <a:p>
            <a:pPr marL="0" indent="0" eaLnBrk="1" latinLnBrk="0" hangingPunct="1">
              <a:lnSpc>
                <a:spcPct val="120000"/>
              </a:lnSpc>
              <a:buFont typeface="+mj-ea"/>
              <a:buNone/>
            </a:pPr>
            <a:r>
              <a:rPr lang="zh-CN" altLang="en-US"/>
              <a:t>图款：留装订边（</a:t>
            </a:r>
            <a:r>
              <a:rPr lang="en-US" altLang="zh-CN"/>
              <a:t>25</a:t>
            </a:r>
            <a:r>
              <a:rPr lang="zh-CN" altLang="en-US"/>
              <a:t>）</a:t>
            </a:r>
            <a:endParaRPr lang="zh-CN" altLang="en-US"/>
          </a:p>
          <a:p>
            <a:pPr marL="0" indent="0" eaLnBrk="1" latinLnBrk="0" hangingPunct="1">
              <a:lnSpc>
                <a:spcPct val="120000"/>
              </a:lnSpc>
              <a:buFont typeface="+mj-ea"/>
              <a:buNone/>
            </a:pPr>
            <a:r>
              <a:rPr lang="zh-CN" altLang="en-US"/>
              <a:t>标题栏：</a:t>
            </a:r>
            <a:r>
              <a:rPr lang="en-US" altLang="zh-CN"/>
              <a:t>P133</a:t>
            </a:r>
            <a:r>
              <a:rPr lang="zh-CN" altLang="en-US"/>
              <a:t>图</a:t>
            </a:r>
            <a:r>
              <a:rPr lang="en-US" altLang="zh-CN"/>
              <a:t>2.4-18</a:t>
            </a:r>
            <a:endParaRPr lang="en-US" altLang="zh-CN"/>
          </a:p>
          <a:p>
            <a:pPr marL="0" indent="0" eaLnBrk="1" latinLnBrk="0" hangingPunct="1">
              <a:lnSpc>
                <a:spcPct val="120000"/>
              </a:lnSpc>
              <a:buFont typeface="+mj-ea"/>
              <a:buNone/>
            </a:pPr>
            <a:r>
              <a:rPr lang="zh-CN" altLang="en-US"/>
              <a:t>比例：</a:t>
            </a:r>
            <a:r>
              <a:rPr lang="en-US" altLang="zh-CN"/>
              <a:t>1:1</a:t>
            </a:r>
            <a:endParaRPr lang="en-US" altLang="zh-CN"/>
          </a:p>
          <a:p>
            <a:pPr marL="0" indent="0" eaLnBrk="1" latinLnBrk="0" hangingPunct="1">
              <a:lnSpc>
                <a:spcPct val="120000"/>
              </a:lnSpc>
              <a:buFont typeface="+mj-ea"/>
              <a:buNone/>
            </a:pPr>
            <a:r>
              <a:rPr lang="zh-CN" altLang="en-US"/>
              <a:t>材料：</a:t>
            </a:r>
            <a:r>
              <a:rPr lang="en-US" altLang="zh-CN" i="1"/>
              <a:t>ZCuAl10Fe3</a:t>
            </a:r>
            <a:endParaRPr lang="en-US" altLang="zh-CN" i="1"/>
          </a:p>
          <a:p>
            <a:pPr marL="0" indent="0" eaLnBrk="1" latinLnBrk="0" hangingPunct="1">
              <a:lnSpc>
                <a:spcPct val="120000"/>
              </a:lnSpc>
              <a:buFont typeface="+mj-ea"/>
              <a:buNone/>
            </a:pPr>
            <a:r>
              <a:rPr lang="zh-CN" altLang="en-US"/>
              <a:t>零件名：螺母</a:t>
            </a:r>
            <a:endParaRPr lang="zh-CN" altLang="en-US"/>
          </a:p>
          <a:p>
            <a:pPr marL="0" indent="0" eaLnBrk="1" latinLnBrk="0" hangingPunct="1">
              <a:lnSpc>
                <a:spcPct val="120000"/>
              </a:lnSpc>
              <a:buFont typeface="+mj-ea"/>
              <a:buNone/>
            </a:pPr>
            <a:r>
              <a:rPr lang="zh-CN" altLang="en-US"/>
              <a:t>图号：</a:t>
            </a:r>
            <a:r>
              <a:rPr lang="en-US" altLang="zh-CN" i="1"/>
              <a:t>QJD-00-15</a:t>
            </a:r>
            <a:endParaRPr lang="en-US" altLang="zh-CN" i="1"/>
          </a:p>
        </p:txBody>
      </p:sp>
      <p:grpSp>
        <p:nvGrpSpPr>
          <p:cNvPr id="9" name="组合 8"/>
          <p:cNvGrpSpPr/>
          <p:nvPr/>
        </p:nvGrpSpPr>
        <p:grpSpPr>
          <a:xfrm>
            <a:off x="5176520" y="4380865"/>
            <a:ext cx="3397250" cy="1714500"/>
            <a:chOff x="8413" y="6169"/>
            <a:chExt cx="5350" cy="2700"/>
          </a:xfrm>
        </p:grpSpPr>
        <p:sp>
          <p:nvSpPr>
            <p:cNvPr id="4" name="文本框 3"/>
            <p:cNvSpPr txBox="1"/>
            <p:nvPr/>
          </p:nvSpPr>
          <p:spPr>
            <a:xfrm>
              <a:off x="8413" y="6169"/>
              <a:ext cx="5350" cy="27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a:outerShdw blurRad="50800" dist="38100" dir="16200000" rotWithShape="0">
                <a:prstClr val="black">
                  <a:alpha val="40000"/>
                </a:prstClr>
              </a:outerShdw>
            </a:effectLst>
          </p:spPr>
          <p:txBody>
            <a:bodyPr wrap="square" rtlCol="0">
              <a:spAutoFit/>
            </a:bodyPr>
            <a:p>
              <a:pPr marL="0" indent="0" eaLnBrk="1" latinLnBrk="0" hangingPunct="1">
                <a:lnSpc>
                  <a:spcPct val="120000"/>
                </a:lnSpc>
                <a:buFont typeface="+mj-ea"/>
                <a:buNone/>
              </a:pPr>
              <a:r>
                <a:rPr lang="zh-CN" altLang="en-US"/>
                <a:t>打印       选图纸尺寸（按</a:t>
              </a:r>
              <a:r>
                <a:rPr lang="en-US" altLang="zh-CN"/>
                <a:t>ISO</a:t>
              </a:r>
              <a:r>
                <a:rPr lang="zh-CN" altLang="en-US"/>
                <a:t>标准）     窗口       框选上图幅范围      另存为 </a:t>
              </a:r>
              <a:r>
                <a:rPr lang="en-US" altLang="zh-CN"/>
                <a:t>PDF</a:t>
              </a:r>
              <a:r>
                <a:rPr lang="zh-CN" altLang="en-US"/>
                <a:t>文件</a:t>
              </a:r>
              <a:endParaRPr lang="zh-CN" altLang="en-US"/>
            </a:p>
          </p:txBody>
        </p:sp>
        <p:sp>
          <p:nvSpPr>
            <p:cNvPr id="5" name="右箭头 4"/>
            <p:cNvSpPr/>
            <p:nvPr/>
          </p:nvSpPr>
          <p:spPr>
            <a:xfrm>
              <a:off x="9557" y="6510"/>
              <a:ext cx="603" cy="119"/>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6" name="右箭头 5"/>
            <p:cNvSpPr/>
            <p:nvPr/>
          </p:nvSpPr>
          <p:spPr>
            <a:xfrm>
              <a:off x="10510" y="7209"/>
              <a:ext cx="603" cy="119"/>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7" name="右箭头 6"/>
            <p:cNvSpPr/>
            <p:nvPr/>
          </p:nvSpPr>
          <p:spPr>
            <a:xfrm>
              <a:off x="12336" y="7194"/>
              <a:ext cx="603" cy="119"/>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8" name="右箭头 7"/>
            <p:cNvSpPr/>
            <p:nvPr/>
          </p:nvSpPr>
          <p:spPr>
            <a:xfrm>
              <a:off x="11432" y="7813"/>
              <a:ext cx="603" cy="119"/>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pSp>
      <p:sp>
        <p:nvSpPr>
          <p:cNvPr id="10" name="文本框 9"/>
          <p:cNvSpPr txBox="1"/>
          <p:nvPr/>
        </p:nvSpPr>
        <p:spPr>
          <a:xfrm>
            <a:off x="5233035" y="6164580"/>
            <a:ext cx="3048000" cy="49720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a:outerShdw blurRad="50800" dist="38100" dir="16200000" rotWithShape="0">
              <a:prstClr val="black">
                <a:alpha val="40000"/>
              </a:prstClr>
            </a:outerShdw>
          </a:effectLst>
        </p:spPr>
        <p:txBody>
          <a:bodyPr wrap="square" rtlCol="0">
            <a:spAutoFit/>
          </a:bodyPr>
          <a:p>
            <a:pPr marL="0" indent="0" eaLnBrk="1" latinLnBrk="0" hangingPunct="1">
              <a:lnSpc>
                <a:spcPct val="120000"/>
              </a:lnSpc>
              <a:buFont typeface="+mj-ea"/>
              <a:buNone/>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p:cNvSpPr>
          <p:nvPr>
            <p:ph type="title"/>
          </p:nvPr>
        </p:nvSpPr>
        <p:spPr>
          <a:xfrm>
            <a:off x="5257800" y="685800"/>
            <a:ext cx="1600200" cy="228600"/>
          </a:xfrm>
          <a:noFill/>
          <a:ln>
            <a:noFill/>
          </a:ln>
        </p:spPr>
        <p:txBody>
          <a:bodyPr/>
          <a:p>
            <a:pPr eaLnBrk="1" hangingPunct="1"/>
            <a:r>
              <a:rPr lang="zh-CN" altLang="en-US" sz="800" dirty="0">
                <a:solidFill>
                  <a:schemeClr val="bg1"/>
                </a:solidFill>
                <a:latin typeface="华文中宋" panose="02010600040101010101" pitchFamily="2" charset="-122"/>
                <a:ea typeface="华文中宋" panose="02010600040101010101" pitchFamily="2" charset="-122"/>
              </a:rPr>
              <a:t>机械零件设计中的标准化</a:t>
            </a:r>
            <a:r>
              <a:rPr lang="en-US" altLang="zh-CN" sz="800" dirty="0">
                <a:solidFill>
                  <a:schemeClr val="bg1"/>
                </a:solidFill>
                <a:latin typeface="华文中宋" panose="02010600040101010101" pitchFamily="2" charset="-122"/>
                <a:ea typeface="华文中宋" panose="02010600040101010101" pitchFamily="2" charset="-122"/>
              </a:rPr>
              <a:t>1</a:t>
            </a:r>
            <a:endParaRPr lang="en-US" altLang="zh-CN" sz="800" dirty="0">
              <a:solidFill>
                <a:schemeClr val="bg1"/>
              </a:solidFill>
              <a:latin typeface="楷体_GB2312" pitchFamily="49" charset="-122"/>
              <a:ea typeface="楷体_GB2312" pitchFamily="49" charset="-122"/>
            </a:endParaRPr>
          </a:p>
        </p:txBody>
      </p:sp>
      <p:sp>
        <p:nvSpPr>
          <p:cNvPr id="45059" name="Rectangle 3"/>
          <p:cNvSpPr/>
          <p:nvPr/>
        </p:nvSpPr>
        <p:spPr>
          <a:xfrm>
            <a:off x="5257800" y="258763"/>
            <a:ext cx="2579688" cy="427037"/>
          </a:xfrm>
          <a:prstGeom prst="rect">
            <a:avLst/>
          </a:prstGeom>
          <a:noFill/>
          <a:ln w="9525">
            <a:noFill/>
          </a:ln>
        </p:spPr>
        <p:txBody>
          <a:bodyPr tIns="18000" anchor="ctr" anchorCtr="1"/>
          <a:p>
            <a:pPr eaLnBrk="1" hangingPunct="1"/>
            <a:r>
              <a:rPr lang="zh-CN" altLang="en-US" sz="3000" dirty="0">
                <a:solidFill>
                  <a:srgbClr val="CC0000"/>
                </a:solidFill>
                <a:latin typeface="黑体" panose="02010609060101010101" pitchFamily="49" charset="-122"/>
                <a:ea typeface="黑体" panose="02010609060101010101" pitchFamily="49" charset="-122"/>
              </a:rPr>
              <a:t>重点习题说明</a:t>
            </a:r>
            <a:endParaRPr lang="zh-CN" altLang="en-US" sz="3000" dirty="0">
              <a:solidFill>
                <a:srgbClr val="CC0000"/>
              </a:solidFill>
              <a:latin typeface="黑体" panose="02010609060101010101" pitchFamily="49" charset="-122"/>
              <a:ea typeface="黑体" panose="02010609060101010101" pitchFamily="49" charset="-122"/>
            </a:endParaRPr>
          </a:p>
        </p:txBody>
      </p:sp>
      <p:sp>
        <p:nvSpPr>
          <p:cNvPr id="90137" name="Text Box 25"/>
          <p:cNvSpPr txBox="1"/>
          <p:nvPr/>
        </p:nvSpPr>
        <p:spPr>
          <a:xfrm>
            <a:off x="412750" y="1182688"/>
            <a:ext cx="8423275" cy="538162"/>
          </a:xfrm>
          <a:prstGeom prst="rect">
            <a:avLst/>
          </a:prstGeom>
          <a:noFill/>
          <a:ln w="9525">
            <a:noFill/>
          </a:ln>
        </p:spPr>
        <p:txBody>
          <a:bodyPr>
            <a:spAutoFit/>
          </a:bodyPr>
          <a:p>
            <a:pPr eaLnBrk="1" hangingPunct="1">
              <a:lnSpc>
                <a:spcPct val="150000"/>
              </a:lnSpc>
              <a:buSzPct val="80000"/>
              <a:buBlip>
                <a:blip r:embed="rId1"/>
              </a:buBlip>
            </a:pPr>
            <a:r>
              <a:rPr lang="en-US" altLang="zh-CN" sz="2000" dirty="0">
                <a:solidFill>
                  <a:srgbClr val="000099"/>
                </a:solidFill>
                <a:latin typeface="Times New Roman" panose="02020603050405020304" pitchFamily="18" charset="0"/>
              </a:rPr>
              <a:t> </a:t>
            </a:r>
            <a:r>
              <a:rPr lang="zh-CN" altLang="en-US" dirty="0">
                <a:latin typeface="Tahoma" panose="020B0604030504040204" pitchFamily="34" charset="0"/>
              </a:rPr>
              <a:t>题</a:t>
            </a:r>
            <a:r>
              <a:rPr lang="en-US" altLang="zh-CN" dirty="0">
                <a:latin typeface="Tahoma" panose="020B0604030504040204" pitchFamily="34" charset="0"/>
              </a:rPr>
              <a:t>1.2-10</a:t>
            </a:r>
            <a:r>
              <a:rPr lang="zh-CN" altLang="en-US" dirty="0">
                <a:latin typeface="Tahoma" panose="020B0604030504040204" pitchFamily="34" charset="0"/>
              </a:rPr>
              <a:t>附图</a:t>
            </a:r>
            <a:endParaRPr lang="zh-CN" altLang="zh-CN" dirty="0">
              <a:latin typeface="Tahoma" panose="020B0604030504040204" pitchFamily="34" charset="0"/>
            </a:endParaRPr>
          </a:p>
        </p:txBody>
      </p:sp>
      <p:sp>
        <p:nvSpPr>
          <p:cNvPr id="90138" name="Text Box 26"/>
          <p:cNvSpPr txBox="1"/>
          <p:nvPr/>
        </p:nvSpPr>
        <p:spPr>
          <a:xfrm>
            <a:off x="6192838" y="6313488"/>
            <a:ext cx="271462" cy="427037"/>
          </a:xfrm>
          <a:prstGeom prst="rect">
            <a:avLst/>
          </a:prstGeom>
          <a:noFill/>
          <a:ln w="9525">
            <a:noFill/>
          </a:ln>
        </p:spPr>
        <p:txBody>
          <a:bodyPr wrap="none">
            <a:spAutoFit/>
          </a:bodyPr>
          <a:p>
            <a:pPr eaLnBrk="1" hangingPunct="1"/>
            <a:r>
              <a:rPr lang="en-US" altLang="zh-CN" dirty="0">
                <a:latin typeface="Tahoma" panose="020B0604030504040204" pitchFamily="34" charset="0"/>
              </a:rPr>
              <a:t> </a:t>
            </a:r>
            <a:endParaRPr lang="en-US" altLang="zh-CN" dirty="0">
              <a:latin typeface="Tahoma" panose="020B0604030504040204" pitchFamily="34" charset="0"/>
            </a:endParaRPr>
          </a:p>
        </p:txBody>
      </p:sp>
      <p:pic>
        <p:nvPicPr>
          <p:cNvPr id="45062" name="Picture 4" descr="rewind1">
            <a:hlinkClick r:id="rId2" action="ppaction://hlinksldjump"/>
          </p:cNvPr>
          <p:cNvPicPr>
            <a:picLocks noChangeAspect="1"/>
          </p:cNvPicPr>
          <p:nvPr/>
        </p:nvPicPr>
        <p:blipFill>
          <a:blip r:embed="rId3"/>
          <a:stretch>
            <a:fillRect/>
          </a:stretch>
        </p:blipFill>
        <p:spPr>
          <a:xfrm>
            <a:off x="8229600" y="6570663"/>
            <a:ext cx="287338" cy="287337"/>
          </a:xfrm>
          <a:prstGeom prst="rect">
            <a:avLst/>
          </a:prstGeom>
          <a:noFill/>
          <a:ln w="9525">
            <a:noFill/>
          </a:ln>
        </p:spPr>
      </p:pic>
      <p:pic>
        <p:nvPicPr>
          <p:cNvPr id="45063" name="Picture 5" descr="back1">
            <a:hlinkClick r:id="" action="ppaction://hlinkshowjump?jump=previousslide"/>
          </p:cNvPr>
          <p:cNvPicPr>
            <a:picLocks noChangeAspect="1"/>
          </p:cNvPicPr>
          <p:nvPr/>
        </p:nvPicPr>
        <p:blipFill>
          <a:blip r:embed="rId4"/>
          <a:stretch>
            <a:fillRect/>
          </a:stretch>
        </p:blipFill>
        <p:spPr>
          <a:xfrm>
            <a:off x="8637588" y="6570663"/>
            <a:ext cx="287337" cy="287337"/>
          </a:xfrm>
          <a:prstGeom prst="rect">
            <a:avLst/>
          </a:prstGeom>
          <a:noFill/>
          <a:ln w="9525">
            <a:noFill/>
          </a:ln>
        </p:spPr>
      </p:pic>
      <p:pic>
        <p:nvPicPr>
          <p:cNvPr id="45064" name="图片 4"/>
          <p:cNvPicPr>
            <a:picLocks noChangeAspect="1"/>
          </p:cNvPicPr>
          <p:nvPr/>
        </p:nvPicPr>
        <p:blipFill>
          <a:blip r:embed="rId5"/>
          <a:stretch>
            <a:fillRect/>
          </a:stretch>
        </p:blipFill>
        <p:spPr>
          <a:xfrm>
            <a:off x="2646680" y="1101725"/>
            <a:ext cx="3982085" cy="554990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0137"/>
                                        </p:tgtEl>
                                        <p:attrNameLst>
                                          <p:attrName>style.visibility</p:attrName>
                                        </p:attrNameLst>
                                      </p:cBhvr>
                                      <p:to>
                                        <p:strVal val="visible"/>
                                      </p:to>
                                    </p:set>
                                    <p:animEffect transition="in" filter="wipe(left)">
                                      <p:cBhvr>
                                        <p:cTn id="7" dur="500"/>
                                        <p:tgtEl>
                                          <p:spTgt spid="9013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90138"/>
                                        </p:tgtEl>
                                        <p:attrNameLst>
                                          <p:attrName>style.visibility</p:attrName>
                                        </p:attrNameLst>
                                      </p:cBhvr>
                                      <p:to>
                                        <p:strVal val="visible"/>
                                      </p:to>
                                    </p:set>
                                    <p:anim calcmode="lin" valueType="num">
                                      <p:cBhvr additive="base">
                                        <p:cTn id="12" dur="500" fill="hold"/>
                                        <p:tgtEl>
                                          <p:spTgt spid="90138"/>
                                        </p:tgtEl>
                                        <p:attrNameLst>
                                          <p:attrName>ppt_x</p:attrName>
                                        </p:attrNameLst>
                                      </p:cBhvr>
                                      <p:tavLst>
                                        <p:tav tm="0">
                                          <p:val>
                                            <p:strVal val="0-#ppt_w/2"/>
                                          </p:val>
                                        </p:tav>
                                        <p:tav tm="100000">
                                          <p:val>
                                            <p:strVal val="#ppt_x"/>
                                          </p:val>
                                        </p:tav>
                                      </p:tavLst>
                                    </p:anim>
                                    <p:anim calcmode="lin" valueType="num">
                                      <p:cBhvr additive="base">
                                        <p:cTn id="13" dur="500" fill="hold"/>
                                        <p:tgtEl>
                                          <p:spTgt spid="901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37" grpId="0"/>
      <p:bldP spid="9013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p:cNvSpPr>
          <p:nvPr>
            <p:ph type="title"/>
          </p:nvPr>
        </p:nvSpPr>
        <p:spPr>
          <a:xfrm>
            <a:off x="5257800" y="685800"/>
            <a:ext cx="1600200" cy="228600"/>
          </a:xfrm>
          <a:noFill/>
          <a:ln>
            <a:noFill/>
          </a:ln>
        </p:spPr>
        <p:txBody>
          <a:bodyPr/>
          <a:p>
            <a:pPr eaLnBrk="1" hangingPunct="1"/>
            <a:r>
              <a:rPr lang="zh-CN" altLang="en-US" sz="800" dirty="0">
                <a:solidFill>
                  <a:schemeClr val="bg1"/>
                </a:solidFill>
                <a:latin typeface="华文中宋" panose="02010600040101010101" pitchFamily="2" charset="-122"/>
                <a:ea typeface="华文中宋" panose="02010600040101010101" pitchFamily="2" charset="-122"/>
              </a:rPr>
              <a:t>机械零件设计中的标准化</a:t>
            </a:r>
            <a:r>
              <a:rPr lang="en-US" altLang="zh-CN" sz="800" dirty="0">
                <a:solidFill>
                  <a:schemeClr val="bg1"/>
                </a:solidFill>
                <a:latin typeface="华文中宋" panose="02010600040101010101" pitchFamily="2" charset="-122"/>
                <a:ea typeface="华文中宋" panose="02010600040101010101" pitchFamily="2" charset="-122"/>
              </a:rPr>
              <a:t>1</a:t>
            </a:r>
            <a:endParaRPr lang="en-US" altLang="zh-CN" sz="800" dirty="0">
              <a:solidFill>
                <a:schemeClr val="bg1"/>
              </a:solidFill>
              <a:latin typeface="楷体_GB2312" pitchFamily="49" charset="-122"/>
              <a:ea typeface="楷体_GB2312" pitchFamily="49" charset="-122"/>
            </a:endParaRPr>
          </a:p>
        </p:txBody>
      </p:sp>
      <p:sp>
        <p:nvSpPr>
          <p:cNvPr id="44035" name="Rectangle 3"/>
          <p:cNvSpPr/>
          <p:nvPr/>
        </p:nvSpPr>
        <p:spPr>
          <a:xfrm>
            <a:off x="5257800" y="258763"/>
            <a:ext cx="2959100" cy="457200"/>
          </a:xfrm>
          <a:prstGeom prst="rect">
            <a:avLst/>
          </a:prstGeom>
          <a:noFill/>
          <a:ln w="9525">
            <a:noFill/>
          </a:ln>
        </p:spPr>
        <p:txBody>
          <a:bodyPr tIns="18000" anchor="ctr" anchorCtr="1"/>
          <a:p>
            <a:pPr eaLnBrk="1" hangingPunct="1"/>
            <a:r>
              <a:rPr lang="zh-CN" altLang="en-US" sz="3000" dirty="0">
                <a:solidFill>
                  <a:srgbClr val="CC0000"/>
                </a:solidFill>
                <a:latin typeface="黑体" panose="02010609060101010101" pitchFamily="49" charset="-122"/>
                <a:ea typeface="黑体" panose="02010609060101010101" pitchFamily="49" charset="-122"/>
              </a:rPr>
              <a:t>重点习题说明</a:t>
            </a:r>
            <a:endParaRPr lang="zh-CN" altLang="en-US" sz="3000" dirty="0">
              <a:solidFill>
                <a:srgbClr val="CC0000"/>
              </a:solidFill>
              <a:latin typeface="黑体" panose="02010609060101010101" pitchFamily="49" charset="-122"/>
              <a:ea typeface="黑体" panose="02010609060101010101" pitchFamily="49" charset="-122"/>
            </a:endParaRPr>
          </a:p>
        </p:txBody>
      </p:sp>
      <p:sp>
        <p:nvSpPr>
          <p:cNvPr id="90137" name="Text Box 25"/>
          <p:cNvSpPr txBox="1"/>
          <p:nvPr/>
        </p:nvSpPr>
        <p:spPr>
          <a:xfrm>
            <a:off x="412750" y="1182688"/>
            <a:ext cx="8423275" cy="554037"/>
          </a:xfrm>
          <a:prstGeom prst="rect">
            <a:avLst/>
          </a:prstGeom>
          <a:noFill/>
          <a:ln w="9525">
            <a:noFill/>
          </a:ln>
        </p:spPr>
        <p:txBody>
          <a:bodyPr>
            <a:spAutoFit/>
          </a:bodyPr>
          <a:p>
            <a:pPr eaLnBrk="1" hangingPunct="1">
              <a:lnSpc>
                <a:spcPct val="150000"/>
              </a:lnSpc>
              <a:buSzPct val="80000"/>
              <a:buBlip>
                <a:blip r:embed="rId1"/>
              </a:buBlip>
            </a:pPr>
            <a:r>
              <a:rPr lang="en-US" altLang="zh-CN" sz="2000" dirty="0">
                <a:solidFill>
                  <a:srgbClr val="000099"/>
                </a:solidFill>
                <a:latin typeface="Times New Roman" panose="02020603050405020304" pitchFamily="18" charset="0"/>
              </a:rPr>
              <a:t> </a:t>
            </a:r>
            <a:r>
              <a:rPr lang="zh-CN" altLang="en-US" sz="2000" dirty="0">
                <a:solidFill>
                  <a:srgbClr val="000099"/>
                </a:solidFill>
                <a:latin typeface="Times New Roman" panose="02020603050405020304" pitchFamily="18" charset="0"/>
              </a:rPr>
              <a:t>题</a:t>
            </a:r>
            <a:r>
              <a:rPr lang="en-US" altLang="zh-CN" sz="2000" dirty="0">
                <a:solidFill>
                  <a:srgbClr val="000099"/>
                </a:solidFill>
                <a:latin typeface="Times New Roman" panose="02020603050405020304" pitchFamily="18" charset="0"/>
              </a:rPr>
              <a:t>1.2-10</a:t>
            </a:r>
            <a:r>
              <a:rPr lang="zh-CN" altLang="en-US" sz="2000" dirty="0">
                <a:solidFill>
                  <a:srgbClr val="000099"/>
                </a:solidFill>
                <a:latin typeface="Times New Roman" panose="02020603050405020304" pitchFamily="18" charset="0"/>
              </a:rPr>
              <a:t>图</a:t>
            </a:r>
            <a:endParaRPr lang="zh-CN" altLang="zh-CN" dirty="0">
              <a:latin typeface="Tahoma" panose="020B0604030504040204" pitchFamily="34" charset="0"/>
            </a:endParaRPr>
          </a:p>
        </p:txBody>
      </p:sp>
      <p:sp>
        <p:nvSpPr>
          <p:cNvPr id="90138" name="Text Box 26"/>
          <p:cNvSpPr txBox="1"/>
          <p:nvPr/>
        </p:nvSpPr>
        <p:spPr>
          <a:xfrm>
            <a:off x="6192838" y="6313488"/>
            <a:ext cx="271462" cy="427037"/>
          </a:xfrm>
          <a:prstGeom prst="rect">
            <a:avLst/>
          </a:prstGeom>
          <a:noFill/>
          <a:ln w="9525">
            <a:noFill/>
          </a:ln>
        </p:spPr>
        <p:txBody>
          <a:bodyPr wrap="none">
            <a:spAutoFit/>
          </a:bodyPr>
          <a:p>
            <a:pPr eaLnBrk="1" hangingPunct="1"/>
            <a:r>
              <a:rPr lang="en-US" altLang="zh-CN" dirty="0">
                <a:latin typeface="Tahoma" panose="020B0604030504040204" pitchFamily="34" charset="0"/>
              </a:rPr>
              <a:t> </a:t>
            </a:r>
            <a:endParaRPr lang="en-US" altLang="zh-CN" dirty="0">
              <a:latin typeface="Tahoma" panose="020B0604030504040204" pitchFamily="34" charset="0"/>
            </a:endParaRPr>
          </a:p>
        </p:txBody>
      </p:sp>
      <p:pic>
        <p:nvPicPr>
          <p:cNvPr id="14" name="Picture 6" descr="rewind1">
            <a:hlinkClick r:id="rId2" action="ppaction://hlinksldjump"/>
          </p:cNvPr>
          <p:cNvPicPr>
            <a:picLocks noChangeAspect="1"/>
          </p:cNvPicPr>
          <p:nvPr/>
        </p:nvPicPr>
        <p:blipFill>
          <a:blip r:embed="rId3"/>
          <a:stretch>
            <a:fillRect/>
          </a:stretch>
        </p:blipFill>
        <p:spPr>
          <a:xfrm>
            <a:off x="8229600" y="6570663"/>
            <a:ext cx="287338" cy="287337"/>
          </a:xfrm>
          <a:prstGeom prst="rect">
            <a:avLst/>
          </a:prstGeom>
          <a:noFill/>
          <a:ln w="9525">
            <a:noFill/>
          </a:ln>
        </p:spPr>
      </p:pic>
      <p:pic>
        <p:nvPicPr>
          <p:cNvPr id="15" name="Picture 8" descr="NEXT1">
            <a:hlinkClick r:id="" action="ppaction://hlinkshowjump?jump=nextslide"/>
          </p:cNvPr>
          <p:cNvPicPr>
            <a:picLocks noChangeAspect="1"/>
          </p:cNvPicPr>
          <p:nvPr/>
        </p:nvPicPr>
        <p:blipFill>
          <a:blip r:embed="rId4"/>
          <a:stretch>
            <a:fillRect/>
          </a:stretch>
        </p:blipFill>
        <p:spPr>
          <a:xfrm>
            <a:off x="8610600" y="6570663"/>
            <a:ext cx="287338" cy="287337"/>
          </a:xfrm>
          <a:prstGeom prst="rect">
            <a:avLst/>
          </a:prstGeom>
          <a:noFill/>
          <a:ln w="9525">
            <a:noFill/>
          </a:ln>
        </p:spPr>
      </p:pic>
      <p:pic>
        <p:nvPicPr>
          <p:cNvPr id="44040" name="图片 4"/>
          <p:cNvPicPr>
            <a:picLocks noChangeAspect="1"/>
          </p:cNvPicPr>
          <p:nvPr/>
        </p:nvPicPr>
        <p:blipFill>
          <a:blip r:embed="rId5"/>
          <a:stretch>
            <a:fillRect/>
          </a:stretch>
        </p:blipFill>
        <p:spPr>
          <a:xfrm>
            <a:off x="2497455" y="756285"/>
            <a:ext cx="3978275" cy="558736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0137"/>
                                        </p:tgtEl>
                                        <p:attrNameLst>
                                          <p:attrName>style.visibility</p:attrName>
                                        </p:attrNameLst>
                                      </p:cBhvr>
                                      <p:to>
                                        <p:strVal val="visible"/>
                                      </p:to>
                                    </p:set>
                                    <p:animEffect transition="in" filter="wipe(left)">
                                      <p:cBhvr>
                                        <p:cTn id="7" dur="500"/>
                                        <p:tgtEl>
                                          <p:spTgt spid="90137"/>
                                        </p:tgtEl>
                                      </p:cBhvr>
                                    </p:animEffect>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0-#ppt_w/2"/>
                                          </p:val>
                                        </p:tav>
                                        <p:tav tm="100000">
                                          <p:val>
                                            <p:strVal val="#ppt_x"/>
                                          </p:val>
                                        </p:tav>
                                      </p:tavLst>
                                    </p:anim>
                                    <p:anim calcmode="lin" valueType="num">
                                      <p:cBhvr additive="base">
                                        <p:cTn id="12" dur="500" fill="hold"/>
                                        <p:tgtEl>
                                          <p:spTgt spid="14"/>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 presetClass="entr" presetSubtype="0" fill="hold" nodeType="afterEffect">
                                  <p:stCondLst>
                                    <p:cond delay="0"/>
                                  </p:stCondLst>
                                  <p:childTnLst>
                                    <p:set>
                                      <p:cBhvr>
                                        <p:cTn id="15" dur="1" fill="hold">
                                          <p:stCondLst>
                                            <p:cond delay="499"/>
                                          </p:stCondLst>
                                        </p:cTn>
                                        <p:tgtEl>
                                          <p:spTgt spid="1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grpId="0" nodeType="clickEffect">
                                  <p:stCondLst>
                                    <p:cond delay="0"/>
                                  </p:stCondLst>
                                  <p:childTnLst>
                                    <p:set>
                                      <p:cBhvr>
                                        <p:cTn id="19" dur="1" fill="hold">
                                          <p:stCondLst>
                                            <p:cond delay="0"/>
                                          </p:stCondLst>
                                        </p:cTn>
                                        <p:tgtEl>
                                          <p:spTgt spid="90138"/>
                                        </p:tgtEl>
                                        <p:attrNameLst>
                                          <p:attrName>style.visibility</p:attrName>
                                        </p:attrNameLst>
                                      </p:cBhvr>
                                      <p:to>
                                        <p:strVal val="visible"/>
                                      </p:to>
                                    </p:set>
                                    <p:anim calcmode="lin" valueType="num">
                                      <p:cBhvr additive="base">
                                        <p:cTn id="20" dur="500" fill="hold"/>
                                        <p:tgtEl>
                                          <p:spTgt spid="90138"/>
                                        </p:tgtEl>
                                        <p:attrNameLst>
                                          <p:attrName>ppt_x</p:attrName>
                                        </p:attrNameLst>
                                      </p:cBhvr>
                                      <p:tavLst>
                                        <p:tav tm="0">
                                          <p:val>
                                            <p:strVal val="0-#ppt_w/2"/>
                                          </p:val>
                                        </p:tav>
                                        <p:tav tm="100000">
                                          <p:val>
                                            <p:strVal val="#ppt_x"/>
                                          </p:val>
                                        </p:tav>
                                      </p:tavLst>
                                    </p:anim>
                                    <p:anim calcmode="lin" valueType="num">
                                      <p:cBhvr additive="base">
                                        <p:cTn id="21" dur="500" fill="hold"/>
                                        <p:tgtEl>
                                          <p:spTgt spid="901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37" grpId="0"/>
      <p:bldP spid="9013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bwMode="auto">
          <a:xfrm>
            <a:off x="5257800" y="685800"/>
            <a:ext cx="16002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spcAft>
                <a:spcPts val="0"/>
              </a:spcAft>
            </a:pPr>
            <a:r>
              <a:rPr lang="zh-CN" altLang="en-US" sz="800" smtClean="0">
                <a:solidFill>
                  <a:schemeClr val="bg1"/>
                </a:solidFill>
                <a:latin typeface="华文中宋" panose="02010600040101010101" pitchFamily="2" charset="-122"/>
                <a:ea typeface="华文中宋" panose="02010600040101010101" pitchFamily="2" charset="-122"/>
              </a:rPr>
              <a:t>机械现代设计方法简介</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20482" name="Rectangle 3"/>
          <p:cNvSpPr>
            <a:spLocks noChangeArrowheads="1"/>
          </p:cNvSpPr>
          <p:nvPr/>
        </p:nvSpPr>
        <p:spPr bwMode="auto">
          <a:xfrm>
            <a:off x="1355725" y="259080"/>
            <a:ext cx="6873875" cy="426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p>
            <a:pPr>
              <a:spcAft>
                <a:spcPts val="0"/>
              </a:spcAft>
            </a:pPr>
            <a:r>
              <a:rPr lang="en-US" altLang="zh-CN" sz="3000" dirty="0" smtClean="0">
                <a:solidFill>
                  <a:srgbClr val="CC0000"/>
                </a:solidFill>
                <a:latin typeface="黑体" panose="02010609060101010101" pitchFamily="49" charset="-122"/>
                <a:ea typeface="黑体" panose="02010609060101010101" pitchFamily="49" charset="-122"/>
              </a:rPr>
              <a:t>1.2-10 </a:t>
            </a:r>
            <a:r>
              <a:rPr lang="zh-CN" altLang="en-US" sz="3000" dirty="0">
                <a:solidFill>
                  <a:srgbClr val="CC0000"/>
                </a:solidFill>
                <a:latin typeface="黑体" panose="02010609060101010101" pitchFamily="49" charset="-122"/>
                <a:ea typeface="黑体" panose="02010609060101010101" pitchFamily="49" charset="-122"/>
              </a:rPr>
              <a:t>计算机辅助设计与工程</a:t>
            </a:r>
            <a:r>
              <a:rPr lang="zh-CN" altLang="en-US" sz="3000" dirty="0" smtClean="0">
                <a:solidFill>
                  <a:srgbClr val="CC0000"/>
                </a:solidFill>
                <a:latin typeface="黑体" panose="02010609060101010101" pitchFamily="49" charset="-122"/>
                <a:ea typeface="黑体" panose="02010609060101010101" pitchFamily="49" charset="-122"/>
              </a:rPr>
              <a:t>（</a:t>
            </a:r>
            <a:r>
              <a:rPr lang="zh-CN" altLang="en-US" sz="3000" dirty="0" smtClean="0">
                <a:solidFill>
                  <a:srgbClr val="0000FF"/>
                </a:solidFill>
                <a:latin typeface="黑体" panose="02010609060101010101" pitchFamily="49" charset="-122"/>
                <a:ea typeface="黑体" panose="02010609060101010101" pitchFamily="49" charset="-122"/>
              </a:rPr>
              <a:t>自学</a:t>
            </a:r>
            <a:r>
              <a:rPr lang="zh-CN" altLang="en-US" sz="3000" dirty="0" smtClean="0">
                <a:solidFill>
                  <a:srgbClr val="CC0000"/>
                </a:solidFill>
                <a:latin typeface="黑体" panose="02010609060101010101" pitchFamily="49" charset="-122"/>
                <a:ea typeface="黑体" panose="02010609060101010101" pitchFamily="49" charset="-122"/>
              </a:rPr>
              <a:t>）</a:t>
            </a:r>
            <a:endParaRPr lang="zh-CN" altLang="en-US" sz="3000" dirty="0">
              <a:solidFill>
                <a:srgbClr val="CC0000"/>
              </a:solidFill>
              <a:latin typeface="黑体" panose="02010609060101010101" pitchFamily="49" charset="-122"/>
              <a:ea typeface="黑体" panose="02010609060101010101" pitchFamily="49" charset="-122"/>
            </a:endParaRPr>
          </a:p>
        </p:txBody>
      </p:sp>
      <p:sp>
        <p:nvSpPr>
          <p:cNvPr id="92164" name="Rectangle 4"/>
          <p:cNvSpPr>
            <a:spLocks noChangeArrowheads="1"/>
          </p:cNvSpPr>
          <p:nvPr/>
        </p:nvSpPr>
        <p:spPr bwMode="auto">
          <a:xfrm>
            <a:off x="856363" y="1278368"/>
            <a:ext cx="7620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0000"/>
              </a:lnSpc>
              <a:spcBef>
                <a:spcPct val="50000"/>
              </a:spcBef>
              <a:spcAft>
                <a:spcPts val="0"/>
              </a:spcAft>
              <a:buClr>
                <a:schemeClr val="hlink"/>
              </a:buClr>
              <a:buSzPct val="110000"/>
              <a:buFont typeface="Wingdings" panose="05000000000000000000" pitchFamily="2" charset="2"/>
              <a:buNone/>
            </a:pPr>
            <a:r>
              <a:rPr lang="zh-CN" altLang="en-US" sz="2000" dirty="0">
                <a:solidFill>
                  <a:srgbClr val="000099"/>
                </a:solidFill>
                <a:latin typeface="华文中宋" panose="02010600040101010101" pitchFamily="2" charset="-122"/>
              </a:rPr>
              <a:t>现代机械设计方法通常是相对传统的设计方法而言的。</a:t>
            </a:r>
            <a:endParaRPr lang="zh-CN" altLang="en-US" sz="2000" dirty="0">
              <a:solidFill>
                <a:srgbClr val="000099"/>
              </a:solidFill>
              <a:latin typeface="华文中宋" panose="02010600040101010101" pitchFamily="2" charset="-122"/>
            </a:endParaRPr>
          </a:p>
        </p:txBody>
      </p:sp>
      <p:sp>
        <p:nvSpPr>
          <p:cNvPr id="92165" name="Rectangle 5"/>
          <p:cNvSpPr>
            <a:spLocks noChangeArrowheads="1"/>
          </p:cNvSpPr>
          <p:nvPr/>
        </p:nvSpPr>
        <p:spPr bwMode="auto">
          <a:xfrm>
            <a:off x="322907" y="1769953"/>
            <a:ext cx="868680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spcAft>
                <a:spcPts val="0"/>
              </a:spcAft>
              <a:buClr>
                <a:schemeClr val="hlink"/>
              </a:buClr>
              <a:buSzPct val="110000"/>
              <a:buFont typeface="Wingdings" panose="05000000000000000000" pitchFamily="2" charset="2"/>
              <a:buNone/>
            </a:pPr>
            <a:r>
              <a:rPr lang="zh-CN" altLang="en-US" sz="2000" dirty="0">
                <a:solidFill>
                  <a:srgbClr val="000099"/>
                </a:solidFill>
                <a:latin typeface="华文中宋" panose="02010600040101010101" pitchFamily="2" charset="-122"/>
              </a:rPr>
              <a:t>　　现代设计方法从总体上概括为运用现代应用数学、应用力学、微电子学及信息科学等方面的最新成果与手段实现下列转换：</a:t>
            </a:r>
            <a:endParaRPr lang="zh-CN" altLang="en-US" sz="2000" dirty="0">
              <a:solidFill>
                <a:srgbClr val="000099"/>
              </a:solidFill>
              <a:latin typeface="华文中宋" panose="02010600040101010101" pitchFamily="2" charset="-122"/>
            </a:endParaRPr>
          </a:p>
        </p:txBody>
      </p:sp>
      <p:pic>
        <p:nvPicPr>
          <p:cNvPr id="92167" name="Picture 7"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042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72" name="Text Box 12"/>
          <p:cNvSpPr txBox="1">
            <a:spLocks noChangeArrowheads="1"/>
          </p:cNvSpPr>
          <p:nvPr/>
        </p:nvSpPr>
        <p:spPr bwMode="auto">
          <a:xfrm>
            <a:off x="856740" y="2692146"/>
            <a:ext cx="6459855" cy="3538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40000"/>
              </a:lnSpc>
              <a:spcAft>
                <a:spcPts val="0"/>
              </a:spcAft>
              <a:buClr>
                <a:srgbClr val="CC0000"/>
              </a:buClr>
              <a:buSzPct val="80000"/>
              <a:buFont typeface="Wingdings" panose="05000000000000000000" pitchFamily="2" charset="2"/>
              <a:buChar char="q"/>
            </a:pPr>
            <a:r>
              <a:rPr lang="zh-CN" altLang="en-US" sz="2000" dirty="0">
                <a:solidFill>
                  <a:srgbClr val="000099"/>
                </a:solidFill>
                <a:latin typeface="华文中宋" panose="02010600040101010101" pitchFamily="2" charset="-122"/>
              </a:rPr>
              <a:t>以动态的取代静态的─如</a:t>
            </a:r>
            <a:r>
              <a:rPr lang="zh-CN" altLang="en-US" sz="2000" dirty="0">
                <a:solidFill>
                  <a:srgbClr val="C00000"/>
                </a:solidFill>
                <a:latin typeface="华文中宋" panose="02010600040101010101" pitchFamily="2" charset="-122"/>
              </a:rPr>
              <a:t>机器结构动力学计算</a:t>
            </a:r>
            <a:r>
              <a:rPr lang="zh-CN" altLang="en-US" sz="2000" dirty="0">
                <a:solidFill>
                  <a:srgbClr val="000099"/>
                </a:solidFill>
                <a:latin typeface="华文中宋" panose="02010600040101010101" pitchFamily="2" charset="-122"/>
              </a:rPr>
              <a:t>。</a:t>
            </a:r>
            <a:endParaRPr lang="zh-CN" altLang="en-US" sz="2000" dirty="0">
              <a:solidFill>
                <a:srgbClr val="000099"/>
              </a:solidFill>
              <a:latin typeface="华文中宋" panose="02010600040101010101" pitchFamily="2" charset="-122"/>
            </a:endParaRPr>
          </a:p>
          <a:p>
            <a:pPr>
              <a:lnSpc>
                <a:spcPct val="140000"/>
              </a:lnSpc>
              <a:spcBef>
                <a:spcPts val="0"/>
              </a:spcBef>
              <a:spcAft>
                <a:spcPts val="0"/>
              </a:spcAft>
              <a:buClr>
                <a:srgbClr val="CC0000"/>
              </a:buClr>
              <a:buSzPct val="80000"/>
              <a:buFont typeface="Wingdings" panose="05000000000000000000" pitchFamily="2" charset="2"/>
              <a:buChar char="q"/>
            </a:pPr>
            <a:r>
              <a:rPr lang="zh-CN" altLang="en-US" sz="2000" dirty="0">
                <a:solidFill>
                  <a:srgbClr val="000099"/>
                </a:solidFill>
                <a:latin typeface="华文中宋" panose="02010600040101010101" pitchFamily="2" charset="-122"/>
              </a:rPr>
              <a:t>以定量的取代定性的─如</a:t>
            </a:r>
            <a:r>
              <a:rPr lang="zh-CN" altLang="en-US" sz="2000" dirty="0">
                <a:solidFill>
                  <a:srgbClr val="C00000"/>
                </a:solidFill>
                <a:latin typeface="华文中宋" panose="02010600040101010101" pitchFamily="2" charset="-122"/>
              </a:rPr>
              <a:t>有限元计算</a:t>
            </a:r>
            <a:r>
              <a:rPr lang="zh-CN" altLang="en-US" sz="2000" dirty="0">
                <a:solidFill>
                  <a:srgbClr val="000099"/>
                </a:solidFill>
                <a:latin typeface="华文中宋" panose="02010600040101010101" pitchFamily="2" charset="-122"/>
              </a:rPr>
              <a:t>。</a:t>
            </a:r>
            <a:endParaRPr lang="zh-CN" altLang="en-US" sz="2000" dirty="0">
              <a:solidFill>
                <a:srgbClr val="000099"/>
              </a:solidFill>
              <a:latin typeface="华文中宋" panose="02010600040101010101" pitchFamily="2" charset="-122"/>
            </a:endParaRPr>
          </a:p>
          <a:p>
            <a:pPr>
              <a:lnSpc>
                <a:spcPct val="140000"/>
              </a:lnSpc>
              <a:spcBef>
                <a:spcPts val="0"/>
              </a:spcBef>
              <a:spcAft>
                <a:spcPts val="0"/>
              </a:spcAft>
              <a:buClr>
                <a:srgbClr val="CC0000"/>
              </a:buClr>
              <a:buSzPct val="80000"/>
              <a:buFont typeface="Wingdings" panose="05000000000000000000" pitchFamily="2" charset="2"/>
              <a:buChar char="q"/>
            </a:pPr>
            <a:r>
              <a:rPr lang="zh-CN" altLang="en-US" sz="2000" dirty="0">
                <a:solidFill>
                  <a:srgbClr val="000099"/>
                </a:solidFill>
                <a:latin typeface="华文中宋" panose="02010600040101010101" pitchFamily="2" charset="-122"/>
              </a:rPr>
              <a:t>以随机量取代确定量─如</a:t>
            </a:r>
            <a:r>
              <a:rPr lang="zh-CN" altLang="en-US" sz="2000" dirty="0">
                <a:solidFill>
                  <a:srgbClr val="C00000"/>
                </a:solidFill>
                <a:latin typeface="华文中宋" panose="02010600040101010101" pitchFamily="2" charset="-122"/>
              </a:rPr>
              <a:t>可靠性设计</a:t>
            </a:r>
            <a:r>
              <a:rPr lang="zh-CN" altLang="en-US" sz="2000" dirty="0">
                <a:solidFill>
                  <a:srgbClr val="000099"/>
                </a:solidFill>
                <a:latin typeface="华文中宋" panose="02010600040101010101" pitchFamily="2" charset="-122"/>
              </a:rPr>
              <a:t>。</a:t>
            </a:r>
            <a:endParaRPr lang="zh-CN" altLang="en-US" sz="2000" dirty="0">
              <a:solidFill>
                <a:srgbClr val="000099"/>
              </a:solidFill>
              <a:latin typeface="华文中宋" panose="02010600040101010101" pitchFamily="2" charset="-122"/>
            </a:endParaRPr>
          </a:p>
          <a:p>
            <a:pPr>
              <a:lnSpc>
                <a:spcPct val="140000"/>
              </a:lnSpc>
              <a:spcBef>
                <a:spcPts val="0"/>
              </a:spcBef>
              <a:spcAft>
                <a:spcPts val="0"/>
              </a:spcAft>
              <a:buClr>
                <a:srgbClr val="CC0000"/>
              </a:buClr>
              <a:buSzPct val="80000"/>
              <a:buFont typeface="Wingdings" panose="05000000000000000000" pitchFamily="2" charset="2"/>
              <a:buChar char="q"/>
            </a:pPr>
            <a:r>
              <a:rPr lang="zh-CN" altLang="en-US" sz="2000" dirty="0">
                <a:solidFill>
                  <a:srgbClr val="000099"/>
                </a:solidFill>
                <a:latin typeface="华文中宋" panose="02010600040101010101" pitchFamily="2" charset="-122"/>
              </a:rPr>
              <a:t>以优化设计取代可行性设计─如</a:t>
            </a:r>
            <a:r>
              <a:rPr lang="zh-CN" altLang="en-US" sz="2000" dirty="0">
                <a:solidFill>
                  <a:srgbClr val="C00000"/>
                </a:solidFill>
                <a:latin typeface="华文中宋" panose="02010600040101010101" pitchFamily="2" charset="-122"/>
              </a:rPr>
              <a:t>优化设计</a:t>
            </a:r>
            <a:r>
              <a:rPr lang="zh-CN" altLang="en-US" sz="2000" dirty="0">
                <a:solidFill>
                  <a:srgbClr val="000099"/>
                </a:solidFill>
                <a:latin typeface="华文中宋" panose="02010600040101010101" pitchFamily="2" charset="-122"/>
              </a:rPr>
              <a:t>。</a:t>
            </a:r>
            <a:endParaRPr lang="zh-CN" altLang="en-US" sz="2000" dirty="0">
              <a:solidFill>
                <a:srgbClr val="000099"/>
              </a:solidFill>
              <a:latin typeface="华文中宋" panose="02010600040101010101" pitchFamily="2" charset="-122"/>
            </a:endParaRPr>
          </a:p>
          <a:p>
            <a:pPr>
              <a:lnSpc>
                <a:spcPct val="140000"/>
              </a:lnSpc>
              <a:spcBef>
                <a:spcPts val="0"/>
              </a:spcBef>
              <a:spcAft>
                <a:spcPts val="0"/>
              </a:spcAft>
              <a:buClr>
                <a:srgbClr val="CC0000"/>
              </a:buClr>
              <a:buSzPct val="80000"/>
              <a:buFont typeface="Wingdings" panose="05000000000000000000" pitchFamily="2" charset="2"/>
              <a:buChar char="q"/>
            </a:pPr>
            <a:r>
              <a:rPr lang="zh-CN" altLang="en-US" sz="2000" dirty="0">
                <a:solidFill>
                  <a:srgbClr val="000099"/>
                </a:solidFill>
                <a:latin typeface="华文中宋" panose="02010600040101010101" pitchFamily="2" charset="-122"/>
              </a:rPr>
              <a:t>并行设计取代串行设计─如</a:t>
            </a:r>
            <a:r>
              <a:rPr lang="zh-CN" altLang="en-US" sz="2000" dirty="0">
                <a:solidFill>
                  <a:srgbClr val="C00000"/>
                </a:solidFill>
                <a:latin typeface="华文中宋" panose="02010600040101010101" pitchFamily="2" charset="-122"/>
              </a:rPr>
              <a:t>并行设计</a:t>
            </a:r>
            <a:r>
              <a:rPr lang="zh-CN" altLang="en-US" sz="2000" dirty="0">
                <a:solidFill>
                  <a:srgbClr val="000099"/>
                </a:solidFill>
                <a:latin typeface="华文中宋" panose="02010600040101010101" pitchFamily="2" charset="-122"/>
              </a:rPr>
              <a:t>。</a:t>
            </a:r>
            <a:endParaRPr lang="zh-CN" altLang="en-US" sz="2000" dirty="0">
              <a:solidFill>
                <a:srgbClr val="000099"/>
              </a:solidFill>
              <a:latin typeface="华文中宋" panose="02010600040101010101" pitchFamily="2" charset="-122"/>
            </a:endParaRPr>
          </a:p>
          <a:p>
            <a:pPr>
              <a:lnSpc>
                <a:spcPct val="140000"/>
              </a:lnSpc>
              <a:spcBef>
                <a:spcPts val="0"/>
              </a:spcBef>
              <a:spcAft>
                <a:spcPts val="0"/>
              </a:spcAft>
              <a:buClr>
                <a:srgbClr val="CC0000"/>
              </a:buClr>
              <a:buSzPct val="80000"/>
              <a:buFont typeface="Wingdings" panose="05000000000000000000" pitchFamily="2" charset="2"/>
              <a:buChar char="q"/>
            </a:pPr>
            <a:r>
              <a:rPr lang="zh-CN" altLang="en-US" sz="2000" dirty="0">
                <a:solidFill>
                  <a:srgbClr val="000099"/>
                </a:solidFill>
                <a:latin typeface="华文中宋" panose="02010600040101010101" pitchFamily="2" charset="-122"/>
              </a:rPr>
              <a:t>微观的取代宏观的─如</a:t>
            </a:r>
            <a:r>
              <a:rPr lang="zh-CN" altLang="en-US" sz="2000" dirty="0">
                <a:solidFill>
                  <a:srgbClr val="C00000"/>
                </a:solidFill>
                <a:latin typeface="华文中宋" panose="02010600040101010101" pitchFamily="2" charset="-122"/>
              </a:rPr>
              <a:t>微－纳米摩擦学设计</a:t>
            </a:r>
            <a:r>
              <a:rPr lang="zh-CN" altLang="en-US" sz="2000" dirty="0">
                <a:solidFill>
                  <a:srgbClr val="000099"/>
                </a:solidFill>
                <a:latin typeface="华文中宋" panose="02010600040101010101" pitchFamily="2" charset="-122"/>
              </a:rPr>
              <a:t>。</a:t>
            </a:r>
            <a:endParaRPr lang="zh-CN" altLang="en-US" sz="2000" dirty="0">
              <a:solidFill>
                <a:srgbClr val="000099"/>
              </a:solidFill>
              <a:latin typeface="华文中宋" panose="02010600040101010101" pitchFamily="2" charset="-122"/>
            </a:endParaRPr>
          </a:p>
          <a:p>
            <a:pPr>
              <a:lnSpc>
                <a:spcPct val="140000"/>
              </a:lnSpc>
              <a:spcBef>
                <a:spcPts val="0"/>
              </a:spcBef>
              <a:spcAft>
                <a:spcPts val="0"/>
              </a:spcAft>
              <a:buClr>
                <a:srgbClr val="CC0000"/>
              </a:buClr>
              <a:buSzPct val="80000"/>
              <a:buFont typeface="Wingdings" panose="05000000000000000000" pitchFamily="2" charset="2"/>
              <a:buChar char="q"/>
            </a:pPr>
            <a:r>
              <a:rPr lang="zh-CN" altLang="en-US" sz="2000" dirty="0">
                <a:solidFill>
                  <a:srgbClr val="000099"/>
                </a:solidFill>
                <a:latin typeface="华文中宋" panose="02010600040101010101" pitchFamily="2" charset="-122"/>
              </a:rPr>
              <a:t>系统工程法取代分部处理法─如</a:t>
            </a:r>
            <a:r>
              <a:rPr lang="zh-CN" altLang="en-US" sz="2000" dirty="0">
                <a:solidFill>
                  <a:srgbClr val="C00000"/>
                </a:solidFill>
                <a:latin typeface="华文中宋" panose="02010600040101010101" pitchFamily="2" charset="-122"/>
              </a:rPr>
              <a:t>系统工程</a:t>
            </a:r>
            <a:r>
              <a:rPr lang="zh-CN" altLang="en-US" sz="2000" dirty="0">
                <a:solidFill>
                  <a:srgbClr val="000099"/>
                </a:solidFill>
                <a:latin typeface="华文中宋" panose="02010600040101010101" pitchFamily="2" charset="-122"/>
              </a:rPr>
              <a:t>。</a:t>
            </a:r>
            <a:endParaRPr lang="zh-CN" altLang="en-US" sz="2000" dirty="0">
              <a:solidFill>
                <a:srgbClr val="000099"/>
              </a:solidFill>
              <a:latin typeface="华文中宋" panose="02010600040101010101" pitchFamily="2" charset="-122"/>
            </a:endParaRPr>
          </a:p>
          <a:p>
            <a:pPr>
              <a:lnSpc>
                <a:spcPct val="140000"/>
              </a:lnSpc>
              <a:spcBef>
                <a:spcPts val="0"/>
              </a:spcBef>
              <a:buClr>
                <a:srgbClr val="CC0000"/>
              </a:buClr>
              <a:buSzPct val="80000"/>
              <a:buFont typeface="Wingdings" panose="05000000000000000000" pitchFamily="2" charset="2"/>
              <a:buChar char="q"/>
            </a:pPr>
            <a:r>
              <a:rPr lang="zh-CN" altLang="en-US" sz="2000" dirty="0">
                <a:solidFill>
                  <a:srgbClr val="000099"/>
                </a:solidFill>
                <a:latin typeface="华文中宋" panose="02010600040101010101" pitchFamily="2" charset="-122"/>
              </a:rPr>
              <a:t>自动化设计取代人工设计的转化─如</a:t>
            </a:r>
            <a:r>
              <a:rPr lang="zh-CN" altLang="en-US" sz="2000" dirty="0">
                <a:solidFill>
                  <a:srgbClr val="C00000"/>
                </a:solidFill>
                <a:latin typeface="华文中宋" panose="02010600040101010101" pitchFamily="2" charset="-122"/>
              </a:rPr>
              <a:t>计算机辅助设计</a:t>
            </a:r>
            <a:r>
              <a:rPr lang="zh-CN" altLang="en-US" sz="2000" dirty="0">
                <a:solidFill>
                  <a:srgbClr val="000099"/>
                </a:solidFill>
                <a:latin typeface="华文中宋" panose="02010600040101010101" pitchFamily="2" charset="-122"/>
              </a:rPr>
              <a:t>。</a:t>
            </a:r>
            <a:endParaRPr lang="zh-CN" altLang="en-US" sz="2000" dirty="0">
              <a:solidFill>
                <a:srgbClr val="000099"/>
              </a:solidFill>
              <a:latin typeface="华文中宋" panose="02010600040101010101" pitchFamily="2" charset="-122"/>
            </a:endParaRPr>
          </a:p>
        </p:txBody>
      </p:sp>
      <p:sp>
        <p:nvSpPr>
          <p:cNvPr id="92173" name="Text Box 13"/>
          <p:cNvSpPr txBox="1">
            <a:spLocks noChangeArrowheads="1"/>
          </p:cNvSpPr>
          <p:nvPr/>
        </p:nvSpPr>
        <p:spPr bwMode="auto">
          <a:xfrm>
            <a:off x="5407025" y="6162675"/>
            <a:ext cx="4635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a:t>　</a:t>
            </a:r>
            <a:endParaRPr lang="zh-CN" altLang="en-US"/>
          </a:p>
        </p:txBody>
      </p:sp>
      <p:sp>
        <p:nvSpPr>
          <p:cNvPr id="20488"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2164"/>
                                        </p:tgtEl>
                                        <p:attrNameLst>
                                          <p:attrName>style.visibility</p:attrName>
                                        </p:attrNameLst>
                                      </p:cBhvr>
                                      <p:to>
                                        <p:strVal val="visible"/>
                                      </p:to>
                                    </p:set>
                                    <p:animEffect transition="in" filter="wipe(left)">
                                      <p:cBhvr>
                                        <p:cTn id="7" dur="500"/>
                                        <p:tgtEl>
                                          <p:spTgt spid="9216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165"/>
                                        </p:tgtEl>
                                        <p:attrNameLst>
                                          <p:attrName>style.visibility</p:attrName>
                                        </p:attrNameLst>
                                      </p:cBhvr>
                                      <p:to>
                                        <p:strVal val="visible"/>
                                      </p:to>
                                    </p:set>
                                    <p:animEffect transition="in" filter="wipe(left)">
                                      <p:cBhvr>
                                        <p:cTn id="12" dur="500"/>
                                        <p:tgtEl>
                                          <p:spTgt spid="9216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2172"/>
                                        </p:tgtEl>
                                        <p:attrNameLst>
                                          <p:attrName>style.visibility</p:attrName>
                                        </p:attrNameLst>
                                      </p:cBhvr>
                                      <p:to>
                                        <p:strVal val="visible"/>
                                      </p:to>
                                    </p:set>
                                    <p:animEffect transition="in" filter="wipe(up)">
                                      <p:cBhvr>
                                        <p:cTn id="17" dur="500"/>
                                        <p:tgtEl>
                                          <p:spTgt spid="92172"/>
                                        </p:tgtEl>
                                      </p:cBhvr>
                                    </p:animEffect>
                                  </p:childTnLst>
                                </p:cTn>
                              </p:par>
                            </p:childTnLst>
                          </p:cTn>
                        </p:par>
                        <p:par>
                          <p:cTn id="18" fill="hold">
                            <p:stCondLst>
                              <p:cond delay="500"/>
                            </p:stCondLst>
                            <p:childTnLst>
                              <p:par>
                                <p:cTn id="19" presetID="2" presetClass="entr" presetSubtype="8" fill="hold" nodeType="afterEffect">
                                  <p:stCondLst>
                                    <p:cond delay="0"/>
                                  </p:stCondLst>
                                  <p:childTnLst>
                                    <p:set>
                                      <p:cBhvr>
                                        <p:cTn id="20" dur="1" fill="hold">
                                          <p:stCondLst>
                                            <p:cond delay="0"/>
                                          </p:stCondLst>
                                        </p:cTn>
                                        <p:tgtEl>
                                          <p:spTgt spid="92167"/>
                                        </p:tgtEl>
                                        <p:attrNameLst>
                                          <p:attrName>style.visibility</p:attrName>
                                        </p:attrNameLst>
                                      </p:cBhvr>
                                      <p:to>
                                        <p:strVal val="visible"/>
                                      </p:to>
                                    </p:set>
                                    <p:anim calcmode="lin" valueType="num">
                                      <p:cBhvr additive="base">
                                        <p:cTn id="21" dur="500" fill="hold"/>
                                        <p:tgtEl>
                                          <p:spTgt spid="92167"/>
                                        </p:tgtEl>
                                        <p:attrNameLst>
                                          <p:attrName>ppt_x</p:attrName>
                                        </p:attrNameLst>
                                      </p:cBhvr>
                                      <p:tavLst>
                                        <p:tav tm="0">
                                          <p:val>
                                            <p:strVal val="0-#ppt_w/2"/>
                                          </p:val>
                                        </p:tav>
                                        <p:tav tm="100000">
                                          <p:val>
                                            <p:strVal val="#ppt_x"/>
                                          </p:val>
                                        </p:tav>
                                      </p:tavLst>
                                    </p:anim>
                                    <p:anim calcmode="lin" valueType="num">
                                      <p:cBhvr additive="base">
                                        <p:cTn id="22" dur="500" fill="hold"/>
                                        <p:tgtEl>
                                          <p:spTgt spid="92167"/>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92173"/>
                                        </p:tgtEl>
                                        <p:attrNameLst>
                                          <p:attrName>style.visibility</p:attrName>
                                        </p:attrNameLst>
                                      </p:cBhvr>
                                      <p:to>
                                        <p:strVal val="visible"/>
                                      </p:to>
                                    </p:set>
                                    <p:anim calcmode="lin" valueType="num">
                                      <p:cBhvr additive="base">
                                        <p:cTn id="27" dur="500" fill="hold"/>
                                        <p:tgtEl>
                                          <p:spTgt spid="92173"/>
                                        </p:tgtEl>
                                        <p:attrNameLst>
                                          <p:attrName>ppt_x</p:attrName>
                                        </p:attrNameLst>
                                      </p:cBhvr>
                                      <p:tavLst>
                                        <p:tav tm="0">
                                          <p:val>
                                            <p:strVal val="0-#ppt_w/2"/>
                                          </p:val>
                                        </p:tav>
                                        <p:tav tm="100000">
                                          <p:val>
                                            <p:strVal val="#ppt_x"/>
                                          </p:val>
                                        </p:tav>
                                      </p:tavLst>
                                    </p:anim>
                                    <p:anim calcmode="lin" valueType="num">
                                      <p:cBhvr additive="base">
                                        <p:cTn id="28" dur="500" fill="hold"/>
                                        <p:tgtEl>
                                          <p:spTgt spid="9217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4" grpId="0"/>
      <p:bldP spid="92165" grpId="0"/>
      <p:bldP spid="92172" grpId="0"/>
      <p:bldP spid="92173" grpId="0"/>
    </p:bldLst>
  </p:timing>
</p:sld>
</file>

<file path=ppt/tags/tag1.xml><?xml version="1.0" encoding="utf-8"?>
<p:tagLst xmlns:p="http://schemas.openxmlformats.org/presentationml/2006/main">
  <p:tag name="KSO_WM_UNIT_PLACING_PICTURE_USER_VIEWPORT" val="{&quot;height&quot;:6802.500787401575,&quot;width&quot;:9070}"/>
</p:tagLst>
</file>

<file path=ppt/tags/tag2.xml><?xml version="1.0" encoding="utf-8"?>
<p:tagLst xmlns:p="http://schemas.openxmlformats.org/presentationml/2006/main">
  <p:tag name="KSO_WM_UNIT_PLACING_PICTURE_USER_VIEWPORT" val="{&quot;height&quot;:3327.5007874015746,&quot;width&quot;:4082.5007874015746}"/>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COMMONDATA" val="eyJoZGlkIjoiNWQ2ZDY0OThmNjNkMjlkYjAyOTU4M2I3ODdkNzRhZTEifQ=="/>
  <p:tag name="commondata" val="eyJoZGlkIjoiZmYwY2UxNzI0ODdjMTkzYTM2NmQ4OTdkNGYwMzJlYmMifQ=="/>
</p:tagLst>
</file>

<file path=ppt/theme/theme1.xml><?xml version="1.0" encoding="utf-8"?>
<a:theme xmlns:a="http://schemas.openxmlformats.org/drawingml/2006/main" name="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txDef>
      <a:sp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a:outerShdw blurRad="50800" dist="38100" dir="16200000" rotWithShape="0">
            <a:prstClr val="black">
              <a:alpha val="40000"/>
            </a:prstClr>
          </a:outerShdw>
        </a:effectLst>
      </a:spPr>
      <a:bodyPr wrap="square" rtlCol="0">
        <a:spAutoFit/>
      </a:bodyPr>
      <a:lstStyle>
        <a:defPPr marL="0" indent="0" eaLnBrk="1" latinLnBrk="0" hangingPunct="1">
          <a:lnSpc>
            <a:spcPct val="120000"/>
          </a:lnSpc>
          <a:buFont typeface="+mj-ea"/>
          <a:buNone/>
          <a:defRPr lang="zh-CN" altLang="en-US"/>
        </a:defPPr>
      </a:lstStyle>
    </a:tx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Designs\Blueprint.pot</Template>
  <TotalTime>0</TotalTime>
  <Words>6777</Words>
  <Application>WPS 演示</Application>
  <PresentationFormat>全屏显示(4:3)</PresentationFormat>
  <Paragraphs>736</Paragraphs>
  <Slides>41</Slides>
  <Notes>15</Notes>
  <HiddenSlides>0</HiddenSlides>
  <MMClips>0</MMClips>
  <ScaleCrop>false</ScaleCrop>
  <HeadingPairs>
    <vt:vector size="8" baseType="variant">
      <vt:variant>
        <vt:lpstr>已用的字体</vt:lpstr>
      </vt:variant>
      <vt:variant>
        <vt:i4>17</vt:i4>
      </vt:variant>
      <vt:variant>
        <vt:lpstr>主题</vt:lpstr>
      </vt:variant>
      <vt:variant>
        <vt:i4>4</vt:i4>
      </vt:variant>
      <vt:variant>
        <vt:lpstr>嵌入 OLE 服务器</vt:lpstr>
      </vt:variant>
      <vt:variant>
        <vt:i4>4</vt:i4>
      </vt:variant>
      <vt:variant>
        <vt:lpstr>幻灯片标题</vt:lpstr>
      </vt:variant>
      <vt:variant>
        <vt:i4>41</vt:i4>
      </vt:variant>
    </vt:vector>
  </HeadingPairs>
  <TitlesOfParts>
    <vt:vector size="66" baseType="lpstr">
      <vt:lpstr>Arial</vt:lpstr>
      <vt:lpstr>宋体</vt:lpstr>
      <vt:lpstr>Wingdings</vt:lpstr>
      <vt:lpstr>Tahoma</vt:lpstr>
      <vt:lpstr>华文中宋</vt:lpstr>
      <vt:lpstr>黑体</vt:lpstr>
      <vt:lpstr>Times New Roman</vt:lpstr>
      <vt:lpstr>楷体_GB2312</vt:lpstr>
      <vt:lpstr>新宋体</vt:lpstr>
      <vt:lpstr>微软雅黑</vt:lpstr>
      <vt:lpstr>Arial Unicode MS</vt:lpstr>
      <vt:lpstr>Calibri</vt:lpstr>
      <vt:lpstr>方正大黑简体</vt:lpstr>
      <vt:lpstr>幼圆</vt:lpstr>
      <vt:lpstr>隶书</vt:lpstr>
      <vt:lpstr>Symbol</vt:lpstr>
      <vt:lpstr>方正仿宋_GB2312</vt:lpstr>
      <vt:lpstr>Blueprint</vt:lpstr>
      <vt:lpstr>1_Blueprint</vt:lpstr>
      <vt:lpstr>2_Blueprint</vt:lpstr>
      <vt:lpstr>3_Blueprint</vt:lpstr>
      <vt:lpstr>Equation.3</vt:lpstr>
      <vt:lpstr>Equation.3</vt:lpstr>
      <vt:lpstr>Word.Document.6</vt:lpstr>
      <vt:lpstr>Equation.KSEE3</vt:lpstr>
      <vt:lpstr>第1.2章 机械设计概论</vt:lpstr>
      <vt:lpstr>PowerPoint 演示文稿</vt:lpstr>
      <vt:lpstr>PowerPoint 演示文稿</vt:lpstr>
      <vt:lpstr>机器的组成1</vt:lpstr>
      <vt:lpstr>PowerPoint 演示文稿</vt:lpstr>
      <vt:lpstr>PowerPoint 演示文稿</vt:lpstr>
      <vt:lpstr>PowerPoint 演示文稿</vt:lpstr>
      <vt:lpstr>PowerPoint 演示文稿</vt:lpstr>
      <vt:lpstr>设计机器的一般程序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机械零件的主要失效形式1</vt:lpstr>
      <vt:lpstr>机械零件的主要失效形式2</vt:lpstr>
      <vt:lpstr>机械零件的主要失效形式2</vt:lpstr>
      <vt:lpstr>机械零件的主要失效形式3</vt:lpstr>
      <vt:lpstr>PowerPoint 演示文稿</vt:lpstr>
      <vt:lpstr>机械零件的主要失效形式4</vt:lpstr>
      <vt:lpstr>设计机械零件时应满足的基本要求</vt:lpstr>
      <vt:lpstr>设计机械零件时应满足的基本要求</vt:lpstr>
      <vt:lpstr>PowerPoint 演示文稿</vt:lpstr>
      <vt:lpstr>机械零件的计算准则1</vt:lpstr>
      <vt:lpstr>机械零件的计算准则1</vt:lpstr>
      <vt:lpstr>机械零件的计算准则1</vt:lpstr>
      <vt:lpstr>PowerPoint 演示文稿</vt:lpstr>
      <vt:lpstr>机械零件设计的一般步骤</vt:lpstr>
      <vt:lpstr>PowerPoint 演示文稿</vt:lpstr>
      <vt:lpstr>机械零件材料的选用原则1</vt:lpstr>
      <vt:lpstr>PowerPoint 演示文稿</vt:lpstr>
      <vt:lpstr>机械零件的设计方法</vt:lpstr>
      <vt:lpstr>PowerPoint 演示文稿</vt:lpstr>
      <vt:lpstr>机械现代设计方法简介1</vt:lpstr>
      <vt:lpstr>PowerPoint 演示文稿</vt:lpstr>
      <vt:lpstr>PowerPoint 演示文稿</vt:lpstr>
      <vt:lpstr>机械零件设计中的标准化1</vt:lpstr>
      <vt:lpstr>机械零件设计中的标准化1</vt:lpstr>
      <vt:lpstr>机械现代设计方法简介1</vt:lpstr>
    </vt:vector>
  </TitlesOfParts>
  <Company>nwpu209</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wuliyan</dc:creator>
  <cp:lastModifiedBy>DQH</cp:lastModifiedBy>
  <cp:revision>360</cp:revision>
  <dcterms:created xsi:type="dcterms:W3CDTF">2002-03-15T12:39:00Z</dcterms:created>
  <dcterms:modified xsi:type="dcterms:W3CDTF">2025-08-31T11:56:35Z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15BD84A90679482FBB429D29C2FB2313</vt:lpwstr>
  </property>
</Properties>
</file>