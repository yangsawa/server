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"/>
  </p:notesMasterIdLst>
  <p:sldIdLst>
    <p:sldId id="256" r:id="rId3"/>
    <p:sldId id="344" r:id="rId4"/>
    <p:sldId id="351" r:id="rId5"/>
    <p:sldId id="316" r:id="rId7"/>
    <p:sldId id="346" r:id="rId8"/>
    <p:sldId id="350" r:id="rId9"/>
    <p:sldId id="332" r:id="rId10"/>
    <p:sldId id="333" r:id="rId11"/>
    <p:sldId id="352" r:id="rId12"/>
    <p:sldId id="335" r:id="rId13"/>
    <p:sldId id="336" r:id="rId14"/>
    <p:sldId id="337" r:id="rId15"/>
    <p:sldId id="338" r:id="rId16"/>
    <p:sldId id="355" r:id="rId17"/>
    <p:sldId id="353" r:id="rId18"/>
    <p:sldId id="354" r:id="rId19"/>
    <p:sldId id="341" r:id="rId20"/>
    <p:sldId id="342" r:id="rId21"/>
    <p:sldId id="343" r:id="rId22"/>
  </p:sldIdLst>
  <p:sldSz cx="9144000" cy="6858000" type="screen4x3"/>
  <p:notesSz cx="6858000" cy="9144000"/>
  <p:custDataLst>
    <p:tags r:id="rId27"/>
  </p:custDataLst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200" b="0" i="0" u="none" kern="1200" baseline="0">
        <a:solidFill>
          <a:schemeClr val="tx1"/>
        </a:solidFill>
        <a:latin typeface="Tahoma" panose="020B0604030504040204" pitchFamily="34" charset="0"/>
        <a:ea typeface="华文中宋" panose="02010600040101010101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200" b="0" i="0" u="none" kern="1200" baseline="0">
        <a:solidFill>
          <a:schemeClr val="tx1"/>
        </a:solidFill>
        <a:latin typeface="Tahoma" panose="020B0604030504040204" pitchFamily="34" charset="0"/>
        <a:ea typeface="华文中宋" panose="02010600040101010101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200" b="0" i="0" u="none" kern="1200" baseline="0">
        <a:solidFill>
          <a:schemeClr val="tx1"/>
        </a:solidFill>
        <a:latin typeface="Tahoma" panose="020B0604030504040204" pitchFamily="34" charset="0"/>
        <a:ea typeface="华文中宋" panose="02010600040101010101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200" b="0" i="0" u="none" kern="1200" baseline="0">
        <a:solidFill>
          <a:schemeClr val="tx1"/>
        </a:solidFill>
        <a:latin typeface="Tahoma" panose="020B0604030504040204" pitchFamily="34" charset="0"/>
        <a:ea typeface="华文中宋" panose="02010600040101010101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200" b="0" i="0" u="none" kern="1200" baseline="0">
        <a:solidFill>
          <a:schemeClr val="tx1"/>
        </a:solidFill>
        <a:latin typeface="Tahoma" panose="020B0604030504040204" pitchFamily="34" charset="0"/>
        <a:ea typeface="华文中宋" panose="02010600040101010101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200" b="0" i="0" u="none" kern="1200" baseline="0">
        <a:solidFill>
          <a:schemeClr val="tx1"/>
        </a:solidFill>
        <a:latin typeface="Tahoma" panose="020B0604030504040204" pitchFamily="34" charset="0"/>
        <a:ea typeface="华文中宋" panose="02010600040101010101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200" b="0" i="0" u="none" kern="1200" baseline="0">
        <a:solidFill>
          <a:schemeClr val="tx1"/>
        </a:solidFill>
        <a:latin typeface="Tahoma" panose="020B0604030504040204" pitchFamily="34" charset="0"/>
        <a:ea typeface="华文中宋" panose="02010600040101010101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200" b="0" i="0" u="none" kern="1200" baseline="0">
        <a:solidFill>
          <a:schemeClr val="tx1"/>
        </a:solidFill>
        <a:latin typeface="Tahoma" panose="020B0604030504040204" pitchFamily="34" charset="0"/>
        <a:ea typeface="华文中宋" panose="02010600040101010101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200" b="0" i="0" u="none" kern="1200" baseline="0">
        <a:solidFill>
          <a:schemeClr val="tx1"/>
        </a:solidFill>
        <a:latin typeface="Tahoma" panose="020B0604030504040204" pitchFamily="34" charset="0"/>
        <a:ea typeface="华文中宋" panose="0201060004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qh" initials="d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2FDB2607-1784-4EEB-B798-7EB5836EED8A}">
        <p14:showMediaCtrls xmlns:p14="http://schemas.microsoft.com/office/powerpoint/2010/main" val="1"/>
      </p:ext>
    </p:extLst>
  </p:showPr>
  <p:clrMru>
    <a:srgbClr val="CEEAB0"/>
    <a:srgbClr val="0000FF"/>
    <a:srgbClr val="333399"/>
    <a:srgbClr val="003399"/>
    <a:srgbClr val="CC3300"/>
    <a:srgbClr val="000099"/>
    <a:srgbClr val="A50021"/>
    <a:srgbClr val="FF3300"/>
    <a:srgbClr val="EB662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 showGuides="1">
      <p:cViewPr varScale="1">
        <p:scale>
          <a:sx n="83" d="100"/>
          <a:sy n="83" d="100"/>
        </p:scale>
        <p:origin x="1450" y="62"/>
      </p:cViewPr>
      <p:guideLst>
        <p:guide orient="horz" pos="2159"/>
        <p:guide pos="2880"/>
      </p:guideLst>
    </p:cSldViewPr>
  </p:slideViewPr>
  <p:outlineViewPr>
    <p:cViewPr>
      <p:scale>
        <a:sx n="25" d="100"/>
        <a:sy n="25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75" d="100"/>
        <a:sy n="7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7" Type="http://schemas.openxmlformats.org/officeDocument/2006/relationships/tags" Target="tags/tag2.xml"/><Relationship Id="rId26" Type="http://schemas.openxmlformats.org/officeDocument/2006/relationships/commentAuthors" Target="commentAuthors.xml"/><Relationship Id="rId25" Type="http://schemas.openxmlformats.org/officeDocument/2006/relationships/tableStyles" Target="tableStyles.xml"/><Relationship Id="rId24" Type="http://schemas.openxmlformats.org/officeDocument/2006/relationships/viewProps" Target="viewProps.xml"/><Relationship Id="rId23" Type="http://schemas.openxmlformats.org/officeDocument/2006/relationships/presProps" Target="presProps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image" Target="../media/image1.png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150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 b="1"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 b="1">
                <a:ea typeface="宋体" panose="02010600030101010101" pitchFamily="2" charset="-122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76" name="Rectangle 4"/>
          <p:cNvSpPr>
            <a:spLocks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2150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单击此处编辑母版文本样式</a:t>
            </a:r>
            <a:endParaRPr kumimoji="1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第二级</a:t>
            </a:r>
            <a:endParaRPr kumimoji="1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第三级</a:t>
            </a:r>
            <a:endParaRPr kumimoji="1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第四级</a:t>
            </a:r>
            <a:endParaRPr kumimoji="1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第五级</a:t>
            </a:r>
            <a:endParaRPr kumimoji="1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151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 b="1"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151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 b="1">
                <a:ea typeface="宋体" panose="02010600030101010101" pitchFamily="2" charset="-122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808C0F6-E321-497D-8AE7-4F862701BBDA}" type="slidenum"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1" lang="en-US" altLang="zh-CN" sz="1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217" name="灯片编号占位符 1"/>
          <p:cNvSpPr/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p>
            <a:pPr lvl="0" algn="r"/>
            <a:fld id="{9A0DB2DC-4C9A-4742-B13C-FB6460FD3503}" type="slidenum">
              <a:rPr lang="zh-CN" altLang="en-US" sz="1200" b="1" dirty="0">
                <a:ea typeface="宋体" panose="02010600030101010101" pitchFamily="2" charset="-122"/>
              </a:rPr>
            </a:fld>
            <a:endParaRPr lang="zh-CN" altLang="en-US" sz="1200" b="1" dirty="0">
              <a:ea typeface="宋体" panose="02010600030101010101" pitchFamily="2" charset="-122"/>
            </a:endParaRPr>
          </a:p>
        </p:txBody>
      </p:sp>
      <p:sp>
        <p:nvSpPr>
          <p:cNvPr id="9218" name="幻灯片图像占位符 41985"/>
          <p:cNvSpPr>
            <a:spLocks noRot="1" noTextEdit="1"/>
          </p:cNvSpPr>
          <p:nvPr>
            <p:ph type="sldImg"/>
          </p:nvPr>
        </p:nvSpPr>
        <p:spPr/>
      </p:sp>
      <p:sp>
        <p:nvSpPr>
          <p:cNvPr id="9219" name="文本占位符 41986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</a:pPr>
            <a:r>
              <a:rPr lang="zh-CN" altLang="en-US" sz="1600" b="1" dirty="0"/>
              <a:t>按机械系统的功能要求，完成既定的工作任务。执行系统的功能和性能，直接影响和决定机械系统的整体功能和性能。为实现机械系统的特定功能，可有多种执行系统方案，但个方案的其他功能及性能指标，如可靠性、经济性、动力学特性往往不尽相同。因此对执行系统又应进行多方案的技术、经济分析比较，以便择优选用。</a:t>
            </a:r>
            <a:endParaRPr lang="zh-CN" altLang="en-US" sz="1600" b="1" dirty="0"/>
          </a:p>
          <a:p>
            <a:pPr lvl="0"/>
            <a:endParaRPr lang="zh-CN" altLang="en-US" sz="1600" b="1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289" name="幻灯片图像占位符 1"/>
          <p:cNvSpPr>
            <a:spLocks noRot="1" noTextEdit="1"/>
          </p:cNvSpPr>
          <p:nvPr>
            <p:ph type="sldImg"/>
          </p:nvPr>
        </p:nvSpPr>
        <p:spPr/>
      </p:sp>
      <p:sp>
        <p:nvSpPr>
          <p:cNvPr id="12290" name="文本占位符 2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/>
            <a:r>
              <a:rPr lang="zh-CN" altLang="en-US"/>
              <a:t>C车床，6卧式，1普通（2马鞍），40 最大工件回转直径400，A第一次重大改进</a:t>
            </a:r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0" name="Group 2"/>
          <p:cNvGrpSpPr/>
          <p:nvPr/>
        </p:nvGrpSpPr>
        <p:grpSpPr>
          <a:xfrm>
            <a:off x="0" y="0"/>
            <a:ext cx="9144000" cy="6858000"/>
            <a:chOff x="0" y="0"/>
            <a:chExt cx="5760" cy="4320"/>
          </a:xfrm>
        </p:grpSpPr>
        <p:grpSp>
          <p:nvGrpSpPr>
            <p:cNvPr id="2051" name="Group 3"/>
            <p:cNvGrpSpPr/>
            <p:nvPr/>
          </p:nvGrpSpPr>
          <p:grpSpPr>
            <a:xfrm>
              <a:off x="0" y="0"/>
              <a:ext cx="5760" cy="4320"/>
              <a:chOff x="0" y="0"/>
              <a:chExt cx="5760" cy="4320"/>
            </a:xfrm>
          </p:grpSpPr>
          <p:sp>
            <p:nvSpPr>
              <p:cNvPr id="21" name="Rectangle 4"/>
              <p:cNvSpPr>
                <a:spLocks noChangeArrowheads="1"/>
              </p:cNvSpPr>
              <p:nvPr/>
            </p:nvSpPr>
            <p:spPr bwMode="ltGray">
              <a:xfrm>
                <a:off x="2112" y="0"/>
                <a:ext cx="3648" cy="96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2200">
                    <a:solidFill>
                      <a:schemeClr val="tx1"/>
                    </a:solidFill>
                    <a:latin typeface="Tahoma" panose="020B0604030504040204" pitchFamily="34" charset="0"/>
                    <a:ea typeface="华文中宋" panose="02010600040101010101" pitchFamily="2" charset="-122"/>
                  </a:defRPr>
                </a:lvl1pPr>
                <a:lvl2pPr marL="742950" indent="-285750">
                  <a:defRPr kumimoji="1" sz="2200">
                    <a:solidFill>
                      <a:schemeClr val="tx1"/>
                    </a:solidFill>
                    <a:latin typeface="Tahoma" panose="020B0604030504040204" pitchFamily="34" charset="0"/>
                    <a:ea typeface="华文中宋" panose="02010600040101010101" pitchFamily="2" charset="-122"/>
                  </a:defRPr>
                </a:lvl2pPr>
                <a:lvl3pPr marL="1143000" indent="-228600">
                  <a:defRPr kumimoji="1" sz="2200">
                    <a:solidFill>
                      <a:schemeClr val="tx1"/>
                    </a:solidFill>
                    <a:latin typeface="Tahoma" panose="020B0604030504040204" pitchFamily="34" charset="0"/>
                    <a:ea typeface="华文中宋" panose="02010600040101010101" pitchFamily="2" charset="-122"/>
                  </a:defRPr>
                </a:lvl3pPr>
                <a:lvl4pPr marL="1600200" indent="-228600">
                  <a:defRPr kumimoji="1" sz="2200">
                    <a:solidFill>
                      <a:schemeClr val="tx1"/>
                    </a:solidFill>
                    <a:latin typeface="Tahoma" panose="020B0604030504040204" pitchFamily="34" charset="0"/>
                    <a:ea typeface="华文中宋" panose="02010600040101010101" pitchFamily="2" charset="-122"/>
                  </a:defRPr>
                </a:lvl4pPr>
                <a:lvl5pPr marL="2057400" indent="-228600">
                  <a:defRPr kumimoji="1" sz="2200">
                    <a:solidFill>
                      <a:schemeClr val="tx1"/>
                    </a:solidFill>
                    <a:latin typeface="Tahoma" panose="020B0604030504040204" pitchFamily="34" charset="0"/>
                    <a:ea typeface="华文中宋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200">
                    <a:solidFill>
                      <a:schemeClr val="tx1"/>
                    </a:solidFill>
                    <a:latin typeface="Tahoma" panose="020B0604030504040204" pitchFamily="34" charset="0"/>
                    <a:ea typeface="华文中宋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200">
                    <a:solidFill>
                      <a:schemeClr val="tx1"/>
                    </a:solidFill>
                    <a:latin typeface="Tahoma" panose="020B0604030504040204" pitchFamily="34" charset="0"/>
                    <a:ea typeface="华文中宋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200">
                    <a:solidFill>
                      <a:schemeClr val="tx1"/>
                    </a:solidFill>
                    <a:latin typeface="Tahoma" panose="020B0604030504040204" pitchFamily="34" charset="0"/>
                    <a:ea typeface="华文中宋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200">
                    <a:solidFill>
                      <a:schemeClr val="tx1"/>
                    </a:solidFill>
                    <a:latin typeface="Tahoma" panose="020B0604030504040204" pitchFamily="34" charset="0"/>
                    <a:ea typeface="华文中宋" panose="0201060004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2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pitchFamily="34" charset="0"/>
                  <a:ea typeface="华文中宋" panose="02010600040101010101" pitchFamily="2" charset="-122"/>
                  <a:cs typeface="+mn-cs"/>
                </a:endParaRPr>
              </a:p>
            </p:txBody>
          </p:sp>
          <p:grpSp>
            <p:nvGrpSpPr>
              <p:cNvPr id="2053" name="Group 5"/>
              <p:cNvGrpSpPr/>
              <p:nvPr userDrawn="1"/>
            </p:nvGrpSpPr>
            <p:grpSpPr>
              <a:xfrm>
                <a:off x="0" y="0"/>
                <a:ext cx="5760" cy="4320"/>
                <a:chOff x="0" y="0"/>
                <a:chExt cx="5760" cy="4320"/>
              </a:xfrm>
            </p:grpSpPr>
            <p:sp>
              <p:nvSpPr>
                <p:cNvPr id="2054" name="Line 6"/>
                <p:cNvSpPr/>
                <p:nvPr/>
              </p:nvSpPr>
              <p:spPr>
                <a:xfrm>
                  <a:off x="0" y="192"/>
                  <a:ext cx="5760" cy="0"/>
                </a:xfrm>
                <a:prstGeom prst="line">
                  <a:avLst/>
                </a:prstGeom>
                <a:ln w="9525" cap="flat" cmpd="sng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2055" name="Line 7"/>
                <p:cNvSpPr/>
                <p:nvPr/>
              </p:nvSpPr>
              <p:spPr>
                <a:xfrm>
                  <a:off x="0" y="384"/>
                  <a:ext cx="5760" cy="0"/>
                </a:xfrm>
                <a:prstGeom prst="line">
                  <a:avLst/>
                </a:prstGeom>
                <a:ln w="9525" cap="flat" cmpd="sng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2056" name="Line 8"/>
                <p:cNvSpPr/>
                <p:nvPr/>
              </p:nvSpPr>
              <p:spPr>
                <a:xfrm>
                  <a:off x="0" y="576"/>
                  <a:ext cx="5760" cy="0"/>
                </a:xfrm>
                <a:prstGeom prst="line">
                  <a:avLst/>
                </a:prstGeom>
                <a:ln w="9525" cap="flat" cmpd="sng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2057" name="Line 9"/>
                <p:cNvSpPr/>
                <p:nvPr/>
              </p:nvSpPr>
              <p:spPr>
                <a:xfrm>
                  <a:off x="0" y="768"/>
                  <a:ext cx="5760" cy="0"/>
                </a:xfrm>
                <a:prstGeom prst="line">
                  <a:avLst/>
                </a:prstGeom>
                <a:ln w="9525" cap="flat" cmpd="sng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2058" name="Line 10"/>
                <p:cNvSpPr/>
                <p:nvPr/>
              </p:nvSpPr>
              <p:spPr>
                <a:xfrm>
                  <a:off x="0" y="960"/>
                  <a:ext cx="5760" cy="0"/>
                </a:xfrm>
                <a:prstGeom prst="line">
                  <a:avLst/>
                </a:prstGeom>
                <a:ln w="9525" cap="flat" cmpd="sng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2059" name="Line 11"/>
                <p:cNvSpPr/>
                <p:nvPr/>
              </p:nvSpPr>
              <p:spPr>
                <a:xfrm>
                  <a:off x="0" y="1152"/>
                  <a:ext cx="5760" cy="0"/>
                </a:xfrm>
                <a:prstGeom prst="line">
                  <a:avLst/>
                </a:prstGeom>
                <a:ln w="9525" cap="flat" cmpd="sng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2060" name="Line 12"/>
                <p:cNvSpPr/>
                <p:nvPr/>
              </p:nvSpPr>
              <p:spPr>
                <a:xfrm>
                  <a:off x="0" y="1344"/>
                  <a:ext cx="5760" cy="0"/>
                </a:xfrm>
                <a:prstGeom prst="line">
                  <a:avLst/>
                </a:prstGeom>
                <a:ln w="9525" cap="flat" cmpd="sng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2061" name="Line 13"/>
                <p:cNvSpPr/>
                <p:nvPr/>
              </p:nvSpPr>
              <p:spPr>
                <a:xfrm>
                  <a:off x="0" y="1536"/>
                  <a:ext cx="5760" cy="0"/>
                </a:xfrm>
                <a:prstGeom prst="line">
                  <a:avLst/>
                </a:prstGeom>
                <a:ln w="9525" cap="flat" cmpd="sng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2062" name="Line 14"/>
                <p:cNvSpPr/>
                <p:nvPr/>
              </p:nvSpPr>
              <p:spPr>
                <a:xfrm>
                  <a:off x="0" y="1728"/>
                  <a:ext cx="5760" cy="0"/>
                </a:xfrm>
                <a:prstGeom prst="line">
                  <a:avLst/>
                </a:prstGeom>
                <a:ln w="9525" cap="flat" cmpd="sng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2063" name="Line 15"/>
                <p:cNvSpPr/>
                <p:nvPr/>
              </p:nvSpPr>
              <p:spPr>
                <a:xfrm>
                  <a:off x="0" y="1920"/>
                  <a:ext cx="5760" cy="0"/>
                </a:xfrm>
                <a:prstGeom prst="line">
                  <a:avLst/>
                </a:prstGeom>
                <a:ln w="9525" cap="flat" cmpd="sng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2064" name="Line 16"/>
                <p:cNvSpPr/>
                <p:nvPr/>
              </p:nvSpPr>
              <p:spPr>
                <a:xfrm>
                  <a:off x="0" y="2112"/>
                  <a:ext cx="5760" cy="0"/>
                </a:xfrm>
                <a:prstGeom prst="line">
                  <a:avLst/>
                </a:prstGeom>
                <a:ln w="9525" cap="flat" cmpd="sng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2065" name="Line 17"/>
                <p:cNvSpPr/>
                <p:nvPr/>
              </p:nvSpPr>
              <p:spPr>
                <a:xfrm>
                  <a:off x="0" y="2304"/>
                  <a:ext cx="5760" cy="0"/>
                </a:xfrm>
                <a:prstGeom prst="line">
                  <a:avLst/>
                </a:prstGeom>
                <a:ln w="9525" cap="flat" cmpd="sng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2066" name="Line 18"/>
                <p:cNvSpPr/>
                <p:nvPr/>
              </p:nvSpPr>
              <p:spPr>
                <a:xfrm>
                  <a:off x="0" y="2496"/>
                  <a:ext cx="5760" cy="0"/>
                </a:xfrm>
                <a:prstGeom prst="line">
                  <a:avLst/>
                </a:prstGeom>
                <a:ln w="9525" cap="flat" cmpd="sng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2067" name="Line 19"/>
                <p:cNvSpPr/>
                <p:nvPr/>
              </p:nvSpPr>
              <p:spPr>
                <a:xfrm>
                  <a:off x="0" y="2688"/>
                  <a:ext cx="5760" cy="0"/>
                </a:xfrm>
                <a:prstGeom prst="line">
                  <a:avLst/>
                </a:prstGeom>
                <a:ln w="9525" cap="flat" cmpd="sng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2068" name="Line 20"/>
                <p:cNvSpPr/>
                <p:nvPr/>
              </p:nvSpPr>
              <p:spPr>
                <a:xfrm>
                  <a:off x="0" y="2880"/>
                  <a:ext cx="5760" cy="0"/>
                </a:xfrm>
                <a:prstGeom prst="line">
                  <a:avLst/>
                </a:prstGeom>
                <a:ln w="9525" cap="flat" cmpd="sng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2069" name="Line 21"/>
                <p:cNvSpPr/>
                <p:nvPr/>
              </p:nvSpPr>
              <p:spPr>
                <a:xfrm>
                  <a:off x="0" y="3072"/>
                  <a:ext cx="5760" cy="0"/>
                </a:xfrm>
                <a:prstGeom prst="line">
                  <a:avLst/>
                </a:prstGeom>
                <a:ln w="9525" cap="flat" cmpd="sng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2070" name="Line 22"/>
                <p:cNvSpPr/>
                <p:nvPr/>
              </p:nvSpPr>
              <p:spPr>
                <a:xfrm>
                  <a:off x="0" y="3264"/>
                  <a:ext cx="5760" cy="0"/>
                </a:xfrm>
                <a:prstGeom prst="line">
                  <a:avLst/>
                </a:prstGeom>
                <a:ln w="9525" cap="flat" cmpd="sng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2071" name="Line 23"/>
                <p:cNvSpPr/>
                <p:nvPr/>
              </p:nvSpPr>
              <p:spPr>
                <a:xfrm>
                  <a:off x="0" y="3456"/>
                  <a:ext cx="5760" cy="0"/>
                </a:xfrm>
                <a:prstGeom prst="line">
                  <a:avLst/>
                </a:prstGeom>
                <a:ln w="9525" cap="flat" cmpd="sng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2072" name="Line 24"/>
                <p:cNvSpPr/>
                <p:nvPr/>
              </p:nvSpPr>
              <p:spPr>
                <a:xfrm>
                  <a:off x="0" y="3648"/>
                  <a:ext cx="5760" cy="0"/>
                </a:xfrm>
                <a:prstGeom prst="line">
                  <a:avLst/>
                </a:prstGeom>
                <a:ln w="9525" cap="flat" cmpd="sng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2073" name="Line 25"/>
                <p:cNvSpPr/>
                <p:nvPr/>
              </p:nvSpPr>
              <p:spPr>
                <a:xfrm>
                  <a:off x="0" y="3840"/>
                  <a:ext cx="5760" cy="0"/>
                </a:xfrm>
                <a:prstGeom prst="line">
                  <a:avLst/>
                </a:prstGeom>
                <a:ln w="9525" cap="flat" cmpd="sng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2074" name="Line 26"/>
                <p:cNvSpPr/>
                <p:nvPr/>
              </p:nvSpPr>
              <p:spPr>
                <a:xfrm>
                  <a:off x="0" y="4032"/>
                  <a:ext cx="5760" cy="0"/>
                </a:xfrm>
                <a:prstGeom prst="line">
                  <a:avLst/>
                </a:prstGeom>
                <a:ln w="9525" cap="flat" cmpd="sng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2075" name="Line 27"/>
                <p:cNvSpPr/>
                <p:nvPr/>
              </p:nvSpPr>
              <p:spPr>
                <a:xfrm>
                  <a:off x="0" y="4224"/>
                  <a:ext cx="5760" cy="0"/>
                </a:xfrm>
                <a:prstGeom prst="line">
                  <a:avLst/>
                </a:prstGeom>
                <a:ln w="9525" cap="flat" cmpd="sng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2076" name="Line 28"/>
                <p:cNvSpPr/>
                <p:nvPr/>
              </p:nvSpPr>
              <p:spPr>
                <a:xfrm>
                  <a:off x="192" y="0"/>
                  <a:ext cx="0" cy="4320"/>
                </a:xfrm>
                <a:prstGeom prst="line">
                  <a:avLst/>
                </a:prstGeom>
                <a:ln w="9525" cap="flat" cmpd="sng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2077" name="Line 29"/>
                <p:cNvSpPr/>
                <p:nvPr/>
              </p:nvSpPr>
              <p:spPr>
                <a:xfrm>
                  <a:off x="384" y="0"/>
                  <a:ext cx="0" cy="4320"/>
                </a:xfrm>
                <a:prstGeom prst="line">
                  <a:avLst/>
                </a:prstGeom>
                <a:ln w="9525" cap="flat" cmpd="sng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2078" name="Line 30"/>
                <p:cNvSpPr/>
                <p:nvPr/>
              </p:nvSpPr>
              <p:spPr>
                <a:xfrm>
                  <a:off x="576" y="0"/>
                  <a:ext cx="0" cy="4320"/>
                </a:xfrm>
                <a:prstGeom prst="line">
                  <a:avLst/>
                </a:prstGeom>
                <a:ln w="9525" cap="flat" cmpd="sng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2079" name="Line 31"/>
                <p:cNvSpPr/>
                <p:nvPr/>
              </p:nvSpPr>
              <p:spPr>
                <a:xfrm>
                  <a:off x="768" y="0"/>
                  <a:ext cx="0" cy="4320"/>
                </a:xfrm>
                <a:prstGeom prst="line">
                  <a:avLst/>
                </a:prstGeom>
                <a:ln w="9525" cap="flat" cmpd="sng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2080" name="Line 32"/>
                <p:cNvSpPr/>
                <p:nvPr/>
              </p:nvSpPr>
              <p:spPr>
                <a:xfrm>
                  <a:off x="960" y="0"/>
                  <a:ext cx="0" cy="4320"/>
                </a:xfrm>
                <a:prstGeom prst="line">
                  <a:avLst/>
                </a:prstGeom>
                <a:ln w="9525" cap="flat" cmpd="sng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2081" name="Line 33"/>
                <p:cNvSpPr/>
                <p:nvPr/>
              </p:nvSpPr>
              <p:spPr>
                <a:xfrm>
                  <a:off x="1152" y="0"/>
                  <a:ext cx="0" cy="4320"/>
                </a:xfrm>
                <a:prstGeom prst="line">
                  <a:avLst/>
                </a:prstGeom>
                <a:ln w="9525" cap="flat" cmpd="sng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2082" name="Line 34"/>
                <p:cNvSpPr/>
                <p:nvPr/>
              </p:nvSpPr>
              <p:spPr>
                <a:xfrm>
                  <a:off x="1344" y="0"/>
                  <a:ext cx="0" cy="4320"/>
                </a:xfrm>
                <a:prstGeom prst="line">
                  <a:avLst/>
                </a:prstGeom>
                <a:ln w="9525" cap="flat" cmpd="sng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2083" name="Line 35"/>
                <p:cNvSpPr/>
                <p:nvPr/>
              </p:nvSpPr>
              <p:spPr>
                <a:xfrm>
                  <a:off x="1536" y="0"/>
                  <a:ext cx="0" cy="4320"/>
                </a:xfrm>
                <a:prstGeom prst="line">
                  <a:avLst/>
                </a:prstGeom>
                <a:ln w="9525" cap="flat" cmpd="sng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2084" name="Line 36"/>
                <p:cNvSpPr/>
                <p:nvPr/>
              </p:nvSpPr>
              <p:spPr>
                <a:xfrm>
                  <a:off x="1728" y="0"/>
                  <a:ext cx="0" cy="4320"/>
                </a:xfrm>
                <a:prstGeom prst="line">
                  <a:avLst/>
                </a:prstGeom>
                <a:ln w="9525" cap="flat" cmpd="sng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2085" name="Line 37"/>
                <p:cNvSpPr/>
                <p:nvPr/>
              </p:nvSpPr>
              <p:spPr>
                <a:xfrm>
                  <a:off x="1920" y="0"/>
                  <a:ext cx="0" cy="4320"/>
                </a:xfrm>
                <a:prstGeom prst="line">
                  <a:avLst/>
                </a:prstGeom>
                <a:ln w="9525" cap="flat" cmpd="sng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2086" name="Line 38"/>
                <p:cNvSpPr/>
                <p:nvPr/>
              </p:nvSpPr>
              <p:spPr>
                <a:xfrm>
                  <a:off x="2112" y="0"/>
                  <a:ext cx="0" cy="4320"/>
                </a:xfrm>
                <a:prstGeom prst="line">
                  <a:avLst/>
                </a:prstGeom>
                <a:ln w="9525" cap="flat" cmpd="sng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2087" name="Line 39"/>
                <p:cNvSpPr/>
                <p:nvPr/>
              </p:nvSpPr>
              <p:spPr>
                <a:xfrm>
                  <a:off x="2304" y="0"/>
                  <a:ext cx="0" cy="4320"/>
                </a:xfrm>
                <a:prstGeom prst="line">
                  <a:avLst/>
                </a:prstGeom>
                <a:ln w="9525" cap="flat" cmpd="sng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2088" name="Line 40"/>
                <p:cNvSpPr/>
                <p:nvPr/>
              </p:nvSpPr>
              <p:spPr>
                <a:xfrm>
                  <a:off x="2496" y="0"/>
                  <a:ext cx="0" cy="4320"/>
                </a:xfrm>
                <a:prstGeom prst="line">
                  <a:avLst/>
                </a:prstGeom>
                <a:ln w="9525" cap="flat" cmpd="sng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2089" name="Line 41"/>
                <p:cNvSpPr/>
                <p:nvPr/>
              </p:nvSpPr>
              <p:spPr>
                <a:xfrm>
                  <a:off x="2688" y="0"/>
                  <a:ext cx="0" cy="4320"/>
                </a:xfrm>
                <a:prstGeom prst="line">
                  <a:avLst/>
                </a:prstGeom>
                <a:ln w="9525" cap="flat" cmpd="sng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2090" name="Line 42"/>
                <p:cNvSpPr/>
                <p:nvPr/>
              </p:nvSpPr>
              <p:spPr>
                <a:xfrm>
                  <a:off x="2880" y="0"/>
                  <a:ext cx="0" cy="4320"/>
                </a:xfrm>
                <a:prstGeom prst="line">
                  <a:avLst/>
                </a:prstGeom>
                <a:ln w="9525" cap="flat" cmpd="sng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2091" name="Line 43"/>
                <p:cNvSpPr/>
                <p:nvPr/>
              </p:nvSpPr>
              <p:spPr>
                <a:xfrm>
                  <a:off x="3072" y="0"/>
                  <a:ext cx="0" cy="4320"/>
                </a:xfrm>
                <a:prstGeom prst="line">
                  <a:avLst/>
                </a:prstGeom>
                <a:ln w="9525" cap="flat" cmpd="sng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2092" name="Line 44"/>
                <p:cNvSpPr/>
                <p:nvPr/>
              </p:nvSpPr>
              <p:spPr>
                <a:xfrm>
                  <a:off x="3264" y="0"/>
                  <a:ext cx="0" cy="4320"/>
                </a:xfrm>
                <a:prstGeom prst="line">
                  <a:avLst/>
                </a:prstGeom>
                <a:ln w="9525" cap="flat" cmpd="sng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2093" name="Line 45"/>
                <p:cNvSpPr/>
                <p:nvPr/>
              </p:nvSpPr>
              <p:spPr>
                <a:xfrm>
                  <a:off x="3456" y="0"/>
                  <a:ext cx="0" cy="4320"/>
                </a:xfrm>
                <a:prstGeom prst="line">
                  <a:avLst/>
                </a:prstGeom>
                <a:ln w="9525" cap="flat" cmpd="sng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2094" name="Line 46"/>
                <p:cNvSpPr/>
                <p:nvPr/>
              </p:nvSpPr>
              <p:spPr>
                <a:xfrm>
                  <a:off x="3648" y="0"/>
                  <a:ext cx="0" cy="4320"/>
                </a:xfrm>
                <a:prstGeom prst="line">
                  <a:avLst/>
                </a:prstGeom>
                <a:ln w="9525" cap="flat" cmpd="sng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2095" name="Line 47"/>
                <p:cNvSpPr/>
                <p:nvPr/>
              </p:nvSpPr>
              <p:spPr>
                <a:xfrm>
                  <a:off x="3840" y="0"/>
                  <a:ext cx="0" cy="4320"/>
                </a:xfrm>
                <a:prstGeom prst="line">
                  <a:avLst/>
                </a:prstGeom>
                <a:ln w="9525" cap="flat" cmpd="sng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2096" name="Line 48"/>
                <p:cNvSpPr/>
                <p:nvPr/>
              </p:nvSpPr>
              <p:spPr>
                <a:xfrm>
                  <a:off x="4032" y="0"/>
                  <a:ext cx="0" cy="4320"/>
                </a:xfrm>
                <a:prstGeom prst="line">
                  <a:avLst/>
                </a:prstGeom>
                <a:ln w="9525" cap="flat" cmpd="sng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2097" name="Line 49"/>
                <p:cNvSpPr/>
                <p:nvPr/>
              </p:nvSpPr>
              <p:spPr>
                <a:xfrm>
                  <a:off x="4224" y="0"/>
                  <a:ext cx="0" cy="4320"/>
                </a:xfrm>
                <a:prstGeom prst="line">
                  <a:avLst/>
                </a:prstGeom>
                <a:ln w="9525" cap="flat" cmpd="sng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2098" name="Line 50"/>
                <p:cNvSpPr/>
                <p:nvPr/>
              </p:nvSpPr>
              <p:spPr>
                <a:xfrm>
                  <a:off x="4416" y="0"/>
                  <a:ext cx="0" cy="4320"/>
                </a:xfrm>
                <a:prstGeom prst="line">
                  <a:avLst/>
                </a:prstGeom>
                <a:ln w="9525" cap="flat" cmpd="sng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2099" name="Line 51"/>
                <p:cNvSpPr/>
                <p:nvPr/>
              </p:nvSpPr>
              <p:spPr>
                <a:xfrm>
                  <a:off x="4608" y="0"/>
                  <a:ext cx="0" cy="4320"/>
                </a:xfrm>
                <a:prstGeom prst="line">
                  <a:avLst/>
                </a:prstGeom>
                <a:ln w="9525" cap="flat" cmpd="sng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2100" name="Line 52"/>
                <p:cNvSpPr/>
                <p:nvPr/>
              </p:nvSpPr>
              <p:spPr>
                <a:xfrm>
                  <a:off x="4800" y="0"/>
                  <a:ext cx="0" cy="4320"/>
                </a:xfrm>
                <a:prstGeom prst="line">
                  <a:avLst/>
                </a:prstGeom>
                <a:ln w="9525" cap="flat" cmpd="sng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2101" name="Line 53"/>
                <p:cNvSpPr/>
                <p:nvPr/>
              </p:nvSpPr>
              <p:spPr>
                <a:xfrm>
                  <a:off x="4992" y="0"/>
                  <a:ext cx="0" cy="4320"/>
                </a:xfrm>
                <a:prstGeom prst="line">
                  <a:avLst/>
                </a:prstGeom>
                <a:ln w="9525" cap="flat" cmpd="sng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2102" name="Line 54"/>
                <p:cNvSpPr/>
                <p:nvPr/>
              </p:nvSpPr>
              <p:spPr>
                <a:xfrm>
                  <a:off x="5184" y="0"/>
                  <a:ext cx="0" cy="4320"/>
                </a:xfrm>
                <a:prstGeom prst="line">
                  <a:avLst/>
                </a:prstGeom>
                <a:ln w="9525" cap="flat" cmpd="sng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2103" name="Line 55"/>
                <p:cNvSpPr/>
                <p:nvPr/>
              </p:nvSpPr>
              <p:spPr>
                <a:xfrm>
                  <a:off x="5376" y="0"/>
                  <a:ext cx="0" cy="4320"/>
                </a:xfrm>
                <a:prstGeom prst="line">
                  <a:avLst/>
                </a:prstGeom>
                <a:ln w="9525" cap="flat" cmpd="sng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2104" name="Line 56"/>
                <p:cNvSpPr/>
                <p:nvPr/>
              </p:nvSpPr>
              <p:spPr>
                <a:xfrm>
                  <a:off x="5568" y="0"/>
                  <a:ext cx="0" cy="4320"/>
                </a:xfrm>
                <a:prstGeom prst="line">
                  <a:avLst/>
                </a:prstGeom>
                <a:ln w="9525" cap="flat" cmpd="sng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2105" name="Line 57"/>
              <p:cNvSpPr/>
              <p:nvPr/>
            </p:nvSpPr>
            <p:spPr>
              <a:xfrm>
                <a:off x="5568" y="0"/>
                <a:ext cx="0" cy="1488"/>
              </a:xfrm>
              <a:prstGeom prst="line">
                <a:avLst/>
              </a:prstGeom>
              <a:ln w="9525" cap="flat" cmpd="sng">
                <a:solidFill>
                  <a:schemeClr val="hlink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2106" name="Group 58"/>
            <p:cNvGrpSpPr/>
            <p:nvPr userDrawn="1"/>
          </p:nvGrpSpPr>
          <p:grpSpPr>
            <a:xfrm>
              <a:off x="3" y="559"/>
              <a:ext cx="4192" cy="1796"/>
              <a:chOff x="3" y="559"/>
              <a:chExt cx="4192" cy="1796"/>
            </a:xfrm>
          </p:grpSpPr>
          <p:sp>
            <p:nvSpPr>
              <p:cNvPr id="2107" name="Line 59"/>
              <p:cNvSpPr/>
              <p:nvPr/>
            </p:nvSpPr>
            <p:spPr>
              <a:xfrm>
                <a:off x="506" y="559"/>
                <a:ext cx="0" cy="1796"/>
              </a:xfrm>
              <a:prstGeom prst="line">
                <a:avLst/>
              </a:prstGeom>
              <a:ln w="9525" cap="flat" cmpd="sng">
                <a:solidFill>
                  <a:schemeClr val="hlink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108" name="Line 60"/>
              <p:cNvSpPr/>
              <p:nvPr/>
            </p:nvSpPr>
            <p:spPr>
              <a:xfrm flipH="1" flipV="1">
                <a:off x="3" y="1924"/>
                <a:ext cx="3211" cy="1"/>
              </a:xfrm>
              <a:prstGeom prst="line">
                <a:avLst/>
              </a:prstGeom>
              <a:ln w="9525" cap="flat" cmpd="sng">
                <a:solidFill>
                  <a:schemeClr val="hlink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109" name="Line 61"/>
              <p:cNvSpPr/>
              <p:nvPr/>
            </p:nvSpPr>
            <p:spPr>
              <a:xfrm flipH="1" flipV="1">
                <a:off x="384" y="938"/>
                <a:ext cx="3811" cy="1"/>
              </a:xfrm>
              <a:prstGeom prst="line">
                <a:avLst/>
              </a:prstGeom>
              <a:ln w="9525" cap="flat" cmpd="sng">
                <a:solidFill>
                  <a:schemeClr val="hlink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110" name="Arc 62"/>
              <p:cNvSpPr/>
              <p:nvPr/>
            </p:nvSpPr>
            <p:spPr>
              <a:xfrm rot="-5400000" flipH="1">
                <a:off x="421" y="856"/>
                <a:ext cx="156" cy="157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pathLst>
                  <a:path w="43195" h="43200" fill="none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lnTo>
                      <a:pt x="21114" y="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hlink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</p:grpSp>
        <p:grpSp>
          <p:nvGrpSpPr>
            <p:cNvPr id="2111" name="Group 63"/>
            <p:cNvGrpSpPr/>
            <p:nvPr userDrawn="1"/>
          </p:nvGrpSpPr>
          <p:grpSpPr>
            <a:xfrm>
              <a:off x="1480" y="1952"/>
              <a:ext cx="3808" cy="1812"/>
              <a:chOff x="1480" y="1952"/>
              <a:chExt cx="3808" cy="1812"/>
            </a:xfrm>
          </p:grpSpPr>
          <p:sp>
            <p:nvSpPr>
              <p:cNvPr id="2112" name="Line 64"/>
              <p:cNvSpPr/>
              <p:nvPr/>
            </p:nvSpPr>
            <p:spPr>
              <a:xfrm flipV="1">
                <a:off x="1480" y="3442"/>
                <a:ext cx="3808" cy="0"/>
              </a:xfrm>
              <a:prstGeom prst="line">
                <a:avLst/>
              </a:prstGeom>
              <a:ln w="9525" cap="flat" cmpd="sng">
                <a:solidFill>
                  <a:schemeClr val="hlink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113" name="Line 65"/>
              <p:cNvSpPr/>
              <p:nvPr/>
            </p:nvSpPr>
            <p:spPr>
              <a:xfrm flipH="1">
                <a:off x="5172" y="1952"/>
                <a:ext cx="0" cy="1812"/>
              </a:xfrm>
              <a:prstGeom prst="line">
                <a:avLst/>
              </a:prstGeom>
              <a:ln w="9525" cap="flat" cmpd="sng">
                <a:solidFill>
                  <a:schemeClr val="hlink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114" name="Arc 66"/>
              <p:cNvSpPr/>
              <p:nvPr/>
            </p:nvSpPr>
            <p:spPr>
              <a:xfrm rot="5400000">
                <a:off x="5092" y="3342"/>
                <a:ext cx="156" cy="157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pathLst>
                  <a:path w="43195" h="43200" fill="none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lnTo>
                      <a:pt x="21114" y="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hlink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</p:grpSp>
      </p:grpSp>
      <p:sp>
        <p:nvSpPr>
          <p:cNvPr id="6211" name="Rectangle 67"/>
          <p:cNvSpPr>
            <a:spLocks noGrp="1" noChangeArrowheads="1"/>
          </p:cNvSpPr>
          <p:nvPr>
            <p:ph type="ctrTitle"/>
          </p:nvPr>
        </p:nvSpPr>
        <p:spPr bwMode="auto">
          <a:xfrm>
            <a:off x="990600" y="1752600"/>
            <a:ext cx="7772400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lvl="0" fontAlgn="base"/>
            <a:r>
              <a:rPr lang="zh-CN" altLang="en-US" strike="noStrike" noProof="0" smtClean="0"/>
              <a:t>单击此处编辑母版标题样式</a:t>
            </a:r>
            <a:endParaRPr lang="zh-CN" altLang="en-US" strike="noStrike" noProof="0" smtClean="0"/>
          </a:p>
        </p:txBody>
      </p:sp>
      <p:sp>
        <p:nvSpPr>
          <p:cNvPr id="6212" name="Rectangle 68" descr="Rectangle: Click to edit Master text styles&#10;Second level&#10;Third level&#10;Fourth level&#10;Fifth level"/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990600" y="3309938"/>
            <a:ext cx="6400800" cy="1752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0" indent="0">
              <a:buFont typeface="Wingdings" panose="05000000000000000000" pitchFamily="2" charset="2"/>
              <a:buNone/>
              <a:defRPr/>
            </a:lvl1pPr>
          </a:lstStyle>
          <a:p>
            <a:pPr lvl="0" fontAlgn="base"/>
            <a:r>
              <a:rPr lang="zh-CN" altLang="en-US" strike="noStrike" noProof="0" smtClean="0"/>
              <a:t>单击此处编辑母版副标题样式</a:t>
            </a:r>
            <a:endParaRPr lang="zh-CN" altLang="en-US" strike="noStrike" noProof="0" smtClean="0"/>
          </a:p>
        </p:txBody>
      </p:sp>
      <p:sp>
        <p:nvSpPr>
          <p:cNvPr id="75" name="Rectangle 69"/>
          <p:cNvSpPr>
            <a:spLocks noGrp="1" noChangeArrowheads="1"/>
          </p:cNvSpPr>
          <p:nvPr>
            <p:ph type="dt" sz="quarter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kumimoji="0" sz="1400">
                <a:ea typeface="+mn-ea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76" name="Rectangle 70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ctr" eaLnBrk="1" hangingPunct="1">
              <a:defRPr kumimoji="0" sz="1400">
                <a:ea typeface="+mn-ea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77" name="Rectangle 71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kumimoji="0" sz="1400">
                <a:ea typeface="+mn-ea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3616CA1-8F03-4FC9-90C1-A5FBF7F383D6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  <a:prstGeom prst="rect">
            <a:avLst/>
          </a:prstGeo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  <a:prstGeom prst="rect">
            <a:avLst/>
          </a:prstGeo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anose="05000000000000000000" pitchFamily="2" charset="2"/>
              <a:buNone/>
              <a:defRPr/>
            </a:pPr>
            <a:endParaRPr kumimoji="1" lang="zh-CN" altLang="en-US" sz="3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  <a:prstGeom prst="rect">
            <a:avLst/>
          </a:prstGeo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762625" cy="5811838"/>
          </a:xfrm>
          <a:prstGeom prst="rect">
            <a:avLst/>
          </a:prstGeo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9" Type="http://schemas.openxmlformats.org/officeDocument/2006/relationships/theme" Target="../theme/theme1.xml"/><Relationship Id="rId18" Type="http://schemas.openxmlformats.org/officeDocument/2006/relationships/vmlDrawing" Target="../drawings/vmlDrawing1.vml"/><Relationship Id="rId17" Type="http://schemas.openxmlformats.org/officeDocument/2006/relationships/image" Target="../media/image4.png"/><Relationship Id="rId16" Type="http://schemas.openxmlformats.org/officeDocument/2006/relationships/image" Target="../media/image3.png"/><Relationship Id="rId15" Type="http://schemas.openxmlformats.org/officeDocument/2006/relationships/oleObject" Target="../embeddings/oleObject2.bin"/><Relationship Id="rId14" Type="http://schemas.openxmlformats.org/officeDocument/2006/relationships/image" Target="../media/image2.jpeg"/><Relationship Id="rId13" Type="http://schemas.openxmlformats.org/officeDocument/2006/relationships/image" Target="../media/image1.png"/><Relationship Id="rId12" Type="http://schemas.openxmlformats.org/officeDocument/2006/relationships/oleObject" Target="../embeddings/oleObject1.bin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graphicFrame>
        <p:nvGraphicFramePr>
          <p:cNvPr id="1026" name="Object 80"/>
          <p:cNvGraphicFramePr>
            <a:graphicFrameLocks noChangeAspect="1"/>
          </p:cNvGraphicFramePr>
          <p:nvPr userDrawn="1"/>
        </p:nvGraphicFramePr>
        <p:xfrm>
          <a:off x="-12700" y="7938"/>
          <a:ext cx="9144000" cy="612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" r:id="rId12" imgW="10160000" imgH="1574800" progId="">
                  <p:embed/>
                </p:oleObj>
              </mc:Choice>
              <mc:Fallback>
                <p:oleObj name="" r:id="rId12" imgW="10160000" imgH="1574800" progId="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13"/>
                      <a:srcRect r="32674"/>
                      <a:stretch>
                        <a:fillRect/>
                      </a:stretch>
                    </p:blipFill>
                    <p:spPr>
                      <a:xfrm>
                        <a:off x="-12700" y="7938"/>
                        <a:ext cx="9144000" cy="612775"/>
                      </a:xfrm>
                      <a:prstGeom prst="rect">
                        <a:avLst/>
                      </a:prstGeom>
                      <a:solidFill>
                        <a:srgbClr val="3399FF">
                          <a:alpha val="54901"/>
                        </a:srgbClr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27" name="图片 6"/>
          <p:cNvPicPr>
            <a:picLocks noChangeAspect="1"/>
          </p:cNvPicPr>
          <p:nvPr userDrawn="1"/>
        </p:nvPicPr>
        <p:blipFill>
          <a:blip r:embed="rId14">
            <a:clrChange>
              <a:clrFrom>
                <a:srgbClr val="2177CE"/>
              </a:clrFrom>
              <a:clrTo>
                <a:srgbClr val="2177CE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7950" y="3175"/>
            <a:ext cx="647700" cy="623888"/>
          </a:xfrm>
          <a:prstGeom prst="rect">
            <a:avLst/>
          </a:prstGeom>
          <a:noFill/>
          <a:ln w="9525">
            <a:noFill/>
          </a:ln>
        </p:spPr>
      </p:pic>
      <p:graphicFrame>
        <p:nvGraphicFramePr>
          <p:cNvPr id="1028" name="Object 10"/>
          <p:cNvGraphicFramePr>
            <a:graphicFrameLocks noChangeAspect="1"/>
          </p:cNvGraphicFramePr>
          <p:nvPr userDrawn="1"/>
        </p:nvGraphicFramePr>
        <p:xfrm>
          <a:off x="6461125" y="0"/>
          <a:ext cx="2670175" cy="766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" r:id="rId15" imgW="2962275" imgH="971550" progId="">
                  <p:embed/>
                </p:oleObj>
              </mc:Choice>
              <mc:Fallback>
                <p:oleObj name="" r:id="rId15" imgW="2962275" imgH="971550" progId="">
                  <p:embed/>
                  <p:pic>
                    <p:nvPicPr>
                      <p:cNvPr id="0" name="图片 3076"/>
                      <p:cNvPicPr/>
                      <p:nvPr/>
                    </p:nvPicPr>
                    <p:blipFill>
                      <a:blip r:embed="rId16"/>
                      <a:srcRect l="23897" b="-22844"/>
                      <a:stretch>
                        <a:fillRect/>
                      </a:stretch>
                    </p:blipFill>
                    <p:spPr>
                      <a:xfrm>
                        <a:off x="6461125" y="0"/>
                        <a:ext cx="2670175" cy="7667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矩形 8"/>
          <p:cNvSpPr/>
          <p:nvPr/>
        </p:nvSpPr>
        <p:spPr bwMode="auto">
          <a:xfrm>
            <a:off x="-17462" y="6426200"/>
            <a:ext cx="9144000" cy="431800"/>
          </a:xfrm>
          <a:prstGeom prst="rect">
            <a:avLst/>
          </a:prstGeom>
          <a:gradFill flip="none" rotWithShape="1">
            <a:gsLst>
              <a:gs pos="0">
                <a:srgbClr val="003399"/>
              </a:gs>
              <a:gs pos="100000">
                <a:schemeClr val="accent3">
                  <a:lumMod val="97000"/>
                  <a:lumOff val="3000"/>
                </a:schemeClr>
              </a:gs>
              <a:gs pos="100000">
                <a:schemeClr val="bg1"/>
              </a:gs>
            </a:gsLst>
            <a:lin ang="1620000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000" b="0" i="0" u="none" strike="noStrike" kern="1200" cap="none" spc="0" normalizeH="0" baseline="0" noProof="0" smtClean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Times New Roman" panose="02020603050405020304" pitchFamily="18" charset="0"/>
              <a:ea typeface="华文中宋" panose="0201060004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7"/>
        </a:buBlip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2.jpeg"/><Relationship Id="rId5" Type="http://schemas.openxmlformats.org/officeDocument/2006/relationships/slide" Target="slide4.xml"/><Relationship Id="rId4" Type="http://schemas.openxmlformats.org/officeDocument/2006/relationships/slide" Target="slide19.xml"/><Relationship Id="rId3" Type="http://schemas.openxmlformats.org/officeDocument/2006/relationships/slide" Target="slide10.xml"/><Relationship Id="rId2" Type="http://schemas.openxmlformats.org/officeDocument/2006/relationships/slide" Target="slide15.xml"/><Relationship Id="rId1" Type="http://schemas.openxmlformats.org/officeDocument/2006/relationships/image" Target="../media/image5.jpe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slide" Target="slide17.xml"/><Relationship Id="rId2" Type="http://schemas.openxmlformats.org/officeDocument/2006/relationships/slide" Target="slide12.xml"/><Relationship Id="rId1" Type="http://schemas.openxmlformats.org/officeDocument/2006/relationships/slide" Target="slide1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8.jpeg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" Target="slide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9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jpeg"/><Relationship Id="rId4" Type="http://schemas.openxmlformats.org/officeDocument/2006/relationships/image" Target="../media/image12.jpeg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" Target="slide1.xml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4.png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" Target="slide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15.jpeg"/><Relationship Id="rId4" Type="http://schemas.openxmlformats.org/officeDocument/2006/relationships/image" Target="../media/image14.png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" Target="slide1.xml"/></Relationships>
</file>

<file path=ppt/slides/_rels/slide1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16.jpeg"/><Relationship Id="rId4" Type="http://schemas.openxmlformats.org/officeDocument/2006/relationships/image" Target="../media/image14.png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" Target="slide1.xml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image" Target="../media/image21.jpeg"/><Relationship Id="rId8" Type="http://schemas.openxmlformats.org/officeDocument/2006/relationships/image" Target="../media/image20.jpeg"/><Relationship Id="rId7" Type="http://schemas.openxmlformats.org/officeDocument/2006/relationships/image" Target="../media/image19.jpeg"/><Relationship Id="rId6" Type="http://schemas.openxmlformats.org/officeDocument/2006/relationships/image" Target="../media/image18.jpeg"/><Relationship Id="rId5" Type="http://schemas.openxmlformats.org/officeDocument/2006/relationships/image" Target="../media/image17.jpeg"/><Relationship Id="rId4" Type="http://schemas.openxmlformats.org/officeDocument/2006/relationships/image" Target="../media/image14.png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1" Type="http://schemas.openxmlformats.org/officeDocument/2006/relationships/slideLayout" Target="../slideLayouts/slideLayout2.xml"/><Relationship Id="rId10" Type="http://schemas.openxmlformats.org/officeDocument/2006/relationships/image" Target="../media/image22.jpeg"/><Relationship Id="rId1" Type="http://schemas.openxmlformats.org/officeDocument/2006/relationships/slide" Target="slide1.xml"/></Relationships>
</file>

<file path=ppt/slides/_rels/slide13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tags" Target="../tags/tag1.xml"/><Relationship Id="rId4" Type="http://schemas.openxmlformats.org/officeDocument/2006/relationships/image" Target="../media/image14.png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" Target="slide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24.jpeg"/><Relationship Id="rId4" Type="http://schemas.openxmlformats.org/officeDocument/2006/relationships/image" Target="../media/image14.png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" Target="slide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5.jpeg"/></Relationships>
</file>

<file path=ppt/slides/_rels/slide17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26.jpeg"/><Relationship Id="rId4" Type="http://schemas.openxmlformats.org/officeDocument/2006/relationships/image" Target="../media/image14.png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" Target="slide1.xml"/></Relationships>
</file>

<file path=ppt/slides/_rels/slide18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27.jpeg"/><Relationship Id="rId4" Type="http://schemas.openxmlformats.org/officeDocument/2006/relationships/image" Target="../media/image14.png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" Target="slide1.xml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4.png"/><Relationship Id="rId2" Type="http://schemas.openxmlformats.org/officeDocument/2006/relationships/image" Target="../media/image6.png"/><Relationship Id="rId1" Type="http://schemas.openxmlformats.org/officeDocument/2006/relationships/slide" Target="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0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4098" name="Rectangle 22"/>
          <p:cNvSpPr/>
          <p:nvPr/>
        </p:nvSpPr>
        <p:spPr>
          <a:xfrm>
            <a:off x="1625600" y="2220913"/>
            <a:ext cx="4732338" cy="64516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lnSpc>
                <a:spcPct val="15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</a:pPr>
            <a:r>
              <a:rPr lang="en-US" altLang="zh-CN" sz="2400" dirty="0">
                <a:solidFill>
                  <a:srgbClr val="000099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1.4-2  </a:t>
            </a:r>
            <a:r>
              <a:rPr lang="zh-CN" altLang="en-US" sz="2400" u="sng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机械系统的的原动机部分</a:t>
            </a:r>
            <a:endParaRPr lang="zh-CN" altLang="en-US" sz="2400" u="sng" dirty="0">
              <a:solidFill>
                <a:srgbClr val="0000FF"/>
              </a:solidFill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sp>
        <p:nvSpPr>
          <p:cNvPr id="4099" name="Rectangle 23"/>
          <p:cNvSpPr/>
          <p:nvPr/>
        </p:nvSpPr>
        <p:spPr>
          <a:xfrm>
            <a:off x="1620838" y="3562350"/>
            <a:ext cx="4627880" cy="64516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>
              <a:lnSpc>
                <a:spcPct val="15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</a:pPr>
            <a:r>
              <a:rPr lang="en-US" altLang="zh-CN" sz="2400" dirty="0">
                <a:solidFill>
                  <a:srgbClr val="000099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1.4-4  </a:t>
            </a:r>
            <a:r>
              <a:rPr lang="zh-CN" altLang="en-US" sz="2400" dirty="0">
                <a:solidFill>
                  <a:srgbClr val="000099"/>
                </a:solidFill>
                <a:latin typeface="Times New Roman" panose="02020603050405020304" pitchFamily="18" charset="0"/>
                <a:ea typeface="黑体" panose="02010609060101010101" pitchFamily="2" charset="-122"/>
                <a:hlinkClick r:id="rId2" action="ppaction://hlinksldjump"/>
              </a:rPr>
              <a:t>机械系统设计方案实例分析</a:t>
            </a:r>
            <a:endParaRPr lang="zh-CN" altLang="en-US" sz="2400" dirty="0">
              <a:solidFill>
                <a:srgbClr val="000099"/>
              </a:solidFill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sp>
        <p:nvSpPr>
          <p:cNvPr id="4100" name="Rectangle 24"/>
          <p:cNvSpPr/>
          <p:nvPr/>
        </p:nvSpPr>
        <p:spPr>
          <a:xfrm>
            <a:off x="1606550" y="2941638"/>
            <a:ext cx="3713480" cy="64516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>
              <a:lnSpc>
                <a:spcPct val="15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</a:pPr>
            <a:r>
              <a:rPr lang="en-US" altLang="zh-CN" sz="2400" dirty="0">
                <a:solidFill>
                  <a:srgbClr val="000099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1.4-3  </a:t>
            </a:r>
            <a:r>
              <a:rPr lang="zh-CN" altLang="en-US" sz="2400" dirty="0">
                <a:solidFill>
                  <a:srgbClr val="000099"/>
                </a:solidFill>
                <a:latin typeface="Times New Roman" panose="02020603050405020304" pitchFamily="18" charset="0"/>
                <a:ea typeface="黑体" panose="02010609060101010101" pitchFamily="2" charset="-122"/>
                <a:hlinkClick r:id="rId3" action="ppaction://hlinksldjump"/>
              </a:rPr>
              <a:t>机械系统的传动部分</a:t>
            </a:r>
            <a:endParaRPr lang="zh-CN" altLang="en-US" sz="2400" dirty="0">
              <a:solidFill>
                <a:srgbClr val="000099"/>
              </a:solidFill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sp>
        <p:nvSpPr>
          <p:cNvPr id="4101" name="Rectangle 25"/>
          <p:cNvSpPr/>
          <p:nvPr/>
        </p:nvSpPr>
        <p:spPr>
          <a:xfrm>
            <a:off x="1620838" y="4214813"/>
            <a:ext cx="4627880" cy="64516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>
              <a:lnSpc>
                <a:spcPct val="15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</a:pPr>
            <a:r>
              <a:rPr lang="en-US" altLang="zh-CN" sz="2400" dirty="0">
                <a:solidFill>
                  <a:srgbClr val="000099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1.4-5  </a:t>
            </a:r>
            <a:r>
              <a:rPr lang="zh-CN" altLang="en-US" sz="2400" dirty="0">
                <a:solidFill>
                  <a:srgbClr val="000099"/>
                </a:solidFill>
                <a:latin typeface="Times New Roman" panose="02020603050405020304" pitchFamily="18" charset="0"/>
                <a:ea typeface="黑体" panose="02010609060101010101" pitchFamily="2" charset="-122"/>
                <a:hlinkClick r:id="rId4" action="ppaction://hlinksldjump"/>
              </a:rPr>
              <a:t>机械系统在本课程中的作用</a:t>
            </a:r>
            <a:endParaRPr lang="zh-CN" altLang="en-US" sz="2400" dirty="0">
              <a:solidFill>
                <a:srgbClr val="000099"/>
              </a:solidFill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sp>
        <p:nvSpPr>
          <p:cNvPr id="4102" name="Rectangle 26"/>
          <p:cNvSpPr>
            <a:spLocks noGrp="1"/>
          </p:cNvSpPr>
          <p:nvPr>
            <p:ph type="title" idx="4294967295"/>
          </p:nvPr>
        </p:nvSpPr>
        <p:spPr>
          <a:xfrm>
            <a:off x="1042988" y="334963"/>
            <a:ext cx="5229225" cy="5334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eaLnBrk="1" hangingPunct="1"/>
            <a:r>
              <a:rPr lang="zh-CN" altLang="en-US" sz="3000" dirty="0">
                <a:solidFill>
                  <a:srgbClr val="A5002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第 </a:t>
            </a:r>
            <a:r>
              <a:rPr lang="en-US" altLang="zh-CN" sz="3000" dirty="0">
                <a:solidFill>
                  <a:srgbClr val="A5002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1.4 </a:t>
            </a:r>
            <a:r>
              <a:rPr lang="zh-CN" altLang="en-US" sz="3000" dirty="0">
                <a:solidFill>
                  <a:srgbClr val="A5002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章 机械系统概述</a:t>
            </a:r>
            <a:endParaRPr lang="zh-CN" altLang="en-US" sz="3000" dirty="0">
              <a:solidFill>
                <a:srgbClr val="A50021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4103" name="Rectangle 22"/>
          <p:cNvSpPr/>
          <p:nvPr/>
        </p:nvSpPr>
        <p:spPr>
          <a:xfrm>
            <a:off x="1620838" y="1550988"/>
            <a:ext cx="4378325" cy="64516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lnSpc>
                <a:spcPct val="15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</a:pPr>
            <a:r>
              <a:rPr lang="en-US" altLang="zh-CN" sz="2400" dirty="0">
                <a:solidFill>
                  <a:srgbClr val="000099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1.4-1  </a:t>
            </a:r>
            <a:r>
              <a:rPr lang="zh-CN" altLang="en-US" sz="2400" u="sng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2" charset="-122"/>
                <a:hlinkClick r:id="rId5" action="ppaction://hlinksldjump"/>
              </a:rPr>
              <a:t>机械系统的执行部分</a:t>
            </a:r>
            <a:endParaRPr lang="zh-CN" altLang="en-US" sz="2400" u="sng" dirty="0">
              <a:solidFill>
                <a:srgbClr val="0000FF"/>
              </a:solidFill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cxnSp>
        <p:nvCxnSpPr>
          <p:cNvPr id="4104" name="直接连接符 13"/>
          <p:cNvCxnSpPr/>
          <p:nvPr/>
        </p:nvCxnSpPr>
        <p:spPr>
          <a:xfrm>
            <a:off x="76200" y="1073150"/>
            <a:ext cx="5832475" cy="0"/>
          </a:xfrm>
          <a:prstGeom prst="line">
            <a:avLst/>
          </a:prstGeom>
          <a:ln w="1270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105" name="直接连接符 14"/>
          <p:cNvCxnSpPr/>
          <p:nvPr/>
        </p:nvCxnSpPr>
        <p:spPr>
          <a:xfrm>
            <a:off x="539750" y="920750"/>
            <a:ext cx="0" cy="2233613"/>
          </a:xfrm>
          <a:prstGeom prst="line">
            <a:avLst/>
          </a:prstGeom>
          <a:ln w="1270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" name="十字星 15"/>
          <p:cNvSpPr/>
          <p:nvPr/>
        </p:nvSpPr>
        <p:spPr bwMode="auto">
          <a:xfrm>
            <a:off x="361950" y="947738"/>
            <a:ext cx="355600" cy="249238"/>
          </a:xfrm>
          <a:prstGeom prst="star4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/>
        </p:spPr>
        <p:txBody>
          <a:bodyPr rot="0" spcFirstLastPara="0" vertOverflow="overflow" horzOverflow="overflow" vert="horz" wrap="square" lIns="90000" tIns="46800" rIns="90000" bIns="46800" numCol="1" spcCol="0" rtlCol="0" fromWordArt="0" anchor="t" anchorCtr="0" forceAA="0" compatLnSpc="1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华文中宋" panose="02010600040101010101" pitchFamily="2" charset="-122"/>
              <a:cs typeface="+mn-cs"/>
            </a:endParaRPr>
          </a:p>
        </p:txBody>
      </p:sp>
      <p:pic>
        <p:nvPicPr>
          <p:cNvPr id="4107" name="图片 16"/>
          <p:cNvPicPr>
            <a:picLocks noChangeAspect="1"/>
          </p:cNvPicPr>
          <p:nvPr/>
        </p:nvPicPr>
        <p:blipFill>
          <a:blip r:embed="rId6">
            <a:clrChange>
              <a:clrFrom>
                <a:srgbClr val="2177CE"/>
              </a:clrFrom>
              <a:clrTo>
                <a:srgbClr val="2177CE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82563" y="293688"/>
            <a:ext cx="695325" cy="66992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advClick="0">
    <p:zoom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482" name="内容占位符 20481"/>
          <p:cNvSpPr>
            <a:spLocks noGrp="1"/>
          </p:cNvSpPr>
          <p:nvPr>
            <p:ph idx="1"/>
          </p:nvPr>
        </p:nvSpPr>
        <p:spPr>
          <a:xfrm>
            <a:off x="555625" y="1365250"/>
            <a:ext cx="8155305" cy="4895850"/>
          </a:xfrm>
        </p:spPr>
        <p:txBody>
          <a:bodyPr anchor="t"/>
          <a:p>
            <a:pPr marL="457200" marR="0" indent="-4572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kumimoji="1" lang="zh-CN" altLang="en-US" sz="2800" b="1" i="0" u="none" strike="noStrike" kern="1200" cap="none" spc="0" normalizeH="0" baseline="0" noProof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对现代机械系统来说，一般由动力、传动、执行、操纵</a:t>
            </a:r>
            <a:r>
              <a:rPr kumimoji="1" lang="en-US" altLang="zh-CN" sz="2800" b="1" i="0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—</a:t>
            </a:r>
            <a:r>
              <a:rPr kumimoji="1" lang="zh-CN" altLang="en-US" sz="2800" b="1" i="0" u="none" strike="noStrike" kern="1200" cap="none" spc="0" normalizeH="0" baseline="0" noProof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控制系统四大基本部分组成。</a:t>
            </a:r>
            <a:endParaRPr kumimoji="1" lang="zh-CN" altLang="en-US" sz="2800" b="1" i="0" u="none" strike="noStrike" kern="1200" cap="none" spc="0" normalizeH="0" baseline="0" noProof="1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endParaRPr kumimoji="1" lang="zh-CN" altLang="en-US" sz="2800" b="1" i="0" u="none" strike="noStrike" kern="1200" cap="none" spc="0" normalizeH="0" baseline="0" noProof="1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0486" name="矩形 20485">
            <a:hlinkClick r:id="rId1" action="ppaction://hlinksldjump"/>
          </p:cNvPr>
          <p:cNvSpPr/>
          <p:nvPr/>
        </p:nvSpPr>
        <p:spPr>
          <a:xfrm>
            <a:off x="1168400" y="2941638"/>
            <a:ext cx="1655763" cy="6477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chemeClr val="accent1"/>
              </a:gs>
            </a:gsLst>
            <a:path path="shape">
              <a:fillToRect l="50000" t="50000" r="50000" b="50000"/>
            </a:path>
            <a:tileRect/>
          </a:gradFill>
          <a:ln w="9525" cap="flat" cmpd="sng">
            <a:solidFill>
              <a:schemeClr val="tx2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marL="342900" indent="-342900" algn="ctr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</a:pP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动力系统</a:t>
            </a:r>
            <a:endParaRPr lang="zh-CN" altLang="en-US" sz="24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0487" name="右箭头 20486"/>
          <p:cNvSpPr/>
          <p:nvPr/>
        </p:nvSpPr>
        <p:spPr>
          <a:xfrm>
            <a:off x="2824163" y="3157538"/>
            <a:ext cx="863600" cy="215900"/>
          </a:xfrm>
          <a:prstGeom prst="rightArrow">
            <a:avLst>
              <a:gd name="adj1" fmla="val 50000"/>
              <a:gd name="adj2" fmla="val 100000"/>
            </a:avLst>
          </a:prstGeom>
          <a:gradFill rotWithShape="1">
            <a:gsLst>
              <a:gs pos="0">
                <a:srgbClr val="474776"/>
              </a:gs>
              <a:gs pos="100000">
                <a:schemeClr val="accent1"/>
              </a:gs>
            </a:gsLst>
            <a:lin ang="0" scaled="1"/>
            <a:tileRect/>
          </a:gradFill>
          <a:ln w="9525" cap="flat" cmpd="sng">
            <a:solidFill>
              <a:schemeClr val="tx2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eaLnBrk="0" hangingPunct="0"/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0489" name="矩形 20488"/>
          <p:cNvSpPr/>
          <p:nvPr/>
        </p:nvSpPr>
        <p:spPr>
          <a:xfrm>
            <a:off x="3687763" y="2941638"/>
            <a:ext cx="1655762" cy="6477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chemeClr val="accent1"/>
              </a:gs>
            </a:gsLst>
            <a:path path="shape">
              <a:fillToRect l="50000" t="50000" r="50000" b="50000"/>
            </a:path>
            <a:tileRect/>
          </a:gradFill>
          <a:ln w="9525" cap="flat" cmpd="sng">
            <a:solidFill>
              <a:schemeClr val="tx2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marL="342900" indent="-342900" algn="ctr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</a:pP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传动系统</a:t>
            </a:r>
            <a:endParaRPr lang="zh-CN" altLang="en-US" sz="24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0490" name="右箭头 20489"/>
          <p:cNvSpPr/>
          <p:nvPr/>
        </p:nvSpPr>
        <p:spPr>
          <a:xfrm>
            <a:off x="5343525" y="3157538"/>
            <a:ext cx="936625" cy="215900"/>
          </a:xfrm>
          <a:prstGeom prst="rightArrow">
            <a:avLst>
              <a:gd name="adj1" fmla="val 50000"/>
              <a:gd name="adj2" fmla="val 108295"/>
            </a:avLst>
          </a:prstGeom>
          <a:gradFill rotWithShape="1">
            <a:gsLst>
              <a:gs pos="0">
                <a:srgbClr val="474776"/>
              </a:gs>
              <a:gs pos="100000">
                <a:schemeClr val="accent1"/>
              </a:gs>
            </a:gsLst>
            <a:lin ang="0" scaled="1"/>
            <a:tileRect/>
          </a:gradFill>
          <a:ln w="9525" cap="flat" cmpd="sng">
            <a:solidFill>
              <a:schemeClr val="tx2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eaLnBrk="0" hangingPunct="0"/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0492" name="矩形 20491">
            <a:hlinkClick r:id="rId2" action="ppaction://hlinksldjump"/>
          </p:cNvPr>
          <p:cNvSpPr/>
          <p:nvPr/>
        </p:nvSpPr>
        <p:spPr>
          <a:xfrm>
            <a:off x="6280150" y="2941638"/>
            <a:ext cx="1655763" cy="6477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chemeClr val="accent1"/>
              </a:gs>
            </a:gsLst>
            <a:path path="shape">
              <a:fillToRect l="50000" t="50000" r="50000" b="50000"/>
            </a:path>
            <a:tileRect/>
          </a:gradFill>
          <a:ln w="9525" cap="flat" cmpd="sng">
            <a:solidFill>
              <a:schemeClr val="tx2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marL="342900" indent="-342900" algn="ctr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</a:pP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执行系统</a:t>
            </a:r>
            <a:endParaRPr lang="zh-CN" altLang="en-US" sz="24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0493" name="矩形 20492">
            <a:hlinkClick r:id="rId3" action="ppaction://hlinksldjump"/>
          </p:cNvPr>
          <p:cNvSpPr/>
          <p:nvPr/>
        </p:nvSpPr>
        <p:spPr>
          <a:xfrm>
            <a:off x="2247900" y="4381500"/>
            <a:ext cx="3671888" cy="6477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chemeClr val="accent1"/>
              </a:gs>
            </a:gsLst>
            <a:path path="shape">
              <a:fillToRect l="50000" t="50000" r="50000" b="50000"/>
            </a:path>
            <a:tileRect/>
          </a:gradFill>
          <a:ln w="9525" cap="flat" cmpd="sng">
            <a:solidFill>
              <a:schemeClr val="tx2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marL="342900" indent="-342900" algn="ctr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</a:pP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操纵系统和控制系统</a:t>
            </a:r>
            <a:endParaRPr lang="zh-CN" altLang="en-US" sz="24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pSp>
        <p:nvGrpSpPr>
          <p:cNvPr id="20499" name="组合 20498"/>
          <p:cNvGrpSpPr/>
          <p:nvPr/>
        </p:nvGrpSpPr>
        <p:grpSpPr>
          <a:xfrm>
            <a:off x="5919788" y="3660775"/>
            <a:ext cx="1079500" cy="1081088"/>
            <a:chOff x="3742" y="2432"/>
            <a:chExt cx="680" cy="681"/>
          </a:xfrm>
        </p:grpSpPr>
        <p:sp>
          <p:nvSpPr>
            <p:cNvPr id="5129" name="右箭头 20494"/>
            <p:cNvSpPr/>
            <p:nvPr/>
          </p:nvSpPr>
          <p:spPr>
            <a:xfrm flipH="1">
              <a:off x="3742" y="2976"/>
              <a:ext cx="635" cy="137"/>
            </a:xfrm>
            <a:prstGeom prst="rightArrow">
              <a:avLst>
                <a:gd name="adj1" fmla="val 50000"/>
                <a:gd name="adj2" fmla="val 115704"/>
              </a:avLst>
            </a:prstGeom>
            <a:gradFill rotWithShape="1">
              <a:gsLst>
                <a:gs pos="0">
                  <a:srgbClr val="474776"/>
                </a:gs>
                <a:gs pos="100000">
                  <a:schemeClr val="accent1"/>
                </a:gs>
              </a:gsLst>
              <a:lin ang="0" scaled="1"/>
              <a:tileRect/>
            </a:gradFill>
            <a:ln w="9525" cap="flat" cmpd="sng">
              <a:solidFill>
                <a:schemeClr val="tx2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/>
            <a:p>
              <a:pPr eaLnBrk="0" hangingPunct="0"/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130" name="右箭头 20495"/>
            <p:cNvSpPr/>
            <p:nvPr/>
          </p:nvSpPr>
          <p:spPr>
            <a:xfrm rot="5400000" flipH="1" flipV="1">
              <a:off x="4059" y="2659"/>
              <a:ext cx="590" cy="136"/>
            </a:xfrm>
            <a:prstGeom prst="rightArrow">
              <a:avLst>
                <a:gd name="adj1" fmla="val 50000"/>
                <a:gd name="adj2" fmla="val 108295"/>
              </a:avLst>
            </a:prstGeom>
            <a:gradFill rotWithShape="1">
              <a:gsLst>
                <a:gs pos="0">
                  <a:srgbClr val="474776"/>
                </a:gs>
                <a:gs pos="100000">
                  <a:schemeClr val="accent1"/>
                </a:gs>
              </a:gsLst>
              <a:lin ang="0" scaled="1"/>
              <a:tileRect/>
            </a:gradFill>
            <a:ln w="9525" cap="flat" cmpd="sng">
              <a:solidFill>
                <a:schemeClr val="tx2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vert="eaVert" wrap="none" anchor="ctr" anchorCtr="0"/>
            <a:p>
              <a:pPr marL="342900" indent="-342900" algn="ctr" eaLnBrk="0" hangingPunct="0"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l"/>
              </a:pPr>
              <a:endParaRPr lang="zh-CN" altLang="zh-CN" sz="2400" b="1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20497" name="右箭头 20496"/>
          <p:cNvSpPr/>
          <p:nvPr/>
        </p:nvSpPr>
        <p:spPr>
          <a:xfrm rot="-5402812" flipV="1">
            <a:off x="2173288" y="3875088"/>
            <a:ext cx="793750" cy="215900"/>
          </a:xfrm>
          <a:prstGeom prst="rightArrow">
            <a:avLst>
              <a:gd name="adj1" fmla="val 50000"/>
              <a:gd name="adj2" fmla="val 91775"/>
            </a:avLst>
          </a:prstGeom>
          <a:gradFill rotWithShape="1">
            <a:gsLst>
              <a:gs pos="0">
                <a:srgbClr val="474776"/>
              </a:gs>
              <a:gs pos="100000">
                <a:schemeClr val="accent1"/>
              </a:gs>
            </a:gsLst>
            <a:lin ang="0" scaled="1"/>
            <a:tileRect/>
          </a:gradFill>
          <a:ln w="9525" cap="flat" cmpd="sng">
            <a:solidFill>
              <a:schemeClr val="tx2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eaLnBrk="0" hangingPunct="0"/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0498" name="上下箭头 20497"/>
          <p:cNvSpPr/>
          <p:nvPr/>
        </p:nvSpPr>
        <p:spPr>
          <a:xfrm>
            <a:off x="4479925" y="3589338"/>
            <a:ext cx="215900" cy="792162"/>
          </a:xfrm>
          <a:prstGeom prst="upDownArrow">
            <a:avLst>
              <a:gd name="adj1" fmla="val 50000"/>
              <a:gd name="adj2" fmla="val 73246"/>
            </a:avLst>
          </a:prstGeom>
          <a:gradFill rotWithShape="1">
            <a:gsLst>
              <a:gs pos="0">
                <a:srgbClr val="474776"/>
              </a:gs>
              <a:gs pos="50000">
                <a:schemeClr val="accent1"/>
              </a:gs>
              <a:gs pos="100000">
                <a:srgbClr val="474776"/>
              </a:gs>
            </a:gsLst>
            <a:lin ang="0" scaled="1"/>
            <a:tileRect/>
          </a:gradFill>
          <a:ln w="9525" cap="flat" cmpd="sng">
            <a:solidFill>
              <a:schemeClr val="tx2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eaLnBrk="0" hangingPunct="0"/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0501" name="矩形 20500"/>
          <p:cNvSpPr/>
          <p:nvPr/>
        </p:nvSpPr>
        <p:spPr>
          <a:xfrm>
            <a:off x="922338" y="103188"/>
            <a:ext cx="7772400" cy="617537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marL="342900" indent="-342900" eaLnBrk="0" hangingPunct="0">
              <a:spcBef>
                <a:spcPct val="20000"/>
              </a:spcBef>
              <a:spcAft>
                <a:spcPct val="30000"/>
              </a:spcAft>
              <a:buClr>
                <a:schemeClr val="bg2"/>
              </a:buClr>
              <a:buSzPct val="75000"/>
            </a:pPr>
            <a:r>
              <a:rPr lang="zh-CN" altLang="en-US" sz="3200" b="1" dirty="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2" charset="-122"/>
              </a:rPr>
              <a:t>机械系统的组成</a:t>
            </a:r>
            <a:endParaRPr lang="zh-CN" altLang="en-US" sz="3200" b="1" dirty="0">
              <a:solidFill>
                <a:schemeClr val="bg1"/>
              </a:solidFill>
              <a:latin typeface="Arial" panose="020B0604020202020204" pitchFamily="34" charset="0"/>
              <a:ea typeface="黑体" panose="02010609060101010101" pitchFamily="2" charset="-122"/>
            </a:endParaRPr>
          </a:p>
          <a:p>
            <a:pPr marL="342900" indent="-342900" eaLnBrk="0" hangingPunct="0">
              <a:spcBef>
                <a:spcPct val="20000"/>
              </a:spcBef>
              <a:buClr>
                <a:schemeClr val="bg2"/>
              </a:buClr>
              <a:buSzPct val="75000"/>
            </a:pPr>
            <a:endParaRPr lang="zh-CN" altLang="en-US" sz="3200" b="1" dirty="0">
              <a:solidFill>
                <a:schemeClr val="bg1"/>
              </a:solidFill>
              <a:latin typeface="Arial" panose="020B0604020202020204" pitchFamily="34" charset="0"/>
              <a:ea typeface="黑体" panose="0201060906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1">
                                            <p:txEl>
                                              <p:charRg st="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0501">
                                            <p:txEl>
                                              <p:charRg st="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04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04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04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204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048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204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204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04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04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204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204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204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04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204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2" grpId="0" build="p"/>
      <p:bldP spid="20486" grpId="0" bldLvl="0" animBg="1"/>
      <p:bldP spid="20489" grpId="0" bldLvl="0" animBg="1"/>
      <p:bldP spid="20492" grpId="0" bldLvl="0" animBg="1"/>
      <p:bldP spid="20493" grpId="0" bldLvl="0" animBg="1"/>
      <p:bldP spid="20501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8916" name="矩形 38915"/>
          <p:cNvSpPr/>
          <p:nvPr/>
        </p:nvSpPr>
        <p:spPr>
          <a:xfrm>
            <a:off x="0" y="1330325"/>
            <a:ext cx="8740775" cy="18446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marL="342900" indent="-342900" eaLnBrk="0" hangingPunct="0">
              <a:lnSpc>
                <a:spcPct val="150000"/>
              </a:lnSpc>
              <a:buClr>
                <a:schemeClr val="tx1"/>
              </a:buClr>
              <a:buSzPct val="75000"/>
              <a:buFont typeface="Wingdings" panose="05000000000000000000" pitchFamily="2" charset="2"/>
            </a:pPr>
            <a:r>
              <a:rPr lang="zh-CN" altLang="en-US" sz="2800" b="1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        </a:t>
            </a:r>
            <a:r>
              <a:rPr lang="zh-CN" altLang="en-US" sz="2400" dirty="0">
                <a:solidFill>
                  <a:srgbClr val="000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执行系统包括机械的执行机构和执行构件，是利用机械能改变作业对象的性质、状态、形状或位置，或对作业对象进行检测、度量等，以进行生产或达到其它预约要求的装置。</a:t>
            </a:r>
            <a:endParaRPr lang="zh-CN" altLang="en-US" sz="2400" dirty="0">
              <a:solidFill>
                <a:srgbClr val="000000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38917" name="文本框 38916"/>
          <p:cNvSpPr txBox="1"/>
          <p:nvPr/>
        </p:nvSpPr>
        <p:spPr>
          <a:xfrm>
            <a:off x="0" y="3533775"/>
            <a:ext cx="8618538" cy="175260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marL="342900" indent="-342900" eaLnBrk="0" hangingPunct="0">
              <a:lnSpc>
                <a:spcPct val="150000"/>
              </a:lnSpc>
              <a:buClr>
                <a:schemeClr val="tx1"/>
              </a:buClr>
              <a:buSzPct val="75000"/>
              <a:buFont typeface="Wingdings" panose="05000000000000000000" pitchFamily="2" charset="2"/>
            </a:pPr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</a:rPr>
              <a:t>          </a:t>
            </a: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</a:rPr>
              <a:t>执行系统通常处在系统的末端，直接与作业对象接触，其输出是机械系统的主要输出，其功能是机械系统的主要功能。因此，被称为机械系统的</a:t>
            </a:r>
            <a:r>
              <a:rPr lang="zh-CN" altLang="en-US" sz="2400" dirty="0">
                <a:solidFill>
                  <a:srgbClr val="FF0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工作机</a:t>
            </a: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</a:rPr>
              <a:t>。</a:t>
            </a:r>
            <a:endParaRPr lang="zh-CN" altLang="en-US" sz="2400" dirty="0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8195" name="Rectangle 21"/>
          <p:cNvSpPr/>
          <p:nvPr/>
        </p:nvSpPr>
        <p:spPr>
          <a:xfrm>
            <a:off x="876300" y="44450"/>
            <a:ext cx="3962400" cy="549275"/>
          </a:xfrm>
          <a:prstGeom prst="rect">
            <a:avLst/>
          </a:prstGeom>
          <a:noFill/>
          <a:ln w="9525">
            <a:noFill/>
          </a:ln>
        </p:spPr>
        <p:txBody>
          <a:bodyPr tIns="18000" anchor="ctr" anchorCtr="1"/>
          <a:p>
            <a:r>
              <a:rPr lang="zh-CN" altLang="en-US" sz="3000" dirty="0">
                <a:solidFill>
                  <a:schemeClr val="bg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机械系统的执行部分</a:t>
            </a:r>
            <a:endParaRPr lang="zh-CN" altLang="en-US" sz="3000" dirty="0">
              <a:solidFill>
                <a:schemeClr val="bg1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6">
                                            <p:txEl>
                                              <p:charRg st="7" end="9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8916">
                                            <p:txEl>
                                              <p:charRg st="7" end="9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7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7">
                                            <p:txEl>
                                              <p:charRg st="0" end="7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8917">
                                            <p:txEl>
                                              <p:charRg st="0" end="7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241" name="Rectangle 20"/>
          <p:cNvSpPr>
            <a:spLocks noGrp="1"/>
          </p:cNvSpPr>
          <p:nvPr>
            <p:ph type="title"/>
          </p:nvPr>
        </p:nvSpPr>
        <p:spPr>
          <a:xfrm>
            <a:off x="5410200" y="685800"/>
            <a:ext cx="1752600" cy="228600"/>
          </a:xfrm>
          <a:noFill/>
          <a:ln>
            <a:noFill/>
          </a:ln>
        </p:spPr>
        <p:txBody>
          <a:bodyPr anchor="t" anchorCtr="0"/>
          <a:p>
            <a:pPr eaLnBrk="1" hangingPunct="1"/>
            <a:r>
              <a:rPr lang="zh-CN" altLang="en-US" sz="800" dirty="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材料疲劳的两种类别</a:t>
            </a:r>
            <a:endParaRPr lang="zh-CN" altLang="en-US" dirty="0"/>
          </a:p>
        </p:txBody>
      </p:sp>
      <p:sp>
        <p:nvSpPr>
          <p:cNvPr id="10242" name="Rectangle 21"/>
          <p:cNvSpPr/>
          <p:nvPr/>
        </p:nvSpPr>
        <p:spPr>
          <a:xfrm>
            <a:off x="754063" y="44450"/>
            <a:ext cx="3962400" cy="549275"/>
          </a:xfrm>
          <a:prstGeom prst="rect">
            <a:avLst/>
          </a:prstGeom>
          <a:noFill/>
          <a:ln w="9525">
            <a:noFill/>
          </a:ln>
        </p:spPr>
        <p:txBody>
          <a:bodyPr tIns="18000" anchor="ctr" anchorCtr="1"/>
          <a:p>
            <a:r>
              <a:rPr lang="zh-CN" altLang="en-US" sz="3000" dirty="0">
                <a:solidFill>
                  <a:schemeClr val="bg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机械系统的执行部分</a:t>
            </a:r>
            <a:endParaRPr lang="zh-CN" altLang="en-US" sz="3000" dirty="0">
              <a:solidFill>
                <a:schemeClr val="bg1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pic>
        <p:nvPicPr>
          <p:cNvPr id="10243" name="Picture 28" descr="rewind1">
            <a:hlinkClick r:id="rId1" action="ppaction://hlinksldjump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5663" y="6508750"/>
            <a:ext cx="287337" cy="28733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244" name="Picture 30" descr="NEXT1">
            <a:hlinkClick r:id="" action="ppaction://hlinkshowjump?jump=nextslide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16975" y="6508750"/>
            <a:ext cx="287338" cy="28733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9278" name="Text Box 62"/>
          <p:cNvSpPr txBox="1"/>
          <p:nvPr/>
        </p:nvSpPr>
        <p:spPr>
          <a:xfrm>
            <a:off x="6081713" y="6157913"/>
            <a:ext cx="268287" cy="427037"/>
          </a:xfrm>
          <a:prstGeom prst="rect">
            <a:avLst/>
          </a:prstGeom>
          <a:noFill/>
          <a:ln w="9525">
            <a:noFill/>
          </a:ln>
        </p:spPr>
        <p:txBody>
          <a:bodyPr wrap="none" lIns="90000" tIns="46800" rIns="90000" bIns="46800" anchor="t" anchorCtr="0">
            <a:spAutoFit/>
          </a:bodyPr>
          <a:p>
            <a:r>
              <a:rPr lang="en-US" altLang="zh-CN" dirty="0">
                <a:latin typeface="Tahoma" panose="020B0604030504040204" pitchFamily="34" charset="0"/>
                <a:ea typeface="华文中宋" panose="02010600040101010101" pitchFamily="2" charset="-122"/>
              </a:rPr>
              <a:t> </a:t>
            </a:r>
            <a:endParaRPr lang="en-US" altLang="zh-CN" dirty="0">
              <a:latin typeface="Tahoma" panose="020B0604030504040204" pitchFamily="34" charset="0"/>
              <a:ea typeface="华文中宋" panose="02010600040101010101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95313" y="1044575"/>
            <a:ext cx="7951787" cy="86042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eaLnBrk="0" hangingPunct="0">
              <a:lnSpc>
                <a:spcPts val="3000"/>
              </a:lnSpc>
            </a:pPr>
            <a:r>
              <a:rPr lang="zh-CN" altLang="en-US" sz="2000" b="1" dirty="0">
                <a:solidFill>
                  <a:srgbClr val="0000FF"/>
                </a:solidFill>
                <a:latin typeface="Tahoma" panose="020B0604030504040204" pitchFamily="34" charset="0"/>
                <a:ea typeface="华文中宋" panose="02010600040101010101" pitchFamily="2" charset="-122"/>
              </a:rPr>
              <a:t>     </a:t>
            </a:r>
            <a:r>
              <a:rPr lang="zh-CN" altLang="en-US" sz="2400" b="1" dirty="0">
                <a:solidFill>
                  <a:srgbClr val="0000FF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 </a:t>
            </a: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</a:rPr>
              <a:t>一部机器可以有一个执行机构（如图</a:t>
            </a:r>
            <a:r>
              <a:rPr lang="en-US" altLang="zh-CN" sz="2400" dirty="0">
                <a:latin typeface="黑体" panose="02010609060101010101" pitchFamily="2" charset="-122"/>
                <a:ea typeface="黑体" panose="02010609060101010101" pitchFamily="2" charset="-122"/>
              </a:rPr>
              <a:t>1.4-1</a:t>
            </a: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</a:rPr>
              <a:t>），也可以有多个执行机构（如</a:t>
            </a:r>
            <a:r>
              <a:rPr lang="en-US" altLang="zh-CN" sz="2400" dirty="0">
                <a:latin typeface="黑体" panose="02010609060101010101" pitchFamily="2" charset="-122"/>
                <a:ea typeface="黑体" panose="02010609060101010101" pitchFamily="2" charset="-122"/>
              </a:rPr>
              <a:t>C6140</a:t>
            </a: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</a:rPr>
              <a:t>）。</a:t>
            </a:r>
            <a:endParaRPr lang="zh-CN" altLang="en-US" sz="2400" dirty="0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3243263" y="6157913"/>
            <a:ext cx="2657475" cy="338137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eaLnBrk="0" hangingPunct="0"/>
            <a:r>
              <a:rPr lang="zh-CN" altLang="zh-CN" sz="1600" dirty="0">
                <a:latin typeface="黑体" panose="02010609060101010101" pitchFamily="2" charset="-122"/>
                <a:ea typeface="黑体" panose="02010609060101010101" pitchFamily="2" charset="-122"/>
              </a:rPr>
              <a:t>图</a:t>
            </a:r>
            <a:r>
              <a:rPr lang="en-US" altLang="zh-CN" sz="1600" dirty="0">
                <a:latin typeface="黑体" panose="02010609060101010101" pitchFamily="2" charset="-122"/>
                <a:ea typeface="黑体" panose="02010609060101010101" pitchFamily="2" charset="-122"/>
              </a:rPr>
              <a:t>1.4-1 </a:t>
            </a:r>
            <a:r>
              <a:rPr lang="zh-CN" altLang="en-US" sz="1600" dirty="0">
                <a:latin typeface="黑体" panose="02010609060101010101" pitchFamily="2" charset="-122"/>
                <a:ea typeface="黑体" panose="02010609060101010101" pitchFamily="2" charset="-122"/>
              </a:rPr>
              <a:t>带式输送机</a:t>
            </a:r>
            <a:endParaRPr lang="zh-CN" altLang="en-US" sz="1600" dirty="0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57413" y="2016125"/>
            <a:ext cx="4830762" cy="39179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2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2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78" grpId="0"/>
      <p:bldP spid="2" grpId="0"/>
      <p:bldP spid="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1265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2525" y="1281113"/>
            <a:ext cx="6259513" cy="429577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/>
      <p:pic>
        <p:nvPicPr>
          <p:cNvPr id="13313" name="图片 2" descr="5528ae135370cf03abe438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38275" y="4071938"/>
            <a:ext cx="6589713" cy="25876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3314" name="图片 3" descr="222548jdnft252tk9riiky"/>
          <p:cNvPicPr>
            <a:picLocks noChangeAspect="1"/>
          </p:cNvPicPr>
          <p:nvPr/>
        </p:nvPicPr>
        <p:blipFill>
          <a:blip r:embed="rId2"/>
          <a:srcRect l="7706" t="11111" r="9543" b="4903"/>
          <a:stretch>
            <a:fillRect/>
          </a:stretch>
        </p:blipFill>
        <p:spPr>
          <a:xfrm>
            <a:off x="1343025" y="66675"/>
            <a:ext cx="6778625" cy="4198938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337" name="Rectangle 20"/>
          <p:cNvSpPr>
            <a:spLocks noGrp="1"/>
          </p:cNvSpPr>
          <p:nvPr>
            <p:ph type="title"/>
          </p:nvPr>
        </p:nvSpPr>
        <p:spPr>
          <a:xfrm>
            <a:off x="5410200" y="685800"/>
            <a:ext cx="1752600" cy="228600"/>
          </a:xfrm>
          <a:noFill/>
          <a:ln>
            <a:noFill/>
          </a:ln>
        </p:spPr>
        <p:txBody>
          <a:bodyPr anchor="t" anchorCtr="0"/>
          <a:p>
            <a:pPr eaLnBrk="1" hangingPunct="1"/>
            <a:r>
              <a:rPr lang="zh-CN" altLang="en-US" sz="800" dirty="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材料疲劳的两种类别</a:t>
            </a:r>
            <a:endParaRPr lang="zh-CN" altLang="en-US" dirty="0"/>
          </a:p>
        </p:txBody>
      </p:sp>
      <p:sp>
        <p:nvSpPr>
          <p:cNvPr id="14338" name="Rectangle 21"/>
          <p:cNvSpPr/>
          <p:nvPr/>
        </p:nvSpPr>
        <p:spPr>
          <a:xfrm>
            <a:off x="611188" y="31750"/>
            <a:ext cx="3962400" cy="549275"/>
          </a:xfrm>
          <a:prstGeom prst="rect">
            <a:avLst/>
          </a:prstGeom>
          <a:noFill/>
          <a:ln w="9525">
            <a:noFill/>
          </a:ln>
        </p:spPr>
        <p:txBody>
          <a:bodyPr tIns="18000" anchor="ctr" anchorCtr="1"/>
          <a:p>
            <a:r>
              <a:rPr lang="zh-CN" altLang="en-US" sz="3000" dirty="0">
                <a:solidFill>
                  <a:schemeClr val="bg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机械系统的执行部分</a:t>
            </a:r>
            <a:endParaRPr lang="zh-CN" altLang="en-US" sz="3000" dirty="0">
              <a:solidFill>
                <a:schemeClr val="bg1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pic>
        <p:nvPicPr>
          <p:cNvPr id="14339" name="Picture 28" descr="rewind1">
            <a:hlinkClick r:id="rId1" action="ppaction://hlinksldjump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7038" y="6510338"/>
            <a:ext cx="287337" cy="28733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4340" name="Picture 30" descr="NEXT1">
            <a:hlinkClick r:id="" action="ppaction://hlinkshowjump?jump=nextslide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16975" y="6508750"/>
            <a:ext cx="287338" cy="28733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9278" name="Text Box 62"/>
          <p:cNvSpPr txBox="1"/>
          <p:nvPr/>
        </p:nvSpPr>
        <p:spPr>
          <a:xfrm>
            <a:off x="6081713" y="6157913"/>
            <a:ext cx="268287" cy="427037"/>
          </a:xfrm>
          <a:prstGeom prst="rect">
            <a:avLst/>
          </a:prstGeom>
          <a:noFill/>
          <a:ln w="9525">
            <a:noFill/>
          </a:ln>
        </p:spPr>
        <p:txBody>
          <a:bodyPr wrap="none" lIns="90000" tIns="46800" rIns="90000" bIns="46800" anchor="t" anchorCtr="0">
            <a:spAutoFit/>
          </a:bodyPr>
          <a:p>
            <a:r>
              <a:rPr lang="en-US" altLang="zh-CN" dirty="0">
                <a:latin typeface="Tahoma" panose="020B0604030504040204" pitchFamily="34" charset="0"/>
                <a:ea typeface="华文中宋" panose="02010600040101010101" pitchFamily="2" charset="-122"/>
              </a:rPr>
              <a:t> </a:t>
            </a:r>
            <a:endParaRPr lang="en-US" altLang="zh-CN" dirty="0">
              <a:latin typeface="Tahoma" panose="020B0604030504040204" pitchFamily="34" charset="0"/>
              <a:ea typeface="华文中宋" panose="02010600040101010101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49250" y="1081088"/>
            <a:ext cx="8393113" cy="86042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eaLnBrk="0" hangingPunct="0">
              <a:lnSpc>
                <a:spcPts val="3000"/>
              </a:lnSpc>
            </a:pPr>
            <a:r>
              <a:rPr lang="en-US" altLang="zh-CN" sz="2000" dirty="0">
                <a:latin typeface="Tahoma" panose="020B0604030504040204" pitchFamily="34" charset="0"/>
                <a:ea typeface="华文中宋" panose="02010600040101010101" pitchFamily="2" charset="-122"/>
              </a:rPr>
              <a:t>      </a:t>
            </a:r>
            <a:r>
              <a:rPr lang="zh-CN" altLang="zh-CN" sz="2400" dirty="0">
                <a:latin typeface="黑体" panose="02010609060101010101" pitchFamily="2" charset="-122"/>
                <a:ea typeface="黑体" panose="02010609060101010101" pitchFamily="2" charset="-122"/>
              </a:rPr>
              <a:t>一个执行部分可由一个或多个机构组成；完成同样机器功能的执行部分也可由不同机构实现；如图</a:t>
            </a:r>
            <a:r>
              <a:rPr lang="en-US" altLang="zh-CN" sz="2400" dirty="0">
                <a:latin typeface="黑体" panose="02010609060101010101" pitchFamily="2" charset="-122"/>
                <a:ea typeface="黑体" panose="02010609060101010101" pitchFamily="2" charset="-122"/>
              </a:rPr>
              <a:t>1.4-3</a:t>
            </a:r>
            <a:r>
              <a:rPr lang="zh-CN" altLang="zh-CN" sz="2400" dirty="0">
                <a:latin typeface="黑体" panose="02010609060101010101" pitchFamily="2" charset="-122"/>
                <a:ea typeface="黑体" panose="02010609060101010101" pitchFamily="2" charset="-122"/>
              </a:rPr>
              <a:t>和图</a:t>
            </a:r>
            <a:r>
              <a:rPr lang="en-US" altLang="zh-CN" sz="2400" dirty="0">
                <a:latin typeface="黑体" panose="02010609060101010101" pitchFamily="2" charset="-122"/>
                <a:ea typeface="黑体" panose="02010609060101010101" pitchFamily="2" charset="-122"/>
              </a:rPr>
              <a:t>1.4-4</a:t>
            </a:r>
            <a:r>
              <a:rPr lang="zh-CN" altLang="zh-CN" sz="2400" dirty="0">
                <a:latin typeface="黑体" panose="02010609060101010101" pitchFamily="2" charset="-122"/>
                <a:ea typeface="黑体" panose="02010609060101010101" pitchFamily="2" charset="-122"/>
              </a:rPr>
              <a:t>。</a:t>
            </a:r>
            <a:endParaRPr lang="zh-CN" altLang="zh-CN" sz="2400" dirty="0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981075" y="5819775"/>
            <a:ext cx="2144713" cy="33813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eaLnBrk="0" hangingPunct="0"/>
            <a:r>
              <a:rPr lang="zh-CN" altLang="zh-CN" sz="1600" dirty="0">
                <a:latin typeface="Tahoma" panose="020B0604030504040204" pitchFamily="34" charset="0"/>
                <a:ea typeface="华文中宋" panose="02010600040101010101" pitchFamily="2" charset="-122"/>
              </a:rPr>
              <a:t>图</a:t>
            </a:r>
            <a:r>
              <a:rPr lang="en-US" altLang="zh-CN" sz="1600" dirty="0">
                <a:latin typeface="Tahoma" panose="020B0604030504040204" pitchFamily="34" charset="0"/>
                <a:ea typeface="华文中宋" panose="02010600040101010101" pitchFamily="2" charset="-122"/>
              </a:rPr>
              <a:t>1.4-3 </a:t>
            </a:r>
            <a:r>
              <a:rPr lang="zh-CN" altLang="en-US" sz="1600" dirty="0">
                <a:latin typeface="Tahoma" panose="020B0604030504040204" pitchFamily="34" charset="0"/>
                <a:ea typeface="华文中宋" panose="02010600040101010101" pitchFamily="2" charset="-122"/>
              </a:rPr>
              <a:t>曲柄摇杆机构</a:t>
            </a:r>
            <a:endParaRPr lang="zh-CN" altLang="en-US" sz="1600" dirty="0">
              <a:latin typeface="Tahoma" panose="020B0604030504040204" pitchFamily="34" charset="0"/>
              <a:ea typeface="华文中宋" panose="02010600040101010101" pitchFamily="2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4573588" y="5819775"/>
            <a:ext cx="2981325" cy="338138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eaLnBrk="0" hangingPunct="0"/>
            <a:r>
              <a:rPr lang="zh-CN" altLang="zh-CN" sz="1600" dirty="0">
                <a:latin typeface="Tahoma" panose="020B0604030504040204" pitchFamily="34" charset="0"/>
                <a:ea typeface="华文中宋" panose="02010600040101010101" pitchFamily="2" charset="-122"/>
              </a:rPr>
              <a:t>图</a:t>
            </a:r>
            <a:r>
              <a:rPr lang="en-US" altLang="zh-CN" sz="1600" dirty="0">
                <a:latin typeface="Tahoma" panose="020B0604030504040204" pitchFamily="34" charset="0"/>
                <a:ea typeface="华文中宋" panose="02010600040101010101" pitchFamily="2" charset="-122"/>
              </a:rPr>
              <a:t>1.4-4 </a:t>
            </a:r>
            <a:r>
              <a:rPr lang="zh-CN" altLang="en-US" sz="1600" dirty="0">
                <a:latin typeface="Tahoma" panose="020B0604030504040204" pitchFamily="34" charset="0"/>
                <a:ea typeface="华文中宋" panose="02010600040101010101" pitchFamily="2" charset="-122"/>
              </a:rPr>
              <a:t>槽轮机构、同步带机构</a:t>
            </a:r>
            <a:endParaRPr lang="zh-CN" altLang="en-US" sz="1600" dirty="0">
              <a:latin typeface="Tahoma" panose="020B0604030504040204" pitchFamily="34" charset="0"/>
              <a:ea typeface="华文中宋" panose="02010600040101010101" pitchFamily="2" charset="-122"/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1075" y="1941513"/>
            <a:ext cx="2654300" cy="3757612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08500" y="2274888"/>
            <a:ext cx="4111625" cy="3078162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4347" name="Picture 35" descr="back1">
            <a:hlinkClick r:id="" action="ppaction://hlinkshowjump?jump=previousslide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55025" y="6508750"/>
            <a:ext cx="287338" cy="287338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2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2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78" grpId="0"/>
      <p:bldP spid="2" grpId="0"/>
      <p:bldP spid="6" grpId="0"/>
      <p:bldP spid="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361" name="Rectangle 20"/>
          <p:cNvSpPr>
            <a:spLocks noGrp="1"/>
          </p:cNvSpPr>
          <p:nvPr>
            <p:ph type="title"/>
          </p:nvPr>
        </p:nvSpPr>
        <p:spPr>
          <a:xfrm>
            <a:off x="5410200" y="685800"/>
            <a:ext cx="1752600" cy="228600"/>
          </a:xfrm>
          <a:noFill/>
          <a:ln>
            <a:noFill/>
          </a:ln>
        </p:spPr>
        <p:txBody>
          <a:bodyPr anchor="t" anchorCtr="0"/>
          <a:p>
            <a:pPr eaLnBrk="1" hangingPunct="1"/>
            <a:r>
              <a:rPr lang="zh-CN" altLang="en-US" sz="800" dirty="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材料疲劳的两种类别</a:t>
            </a:r>
            <a:endParaRPr lang="zh-CN" altLang="en-US" dirty="0"/>
          </a:p>
        </p:txBody>
      </p:sp>
      <p:sp>
        <p:nvSpPr>
          <p:cNvPr id="15362" name="Rectangle 21"/>
          <p:cNvSpPr/>
          <p:nvPr/>
        </p:nvSpPr>
        <p:spPr>
          <a:xfrm>
            <a:off x="755650" y="57150"/>
            <a:ext cx="3962400" cy="549275"/>
          </a:xfrm>
          <a:prstGeom prst="rect">
            <a:avLst/>
          </a:prstGeom>
          <a:noFill/>
          <a:ln w="9525">
            <a:noFill/>
          </a:ln>
        </p:spPr>
        <p:txBody>
          <a:bodyPr tIns="18000" anchor="ctr" anchorCtr="1"/>
          <a:p>
            <a:r>
              <a:rPr lang="zh-CN" altLang="en-US" sz="3000" dirty="0">
                <a:solidFill>
                  <a:schemeClr val="bg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机械系统的执行部分</a:t>
            </a:r>
            <a:endParaRPr lang="zh-CN" altLang="en-US" sz="3000" dirty="0">
              <a:solidFill>
                <a:schemeClr val="bg1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pic>
        <p:nvPicPr>
          <p:cNvPr id="15363" name="Picture 28" descr="rewind1">
            <a:hlinkClick r:id="rId1" action="ppaction://hlinksldjump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7038" y="6510338"/>
            <a:ext cx="287337" cy="28733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5364" name="Picture 30" descr="NEXT1">
            <a:hlinkClick r:id="" action="ppaction://hlinkshowjump?jump=nextslide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16975" y="6508750"/>
            <a:ext cx="287338" cy="28733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9278" name="Text Box 62"/>
          <p:cNvSpPr txBox="1"/>
          <p:nvPr/>
        </p:nvSpPr>
        <p:spPr>
          <a:xfrm>
            <a:off x="6081713" y="6157913"/>
            <a:ext cx="268287" cy="427037"/>
          </a:xfrm>
          <a:prstGeom prst="rect">
            <a:avLst/>
          </a:prstGeom>
          <a:noFill/>
          <a:ln w="9525">
            <a:noFill/>
          </a:ln>
        </p:spPr>
        <p:txBody>
          <a:bodyPr wrap="none" lIns="90000" tIns="46800" rIns="90000" bIns="46800" anchor="t" anchorCtr="0">
            <a:spAutoFit/>
          </a:bodyPr>
          <a:p>
            <a:r>
              <a:rPr lang="en-US" altLang="zh-CN" dirty="0">
                <a:latin typeface="Tahoma" panose="020B0604030504040204" pitchFamily="34" charset="0"/>
                <a:ea typeface="华文中宋" panose="02010600040101010101" pitchFamily="2" charset="-122"/>
              </a:rPr>
              <a:t> </a:t>
            </a:r>
            <a:endParaRPr lang="en-US" altLang="zh-CN" dirty="0">
              <a:latin typeface="Tahoma" panose="020B0604030504040204" pitchFamily="34" charset="0"/>
              <a:ea typeface="华文中宋" panose="02010600040101010101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95250" y="1103313"/>
            <a:ext cx="7951788" cy="474662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eaLnBrk="0" hangingPunct="0">
              <a:lnSpc>
                <a:spcPts val="3000"/>
              </a:lnSpc>
            </a:pPr>
            <a:r>
              <a:rPr lang="en-US" altLang="zh-CN" sz="2000" dirty="0">
                <a:latin typeface="Tahoma" panose="020B0604030504040204" pitchFamily="34" charset="0"/>
                <a:ea typeface="华文中宋" panose="02010600040101010101" pitchFamily="2" charset="-122"/>
              </a:rPr>
              <a:t>      </a:t>
            </a:r>
            <a:r>
              <a:rPr lang="zh-CN" altLang="zh-CN" sz="2400" dirty="0">
                <a:latin typeface="黑体" panose="02010609060101010101" pitchFamily="2" charset="-122"/>
                <a:ea typeface="黑体" panose="02010609060101010101" pitchFamily="2" charset="-122"/>
              </a:rPr>
              <a:t>执行</a:t>
            </a: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</a:rPr>
              <a:t>机构分动作型、动力型及动作</a:t>
            </a:r>
            <a:r>
              <a:rPr lang="en-US" altLang="zh-CN" sz="2400" dirty="0">
                <a:latin typeface="黑体" panose="02010609060101010101" pitchFamily="2" charset="-122"/>
                <a:ea typeface="黑体" panose="02010609060101010101" pitchFamily="2" charset="-122"/>
              </a:rPr>
              <a:t>—</a:t>
            </a: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</a:rPr>
              <a:t>动力型三类。</a:t>
            </a:r>
            <a:endParaRPr lang="zh-CN" altLang="zh-CN" sz="2400" dirty="0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12750" y="4716463"/>
            <a:ext cx="7921625" cy="124460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eaLnBrk="0" hangingPunct="0">
              <a:lnSpc>
                <a:spcPts val="3000"/>
              </a:lnSpc>
            </a:pPr>
            <a:r>
              <a:rPr lang="zh-CN" altLang="en-US" sz="2000" dirty="0">
                <a:latin typeface="Tahoma" panose="020B0604030504040204" pitchFamily="34" charset="0"/>
                <a:ea typeface="华文中宋" panose="02010600040101010101" pitchFamily="2" charset="-122"/>
              </a:rPr>
              <a:t>    </a:t>
            </a:r>
            <a:r>
              <a:rPr lang="zh-CN" altLang="en-US" sz="2400" dirty="0">
                <a:latin typeface="Tahoma" panose="020B0604030504040204" pitchFamily="34" charset="0"/>
                <a:ea typeface="华文中宋" panose="02010600040101010101" pitchFamily="2" charset="-122"/>
              </a:rPr>
              <a:t> </a:t>
            </a:r>
            <a:r>
              <a:rPr lang="zh-CN" altLang="en-US" sz="2400" dirty="0">
                <a:solidFill>
                  <a:srgbClr val="0000FF"/>
                </a:solidFill>
                <a:latin typeface="Tahoma" panose="020B0604030504040204" pitchFamily="34" charset="0"/>
                <a:ea typeface="华文中宋" panose="02010600040101010101" pitchFamily="2" charset="-122"/>
              </a:rPr>
              <a:t>设计机器成功的关键</a:t>
            </a:r>
            <a:r>
              <a:rPr lang="zh-CN" altLang="en-US" sz="2400" dirty="0">
                <a:latin typeface="Tahoma" panose="020B0604030504040204" pitchFamily="34" charset="0"/>
                <a:ea typeface="华文中宋" panose="02010600040101010101" pitchFamily="2" charset="-122"/>
              </a:rPr>
              <a:t>：</a:t>
            </a:r>
            <a:r>
              <a:rPr lang="zh-CN" altLang="zh-CN" sz="2400" dirty="0">
                <a:latin typeface="Tahoma" panose="020B0604030504040204" pitchFamily="34" charset="0"/>
                <a:ea typeface="华文中宋" panose="02010600040101010101" pitchFamily="2" charset="-122"/>
              </a:rPr>
              <a:t>首先就在于对组成执行机构的机构方案的选择和设计，其次才是原动、传动部分的选择、设计以及相关构件和零件的设计</a:t>
            </a:r>
            <a:r>
              <a:rPr lang="zh-CN" altLang="en-US" sz="2400" dirty="0">
                <a:latin typeface="Tahoma" panose="020B0604030504040204" pitchFamily="34" charset="0"/>
                <a:ea typeface="华文中宋" panose="02010600040101010101" pitchFamily="2" charset="-122"/>
              </a:rPr>
              <a:t>。</a:t>
            </a:r>
            <a:endParaRPr lang="zh-CN" altLang="en-US" sz="2400" dirty="0">
              <a:latin typeface="Tahoma" panose="020B0604030504040204" pitchFamily="34" charset="0"/>
              <a:ea typeface="华文中宋" panose="02010600040101010101" pitchFamily="2" charset="-122"/>
            </a:endParaRPr>
          </a:p>
        </p:txBody>
      </p:sp>
      <p:pic>
        <p:nvPicPr>
          <p:cNvPr id="15368" name="Picture 35" descr="back1">
            <a:hlinkClick r:id="" action="ppaction://hlinkshowjump?jump=previousslide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55025" y="6508750"/>
            <a:ext cx="287338" cy="28733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178" name="文本框 2"/>
          <p:cNvSpPr txBox="1"/>
          <p:nvPr/>
        </p:nvSpPr>
        <p:spPr>
          <a:xfrm>
            <a:off x="231775" y="1766888"/>
            <a:ext cx="8872538" cy="274955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eaLnBrk="0" hangingPunct="0">
              <a:lnSpc>
                <a:spcPct val="120000"/>
              </a:lnSpc>
            </a:pPr>
            <a:r>
              <a:rPr lang="zh-CN" altLang="en-US" sz="2000" dirty="0">
                <a:latin typeface="Tahoma" panose="020B0604030504040204" pitchFamily="34" charset="0"/>
                <a:ea typeface="华文中宋" panose="02010600040101010101" pitchFamily="2" charset="-122"/>
              </a:rPr>
              <a:t>     </a:t>
            </a: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</a:rPr>
              <a:t> </a:t>
            </a:r>
            <a:r>
              <a:rPr lang="zh-CN" altLang="en-US" sz="2400" dirty="0">
                <a:solidFill>
                  <a:srgbClr val="C00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动作型：</a:t>
            </a: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</a:rPr>
              <a:t>要求实现预期精度的动作，而对各构件的强度、刚度无特殊要求，如电影机、复印机等。</a:t>
            </a:r>
            <a:endParaRPr lang="en-US" altLang="zh-CN" sz="2400" dirty="0"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 eaLnBrk="0" hangingPunct="0">
              <a:lnSpc>
                <a:spcPct val="120000"/>
              </a:lnSpc>
            </a:pPr>
            <a:r>
              <a:rPr lang="en-US" altLang="zh-CN" sz="2400" dirty="0">
                <a:latin typeface="黑体" panose="02010609060101010101" pitchFamily="2" charset="-122"/>
                <a:ea typeface="黑体" panose="02010609060101010101" pitchFamily="2" charset="-122"/>
              </a:rPr>
              <a:t>    </a:t>
            </a:r>
            <a:r>
              <a:rPr lang="zh-CN" altLang="en-US" sz="2400" dirty="0">
                <a:solidFill>
                  <a:srgbClr val="C00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动力型：</a:t>
            </a: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</a:rPr>
              <a:t>要求</a:t>
            </a:r>
            <a:r>
              <a:rPr lang="zh-CN" altLang="zh-CN" sz="2400" dirty="0">
                <a:latin typeface="黑体" panose="02010609060101010101" pitchFamily="2" charset="-122"/>
                <a:ea typeface="黑体" panose="02010609060101010101" pitchFamily="2" charset="-122"/>
              </a:rPr>
              <a:t>各构件有足够的强度和刚度来承担或抵抗外载荷施加的力，而对运动精度无特殊要求，如皮带运输机、鹤式起重机。</a:t>
            </a:r>
            <a:endParaRPr lang="en-US" altLang="zh-CN" sz="2400" dirty="0"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 eaLnBrk="0" hangingPunct="0">
              <a:lnSpc>
                <a:spcPct val="120000"/>
              </a:lnSpc>
            </a:pP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</a:rPr>
              <a:t>    </a:t>
            </a:r>
            <a:r>
              <a:rPr lang="zh-CN" altLang="en-US" sz="2400" dirty="0">
                <a:solidFill>
                  <a:srgbClr val="C00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动作</a:t>
            </a:r>
            <a:r>
              <a:rPr lang="en-US" altLang="zh-CN" sz="2400" dirty="0">
                <a:solidFill>
                  <a:srgbClr val="C00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—</a:t>
            </a:r>
            <a:r>
              <a:rPr lang="zh-CN" altLang="en-US" sz="2400" dirty="0">
                <a:solidFill>
                  <a:srgbClr val="C00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动力型：</a:t>
            </a: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</a:rPr>
              <a:t>以上二者兼备，如加工中心、数控机床等。</a:t>
            </a:r>
            <a:endParaRPr lang="en-US" altLang="zh-CN" sz="2400" dirty="0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2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2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7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78" grpId="0"/>
      <p:bldP spid="2" grpId="0"/>
      <p:bldP spid="6" grpId="0"/>
      <p:bldP spid="717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7892" name="矩形 37891"/>
          <p:cNvSpPr/>
          <p:nvPr/>
        </p:nvSpPr>
        <p:spPr>
          <a:xfrm>
            <a:off x="133350" y="939800"/>
            <a:ext cx="8470900" cy="8921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marL="342900" indent="-34290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</a:pPr>
            <a:r>
              <a:rPr lang="zh-CN" altLang="en-US" sz="2800" b="1" dirty="0">
                <a:latin typeface="Arial" panose="020B0604020202020204" pitchFamily="34" charset="0"/>
                <a:ea typeface="宋体" panose="02010600030101010101" pitchFamily="2" charset="-122"/>
              </a:rPr>
              <a:t>       </a:t>
            </a: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</a:rPr>
              <a:t>动力系统包括动力机及其配套装置，是机械系统工作的动力源；</a:t>
            </a:r>
            <a:endParaRPr lang="zh-CN" altLang="en-US" sz="2400" dirty="0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37893" name="文本框 37892"/>
          <p:cNvSpPr txBox="1"/>
          <p:nvPr/>
        </p:nvSpPr>
        <p:spPr>
          <a:xfrm>
            <a:off x="1403350" y="1981200"/>
            <a:ext cx="2232025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marL="342900" indent="-342900" eaLnBrk="0" hangingPunct="0">
              <a:spcBef>
                <a:spcPct val="5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</a:pPr>
            <a:r>
              <a:rPr lang="zh-CN" altLang="en-US" sz="2400" b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一次动力机：</a:t>
            </a:r>
            <a:endParaRPr lang="zh-CN" altLang="en-US" sz="2400" b="1" dirty="0">
              <a:solidFill>
                <a:srgbClr val="FF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7894" name="文本框 37893"/>
          <p:cNvSpPr txBox="1"/>
          <p:nvPr/>
        </p:nvSpPr>
        <p:spPr>
          <a:xfrm>
            <a:off x="1330325" y="3205163"/>
            <a:ext cx="2374900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marL="342900" indent="-342900" eaLnBrk="0" hangingPunct="0">
              <a:spcBef>
                <a:spcPct val="5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</a:pPr>
            <a:r>
              <a:rPr lang="zh-CN" altLang="en-US" sz="2400" b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二次动力机：</a:t>
            </a:r>
            <a:endParaRPr lang="zh-CN" altLang="en-US" sz="2400" b="1" dirty="0">
              <a:solidFill>
                <a:srgbClr val="FF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7895" name="左大括号 37894"/>
          <p:cNvSpPr/>
          <p:nvPr/>
        </p:nvSpPr>
        <p:spPr>
          <a:xfrm>
            <a:off x="1187450" y="2197100"/>
            <a:ext cx="142875" cy="1152525"/>
          </a:xfrm>
          <a:prstGeom prst="leftBrace">
            <a:avLst>
              <a:gd name="adj1" fmla="val 66923"/>
              <a:gd name="adj2" fmla="val 50000"/>
            </a:avLst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 anchorCtr="0"/>
          <a:p>
            <a:pPr eaLnBrk="0" hangingPunct="0"/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7896" name="文本框 37895"/>
          <p:cNvSpPr txBox="1"/>
          <p:nvPr/>
        </p:nvSpPr>
        <p:spPr>
          <a:xfrm>
            <a:off x="3275013" y="1909763"/>
            <a:ext cx="5400675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marL="342900" indent="-342900" eaLnBrk="0" hangingPunct="0">
              <a:spcBef>
                <a:spcPct val="5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</a:pP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把自然界的能源转变为机械能的机械。</a:t>
            </a:r>
            <a:endParaRPr lang="zh-CN" altLang="en-US" sz="24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7897" name="文本框 37896"/>
          <p:cNvSpPr txBox="1"/>
          <p:nvPr/>
        </p:nvSpPr>
        <p:spPr>
          <a:xfrm>
            <a:off x="3203575" y="3282950"/>
            <a:ext cx="5256213" cy="82232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marL="342900" indent="-342900" eaLnBrk="0" hangingPunct="0">
              <a:spcBef>
                <a:spcPct val="5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</a:pP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把二次能源（如电能、液能、气能）转变为机械能的机械。</a:t>
            </a:r>
            <a:endParaRPr lang="zh-CN" altLang="en-US" sz="24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7898" name="文本框 37897"/>
          <p:cNvSpPr txBox="1"/>
          <p:nvPr/>
        </p:nvSpPr>
        <p:spPr>
          <a:xfrm>
            <a:off x="3346450" y="2484438"/>
            <a:ext cx="5113338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marL="342900" indent="-342900" eaLnBrk="0" hangingPunct="0">
              <a:spcBef>
                <a:spcPct val="5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</a:pPr>
            <a:r>
              <a:rPr lang="zh-CN" altLang="en-US" sz="2400" b="1" dirty="0">
                <a:solidFill>
                  <a:srgbClr val="1818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内燃机、汽轮机、燃气轮机</a:t>
            </a:r>
            <a:endParaRPr lang="zh-CN" altLang="en-US" sz="2400" b="1" dirty="0">
              <a:solidFill>
                <a:srgbClr val="1818FF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7899" name="文本框 37898"/>
          <p:cNvSpPr txBox="1"/>
          <p:nvPr/>
        </p:nvSpPr>
        <p:spPr>
          <a:xfrm>
            <a:off x="3419475" y="4105275"/>
            <a:ext cx="5040313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marL="342900" indent="-342900" eaLnBrk="0" hangingPunct="0">
              <a:spcBef>
                <a:spcPct val="5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</a:pPr>
            <a:r>
              <a:rPr lang="zh-CN" altLang="en-US" sz="2400" b="1" dirty="0">
                <a:solidFill>
                  <a:srgbClr val="1818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电动机、液压马达、气压马达</a:t>
            </a:r>
            <a:endParaRPr lang="zh-CN" altLang="en-US" sz="2400" b="1" dirty="0">
              <a:solidFill>
                <a:srgbClr val="1818FF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7900" name="文本框 37899"/>
          <p:cNvSpPr txBox="1"/>
          <p:nvPr/>
        </p:nvSpPr>
        <p:spPr>
          <a:xfrm>
            <a:off x="538163" y="2341563"/>
            <a:ext cx="549275" cy="1223962"/>
          </a:xfrm>
          <a:prstGeom prst="rect">
            <a:avLst/>
          </a:prstGeom>
          <a:noFill/>
          <a:ln w="9525">
            <a:noFill/>
          </a:ln>
        </p:spPr>
        <p:txBody>
          <a:bodyPr vert="eaVert" anchor="t" anchorCtr="0">
            <a:spAutoFit/>
          </a:bodyPr>
          <a:p>
            <a:pPr marL="342900" indent="-342900" eaLnBrk="0" hangingPunct="0">
              <a:spcBef>
                <a:spcPct val="5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</a:pP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动力机</a:t>
            </a:r>
            <a:endParaRPr lang="zh-CN" altLang="en-US" sz="24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6394" name="Rectangle 21"/>
          <p:cNvSpPr/>
          <p:nvPr/>
        </p:nvSpPr>
        <p:spPr>
          <a:xfrm>
            <a:off x="765175" y="0"/>
            <a:ext cx="3962400" cy="549275"/>
          </a:xfrm>
          <a:prstGeom prst="rect">
            <a:avLst/>
          </a:prstGeom>
          <a:noFill/>
          <a:ln w="9525">
            <a:noFill/>
          </a:ln>
        </p:spPr>
        <p:txBody>
          <a:bodyPr tIns="18000" anchor="ctr" anchorCtr="1"/>
          <a:p>
            <a:r>
              <a:rPr lang="zh-CN" altLang="en-US" sz="3000" dirty="0">
                <a:solidFill>
                  <a:schemeClr val="bg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机械系统的原动部分</a:t>
            </a:r>
            <a:endParaRPr lang="zh-CN" altLang="en-US" sz="3000" dirty="0">
              <a:solidFill>
                <a:schemeClr val="bg1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54000" y="4743450"/>
            <a:ext cx="7700963" cy="16160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eaLnBrk="0" hangingPunct="0">
              <a:lnSpc>
                <a:spcPct val="150000"/>
              </a:lnSpc>
            </a:pPr>
            <a:r>
              <a:rPr lang="en-US" altLang="zh-CN" dirty="0">
                <a:latin typeface="Tahoma" panose="020B0604030504040204" pitchFamily="34" charset="0"/>
                <a:ea typeface="华文中宋" panose="02010600040101010101" pitchFamily="2" charset="-122"/>
              </a:rPr>
              <a:t>  </a:t>
            </a:r>
            <a:r>
              <a:rPr lang="zh-CN" altLang="zh-CN" dirty="0">
                <a:solidFill>
                  <a:srgbClr val="0000FF"/>
                </a:solidFill>
                <a:latin typeface="Tahoma" panose="020B0604030504040204" pitchFamily="34" charset="0"/>
                <a:ea typeface="华文中宋" panose="02010600040101010101" pitchFamily="2" charset="-122"/>
              </a:rPr>
              <a:t>动力系统的动力输出</a:t>
            </a:r>
            <a:r>
              <a:rPr lang="zh-CN" altLang="en-US" dirty="0">
                <a:solidFill>
                  <a:srgbClr val="0000FF"/>
                </a:solidFill>
                <a:latin typeface="Tahoma" panose="020B0604030504040204" pitchFamily="34" charset="0"/>
                <a:ea typeface="华文中宋" panose="02010600040101010101" pitchFamily="2" charset="-122"/>
              </a:rPr>
              <a:t>形式：</a:t>
            </a:r>
            <a:endParaRPr lang="en-US" altLang="zh-CN" dirty="0">
              <a:solidFill>
                <a:srgbClr val="0000FF"/>
              </a:solidFill>
              <a:latin typeface="Tahoma" panose="020B0604030504040204" pitchFamily="34" charset="0"/>
              <a:ea typeface="华文中宋" panose="02010600040101010101" pitchFamily="2" charset="-122"/>
            </a:endParaRPr>
          </a:p>
          <a:p>
            <a:pPr eaLnBrk="0" hangingPunct="0">
              <a:lnSpc>
                <a:spcPct val="150000"/>
              </a:lnSpc>
            </a:pPr>
            <a:r>
              <a:rPr lang="en-US" altLang="zh-CN" dirty="0">
                <a:latin typeface="Tahoma" panose="020B0604030504040204" pitchFamily="34" charset="0"/>
                <a:ea typeface="华文中宋" panose="02010600040101010101" pitchFamily="2" charset="-122"/>
              </a:rPr>
              <a:t>     </a:t>
            </a:r>
            <a:r>
              <a:rPr lang="zh-CN" altLang="zh-CN" dirty="0">
                <a:latin typeface="Tahoma" panose="020B0604030504040204" pitchFamily="34" charset="0"/>
                <a:ea typeface="华文中宋" panose="02010600040101010101" pitchFamily="2" charset="-122"/>
              </a:rPr>
              <a:t>多以旋转形式呈现并提供一定的转矩。少数情况下</a:t>
            </a:r>
            <a:r>
              <a:rPr lang="zh-CN" altLang="en-US" dirty="0">
                <a:latin typeface="Tahoma" panose="020B0604030504040204" pitchFamily="34" charset="0"/>
                <a:ea typeface="华文中宋" panose="02010600040101010101" pitchFamily="2" charset="-122"/>
              </a:rPr>
              <a:t>动力输出</a:t>
            </a:r>
            <a:r>
              <a:rPr lang="zh-CN" altLang="zh-CN" dirty="0">
                <a:latin typeface="Tahoma" panose="020B0604030504040204" pitchFamily="34" charset="0"/>
                <a:ea typeface="华文中宋" panose="02010600040101010101" pitchFamily="2" charset="-122"/>
              </a:rPr>
              <a:t>也有直线运动</a:t>
            </a:r>
            <a:r>
              <a:rPr lang="zh-CN" altLang="en-US" dirty="0">
                <a:latin typeface="Tahoma" panose="020B0604030504040204" pitchFamily="34" charset="0"/>
                <a:ea typeface="华文中宋" panose="02010600040101010101" pitchFamily="2" charset="-122"/>
              </a:rPr>
              <a:t>形式</a:t>
            </a:r>
            <a:r>
              <a:rPr lang="zh-CN" altLang="zh-CN" dirty="0">
                <a:latin typeface="Tahoma" panose="020B0604030504040204" pitchFamily="34" charset="0"/>
                <a:ea typeface="华文中宋" panose="02010600040101010101" pitchFamily="2" charset="-122"/>
              </a:rPr>
              <a:t>的。</a:t>
            </a:r>
            <a:endParaRPr lang="zh-CN" altLang="en-US">
              <a:latin typeface="Tahoma" panose="020B0604030504040204" pitchFamily="34" charset="0"/>
              <a:ea typeface="华文中宋" panose="020106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2">
                                            <p:txEl>
                                              <p:charRg st="7" end="3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7892">
                                            <p:txEl>
                                              <p:charRg st="7" end="3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79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789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789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78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3">
                                            <p:txEl>
                                              <p:charRg st="0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37893">
                                            <p:txEl>
                                              <p:charRg st="0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4">
                                            <p:txEl>
                                              <p:charRg st="0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37894">
                                            <p:txEl>
                                              <p:charRg st="0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6">
                                            <p:txEl>
                                              <p:charRg st="0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37896">
                                            <p:txEl>
                                              <p:charRg st="0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39" dur="500"/>
                                        <p:tgtEl>
                                          <p:spTgt spid="378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378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49" dur="500"/>
                                        <p:tgtEl>
                                          <p:spTgt spid="378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charRg st="0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4" dur="500"/>
                                        <p:tgtEl>
                                          <p:spTgt spid="2">
                                            <p:txEl>
                                              <p:charRg st="0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charRg st="15" end="5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2">
                                            <p:txEl>
                                              <p:charRg st="15" end="5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897" grpId="0"/>
      <p:bldP spid="37898" grpId="0"/>
      <p:bldP spid="37899" grpId="0"/>
      <p:bldP spid="3790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409" name="Rectangle 20"/>
          <p:cNvSpPr>
            <a:spLocks noGrp="1"/>
          </p:cNvSpPr>
          <p:nvPr>
            <p:ph type="title"/>
          </p:nvPr>
        </p:nvSpPr>
        <p:spPr>
          <a:xfrm>
            <a:off x="5410200" y="685800"/>
            <a:ext cx="1752600" cy="228600"/>
          </a:xfrm>
          <a:noFill/>
          <a:ln>
            <a:noFill/>
          </a:ln>
        </p:spPr>
        <p:txBody>
          <a:bodyPr anchor="t" anchorCtr="0"/>
          <a:p>
            <a:pPr eaLnBrk="1" hangingPunct="1"/>
            <a:r>
              <a:rPr lang="zh-CN" altLang="en-US" sz="800" dirty="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材料疲劳的两种类别</a:t>
            </a:r>
            <a:endParaRPr lang="zh-CN" altLang="en-US" dirty="0"/>
          </a:p>
        </p:txBody>
      </p:sp>
      <p:sp>
        <p:nvSpPr>
          <p:cNvPr id="17410" name="Rectangle 21"/>
          <p:cNvSpPr/>
          <p:nvPr/>
        </p:nvSpPr>
        <p:spPr>
          <a:xfrm>
            <a:off x="760413" y="47625"/>
            <a:ext cx="3962400" cy="549275"/>
          </a:xfrm>
          <a:prstGeom prst="rect">
            <a:avLst/>
          </a:prstGeom>
          <a:noFill/>
          <a:ln w="9525">
            <a:noFill/>
          </a:ln>
        </p:spPr>
        <p:txBody>
          <a:bodyPr tIns="18000" anchor="ctr" anchorCtr="1"/>
          <a:p>
            <a:r>
              <a:rPr lang="zh-CN" altLang="en-US" sz="3000" dirty="0">
                <a:solidFill>
                  <a:schemeClr val="bg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机械系统的传动部分</a:t>
            </a:r>
            <a:endParaRPr lang="zh-CN" altLang="en-US" sz="3000" dirty="0">
              <a:solidFill>
                <a:schemeClr val="bg1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pic>
        <p:nvPicPr>
          <p:cNvPr id="17411" name="Picture 28" descr="rewind1">
            <a:hlinkClick r:id="rId1" action="ppaction://hlinksldjump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7038" y="6510338"/>
            <a:ext cx="287337" cy="28733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7412" name="Picture 30" descr="NEXT1">
            <a:hlinkClick r:id="" action="ppaction://hlinkshowjump?jump=nextslide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16975" y="6508750"/>
            <a:ext cx="287338" cy="28733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9278" name="Text Box 62"/>
          <p:cNvSpPr txBox="1"/>
          <p:nvPr/>
        </p:nvSpPr>
        <p:spPr>
          <a:xfrm>
            <a:off x="6081713" y="6157913"/>
            <a:ext cx="268287" cy="427037"/>
          </a:xfrm>
          <a:prstGeom prst="rect">
            <a:avLst/>
          </a:prstGeom>
          <a:noFill/>
          <a:ln w="9525">
            <a:noFill/>
          </a:ln>
        </p:spPr>
        <p:txBody>
          <a:bodyPr wrap="none" lIns="90000" tIns="46800" rIns="90000" bIns="46800" anchor="t" anchorCtr="0">
            <a:spAutoFit/>
          </a:bodyPr>
          <a:p>
            <a:r>
              <a:rPr lang="en-US" altLang="zh-CN" dirty="0">
                <a:latin typeface="Tahoma" panose="020B0604030504040204" pitchFamily="34" charset="0"/>
                <a:ea typeface="华文中宋" panose="02010600040101010101" pitchFamily="2" charset="-122"/>
              </a:rPr>
              <a:t> </a:t>
            </a:r>
            <a:endParaRPr lang="en-US" altLang="zh-CN" dirty="0">
              <a:latin typeface="Tahoma" panose="020B0604030504040204" pitchFamily="34" charset="0"/>
              <a:ea typeface="华文中宋" panose="02010600040101010101" pitchFamily="2" charset="-122"/>
            </a:endParaRPr>
          </a:p>
        </p:txBody>
      </p:sp>
      <p:pic>
        <p:nvPicPr>
          <p:cNvPr id="17414" name="Picture 35" descr="back1">
            <a:hlinkClick r:id="" action="ppaction://hlinkshowjump?jump=previousslide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55025" y="6508750"/>
            <a:ext cx="287338" cy="28733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1363" y="2009775"/>
            <a:ext cx="7920037" cy="178911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文本框 3"/>
          <p:cNvSpPr txBox="1"/>
          <p:nvPr/>
        </p:nvSpPr>
        <p:spPr>
          <a:xfrm>
            <a:off x="660400" y="852488"/>
            <a:ext cx="8081963" cy="10160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eaLnBrk="0" hangingPunct="0">
              <a:lnSpc>
                <a:spcPct val="150000"/>
              </a:lnSpc>
            </a:pPr>
            <a:r>
              <a:rPr lang="en-US" altLang="zh-CN" sz="2000" b="1" dirty="0">
                <a:latin typeface="Tahoma" panose="020B0604030504040204" pitchFamily="34" charset="0"/>
                <a:ea typeface="华文中宋" panose="02010600040101010101" pitchFamily="2" charset="-122"/>
              </a:rPr>
              <a:t>       </a:t>
            </a:r>
            <a:r>
              <a:rPr lang="zh-CN" altLang="zh-CN" sz="2000" b="1" dirty="0">
                <a:solidFill>
                  <a:srgbClr val="FF0000"/>
                </a:solidFill>
                <a:latin typeface="Tahoma" panose="020B0604030504040204" pitchFamily="34" charset="0"/>
                <a:ea typeface="华文中宋" panose="02010600040101010101" pitchFamily="2" charset="-122"/>
              </a:rPr>
              <a:t>传动部分</a:t>
            </a:r>
            <a:r>
              <a:rPr lang="zh-CN" altLang="zh-CN" sz="2000" dirty="0">
                <a:latin typeface="Tahoma" panose="020B0604030504040204" pitchFamily="34" charset="0"/>
                <a:ea typeface="华文中宋" panose="02010600040101010101" pitchFamily="2" charset="-122"/>
              </a:rPr>
              <a:t>是连接原动和执行两个部分的桥梁，其和原动机、工作机连接组成机器（或机组）的形式分如下三种</a:t>
            </a:r>
            <a:r>
              <a:rPr lang="zh-CN" altLang="en-US" sz="2000" dirty="0">
                <a:latin typeface="Tahoma" panose="020B0604030504040204" pitchFamily="34" charset="0"/>
                <a:ea typeface="华文中宋" panose="02010600040101010101" pitchFamily="2" charset="-122"/>
              </a:rPr>
              <a:t>：</a:t>
            </a:r>
            <a:endParaRPr lang="zh-CN" altLang="en-US" sz="2000" dirty="0">
              <a:solidFill>
                <a:srgbClr val="333399"/>
              </a:solidFill>
              <a:latin typeface="Tahoma" panose="020B0604030504040204" pitchFamily="34" charset="0"/>
              <a:ea typeface="华文中宋" panose="02010600040101010101" pitchFamily="2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971550" y="3930650"/>
            <a:ext cx="1728788" cy="3079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eaLnBrk="0" hangingPunct="0"/>
            <a:r>
              <a:rPr lang="zh-CN" altLang="en-US" sz="1400" dirty="0">
                <a:latin typeface="Tahoma" panose="020B0604030504040204" pitchFamily="34" charset="0"/>
                <a:ea typeface="华文中宋" panose="02010600040101010101" pitchFamily="2" charset="-122"/>
              </a:rPr>
              <a:t>（</a:t>
            </a:r>
            <a:r>
              <a:rPr lang="en-US" altLang="zh-CN" sz="1400" dirty="0">
                <a:latin typeface="Tahoma" panose="020B0604030504040204" pitchFamily="34" charset="0"/>
                <a:ea typeface="华文中宋" panose="02010600040101010101" pitchFamily="2" charset="-122"/>
              </a:rPr>
              <a:t>a</a:t>
            </a:r>
            <a:r>
              <a:rPr lang="zh-CN" altLang="en-US" sz="1400" dirty="0">
                <a:latin typeface="Tahoma" panose="020B0604030504040204" pitchFamily="34" charset="0"/>
                <a:ea typeface="华文中宋" panose="02010600040101010101" pitchFamily="2" charset="-122"/>
              </a:rPr>
              <a:t>）</a:t>
            </a:r>
            <a:r>
              <a:rPr lang="zh-CN" altLang="en-US" sz="1400" dirty="0">
                <a:solidFill>
                  <a:srgbClr val="FF0000"/>
                </a:solidFill>
                <a:latin typeface="Tahoma" panose="020B0604030504040204" pitchFamily="34" charset="0"/>
                <a:ea typeface="华文中宋" panose="02010600040101010101" pitchFamily="2" charset="-122"/>
              </a:rPr>
              <a:t>单流传动</a:t>
            </a:r>
            <a:endParaRPr lang="zh-CN" altLang="en-US" sz="1400" dirty="0">
              <a:solidFill>
                <a:srgbClr val="FF0000"/>
              </a:solidFill>
              <a:latin typeface="Tahoma" panose="020B0604030504040204" pitchFamily="34" charset="0"/>
              <a:ea typeface="华文中宋" panose="02010600040101010101" pitchFamily="2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4140200" y="3932238"/>
            <a:ext cx="1727200" cy="3079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eaLnBrk="0" hangingPunct="0"/>
            <a:r>
              <a:rPr lang="zh-CN" altLang="en-US" sz="1400" dirty="0">
                <a:latin typeface="Tahoma" panose="020B0604030504040204" pitchFamily="34" charset="0"/>
                <a:ea typeface="华文中宋" panose="02010600040101010101" pitchFamily="2" charset="-122"/>
              </a:rPr>
              <a:t>（</a:t>
            </a:r>
            <a:r>
              <a:rPr lang="en-US" altLang="zh-CN" sz="1400" dirty="0">
                <a:latin typeface="Tahoma" panose="020B0604030504040204" pitchFamily="34" charset="0"/>
                <a:ea typeface="华文中宋" panose="02010600040101010101" pitchFamily="2" charset="-122"/>
              </a:rPr>
              <a:t>b</a:t>
            </a:r>
            <a:r>
              <a:rPr lang="zh-CN" altLang="en-US" sz="1400" dirty="0">
                <a:latin typeface="Tahoma" panose="020B0604030504040204" pitchFamily="34" charset="0"/>
                <a:ea typeface="华文中宋" panose="02010600040101010101" pitchFamily="2" charset="-122"/>
              </a:rPr>
              <a:t>）</a:t>
            </a:r>
            <a:r>
              <a:rPr lang="zh-CN" altLang="en-US" sz="1400" dirty="0">
                <a:solidFill>
                  <a:srgbClr val="FF0000"/>
                </a:solidFill>
                <a:latin typeface="Tahoma" panose="020B0604030504040204" pitchFamily="34" charset="0"/>
                <a:ea typeface="华文中宋" panose="02010600040101010101" pitchFamily="2" charset="-122"/>
              </a:rPr>
              <a:t>分流传动</a:t>
            </a:r>
            <a:endParaRPr lang="zh-CN" altLang="en-US" sz="1400" dirty="0">
              <a:solidFill>
                <a:srgbClr val="FF0000"/>
              </a:solidFill>
              <a:latin typeface="Tahoma" panose="020B0604030504040204" pitchFamily="34" charset="0"/>
              <a:ea typeface="华文中宋" panose="02010600040101010101" pitchFamily="2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6477000" y="3930650"/>
            <a:ext cx="1728788" cy="3079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eaLnBrk="0" hangingPunct="0"/>
            <a:r>
              <a:rPr lang="zh-CN" altLang="en-US" sz="1400" dirty="0">
                <a:latin typeface="Tahoma" panose="020B0604030504040204" pitchFamily="34" charset="0"/>
                <a:ea typeface="华文中宋" panose="02010600040101010101" pitchFamily="2" charset="-122"/>
              </a:rPr>
              <a:t>（</a:t>
            </a:r>
            <a:r>
              <a:rPr lang="en-US" altLang="zh-CN" sz="1400" dirty="0">
                <a:latin typeface="Tahoma" panose="020B0604030504040204" pitchFamily="34" charset="0"/>
                <a:ea typeface="华文中宋" panose="02010600040101010101" pitchFamily="2" charset="-122"/>
              </a:rPr>
              <a:t>c</a:t>
            </a:r>
            <a:r>
              <a:rPr lang="zh-CN" altLang="en-US" sz="1400" dirty="0">
                <a:latin typeface="Tahoma" panose="020B0604030504040204" pitchFamily="34" charset="0"/>
                <a:ea typeface="华文中宋" panose="02010600040101010101" pitchFamily="2" charset="-122"/>
              </a:rPr>
              <a:t>）</a:t>
            </a:r>
            <a:r>
              <a:rPr lang="zh-CN" altLang="en-US" sz="1400" dirty="0">
                <a:solidFill>
                  <a:srgbClr val="FF0000"/>
                </a:solidFill>
                <a:latin typeface="Tahoma" panose="020B0604030504040204" pitchFamily="34" charset="0"/>
                <a:ea typeface="华文中宋" panose="02010600040101010101" pitchFamily="2" charset="-122"/>
              </a:rPr>
              <a:t>汇流传动</a:t>
            </a:r>
            <a:endParaRPr lang="zh-CN" altLang="en-US" sz="1400" dirty="0">
              <a:solidFill>
                <a:srgbClr val="FF0000"/>
              </a:solidFill>
              <a:latin typeface="Tahoma" panose="020B0604030504040204" pitchFamily="34" charset="0"/>
              <a:ea typeface="华文中宋" panose="02010600040101010101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96900" y="4240213"/>
            <a:ext cx="8064500" cy="1985962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eaLnBrk="0" hangingPunct="0">
              <a:lnSpc>
                <a:spcPct val="150000"/>
              </a:lnSpc>
            </a:pPr>
            <a:r>
              <a:rPr lang="en-US" altLang="zh-CN" dirty="0">
                <a:latin typeface="Tahoma" panose="020B0604030504040204" pitchFamily="34" charset="0"/>
                <a:ea typeface="华文中宋" panose="02010600040101010101" pitchFamily="2" charset="-122"/>
              </a:rPr>
              <a:t>      </a:t>
            </a:r>
            <a:r>
              <a:rPr lang="zh-CN" altLang="zh-CN" sz="2000" dirty="0">
                <a:latin typeface="Tahoma" panose="020B0604030504040204" pitchFamily="34" charset="0"/>
                <a:ea typeface="华文中宋" panose="02010600040101010101" pitchFamily="2" charset="-122"/>
              </a:rPr>
              <a:t>传动部分是将原动机输出的有限、且确定的运动形式、运动和动力参数转变成执行部分所需的运动形式、运动和动力参数的必要部分</a:t>
            </a:r>
            <a:r>
              <a:rPr lang="zh-CN" altLang="en-US" sz="2000" dirty="0">
                <a:latin typeface="Tahoma" panose="020B0604030504040204" pitchFamily="34" charset="0"/>
                <a:ea typeface="华文中宋" panose="02010600040101010101" pitchFamily="2" charset="-122"/>
              </a:rPr>
              <a:t>。</a:t>
            </a:r>
            <a:r>
              <a:rPr lang="zh-CN" altLang="zh-CN" sz="2000" dirty="0">
                <a:latin typeface="Tahoma" panose="020B0604030504040204" pitchFamily="34" charset="0"/>
                <a:ea typeface="华文中宋" panose="02010600040101010101" pitchFamily="2" charset="-122"/>
              </a:rPr>
              <a:t>例如把电机输出的高转速、小转矩通过传动装置转变成执行部分运动需要的低转速、大转矩</a:t>
            </a:r>
            <a:r>
              <a:rPr lang="zh-CN" altLang="en-US" sz="2000" dirty="0">
                <a:latin typeface="Tahoma" panose="020B0604030504040204" pitchFamily="34" charset="0"/>
                <a:ea typeface="华文中宋" panose="02010600040101010101" pitchFamily="2" charset="-122"/>
              </a:rPr>
              <a:t>。</a:t>
            </a:r>
            <a:endParaRPr lang="zh-CN" altLang="en-US" sz="2000" dirty="0">
              <a:latin typeface="Tahoma" panose="020B0604030504040204" pitchFamily="34" charset="0"/>
              <a:ea typeface="华文中宋" panose="02010600040101010101" pitchFamily="2" charset="-122"/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2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2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78" grpId="0"/>
      <p:bldP spid="4" grpId="0"/>
      <p:bldP spid="5" grpId="0"/>
      <p:bldP spid="14" grpId="0"/>
      <p:bldP spid="15" grpId="0"/>
      <p:bldP spid="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433" name="Rectangle 20"/>
          <p:cNvSpPr>
            <a:spLocks noGrp="1"/>
          </p:cNvSpPr>
          <p:nvPr>
            <p:ph type="title"/>
          </p:nvPr>
        </p:nvSpPr>
        <p:spPr>
          <a:xfrm>
            <a:off x="5410200" y="685800"/>
            <a:ext cx="1752600" cy="228600"/>
          </a:xfrm>
          <a:noFill/>
          <a:ln>
            <a:noFill/>
          </a:ln>
        </p:spPr>
        <p:txBody>
          <a:bodyPr anchor="t" anchorCtr="0"/>
          <a:p>
            <a:pPr eaLnBrk="1" hangingPunct="1"/>
            <a:r>
              <a:rPr lang="zh-CN" altLang="en-US" sz="800" dirty="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材料疲劳的两种类别</a:t>
            </a:r>
            <a:endParaRPr lang="zh-CN" altLang="en-US" dirty="0"/>
          </a:p>
        </p:txBody>
      </p:sp>
      <p:sp>
        <p:nvSpPr>
          <p:cNvPr id="18434" name="Rectangle 21"/>
          <p:cNvSpPr/>
          <p:nvPr/>
        </p:nvSpPr>
        <p:spPr>
          <a:xfrm>
            <a:off x="836613" y="74613"/>
            <a:ext cx="3962400" cy="549275"/>
          </a:xfrm>
          <a:prstGeom prst="rect">
            <a:avLst/>
          </a:prstGeom>
          <a:noFill/>
          <a:ln w="9525">
            <a:noFill/>
          </a:ln>
        </p:spPr>
        <p:txBody>
          <a:bodyPr tIns="18000" anchor="ctr" anchorCtr="1"/>
          <a:p>
            <a:r>
              <a:rPr lang="zh-CN" altLang="en-US" sz="3000" dirty="0">
                <a:solidFill>
                  <a:schemeClr val="bg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机械系统的传动部分</a:t>
            </a:r>
            <a:endParaRPr lang="zh-CN" altLang="en-US" sz="3000" dirty="0">
              <a:solidFill>
                <a:schemeClr val="bg1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pic>
        <p:nvPicPr>
          <p:cNvPr id="18435" name="Picture 28" descr="rewind1">
            <a:hlinkClick r:id="rId1" action="ppaction://hlinksldjump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7038" y="6510338"/>
            <a:ext cx="287337" cy="28733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8436" name="Picture 30" descr="NEXT1">
            <a:hlinkClick r:id="" action="ppaction://hlinkshowjump?jump=nextslide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16975" y="6508750"/>
            <a:ext cx="287338" cy="28733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9278" name="Text Box 62"/>
          <p:cNvSpPr txBox="1"/>
          <p:nvPr/>
        </p:nvSpPr>
        <p:spPr>
          <a:xfrm>
            <a:off x="6081713" y="6157913"/>
            <a:ext cx="268287" cy="427037"/>
          </a:xfrm>
          <a:prstGeom prst="rect">
            <a:avLst/>
          </a:prstGeom>
          <a:noFill/>
          <a:ln w="9525">
            <a:noFill/>
          </a:ln>
        </p:spPr>
        <p:txBody>
          <a:bodyPr wrap="none" lIns="90000" tIns="46800" rIns="90000" bIns="46800" anchor="t" anchorCtr="0">
            <a:spAutoFit/>
          </a:bodyPr>
          <a:p>
            <a:r>
              <a:rPr lang="en-US" altLang="zh-CN" dirty="0">
                <a:latin typeface="Tahoma" panose="020B0604030504040204" pitchFamily="34" charset="0"/>
                <a:ea typeface="华文中宋" panose="02010600040101010101" pitchFamily="2" charset="-122"/>
              </a:rPr>
              <a:t> </a:t>
            </a:r>
            <a:endParaRPr lang="en-US" altLang="zh-CN" dirty="0">
              <a:latin typeface="Tahoma" panose="020B0604030504040204" pitchFamily="34" charset="0"/>
              <a:ea typeface="华文中宋" panose="02010600040101010101" pitchFamily="2" charset="-122"/>
            </a:endParaRPr>
          </a:p>
        </p:txBody>
      </p:sp>
      <p:pic>
        <p:nvPicPr>
          <p:cNvPr id="18438" name="Picture 35" descr="back1">
            <a:hlinkClick r:id="" action="ppaction://hlinkshowjump?jump=previousslide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55025" y="6508750"/>
            <a:ext cx="287338" cy="28733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文本框 3"/>
          <p:cNvSpPr txBox="1"/>
          <p:nvPr/>
        </p:nvSpPr>
        <p:spPr>
          <a:xfrm>
            <a:off x="401638" y="1100138"/>
            <a:ext cx="3756025" cy="1938337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eaLnBrk="0" hangingPunct="0">
              <a:lnSpc>
                <a:spcPct val="150000"/>
              </a:lnSpc>
            </a:pPr>
            <a:r>
              <a:rPr lang="en-US" altLang="zh-CN" sz="2000" b="1" dirty="0">
                <a:latin typeface="Tahoma" panose="020B0604030504040204" pitchFamily="34" charset="0"/>
                <a:ea typeface="华文中宋" panose="02010600040101010101" pitchFamily="2" charset="-122"/>
              </a:rPr>
              <a:t>       </a:t>
            </a:r>
            <a:r>
              <a:rPr lang="zh-CN" altLang="zh-CN" sz="2000" b="1" dirty="0">
                <a:solidFill>
                  <a:srgbClr val="FF0000"/>
                </a:solidFill>
                <a:latin typeface="Tahoma" panose="020B0604030504040204" pitchFamily="34" charset="0"/>
                <a:ea typeface="华文中宋" panose="02010600040101010101" pitchFamily="2" charset="-122"/>
              </a:rPr>
              <a:t>传动</a:t>
            </a:r>
            <a:r>
              <a:rPr lang="zh-CN" altLang="en-US" sz="2000" b="1" dirty="0">
                <a:solidFill>
                  <a:srgbClr val="FF0000"/>
                </a:solidFill>
                <a:latin typeface="Tahoma" panose="020B0604030504040204" pitchFamily="34" charset="0"/>
                <a:ea typeface="华文中宋" panose="02010600040101010101" pitchFamily="2" charset="-122"/>
              </a:rPr>
              <a:t>装置</a:t>
            </a:r>
            <a:r>
              <a:rPr lang="zh-CN" altLang="zh-CN" sz="2000" dirty="0">
                <a:latin typeface="Tahoma" panose="020B0604030504040204" pitchFamily="34" charset="0"/>
                <a:ea typeface="华文中宋" panose="02010600040101010101" pitchFamily="2" charset="-122"/>
              </a:rPr>
              <a:t>按其工作原理可分为机械传动、液压传动、气压传动和电力传动四类。本章只介绍机械传动。</a:t>
            </a:r>
            <a:endParaRPr lang="zh-CN" altLang="en-US" sz="2000" dirty="0">
              <a:solidFill>
                <a:srgbClr val="333399"/>
              </a:solidFill>
              <a:latin typeface="Tahoma" panose="020B0604030504040204" pitchFamily="34" charset="0"/>
              <a:ea typeface="华文中宋" panose="02010600040101010101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836613" y="3678238"/>
            <a:ext cx="3095625" cy="40005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eaLnBrk="0" hangingPunct="0"/>
            <a:r>
              <a:rPr lang="zh-CN" altLang="zh-CN" sz="2000" dirty="0">
                <a:latin typeface="Tahoma" panose="020B0604030504040204" pitchFamily="34" charset="0"/>
                <a:ea typeface="华文中宋" panose="02010600040101010101" pitchFamily="2" charset="-122"/>
              </a:rPr>
              <a:t>机械传动的常用类型</a:t>
            </a:r>
            <a:r>
              <a:rPr lang="zh-CN" altLang="en-US" sz="2000" dirty="0">
                <a:latin typeface="Tahoma" panose="020B0604030504040204" pitchFamily="34" charset="0"/>
                <a:ea typeface="华文中宋" panose="02010600040101010101" pitchFamily="2" charset="-122"/>
              </a:rPr>
              <a:t>：</a:t>
            </a:r>
            <a:endParaRPr lang="zh-CN" altLang="en-US" sz="2000" dirty="0">
              <a:latin typeface="Tahoma" panose="020B0604030504040204" pitchFamily="34" charset="0"/>
              <a:ea typeface="华文中宋" panose="02010600040101010101" pitchFamily="2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57663" y="800100"/>
            <a:ext cx="4659312" cy="5532438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2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2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78" grpId="0"/>
      <p:bldP spid="4" grpId="0"/>
      <p:bldP spid="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/>
      <p:sp>
        <p:nvSpPr>
          <p:cNvPr id="19457" name="Rectangle 20"/>
          <p:cNvSpPr>
            <a:spLocks noGrp="1"/>
          </p:cNvSpPr>
          <p:nvPr>
            <p:ph type="title"/>
          </p:nvPr>
        </p:nvSpPr>
        <p:spPr>
          <a:xfrm>
            <a:off x="5410200" y="685800"/>
            <a:ext cx="1752600" cy="228600"/>
          </a:xfrm>
          <a:noFill/>
          <a:ln>
            <a:noFill/>
          </a:ln>
        </p:spPr>
        <p:txBody>
          <a:bodyPr anchor="t" anchorCtr="0"/>
          <a:p>
            <a:pPr eaLnBrk="1" hangingPunct="1"/>
            <a:r>
              <a:rPr lang="zh-CN" altLang="en-US" sz="800" dirty="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材料疲劳的两种类别</a:t>
            </a:r>
            <a:endParaRPr lang="zh-CN" altLang="en-US" dirty="0"/>
          </a:p>
        </p:txBody>
      </p:sp>
      <p:sp>
        <p:nvSpPr>
          <p:cNvPr id="19458" name="Rectangle 21"/>
          <p:cNvSpPr/>
          <p:nvPr/>
        </p:nvSpPr>
        <p:spPr>
          <a:xfrm>
            <a:off x="868363" y="39688"/>
            <a:ext cx="3962400" cy="549275"/>
          </a:xfrm>
          <a:prstGeom prst="rect">
            <a:avLst/>
          </a:prstGeom>
          <a:noFill/>
          <a:ln w="9525">
            <a:noFill/>
          </a:ln>
        </p:spPr>
        <p:txBody>
          <a:bodyPr tIns="18000" anchor="ctr" anchorCtr="1"/>
          <a:p>
            <a:r>
              <a:rPr lang="zh-CN" altLang="en-US" sz="3000" dirty="0">
                <a:solidFill>
                  <a:schemeClr val="bg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机械系统的传动部分</a:t>
            </a:r>
            <a:endParaRPr lang="zh-CN" altLang="en-US" sz="3000" dirty="0">
              <a:solidFill>
                <a:schemeClr val="bg1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pic>
        <p:nvPicPr>
          <p:cNvPr id="19459" name="Picture 28" descr="rewind1">
            <a:hlinkClick r:id="rId1" action="ppaction://hlinksldjump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7038" y="6510338"/>
            <a:ext cx="287337" cy="28733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9460" name="Picture 30" descr="NEXT1">
            <a:hlinkClick r:id="" action="ppaction://hlinkshowjump?jump=nextslide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16975" y="6508750"/>
            <a:ext cx="287338" cy="28733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9278" name="Text Box 62"/>
          <p:cNvSpPr txBox="1"/>
          <p:nvPr/>
        </p:nvSpPr>
        <p:spPr>
          <a:xfrm>
            <a:off x="6081713" y="6157913"/>
            <a:ext cx="268287" cy="427037"/>
          </a:xfrm>
          <a:prstGeom prst="rect">
            <a:avLst/>
          </a:prstGeom>
          <a:noFill/>
          <a:ln w="9525">
            <a:noFill/>
          </a:ln>
        </p:spPr>
        <p:txBody>
          <a:bodyPr wrap="none" lIns="90000" tIns="46800" rIns="90000" bIns="46800" anchor="t" anchorCtr="0">
            <a:spAutoFit/>
          </a:bodyPr>
          <a:p>
            <a:r>
              <a:rPr lang="en-US" altLang="zh-CN" dirty="0">
                <a:latin typeface="Tahoma" panose="020B0604030504040204" pitchFamily="34" charset="0"/>
                <a:ea typeface="华文中宋" panose="02010600040101010101" pitchFamily="2" charset="-122"/>
              </a:rPr>
              <a:t> </a:t>
            </a:r>
            <a:endParaRPr lang="en-US" altLang="zh-CN" dirty="0">
              <a:latin typeface="Tahoma" panose="020B0604030504040204" pitchFamily="34" charset="0"/>
              <a:ea typeface="华文中宋" panose="02010600040101010101" pitchFamily="2" charset="-122"/>
            </a:endParaRPr>
          </a:p>
        </p:txBody>
      </p:sp>
      <p:pic>
        <p:nvPicPr>
          <p:cNvPr id="19462" name="Picture 35" descr="back1">
            <a:hlinkClick r:id="" action="ppaction://hlinkshowjump?jump=previousslide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55025" y="6508750"/>
            <a:ext cx="287338" cy="28733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9463" name="文本框 2"/>
          <p:cNvSpPr txBox="1"/>
          <p:nvPr/>
        </p:nvSpPr>
        <p:spPr>
          <a:xfrm>
            <a:off x="868363" y="809625"/>
            <a:ext cx="6872287" cy="40005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eaLnBrk="0" hangingPunct="0"/>
            <a:r>
              <a:rPr lang="zh-CN" altLang="en-US" sz="2000" dirty="0">
                <a:latin typeface="Tahoma" panose="020B0604030504040204" pitchFamily="34" charset="0"/>
                <a:ea typeface="华文中宋" panose="02010600040101010101" pitchFamily="2" charset="-122"/>
              </a:rPr>
              <a:t>设备实例：旋转烘干炉（汇流传动、摩擦轮传动）</a:t>
            </a:r>
            <a:endParaRPr lang="zh-CN" altLang="en-US" sz="2000" dirty="0">
              <a:latin typeface="Tahoma" panose="020B0604030504040204" pitchFamily="34" charset="0"/>
              <a:ea typeface="华文中宋" panose="02010600040101010101" pitchFamily="2" charset="-122"/>
            </a:endParaRPr>
          </a:p>
        </p:txBody>
      </p:sp>
      <p:sp>
        <p:nvSpPr>
          <p:cNvPr id="19464" name="文本框 4"/>
          <p:cNvSpPr txBox="1"/>
          <p:nvPr/>
        </p:nvSpPr>
        <p:spPr>
          <a:xfrm>
            <a:off x="1763713" y="1989138"/>
            <a:ext cx="184150" cy="430212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eaLnBrk="0" hangingPunct="0"/>
            <a:endParaRPr lang="zh-CN" altLang="en-US" dirty="0">
              <a:latin typeface="Tahoma" panose="020B0604030504040204" pitchFamily="34" charset="0"/>
              <a:ea typeface="华文中宋" panose="02010600040101010101" pitchFamily="2" charset="-122"/>
            </a:endParaRPr>
          </a:p>
        </p:txBody>
      </p:sp>
      <p:pic>
        <p:nvPicPr>
          <p:cNvPr id="19465" name="图片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5200" y="1341438"/>
            <a:ext cx="1781175" cy="23749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9466" name="图片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32138" y="1341438"/>
            <a:ext cx="1787525" cy="238283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9467" name="图片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32400" y="1328738"/>
            <a:ext cx="3222625" cy="2417762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9468" name="图片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7888" y="4373563"/>
            <a:ext cx="2208212" cy="1655762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9469" name="图片 1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295650" y="3916363"/>
            <a:ext cx="1839913" cy="24511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9470" name="图片 1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345113" y="4035425"/>
            <a:ext cx="3109912" cy="2332038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2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2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7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/>
      <p:sp>
        <p:nvSpPr>
          <p:cNvPr id="20481" name="Rectangle 20"/>
          <p:cNvSpPr>
            <a:spLocks noGrp="1"/>
          </p:cNvSpPr>
          <p:nvPr>
            <p:ph type="title"/>
          </p:nvPr>
        </p:nvSpPr>
        <p:spPr>
          <a:xfrm>
            <a:off x="5410200" y="685800"/>
            <a:ext cx="1752600" cy="228600"/>
          </a:xfrm>
          <a:noFill/>
          <a:ln>
            <a:noFill/>
          </a:ln>
        </p:spPr>
        <p:txBody>
          <a:bodyPr anchor="t" anchorCtr="0"/>
          <a:p>
            <a:pPr eaLnBrk="1" hangingPunct="1"/>
            <a:r>
              <a:rPr lang="zh-CN" altLang="en-US" sz="800" dirty="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材料疲劳的两种类别</a:t>
            </a:r>
            <a:endParaRPr lang="zh-CN" altLang="en-US" dirty="0"/>
          </a:p>
        </p:txBody>
      </p:sp>
      <p:sp>
        <p:nvSpPr>
          <p:cNvPr id="20482" name="Rectangle 21"/>
          <p:cNvSpPr/>
          <p:nvPr/>
        </p:nvSpPr>
        <p:spPr>
          <a:xfrm>
            <a:off x="769938" y="58738"/>
            <a:ext cx="3962400" cy="549275"/>
          </a:xfrm>
          <a:prstGeom prst="rect">
            <a:avLst/>
          </a:prstGeom>
          <a:noFill/>
          <a:ln w="9525">
            <a:noFill/>
          </a:ln>
        </p:spPr>
        <p:txBody>
          <a:bodyPr tIns="18000" anchor="ctr" anchorCtr="1"/>
          <a:p>
            <a:r>
              <a:rPr lang="zh-CN" altLang="en-US" sz="3000" dirty="0">
                <a:solidFill>
                  <a:schemeClr val="bg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机械系统的传动部分</a:t>
            </a:r>
            <a:endParaRPr lang="zh-CN" altLang="en-US" sz="3000" dirty="0">
              <a:solidFill>
                <a:schemeClr val="bg1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pic>
        <p:nvPicPr>
          <p:cNvPr id="20483" name="Picture 28" descr="rewind1">
            <a:hlinkClick r:id="rId1" action="ppaction://hlinksldjump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7038" y="6510338"/>
            <a:ext cx="287337" cy="28733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0484" name="Picture 30" descr="NEXT1">
            <a:hlinkClick r:id="" action="ppaction://hlinkshowjump?jump=nextslide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16975" y="6508750"/>
            <a:ext cx="287338" cy="28733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9278" name="Text Box 62"/>
          <p:cNvSpPr txBox="1"/>
          <p:nvPr/>
        </p:nvSpPr>
        <p:spPr>
          <a:xfrm>
            <a:off x="6081713" y="6157913"/>
            <a:ext cx="268287" cy="427037"/>
          </a:xfrm>
          <a:prstGeom prst="rect">
            <a:avLst/>
          </a:prstGeom>
          <a:noFill/>
          <a:ln w="9525">
            <a:noFill/>
          </a:ln>
        </p:spPr>
        <p:txBody>
          <a:bodyPr wrap="none" lIns="90000" tIns="46800" rIns="90000" bIns="46800" anchor="t" anchorCtr="0">
            <a:spAutoFit/>
          </a:bodyPr>
          <a:p>
            <a:r>
              <a:rPr lang="en-US" altLang="zh-CN" dirty="0">
                <a:latin typeface="Tahoma" panose="020B0604030504040204" pitchFamily="34" charset="0"/>
                <a:ea typeface="华文中宋" panose="02010600040101010101" pitchFamily="2" charset="-122"/>
              </a:rPr>
              <a:t> </a:t>
            </a:r>
            <a:endParaRPr lang="en-US" altLang="zh-CN" dirty="0">
              <a:latin typeface="Tahoma" panose="020B0604030504040204" pitchFamily="34" charset="0"/>
              <a:ea typeface="华文中宋" panose="02010600040101010101" pitchFamily="2" charset="-122"/>
            </a:endParaRPr>
          </a:p>
        </p:txBody>
      </p:sp>
      <p:pic>
        <p:nvPicPr>
          <p:cNvPr id="20486" name="Picture 35" descr="back1">
            <a:hlinkClick r:id="" action="ppaction://hlinkshowjump?jump=previousslide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55025" y="6508750"/>
            <a:ext cx="287338" cy="28733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文本框 1"/>
          <p:cNvSpPr txBox="1"/>
          <p:nvPr/>
        </p:nvSpPr>
        <p:spPr>
          <a:xfrm>
            <a:off x="3365500" y="852488"/>
            <a:ext cx="3095625" cy="40005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eaLnBrk="0" hangingPunct="0"/>
            <a:r>
              <a:rPr lang="zh-CN" altLang="en-US" sz="2000" dirty="0">
                <a:latin typeface="Tahoma" panose="020B0604030504040204" pitchFamily="34" charset="0"/>
                <a:ea typeface="华文中宋" panose="02010600040101010101" pitchFamily="2" charset="-122"/>
              </a:rPr>
              <a:t>常用</a:t>
            </a:r>
            <a:r>
              <a:rPr lang="zh-CN" altLang="zh-CN" sz="2000" dirty="0">
                <a:latin typeface="Tahoma" panose="020B0604030504040204" pitchFamily="34" charset="0"/>
                <a:ea typeface="华文中宋" panose="02010600040101010101" pitchFamily="2" charset="-122"/>
              </a:rPr>
              <a:t>机械传动的</a:t>
            </a:r>
            <a:r>
              <a:rPr lang="zh-CN" altLang="en-US" sz="2000" dirty="0">
                <a:latin typeface="Tahoma" panose="020B0604030504040204" pitchFamily="34" charset="0"/>
                <a:ea typeface="华文中宋" panose="02010600040101010101" pitchFamily="2" charset="-122"/>
              </a:rPr>
              <a:t>特点：</a:t>
            </a:r>
            <a:endParaRPr lang="zh-CN" altLang="en-US" sz="2000" dirty="0">
              <a:latin typeface="Tahoma" panose="020B0604030504040204" pitchFamily="34" charset="0"/>
              <a:ea typeface="华文中宋" panose="02010600040101010101" pitchFamily="2" charset="-122"/>
            </a:endParaRPr>
          </a:p>
        </p:txBody>
      </p:sp>
      <p:graphicFrame>
        <p:nvGraphicFramePr>
          <p:cNvPr id="20488" name="表格 20487"/>
          <p:cNvGraphicFramePr/>
          <p:nvPr>
            <p:custDataLst>
              <p:tags r:id="rId5"/>
            </p:custDataLst>
          </p:nvPr>
        </p:nvGraphicFramePr>
        <p:xfrm>
          <a:off x="546100" y="1403350"/>
          <a:ext cx="7923213" cy="4775200"/>
        </p:xfrm>
        <a:graphic>
          <a:graphicData uri="http://schemas.openxmlformats.org/drawingml/2006/table">
            <a:tbl>
              <a:tblPr/>
              <a:tblGrid>
                <a:gridCol w="1179513"/>
                <a:gridCol w="3376612"/>
                <a:gridCol w="3367088"/>
              </a:tblGrid>
              <a:tr h="312738"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2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华文中宋" panose="0201060004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2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华文中宋" panose="0201060004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2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华文中宋" panose="0201060004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2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华文中宋" panose="0201060004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2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华文中宋" panose="0201060004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0" hangingPunct="0">
                        <a:lnSpc>
                          <a:spcPct val="150000"/>
                        </a:lnSpc>
                        <a:buSzTx/>
                        <a:buNone/>
                      </a:pPr>
                      <a:r>
                        <a:rPr lang="zh-CN" altLang="zh-CN" sz="1000" b="1" dirty="0">
                          <a:solidFill>
                            <a:srgbClr val="333399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传动形式</a:t>
                      </a:r>
                      <a:endParaRPr lang="zh-CN" altLang="zh-CN" sz="1000" b="1" dirty="0">
                        <a:solidFill>
                          <a:srgbClr val="333399"/>
                        </a:solidFill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CD882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2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华文中宋" panose="0201060004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2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华文中宋" panose="0201060004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2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华文中宋" panose="0201060004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2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华文中宋" panose="0201060004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2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华文中宋" panose="0201060004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0" hangingPunct="0">
                        <a:lnSpc>
                          <a:spcPct val="150000"/>
                        </a:lnSpc>
                        <a:buSzTx/>
                        <a:buNone/>
                      </a:pPr>
                      <a:r>
                        <a:rPr lang="zh-CN" altLang="zh-CN" sz="1000" b="1" dirty="0">
                          <a:solidFill>
                            <a:srgbClr val="333399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主 要 优 点</a:t>
                      </a:r>
                      <a:endParaRPr lang="zh-CN" altLang="zh-CN" sz="1000" b="1" dirty="0">
                        <a:solidFill>
                          <a:srgbClr val="333399"/>
                        </a:solidFill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CD882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2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华文中宋" panose="0201060004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2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华文中宋" panose="0201060004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2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华文中宋" panose="0201060004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2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华文中宋" panose="0201060004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2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华文中宋" panose="0201060004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0" hangingPunct="0">
                        <a:lnSpc>
                          <a:spcPct val="150000"/>
                        </a:lnSpc>
                        <a:buSzTx/>
                        <a:buNone/>
                      </a:pPr>
                      <a:r>
                        <a:rPr lang="zh-CN" altLang="zh-CN" sz="1000" b="1">
                          <a:solidFill>
                            <a:srgbClr val="333399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主 要 缺 点</a:t>
                      </a:r>
                      <a:endParaRPr lang="zh-CN" altLang="zh-CN" sz="1000" b="1">
                        <a:solidFill>
                          <a:srgbClr val="333399"/>
                        </a:solidFill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CD882"/>
                    </a:solidFill>
                  </a:tcPr>
                </a:tc>
              </a:tr>
              <a:tr h="703262"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2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华文中宋" panose="0201060004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2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华文中宋" panose="0201060004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2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华文中宋" panose="0201060004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2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华文中宋" panose="0201060004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2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华文中宋" panose="0201060004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0" hangingPunct="0">
                        <a:lnSpc>
                          <a:spcPct val="150000"/>
                        </a:lnSpc>
                        <a:buSzTx/>
                        <a:buNone/>
                      </a:pPr>
                      <a:r>
                        <a:rPr lang="zh-CN" altLang="zh-CN" sz="1000" b="1" dirty="0">
                          <a:solidFill>
                            <a:srgbClr val="333399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摩擦轮传动</a:t>
                      </a:r>
                      <a:endParaRPr lang="zh-CN" altLang="zh-CN" sz="1000" b="1" dirty="0">
                        <a:solidFill>
                          <a:srgbClr val="333399"/>
                        </a:solidFill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CD882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2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华文中宋" panose="0201060004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2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华文中宋" panose="0201060004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2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华文中宋" panose="0201060004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2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华文中宋" panose="0201060004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2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华文中宋" panose="02010600040101010101" pitchFamily="2" charset="-122"/>
                          <a:cs typeface="+mn-cs"/>
                        </a:defRPr>
                      </a:lvl5pPr>
                    </a:lstStyle>
                    <a:p>
                      <a:pPr lvl="0" indent="95250" algn="just" eaLnBrk="0" hangingPunct="0">
                        <a:buSzTx/>
                        <a:buNone/>
                      </a:pPr>
                      <a:r>
                        <a:rPr lang="zh-CN" altLang="zh-CN" sz="1000" dirty="0">
                          <a:solidFill>
                            <a:srgbClr val="333399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传动平稳噪声小</a:t>
                      </a:r>
                      <a:r>
                        <a:rPr lang="en-US" altLang="zh-CN" sz="1000" dirty="0">
                          <a:solidFill>
                            <a:srgbClr val="333399"/>
                          </a:solidFill>
                          <a:latin typeface="Tahoma" panose="020B0604030504040204" pitchFamily="34" charset="0"/>
                          <a:ea typeface="华文中宋" panose="02010600040101010101" pitchFamily="2" charset="-122"/>
                        </a:rPr>
                        <a:t>,</a:t>
                      </a:r>
                      <a:r>
                        <a:rPr lang="zh-CN" altLang="zh-CN" sz="1000" dirty="0">
                          <a:solidFill>
                            <a:srgbClr val="333399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有过载保护作用</a:t>
                      </a:r>
                      <a:r>
                        <a:rPr lang="en-US" altLang="zh-CN" sz="1000" dirty="0">
                          <a:solidFill>
                            <a:srgbClr val="333399"/>
                          </a:solidFill>
                          <a:latin typeface="Tahoma" panose="020B0604030504040204" pitchFamily="34" charset="0"/>
                          <a:ea typeface="华文中宋" panose="02010600040101010101" pitchFamily="2" charset="-122"/>
                        </a:rPr>
                        <a:t>,</a:t>
                      </a:r>
                      <a:r>
                        <a:rPr lang="zh-CN" altLang="zh-CN" sz="1000" dirty="0">
                          <a:solidFill>
                            <a:srgbClr val="333399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可在</a:t>
                      </a:r>
                      <a:endParaRPr lang="zh-CN" altLang="zh-CN" sz="1000" dirty="0">
                        <a:solidFill>
                          <a:srgbClr val="333399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  <a:p>
                      <a:pPr lvl="0" indent="95250" algn="just" eaLnBrk="0" hangingPunct="0">
                        <a:buSzTx/>
                        <a:buNone/>
                      </a:pPr>
                      <a:r>
                        <a:rPr lang="zh-CN" altLang="zh-CN" sz="1000" dirty="0">
                          <a:solidFill>
                            <a:srgbClr val="333399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运转中平稳地调整传动比</a:t>
                      </a:r>
                      <a:r>
                        <a:rPr lang="en-US" altLang="zh-CN" sz="1000" dirty="0">
                          <a:solidFill>
                            <a:srgbClr val="333399"/>
                          </a:solidFill>
                          <a:latin typeface="Tahoma" panose="020B0604030504040204" pitchFamily="34" charset="0"/>
                          <a:ea typeface="华文中宋" panose="02010600040101010101" pitchFamily="2" charset="-122"/>
                        </a:rPr>
                        <a:t>,</a:t>
                      </a:r>
                      <a:r>
                        <a:rPr lang="zh-CN" altLang="zh-CN" sz="1000" dirty="0">
                          <a:solidFill>
                            <a:srgbClr val="333399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广泛地用于无级</a:t>
                      </a:r>
                      <a:endParaRPr lang="zh-CN" altLang="zh-CN" sz="1000" dirty="0">
                        <a:solidFill>
                          <a:srgbClr val="333399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  <a:p>
                      <a:pPr lvl="0" indent="95250" algn="just" eaLnBrk="0" hangingPunct="0">
                        <a:buSzTx/>
                        <a:buNone/>
                      </a:pPr>
                      <a:r>
                        <a:rPr lang="zh-CN" altLang="zh-CN" sz="1000" dirty="0">
                          <a:solidFill>
                            <a:srgbClr val="333399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变速</a:t>
                      </a:r>
                      <a:endParaRPr lang="zh-CN" altLang="zh-CN" sz="1000" dirty="0">
                        <a:solidFill>
                          <a:srgbClr val="333399"/>
                        </a:solidFill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0D8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2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华文中宋" panose="0201060004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2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华文中宋" panose="0201060004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2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华文中宋" panose="0201060004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2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华文中宋" panose="0201060004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2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华文中宋" panose="02010600040101010101" pitchFamily="2" charset="-122"/>
                          <a:cs typeface="+mn-cs"/>
                        </a:defRPr>
                      </a:lvl5pPr>
                    </a:lstStyle>
                    <a:p>
                      <a:pPr lvl="0" indent="95250" eaLnBrk="0" hangingPunct="0">
                        <a:buSzTx/>
                        <a:buNone/>
                      </a:pPr>
                      <a:r>
                        <a:rPr lang="zh-CN" altLang="zh-CN" sz="1000">
                          <a:solidFill>
                            <a:srgbClr val="333399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轴和轴承上作用力很大</a:t>
                      </a:r>
                      <a:r>
                        <a:rPr lang="en-US" altLang="zh-CN" sz="1000">
                          <a:solidFill>
                            <a:srgbClr val="333399"/>
                          </a:solidFill>
                          <a:latin typeface="Tahoma" panose="020B0604030504040204" pitchFamily="34" charset="0"/>
                          <a:ea typeface="华文中宋" panose="02010600040101010101" pitchFamily="2" charset="-122"/>
                        </a:rPr>
                        <a:t>,</a:t>
                      </a:r>
                      <a:r>
                        <a:rPr lang="zh-CN" altLang="zh-CN" sz="1000">
                          <a:solidFill>
                            <a:srgbClr val="333399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不宜传递大功率</a:t>
                      </a:r>
                      <a:r>
                        <a:rPr lang="en-US" altLang="zh-CN" sz="1000">
                          <a:solidFill>
                            <a:srgbClr val="333399"/>
                          </a:solidFill>
                          <a:latin typeface="Tahoma" panose="020B0604030504040204" pitchFamily="34" charset="0"/>
                          <a:ea typeface="华文中宋" panose="02010600040101010101" pitchFamily="2" charset="-122"/>
                        </a:rPr>
                        <a:t>,</a:t>
                      </a:r>
                      <a:r>
                        <a:rPr lang="zh-CN" altLang="zh-CN" sz="1000">
                          <a:solidFill>
                            <a:srgbClr val="333399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有滑动</a:t>
                      </a:r>
                      <a:r>
                        <a:rPr lang="en-US" altLang="zh-CN" sz="1000">
                          <a:solidFill>
                            <a:srgbClr val="333399"/>
                          </a:solidFill>
                          <a:latin typeface="Tahoma" panose="020B0604030504040204" pitchFamily="34" charset="0"/>
                          <a:ea typeface="华文中宋" panose="02010600040101010101" pitchFamily="2" charset="-122"/>
                        </a:rPr>
                        <a:t>,</a:t>
                      </a:r>
                      <a:r>
                        <a:rPr lang="zh-CN" altLang="zh-CN" sz="1000">
                          <a:solidFill>
                            <a:srgbClr val="333399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传动比不能保持恒定</a:t>
                      </a:r>
                      <a:r>
                        <a:rPr lang="en-US" altLang="zh-CN" sz="1000">
                          <a:solidFill>
                            <a:srgbClr val="333399"/>
                          </a:solidFill>
                          <a:latin typeface="Tahoma" panose="020B0604030504040204" pitchFamily="34" charset="0"/>
                          <a:ea typeface="华文中宋" panose="02010600040101010101" pitchFamily="2" charset="-122"/>
                        </a:rPr>
                        <a:t>,</a:t>
                      </a:r>
                      <a:r>
                        <a:rPr lang="zh-CN" altLang="zh-CN" sz="1000">
                          <a:solidFill>
                            <a:srgbClr val="333399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工作表面磨损较快</a:t>
                      </a:r>
                      <a:r>
                        <a:rPr lang="en-US" altLang="zh-CN" sz="1000">
                          <a:solidFill>
                            <a:srgbClr val="333399"/>
                          </a:solidFill>
                          <a:latin typeface="Tahoma" panose="020B0604030504040204" pitchFamily="34" charset="0"/>
                          <a:ea typeface="华文中宋" panose="02010600040101010101" pitchFamily="2" charset="-122"/>
                        </a:rPr>
                        <a:t>,</a:t>
                      </a:r>
                      <a:r>
                        <a:rPr lang="zh-CN" altLang="zh-CN" sz="1000">
                          <a:solidFill>
                            <a:srgbClr val="333399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寿命较短</a:t>
                      </a:r>
                      <a:r>
                        <a:rPr lang="en-US" altLang="zh-CN" sz="1000">
                          <a:solidFill>
                            <a:srgbClr val="333399"/>
                          </a:solidFill>
                          <a:latin typeface="Tahoma" panose="020B0604030504040204" pitchFamily="34" charset="0"/>
                          <a:ea typeface="华文中宋" panose="02010600040101010101" pitchFamily="2" charset="-122"/>
                        </a:rPr>
                        <a:t>,</a:t>
                      </a:r>
                      <a:r>
                        <a:rPr lang="zh-CN" altLang="zh-CN" sz="1000">
                          <a:solidFill>
                            <a:srgbClr val="333399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效率较低</a:t>
                      </a:r>
                      <a:endParaRPr lang="zh-CN" altLang="zh-CN" sz="1000">
                        <a:solidFill>
                          <a:srgbClr val="333399"/>
                        </a:solidFill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0D8"/>
                    </a:solidFill>
                  </a:tcPr>
                </a:tc>
              </a:tr>
              <a:tr h="941388"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2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华文中宋" panose="0201060004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2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华文中宋" panose="0201060004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2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华文中宋" panose="0201060004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2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华文中宋" panose="0201060004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2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华文中宋" panose="0201060004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0" hangingPunct="0">
                        <a:lnSpc>
                          <a:spcPct val="150000"/>
                        </a:lnSpc>
                        <a:buSzTx/>
                        <a:buNone/>
                      </a:pPr>
                      <a:r>
                        <a:rPr lang="zh-CN" altLang="zh-CN" sz="1000" b="1">
                          <a:solidFill>
                            <a:srgbClr val="333399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带传动</a:t>
                      </a:r>
                      <a:endParaRPr lang="zh-CN" altLang="zh-CN" sz="1000" b="1">
                        <a:solidFill>
                          <a:srgbClr val="333399"/>
                        </a:solidFill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CD882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2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华文中宋" panose="0201060004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2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华文中宋" panose="0201060004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2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华文中宋" panose="0201060004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2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华文中宋" panose="0201060004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2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华文中宋" panose="02010600040101010101" pitchFamily="2" charset="-122"/>
                          <a:cs typeface="+mn-cs"/>
                        </a:defRPr>
                      </a:lvl5pPr>
                    </a:lstStyle>
                    <a:p>
                      <a:pPr lvl="0" indent="95250" algn="just" eaLnBrk="0" hangingPunct="0">
                        <a:buSzTx/>
                        <a:buNone/>
                      </a:pPr>
                      <a:r>
                        <a:rPr lang="zh-CN" altLang="zh-CN" sz="1000" dirty="0">
                          <a:solidFill>
                            <a:srgbClr val="333399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中心距范围大，可用于较远距离的传动，</a:t>
                      </a:r>
                      <a:endParaRPr lang="zh-CN" altLang="zh-CN" sz="1000" dirty="0">
                        <a:solidFill>
                          <a:srgbClr val="333399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  <a:p>
                      <a:pPr lvl="0" indent="95250" algn="just" eaLnBrk="0" hangingPunct="0">
                        <a:buSzTx/>
                        <a:buNone/>
                      </a:pPr>
                      <a:r>
                        <a:rPr lang="zh-CN" altLang="zh-CN" sz="1000" dirty="0">
                          <a:solidFill>
                            <a:srgbClr val="333399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传动平稳，噪声小，能缓冲吸振，有过载保护</a:t>
                      </a:r>
                      <a:endParaRPr lang="zh-CN" altLang="zh-CN" sz="1000" dirty="0">
                        <a:solidFill>
                          <a:srgbClr val="333399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  <a:p>
                      <a:pPr lvl="0" indent="95250" algn="just" eaLnBrk="0" hangingPunct="0">
                        <a:buSzTx/>
                        <a:buNone/>
                      </a:pPr>
                      <a:r>
                        <a:rPr lang="zh-CN" altLang="zh-CN" sz="1000" dirty="0">
                          <a:solidFill>
                            <a:srgbClr val="333399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作用，结构简单，成本低，安装要求不高</a:t>
                      </a:r>
                      <a:endParaRPr lang="zh-CN" altLang="zh-CN" sz="1000" dirty="0">
                        <a:solidFill>
                          <a:srgbClr val="333399"/>
                        </a:solidFill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BF8ED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2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华文中宋" panose="0201060004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2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华文中宋" panose="0201060004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2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华文中宋" panose="0201060004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2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华文中宋" panose="0201060004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2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华文中宋" panose="02010600040101010101" pitchFamily="2" charset="-122"/>
                          <a:cs typeface="+mn-cs"/>
                        </a:defRPr>
                      </a:lvl5pPr>
                    </a:lstStyle>
                    <a:p>
                      <a:pPr lvl="0" indent="95250" algn="just" eaLnBrk="0" hangingPunct="0">
                        <a:buSzTx/>
                        <a:buNone/>
                      </a:pPr>
                      <a:r>
                        <a:rPr lang="zh-CN" altLang="zh-CN" sz="1000" dirty="0">
                          <a:solidFill>
                            <a:srgbClr val="333399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摩擦式带传动有滑动</a:t>
                      </a:r>
                      <a:r>
                        <a:rPr lang="en-US" altLang="zh-CN" sz="1000" dirty="0">
                          <a:solidFill>
                            <a:srgbClr val="333399"/>
                          </a:solidFill>
                          <a:latin typeface="Tahoma" panose="020B0604030504040204" pitchFamily="34" charset="0"/>
                          <a:ea typeface="华文中宋" panose="02010600040101010101" pitchFamily="2" charset="-122"/>
                        </a:rPr>
                        <a:t>,</a:t>
                      </a:r>
                      <a:r>
                        <a:rPr lang="zh-CN" altLang="zh-CN" sz="1000" dirty="0">
                          <a:solidFill>
                            <a:srgbClr val="333399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传动比不能保持</a:t>
                      </a:r>
                      <a:endParaRPr lang="zh-CN" altLang="zh-CN" sz="1000" dirty="0">
                        <a:solidFill>
                          <a:srgbClr val="333399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  <a:p>
                      <a:pPr lvl="0" indent="95250" algn="just" eaLnBrk="0" hangingPunct="0">
                        <a:buSzTx/>
                        <a:buNone/>
                      </a:pPr>
                      <a:r>
                        <a:rPr lang="zh-CN" altLang="zh-CN" sz="1000" dirty="0">
                          <a:solidFill>
                            <a:srgbClr val="333399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恒定</a:t>
                      </a:r>
                      <a:r>
                        <a:rPr lang="en-US" altLang="zh-CN" sz="1000" dirty="0">
                          <a:solidFill>
                            <a:srgbClr val="333399"/>
                          </a:solidFill>
                          <a:latin typeface="Tahoma" panose="020B0604030504040204" pitchFamily="34" charset="0"/>
                          <a:ea typeface="华文中宋" panose="02010600040101010101" pitchFamily="2" charset="-122"/>
                        </a:rPr>
                        <a:t>,</a:t>
                      </a:r>
                      <a:r>
                        <a:rPr lang="zh-CN" altLang="zh-CN" sz="1000" dirty="0">
                          <a:solidFill>
                            <a:srgbClr val="333399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外廓尺寸大</a:t>
                      </a:r>
                      <a:r>
                        <a:rPr lang="en-US" altLang="zh-CN" sz="1000" dirty="0">
                          <a:solidFill>
                            <a:srgbClr val="333399"/>
                          </a:solidFill>
                          <a:latin typeface="Tahoma" panose="020B0604030504040204" pitchFamily="34" charset="0"/>
                          <a:ea typeface="华文中宋" panose="02010600040101010101" pitchFamily="2" charset="-122"/>
                        </a:rPr>
                        <a:t>,</a:t>
                      </a:r>
                      <a:r>
                        <a:rPr lang="zh-CN" altLang="zh-CN" sz="1000" dirty="0">
                          <a:solidFill>
                            <a:srgbClr val="333399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带的寿命较短</a:t>
                      </a:r>
                      <a:r>
                        <a:rPr lang="en-US" altLang="zh-CN" sz="1000" dirty="0">
                          <a:solidFill>
                            <a:srgbClr val="333399"/>
                          </a:solidFill>
                          <a:latin typeface="Tahoma" panose="020B0604030504040204" pitchFamily="34" charset="0"/>
                          <a:ea typeface="华文中宋" panose="02010600040101010101" pitchFamily="2" charset="-122"/>
                        </a:rPr>
                        <a:t>(</a:t>
                      </a:r>
                      <a:r>
                        <a:rPr lang="zh-CN" altLang="zh-CN" sz="1000" dirty="0">
                          <a:solidFill>
                            <a:srgbClr val="333399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通常为</a:t>
                      </a:r>
                      <a:endParaRPr lang="zh-CN" altLang="zh-CN" sz="1000" dirty="0">
                        <a:solidFill>
                          <a:srgbClr val="333399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  <a:p>
                      <a:pPr lvl="0" indent="95250" algn="just" eaLnBrk="0" hangingPunct="0">
                        <a:buSzTx/>
                        <a:buNone/>
                      </a:pPr>
                      <a:r>
                        <a:rPr lang="en-US" altLang="zh-CN" sz="1000" dirty="0">
                          <a:solidFill>
                            <a:srgbClr val="333399"/>
                          </a:solidFill>
                          <a:latin typeface="Tahoma" panose="020B0604030504040204" pitchFamily="34" charset="0"/>
                          <a:ea typeface="华文中宋" panose="02010600040101010101" pitchFamily="2" charset="-122"/>
                        </a:rPr>
                        <a:t>3500~5000),</a:t>
                      </a:r>
                      <a:r>
                        <a:rPr lang="zh-CN" altLang="zh-CN" sz="1000" dirty="0">
                          <a:solidFill>
                            <a:srgbClr val="333399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由于带的摩擦起电不宜用于易燃、易爆的地方，轴和轴承上作用力大。</a:t>
                      </a:r>
                      <a:endParaRPr lang="zh-CN" altLang="zh-CN" sz="1000" dirty="0">
                        <a:solidFill>
                          <a:srgbClr val="333399"/>
                        </a:solidFill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BF8ED"/>
                    </a:solidFill>
                  </a:tcPr>
                </a:tc>
              </a:tr>
              <a:tr h="703262"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2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华文中宋" panose="0201060004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2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华文中宋" panose="0201060004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2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华文中宋" panose="0201060004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2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华文中宋" panose="0201060004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2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华文中宋" panose="0201060004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0" hangingPunct="0">
                        <a:lnSpc>
                          <a:spcPct val="150000"/>
                        </a:lnSpc>
                        <a:buSzTx/>
                        <a:buNone/>
                      </a:pPr>
                      <a:r>
                        <a:rPr lang="zh-CN" altLang="zh-CN" sz="1000" b="1">
                          <a:solidFill>
                            <a:srgbClr val="333399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齿轮传动</a:t>
                      </a:r>
                      <a:endParaRPr lang="zh-CN" altLang="zh-CN" sz="1000" b="1">
                        <a:solidFill>
                          <a:srgbClr val="333399"/>
                        </a:solidFill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CD882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2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华文中宋" panose="0201060004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2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华文中宋" panose="0201060004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2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华文中宋" panose="0201060004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2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华文中宋" panose="0201060004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2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华文中宋" panose="02010600040101010101" pitchFamily="2" charset="-122"/>
                          <a:cs typeface="+mn-cs"/>
                        </a:defRPr>
                      </a:lvl5pPr>
                    </a:lstStyle>
                    <a:p>
                      <a:pPr lvl="0" indent="95250" algn="just" eaLnBrk="0" hangingPunct="0">
                        <a:buSzTx/>
                        <a:buNone/>
                      </a:pPr>
                      <a:r>
                        <a:rPr lang="zh-CN" altLang="zh-CN" sz="1000">
                          <a:solidFill>
                            <a:srgbClr val="333399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外廓尺寸小心，效率高，传动比恒定，工作可靠，寿命长，维护比较简单，可适用的圆周速度及功率范围广，应用最为广泛</a:t>
                      </a:r>
                      <a:endParaRPr lang="zh-CN" altLang="zh-CN" sz="1000">
                        <a:solidFill>
                          <a:srgbClr val="333399"/>
                        </a:solidFill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0D8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2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华文中宋" panose="0201060004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2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华文中宋" panose="0201060004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2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华文中宋" panose="0201060004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2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华文中宋" panose="0201060004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2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华文中宋" panose="02010600040101010101" pitchFamily="2" charset="-122"/>
                          <a:cs typeface="+mn-cs"/>
                        </a:defRPr>
                      </a:lvl5pPr>
                    </a:lstStyle>
                    <a:p>
                      <a:pPr lvl="0" indent="95250" algn="just" eaLnBrk="0" hangingPunct="0">
                        <a:buSzTx/>
                        <a:buNone/>
                      </a:pPr>
                      <a:r>
                        <a:rPr lang="zh-CN" altLang="zh-CN" sz="1000" dirty="0">
                          <a:solidFill>
                            <a:srgbClr val="333399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制造和安装精度要求高，不能缓冲，无过载保护作用，精度低时，噪声大</a:t>
                      </a:r>
                      <a:endParaRPr lang="zh-CN" altLang="zh-CN" sz="1000" dirty="0">
                        <a:solidFill>
                          <a:srgbClr val="333399"/>
                        </a:solidFill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0D8"/>
                    </a:solidFill>
                  </a:tcPr>
                </a:tc>
              </a:tr>
              <a:tr h="469900"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2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华文中宋" panose="0201060004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2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华文中宋" panose="0201060004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2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华文中宋" panose="0201060004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2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华文中宋" panose="0201060004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2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华文中宋" panose="0201060004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0" hangingPunct="0">
                        <a:lnSpc>
                          <a:spcPct val="150000"/>
                        </a:lnSpc>
                        <a:buSzTx/>
                        <a:buNone/>
                      </a:pPr>
                      <a:r>
                        <a:rPr lang="zh-CN" altLang="zh-CN" sz="1000" b="1">
                          <a:solidFill>
                            <a:srgbClr val="333399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蜗杆传动</a:t>
                      </a:r>
                      <a:endParaRPr lang="zh-CN" altLang="zh-CN" sz="1000" b="1">
                        <a:solidFill>
                          <a:srgbClr val="333399"/>
                        </a:solidFill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CD882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2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华文中宋" panose="0201060004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2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华文中宋" panose="0201060004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2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华文中宋" panose="0201060004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2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华文中宋" panose="0201060004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2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华文中宋" panose="02010600040101010101" pitchFamily="2" charset="-122"/>
                          <a:cs typeface="+mn-cs"/>
                        </a:defRPr>
                      </a:lvl5pPr>
                    </a:lstStyle>
                    <a:p>
                      <a:pPr lvl="0" indent="95250" algn="just" eaLnBrk="0" hangingPunct="0">
                        <a:buSzTx/>
                        <a:buNone/>
                      </a:pPr>
                      <a:r>
                        <a:rPr lang="zh-CN" altLang="zh-CN" sz="1000">
                          <a:solidFill>
                            <a:srgbClr val="333399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结构紧凑，外廓尺寸小，传动比大，传动比恒定，传动平稳，噪声小，可构成自锁机构</a:t>
                      </a:r>
                      <a:endParaRPr lang="zh-CN" altLang="zh-CN" sz="1000">
                        <a:solidFill>
                          <a:srgbClr val="333399"/>
                        </a:solidFill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BF8ED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2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华文中宋" panose="0201060004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2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华文中宋" panose="0201060004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2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华文中宋" panose="0201060004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2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华文中宋" panose="0201060004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2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华文中宋" panose="02010600040101010101" pitchFamily="2" charset="-122"/>
                          <a:cs typeface="+mn-cs"/>
                        </a:defRPr>
                      </a:lvl5pPr>
                    </a:lstStyle>
                    <a:p>
                      <a:pPr lvl="0" indent="95250" algn="just" eaLnBrk="0" hangingPunct="0">
                        <a:buSzTx/>
                        <a:buNone/>
                      </a:pPr>
                      <a:r>
                        <a:rPr lang="zh-CN" altLang="zh-CN" sz="1000" dirty="0">
                          <a:solidFill>
                            <a:srgbClr val="333399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效率低，传递功率不易过大，中高速需要用价贵的青铜，制造精度要求高，刀具费用高</a:t>
                      </a:r>
                      <a:endParaRPr lang="zh-CN" altLang="zh-CN" sz="1000" dirty="0">
                        <a:solidFill>
                          <a:srgbClr val="333399"/>
                        </a:solidFill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BF8ED"/>
                    </a:solidFill>
                  </a:tcPr>
                </a:tc>
              </a:tr>
              <a:tr h="704850"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2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华文中宋" panose="0201060004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2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华文中宋" panose="0201060004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2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华文中宋" panose="0201060004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2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华文中宋" panose="0201060004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2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华文中宋" panose="0201060004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0" hangingPunct="0">
                        <a:lnSpc>
                          <a:spcPct val="150000"/>
                        </a:lnSpc>
                        <a:buSzTx/>
                        <a:buNone/>
                      </a:pPr>
                      <a:r>
                        <a:rPr lang="zh-CN" altLang="zh-CN" sz="1000" b="1">
                          <a:solidFill>
                            <a:srgbClr val="333399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链传动</a:t>
                      </a:r>
                      <a:endParaRPr lang="zh-CN" altLang="zh-CN" sz="1000" b="1">
                        <a:solidFill>
                          <a:srgbClr val="333399"/>
                        </a:solidFill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CD882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2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华文中宋" panose="0201060004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2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华文中宋" panose="0201060004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2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华文中宋" panose="0201060004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2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华文中宋" panose="0201060004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2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华文中宋" panose="02010600040101010101" pitchFamily="2" charset="-122"/>
                          <a:cs typeface="+mn-cs"/>
                        </a:defRPr>
                      </a:lvl5pPr>
                    </a:lstStyle>
                    <a:p>
                      <a:pPr lvl="0" indent="95250" algn="just" eaLnBrk="0" hangingPunct="0">
                        <a:buSzTx/>
                        <a:buNone/>
                      </a:pPr>
                      <a:r>
                        <a:rPr lang="zh-CN" altLang="zh-CN" sz="1000">
                          <a:solidFill>
                            <a:srgbClr val="333399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中心距范围大，可用于较远距离的传动，在高温、油、酸等恶劣条件下能可靠工作式，轴和轴承上的作用力小</a:t>
                      </a:r>
                      <a:endParaRPr lang="zh-CN" altLang="zh-CN" sz="1000">
                        <a:solidFill>
                          <a:srgbClr val="333399"/>
                        </a:solidFill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0D8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2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华文中宋" panose="0201060004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2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华文中宋" panose="0201060004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2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华文中宋" panose="0201060004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2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华文中宋" panose="0201060004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2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华文中宋" panose="02010600040101010101" pitchFamily="2" charset="-122"/>
                          <a:cs typeface="+mn-cs"/>
                        </a:defRPr>
                      </a:lvl5pPr>
                    </a:lstStyle>
                    <a:p>
                      <a:pPr lvl="0" eaLnBrk="0" hangingPunct="0">
                        <a:buSzTx/>
                        <a:buNone/>
                      </a:pPr>
                      <a:endParaRPr lang="zh-CN" altLang="zh-CN" sz="1800">
                        <a:solidFill>
                          <a:srgbClr val="40458C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blipFill rotWithShape="0">
                      <a:blip r:embed="rId6"/>
                      <a:stretch>
                        <a:fillRect/>
                      </a:stretch>
                    </a:blipFill>
                  </a:tcPr>
                </a:tc>
              </a:tr>
              <a:tr h="939800"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2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华文中宋" panose="0201060004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2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华文中宋" panose="0201060004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2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华文中宋" panose="0201060004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2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华文中宋" panose="0201060004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2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华文中宋" panose="0201060004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0" hangingPunct="0">
                        <a:lnSpc>
                          <a:spcPct val="150000"/>
                        </a:lnSpc>
                        <a:buSzTx/>
                        <a:buNone/>
                      </a:pPr>
                      <a:r>
                        <a:rPr lang="zh-CN" altLang="zh-CN" sz="1000" b="1">
                          <a:solidFill>
                            <a:srgbClr val="333399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螺旋传动</a:t>
                      </a:r>
                      <a:endParaRPr lang="zh-CN" altLang="zh-CN" sz="1000" b="1">
                        <a:solidFill>
                          <a:srgbClr val="333399"/>
                        </a:solidFill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CD882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2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华文中宋" panose="0201060004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2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华文中宋" panose="0201060004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2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华文中宋" panose="0201060004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2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华文中宋" panose="0201060004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2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华文中宋" panose="02010600040101010101" pitchFamily="2" charset="-122"/>
                          <a:cs typeface="+mn-cs"/>
                        </a:defRPr>
                      </a:lvl5pPr>
                    </a:lstStyle>
                    <a:p>
                      <a:pPr lvl="0" indent="95250" algn="just" eaLnBrk="0" hangingPunct="0">
                        <a:buSzTx/>
                        <a:buNone/>
                      </a:pPr>
                      <a:r>
                        <a:rPr lang="zh-CN" altLang="zh-CN" sz="1000">
                          <a:solidFill>
                            <a:srgbClr val="333399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能将旋转运动变成直线运动，并能以较小的转矩得到很大的轴向力，传动平稳，无噪声，运动精度高，传动比大，可用于微调，可做成自锁机构</a:t>
                      </a:r>
                      <a:endParaRPr lang="zh-CN" altLang="zh-CN" sz="1000">
                        <a:solidFill>
                          <a:srgbClr val="333399"/>
                        </a:solidFill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BF8ED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2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华文中宋" panose="0201060004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2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华文中宋" panose="0201060004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2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华文中宋" panose="0201060004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2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华文中宋" panose="0201060004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2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华文中宋" panose="02010600040101010101" pitchFamily="2" charset="-122"/>
                          <a:cs typeface="+mn-cs"/>
                        </a:defRPr>
                      </a:lvl5pPr>
                    </a:lstStyle>
                    <a:p>
                      <a:pPr lvl="0" indent="95250" algn="just" eaLnBrk="0" hangingPunct="0">
                        <a:buSzTx/>
                        <a:buNone/>
                      </a:pPr>
                      <a:r>
                        <a:rPr lang="zh-CN" altLang="zh-CN" sz="1000" dirty="0">
                          <a:solidFill>
                            <a:srgbClr val="333399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工作速度一般都很低，滑动螺旋效率低，磨损快</a:t>
                      </a:r>
                      <a:endParaRPr lang="zh-CN" altLang="zh-CN" sz="1000" dirty="0">
                        <a:solidFill>
                          <a:srgbClr val="333399"/>
                        </a:solidFill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BF8E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2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2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204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78" grpId="0"/>
      <p:bldP spid="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505" name="内容占位符 40962"/>
          <p:cNvSpPr>
            <a:spLocks noGrp="1"/>
          </p:cNvSpPr>
          <p:nvPr>
            <p:ph idx="1"/>
          </p:nvPr>
        </p:nvSpPr>
        <p:spPr>
          <a:xfrm>
            <a:off x="539750" y="1060450"/>
            <a:ext cx="8459788" cy="1212850"/>
          </a:xfrm>
          <a:noFill/>
          <a:ln>
            <a:noFill/>
          </a:ln>
        </p:spPr>
        <p:txBody>
          <a:bodyPr anchor="t" anchorCtr="0"/>
          <a:p>
            <a:pPr>
              <a:buNone/>
            </a:pPr>
            <a:r>
              <a:rPr lang="zh-CN" altLang="en-US" b="1" dirty="0">
                <a:solidFill>
                  <a:srgbClr val="0000FF"/>
                </a:solidFill>
              </a:rPr>
              <a:t> </a:t>
            </a:r>
            <a:r>
              <a:rPr lang="zh-CN" altLang="en-US" sz="2400" dirty="0">
                <a:solidFill>
                  <a:srgbClr val="0000FF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操纵系统和控制系统</a:t>
            </a: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</a:rPr>
              <a:t>是保证机械系统各组成部分能协调地运行，准确可靠地完成整机功能的装置。</a:t>
            </a:r>
            <a:endParaRPr lang="zh-CN" altLang="en-US" sz="2400" dirty="0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40964" name="文本框 40963"/>
          <p:cNvSpPr txBox="1"/>
          <p:nvPr/>
        </p:nvSpPr>
        <p:spPr>
          <a:xfrm>
            <a:off x="251460" y="2493010"/>
            <a:ext cx="8892540" cy="129159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marL="342900" indent="-342900" eaLnBrk="0" hangingPunct="0">
              <a:lnSpc>
                <a:spcPct val="150000"/>
              </a:lnSpc>
              <a:buClr>
                <a:srgbClr val="FF6600"/>
              </a:buClr>
              <a:buSzPct val="85000"/>
              <a:buFont typeface="Wingdings" panose="05000000000000000000" pitchFamily="2" charset="2"/>
              <a:buChar char="v"/>
            </a:pPr>
            <a:r>
              <a:rPr lang="en-US" altLang="zh-CN" sz="2800" b="1" dirty="0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</a:rPr>
              <a:t>操纵系统是通过人工操作以实现上述要求的装置，包括</a:t>
            </a:r>
            <a:r>
              <a:rPr lang="zh-CN" altLang="en-US" sz="2400" dirty="0">
                <a:solidFill>
                  <a:srgbClr val="FF0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起动、离合、制动、变速、换向</a:t>
            </a: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</a:rPr>
              <a:t>等装置。</a:t>
            </a:r>
            <a:endParaRPr lang="zh-CN" altLang="en-US" sz="2400" dirty="0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40965" name="文本框 40964"/>
          <p:cNvSpPr txBox="1"/>
          <p:nvPr/>
        </p:nvSpPr>
        <p:spPr>
          <a:xfrm>
            <a:off x="323215" y="3967480"/>
            <a:ext cx="8473440" cy="184531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marL="342900" indent="-342900" eaLnBrk="0" hangingPunct="0">
              <a:lnSpc>
                <a:spcPct val="150000"/>
              </a:lnSpc>
              <a:buClr>
                <a:srgbClr val="FF6600"/>
              </a:buClr>
              <a:buSzPct val="85000"/>
              <a:buFont typeface="Wingdings" panose="05000000000000000000" pitchFamily="2" charset="2"/>
              <a:buChar char="v"/>
            </a:pPr>
            <a:r>
              <a:rPr lang="en-US" altLang="zh-CN" sz="2800" b="1" dirty="0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en-US" altLang="zh-CN" sz="2400" dirty="0">
                <a:latin typeface="黑体" panose="02010609060101010101" pitchFamily="2" charset="-122"/>
                <a:ea typeface="黑体" panose="02010609060101010101" pitchFamily="2" charset="-122"/>
              </a:rPr>
              <a:t> </a:t>
            </a: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</a:rPr>
              <a:t>控制系统质通过测量元件获得的控制信号，经由控制器，使控制对象改变运行参数或运行状态而实现上述要求的装置。如</a:t>
            </a:r>
            <a:r>
              <a:rPr lang="zh-CN" altLang="en-US" sz="2400" dirty="0">
                <a:solidFill>
                  <a:srgbClr val="FF0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伺服机构、自动控制装置</a:t>
            </a: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</a:rPr>
              <a:t>等。</a:t>
            </a:r>
            <a:endParaRPr lang="zh-CN" altLang="en-US" sz="2400" dirty="0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21508" name="文本框 1"/>
          <p:cNvSpPr txBox="1"/>
          <p:nvPr/>
        </p:nvSpPr>
        <p:spPr>
          <a:xfrm>
            <a:off x="1050925" y="141288"/>
            <a:ext cx="3400425" cy="522287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eaLnBrk="0" hangingPunct="0"/>
            <a:r>
              <a:rPr lang="zh-CN" altLang="en-US" sz="2800" b="1" dirty="0">
                <a:solidFill>
                  <a:schemeClr val="bg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操纵部分和控制部分</a:t>
            </a:r>
            <a:endParaRPr lang="zh-CN" altLang="en-US" sz="2800" b="1" dirty="0">
              <a:solidFill>
                <a:schemeClr val="bg1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4">
                                            <p:txEl>
                                              <p:charRg st="0" end="4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40964">
                                            <p:txEl>
                                              <p:charRg st="0" end="4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5">
                                            <p:txEl>
                                              <p:charRg st="0" end="6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40965">
                                            <p:txEl>
                                              <p:charRg st="0" end="6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529" name="Rectangle 20"/>
          <p:cNvSpPr>
            <a:spLocks noGrp="1"/>
          </p:cNvSpPr>
          <p:nvPr>
            <p:ph type="title"/>
          </p:nvPr>
        </p:nvSpPr>
        <p:spPr>
          <a:xfrm>
            <a:off x="5410200" y="685800"/>
            <a:ext cx="1752600" cy="228600"/>
          </a:xfrm>
          <a:noFill/>
          <a:ln>
            <a:noFill/>
          </a:ln>
        </p:spPr>
        <p:txBody>
          <a:bodyPr anchor="ctr" anchorCtr="0"/>
          <a:p>
            <a:r>
              <a:rPr lang="zh-CN" altLang="en-US" sz="800" dirty="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材料疲劳的两种类别</a:t>
            </a:r>
            <a:endParaRPr lang="zh-CN" altLang="en-US" dirty="0"/>
          </a:p>
        </p:txBody>
      </p:sp>
      <p:sp>
        <p:nvSpPr>
          <p:cNvPr id="22530" name="Rectangle 21"/>
          <p:cNvSpPr/>
          <p:nvPr/>
        </p:nvSpPr>
        <p:spPr>
          <a:xfrm>
            <a:off x="182563" y="73025"/>
            <a:ext cx="6007100" cy="549275"/>
          </a:xfrm>
          <a:prstGeom prst="rect">
            <a:avLst/>
          </a:prstGeom>
          <a:noFill/>
          <a:ln w="9525">
            <a:noFill/>
          </a:ln>
        </p:spPr>
        <p:txBody>
          <a:bodyPr tIns="18000" anchor="ctr" anchorCtr="1"/>
          <a:p>
            <a:pPr eaLnBrk="0" hangingPunct="0"/>
            <a:r>
              <a:rPr lang="zh-CN" altLang="en-US" sz="2800" dirty="0">
                <a:solidFill>
                  <a:schemeClr val="bg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机械系统设计方案实例分析</a:t>
            </a:r>
            <a:endParaRPr lang="zh-CN" altLang="en-US" sz="2800" dirty="0">
              <a:solidFill>
                <a:schemeClr val="bg1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pic>
        <p:nvPicPr>
          <p:cNvPr id="22531" name="Picture 28" descr="rewind1">
            <a:hlinkClick r:id="rId1" action="ppaction://hlinksldjump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7038" y="6510338"/>
            <a:ext cx="287337" cy="28733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2532" name="Picture 30" descr="NEXT1">
            <a:hlinkClick r:id="" action="ppaction://hlinkshowjump?jump=nextslide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16975" y="6508750"/>
            <a:ext cx="287338" cy="28733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9278" name="Text Box 62"/>
          <p:cNvSpPr txBox="1"/>
          <p:nvPr/>
        </p:nvSpPr>
        <p:spPr>
          <a:xfrm>
            <a:off x="6081713" y="6157913"/>
            <a:ext cx="268287" cy="427037"/>
          </a:xfrm>
          <a:prstGeom prst="rect">
            <a:avLst/>
          </a:prstGeom>
          <a:noFill/>
          <a:ln w="9525">
            <a:noFill/>
          </a:ln>
        </p:spPr>
        <p:txBody>
          <a:bodyPr wrap="none" lIns="90000" tIns="46800" rIns="90000" bIns="46800" anchor="t" anchorCtr="0">
            <a:spAutoFit/>
          </a:bodyPr>
          <a:p>
            <a:pPr eaLnBrk="0" hangingPunct="0"/>
            <a:r>
              <a:rPr lang="en-US" altLang="zh-CN" dirty="0">
                <a:latin typeface="Tahoma" panose="020B0604030504040204" pitchFamily="34" charset="0"/>
                <a:ea typeface="宋体" panose="02010600030101010101" pitchFamily="2" charset="-122"/>
              </a:rPr>
              <a:t> </a:t>
            </a:r>
            <a:endParaRPr lang="en-US" altLang="zh-CN" dirty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pic>
        <p:nvPicPr>
          <p:cNvPr id="22534" name="Picture 35" descr="back1">
            <a:hlinkClick r:id="" action="ppaction://hlinkshowjump?jump=previousslide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55025" y="6508750"/>
            <a:ext cx="287338" cy="28733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文本框 1"/>
          <p:cNvSpPr txBox="1"/>
          <p:nvPr/>
        </p:nvSpPr>
        <p:spPr>
          <a:xfrm>
            <a:off x="614363" y="812800"/>
            <a:ext cx="3600450" cy="4603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eaLnBrk="0" hangingPunct="0"/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</a:rPr>
              <a:t>（一）如何看懂机器</a:t>
            </a:r>
            <a:endParaRPr lang="zh-CN" altLang="en-US" sz="2400" dirty="0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82943" y="1340485"/>
            <a:ext cx="8061325" cy="14763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eaLnBrk="0" hangingPunct="0">
              <a:lnSpc>
                <a:spcPct val="150000"/>
              </a:lnSpc>
            </a:pPr>
            <a:r>
              <a:rPr lang="en-US" altLang="zh-CN" sz="2000" dirty="0">
                <a:latin typeface="Tahoma" panose="020B0604030504040204" pitchFamily="34" charset="0"/>
                <a:ea typeface="宋体" panose="02010600030101010101" pitchFamily="2" charset="-122"/>
              </a:rPr>
              <a:t>      </a:t>
            </a:r>
            <a:r>
              <a:rPr lang="zh-CN" altLang="zh-CN" sz="2000" b="1" dirty="0">
                <a:latin typeface="Tahoma" panose="020B0604030504040204" pitchFamily="34" charset="0"/>
                <a:ea typeface="宋体" panose="02010600030101010101" pitchFamily="2" charset="-122"/>
              </a:rPr>
              <a:t>看懂常规机器的一般方法就是最好先搞清楚这机器是干什么的，然后就是找两头</a:t>
            </a:r>
            <a:r>
              <a:rPr lang="zh-CN" altLang="en-US" sz="2000" b="1" dirty="0">
                <a:latin typeface="Tahoma" panose="020B0604030504040204" pitchFamily="34" charset="0"/>
                <a:ea typeface="宋体" panose="02010600030101010101" pitchFamily="2" charset="-122"/>
              </a:rPr>
              <a:t>看中间：两头是</a:t>
            </a:r>
            <a:r>
              <a:rPr lang="zh-CN" altLang="zh-CN" sz="2000" b="1" dirty="0">
                <a:latin typeface="Tahoma" panose="020B0604030504040204" pitchFamily="34" charset="0"/>
                <a:ea typeface="宋体" panose="02010600030101010101" pitchFamily="2" charset="-122"/>
              </a:rPr>
              <a:t>执行部分</a:t>
            </a:r>
            <a:r>
              <a:rPr lang="zh-CN" altLang="en-US" sz="2000" b="1" dirty="0">
                <a:latin typeface="Tahoma" panose="020B0604030504040204" pitchFamily="34" charset="0"/>
                <a:ea typeface="宋体" panose="02010600030101010101" pitchFamily="2" charset="-122"/>
              </a:rPr>
              <a:t>和原动部分，两头认清了，中间就是传动部分。</a:t>
            </a:r>
            <a:endParaRPr lang="zh-CN" altLang="en-US" sz="2000" b="1" dirty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454025" y="3440113"/>
            <a:ext cx="3600450" cy="4603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eaLnBrk="0" hangingPunct="0"/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</a:rPr>
              <a:t>（二）设计方案实例分析</a:t>
            </a:r>
            <a:endParaRPr lang="zh-CN" altLang="en-US" sz="2400" dirty="0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19613" y="2582863"/>
            <a:ext cx="3794125" cy="34321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8" name="文本框 7"/>
          <p:cNvSpPr txBox="1"/>
          <p:nvPr/>
        </p:nvSpPr>
        <p:spPr>
          <a:xfrm>
            <a:off x="1081088" y="4068763"/>
            <a:ext cx="1403350" cy="46037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eaLnBrk="0" hangingPunct="0"/>
            <a:r>
              <a:rPr lang="en-US" altLang="zh-CN" sz="2400" dirty="0">
                <a:solidFill>
                  <a:srgbClr val="0000CC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1.</a:t>
            </a:r>
            <a:r>
              <a:rPr lang="zh-CN" altLang="en-US" sz="2400" dirty="0">
                <a:solidFill>
                  <a:srgbClr val="0000CC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卷扬机</a:t>
            </a:r>
            <a:endParaRPr lang="zh-CN" altLang="en-US" sz="2400" dirty="0">
              <a:solidFill>
                <a:srgbClr val="0000CC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3419475" y="6035675"/>
            <a:ext cx="4567238" cy="4159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19431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zh-CN" sz="1400" b="0" i="0" u="none" strike="noStrike" kern="1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图</a:t>
            </a:r>
            <a:r>
              <a:rPr kumimoji="1" lang="en-US" altLang="zh-CN" sz="1400" b="0" i="0" u="none" strike="noStrike" kern="1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1.4-6 </a:t>
            </a:r>
            <a:r>
              <a:rPr kumimoji="1" lang="zh-CN" altLang="zh-CN" sz="1400" b="0" i="0" u="none" strike="noStrike" kern="1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卷扬机的设计方案简图</a:t>
            </a:r>
            <a:endParaRPr kumimoji="1" lang="zh-CN" altLang="zh-CN" sz="1400" b="0" i="0" u="none" strike="noStrike" kern="1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4" name="直接箭头连接符 3"/>
          <p:cNvCxnSpPr/>
          <p:nvPr/>
        </p:nvCxnSpPr>
        <p:spPr>
          <a:xfrm flipV="1">
            <a:off x="4519613" y="3905250"/>
            <a:ext cx="0" cy="593725"/>
          </a:xfrm>
          <a:prstGeom prst="straightConnector1">
            <a:avLst/>
          </a:prstGeom>
          <a:ln w="28575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箭头连接符 4"/>
          <p:cNvCxnSpPr/>
          <p:nvPr/>
        </p:nvCxnSpPr>
        <p:spPr>
          <a:xfrm flipV="1">
            <a:off x="7270750" y="2846388"/>
            <a:ext cx="0" cy="593725"/>
          </a:xfrm>
          <a:prstGeom prst="straightConnector1">
            <a:avLst/>
          </a:prstGeom>
          <a:ln w="28575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2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2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78" grpId="0"/>
      <p:bldP spid="2" grpId="0"/>
      <p:bldP spid="3" grpId="0"/>
      <p:bldP spid="13" grpId="0"/>
      <p:bldP spid="8" grpId="0"/>
      <p:bldP spid="9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68425" y="141288"/>
            <a:ext cx="7483475" cy="62928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文本框 1"/>
          <p:cNvSpPr txBox="1"/>
          <p:nvPr/>
        </p:nvSpPr>
        <p:spPr>
          <a:xfrm>
            <a:off x="1746250" y="5362575"/>
            <a:ext cx="1803400" cy="398463"/>
          </a:xfrm>
          <a:prstGeom prst="rect">
            <a:avLst/>
          </a:prstGeom>
          <a:solidFill>
            <a:srgbClr val="DADAED"/>
          </a:solidFill>
          <a:ln w="9525">
            <a:noFill/>
          </a:ln>
        </p:spPr>
        <p:txBody>
          <a:bodyPr wrap="square" anchor="t" anchorCtr="0">
            <a:spAutoFit/>
          </a:bodyPr>
          <a:p>
            <a:pPr eaLnBrk="0" hangingPunct="0"/>
            <a:r>
              <a:rPr lang="zh-CN" altLang="en-US" sz="2000">
                <a:solidFill>
                  <a:srgbClr val="FF0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主动运动链</a:t>
            </a:r>
            <a:endParaRPr lang="zh-CN" altLang="en-US" sz="2000">
              <a:solidFill>
                <a:srgbClr val="FF0000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870450" y="3244850"/>
            <a:ext cx="1576388" cy="398463"/>
          </a:xfrm>
          <a:prstGeom prst="rect">
            <a:avLst/>
          </a:prstGeom>
          <a:solidFill>
            <a:srgbClr val="DADAED"/>
          </a:solidFill>
          <a:ln w="9525">
            <a:noFill/>
          </a:ln>
        </p:spPr>
        <p:txBody>
          <a:bodyPr wrap="square" anchor="t" anchorCtr="0">
            <a:spAutoFit/>
          </a:bodyPr>
          <a:p>
            <a:pPr eaLnBrk="0" hangingPunct="0"/>
            <a:r>
              <a:rPr lang="zh-CN" altLang="en-US" sz="2000">
                <a:solidFill>
                  <a:srgbClr val="FF0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辅助运动链</a:t>
            </a:r>
            <a:endParaRPr lang="zh-CN" altLang="en-US" sz="2000">
              <a:solidFill>
                <a:srgbClr val="FF0000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221288" y="558800"/>
            <a:ext cx="1576387" cy="368300"/>
          </a:xfrm>
          <a:prstGeom prst="rect">
            <a:avLst/>
          </a:prstGeom>
          <a:solidFill>
            <a:srgbClr val="92D050"/>
          </a:solidFill>
          <a:ln w="9525">
            <a:noFill/>
          </a:ln>
        </p:spPr>
        <p:txBody>
          <a:bodyPr wrap="square" anchor="t" anchorCtr="0">
            <a:spAutoFit/>
          </a:bodyPr>
          <a:p>
            <a:pPr eaLnBrk="0" hangingPunct="0"/>
            <a:r>
              <a:rPr lang="zh-CN" altLang="en-US" sz="1800">
                <a:solidFill>
                  <a:srgbClr val="FF0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肥皂进给运动</a:t>
            </a:r>
            <a:endParaRPr lang="zh-CN" altLang="en-US" sz="1800">
              <a:solidFill>
                <a:srgbClr val="FF0000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590800" y="2763838"/>
            <a:ext cx="1557338" cy="368300"/>
          </a:xfrm>
          <a:prstGeom prst="rect">
            <a:avLst/>
          </a:prstGeom>
          <a:solidFill>
            <a:srgbClr val="92D050"/>
          </a:solidFill>
          <a:ln w="9525">
            <a:noFill/>
          </a:ln>
        </p:spPr>
        <p:txBody>
          <a:bodyPr wrap="square" anchor="t" anchorCtr="0">
            <a:spAutoFit/>
          </a:bodyPr>
          <a:p>
            <a:pPr eaLnBrk="0" hangingPunct="0"/>
            <a:r>
              <a:rPr lang="zh-CN" altLang="en-US" sz="1800">
                <a:solidFill>
                  <a:srgbClr val="FF0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成品移位运动</a:t>
            </a:r>
            <a:endParaRPr lang="zh-CN" altLang="en-US" sz="1800">
              <a:solidFill>
                <a:srgbClr val="FF0000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6854825" y="2622550"/>
            <a:ext cx="1897063" cy="398463"/>
          </a:xfrm>
          <a:prstGeom prst="rect">
            <a:avLst/>
          </a:prstGeom>
          <a:solidFill>
            <a:srgbClr val="92D050"/>
          </a:solidFill>
          <a:ln w="9525">
            <a:noFill/>
          </a:ln>
        </p:spPr>
        <p:txBody>
          <a:bodyPr wrap="square" anchor="t" anchorCtr="0">
            <a:spAutoFit/>
          </a:bodyPr>
          <a:p>
            <a:pPr eaLnBrk="0" hangingPunct="0"/>
            <a:r>
              <a:rPr lang="zh-CN" altLang="en-US" sz="2000">
                <a:solidFill>
                  <a:srgbClr val="FF0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成品移位运动</a:t>
            </a:r>
            <a:endParaRPr lang="zh-CN" altLang="en-US" sz="2000">
              <a:solidFill>
                <a:srgbClr val="FF0000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71450" y="927100"/>
            <a:ext cx="1376363" cy="830263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wrap="square" anchor="t" anchorCtr="0">
            <a:spAutoFit/>
          </a:bodyPr>
          <a:p>
            <a:pPr algn="ctr" eaLnBrk="0" hangingPunct="0"/>
            <a:r>
              <a:rPr lang="en-US" altLang="zh-CN" sz="2400" dirty="0">
                <a:solidFill>
                  <a:srgbClr val="0000CC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2.</a:t>
            </a:r>
            <a:r>
              <a:rPr lang="zh-CN" altLang="en-US" sz="2400" dirty="0">
                <a:solidFill>
                  <a:srgbClr val="0000CC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肥皂压花机</a:t>
            </a:r>
            <a:endParaRPr lang="zh-CN" altLang="en-US" sz="2400" dirty="0">
              <a:solidFill>
                <a:srgbClr val="0000CC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/>
      <p:bldP spid="3" grpId="0" bldLvl="0" animBg="1"/>
      <p:bldP spid="5" grpId="0" bldLvl="0" animBg="1"/>
      <p:bldP spid="6" grpId="0" bldLvl="0" animBg="1"/>
      <p:bldP spid="7" grpId="0" bldLvl="0" animBg="1"/>
      <p:bldP spid="8" grpId="0" bldLvl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4577" name="Rectangle 20"/>
          <p:cNvSpPr>
            <a:spLocks noGrp="1"/>
          </p:cNvSpPr>
          <p:nvPr>
            <p:ph type="title"/>
          </p:nvPr>
        </p:nvSpPr>
        <p:spPr>
          <a:xfrm>
            <a:off x="5410200" y="685800"/>
            <a:ext cx="1752600" cy="228600"/>
          </a:xfrm>
          <a:noFill/>
          <a:ln>
            <a:noFill/>
          </a:ln>
        </p:spPr>
        <p:txBody>
          <a:bodyPr anchor="t" anchorCtr="0"/>
          <a:p>
            <a:pPr eaLnBrk="1" hangingPunct="1"/>
            <a:r>
              <a:rPr lang="zh-CN" altLang="en-US" sz="800" dirty="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材料疲劳的两种类别</a:t>
            </a:r>
            <a:endParaRPr lang="zh-CN" altLang="en-US" dirty="0"/>
          </a:p>
        </p:txBody>
      </p:sp>
      <p:sp>
        <p:nvSpPr>
          <p:cNvPr id="24578" name="Rectangle 21"/>
          <p:cNvSpPr/>
          <p:nvPr/>
        </p:nvSpPr>
        <p:spPr>
          <a:xfrm>
            <a:off x="849313" y="136525"/>
            <a:ext cx="4824412" cy="549275"/>
          </a:xfrm>
          <a:prstGeom prst="rect">
            <a:avLst/>
          </a:prstGeom>
          <a:noFill/>
          <a:ln w="9525">
            <a:noFill/>
          </a:ln>
        </p:spPr>
        <p:txBody>
          <a:bodyPr tIns="18000" anchor="ctr" anchorCtr="1"/>
          <a:p>
            <a:r>
              <a:rPr lang="zh-CN" altLang="en-US" sz="3000" dirty="0">
                <a:solidFill>
                  <a:schemeClr val="bg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机械系统设计方案实例分析</a:t>
            </a:r>
            <a:endParaRPr lang="zh-CN" altLang="en-US" sz="3000" dirty="0">
              <a:solidFill>
                <a:schemeClr val="bg1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pic>
        <p:nvPicPr>
          <p:cNvPr id="24579" name="Picture 28" descr="rewind1">
            <a:hlinkClick r:id="rId1" action="ppaction://hlinksldjump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7038" y="6510338"/>
            <a:ext cx="287337" cy="28733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4580" name="Picture 30" descr="NEXT1">
            <a:hlinkClick r:id="" action="ppaction://hlinkshowjump?jump=nextslide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16975" y="6508750"/>
            <a:ext cx="287338" cy="28733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9278" name="Text Box 62"/>
          <p:cNvSpPr txBox="1"/>
          <p:nvPr/>
        </p:nvSpPr>
        <p:spPr>
          <a:xfrm>
            <a:off x="6081713" y="6157913"/>
            <a:ext cx="268287" cy="427037"/>
          </a:xfrm>
          <a:prstGeom prst="rect">
            <a:avLst/>
          </a:prstGeom>
          <a:noFill/>
          <a:ln w="9525">
            <a:noFill/>
          </a:ln>
        </p:spPr>
        <p:txBody>
          <a:bodyPr wrap="none" lIns="90000" tIns="46800" rIns="90000" bIns="46800" anchor="t" anchorCtr="0">
            <a:spAutoFit/>
          </a:bodyPr>
          <a:p>
            <a:r>
              <a:rPr lang="en-US" altLang="zh-CN" dirty="0">
                <a:latin typeface="Tahoma" panose="020B0604030504040204" pitchFamily="34" charset="0"/>
                <a:ea typeface="华文中宋" panose="02010600040101010101" pitchFamily="2" charset="-122"/>
              </a:rPr>
              <a:t> </a:t>
            </a:r>
            <a:endParaRPr lang="en-US" altLang="zh-CN" dirty="0">
              <a:latin typeface="Tahoma" panose="020B0604030504040204" pitchFamily="34" charset="0"/>
              <a:ea typeface="华文中宋" panose="02010600040101010101" pitchFamily="2" charset="-122"/>
            </a:endParaRPr>
          </a:p>
        </p:txBody>
      </p:sp>
      <p:pic>
        <p:nvPicPr>
          <p:cNvPr id="24582" name="Picture 35" descr="back1">
            <a:hlinkClick r:id="" action="ppaction://hlinkshowjump?jump=previousslide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55025" y="6508750"/>
            <a:ext cx="287338" cy="28733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8" name="文本框 7"/>
          <p:cNvSpPr txBox="1"/>
          <p:nvPr/>
        </p:nvSpPr>
        <p:spPr>
          <a:xfrm>
            <a:off x="766763" y="914400"/>
            <a:ext cx="6396037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eaLnBrk="0" hangingPunct="0"/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</a:rPr>
              <a:t>肥皂压花机传动系统为三路并联分流传动：</a:t>
            </a:r>
            <a:endParaRPr lang="zh-CN" altLang="en-US" sz="2400" dirty="0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3494088" y="5849938"/>
            <a:ext cx="4567237" cy="3079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eaLnBrk="0" hangingPunct="0"/>
            <a:r>
              <a:rPr lang="zh-CN" altLang="zh-CN" sz="1400" dirty="0">
                <a:latin typeface="Tahoma" panose="020B0604030504040204" pitchFamily="34" charset="0"/>
                <a:ea typeface="华文中宋" panose="02010600040101010101" pitchFamily="2" charset="-122"/>
              </a:rPr>
              <a:t>图</a:t>
            </a:r>
            <a:r>
              <a:rPr lang="en-US" altLang="zh-CN" sz="1400" dirty="0">
                <a:latin typeface="Tahoma" panose="020B0604030504040204" pitchFamily="34" charset="0"/>
                <a:ea typeface="华文中宋" panose="02010600040101010101" pitchFamily="2" charset="-122"/>
              </a:rPr>
              <a:t>1.4-8 </a:t>
            </a:r>
            <a:r>
              <a:rPr lang="zh-CN" altLang="zh-CN" sz="1400" dirty="0">
                <a:latin typeface="Tahoma" panose="020B0604030504040204" pitchFamily="34" charset="0"/>
                <a:ea typeface="华文中宋" panose="02010600040101010101" pitchFamily="2" charset="-122"/>
              </a:rPr>
              <a:t>肥皂压花机传动路线图</a:t>
            </a:r>
            <a:endParaRPr lang="zh-CN" altLang="zh-CN" sz="1400" dirty="0">
              <a:latin typeface="Tahoma" panose="020B0604030504040204" pitchFamily="34" charset="0"/>
              <a:ea typeface="华文中宋" panose="02010600040101010101" pitchFamily="2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6763" y="1616075"/>
            <a:ext cx="7129462" cy="40005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2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2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78" grpId="0"/>
      <p:bldP spid="8" grpId="0"/>
      <p:bldP spid="9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5601" name="Rectangle 20"/>
          <p:cNvSpPr>
            <a:spLocks noGrp="1"/>
          </p:cNvSpPr>
          <p:nvPr>
            <p:ph type="title"/>
          </p:nvPr>
        </p:nvSpPr>
        <p:spPr>
          <a:xfrm>
            <a:off x="5410200" y="685800"/>
            <a:ext cx="1752600" cy="228600"/>
          </a:xfrm>
          <a:noFill/>
          <a:ln>
            <a:noFill/>
          </a:ln>
        </p:spPr>
        <p:txBody>
          <a:bodyPr anchor="t" anchorCtr="0"/>
          <a:p>
            <a:pPr eaLnBrk="1" hangingPunct="1"/>
            <a:r>
              <a:rPr lang="zh-CN" altLang="en-US" sz="800" dirty="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材料疲劳的两种类别</a:t>
            </a:r>
            <a:endParaRPr lang="zh-CN" altLang="en-US" dirty="0"/>
          </a:p>
        </p:txBody>
      </p:sp>
      <p:sp>
        <p:nvSpPr>
          <p:cNvPr id="25602" name="Rectangle 21"/>
          <p:cNvSpPr/>
          <p:nvPr/>
        </p:nvSpPr>
        <p:spPr>
          <a:xfrm>
            <a:off x="976313" y="28575"/>
            <a:ext cx="4824412" cy="549275"/>
          </a:xfrm>
          <a:prstGeom prst="rect">
            <a:avLst/>
          </a:prstGeom>
          <a:noFill/>
          <a:ln w="9525">
            <a:noFill/>
          </a:ln>
        </p:spPr>
        <p:txBody>
          <a:bodyPr tIns="18000" anchor="ctr" anchorCtr="1"/>
          <a:p>
            <a:r>
              <a:rPr lang="zh-CN" altLang="en-US" sz="3000" dirty="0">
                <a:solidFill>
                  <a:schemeClr val="bg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机械系统设计方案实例分析</a:t>
            </a:r>
            <a:endParaRPr lang="zh-CN" altLang="en-US" sz="3000" dirty="0">
              <a:solidFill>
                <a:schemeClr val="bg1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pic>
        <p:nvPicPr>
          <p:cNvPr id="25603" name="Picture 28" descr="rewind1">
            <a:hlinkClick r:id="rId1" action="ppaction://hlinksldjump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7038" y="6510338"/>
            <a:ext cx="287337" cy="28733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5604" name="Picture 30" descr="NEXT1">
            <a:hlinkClick r:id="" action="ppaction://hlinkshowjump?jump=nextslide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16975" y="6508750"/>
            <a:ext cx="287338" cy="28733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9278" name="Text Box 62"/>
          <p:cNvSpPr txBox="1"/>
          <p:nvPr/>
        </p:nvSpPr>
        <p:spPr>
          <a:xfrm>
            <a:off x="6081713" y="6157913"/>
            <a:ext cx="268287" cy="427037"/>
          </a:xfrm>
          <a:prstGeom prst="rect">
            <a:avLst/>
          </a:prstGeom>
          <a:noFill/>
          <a:ln w="9525">
            <a:noFill/>
          </a:ln>
        </p:spPr>
        <p:txBody>
          <a:bodyPr wrap="none" lIns="90000" tIns="46800" rIns="90000" bIns="46800" anchor="t" anchorCtr="0">
            <a:spAutoFit/>
          </a:bodyPr>
          <a:p>
            <a:r>
              <a:rPr lang="en-US" altLang="zh-CN" dirty="0">
                <a:latin typeface="Tahoma" panose="020B0604030504040204" pitchFamily="34" charset="0"/>
                <a:ea typeface="华文中宋" panose="02010600040101010101" pitchFamily="2" charset="-122"/>
              </a:rPr>
              <a:t> </a:t>
            </a:r>
            <a:endParaRPr lang="en-US" altLang="zh-CN" dirty="0">
              <a:latin typeface="Tahoma" panose="020B0604030504040204" pitchFamily="34" charset="0"/>
              <a:ea typeface="华文中宋" panose="02010600040101010101" pitchFamily="2" charset="-122"/>
            </a:endParaRPr>
          </a:p>
        </p:txBody>
      </p:sp>
      <p:pic>
        <p:nvPicPr>
          <p:cNvPr id="25606" name="Picture 35" descr="back1">
            <a:hlinkClick r:id="" action="ppaction://hlinkshowjump?jump=previousslide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55025" y="6508750"/>
            <a:ext cx="287338" cy="28733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8" name="文本框 7"/>
          <p:cNvSpPr txBox="1"/>
          <p:nvPr/>
        </p:nvSpPr>
        <p:spPr>
          <a:xfrm>
            <a:off x="1476375" y="1128713"/>
            <a:ext cx="5040313" cy="40005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eaLnBrk="0" hangingPunct="0"/>
            <a:r>
              <a:rPr lang="zh-CN" altLang="en-US" sz="2000" dirty="0">
                <a:latin typeface="Tahoma" panose="020B0604030504040204" pitchFamily="34" charset="0"/>
                <a:ea typeface="华文中宋" panose="02010600040101010101" pitchFamily="2" charset="-122"/>
              </a:rPr>
              <a:t>例题</a:t>
            </a:r>
            <a:r>
              <a:rPr lang="en-US" altLang="zh-CN" sz="2000" dirty="0">
                <a:latin typeface="Tahoma" panose="020B0604030504040204" pitchFamily="34" charset="0"/>
                <a:ea typeface="华文中宋" panose="02010600040101010101" pitchFamily="2" charset="-122"/>
              </a:rPr>
              <a:t>1.4-1</a:t>
            </a:r>
            <a:r>
              <a:rPr lang="zh-CN" altLang="en-US" sz="2000" dirty="0">
                <a:latin typeface="Tahoma" panose="020B0604030504040204" pitchFamily="34" charset="0"/>
                <a:ea typeface="华文中宋" panose="02010600040101010101" pitchFamily="2" charset="-122"/>
              </a:rPr>
              <a:t>（自己看）</a:t>
            </a:r>
            <a:endParaRPr lang="zh-CN" altLang="en-US" sz="2000" dirty="0">
              <a:latin typeface="Tahoma" panose="020B0604030504040204" pitchFamily="34" charset="0"/>
              <a:ea typeface="华文中宋" panose="02010600040101010101" pitchFamily="2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3494088" y="5849938"/>
            <a:ext cx="4567237" cy="3079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eaLnBrk="0" hangingPunct="0"/>
            <a:r>
              <a:rPr lang="zh-CN" altLang="zh-CN" sz="1400" dirty="0">
                <a:latin typeface="Tahoma" panose="020B0604030504040204" pitchFamily="34" charset="0"/>
                <a:ea typeface="华文中宋" panose="02010600040101010101" pitchFamily="2" charset="-122"/>
              </a:rPr>
              <a:t>图</a:t>
            </a:r>
            <a:r>
              <a:rPr lang="en-US" altLang="zh-CN" sz="1400" dirty="0">
                <a:latin typeface="Tahoma" panose="020B0604030504040204" pitchFamily="34" charset="0"/>
                <a:ea typeface="华文中宋" panose="02010600040101010101" pitchFamily="2" charset="-122"/>
              </a:rPr>
              <a:t>1.4-9 </a:t>
            </a:r>
            <a:r>
              <a:rPr lang="zh-CN" altLang="zh-CN" sz="1400" dirty="0">
                <a:latin typeface="Tahoma" panose="020B0604030504040204" pitchFamily="34" charset="0"/>
                <a:ea typeface="华文中宋" panose="02010600040101010101" pitchFamily="2" charset="-122"/>
              </a:rPr>
              <a:t>绕线机机械系统设计方案</a:t>
            </a:r>
            <a:endParaRPr lang="zh-CN" altLang="zh-CN" sz="1400" dirty="0">
              <a:latin typeface="Tahoma" panose="020B0604030504040204" pitchFamily="34" charset="0"/>
              <a:ea typeface="华文中宋" panose="02010600040101010101" pitchFamily="2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5">
            <a:lum contrast="72000"/>
          </a:blip>
          <a:stretch>
            <a:fillRect/>
          </a:stretch>
        </p:blipFill>
        <p:spPr>
          <a:xfrm>
            <a:off x="2921000" y="1643063"/>
            <a:ext cx="3619500" cy="3963987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2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2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78" grpId="0"/>
      <p:bldP spid="8" grpId="0"/>
      <p:bldP spid="9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6625" name="Rectangle 20"/>
          <p:cNvSpPr>
            <a:spLocks noGrp="1"/>
          </p:cNvSpPr>
          <p:nvPr>
            <p:ph type="title"/>
          </p:nvPr>
        </p:nvSpPr>
        <p:spPr>
          <a:xfrm>
            <a:off x="5410200" y="685800"/>
            <a:ext cx="1752600" cy="228600"/>
          </a:xfrm>
          <a:noFill/>
          <a:ln>
            <a:noFill/>
          </a:ln>
        </p:spPr>
        <p:txBody>
          <a:bodyPr anchor="t" anchorCtr="0"/>
          <a:p>
            <a:pPr eaLnBrk="1" hangingPunct="1"/>
            <a:r>
              <a:rPr lang="zh-CN" altLang="en-US" sz="800" dirty="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材料疲劳的两种类别</a:t>
            </a:r>
            <a:endParaRPr lang="zh-CN" altLang="en-US" dirty="0"/>
          </a:p>
        </p:txBody>
      </p:sp>
      <p:sp>
        <p:nvSpPr>
          <p:cNvPr id="26626" name="Rectangle 21"/>
          <p:cNvSpPr/>
          <p:nvPr/>
        </p:nvSpPr>
        <p:spPr>
          <a:xfrm>
            <a:off x="1019175" y="44450"/>
            <a:ext cx="4824413" cy="549275"/>
          </a:xfrm>
          <a:prstGeom prst="rect">
            <a:avLst/>
          </a:prstGeom>
          <a:noFill/>
          <a:ln w="9525">
            <a:noFill/>
          </a:ln>
        </p:spPr>
        <p:txBody>
          <a:bodyPr tIns="18000" anchor="ctr" anchorCtr="1"/>
          <a:p>
            <a:r>
              <a:rPr lang="zh-CN" altLang="en-US" sz="3000" dirty="0">
                <a:solidFill>
                  <a:schemeClr val="bg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机械系统在本课程中的作用</a:t>
            </a:r>
            <a:endParaRPr lang="zh-CN" altLang="en-US" sz="3000" dirty="0">
              <a:solidFill>
                <a:schemeClr val="bg1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pic>
        <p:nvPicPr>
          <p:cNvPr id="26627" name="Picture 28" descr="rewind1">
            <a:hlinkClick r:id="rId1" action="ppaction://hlinksldjump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6425" y="6510338"/>
            <a:ext cx="287338" cy="28733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9278" name="Text Box 62"/>
          <p:cNvSpPr txBox="1"/>
          <p:nvPr/>
        </p:nvSpPr>
        <p:spPr>
          <a:xfrm>
            <a:off x="6081713" y="6157913"/>
            <a:ext cx="268287" cy="427037"/>
          </a:xfrm>
          <a:prstGeom prst="rect">
            <a:avLst/>
          </a:prstGeom>
          <a:noFill/>
          <a:ln w="9525">
            <a:noFill/>
          </a:ln>
        </p:spPr>
        <p:txBody>
          <a:bodyPr wrap="none" lIns="90000" tIns="46800" rIns="90000" bIns="46800" anchor="t" anchorCtr="0">
            <a:spAutoFit/>
          </a:bodyPr>
          <a:p>
            <a:r>
              <a:rPr lang="en-US" altLang="zh-CN" dirty="0">
                <a:latin typeface="Tahoma" panose="020B0604030504040204" pitchFamily="34" charset="0"/>
                <a:ea typeface="华文中宋" panose="02010600040101010101" pitchFamily="2" charset="-122"/>
              </a:rPr>
              <a:t> </a:t>
            </a:r>
            <a:endParaRPr lang="en-US" altLang="zh-CN" dirty="0">
              <a:latin typeface="Tahoma" panose="020B0604030504040204" pitchFamily="34" charset="0"/>
              <a:ea typeface="华文中宋" panose="02010600040101010101" pitchFamily="2" charset="-122"/>
            </a:endParaRPr>
          </a:p>
        </p:txBody>
      </p:sp>
      <p:pic>
        <p:nvPicPr>
          <p:cNvPr id="26629" name="Picture 35" descr="back1">
            <a:hlinkClick r:id="" action="ppaction://hlinkshowjump?jump=previousslide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6313" y="6510338"/>
            <a:ext cx="287337" cy="28733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8" name="文本框 7"/>
          <p:cNvSpPr txBox="1"/>
          <p:nvPr/>
        </p:nvSpPr>
        <p:spPr>
          <a:xfrm>
            <a:off x="893763" y="2060575"/>
            <a:ext cx="7561262" cy="101441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eaLnBrk="0" hangingPunct="0">
              <a:lnSpc>
                <a:spcPct val="150000"/>
              </a:lnSpc>
            </a:pPr>
            <a:r>
              <a:rPr lang="en-US" altLang="zh-CN" sz="2000" dirty="0">
                <a:latin typeface="Tahoma" panose="020B0604030504040204" pitchFamily="34" charset="0"/>
                <a:ea typeface="华文中宋" panose="02010600040101010101" pitchFamily="2" charset="-122"/>
              </a:rPr>
              <a:t>       </a:t>
            </a:r>
            <a:r>
              <a:rPr lang="zh-CN" altLang="zh-CN" sz="2000" dirty="0">
                <a:latin typeface="Tahoma" panose="020B0604030504040204" pitchFamily="34" charset="0"/>
                <a:ea typeface="华文中宋" panose="02010600040101010101" pitchFamily="2" charset="-122"/>
              </a:rPr>
              <a:t>为了实现学生具有设计完整机器概念和能力的教学目标，本课程接下来的教学完全依托于机械系统即实际的机器设计而展开</a:t>
            </a:r>
            <a:r>
              <a:rPr lang="zh-CN" altLang="en-US" sz="2000" dirty="0">
                <a:latin typeface="Tahoma" panose="020B0604030504040204" pitchFamily="34" charset="0"/>
                <a:ea typeface="华文中宋" panose="02010600040101010101" pitchFamily="2" charset="-122"/>
              </a:rPr>
              <a:t>。</a:t>
            </a:r>
            <a:endParaRPr lang="zh-CN" altLang="zh-CN" sz="2000" dirty="0">
              <a:latin typeface="Tahoma" panose="020B0604030504040204" pitchFamily="34" charset="0"/>
              <a:ea typeface="华文中宋" panose="02010600040101010101" pitchFamily="2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992188" y="3779838"/>
            <a:ext cx="7632700" cy="40005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eaLnBrk="0" hangingPunct="0"/>
            <a:r>
              <a:rPr lang="zh-CN" altLang="en-US" sz="2000" dirty="0">
                <a:latin typeface="Tahoma" panose="020B0604030504040204" pitchFamily="34" charset="0"/>
                <a:ea typeface="华文中宋" panose="02010600040101010101" pitchFamily="2" charset="-122"/>
              </a:rPr>
              <a:t>因此，</a:t>
            </a:r>
            <a:r>
              <a:rPr lang="zh-CN" altLang="zh-CN" sz="2000" dirty="0">
                <a:solidFill>
                  <a:srgbClr val="0000FF"/>
                </a:solidFill>
                <a:latin typeface="Tahoma" panose="020B0604030504040204" pitchFamily="34" charset="0"/>
                <a:ea typeface="华文中宋" panose="02010600040101010101" pitchFamily="2" charset="-122"/>
              </a:rPr>
              <a:t>机械系统在本课程教学体系当中起的是骨干和桥梁的作用。</a:t>
            </a:r>
            <a:endParaRPr lang="zh-CN" altLang="zh-CN" sz="2000" dirty="0">
              <a:solidFill>
                <a:srgbClr val="0000FF"/>
              </a:solidFill>
              <a:latin typeface="Tahoma" panose="020B0604030504040204" pitchFamily="34" charset="0"/>
              <a:ea typeface="华文中宋" panose="02010600040101010101" pitchFamily="2" charset="-122"/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2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2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78" grpId="0"/>
      <p:bldP spid="8" grpId="0"/>
      <p:bldP spid="2" grpId="0"/>
    </p:bldLst>
  </p:timing>
</p:sld>
</file>

<file path=ppt/tags/tag1.xml><?xml version="1.0" encoding="utf-8"?>
<p:tagLst xmlns:p="http://schemas.openxmlformats.org/presentationml/2006/main">
  <p:tag name="KSO_WM_UNIT_TABLE_BEAUTIFY" val="smartTable{8debc689-d1c8-4141-b609-29eb45df2f31}"/>
  <p:tag name="TABLE_ENDDRAG_ORIGIN_RECT" val="623*376"/>
  <p:tag name="TABLE_ENDDRAG_RECT" val="42*110*623*376"/>
</p:tagLst>
</file>

<file path=ppt/tags/tag2.xml><?xml version="1.0" encoding="utf-8"?>
<p:tagLst xmlns:p="http://schemas.openxmlformats.org/presentationml/2006/main">
  <p:tag name="KSO_WPP_MARK_KEY" val="f7c0375d-a6de-4fba-b064-31e7ab6a99ff"/>
  <p:tag name="COMMONDATA" val="eyJoZGlkIjoiODk3YzliYzQ3NTAyNjgyYWRlZTQ4ZTRhMjMwOWMzOGEifQ=="/>
  <p:tag name="commondata" val="eyJoZGlkIjoiZmYwY2UxNzI0ODdjMTkzYTM2NmQ4OTdkNGYwMzJlYmMifQ=="/>
</p:tagLst>
</file>

<file path=ppt/theme/theme1.xml><?xml version="1.0" encoding="utf-8"?>
<a:theme xmlns:a="http://schemas.openxmlformats.org/drawingml/2006/main" name="Blueprint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53A77"/>
      </a:accent4>
      <a:accent5>
        <a:srgbClr val="F4E9C1"/>
      </a:accent5>
      <a:accent6>
        <a:srgbClr val="A1A1A1"/>
      </a:accent6>
      <a:hlink>
        <a:srgbClr val="0000FF"/>
      </a:hlink>
      <a:folHlink>
        <a:srgbClr val="3333FF"/>
      </a:folHlink>
    </a:clrScheme>
    <a:fontScheme name="Blueprint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</a:spPr>
      <a:bodyPr vert="horz" wrap="square" lIns="90000" tIns="46800" rIns="90000" bIns="4680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华文中宋" panose="0201060004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</a:spPr>
      <a:bodyPr vert="horz" wrap="square" lIns="90000" tIns="46800" rIns="90000" bIns="4680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华文中宋" panose="02010600040101010101" pitchFamily="2" charset="-122"/>
          </a:defRPr>
        </a:defPPr>
      </a:lstStyle>
    </a:lnDef>
  </a:objectDefaults>
  <a:extraClrSchemeLst>
    <a:extraClrScheme>
      <a:clrScheme name="Blueprint 1">
        <a:dk1>
          <a:srgbClr val="000000"/>
        </a:dk1>
        <a:lt1>
          <a:srgbClr val="FFFFFF"/>
        </a:lt1>
        <a:dk2>
          <a:srgbClr val="40458C"/>
        </a:dk2>
        <a:lt2>
          <a:srgbClr val="FFFFCC"/>
        </a:lt2>
        <a:accent1>
          <a:srgbClr val="8D8DB3"/>
        </a:accent1>
        <a:accent2>
          <a:srgbClr val="B2B2B2"/>
        </a:accent2>
        <a:accent3>
          <a:srgbClr val="AFB0C5"/>
        </a:accent3>
        <a:accent4>
          <a:srgbClr val="DADADA"/>
        </a:accent4>
        <a:accent5>
          <a:srgbClr val="C5C5D6"/>
        </a:accent5>
        <a:accent6>
          <a:srgbClr val="A1A1A1"/>
        </a:accent6>
        <a:hlink>
          <a:srgbClr val="6F89F7"/>
        </a:hlink>
        <a:folHlink>
          <a:srgbClr val="4F56AD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2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53A77"/>
        </a:accent4>
        <a:accent5>
          <a:srgbClr val="F4E9C1"/>
        </a:accent5>
        <a:accent6>
          <a:srgbClr val="A1A1A1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3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4D4D4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4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4AF5D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5">
        <a:dk1>
          <a:srgbClr val="000000"/>
        </a:dk1>
        <a:lt1>
          <a:srgbClr val="FFFFFF"/>
        </a:lt1>
        <a:dk2>
          <a:srgbClr val="003366"/>
        </a:dk2>
        <a:lt2>
          <a:srgbClr val="CCFFCC"/>
        </a:lt2>
        <a:accent1>
          <a:srgbClr val="006699"/>
        </a:accent1>
        <a:accent2>
          <a:srgbClr val="009999"/>
        </a:accent2>
        <a:accent3>
          <a:srgbClr val="AAADB8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99CC"/>
        </a:hlink>
        <a:folHlink>
          <a:srgbClr val="00458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6">
        <a:dk1>
          <a:srgbClr val="000000"/>
        </a:dk1>
        <a:lt1>
          <a:srgbClr val="FFFFFF"/>
        </a:lt1>
        <a:dk2>
          <a:srgbClr val="004A48"/>
        </a:dk2>
        <a:lt2>
          <a:srgbClr val="33CCCC"/>
        </a:lt2>
        <a:accent1>
          <a:srgbClr val="006699"/>
        </a:accent1>
        <a:accent2>
          <a:srgbClr val="009999"/>
        </a:accent2>
        <a:accent3>
          <a:srgbClr val="AAB1B1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CC99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7">
        <a:dk1>
          <a:srgbClr val="000000"/>
        </a:dk1>
        <a:lt1>
          <a:srgbClr val="FFFFFF"/>
        </a:lt1>
        <a:dk2>
          <a:srgbClr val="333300"/>
        </a:dk2>
        <a:lt2>
          <a:srgbClr val="FFFFCC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808000"/>
        </a:hlink>
        <a:folHlink>
          <a:srgbClr val="525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8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3"/>
        </a:accent5>
        <a:accent6>
          <a:srgbClr val="73B0B5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Office\Templates\Presentation Designs\Blueprint.pot</Template>
  <TotalTime>0</TotalTime>
  <Words>2439</Words>
  <Application>WPS 演示</Application>
  <PresentationFormat>全屏显示(4:3)</PresentationFormat>
  <Paragraphs>243</Paragraphs>
  <Slides>19</Slides>
  <Notes>0</Notes>
  <HiddenSlides>13</HiddenSlides>
  <MMClips>0</MMClips>
  <ScaleCrop>false</ScaleCrop>
  <HeadingPairs>
    <vt:vector size="8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0</vt:i4>
      </vt:variant>
      <vt:variant>
        <vt:lpstr>幻灯片标题</vt:lpstr>
      </vt:variant>
      <vt:variant>
        <vt:i4>19</vt:i4>
      </vt:variant>
    </vt:vector>
  </HeadingPairs>
  <TitlesOfParts>
    <vt:vector size="30" baseType="lpstr">
      <vt:lpstr>Arial</vt:lpstr>
      <vt:lpstr>宋体</vt:lpstr>
      <vt:lpstr>Wingdings</vt:lpstr>
      <vt:lpstr>Tahoma</vt:lpstr>
      <vt:lpstr>华文中宋</vt:lpstr>
      <vt:lpstr>Times New Roman</vt:lpstr>
      <vt:lpstr>黑体</vt:lpstr>
      <vt:lpstr>Calibri</vt:lpstr>
      <vt:lpstr>微软雅黑</vt:lpstr>
      <vt:lpstr>Arial Unicode MS</vt:lpstr>
      <vt:lpstr>Blueprint</vt:lpstr>
      <vt:lpstr>第 1.4 章 机械系统概述</vt:lpstr>
      <vt:lpstr>PowerPoint 演示文稿</vt:lpstr>
      <vt:lpstr>PowerPoint 演示文稿</vt:lpstr>
      <vt:lpstr>材料疲劳的两种类别</vt:lpstr>
      <vt:lpstr>PowerPoint 演示文稿</vt:lpstr>
      <vt:lpstr>PowerPoint 演示文稿</vt:lpstr>
      <vt:lpstr>材料疲劳的两种类别</vt:lpstr>
      <vt:lpstr>材料疲劳的两种类别</vt:lpstr>
      <vt:lpstr>PowerPoint 演示文稿</vt:lpstr>
      <vt:lpstr>材料疲劳的两种类别</vt:lpstr>
      <vt:lpstr>材料疲劳的两种类别</vt:lpstr>
      <vt:lpstr>材料疲劳的两种类别</vt:lpstr>
      <vt:lpstr>材料疲劳的两种类别</vt:lpstr>
      <vt:lpstr>PowerPoint 演示文稿</vt:lpstr>
      <vt:lpstr>材料疲劳的两种类别</vt:lpstr>
      <vt:lpstr>PowerPoint 演示文稿</vt:lpstr>
      <vt:lpstr>材料疲劳的两种类别</vt:lpstr>
      <vt:lpstr>材料疲劳的两种类别</vt:lpstr>
      <vt:lpstr>材料疲劳的两种类别</vt:lpstr>
    </vt:vector>
  </TitlesOfParts>
  <Company>nwpu209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wuliyan</dc:creator>
  <cp:lastModifiedBy>DQH</cp:lastModifiedBy>
  <cp:revision>391</cp:revision>
  <dcterms:created xsi:type="dcterms:W3CDTF">2002-03-15T12:39:00Z</dcterms:created>
  <dcterms:modified xsi:type="dcterms:W3CDTF">2025-09-08T09:01:12Z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2052-12.1.0.22529</vt:lpwstr>
  </property>
  <property fmtid="{D5CDD505-2E9C-101B-9397-08002B2CF9AE}" pid="3" name="ICV">
    <vt:lpwstr>16EE60C26C67401AB150506B211E7D29_13</vt:lpwstr>
  </property>
</Properties>
</file>