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sldIdLst>
    <p:sldId id="2745" r:id="rId3"/>
    <p:sldId id="2746" r:id="rId5"/>
    <p:sldId id="2747" r:id="rId6"/>
    <p:sldId id="2754" r:id="rId7"/>
    <p:sldId id="2777" r:id="rId8"/>
    <p:sldId id="2752" r:id="rId9"/>
    <p:sldId id="2797" r:id="rId10"/>
    <p:sldId id="2786" r:id="rId11"/>
    <p:sldId id="2782" r:id="rId12"/>
    <p:sldId id="2819" r:id="rId13"/>
    <p:sldId id="2820" r:id="rId14"/>
    <p:sldId id="2821" r:id="rId15"/>
    <p:sldId id="2822" r:id="rId16"/>
    <p:sldId id="2823" r:id="rId17"/>
    <p:sldId id="2831" r:id="rId18"/>
    <p:sldId id="2832" r:id="rId19"/>
    <p:sldId id="2833" r:id="rId20"/>
    <p:sldId id="2834" r:id="rId21"/>
    <p:sldId id="2835" r:id="rId22"/>
    <p:sldId id="2836" r:id="rId23"/>
    <p:sldId id="2837" r:id="rId24"/>
    <p:sldId id="2838" r:id="rId25"/>
    <p:sldId id="2839" r:id="rId26"/>
    <p:sldId id="2840" r:id="rId27"/>
    <p:sldId id="2787" r:id="rId28"/>
    <p:sldId id="2785" r:id="rId29"/>
    <p:sldId id="2788" r:id="rId30"/>
    <p:sldId id="2789" r:id="rId31"/>
    <p:sldId id="2811" r:id="rId32"/>
    <p:sldId id="2841" r:id="rId33"/>
    <p:sldId id="2842" r:id="rId34"/>
    <p:sldId id="2775" r:id="rId35"/>
  </p:sldIdLst>
  <p:sldSz cx="12858750" cy="7232650"/>
  <p:notesSz cx="6858000" cy="9144000"/>
  <p:custDataLst>
    <p:tags r:id="rId3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clrMru>
    <a:srgbClr val="003366"/>
    <a:srgbClr val="BFBFBF"/>
    <a:srgbClr val="212E3C"/>
    <a:srgbClr val="FBBF09"/>
    <a:srgbClr val="EF4232"/>
    <a:srgbClr val="03A9F0"/>
    <a:srgbClr val="FFFFFF"/>
    <a:srgbClr val="FABCA8"/>
    <a:srgbClr val="57562F"/>
    <a:srgbClr val="FBCD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89" autoAdjust="0"/>
    <p:restoredTop sz="92986" autoAdjust="0"/>
  </p:normalViewPr>
  <p:slideViewPr>
    <p:cSldViewPr>
      <p:cViewPr varScale="1">
        <p:scale>
          <a:sx n="83" d="100"/>
          <a:sy n="83" d="100"/>
        </p:scale>
        <p:origin x="734" y="72"/>
      </p:cViewPr>
      <p:guideLst>
        <p:guide orient="horz" pos="359"/>
        <p:guide pos="4013"/>
        <p:guide pos="462"/>
        <p:guide orient="horz" pos="4196"/>
        <p:guide pos="7582"/>
      </p:guideLst>
    </p:cSldViewPr>
  </p:slideViewPr>
  <p:outlineViewPr>
    <p:cViewPr>
      <p:scale>
        <a:sx n="100" d="100"/>
        <a:sy n="100" d="100"/>
      </p:scale>
      <p:origin x="0" y="-144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gs" Target="tags/tag5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84039" y="6703596"/>
            <a:ext cx="2893219" cy="386187"/>
          </a:xfrm>
          <a:prstGeom prst="rect">
            <a:avLst/>
          </a:prstGeom>
        </p:spPr>
        <p:txBody>
          <a:bodyPr/>
          <a:lstStyle/>
          <a:p>
            <a:fld id="{E3AD87B8-9A4B-45E2-BBE5-FB86ADE2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259461" y="6703596"/>
            <a:ext cx="4339828" cy="38618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081492" y="6703596"/>
            <a:ext cx="2893219" cy="386187"/>
          </a:xfrm>
          <a:prstGeom prst="rect">
            <a:avLst/>
          </a:prstGeom>
        </p:spPr>
        <p:txBody>
          <a:bodyPr/>
          <a:lstStyle/>
          <a:p>
            <a:fld id="{37AAA611-6692-4583-86AB-5AB9B972BD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Relationship Id="rId3" Type="http://schemas.openxmlformats.org/officeDocument/2006/relationships/image" Target="../media/image21.png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29.png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7.png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8.png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9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5.jpe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1.xml"/><Relationship Id="rId3" Type="http://schemas.openxmlformats.org/officeDocument/2006/relationships/image" Target="../media/image52.png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2.xml"/><Relationship Id="rId3" Type="http://schemas.openxmlformats.org/officeDocument/2006/relationships/image" Target="../media/image57.png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59"/>
          <p:cNvSpPr>
            <a:spLocks noChangeArrowheads="1"/>
          </p:cNvSpPr>
          <p:nvPr/>
        </p:nvSpPr>
        <p:spPr bwMode="auto">
          <a:xfrm>
            <a:off x="1243965" y="1922780"/>
            <a:ext cx="10370185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4400" b="1" cap="all" smtClean="0">
                <a:solidFill>
                  <a:schemeClr val="accent1"/>
                </a:solidFill>
                <a:cs typeface="Arial" panose="020B0604020202020204" pitchFamily="34" charset="0"/>
              </a:rPr>
              <a:t>凸轮机构的虚拟样机法设计</a:t>
            </a:r>
            <a:endParaRPr lang="zh-CN" altLang="en-US" sz="4400" b="1" cap="all" smtClean="0">
              <a:solidFill>
                <a:schemeClr val="accent1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endParaRPr lang="en-US" altLang="zh-CN" sz="1600" cap="all" smtClean="0">
              <a:solidFill>
                <a:schemeClr val="accent1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zh-CN" altLang="en-US" cap="all" smtClean="0">
                <a:solidFill>
                  <a:schemeClr val="accent1"/>
                </a:solidFill>
                <a:cs typeface="Arial" panose="020B0604020202020204" pitchFamily="34" charset="0"/>
              </a:rPr>
              <a:t>教学课件</a:t>
            </a:r>
            <a:endParaRPr lang="zh-CN" altLang="en-US" cap="all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9" name="Freeform 6"/>
          <p:cNvSpPr/>
          <p:nvPr/>
        </p:nvSpPr>
        <p:spPr bwMode="auto">
          <a:xfrm>
            <a:off x="354" y="5397910"/>
            <a:ext cx="12858044" cy="183473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/>
        </p:nvSpPr>
        <p:spPr bwMode="auto">
          <a:xfrm>
            <a:off x="354" y="5128493"/>
            <a:ext cx="12858044" cy="593017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0">
        <p:dissolve/>
      </p:transition>
    </mc:Choice>
    <mc:Fallback>
      <p:transition spd="slow" advTm="0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7773356" y="527535"/>
            <a:ext cx="792087" cy="494751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2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en-US" altLang="zh-CN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030497" y="533599"/>
            <a:ext cx="504056" cy="4800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8" name="TextBox 148"/>
          <p:cNvSpPr txBox="1"/>
          <p:nvPr/>
        </p:nvSpPr>
        <p:spPr>
          <a:xfrm>
            <a:off x="2324919" y="1867451"/>
            <a:ext cx="2476020" cy="12060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6600" b="1" cap="all" spc="300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目录</a:t>
            </a:r>
            <a:endParaRPr lang="en-US" altLang="zh-CN" sz="6600" b="1" cap="all" spc="300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TextBox 148"/>
          <p:cNvSpPr txBox="1"/>
          <p:nvPr/>
        </p:nvSpPr>
        <p:spPr>
          <a:xfrm>
            <a:off x="1748855" y="2925140"/>
            <a:ext cx="3346876" cy="83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CONTENTS</a:t>
            </a:r>
            <a:endParaRPr lang="en-US" altLang="zh-CN" sz="4400" b="1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Freeform 6"/>
          <p:cNvSpPr/>
          <p:nvPr/>
        </p:nvSpPr>
        <p:spPr bwMode="auto">
          <a:xfrm>
            <a:off x="354" y="5397910"/>
            <a:ext cx="12858044" cy="183473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18" name="Freeform 7"/>
          <p:cNvSpPr/>
          <p:nvPr/>
        </p:nvSpPr>
        <p:spPr bwMode="auto">
          <a:xfrm>
            <a:off x="354" y="5128493"/>
            <a:ext cx="12858044" cy="593017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733631" y="486755"/>
            <a:ext cx="2388986" cy="535531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摘要</a:t>
            </a:r>
            <a:r>
              <a:rPr lang="en-US" altLang="zh-CN" sz="2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&amp;</a:t>
            </a:r>
            <a:r>
              <a:rPr lang="zh-CN" altLang="en-US" sz="2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问题分析</a:t>
            </a:r>
            <a:endParaRPr lang="en-US" altLang="zh-CN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762974" y="1226532"/>
            <a:ext cx="792087" cy="494751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2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altLang="zh-CN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34797" y="1241206"/>
            <a:ext cx="504056" cy="4800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737931" y="1213478"/>
            <a:ext cx="3871410" cy="534035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凸轮机构模拟样机建模</a:t>
            </a:r>
            <a:endParaRPr lang="en-US" altLang="zh-CN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762974" y="1910343"/>
            <a:ext cx="792087" cy="494751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2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en-US" altLang="zh-CN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034797" y="1925017"/>
            <a:ext cx="504056" cy="4800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737931" y="1897289"/>
            <a:ext cx="3295346" cy="535531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创建机构各个部件</a:t>
            </a:r>
            <a:endParaRPr lang="en-US" altLang="zh-CN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762974" y="2599721"/>
            <a:ext cx="792087" cy="494751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2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  <a:endParaRPr lang="en-US" altLang="zh-CN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034797" y="2614395"/>
            <a:ext cx="504056" cy="4800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737931" y="2586667"/>
            <a:ext cx="3295346" cy="534035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凸轮机构的仿真</a:t>
            </a:r>
            <a:endParaRPr lang="en-US" altLang="zh-CN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758674" y="3291664"/>
            <a:ext cx="792087" cy="494751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2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05</a:t>
            </a:r>
            <a:endParaRPr lang="en-US" altLang="zh-CN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030497" y="3306338"/>
            <a:ext cx="504056" cy="4800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733631" y="3278610"/>
            <a:ext cx="3875710" cy="534035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凸轮机构仿真测量分析</a:t>
            </a:r>
            <a:endParaRPr lang="en-US" altLang="zh-CN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762974" y="3978012"/>
            <a:ext cx="792087" cy="494751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2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06</a:t>
            </a:r>
            <a:endParaRPr lang="en-US" altLang="zh-CN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034797" y="3992686"/>
            <a:ext cx="504056" cy="4800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737931" y="3964958"/>
            <a:ext cx="3295346" cy="535531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课程总结</a:t>
            </a:r>
            <a:endParaRPr lang="en-US" altLang="zh-CN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48"/>
          <p:cNvSpPr txBox="1"/>
          <p:nvPr/>
        </p:nvSpPr>
        <p:spPr>
          <a:xfrm>
            <a:off x="5565279" y="249079"/>
            <a:ext cx="158924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36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摘要</a:t>
            </a:r>
            <a:endParaRPr lang="en-GB" altLang="zh-CN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259"/>
          <p:cNvSpPr>
            <a:spLocks noChangeArrowheads="1"/>
          </p:cNvSpPr>
          <p:nvPr/>
        </p:nvSpPr>
        <p:spPr bwMode="auto">
          <a:xfrm>
            <a:off x="4362543" y="172135"/>
            <a:ext cx="20882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4000" cap="all" spc="300" dirty="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01</a:t>
            </a:r>
            <a:endParaRPr lang="zh-CN" altLang="en-US" sz="4000" cap="all" spc="3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6"/>
          <p:cNvSpPr/>
          <p:nvPr/>
        </p:nvSpPr>
        <p:spPr bwMode="auto">
          <a:xfrm>
            <a:off x="354" y="5397910"/>
            <a:ext cx="12858044" cy="183473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 bwMode="auto">
          <a:xfrm>
            <a:off x="354" y="5128493"/>
            <a:ext cx="12858044" cy="593017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8" name="Rectangle 26"/>
          <p:cNvSpPr/>
          <p:nvPr/>
        </p:nvSpPr>
        <p:spPr>
          <a:xfrm>
            <a:off x="1586838" y="1149438"/>
            <a:ext cx="9685075" cy="3055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       ADAMS</a:t>
            </a:r>
            <a:r>
              <a:rPr lang="zh-CN" altLang="zh-CN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软件在分析复杂机构的运动学和动力学方面有着强大的功能。以凸轮机构为例，运用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ADAMS</a:t>
            </a:r>
            <a:r>
              <a:rPr lang="zh-CN" altLang="zh-CN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建立了机构的模型并对其进行了仿真分析，提出了应用仿真技术对凸轮机构进行运动分析的方法，在理论和实践上具有非常重要的意义</a:t>
            </a:r>
            <a:r>
              <a:rPr lang="zh-CN" altLang="zh-CN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。</a:t>
            </a:r>
            <a:endParaRPr lang="en-US" altLang="zh-CN" smtClean="0">
              <a:solidFill>
                <a:schemeClr val="bg1">
                  <a:lumMod val="65000"/>
                </a:schemeClr>
              </a:solidFill>
              <a:latin typeface="+mn-ea"/>
              <a:ea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 </a:t>
            </a:r>
            <a:r>
              <a:rPr lang="en-US" altLang="zh-CN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      </a:t>
            </a:r>
            <a:r>
              <a:rPr lang="zh-CN" altLang="zh-CN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本</a:t>
            </a:r>
            <a:r>
              <a:rPr lang="zh-CN" altLang="zh-CN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次虚拟样机仿真实验，运用本学期学到的知识建立凸轮机构的虚拟样机模型，并进行仿真分析</a:t>
            </a:r>
            <a:r>
              <a:rPr lang="zh-CN" altLang="zh-CN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。</a:t>
            </a:r>
            <a:endParaRPr lang="en-US" altLang="zh-CN" smtClean="0">
              <a:solidFill>
                <a:schemeClr val="bg1">
                  <a:lumMod val="65000"/>
                </a:schemeClr>
              </a:solidFill>
              <a:latin typeface="+mn-ea"/>
              <a:ea typeface="+mn-ea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mtClean="0">
              <a:solidFill>
                <a:schemeClr val="bg1">
                  <a:lumMod val="65000"/>
                </a:schemeClr>
              </a:solidFill>
              <a:latin typeface="+mn-ea"/>
              <a:ea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003366"/>
                </a:solidFill>
                <a:latin typeface="+mn-ea"/>
                <a:ea typeface="+mn-ea"/>
                <a:cs typeface="+mn-ea"/>
              </a:rPr>
              <a:t>关键词：</a:t>
            </a:r>
            <a:r>
              <a:rPr lang="zh-CN" altLang="zh-CN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凸轮机构</a:t>
            </a:r>
            <a:r>
              <a:rPr lang="zh-CN" altLang="zh-CN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、虚拟样机、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ADAMS</a:t>
            </a:r>
            <a:r>
              <a:rPr lang="zh-CN" altLang="zh-CN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应用、仿真</a:t>
            </a:r>
            <a:endParaRPr lang="zh-CN" altLang="zh-CN">
              <a:solidFill>
                <a:schemeClr val="bg1">
                  <a:lumMod val="65000"/>
                </a:schemeClr>
              </a:solidFill>
              <a:latin typeface="+mn-ea"/>
              <a:ea typeface="+mn-ea"/>
              <a:cs typeface="+mn-ea"/>
            </a:endParaRPr>
          </a:p>
          <a:p>
            <a:pPr algn="just">
              <a:lnSpc>
                <a:spcPct val="120000"/>
              </a:lnSpc>
            </a:pPr>
            <a:endParaRPr lang="en-GB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98650" y="1816125"/>
            <a:ext cx="3240360" cy="3926843"/>
            <a:chOff x="1388815" y="2158728"/>
            <a:chExt cx="1982980" cy="2403082"/>
          </a:xfrm>
        </p:grpSpPr>
        <p:grpSp>
          <p:nvGrpSpPr>
            <p:cNvPr id="63" name="Group 62"/>
            <p:cNvGrpSpPr/>
            <p:nvPr/>
          </p:nvGrpSpPr>
          <p:grpSpPr>
            <a:xfrm>
              <a:off x="1388815" y="2158728"/>
              <a:ext cx="1982980" cy="2403082"/>
              <a:chOff x="9683156" y="2245342"/>
              <a:chExt cx="1880262" cy="2278603"/>
            </a:xfrm>
            <a:effectLst>
              <a:outerShdw blurRad="368300" dir="13500000" sy="23000" kx="1200000" algn="br" rotWithShape="0">
                <a:prstClr val="black">
                  <a:alpha val="25000"/>
                </a:prstClr>
              </a:outerShdw>
            </a:effectLst>
          </p:grpSpPr>
          <p:sp>
            <p:nvSpPr>
              <p:cNvPr id="64" name="Freeform 63"/>
              <p:cNvSpPr/>
              <p:nvPr/>
            </p:nvSpPr>
            <p:spPr bwMode="auto">
              <a:xfrm>
                <a:off x="9697382" y="2584406"/>
                <a:ext cx="1851810" cy="1939539"/>
              </a:xfrm>
              <a:custGeom>
                <a:avLst/>
                <a:gdLst>
                  <a:gd name="T0" fmla="*/ 1516 w 1562"/>
                  <a:gd name="T1" fmla="*/ 0 h 1636"/>
                  <a:gd name="T2" fmla="*/ 1562 w 1562"/>
                  <a:gd name="T3" fmla="*/ 11 h 1636"/>
                  <a:gd name="T4" fmla="*/ 781 w 1562"/>
                  <a:gd name="T5" fmla="*/ 1636 h 1636"/>
                  <a:gd name="T6" fmla="*/ 0 w 1562"/>
                  <a:gd name="T7" fmla="*/ 11 h 1636"/>
                  <a:gd name="T8" fmla="*/ 57 w 1562"/>
                  <a:gd name="T9" fmla="*/ 0 h 1636"/>
                  <a:gd name="T10" fmla="*/ 1516 w 1562"/>
                  <a:gd name="T11" fmla="*/ 0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62" h="1636">
                    <a:moveTo>
                      <a:pt x="1516" y="0"/>
                    </a:moveTo>
                    <a:lnTo>
                      <a:pt x="1562" y="11"/>
                    </a:lnTo>
                    <a:lnTo>
                      <a:pt x="781" y="1636"/>
                    </a:lnTo>
                    <a:lnTo>
                      <a:pt x="0" y="11"/>
                    </a:lnTo>
                    <a:lnTo>
                      <a:pt x="57" y="0"/>
                    </a:lnTo>
                    <a:lnTo>
                      <a:pt x="15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6435" tIns="48218" rIns="96435" bIns="48218" numCol="1" anchor="t" anchorCtr="0" compatLnSpc="1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id-ID" sz="8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5" name="Oval 6"/>
              <p:cNvSpPr>
                <a:spLocks noChangeArrowheads="1"/>
              </p:cNvSpPr>
              <p:nvPr/>
            </p:nvSpPr>
            <p:spPr bwMode="auto">
              <a:xfrm>
                <a:off x="9683156" y="2245342"/>
                <a:ext cx="1880262" cy="610552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300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txBody>
              <a:bodyPr vert="horz" wrap="square" lIns="96435" tIns="48218" rIns="96435" bIns="48218" numCol="1" anchor="t" anchorCtr="0" compatLnSpc="1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id-ID" sz="8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36" name="Freeform 135"/>
            <p:cNvSpPr>
              <a:spLocks noEditPoints="1"/>
            </p:cNvSpPr>
            <p:nvPr/>
          </p:nvSpPr>
          <p:spPr bwMode="auto">
            <a:xfrm>
              <a:off x="2217948" y="3345265"/>
              <a:ext cx="345000" cy="242802"/>
            </a:xfrm>
            <a:custGeom>
              <a:avLst/>
              <a:gdLst>
                <a:gd name="T0" fmla="*/ 0 w 530"/>
                <a:gd name="T1" fmla="*/ 373 h 373"/>
                <a:gd name="T2" fmla="*/ 530 w 530"/>
                <a:gd name="T3" fmla="*/ 373 h 373"/>
                <a:gd name="T4" fmla="*/ 530 w 530"/>
                <a:gd name="T5" fmla="*/ 0 h 373"/>
                <a:gd name="T6" fmla="*/ 0 w 530"/>
                <a:gd name="T7" fmla="*/ 0 h 373"/>
                <a:gd name="T8" fmla="*/ 0 w 530"/>
                <a:gd name="T9" fmla="*/ 373 h 373"/>
                <a:gd name="T10" fmla="*/ 510 w 530"/>
                <a:gd name="T11" fmla="*/ 36 h 373"/>
                <a:gd name="T12" fmla="*/ 343 w 530"/>
                <a:gd name="T13" fmla="*/ 183 h 373"/>
                <a:gd name="T14" fmla="*/ 510 w 530"/>
                <a:gd name="T15" fmla="*/ 337 h 373"/>
                <a:gd name="T16" fmla="*/ 510 w 530"/>
                <a:gd name="T17" fmla="*/ 354 h 373"/>
                <a:gd name="T18" fmla="*/ 321 w 530"/>
                <a:gd name="T19" fmla="*/ 200 h 373"/>
                <a:gd name="T20" fmla="*/ 264 w 530"/>
                <a:gd name="T21" fmla="*/ 248 h 373"/>
                <a:gd name="T22" fmla="*/ 206 w 530"/>
                <a:gd name="T23" fmla="*/ 200 h 373"/>
                <a:gd name="T24" fmla="*/ 17 w 530"/>
                <a:gd name="T25" fmla="*/ 354 h 373"/>
                <a:gd name="T26" fmla="*/ 17 w 530"/>
                <a:gd name="T27" fmla="*/ 337 h 373"/>
                <a:gd name="T28" fmla="*/ 187 w 530"/>
                <a:gd name="T29" fmla="*/ 183 h 373"/>
                <a:gd name="T30" fmla="*/ 17 w 530"/>
                <a:gd name="T31" fmla="*/ 36 h 373"/>
                <a:gd name="T32" fmla="*/ 17 w 530"/>
                <a:gd name="T33" fmla="*/ 19 h 373"/>
                <a:gd name="T34" fmla="*/ 264 w 530"/>
                <a:gd name="T35" fmla="*/ 195 h 373"/>
                <a:gd name="T36" fmla="*/ 510 w 530"/>
                <a:gd name="T37" fmla="*/ 19 h 373"/>
                <a:gd name="T38" fmla="*/ 510 w 530"/>
                <a:gd name="T39" fmla="*/ 36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30" h="373">
                  <a:moveTo>
                    <a:pt x="0" y="373"/>
                  </a:moveTo>
                  <a:lnTo>
                    <a:pt x="530" y="373"/>
                  </a:lnTo>
                  <a:lnTo>
                    <a:pt x="530" y="0"/>
                  </a:lnTo>
                  <a:lnTo>
                    <a:pt x="0" y="0"/>
                  </a:lnTo>
                  <a:lnTo>
                    <a:pt x="0" y="373"/>
                  </a:lnTo>
                  <a:close/>
                  <a:moveTo>
                    <a:pt x="510" y="36"/>
                  </a:moveTo>
                  <a:lnTo>
                    <a:pt x="343" y="183"/>
                  </a:lnTo>
                  <a:lnTo>
                    <a:pt x="510" y="337"/>
                  </a:lnTo>
                  <a:lnTo>
                    <a:pt x="510" y="354"/>
                  </a:lnTo>
                  <a:lnTo>
                    <a:pt x="321" y="200"/>
                  </a:lnTo>
                  <a:lnTo>
                    <a:pt x="264" y="248"/>
                  </a:lnTo>
                  <a:lnTo>
                    <a:pt x="206" y="200"/>
                  </a:lnTo>
                  <a:lnTo>
                    <a:pt x="17" y="354"/>
                  </a:lnTo>
                  <a:lnTo>
                    <a:pt x="17" y="337"/>
                  </a:lnTo>
                  <a:lnTo>
                    <a:pt x="187" y="183"/>
                  </a:lnTo>
                  <a:lnTo>
                    <a:pt x="17" y="36"/>
                  </a:lnTo>
                  <a:lnTo>
                    <a:pt x="17" y="19"/>
                  </a:lnTo>
                  <a:lnTo>
                    <a:pt x="264" y="195"/>
                  </a:lnTo>
                  <a:lnTo>
                    <a:pt x="510" y="19"/>
                  </a:lnTo>
                  <a:lnTo>
                    <a:pt x="510" y="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id-ID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35" name="TextBox 134"/>
          <p:cNvSpPr txBox="1"/>
          <p:nvPr/>
        </p:nvSpPr>
        <p:spPr>
          <a:xfrm flipH="1">
            <a:off x="1519280" y="1546005"/>
            <a:ext cx="2232249" cy="7571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问题分析</a:t>
            </a:r>
            <a:endParaRPr lang="id-ID" sz="36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709295" y="1149638"/>
            <a:ext cx="6264696" cy="1267589"/>
            <a:chOff x="5349255" y="4120381"/>
            <a:chExt cx="1782933" cy="1228820"/>
          </a:xfrm>
        </p:grpSpPr>
        <p:cxnSp>
          <p:nvCxnSpPr>
            <p:cNvPr id="152" name="Straight Connector 151"/>
            <p:cNvCxnSpPr/>
            <p:nvPr/>
          </p:nvCxnSpPr>
          <p:spPr>
            <a:xfrm>
              <a:off x="5349255" y="5349201"/>
              <a:ext cx="1782933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 flipH="1" flipV="1">
              <a:off x="5349255" y="4120381"/>
              <a:ext cx="0" cy="1226512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 26"/>
          <p:cNvSpPr/>
          <p:nvPr/>
        </p:nvSpPr>
        <p:spPr>
          <a:xfrm>
            <a:off x="5997327" y="1161499"/>
            <a:ext cx="5760640" cy="1255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机械原理课程上学习</a:t>
            </a:r>
            <a:r>
              <a:rPr lang="zh-CN" altLang="en-US" sz="16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过</a:t>
            </a:r>
            <a:r>
              <a:rPr lang="zh-CN" altLang="zh-CN" sz="16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凸轮机构</a:t>
            </a:r>
            <a:r>
              <a:rPr lang="zh-CN" altLang="zh-CN" sz="16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分析与</a:t>
            </a:r>
            <a:r>
              <a:rPr lang="zh-CN" altLang="zh-CN" sz="160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设计</a:t>
            </a:r>
            <a:r>
              <a:rPr lang="zh-CN" altLang="en-US" sz="160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。本次仿真实验利</a:t>
            </a:r>
            <a:r>
              <a:rPr lang="zh-CN" altLang="zh-CN" sz="160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用</a:t>
            </a:r>
            <a:r>
              <a:rPr lang="en-US" altLang="zh-CN" sz="160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Adams</a:t>
            </a:r>
            <a:r>
              <a:rPr lang="zh-CN" altLang="en-US" sz="160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软件</a:t>
            </a:r>
            <a:r>
              <a:rPr lang="zh-CN" altLang="en-US" sz="16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搭建</a:t>
            </a:r>
            <a:r>
              <a:rPr lang="zh-CN" altLang="zh-CN" sz="16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凸轮机构</a:t>
            </a:r>
            <a:r>
              <a:rPr lang="zh-CN" altLang="zh-CN" sz="16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的模拟样机仿真，下面是凸轮机构的设计参数及要求。</a:t>
            </a:r>
            <a:endParaRPr lang="en-US" altLang="zh-CN" sz="1600">
              <a:solidFill>
                <a:schemeClr val="bg1">
                  <a:lumMod val="65000"/>
                </a:schemeClr>
              </a:solidFill>
              <a:latin typeface="+mn-ea"/>
              <a:ea typeface="+mn-ea"/>
              <a:cs typeface="+mn-ea"/>
            </a:endParaRPr>
          </a:p>
          <a:p>
            <a:pPr algn="just">
              <a:lnSpc>
                <a:spcPct val="120000"/>
              </a:lnSpc>
            </a:pPr>
            <a:endParaRPr lang="en-GB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1" name="Rectangle 26"/>
          <p:cNvSpPr/>
          <p:nvPr/>
        </p:nvSpPr>
        <p:spPr>
          <a:xfrm>
            <a:off x="4252560" y="3463341"/>
            <a:ext cx="6192688" cy="2215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altLang="zh-CN" sz="16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设计如图 </a:t>
            </a:r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4</a:t>
            </a:r>
            <a:r>
              <a:rPr altLang="zh-CN" sz="16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-1（a）所示的尖端偏置直动从动件盘形凸轮机构。已知凸轮的基圆半径𝑟𝑏 = 100mm，偏距𝑒 = 20mm，从动件的位移运动规律如图 </a:t>
            </a:r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4</a:t>
            </a:r>
            <a:r>
              <a:rPr altLang="zh-CN" sz="16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-1（b）所示，其方程为 推程按匀速规律运动：𝑠 = ℎ/𝛼 ·𝜑，0 ≤ 𝜑 ≤ 180° 回程按简谐规律运动：𝑠 = ℎ/2 {1 + cos [ 𝜋/𝛼 (𝜑 − 180)]}，180° ≤ 𝜑 ≤ 360° 式中，从动件的行程ℎ = 100mm，推程和回程的运动角𝛼 = 180°。</a:t>
            </a:r>
            <a:r>
              <a:rPr lang="zh-CN" altLang="zh-CN" sz="16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+mn-ea"/>
              </a:rPr>
              <a:t> </a:t>
            </a:r>
            <a:endParaRPr lang="en-GB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2" name="组合 41"/>
          <p:cNvGrpSpPr/>
          <p:nvPr/>
        </p:nvGrpSpPr>
        <p:grpSpPr>
          <a:xfrm rot="10800000" flipH="1">
            <a:off x="4044477" y="3402325"/>
            <a:ext cx="6993410" cy="2407706"/>
            <a:chOff x="5349255" y="4120381"/>
            <a:chExt cx="1782933" cy="1228820"/>
          </a:xfrm>
        </p:grpSpPr>
        <p:cxnSp>
          <p:nvCxnSpPr>
            <p:cNvPr id="43" name="Straight Connector 151"/>
            <p:cNvCxnSpPr/>
            <p:nvPr/>
          </p:nvCxnSpPr>
          <p:spPr>
            <a:xfrm>
              <a:off x="5349255" y="5349201"/>
              <a:ext cx="1782933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154"/>
            <p:cNvCxnSpPr/>
            <p:nvPr/>
          </p:nvCxnSpPr>
          <p:spPr>
            <a:xfrm flipH="1" flipV="1">
              <a:off x="5349255" y="4120381"/>
              <a:ext cx="0" cy="1226512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2435" y="5287010"/>
            <a:ext cx="3376295" cy="1854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14:flip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48"/>
          <p:cNvSpPr txBox="1"/>
          <p:nvPr/>
        </p:nvSpPr>
        <p:spPr>
          <a:xfrm>
            <a:off x="6213351" y="2176165"/>
            <a:ext cx="6840760" cy="21539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凸轮机构</a:t>
            </a:r>
            <a:endParaRPr lang="en-US" altLang="zh-CN" sz="440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/>
            <a:endParaRPr lang="en-US" altLang="zh-CN" sz="320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ctr"/>
            <a:r>
              <a:rPr lang="zh-CN" altLang="zh-CN" sz="320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模拟</a:t>
            </a:r>
            <a:r>
              <a:rPr lang="zh-CN" altLang="zh-CN" sz="3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样机</a:t>
            </a:r>
            <a:r>
              <a:rPr lang="zh-CN" altLang="zh-CN" sz="320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建模</a:t>
            </a:r>
            <a:endParaRPr lang="en-US" altLang="zh-CN" sz="320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ctr"/>
            <a:endParaRPr lang="en-GB" altLang="zh-CN" sz="3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259"/>
          <p:cNvSpPr>
            <a:spLocks noChangeArrowheads="1"/>
          </p:cNvSpPr>
          <p:nvPr/>
        </p:nvSpPr>
        <p:spPr bwMode="auto">
          <a:xfrm>
            <a:off x="3255952" y="1951625"/>
            <a:ext cx="2196442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13800" cap="all" spc="300" dirty="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02</a:t>
            </a:r>
            <a:endParaRPr lang="zh-CN" altLang="en-US" sz="13800" cap="all" spc="3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6"/>
          <p:cNvSpPr/>
          <p:nvPr/>
        </p:nvSpPr>
        <p:spPr bwMode="auto">
          <a:xfrm>
            <a:off x="354" y="5397910"/>
            <a:ext cx="12858044" cy="183473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 bwMode="auto">
          <a:xfrm>
            <a:off x="354" y="5128493"/>
            <a:ext cx="12858044" cy="593017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Content Placeholder 2"/>
          <p:cNvSpPr txBox="1"/>
          <p:nvPr/>
        </p:nvSpPr>
        <p:spPr>
          <a:xfrm>
            <a:off x="733423" y="247565"/>
            <a:ext cx="4471816" cy="3231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zh-CN" smtClean="0"/>
              <a:t>启动</a:t>
            </a:r>
            <a:r>
              <a:rPr lang="en-US" altLang="zh-CN" smtClean="0"/>
              <a:t>ADAMS</a:t>
            </a:r>
            <a:r>
              <a:rPr lang="zh-CN" altLang="en-US" smtClean="0"/>
              <a:t>软件、设置工作环境</a:t>
            </a:r>
            <a:endParaRPr lang="en-US" sz="2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98655" y="1849656"/>
            <a:ext cx="4752528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双击桌面上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ADAMS/View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的快捷图标        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打开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ADAMS/View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，在欢迎对话框中选择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新建模型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”，如图所示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zh-CN" sz="1600" kern="100">
              <a:latin typeface="+mn-ea"/>
              <a:ea typeface="+mn-ea"/>
              <a:cs typeface="Times New Roman" panose="02020603050405020304" pitchFamily="18" charset="0"/>
            </a:endParaRPr>
          </a:p>
          <a:p>
            <a:pPr indent="359410" algn="just">
              <a:lnSpc>
                <a:spcPct val="150000"/>
              </a:lnSpc>
              <a:spcAft>
                <a:spcPts val="0"/>
              </a:spcAft>
            </a:pPr>
            <a:endParaRPr lang="zh-CN" altLang="zh-CN" sz="1200" kern="10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756357" y="5720422"/>
            <a:ext cx="2088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smtClean="0">
                <a:latin typeface="+mn-ea"/>
                <a:ea typeface="+mn-ea"/>
              </a:rPr>
              <a:t>欢迎界面</a:t>
            </a:r>
            <a:endParaRPr lang="zh-CN" altLang="en-US" sz="1400">
              <a:latin typeface="+mn-ea"/>
              <a:ea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280" y="1850390"/>
            <a:ext cx="419100" cy="4737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785" y="1849755"/>
            <a:ext cx="5200650" cy="3533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Content Placeholder 2"/>
          <p:cNvSpPr txBox="1"/>
          <p:nvPr/>
        </p:nvSpPr>
        <p:spPr>
          <a:xfrm>
            <a:off x="733423" y="247565"/>
            <a:ext cx="4471816" cy="3231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zh-CN" smtClean="0"/>
              <a:t>启动</a:t>
            </a:r>
            <a:r>
              <a:rPr lang="en-US" altLang="zh-CN" smtClean="0"/>
              <a:t>ADAMS</a:t>
            </a:r>
            <a:r>
              <a:rPr lang="zh-CN" altLang="en-US" smtClean="0"/>
              <a:t>软件、设置工作环境</a:t>
            </a:r>
            <a:endParaRPr lang="en-US" sz="2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149455" y="1600101"/>
            <a:ext cx="4752528" cy="36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在模型名称（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Model name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）栏中输入：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tulun 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；在重力名称（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Gravity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）栏中选择“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正常重力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 (-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全局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 Y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轴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”；在单位名称（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Units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）栏中选择“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MMKS – mm, kg ,N ,s ,deg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”。如</a:t>
            </a:r>
            <a:r>
              <a:rPr lang="zh-CN" altLang="zh-CN" sz="1600" kern="100" smtClean="0">
                <a:latin typeface="+mn-ea"/>
                <a:ea typeface="+mn-ea"/>
                <a:cs typeface="Times New Roman" panose="02020603050405020304" pitchFamily="18" charset="0"/>
              </a:rPr>
              <a:t>图所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示</a:t>
            </a:r>
            <a:r>
              <a:rPr lang="zh-CN" altLang="zh-CN" sz="1600" kern="100" smtClean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1600" kern="10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kern="100" smtClean="0">
                <a:latin typeface="+mn-ea"/>
                <a:ea typeface="+mn-ea"/>
                <a:cs typeface="Times New Roman" panose="02020603050405020304" pitchFamily="18" charset="0"/>
              </a:rPr>
              <a:t>在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建立虚拟样机之前，一般都需要进行必要的工作环境设置，如选择坐标系、单位、工作栅格、重力方向等。</a:t>
            </a:r>
            <a:r>
              <a:rPr lang="zh-CN" altLang="zh-CN" sz="1600" kern="100" smtClean="0">
                <a:latin typeface="+mn-ea"/>
                <a:ea typeface="+mn-ea"/>
                <a:cs typeface="Times New Roman" panose="02020603050405020304" pitchFamily="18" charset="0"/>
              </a:rPr>
              <a:t>由于</a:t>
            </a:r>
            <a:r>
              <a:rPr lang="zh-CN" altLang="en-US" sz="1600" kern="100" smtClean="0">
                <a:latin typeface="+mn-ea"/>
                <a:ea typeface="+mn-ea"/>
                <a:cs typeface="Times New Roman" panose="02020603050405020304" pitchFamily="18" charset="0"/>
              </a:rPr>
              <a:t>该实验</a:t>
            </a:r>
            <a:r>
              <a:rPr lang="zh-CN" altLang="zh-CN" sz="1600" kern="100" smtClean="0">
                <a:latin typeface="+mn-ea"/>
                <a:ea typeface="+mn-ea"/>
                <a:cs typeface="Times New Roman" panose="02020603050405020304" pitchFamily="18" charset="0"/>
              </a:rPr>
              <a:t>只是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简略地建立模型进行仿真分析，对工作环境没有特殊要求，因此使用默认设置即可。</a:t>
            </a:r>
            <a:endParaRPr lang="zh-CN" altLang="zh-CN" sz="1600" kern="100">
              <a:latin typeface="+mn-ea"/>
              <a:ea typeface="+mn-ea"/>
              <a:cs typeface="Times New Roman" panose="02020603050405020304" pitchFamily="18" charset="0"/>
            </a:endParaRPr>
          </a:p>
          <a:p>
            <a:pPr indent="359410" algn="just">
              <a:lnSpc>
                <a:spcPct val="150000"/>
              </a:lnSpc>
              <a:spcAft>
                <a:spcPts val="0"/>
              </a:spcAft>
            </a:pPr>
            <a:endParaRPr lang="zh-CN" altLang="zh-CN" sz="1200" kern="10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756357" y="5720422"/>
            <a:ext cx="208823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smtClean="0">
                <a:latin typeface="+mn-ea"/>
                <a:ea typeface="+mn-ea"/>
              </a:rPr>
              <a:t>创建新模型</a:t>
            </a:r>
            <a:r>
              <a:rPr lang="zh-CN" altLang="en-US" sz="1400" smtClean="0">
                <a:latin typeface="+mn-ea"/>
                <a:ea typeface="+mn-ea"/>
              </a:rPr>
              <a:t>界面</a:t>
            </a:r>
            <a:endParaRPr lang="zh-CN" altLang="en-US" sz="1400">
              <a:latin typeface="+mn-ea"/>
              <a:ea typeface="+mn-ea"/>
            </a:endParaRPr>
          </a:p>
        </p:txBody>
      </p:sp>
      <p:pic>
        <p:nvPicPr>
          <p:cNvPr id="8" name="图片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0" t="2468" r="2063" b="3782"/>
          <a:stretch>
            <a:fillRect/>
          </a:stretch>
        </p:blipFill>
        <p:spPr>
          <a:xfrm>
            <a:off x="1242060" y="1664970"/>
            <a:ext cx="5116830" cy="3562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48"/>
          <p:cNvSpPr txBox="1"/>
          <p:nvPr/>
        </p:nvSpPr>
        <p:spPr>
          <a:xfrm>
            <a:off x="4773191" y="2721066"/>
            <a:ext cx="684076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40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创建机构的各个部件</a:t>
            </a:r>
            <a:endParaRPr lang="en-GB" altLang="zh-CN" sz="3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259"/>
          <p:cNvSpPr>
            <a:spLocks noChangeArrowheads="1"/>
          </p:cNvSpPr>
          <p:nvPr/>
        </p:nvSpPr>
        <p:spPr bwMode="auto">
          <a:xfrm>
            <a:off x="3255952" y="1951625"/>
            <a:ext cx="2196442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13800" cap="all" spc="30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03</a:t>
            </a:r>
            <a:endParaRPr lang="zh-CN" altLang="en-US" sz="13800" cap="all" spc="3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6"/>
          <p:cNvSpPr/>
          <p:nvPr/>
        </p:nvSpPr>
        <p:spPr bwMode="auto">
          <a:xfrm>
            <a:off x="354" y="5397910"/>
            <a:ext cx="12858044" cy="183473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 bwMode="auto">
          <a:xfrm>
            <a:off x="354" y="5128493"/>
            <a:ext cx="12858044" cy="593017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33423" y="247565"/>
            <a:ext cx="3067050" cy="322580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创建尖端移动从动件</a:t>
            </a:r>
            <a:endParaRPr lang="zh-CN" altLang="en-US" smtClean="0"/>
          </a:p>
        </p:txBody>
      </p:sp>
      <p:sp>
        <p:nvSpPr>
          <p:cNvPr id="7" name="文本框 6"/>
          <p:cNvSpPr txBox="1"/>
          <p:nvPr/>
        </p:nvSpPr>
        <p:spPr>
          <a:xfrm>
            <a:off x="3452253" y="5663917"/>
            <a:ext cx="208823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400" smtClean="0">
                <a:latin typeface="+mn-ea"/>
                <a:ea typeface="+mn-ea"/>
                <a:sym typeface="+mn-ea"/>
              </a:rPr>
              <a:t>尖端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1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795479" y="2039691"/>
            <a:ext cx="3024336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kern="100" smtClean="0">
                <a:latin typeface="+mn-ea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ADAMS/View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零件库中</a:t>
            </a:r>
            <a:r>
              <a:rPr altLang="zh-CN" sz="1600" kern="100">
                <a:latin typeface="+mn-ea"/>
                <a:ea typeface="+mn-ea"/>
                <a:cs typeface="Times New Roman" panose="02020603050405020304" pitchFamily="18" charset="0"/>
              </a:rPr>
              <a:t>选择锥台</a:t>
            </a:r>
            <a:r>
              <a:rPr lang="zh-CN" altLang="zh-CN" sz="1600" kern="100" smtClean="0">
                <a:latin typeface="+mn-ea"/>
                <a:ea typeface="+mn-ea"/>
                <a:cs typeface="Times New Roman" panose="02020603050405020304" pitchFamily="18" charset="0"/>
              </a:rPr>
              <a:t>图标</a:t>
            </a:r>
            <a:r>
              <a:rPr lang="en-US" altLang="zh-CN" sz="1600" kern="100" smtClean="0">
                <a:latin typeface="+mn-ea"/>
                <a:ea typeface="+mn-ea"/>
                <a:cs typeface="Times New Roman" panose="02020603050405020304" pitchFamily="18" charset="0"/>
              </a:rPr>
              <a:t>     </a:t>
            </a:r>
            <a:r>
              <a:rPr lang="zh-CN" altLang="en-US" sz="1600" kern="100" smtClean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长度50mm，底部半径10mm，顶部半径0.01mm，顶部尖端的坐标为（0，0，0）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如</a:t>
            </a:r>
            <a:r>
              <a:rPr lang="zh-CN" altLang="zh-CN" sz="1600" kern="100" smtClean="0">
                <a:latin typeface="+mn-ea"/>
                <a:ea typeface="+mn-ea"/>
                <a:cs typeface="Times New Roman" panose="02020603050405020304" pitchFamily="18" charset="0"/>
              </a:rPr>
              <a:t>图</a:t>
            </a:r>
            <a:r>
              <a:rPr lang="en-US" altLang="zh-CN" sz="1600" kern="100" smtClean="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所示。</a:t>
            </a:r>
            <a:endParaRPr lang="zh-CN" altLang="zh-CN" sz="1600" kern="10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193655" y="2565400"/>
            <a:ext cx="228600" cy="22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2545" y="1704340"/>
            <a:ext cx="3828415" cy="3347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33423" y="247565"/>
            <a:ext cx="3067050" cy="322580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创建尖端移动从动件</a:t>
            </a:r>
            <a:endParaRPr lang="zh-CN" altLang="en-US" smtClean="0"/>
          </a:p>
        </p:txBody>
      </p:sp>
      <p:sp>
        <p:nvSpPr>
          <p:cNvPr id="7" name="文本框 6"/>
          <p:cNvSpPr txBox="1"/>
          <p:nvPr/>
        </p:nvSpPr>
        <p:spPr>
          <a:xfrm>
            <a:off x="1269758" y="5653757"/>
            <a:ext cx="208823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400" smtClean="0">
                <a:latin typeface="+mn-ea"/>
                <a:ea typeface="+mn-ea"/>
                <a:sym typeface="+mn-ea"/>
              </a:rPr>
              <a:t>尖端移动从动件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2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795479" y="2039691"/>
            <a:ext cx="3024336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再继续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ADAMS/View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零件库中</a:t>
            </a:r>
            <a:r>
              <a:rPr altLang="zh-CN" sz="1600" kern="100">
                <a:latin typeface="+mn-ea"/>
                <a:ea typeface="+mn-ea"/>
                <a:cs typeface="Times New Roman" panose="02020603050405020304" pitchFamily="18" charset="0"/>
              </a:rPr>
              <a:t>选择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圆柱</a:t>
            </a:r>
            <a:r>
              <a:rPr lang="zh-CN" altLang="zh-CN" sz="1600" kern="100" smtClean="0">
                <a:latin typeface="+mn-ea"/>
                <a:ea typeface="+mn-ea"/>
                <a:cs typeface="Times New Roman" panose="02020603050405020304" pitchFamily="18" charset="0"/>
              </a:rPr>
              <a:t>图标</a:t>
            </a:r>
            <a:r>
              <a:rPr lang="en-US" altLang="zh-CN" sz="1600" kern="100" smtClean="0">
                <a:latin typeface="+mn-ea"/>
                <a:ea typeface="+mn-ea"/>
                <a:cs typeface="Times New Roman" panose="02020603050405020304" pitchFamily="18" charset="0"/>
              </a:rPr>
              <a:t>     </a:t>
            </a:r>
            <a:r>
              <a:rPr lang="zh-CN" altLang="en-US" sz="1600" kern="100" smtClean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长度为150mm，半径为10mm，并且添加到现有部件上，即尖端上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。如</a:t>
            </a:r>
            <a:r>
              <a:rPr lang="zh-CN" altLang="zh-CN" sz="1600" kern="100" smtClean="0">
                <a:latin typeface="+mn-ea"/>
                <a:ea typeface="+mn-ea"/>
                <a:cs typeface="Times New Roman" panose="02020603050405020304" pitchFamily="18" charset="0"/>
              </a:rPr>
              <a:t>图</a:t>
            </a:r>
            <a:r>
              <a:rPr lang="en-US" altLang="zh-CN" sz="1600" kern="100" smtClean="0"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</a:rPr>
              <a:t>所示。之后再将尖端移动从动件命名为follower，方便后续操作，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如</a:t>
            </a:r>
            <a:r>
              <a:rPr lang="zh-CN" altLang="zh-CN" sz="1600" kern="100" smtClean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图</a:t>
            </a:r>
            <a:r>
              <a:rPr lang="en-US" altLang="zh-CN" sz="1600" kern="100" smtClean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所示。</a:t>
            </a:r>
            <a:endParaRPr lang="en-US" altLang="zh-CN" sz="1600" kern="10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图片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79100" y="2596515"/>
            <a:ext cx="312420" cy="16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图片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3425" y="1705610"/>
            <a:ext cx="3161665" cy="3344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150" y="1744345"/>
            <a:ext cx="2838450" cy="32670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384558" y="5653757"/>
            <a:ext cx="208823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400" smtClean="0">
                <a:latin typeface="+mn-ea"/>
                <a:ea typeface="+mn-ea"/>
                <a:sym typeface="+mn-ea"/>
              </a:rPr>
              <a:t>重命名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3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33423" y="247565"/>
            <a:ext cx="3067050" cy="322580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添加Marker</a:t>
            </a:r>
            <a:endParaRPr lang="zh-CN" altLang="en-US" smtClean="0"/>
          </a:p>
        </p:txBody>
      </p:sp>
      <p:sp>
        <p:nvSpPr>
          <p:cNvPr id="7" name="文本框 6"/>
          <p:cNvSpPr txBox="1"/>
          <p:nvPr/>
        </p:nvSpPr>
        <p:spPr>
          <a:xfrm>
            <a:off x="1222133" y="5653757"/>
            <a:ext cx="208823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400" smtClean="0">
                <a:latin typeface="+mn-ea"/>
                <a:ea typeface="+mn-ea"/>
                <a:sym typeface="+mn-ea"/>
              </a:rPr>
              <a:t>标记点参数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4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795479" y="2039691"/>
            <a:ext cx="3024336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在ADAMS/View软件的操作区物体项的基本形状中选择标记点图标</a:t>
            </a:r>
            <a:r>
              <a:rPr lang="en-US" altLang="zh-CN" sz="1600" kern="100" smtClean="0">
                <a:latin typeface="+mn-ea"/>
                <a:ea typeface="+mn-ea"/>
                <a:cs typeface="Times New Roman" panose="02020603050405020304" pitchFamily="18" charset="0"/>
              </a:rPr>
              <a:t>    </a:t>
            </a:r>
            <a:r>
              <a:rPr lang="zh-CN" altLang="en-US" sz="1600" kern="100" smtClean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选择添加到现有部件，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如</a:t>
            </a:r>
            <a:r>
              <a:rPr lang="zh-CN" altLang="zh-CN" sz="1600" kern="100" smtClean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图</a:t>
            </a:r>
            <a:r>
              <a:rPr lang="en-US" altLang="zh-CN" sz="1600" kern="100" smtClean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所示。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然后先用鼠标左键点击follower部件，再点击尖端处添加一个marker（MARKER_3）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如</a:t>
            </a:r>
            <a:r>
              <a:rPr lang="zh-CN" altLang="zh-CN" sz="1600" kern="100" smtClean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图</a:t>
            </a:r>
            <a:r>
              <a:rPr lang="en-US" altLang="zh-CN" sz="1600" kern="100" smtClean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所示。</a:t>
            </a:r>
            <a:endParaRPr lang="en-US" altLang="zh-CN" sz="1600" kern="10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84558" y="5653757"/>
            <a:ext cx="208823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400" smtClean="0">
                <a:latin typeface="+mn-ea"/>
                <a:ea typeface="+mn-ea"/>
                <a:sym typeface="+mn-ea"/>
              </a:rPr>
              <a:t>添加</a:t>
            </a:r>
            <a:r>
              <a:rPr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marker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5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pic>
        <p:nvPicPr>
          <p:cNvPr id="2" name="图片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85375" y="2939098"/>
            <a:ext cx="228600" cy="222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59655" y="2039620"/>
            <a:ext cx="305435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115" y="2039620"/>
            <a:ext cx="1727200" cy="2649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33423" y="247565"/>
            <a:ext cx="3067050" cy="322580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调整从动件位置</a:t>
            </a:r>
            <a:endParaRPr lang="zh-CN" altLang="en-US" smtClean="0"/>
          </a:p>
        </p:txBody>
      </p:sp>
      <p:sp>
        <p:nvSpPr>
          <p:cNvPr id="7" name="文本框 6"/>
          <p:cNvSpPr txBox="1"/>
          <p:nvPr/>
        </p:nvSpPr>
        <p:spPr>
          <a:xfrm>
            <a:off x="1222133" y="5653757"/>
            <a:ext cx="208823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从动件右移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6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795479" y="2039691"/>
            <a:ext cx="3024336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选择从动件follower，再点击软件上的    图标，先将从动件右移20mm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如图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6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所示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再向上移98mm，使尖端处于凸轮基圆上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如图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7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所示。</a:t>
            </a:r>
            <a:endParaRPr sz="1600" kern="10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84558" y="5653757"/>
            <a:ext cx="208823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从动件</a:t>
            </a:r>
            <a:r>
              <a:rPr lang="zh-CN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上</a:t>
            </a:r>
            <a:r>
              <a:rPr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移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7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pic>
        <p:nvPicPr>
          <p:cNvPr id="13" name="图片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19030" y="2584133"/>
            <a:ext cx="160020" cy="164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" y="2039620"/>
            <a:ext cx="1276350" cy="2838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0740" y="2039620"/>
            <a:ext cx="1129665" cy="28384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1535" y="2040255"/>
            <a:ext cx="1605915" cy="27692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7450" y="2039620"/>
            <a:ext cx="1678940" cy="2769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33425" y="247650"/>
            <a:ext cx="1377315" cy="3225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创建凸轮板</a:t>
            </a:r>
            <a:endParaRPr lang="zh-CN" altLang="en-US" smtClean="0"/>
          </a:p>
        </p:txBody>
      </p:sp>
      <p:sp>
        <p:nvSpPr>
          <p:cNvPr id="8" name="矩形 7"/>
          <p:cNvSpPr/>
          <p:nvPr/>
        </p:nvSpPr>
        <p:spPr>
          <a:xfrm>
            <a:off x="8795479" y="2039691"/>
            <a:ext cx="3024336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在ADAMS/View软件的操作区物体项的实体中选择立方体的图标   ，创建一个长度400mm，宽度400mm，深度10mm的长方体，在其上生成凸轮轮廓线的凸轮板，并命名为cam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8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所示。</a:t>
            </a:r>
            <a:endParaRPr lang="zh-CN" altLang="en-US" sz="1600" kern="10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59188" y="5653757"/>
            <a:ext cx="208823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凸轮板的创建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8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pic>
        <p:nvPicPr>
          <p:cNvPr id="18" name="图片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38690" y="2951480"/>
            <a:ext cx="259080" cy="1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图片 1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85210" y="1602105"/>
            <a:ext cx="2994025" cy="3550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635" y="1602105"/>
            <a:ext cx="2314575" cy="3550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33425" y="247650"/>
            <a:ext cx="2472690" cy="3225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创建凸轮板</a:t>
            </a:r>
            <a:r>
              <a:rPr lang="zh-CN" altLang="en-US" smtClean="0"/>
              <a:t>旋转</a:t>
            </a:r>
            <a:r>
              <a:rPr lang="zh-CN" altLang="en-US" smtClean="0"/>
              <a:t>副</a:t>
            </a:r>
            <a:endParaRPr lang="zh-CN" altLang="en-US" smtClean="0"/>
          </a:p>
        </p:txBody>
      </p:sp>
      <p:sp>
        <p:nvSpPr>
          <p:cNvPr id="8" name="矩形 7"/>
          <p:cNvSpPr/>
          <p:nvPr/>
        </p:nvSpPr>
        <p:spPr>
          <a:xfrm>
            <a:off x="8795385" y="2039620"/>
            <a:ext cx="314071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点击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旋转副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图标     ，修改旋转副参数，选择构建方式中的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”2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个物体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-2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个位置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9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所示。点击大地（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ground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），再选择凸轮板（cam），生成旋转副（JOINT_1），如图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10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所示。</a:t>
            </a:r>
            <a:endParaRPr lang="en-US" altLang="zh-CN" sz="1600" kern="100"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09160" y="5643880"/>
            <a:ext cx="2467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凸轮板的旋转副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10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0280" y="2167890"/>
            <a:ext cx="283845" cy="2838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93260" y="1812290"/>
            <a:ext cx="2520315" cy="3048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1731645"/>
            <a:ext cx="2014220" cy="30486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3183" y="5643597"/>
            <a:ext cx="208823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旋转副参数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9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33425" y="247650"/>
            <a:ext cx="2472690" cy="3225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创建从动件的平</a:t>
            </a:r>
            <a:r>
              <a:rPr lang="zh-CN" altLang="en-US" smtClean="0"/>
              <a:t>移副</a:t>
            </a:r>
            <a:endParaRPr lang="zh-CN" altLang="en-US" smtClean="0"/>
          </a:p>
        </p:txBody>
      </p:sp>
      <p:sp>
        <p:nvSpPr>
          <p:cNvPr id="8" name="矩形 7"/>
          <p:cNvSpPr/>
          <p:nvPr/>
        </p:nvSpPr>
        <p:spPr>
          <a:xfrm>
            <a:off x="8795385" y="2039620"/>
            <a:ext cx="3140710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点击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平移副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图标     ，修改旋转副参数，选择构建方式中的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”2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个物体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-2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个位置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11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所示。点击大地（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ground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），再选择尖端从动件（follower），生成平移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副(JOINT_2)，如图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12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所示。</a:t>
            </a:r>
            <a:endParaRPr lang="en-US" altLang="zh-CN" sz="1600" kern="100"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09160" y="5643880"/>
            <a:ext cx="2467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从动件的平</a:t>
            </a:r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移副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12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3183" y="5643597"/>
            <a:ext cx="208823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平</a:t>
            </a:r>
            <a:r>
              <a:rPr lang="zh-CN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移副参数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11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1390" y="2178685"/>
            <a:ext cx="300990" cy="2355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80" y="1812290"/>
            <a:ext cx="2021205" cy="3048635"/>
          </a:xfrm>
          <a:prstGeom prst="rect">
            <a:avLst/>
          </a:prstGeom>
        </p:spPr>
      </p:pic>
      <p:pic>
        <p:nvPicPr>
          <p:cNvPr id="11" name="图片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20565" y="1812290"/>
            <a:ext cx="2844165" cy="3048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33425" y="247650"/>
            <a:ext cx="2873375" cy="3225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创建凸轮板的转动</a:t>
            </a:r>
            <a:r>
              <a:rPr lang="zh-CN" altLang="en-US" smtClean="0"/>
              <a:t>驱动</a:t>
            </a:r>
            <a:endParaRPr lang="zh-CN" altLang="en-US" smtClean="0"/>
          </a:p>
        </p:txBody>
      </p:sp>
      <p:sp>
        <p:nvSpPr>
          <p:cNvPr id="8" name="矩形 7"/>
          <p:cNvSpPr/>
          <p:nvPr/>
        </p:nvSpPr>
        <p:spPr>
          <a:xfrm>
            <a:off x="8795385" y="2039620"/>
            <a:ext cx="324231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在ADAMS/View驱动       项中的运动副驱动里选择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转动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驱动按钮     ，旋转速度为30.0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13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所示。点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击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转动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驱动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JOINT_1上施加一个转动MOTION_1，使其运动转角为𝜑=30°/s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，如图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14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所示。</a:t>
            </a:r>
            <a:endParaRPr lang="en-US" altLang="zh-CN" sz="1600" kern="100"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09160" y="5643880"/>
            <a:ext cx="2467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凸轮板的转动</a:t>
            </a:r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驱动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14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3183" y="5643597"/>
            <a:ext cx="208823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转动</a:t>
            </a:r>
            <a:r>
              <a:rPr lang="zh-CN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驱动</a:t>
            </a:r>
            <a:r>
              <a:rPr lang="zh-CN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参数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13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812290"/>
            <a:ext cx="2012315" cy="3072765"/>
          </a:xfrm>
          <a:prstGeom prst="rect">
            <a:avLst/>
          </a:prstGeom>
        </p:spPr>
      </p:pic>
      <p:pic>
        <p:nvPicPr>
          <p:cNvPr id="14" name="图片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01795" y="1812925"/>
            <a:ext cx="3481705" cy="3072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7920" y="2219325"/>
            <a:ext cx="418465" cy="189865"/>
          </a:xfrm>
          <a:prstGeom prst="rect">
            <a:avLst/>
          </a:prstGeom>
        </p:spPr>
      </p:pic>
      <p:pic>
        <p:nvPicPr>
          <p:cNvPr id="11" name="图片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05265" y="2950845"/>
            <a:ext cx="297180" cy="18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33425" y="247650"/>
            <a:ext cx="2873375" cy="3225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创建</a:t>
            </a:r>
            <a:r>
              <a:rPr lang="zh-CN" altLang="en-US" smtClean="0">
                <a:sym typeface="+mn-ea"/>
              </a:rPr>
              <a:t>从动件</a:t>
            </a:r>
            <a:r>
              <a:rPr lang="zh-CN" altLang="en-US" smtClean="0"/>
              <a:t>的移动</a:t>
            </a:r>
            <a:r>
              <a:rPr lang="zh-CN" altLang="en-US" smtClean="0"/>
              <a:t>驱动</a:t>
            </a:r>
            <a:endParaRPr lang="zh-CN" altLang="en-US" smtClean="0"/>
          </a:p>
        </p:txBody>
      </p:sp>
      <p:sp>
        <p:nvSpPr>
          <p:cNvPr id="8" name="矩形 7"/>
          <p:cNvSpPr/>
          <p:nvPr/>
        </p:nvSpPr>
        <p:spPr>
          <a:xfrm>
            <a:off x="8795385" y="2039620"/>
            <a:ext cx="324231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在ADAMS/View驱动       项中的运动副驱动里选择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移动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驱动按钮     ，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平移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速度为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1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0.0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15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所示。点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击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移动驱动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JOINT_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上施加一个转动MOTION_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，如图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16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所示。</a:t>
            </a:r>
            <a:endParaRPr lang="en-US" altLang="zh-CN" sz="1600" kern="100"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09160" y="5643880"/>
            <a:ext cx="2467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从动件</a:t>
            </a:r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的移动</a:t>
            </a:r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驱动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16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3183" y="5643597"/>
            <a:ext cx="208823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移动</a:t>
            </a:r>
            <a:r>
              <a:rPr lang="zh-CN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驱动</a:t>
            </a:r>
            <a:r>
              <a:rPr lang="zh-CN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参数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15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7920" y="2219325"/>
            <a:ext cx="418465" cy="18986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315" y="1812925"/>
            <a:ext cx="2070100" cy="3072130"/>
          </a:xfrm>
          <a:prstGeom prst="rect">
            <a:avLst/>
          </a:prstGeom>
        </p:spPr>
      </p:pic>
      <p:pic>
        <p:nvPicPr>
          <p:cNvPr id="20" name="图片 2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62415" y="2931795"/>
            <a:ext cx="228600" cy="220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图片 2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99990" y="1812925"/>
            <a:ext cx="1851660" cy="3107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33425" y="248285"/>
            <a:ext cx="2873375" cy="3225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添加</a:t>
            </a:r>
            <a:r>
              <a:rPr lang="zh-CN" altLang="en-US" smtClean="0">
                <a:sym typeface="+mn-ea"/>
              </a:rPr>
              <a:t>从动件</a:t>
            </a:r>
            <a:r>
              <a:rPr lang="zh-CN" altLang="en-US" smtClean="0">
                <a:sym typeface="+mn-ea"/>
              </a:rPr>
              <a:t>的</a:t>
            </a:r>
            <a:r>
              <a:rPr lang="zh-CN" altLang="en-US" smtClean="0"/>
              <a:t>函数</a:t>
            </a:r>
            <a:endParaRPr lang="zh-CN" altLang="en-US" smtClean="0"/>
          </a:p>
        </p:txBody>
      </p:sp>
      <p:sp>
        <p:nvSpPr>
          <p:cNvPr id="8" name="矩形 7"/>
          <p:cNvSpPr/>
          <p:nvPr/>
        </p:nvSpPr>
        <p:spPr>
          <a:xfrm>
            <a:off x="8795385" y="2039620"/>
            <a:ext cx="324231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右击MOTION_2弹出快捷菜单，选择Motion：MOTION_2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下的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修改菜单项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17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所示。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弹出Joint Motion对话框，在对话框中单击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函数（时间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工具按钮     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，如图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</a:rPr>
              <a:t>18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所示。</a:t>
            </a:r>
            <a:endParaRPr lang="en-US" altLang="zh-CN" sz="1600" kern="100"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29385" y="5655310"/>
            <a:ext cx="2467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从动件的修改界面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17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65" y="1558290"/>
            <a:ext cx="3702685" cy="36099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620" y="1558290"/>
            <a:ext cx="2400300" cy="36099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3510" y="3653155"/>
            <a:ext cx="228600" cy="2476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562600" y="5655310"/>
            <a:ext cx="2467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Joint Motion对话框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18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33425" y="248285"/>
            <a:ext cx="2873375" cy="3225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添加</a:t>
            </a:r>
            <a:r>
              <a:rPr lang="zh-CN" altLang="en-US" smtClean="0">
                <a:sym typeface="+mn-ea"/>
              </a:rPr>
              <a:t>从动件</a:t>
            </a:r>
            <a:r>
              <a:rPr lang="zh-CN" altLang="en-US" smtClean="0">
                <a:sym typeface="+mn-ea"/>
              </a:rPr>
              <a:t>的</a:t>
            </a:r>
            <a:r>
              <a:rPr lang="zh-CN" altLang="en-US" smtClean="0"/>
              <a:t>函数</a:t>
            </a:r>
            <a:endParaRPr lang="zh-CN" altLang="en-US" smtClean="0"/>
          </a:p>
        </p:txBody>
      </p:sp>
      <p:sp>
        <p:nvSpPr>
          <p:cNvPr id="8" name="矩形 7"/>
          <p:cNvSpPr/>
          <p:nvPr/>
        </p:nvSpPr>
        <p:spPr>
          <a:xfrm>
            <a:off x="8795385" y="2039620"/>
            <a:ext cx="324231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再弹出一个对话框，并在此对话框中下拉列表中的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所有函数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选项，双击列表中的IF选择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19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所示。</a:t>
            </a:r>
            <a:endParaRPr lang="en-US" altLang="zh-CN" sz="1600" kern="100"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69005" y="5643880"/>
            <a:ext cx="2467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修改函数类型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19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755" y="1087755"/>
            <a:ext cx="6213475" cy="4156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33425" y="248285"/>
            <a:ext cx="2873375" cy="3225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添加</a:t>
            </a:r>
            <a:r>
              <a:rPr lang="zh-CN" altLang="en-US" smtClean="0">
                <a:sym typeface="+mn-ea"/>
              </a:rPr>
              <a:t>从动件</a:t>
            </a:r>
            <a:r>
              <a:rPr lang="zh-CN" altLang="en-US" smtClean="0">
                <a:sym typeface="+mn-ea"/>
              </a:rPr>
              <a:t>的</a:t>
            </a:r>
            <a:r>
              <a:rPr lang="zh-CN" altLang="en-US" smtClean="0"/>
              <a:t>函数</a:t>
            </a:r>
            <a:endParaRPr lang="zh-CN" altLang="en-US" smtClean="0"/>
          </a:p>
        </p:txBody>
      </p:sp>
      <p:sp>
        <p:nvSpPr>
          <p:cNvPr id="8" name="矩形 7"/>
          <p:cNvSpPr/>
          <p:nvPr/>
        </p:nvSpPr>
        <p:spPr>
          <a:xfrm>
            <a:off x="8795385" y="2039620"/>
            <a:ext cx="3242310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将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</a:rPr>
              <a:t>定义运行时间函数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对话框里的内容改为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IF(time-6:50/3,50/3,-25/3*PI*sin(PI/180*(30*time-180)))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,点击确定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20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所示。</a:t>
            </a:r>
            <a:endParaRPr lang="en-US" altLang="zh-CN" sz="1600" kern="100"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69005" y="5643880"/>
            <a:ext cx="2467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修改函数类型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20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445" y="986790"/>
            <a:ext cx="6348730" cy="42411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33425" y="248285"/>
            <a:ext cx="2873375" cy="3225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添加</a:t>
            </a:r>
            <a:r>
              <a:rPr lang="zh-CN" altLang="en-US" smtClean="0">
                <a:sym typeface="+mn-ea"/>
              </a:rPr>
              <a:t>从动件</a:t>
            </a:r>
            <a:r>
              <a:rPr lang="zh-CN" altLang="en-US" smtClean="0">
                <a:sym typeface="+mn-ea"/>
              </a:rPr>
              <a:t>的</a:t>
            </a:r>
            <a:r>
              <a:rPr lang="zh-CN" altLang="en-US" smtClean="0"/>
              <a:t>函数</a:t>
            </a:r>
            <a:endParaRPr lang="zh-CN" altLang="en-US" smtClean="0"/>
          </a:p>
        </p:txBody>
      </p:sp>
      <p:sp>
        <p:nvSpPr>
          <p:cNvPr id="8" name="矩形 7"/>
          <p:cNvSpPr/>
          <p:nvPr/>
        </p:nvSpPr>
        <p:spPr>
          <a:xfrm>
            <a:off x="8795385" y="2039620"/>
            <a:ext cx="324231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再将Joint Motion对话框中的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类型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选择更改为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速度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21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所示。</a:t>
            </a:r>
            <a:endParaRPr lang="en-US" altLang="zh-CN" sz="1600" kern="100"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99180" y="5643880"/>
            <a:ext cx="2467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修改</a:t>
            </a:r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类型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21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015" y="1489710"/>
            <a:ext cx="2390775" cy="3609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33425" y="248285"/>
            <a:ext cx="2873375" cy="3225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获取凸轮的轮廓曲线</a:t>
            </a:r>
            <a:endParaRPr lang="zh-CN" altLang="en-US" smtClean="0"/>
          </a:p>
        </p:txBody>
      </p:sp>
      <p:sp>
        <p:nvSpPr>
          <p:cNvPr id="8" name="矩形 7"/>
          <p:cNvSpPr/>
          <p:nvPr/>
        </p:nvSpPr>
        <p:spPr>
          <a:xfrm>
            <a:off x="8623300" y="2039620"/>
            <a:ext cx="3414395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在操作区的结果          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图标中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的查看结果里点击     图标，然后先单击MARKER_3标记点，再单击凸轮板（cam），得到从动件尖端相对凸轮板的运动轨迹，也就是凸轮的轮廓曲线GCURVE_4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22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所示。</a:t>
            </a:r>
            <a:endParaRPr lang="en-US" altLang="zh-CN" sz="1600" kern="100"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99180" y="5643880"/>
            <a:ext cx="2467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凸轮轮廓曲线的获取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22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pic>
        <p:nvPicPr>
          <p:cNvPr id="27" name="图片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51810" y="1433830"/>
            <a:ext cx="3561715" cy="3888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图片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20325" y="2572385"/>
            <a:ext cx="22098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3540" y="2170430"/>
            <a:ext cx="542925" cy="228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33425" y="248285"/>
            <a:ext cx="2873375" cy="3225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创建凸轮几何体</a:t>
            </a:r>
            <a:endParaRPr lang="zh-CN" altLang="en-US" smtClean="0"/>
          </a:p>
        </p:txBody>
      </p:sp>
      <p:sp>
        <p:nvSpPr>
          <p:cNvPr id="8" name="矩形 7"/>
          <p:cNvSpPr/>
          <p:nvPr/>
        </p:nvSpPr>
        <p:spPr>
          <a:xfrm>
            <a:off x="8795385" y="2039620"/>
            <a:ext cx="324231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在操作区物体项的实体中，选择拉伸体      图标，选择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添加到现有部件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，选择轮廓为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曲线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，路径为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圆心</a:t>
            </a:r>
            <a:r>
              <a:rPr lang="en-US" sz="1600" kern="10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，长度选择10mm</a:t>
            </a:r>
            <a:r>
              <a:rPr lang="zh-CN" sz="1600" kern="10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23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所示。然后先单击凸轮板（cam），再单击GCURVE_4的凸轮轮廓曲线，得到厚度为10mm，以凸轮廓线为中心的凸轮几何体，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24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所示。</a:t>
            </a:r>
            <a:endParaRPr lang="zh-CN" altLang="en-US" sz="1600" kern="100"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35990" y="5632450"/>
            <a:ext cx="2467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修改参数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23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pic>
        <p:nvPicPr>
          <p:cNvPr id="28" name="图片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25025" y="2583180"/>
            <a:ext cx="34290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155" y="1851025"/>
            <a:ext cx="2114550" cy="3188970"/>
          </a:xfrm>
          <a:prstGeom prst="rect">
            <a:avLst/>
          </a:prstGeom>
        </p:spPr>
      </p:pic>
      <p:pic>
        <p:nvPicPr>
          <p:cNvPr id="29" name="图片 2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3270" y="1851025"/>
            <a:ext cx="2703195" cy="32048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4690745" y="5632450"/>
            <a:ext cx="2467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凸轮几何体的创建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24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33425" y="248285"/>
            <a:ext cx="2873375" cy="3225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创建凸轮副</a:t>
            </a:r>
            <a:endParaRPr lang="zh-CN" altLang="en-US" smtClean="0"/>
          </a:p>
        </p:txBody>
      </p:sp>
      <p:sp>
        <p:nvSpPr>
          <p:cNvPr id="8" name="矩形 7"/>
          <p:cNvSpPr/>
          <p:nvPr/>
        </p:nvSpPr>
        <p:spPr>
          <a:xfrm>
            <a:off x="8795385" y="2039620"/>
            <a:ext cx="332232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9410" algn="just">
              <a:lnSpc>
                <a:spcPct val="150000"/>
              </a:lnSpc>
              <a:spcAft>
                <a:spcPts val="0"/>
              </a:spcAft>
            </a:pP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在操作区的连接项的特殊约束中选择点-线约束      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图标</a:t>
            </a:r>
            <a:r>
              <a:rPr sz="1600" kern="100">
                <a:latin typeface="+mn-ea"/>
                <a:ea typeface="+mn-ea"/>
                <a:cs typeface="Times New Roman" panose="02020603050405020304" pitchFamily="18" charset="0"/>
              </a:rPr>
              <a:t>，选择点线约束为曲线，先点击从动件（follower）的尖端处的MARKER_3，再点击GCURVE_4,至此凸轮副创建完成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如图</a:t>
            </a:r>
            <a:r>
              <a:rPr lang="en-US" altLang="zh-CN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25</a:t>
            </a:r>
            <a:r>
              <a:rPr lang="zh-CN" altLang="en-US" sz="16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所示。</a:t>
            </a:r>
            <a:endParaRPr lang="zh-CN" altLang="en-US" sz="1600" kern="100"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16070" y="5655310"/>
            <a:ext cx="2467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kern="10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 凸轮副的创建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  <a:sym typeface="+mn-ea"/>
              </a:rPr>
              <a:t>25</a:t>
            </a:r>
            <a:r>
              <a:rPr lang="zh-CN" altLang="en-US" sz="1400" smtClean="0">
                <a:latin typeface="+mn-ea"/>
                <a:ea typeface="+mn-ea"/>
                <a:sym typeface="+mn-ea"/>
              </a:rPr>
              <a:t>）</a:t>
            </a:r>
            <a:endParaRPr lang="en-US" altLang="zh-CN" sz="1400" smtClean="0">
              <a:latin typeface="+mn-ea"/>
              <a:ea typeface="+mn-ea"/>
            </a:endParaRPr>
          </a:p>
        </p:txBody>
      </p:sp>
      <p:pic>
        <p:nvPicPr>
          <p:cNvPr id="30" name="图片 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66070" y="255333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3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46220" y="1284605"/>
            <a:ext cx="2607310" cy="3931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48"/>
          <p:cNvSpPr txBox="1"/>
          <p:nvPr/>
        </p:nvSpPr>
        <p:spPr>
          <a:xfrm>
            <a:off x="4845199" y="2721066"/>
            <a:ext cx="6840760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凸轮机构</a:t>
            </a:r>
            <a:r>
              <a:rPr lang="zh-CN" altLang="en-US" sz="440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的仿真</a:t>
            </a:r>
            <a:endParaRPr lang="en-GB" altLang="zh-CN" sz="3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259"/>
          <p:cNvSpPr>
            <a:spLocks noChangeArrowheads="1"/>
          </p:cNvSpPr>
          <p:nvPr/>
        </p:nvSpPr>
        <p:spPr bwMode="auto">
          <a:xfrm>
            <a:off x="3255952" y="1951625"/>
            <a:ext cx="2196442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13800" cap="all" spc="30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04</a:t>
            </a:r>
            <a:endParaRPr lang="zh-CN" altLang="en-US" sz="13800" cap="all" spc="3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6"/>
          <p:cNvSpPr/>
          <p:nvPr/>
        </p:nvSpPr>
        <p:spPr bwMode="auto">
          <a:xfrm>
            <a:off x="354" y="5397910"/>
            <a:ext cx="12858044" cy="183473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 bwMode="auto">
          <a:xfrm>
            <a:off x="354" y="5128493"/>
            <a:ext cx="12858044" cy="593017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Content Placeholder 2"/>
          <p:cNvSpPr txBox="1"/>
          <p:nvPr/>
        </p:nvSpPr>
        <p:spPr>
          <a:xfrm>
            <a:off x="733423" y="247565"/>
            <a:ext cx="3067050" cy="322580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mtClean="0"/>
              <a:t>凸轮机构的仿真</a:t>
            </a:r>
            <a:endParaRPr lang="en-US" sz="2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20325" y="5561553"/>
            <a:ext cx="9001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ADAMS/View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工作窗口中，选择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仿真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图标          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下的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Simulate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栏中的交互式模拟图标        点击鼠标左键弹出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“Simulation Control”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窗口，</a:t>
            </a:r>
            <a:r>
              <a:rPr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将终止时间改为12s，步数改为500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点击开始按钮       ，进行运动仿真模拟，如上图所示。</a:t>
            </a:r>
            <a:endParaRPr lang="zh-CN" altLang="zh-CN" sz="1600" kern="100">
              <a:latin typeface="+mn-ea"/>
              <a:ea typeface="+mn-ea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180" y="5730875"/>
            <a:ext cx="504825" cy="1809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1315" y="5678805"/>
            <a:ext cx="600075" cy="285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1740" y="6383655"/>
            <a:ext cx="323850" cy="3238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4710" y="842010"/>
            <a:ext cx="6069965" cy="4554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48"/>
          <p:cNvSpPr txBox="1"/>
          <p:nvPr/>
        </p:nvSpPr>
        <p:spPr>
          <a:xfrm>
            <a:off x="5452394" y="2721066"/>
            <a:ext cx="6840760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40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凸轮机构</a:t>
            </a:r>
            <a:r>
              <a:rPr lang="zh-CN" altLang="en-US" sz="440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仿真测量分析</a:t>
            </a:r>
            <a:endParaRPr lang="en-GB" altLang="zh-CN" sz="3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259"/>
          <p:cNvSpPr>
            <a:spLocks noChangeArrowheads="1"/>
          </p:cNvSpPr>
          <p:nvPr/>
        </p:nvSpPr>
        <p:spPr bwMode="auto">
          <a:xfrm>
            <a:off x="3255952" y="1951625"/>
            <a:ext cx="2196442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13800" cap="all" spc="30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05</a:t>
            </a:r>
            <a:endParaRPr lang="zh-CN" altLang="en-US" sz="13800" cap="all" spc="3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6"/>
          <p:cNvSpPr/>
          <p:nvPr/>
        </p:nvSpPr>
        <p:spPr bwMode="auto">
          <a:xfrm>
            <a:off x="354" y="5397910"/>
            <a:ext cx="12858044" cy="183473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 bwMode="auto">
          <a:xfrm>
            <a:off x="354" y="5128493"/>
            <a:ext cx="12858044" cy="593017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Content Placeholder 2"/>
          <p:cNvSpPr txBox="1"/>
          <p:nvPr/>
        </p:nvSpPr>
        <p:spPr>
          <a:xfrm>
            <a:off x="733423" y="247565"/>
            <a:ext cx="4687840" cy="3225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smtClean="0">
                <a:sym typeface="+mn-ea"/>
              </a:rPr>
              <a:t>对</a:t>
            </a:r>
            <a:r>
              <a:rPr smtClean="0">
                <a:sym typeface="+mn-ea"/>
              </a:rPr>
              <a:t>尖端从动件</a:t>
            </a:r>
            <a:r>
              <a:rPr lang="zh-CN" smtClean="0">
                <a:sym typeface="+mn-ea"/>
              </a:rPr>
              <a:t>分析</a:t>
            </a:r>
            <a:endParaRPr smtClean="0"/>
          </a:p>
        </p:txBody>
      </p:sp>
      <p:sp>
        <p:nvSpPr>
          <p:cNvPr id="4" name="文本框 3"/>
          <p:cNvSpPr txBox="1"/>
          <p:nvPr/>
        </p:nvSpPr>
        <p:spPr>
          <a:xfrm>
            <a:off x="8328966" y="1867256"/>
            <a:ext cx="3501589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kern="100">
                <a:cs typeface="Times New Roman" panose="02020603050405020304" pitchFamily="18" charset="0"/>
              </a:rPr>
              <a:t>         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运用鼠标左键选中尖端从动件，右击选择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Part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follower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再选择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测量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，如图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27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所示。</a:t>
            </a:r>
            <a:endParaRPr lang="en-US" altLang="zh-CN" sz="1600" kern="1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18460" y="5822315"/>
            <a:ext cx="25933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sz="14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尖端从动件</a:t>
            </a:r>
            <a:r>
              <a:rPr lang="zh-CN" altLang="en-US" sz="14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测量</a:t>
            </a:r>
            <a:r>
              <a:rPr lang="zh-CN" altLang="en-US" sz="1400" smtClean="0">
                <a:latin typeface="+mn-ea"/>
                <a:ea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</a:rPr>
              <a:t>27</a:t>
            </a:r>
            <a:r>
              <a:rPr lang="zh-CN" altLang="en-US" sz="1400" smtClean="0">
                <a:latin typeface="+mn-ea"/>
                <a:ea typeface="+mn-ea"/>
              </a:rPr>
              <a:t>）</a:t>
            </a:r>
            <a:endParaRPr lang="zh-CN" altLang="en-US" sz="1400" smtClean="0">
              <a:latin typeface="+mn-ea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305" y="842645"/>
            <a:ext cx="4312285" cy="489204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Content Placeholder 2"/>
          <p:cNvSpPr txBox="1"/>
          <p:nvPr/>
        </p:nvSpPr>
        <p:spPr>
          <a:xfrm>
            <a:off x="733423" y="247565"/>
            <a:ext cx="4687840" cy="3225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smtClean="0">
                <a:sym typeface="+mn-ea"/>
              </a:rPr>
              <a:t>对</a:t>
            </a:r>
            <a:r>
              <a:rPr smtClean="0">
                <a:sym typeface="+mn-ea"/>
              </a:rPr>
              <a:t>尖端从动件</a:t>
            </a:r>
            <a:r>
              <a:rPr lang="zh-CN" smtClean="0">
                <a:sym typeface="+mn-ea"/>
              </a:rPr>
              <a:t>分析</a:t>
            </a:r>
            <a:endParaRPr lang="en-US" sz="2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3425" y="5251450"/>
            <a:ext cx="50685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Tx/>
              <a:buSzTx/>
              <a:buFontTx/>
            </a:pP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点击鼠标左键进入测量窗口，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如上图所示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。分别选择特性中的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质心位置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质心速度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质心加速度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，分量分别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”Y“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，如右图所示。</a:t>
            </a:r>
            <a:endParaRPr lang="zh-CN" altLang="en-US" sz="1600" kern="1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33692" y="3108715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mtClean="0">
                <a:latin typeface="+mn-ea"/>
                <a:ea typeface="+mn-ea"/>
              </a:rPr>
              <a:t>质心位置</a:t>
            </a:r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006496" y="3108715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mtClean="0">
                <a:latin typeface="+mn-ea"/>
                <a:ea typeface="+mn-ea"/>
              </a:rPr>
              <a:t>质心速度</a:t>
            </a:r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67968" y="5528228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mtClean="0">
                <a:latin typeface="+mn-ea"/>
                <a:ea typeface="+mn-ea"/>
              </a:rPr>
              <a:t>质心加速度</a:t>
            </a:r>
            <a:endParaRPr lang="zh-CN" altLang="en-US" sz="1200">
              <a:latin typeface="+mn-ea"/>
              <a:ea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060" y="1144905"/>
            <a:ext cx="3543300" cy="3771900"/>
          </a:xfrm>
          <a:prstGeom prst="rect">
            <a:avLst/>
          </a:prstGeom>
        </p:spPr>
      </p:pic>
      <p:pic>
        <p:nvPicPr>
          <p:cNvPr id="35" name="图片 3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48743" y="1753235"/>
            <a:ext cx="2412365" cy="1211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图片 3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25330" y="1751965"/>
            <a:ext cx="2415540" cy="121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图片 3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88325" y="4038600"/>
            <a:ext cx="2415540" cy="12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Content Placeholder 2"/>
          <p:cNvSpPr txBox="1"/>
          <p:nvPr/>
        </p:nvSpPr>
        <p:spPr>
          <a:xfrm>
            <a:off x="733423" y="247565"/>
            <a:ext cx="4687840" cy="3225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smtClean="0">
                <a:sym typeface="+mn-ea"/>
              </a:rPr>
              <a:t>对</a:t>
            </a:r>
            <a:r>
              <a:rPr smtClean="0">
                <a:sym typeface="+mn-ea"/>
              </a:rPr>
              <a:t>凸轮</a:t>
            </a:r>
            <a:r>
              <a:rPr lang="zh-CN" smtClean="0">
                <a:sym typeface="+mn-ea"/>
              </a:rPr>
              <a:t>分析</a:t>
            </a:r>
            <a:endParaRPr smtClean="0"/>
          </a:p>
        </p:txBody>
      </p:sp>
      <p:sp>
        <p:nvSpPr>
          <p:cNvPr id="4" name="文本框 3"/>
          <p:cNvSpPr txBox="1"/>
          <p:nvPr/>
        </p:nvSpPr>
        <p:spPr>
          <a:xfrm>
            <a:off x="8328966" y="1867256"/>
            <a:ext cx="3501589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kern="100">
                <a:cs typeface="Times New Roman" panose="02020603050405020304" pitchFamily="18" charset="0"/>
              </a:rPr>
              <a:t>         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运用鼠标左键选中凸轮，右击选择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Part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cam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再选择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测量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，如图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28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所示。</a:t>
            </a:r>
            <a:endParaRPr lang="en-US" altLang="zh-CN" sz="1600" kern="1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18460" y="5822315"/>
            <a:ext cx="25933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sz="14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凸轮</a:t>
            </a:r>
            <a:r>
              <a:rPr lang="zh-CN" altLang="en-US" sz="14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测量</a:t>
            </a:r>
            <a:r>
              <a:rPr lang="zh-CN" altLang="en-US" sz="1400" smtClean="0">
                <a:latin typeface="+mn-ea"/>
                <a:ea typeface="+mn-ea"/>
              </a:rPr>
              <a:t>（图</a:t>
            </a:r>
            <a:r>
              <a:rPr lang="en-US" altLang="zh-CN" sz="1400" smtClean="0">
                <a:latin typeface="+mn-ea"/>
                <a:ea typeface="+mn-ea"/>
              </a:rPr>
              <a:t>28</a:t>
            </a:r>
            <a:r>
              <a:rPr lang="zh-CN" altLang="en-US" sz="1400" smtClean="0">
                <a:latin typeface="+mn-ea"/>
                <a:ea typeface="+mn-ea"/>
              </a:rPr>
              <a:t>）</a:t>
            </a:r>
            <a:endParaRPr lang="zh-CN" altLang="en-US" sz="1400" smtClean="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600" y="1081405"/>
            <a:ext cx="4670425" cy="443166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Content Placeholder 2"/>
          <p:cNvSpPr txBox="1"/>
          <p:nvPr/>
        </p:nvSpPr>
        <p:spPr>
          <a:xfrm>
            <a:off x="733423" y="247565"/>
            <a:ext cx="4687840" cy="3225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smtClean="0">
                <a:sym typeface="+mn-ea"/>
              </a:rPr>
              <a:t>对</a:t>
            </a:r>
            <a:r>
              <a:rPr smtClean="0">
                <a:sym typeface="+mn-ea"/>
              </a:rPr>
              <a:t>凸轮</a:t>
            </a:r>
            <a:r>
              <a:rPr lang="zh-CN" smtClean="0">
                <a:sym typeface="+mn-ea"/>
              </a:rPr>
              <a:t>分析</a:t>
            </a:r>
            <a:endParaRPr lang="en-US" sz="2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3425" y="5251450"/>
            <a:ext cx="50685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Tx/>
              <a:buSzTx/>
              <a:buFontTx/>
            </a:pP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点击鼠标左键进入测量窗口，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如上图所示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。分别选择特性中的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质心位置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质心速度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质心加速度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，分量分别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</a:t>
            </a:r>
            <a:r>
              <a:rPr lang="en-US" altLang="zh-CN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”Y“</a:t>
            </a:r>
            <a:r>
              <a:rPr lang="zh-CN" altLang="en-US" sz="1600" kern="1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，如右图所示。</a:t>
            </a:r>
            <a:endParaRPr lang="zh-CN" altLang="en-US" sz="1600" kern="1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33692" y="3108715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mtClean="0">
                <a:latin typeface="+mn-ea"/>
                <a:ea typeface="+mn-ea"/>
              </a:rPr>
              <a:t>质心位置</a:t>
            </a:r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006496" y="3108715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mtClean="0">
                <a:latin typeface="+mn-ea"/>
                <a:ea typeface="+mn-ea"/>
              </a:rPr>
              <a:t>质心速度</a:t>
            </a:r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67968" y="5528228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mtClean="0">
                <a:latin typeface="+mn-ea"/>
                <a:ea typeface="+mn-ea"/>
              </a:rPr>
              <a:t>质心加速度</a:t>
            </a:r>
            <a:endParaRPr lang="zh-CN" altLang="en-US" sz="120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615" y="1211580"/>
            <a:ext cx="3552825" cy="3752850"/>
          </a:xfrm>
          <a:prstGeom prst="rect">
            <a:avLst/>
          </a:prstGeom>
        </p:spPr>
      </p:pic>
      <p:pic>
        <p:nvPicPr>
          <p:cNvPr id="38" name="图片 3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54140" y="1751965"/>
            <a:ext cx="2415540" cy="121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图片 3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26600" y="1751965"/>
            <a:ext cx="2415540" cy="121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图片 4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88325" y="3951605"/>
            <a:ext cx="2415540" cy="12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54613" y="1024037"/>
            <a:ext cx="4808842" cy="3854810"/>
            <a:chOff x="1049121" y="2159940"/>
            <a:chExt cx="4162110" cy="3336384"/>
          </a:xfrm>
        </p:grpSpPr>
        <p:sp>
          <p:nvSpPr>
            <p:cNvPr id="7" name="Freeform 6"/>
            <p:cNvSpPr/>
            <p:nvPr/>
          </p:nvSpPr>
          <p:spPr>
            <a:xfrm>
              <a:off x="1941457" y="2290058"/>
              <a:ext cx="2856007" cy="2855946"/>
            </a:xfrm>
            <a:custGeom>
              <a:avLst/>
              <a:gdLst>
                <a:gd name="connsiteX0" fmla="*/ 0 w 2708066"/>
                <a:gd name="connsiteY0" fmla="*/ 1354004 h 2708008"/>
                <a:gd name="connsiteX1" fmla="*/ 1354033 w 2708066"/>
                <a:gd name="connsiteY1" fmla="*/ 0 h 2708008"/>
                <a:gd name="connsiteX2" fmla="*/ 2708066 w 2708066"/>
                <a:gd name="connsiteY2" fmla="*/ 1354004 h 2708008"/>
                <a:gd name="connsiteX3" fmla="*/ 1354033 w 2708066"/>
                <a:gd name="connsiteY3" fmla="*/ 2708008 h 2708008"/>
                <a:gd name="connsiteX4" fmla="*/ 0 w 2708066"/>
                <a:gd name="connsiteY4" fmla="*/ 1354004 h 270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8066" h="2708008">
                  <a:moveTo>
                    <a:pt x="0" y="1354004"/>
                  </a:moveTo>
                  <a:cubicBezTo>
                    <a:pt x="0" y="606208"/>
                    <a:pt x="606221" y="0"/>
                    <a:pt x="1354033" y="0"/>
                  </a:cubicBezTo>
                  <a:cubicBezTo>
                    <a:pt x="2101845" y="0"/>
                    <a:pt x="2708066" y="606208"/>
                    <a:pt x="2708066" y="1354004"/>
                  </a:cubicBezTo>
                  <a:cubicBezTo>
                    <a:pt x="2708066" y="2101800"/>
                    <a:pt x="2101845" y="2708008"/>
                    <a:pt x="1354033" y="2708008"/>
                  </a:cubicBezTo>
                  <a:cubicBezTo>
                    <a:pt x="606221" y="2708008"/>
                    <a:pt x="0" y="2101800"/>
                    <a:pt x="0" y="1354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27196" tIns="627187" rIns="627196" bIns="627187" numCol="1" spcCol="1270" anchor="ctr" anchorCtr="0">
              <a:noAutofit/>
            </a:bodyPr>
            <a:lstStyle/>
            <a:p>
              <a:pPr algn="ctr" defTabSz="2437765">
                <a:lnSpc>
                  <a:spcPct val="120000"/>
                </a:lnSpc>
                <a:spcAft>
                  <a:spcPct val="35000"/>
                </a:spcAft>
              </a:pPr>
              <a:endParaRPr lang="id-ID" sz="5485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571034" y="2159940"/>
              <a:ext cx="317629" cy="317624"/>
            </a:xfrm>
            <a:prstGeom prst="ellipse">
              <a:avLst/>
            </a:prstGeom>
            <a:solidFill>
              <a:schemeClr val="accent6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818921" y="4933810"/>
              <a:ext cx="229988" cy="230210"/>
            </a:xfrm>
            <a:prstGeom prst="ellipse">
              <a:avLst/>
            </a:prstGeom>
            <a:solidFill>
              <a:schemeClr val="accent6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56240"/>
                <a:satOff val="2879"/>
                <a:lumOff val="1209"/>
                <a:alphaOff val="0"/>
              </a:schemeClr>
            </a:fillRef>
            <a:effectRef idx="0">
              <a:schemeClr val="accent3">
                <a:hueOff val="56240"/>
                <a:satOff val="2879"/>
                <a:lumOff val="120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4981243" y="3449118"/>
              <a:ext cx="229988" cy="23021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12479"/>
                <a:satOff val="5757"/>
                <a:lumOff val="2418"/>
                <a:alphaOff val="0"/>
              </a:schemeClr>
            </a:fillRef>
            <a:effectRef idx="0">
              <a:schemeClr val="accent3">
                <a:hueOff val="112479"/>
                <a:satOff val="5757"/>
                <a:lumOff val="2418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880695" y="5178700"/>
              <a:ext cx="317629" cy="31762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68719"/>
                <a:satOff val="8636"/>
                <a:lumOff val="3628"/>
                <a:alphaOff val="0"/>
              </a:schemeClr>
            </a:fillRef>
            <a:effectRef idx="0">
              <a:schemeClr val="accent3">
                <a:hueOff val="168719"/>
                <a:satOff val="8636"/>
                <a:lumOff val="3628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2502714" y="2839728"/>
              <a:ext cx="229988" cy="23021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224959"/>
                <a:satOff val="11515"/>
                <a:lumOff val="4837"/>
                <a:alphaOff val="0"/>
              </a:schemeClr>
            </a:fillRef>
            <a:effectRef idx="0">
              <a:schemeClr val="accent3">
                <a:hueOff val="224959"/>
                <a:satOff val="11515"/>
                <a:lumOff val="4837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1049121" y="2805530"/>
              <a:ext cx="1161099" cy="1160728"/>
            </a:xfrm>
            <a:custGeom>
              <a:avLst/>
              <a:gdLst>
                <a:gd name="connsiteX0" fmla="*/ 0 w 1100954"/>
                <a:gd name="connsiteY0" fmla="*/ 550301 h 1100602"/>
                <a:gd name="connsiteX1" fmla="*/ 550477 w 1100954"/>
                <a:gd name="connsiteY1" fmla="*/ 0 h 1100602"/>
                <a:gd name="connsiteX2" fmla="*/ 1100954 w 1100954"/>
                <a:gd name="connsiteY2" fmla="*/ 550301 h 1100602"/>
                <a:gd name="connsiteX3" fmla="*/ 550477 w 1100954"/>
                <a:gd name="connsiteY3" fmla="*/ 1100602 h 1100602"/>
                <a:gd name="connsiteX4" fmla="*/ 0 w 1100954"/>
                <a:gd name="connsiteY4" fmla="*/ 550301 h 1100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0954" h="1100602">
                  <a:moveTo>
                    <a:pt x="0" y="550301"/>
                  </a:moveTo>
                  <a:cubicBezTo>
                    <a:pt x="0" y="246378"/>
                    <a:pt x="246457" y="0"/>
                    <a:pt x="550477" y="0"/>
                  </a:cubicBezTo>
                  <a:cubicBezTo>
                    <a:pt x="854497" y="0"/>
                    <a:pt x="1100954" y="246378"/>
                    <a:pt x="1100954" y="550301"/>
                  </a:cubicBezTo>
                  <a:cubicBezTo>
                    <a:pt x="1100954" y="854224"/>
                    <a:pt x="854497" y="1100602"/>
                    <a:pt x="550477" y="1100602"/>
                  </a:cubicBezTo>
                  <a:cubicBezTo>
                    <a:pt x="246457" y="1100602"/>
                    <a:pt x="0" y="854224"/>
                    <a:pt x="0" y="550301"/>
                  </a:cubicBez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337438"/>
                <a:satOff val="17272"/>
                <a:lumOff val="7255"/>
                <a:alphaOff val="0"/>
              </a:schemeClr>
            </a:fillRef>
            <a:effectRef idx="0">
              <a:schemeClr val="accent3">
                <a:hueOff val="337438"/>
                <a:satOff val="17272"/>
                <a:lumOff val="725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4420" tIns="254365" rIns="254420" bIns="254365" numCol="1" spcCol="1270" anchor="ctr" anchorCtr="0">
              <a:noAutofit/>
            </a:bodyPr>
            <a:lstStyle/>
            <a:p>
              <a:pPr algn="ctr" defTabSz="984250">
                <a:lnSpc>
                  <a:spcPct val="120000"/>
                </a:lnSpc>
                <a:spcAft>
                  <a:spcPct val="35000"/>
                </a:spcAft>
              </a:pPr>
              <a:endParaRPr lang="id-ID" sz="2215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4306180" y="3929321"/>
              <a:ext cx="317629" cy="31762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393678"/>
                <a:satOff val="20151"/>
                <a:lumOff val="8464"/>
                <a:alphaOff val="0"/>
              </a:schemeClr>
            </a:fillRef>
            <a:effectRef idx="0">
              <a:schemeClr val="accent3">
                <a:hueOff val="393678"/>
                <a:satOff val="20151"/>
                <a:lumOff val="846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1324790" y="4179851"/>
              <a:ext cx="574175" cy="57419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449917"/>
                <a:satOff val="23029"/>
                <a:lumOff val="9673"/>
                <a:alphaOff val="0"/>
              </a:schemeClr>
            </a:fillRef>
            <a:effectRef idx="0">
              <a:schemeClr val="accent3">
                <a:hueOff val="449917"/>
                <a:satOff val="23029"/>
                <a:lumOff val="9673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572256" y="3060763"/>
              <a:ext cx="317629" cy="317624"/>
            </a:xfrm>
            <a:prstGeom prst="ellipse">
              <a:avLst/>
            </a:prstGeom>
            <a:solidFill>
              <a:schemeClr val="accent5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562397"/>
                <a:satOff val="28787"/>
                <a:lumOff val="12092"/>
                <a:alphaOff val="0"/>
              </a:schemeClr>
            </a:fillRef>
            <a:effectRef idx="0">
              <a:schemeClr val="accent3">
                <a:hueOff val="562397"/>
                <a:satOff val="28787"/>
                <a:lumOff val="12092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1094801" y="4826084"/>
              <a:ext cx="229988" cy="23021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618636"/>
                <a:satOff val="31665"/>
                <a:lumOff val="13301"/>
                <a:alphaOff val="0"/>
              </a:schemeClr>
            </a:fillRef>
            <a:effectRef idx="0">
              <a:schemeClr val="accent3">
                <a:hueOff val="618636"/>
                <a:satOff val="31665"/>
                <a:lumOff val="13301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666874" y="4526268"/>
              <a:ext cx="229988" cy="23021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674876"/>
                <a:satOff val="34544"/>
                <a:lumOff val="14510"/>
                <a:alphaOff val="0"/>
              </a:schemeClr>
            </a:fillRef>
            <a:effectRef idx="0">
              <a:schemeClr val="accent3">
                <a:hueOff val="674876"/>
                <a:satOff val="34544"/>
                <a:lumOff val="1451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" name="Title 13"/>
            <p:cNvSpPr txBox="1"/>
            <p:nvPr/>
          </p:nvSpPr>
          <p:spPr>
            <a:xfrm>
              <a:off x="2514387" y="3461489"/>
              <a:ext cx="1650088" cy="51706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anose="020B0403030403020204" pitchFamily="34" charset="0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280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课程总结</a:t>
              </a:r>
              <a:endPara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684756" y="5076880"/>
            <a:ext cx="1161099" cy="1160728"/>
            <a:chOff x="8029000" y="2286245"/>
            <a:chExt cx="1161099" cy="1160728"/>
          </a:xfrm>
        </p:grpSpPr>
        <p:sp>
          <p:nvSpPr>
            <p:cNvPr id="16" name="Freeform 15"/>
            <p:cNvSpPr/>
            <p:nvPr/>
          </p:nvSpPr>
          <p:spPr>
            <a:xfrm>
              <a:off x="8029000" y="2286245"/>
              <a:ext cx="1161099" cy="1160728"/>
            </a:xfrm>
            <a:custGeom>
              <a:avLst/>
              <a:gdLst>
                <a:gd name="connsiteX0" fmla="*/ 0 w 1100954"/>
                <a:gd name="connsiteY0" fmla="*/ 550301 h 1100602"/>
                <a:gd name="connsiteX1" fmla="*/ 550477 w 1100954"/>
                <a:gd name="connsiteY1" fmla="*/ 0 h 1100602"/>
                <a:gd name="connsiteX2" fmla="*/ 1100954 w 1100954"/>
                <a:gd name="connsiteY2" fmla="*/ 550301 h 1100602"/>
                <a:gd name="connsiteX3" fmla="*/ 550477 w 1100954"/>
                <a:gd name="connsiteY3" fmla="*/ 1100602 h 1100602"/>
                <a:gd name="connsiteX4" fmla="*/ 0 w 1100954"/>
                <a:gd name="connsiteY4" fmla="*/ 550301 h 1100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0954" h="1100602">
                  <a:moveTo>
                    <a:pt x="0" y="550301"/>
                  </a:moveTo>
                  <a:cubicBezTo>
                    <a:pt x="0" y="246378"/>
                    <a:pt x="246457" y="0"/>
                    <a:pt x="550477" y="0"/>
                  </a:cubicBezTo>
                  <a:cubicBezTo>
                    <a:pt x="854497" y="0"/>
                    <a:pt x="1100954" y="246378"/>
                    <a:pt x="1100954" y="550301"/>
                  </a:cubicBezTo>
                  <a:cubicBezTo>
                    <a:pt x="1100954" y="854224"/>
                    <a:pt x="854497" y="1100602"/>
                    <a:pt x="550477" y="1100602"/>
                  </a:cubicBezTo>
                  <a:cubicBezTo>
                    <a:pt x="246457" y="1100602"/>
                    <a:pt x="0" y="854224"/>
                    <a:pt x="0" y="5503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506157"/>
                <a:satOff val="25908"/>
                <a:lumOff val="10883"/>
                <a:alphaOff val="0"/>
              </a:schemeClr>
            </a:fillRef>
            <a:effectRef idx="0">
              <a:schemeClr val="accent3">
                <a:hueOff val="506157"/>
                <a:satOff val="25908"/>
                <a:lumOff val="10883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4420" tIns="254365" rIns="254420" bIns="254365" numCol="1" spcCol="1270" anchor="ctr" anchorCtr="0">
              <a:noAutofit/>
            </a:bodyPr>
            <a:lstStyle/>
            <a:p>
              <a:pPr algn="ctr" defTabSz="984250">
                <a:lnSpc>
                  <a:spcPct val="120000"/>
                </a:lnSpc>
                <a:spcAft>
                  <a:spcPct val="35000"/>
                </a:spcAft>
              </a:pPr>
              <a:endParaRPr lang="id-ID" sz="2215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2" name="Title 13"/>
            <p:cNvSpPr txBox="1"/>
            <p:nvPr/>
          </p:nvSpPr>
          <p:spPr>
            <a:xfrm>
              <a:off x="8101502" y="2765364"/>
              <a:ext cx="1016097" cy="202491"/>
            </a:xfrm>
            <a:prstGeom prst="rect">
              <a:avLst/>
            </a:prstGeom>
          </p:spPr>
          <p:txBody>
            <a:bodyPr vert="horz" lIns="0" tIns="0" rIns="0" bIns="0" rtlCol="0" anchor="ctr">
              <a:sp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anose="020B0403030403020204" pitchFamily="34" charset="0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200" b="1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参考</a:t>
              </a:r>
              <a:r>
                <a:rPr lang="zh-CN" altLang="en-US" sz="12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文献</a:t>
              </a:r>
              <a:endPara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任意多边形 28"/>
          <p:cNvSpPr/>
          <p:nvPr>
            <p:custDataLst>
              <p:tags r:id="rId1"/>
            </p:custDataLst>
          </p:nvPr>
        </p:nvSpPr>
        <p:spPr>
          <a:xfrm>
            <a:off x="733423" y="646282"/>
            <a:ext cx="12125327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任意多边形 29"/>
          <p:cNvSpPr/>
          <p:nvPr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33378" y="1557214"/>
            <a:ext cx="6666587" cy="2953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>
              <a:lnSpc>
                <a:spcPct val="200000"/>
              </a:lnSpc>
              <a:spcAft>
                <a:spcPts val="0"/>
              </a:spcAft>
            </a:pPr>
            <a:r>
              <a:rPr sz="1400" kern="0">
                <a:latin typeface="+mn-ea"/>
                <a:ea typeface="+mn-ea"/>
              </a:rPr>
              <a:t>本文运用ADAMS 对一凸轮机构进行研究分析，获得了该机构的运动和动力特性。在ADAMS 工作环境下建立模型并进行仿真分析，可以清楚地看到机构的运动规律和运动特性，得到机构的速度、加速度的特性曲线，而且应用ADAMS 软件可以求出任意一点的绝对速度、绝对加速度和受力特性。ADAMS 软件在分析复杂机构的运动学和动力学特性方面有强大的功能，通过本文对这一简单机构的研究分析方法，可以对其他复杂机械系统的动态仿真分析提供参考。</a:t>
            </a:r>
            <a:endParaRPr sz="1400" kern="0">
              <a:latin typeface="+mn-ea"/>
              <a:ea typeface="+mn-ea"/>
            </a:endParaRPr>
          </a:p>
          <a:p>
            <a:pPr>
              <a:spcAft>
                <a:spcPts val="0"/>
              </a:spcAft>
            </a:pPr>
            <a:r>
              <a:rPr lang="en-US" altLang="zh-CN" kern="0">
                <a:latin typeface="KTJ+ZJNBjx-2"/>
                <a:cs typeface="KTJ+ZJNBjx-2"/>
              </a:rPr>
              <a:t> </a:t>
            </a:r>
            <a:endParaRPr lang="zh-CN" altLang="zh-CN" sz="1200" kern="100"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18357" y="5334078"/>
            <a:ext cx="67510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200" kern="0">
                <a:latin typeface="+mn-ea"/>
                <a:ea typeface="+mn-ea"/>
                <a:cs typeface="Times New Roman" panose="02020603050405020304" pitchFamily="18" charset="0"/>
              </a:rPr>
              <a:t>[1] </a:t>
            </a:r>
            <a:r>
              <a:rPr lang="zh-CN" altLang="zh-CN" sz="1200" kern="0">
                <a:latin typeface="+mn-ea"/>
                <a:ea typeface="+mn-ea"/>
                <a:cs typeface="Times New Roman" panose="02020603050405020304" pitchFamily="18" charset="0"/>
              </a:rPr>
              <a:t>郭卫东</a:t>
            </a:r>
            <a:r>
              <a:rPr lang="en-US" altLang="zh-CN" sz="1200" kern="0"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r>
              <a:rPr lang="zh-CN" altLang="zh-CN" sz="1200" kern="0">
                <a:latin typeface="+mn-ea"/>
                <a:ea typeface="+mn-ea"/>
                <a:cs typeface="Times New Roman" panose="02020603050405020304" pitchFamily="18" charset="0"/>
              </a:rPr>
              <a:t>机械原理</a:t>
            </a:r>
            <a:r>
              <a:rPr lang="en-US" altLang="zh-CN" sz="1200" kern="0">
                <a:latin typeface="+mn-ea"/>
                <a:ea typeface="+mn-ea"/>
                <a:cs typeface="Times New Roman" panose="02020603050405020304" pitchFamily="18" charset="0"/>
              </a:rPr>
              <a:t>. </a:t>
            </a:r>
            <a:r>
              <a:rPr lang="zh-CN" altLang="zh-CN" sz="1200" kern="0">
                <a:latin typeface="+mn-ea"/>
                <a:ea typeface="+mn-ea"/>
                <a:cs typeface="Times New Roman" panose="02020603050405020304" pitchFamily="18" charset="0"/>
              </a:rPr>
              <a:t>北京：科学出版社，</a:t>
            </a:r>
            <a:r>
              <a:rPr lang="en-US" altLang="zh-CN" sz="1200" kern="0">
                <a:latin typeface="+mn-ea"/>
                <a:ea typeface="+mn-ea"/>
                <a:cs typeface="Times New Roman" panose="02020603050405020304" pitchFamily="18" charset="0"/>
              </a:rPr>
              <a:t>2010. </a:t>
            </a:r>
            <a:endParaRPr lang="zh-CN" altLang="zh-CN" sz="1200" kern="10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200" kern="0">
                <a:latin typeface="+mn-ea"/>
                <a:ea typeface="+mn-ea"/>
                <a:cs typeface="Times New Roman" panose="02020603050405020304" pitchFamily="18" charset="0"/>
              </a:rPr>
              <a:t>[2] </a:t>
            </a:r>
            <a:r>
              <a:rPr lang="zh-CN" altLang="zh-CN" sz="1200" kern="0">
                <a:latin typeface="+mn-ea"/>
                <a:ea typeface="+mn-ea"/>
                <a:cs typeface="Times New Roman" panose="02020603050405020304" pitchFamily="18" charset="0"/>
              </a:rPr>
              <a:t>郭卫东</a:t>
            </a:r>
            <a:r>
              <a:rPr lang="en-US" altLang="zh-CN" sz="1200" kern="0">
                <a:latin typeface="+mn-ea"/>
                <a:ea typeface="+mn-ea"/>
                <a:cs typeface="Times New Roman" panose="02020603050405020304" pitchFamily="18" charset="0"/>
              </a:rPr>
              <a:t>. </a:t>
            </a:r>
            <a:r>
              <a:rPr lang="zh-CN" altLang="zh-CN" sz="1200" kern="0">
                <a:latin typeface="+mn-ea"/>
                <a:ea typeface="+mn-ea"/>
                <a:cs typeface="Times New Roman" panose="02020603050405020304" pitchFamily="18" charset="0"/>
              </a:rPr>
              <a:t>虚拟样机技术与</a:t>
            </a:r>
            <a:r>
              <a:rPr lang="en-US" altLang="zh-CN" sz="1200" kern="0">
                <a:latin typeface="+mn-ea"/>
                <a:ea typeface="+mn-ea"/>
                <a:cs typeface="Times New Roman" panose="02020603050405020304" pitchFamily="18" charset="0"/>
              </a:rPr>
              <a:t>ADAMS</a:t>
            </a:r>
            <a:r>
              <a:rPr lang="zh-CN" altLang="zh-CN" sz="1200" kern="0">
                <a:latin typeface="+mn-ea"/>
                <a:ea typeface="+mn-ea"/>
                <a:cs typeface="Times New Roman" panose="02020603050405020304" pitchFamily="18" charset="0"/>
              </a:rPr>
              <a:t>应用实例教程</a:t>
            </a:r>
            <a:r>
              <a:rPr lang="en-US" altLang="zh-CN" sz="1200" kern="0">
                <a:latin typeface="+mn-ea"/>
                <a:ea typeface="+mn-ea"/>
                <a:cs typeface="Times New Roman" panose="02020603050405020304" pitchFamily="18" charset="0"/>
              </a:rPr>
              <a:t>. </a:t>
            </a:r>
            <a:r>
              <a:rPr lang="zh-CN" altLang="zh-CN" sz="1200" kern="0">
                <a:latin typeface="+mn-ea"/>
                <a:ea typeface="+mn-ea"/>
                <a:cs typeface="Times New Roman" panose="02020603050405020304" pitchFamily="18" charset="0"/>
              </a:rPr>
              <a:t>北京：北京航空航天大学出版社，</a:t>
            </a:r>
            <a:r>
              <a:rPr lang="en-US" altLang="zh-CN" sz="1200" kern="0">
                <a:latin typeface="+mn-ea"/>
                <a:ea typeface="+mn-ea"/>
                <a:cs typeface="Times New Roman" panose="02020603050405020304" pitchFamily="18" charset="0"/>
              </a:rPr>
              <a:t>2008</a:t>
            </a:r>
            <a:r>
              <a:rPr lang="en-US" altLang="zh-CN" sz="1200" ker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1000" kern="10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14:flip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3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4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5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6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7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8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9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0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1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2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3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4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5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6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7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8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19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20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21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22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23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24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25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26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27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28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29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30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31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32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33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34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35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36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37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38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39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40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41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42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43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44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45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46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47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48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49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50.xml><?xml version="1.0" encoding="utf-8"?>
<p:tagLst xmlns:p="http://schemas.openxmlformats.org/presentationml/2006/main">
  <p:tag name="MH" val="20160830110547"/>
  <p:tag name="MH_LIBRARY" val="CONTENTS"/>
  <p:tag name="MH_TYPE" val="OTHERS"/>
  <p:tag name="ID" val="545840"/>
</p:tagLst>
</file>

<file path=ppt/tags/tag51.xml><?xml version="1.0" encoding="utf-8"?>
<p:tagLst xmlns:p="http://schemas.openxmlformats.org/presentationml/2006/main">
  <p:tag name="ISPRING_PRESENTATION_TITLE" val="bt026.pptx"/>
</p:tagLst>
</file>

<file path=ppt/theme/theme1.xml><?xml version="1.0" encoding="utf-8"?>
<a:theme xmlns:a="http://schemas.openxmlformats.org/drawingml/2006/main" name="自定义设计方案">
  <a:themeElements>
    <a:clrScheme name="自定义 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366"/>
      </a:accent1>
      <a:accent2>
        <a:srgbClr val="003366"/>
      </a:accent2>
      <a:accent3>
        <a:srgbClr val="003366"/>
      </a:accent3>
      <a:accent4>
        <a:srgbClr val="003366"/>
      </a:accent4>
      <a:accent5>
        <a:srgbClr val="003366"/>
      </a:accent5>
      <a:accent6>
        <a:srgbClr val="003366"/>
      </a:accent6>
      <a:hlink>
        <a:srgbClr val="003366"/>
      </a:hlink>
      <a:folHlink>
        <a:srgbClr val="003366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9D9D9">
            <a:alpha val="50196"/>
          </a:srgb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93">
    <a:dk1>
      <a:srgbClr val="000000"/>
    </a:dk1>
    <a:lt1>
      <a:srgbClr val="FFFFFF"/>
    </a:lt1>
    <a:dk2>
      <a:srgbClr val="44546A"/>
    </a:dk2>
    <a:lt2>
      <a:srgbClr val="E7E6E6"/>
    </a:lt2>
    <a:accent1>
      <a:srgbClr val="003366"/>
    </a:accent1>
    <a:accent2>
      <a:srgbClr val="003366"/>
    </a:accent2>
    <a:accent3>
      <a:srgbClr val="003366"/>
    </a:accent3>
    <a:accent4>
      <a:srgbClr val="003366"/>
    </a:accent4>
    <a:accent5>
      <a:srgbClr val="003366"/>
    </a:accent5>
    <a:accent6>
      <a:srgbClr val="003366"/>
    </a:accent6>
    <a:hlink>
      <a:srgbClr val="003366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自定义 93">
    <a:dk1>
      <a:srgbClr val="000000"/>
    </a:dk1>
    <a:lt1>
      <a:srgbClr val="FFFFFF"/>
    </a:lt1>
    <a:dk2>
      <a:srgbClr val="44546A"/>
    </a:dk2>
    <a:lt2>
      <a:srgbClr val="E7E6E6"/>
    </a:lt2>
    <a:accent1>
      <a:srgbClr val="003366"/>
    </a:accent1>
    <a:accent2>
      <a:srgbClr val="003366"/>
    </a:accent2>
    <a:accent3>
      <a:srgbClr val="003366"/>
    </a:accent3>
    <a:accent4>
      <a:srgbClr val="003366"/>
    </a:accent4>
    <a:accent5>
      <a:srgbClr val="003366"/>
    </a:accent5>
    <a:accent6>
      <a:srgbClr val="003366"/>
    </a:accent6>
    <a:hlink>
      <a:srgbClr val="003366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3593</Words>
  <Application>WPS 演示</Application>
  <PresentationFormat>自定义</PresentationFormat>
  <Paragraphs>244</Paragraphs>
  <Slides>32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6" baseType="lpstr">
      <vt:lpstr>Arial</vt:lpstr>
      <vt:lpstr>宋体</vt:lpstr>
      <vt:lpstr>Wingdings</vt:lpstr>
      <vt:lpstr>Calibri</vt:lpstr>
      <vt:lpstr>微软雅黑</vt:lpstr>
      <vt:lpstr>Impact</vt:lpstr>
      <vt:lpstr>Arial</vt:lpstr>
      <vt:lpstr>Times New Roman</vt:lpstr>
      <vt:lpstr>Arial Unicode MS</vt:lpstr>
      <vt:lpstr>Source Sans Pro Light</vt:lpstr>
      <vt:lpstr>KTJ+ZJNBjx-2</vt:lpstr>
      <vt:lpstr>Segoe Print</vt:lpstr>
      <vt:lpstr>BatangChe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bt026.pptx</dc:title>
  <dc:creator/>
  <cp:lastModifiedBy>过往云烟1402669495</cp:lastModifiedBy>
  <cp:revision>172</cp:revision>
  <dcterms:created xsi:type="dcterms:W3CDTF">2016-09-20T02:06:00Z</dcterms:created>
  <dcterms:modified xsi:type="dcterms:W3CDTF">2020-10-22T13:46:03Z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2052-11.1.0.8642</vt:lpwstr>
  </property>
</Properties>
</file>