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notesSlides/notesSlide57.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Default Extension="emf" ContentType="image/x-emf"/>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Default Extension="wdp" ContentType="image/vnd.ms-photo"/>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Default Extension="vml" ContentType="application/vnd.openxmlformats-officedocument.vmlDrawing"/>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ppt/notesSlides/notesSlide70.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30"/>
  </p:notesMasterIdLst>
  <p:sldIdLst>
    <p:sldId id="442" r:id="rId3"/>
    <p:sldId id="443" r:id="rId4"/>
    <p:sldId id="444" r:id="rId5"/>
    <p:sldId id="470" r:id="rId6"/>
    <p:sldId id="476" r:id="rId7"/>
    <p:sldId id="477" r:id="rId8"/>
    <p:sldId id="459" r:id="rId9"/>
    <p:sldId id="447" r:id="rId10"/>
    <p:sldId id="478" r:id="rId11"/>
    <p:sldId id="460" r:id="rId12"/>
    <p:sldId id="461" r:id="rId13"/>
    <p:sldId id="462" r:id="rId14"/>
    <p:sldId id="463" r:id="rId15"/>
    <p:sldId id="464" r:id="rId16"/>
    <p:sldId id="479" r:id="rId17"/>
    <p:sldId id="480" r:id="rId18"/>
    <p:sldId id="481" r:id="rId19"/>
    <p:sldId id="482" r:id="rId20"/>
    <p:sldId id="483" r:id="rId21"/>
    <p:sldId id="484" r:id="rId22"/>
    <p:sldId id="485" r:id="rId23"/>
    <p:sldId id="491" r:id="rId24"/>
    <p:sldId id="492" r:id="rId25"/>
    <p:sldId id="493" r:id="rId26"/>
    <p:sldId id="494" r:id="rId27"/>
    <p:sldId id="495" r:id="rId28"/>
    <p:sldId id="496" r:id="rId29"/>
    <p:sldId id="497" r:id="rId30"/>
    <p:sldId id="498" r:id="rId31"/>
    <p:sldId id="502" r:id="rId32"/>
    <p:sldId id="500" r:id="rId33"/>
    <p:sldId id="503" r:id="rId34"/>
    <p:sldId id="504" r:id="rId35"/>
    <p:sldId id="505" r:id="rId36"/>
    <p:sldId id="506" r:id="rId37"/>
    <p:sldId id="507" r:id="rId38"/>
    <p:sldId id="508" r:id="rId39"/>
    <p:sldId id="509" r:id="rId40"/>
    <p:sldId id="510" r:id="rId41"/>
    <p:sldId id="511" r:id="rId42"/>
    <p:sldId id="512" r:id="rId43"/>
    <p:sldId id="513" r:id="rId44"/>
    <p:sldId id="514" r:id="rId45"/>
    <p:sldId id="515" r:id="rId46"/>
    <p:sldId id="516" r:id="rId47"/>
    <p:sldId id="517" r:id="rId48"/>
    <p:sldId id="518" r:id="rId49"/>
    <p:sldId id="519" r:id="rId50"/>
    <p:sldId id="520" r:id="rId51"/>
    <p:sldId id="521" r:id="rId52"/>
    <p:sldId id="522" r:id="rId53"/>
    <p:sldId id="523" r:id="rId54"/>
    <p:sldId id="524" r:id="rId55"/>
    <p:sldId id="525" r:id="rId56"/>
    <p:sldId id="526" r:id="rId57"/>
    <p:sldId id="527" r:id="rId58"/>
    <p:sldId id="528" r:id="rId59"/>
    <p:sldId id="529" r:id="rId60"/>
    <p:sldId id="530" r:id="rId61"/>
    <p:sldId id="531" r:id="rId62"/>
    <p:sldId id="532" r:id="rId63"/>
    <p:sldId id="533" r:id="rId64"/>
    <p:sldId id="534" r:id="rId65"/>
    <p:sldId id="535" r:id="rId66"/>
    <p:sldId id="536" r:id="rId67"/>
    <p:sldId id="537" r:id="rId68"/>
    <p:sldId id="538" r:id="rId69"/>
    <p:sldId id="541" r:id="rId70"/>
    <p:sldId id="542" r:id="rId71"/>
    <p:sldId id="539" r:id="rId72"/>
    <p:sldId id="543" r:id="rId73"/>
    <p:sldId id="544" r:id="rId74"/>
    <p:sldId id="550" r:id="rId75"/>
    <p:sldId id="551" r:id="rId76"/>
    <p:sldId id="552" r:id="rId77"/>
    <p:sldId id="553" r:id="rId78"/>
    <p:sldId id="540" r:id="rId79"/>
    <p:sldId id="554" r:id="rId80"/>
    <p:sldId id="555" r:id="rId81"/>
    <p:sldId id="556" r:id="rId82"/>
    <p:sldId id="557" r:id="rId83"/>
    <p:sldId id="558" r:id="rId84"/>
    <p:sldId id="559" r:id="rId85"/>
    <p:sldId id="560" r:id="rId86"/>
    <p:sldId id="561" r:id="rId87"/>
    <p:sldId id="564" r:id="rId88"/>
    <p:sldId id="565" r:id="rId89"/>
    <p:sldId id="562" r:id="rId90"/>
    <p:sldId id="566" r:id="rId91"/>
    <p:sldId id="567" r:id="rId92"/>
    <p:sldId id="570" r:id="rId93"/>
    <p:sldId id="568" r:id="rId94"/>
    <p:sldId id="572" r:id="rId95"/>
    <p:sldId id="573" r:id="rId96"/>
    <p:sldId id="574" r:id="rId97"/>
    <p:sldId id="575" r:id="rId98"/>
    <p:sldId id="576" r:id="rId99"/>
    <p:sldId id="577" r:id="rId100"/>
    <p:sldId id="578" r:id="rId101"/>
    <p:sldId id="579" r:id="rId102"/>
    <p:sldId id="580" r:id="rId103"/>
    <p:sldId id="581" r:id="rId104"/>
    <p:sldId id="584" r:id="rId105"/>
    <p:sldId id="585" r:id="rId106"/>
    <p:sldId id="586" r:id="rId107"/>
    <p:sldId id="587" r:id="rId108"/>
    <p:sldId id="588" r:id="rId109"/>
    <p:sldId id="589" r:id="rId110"/>
    <p:sldId id="592" r:id="rId111"/>
    <p:sldId id="593" r:id="rId112"/>
    <p:sldId id="594" r:id="rId113"/>
    <p:sldId id="595" r:id="rId114"/>
    <p:sldId id="596" r:id="rId115"/>
    <p:sldId id="600" r:id="rId116"/>
    <p:sldId id="601" r:id="rId117"/>
    <p:sldId id="602" r:id="rId118"/>
    <p:sldId id="605" r:id="rId119"/>
    <p:sldId id="603" r:id="rId120"/>
    <p:sldId id="606" r:id="rId121"/>
    <p:sldId id="607" r:id="rId122"/>
    <p:sldId id="608" r:id="rId123"/>
    <p:sldId id="612" r:id="rId124"/>
    <p:sldId id="613" r:id="rId125"/>
    <p:sldId id="611" r:id="rId126"/>
    <p:sldId id="609" r:id="rId127"/>
    <p:sldId id="610" r:id="rId128"/>
    <p:sldId id="614" r:id="rId129"/>
  </p:sldIdLst>
  <p:sldSz cx="9144000" cy="6858000" type="screen4x3"/>
  <p:notesSz cx="6858000" cy="9144000"/>
  <p:custDataLst>
    <p:tags r:id="rId1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A0A"/>
    <a:srgbClr val="06060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928" autoAdjust="0"/>
  </p:normalViewPr>
  <p:slideViewPr>
    <p:cSldViewPr snapToGrid="0" showGuides="1">
      <p:cViewPr varScale="1">
        <p:scale>
          <a:sx n="105" d="100"/>
          <a:sy n="105" d="100"/>
        </p:scale>
        <p:origin x="-1770" y="-84"/>
      </p:cViewPr>
      <p:guideLst>
        <p:guide orient="horz" pos="2160"/>
        <p:guide pos="2872"/>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slide" Target="slides/slide124.xml"/><Relationship Id="rId13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notesMaster" Target="notesMasters/notesMaster1.xml"/><Relationship Id="rId13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tags" Target="tags/tag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4.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3.png"/></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2024/11/26 Tuesday</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8"/>
          <p:cNvPicPr>
            <a:picLocks noChangeAspect="1" noChangeArrowheads="1"/>
          </p:cNvPicPr>
          <p:nvPr/>
        </p:nvPicPr>
        <p:blipFill>
          <a:blip r:embed="rId2" cstate="print">
            <a:extLst>
              <a:ext uri="{28A0092B-C50C-407E-A947-70E740481C1C}">
                <a14:useLocalDpi xmlns:a14="http://schemas.microsoft.com/office/drawing/2010/main" xmlns="" val="0"/>
              </a:ext>
            </a:extLst>
          </a:blip>
          <a:srcRect l="96" t="1784" r="8476" b="1785"/>
          <a:stretch>
            <a:fillRect/>
          </a:stretch>
        </p:blipFill>
        <p:spPr bwMode="auto">
          <a:xfrm>
            <a:off x="0" y="-1270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75" name="Text Placeholder 2"/>
          <p:cNvSpPr>
            <a:spLocks noGrp="1" noChangeArrowheads="1"/>
          </p:cNvSpPr>
          <p:nvPr>
            <p:ph type="subTitle" idx="1"/>
          </p:nvPr>
        </p:nvSpPr>
        <p:spPr>
          <a:xfrm>
            <a:off x="331788" y="3676650"/>
            <a:ext cx="4664075" cy="512763"/>
          </a:xfrm>
        </p:spPr>
        <p:txBody>
          <a:bodyPr/>
          <a:lstStyle>
            <a:lvl1pPr marL="0" indent="0">
              <a:buFont typeface="Wingdings 2" panose="05020102010507070707" pitchFamily="18" charset="2"/>
              <a:buNone/>
              <a:defRPr sz="1600">
                <a:solidFill>
                  <a:schemeClr val="bg1"/>
                </a:solidFill>
              </a:defRPr>
            </a:lvl1pPr>
          </a:lstStyle>
          <a:p>
            <a:r>
              <a:rPr lang="zh-CN"/>
              <a:t>单击此处编辑母版副标题样式</a:t>
            </a:r>
          </a:p>
        </p:txBody>
      </p:sp>
      <p:sp>
        <p:nvSpPr>
          <p:cNvPr id="3079" name="Title Placeholder 1"/>
          <p:cNvSpPr>
            <a:spLocks noGrp="1" noChangeArrowheads="1"/>
          </p:cNvSpPr>
          <p:nvPr>
            <p:ph type="ctrTitle"/>
          </p:nvPr>
        </p:nvSpPr>
        <p:spPr>
          <a:xfrm>
            <a:off x="328613" y="2435225"/>
            <a:ext cx="4670425" cy="1138238"/>
          </a:xfrm>
        </p:spPr>
        <p:txBody>
          <a:bodyPr/>
          <a:lstStyle>
            <a:lvl1pPr>
              <a:defRPr sz="3000">
                <a:solidFill>
                  <a:schemeClr val="bg1"/>
                </a:solidFill>
              </a:defRPr>
            </a:lvl1pPr>
          </a:lstStyle>
          <a:p>
            <a:r>
              <a:rPr lang="zh-CN"/>
              <a:t>单击此处编辑母版标题样式</a:t>
            </a:r>
          </a:p>
        </p:txBody>
      </p:sp>
      <p:sp>
        <p:nvSpPr>
          <p:cNvPr id="5" name="Date Placeholder 3"/>
          <p:cNvSpPr>
            <a:spLocks noGrp="1" noChangeArrowheads="1"/>
          </p:cNvSpPr>
          <p:nvPr>
            <p:ph type="dt" sz="half" idx="10"/>
          </p:nvPr>
        </p:nvSpPr>
        <p:spPr>
          <a:xfrm>
            <a:off x="457200" y="6245225"/>
            <a:ext cx="2133600" cy="476250"/>
          </a:xfrm>
        </p:spPr>
        <p:txBody>
          <a:bodyPr/>
          <a:lstStyle>
            <a:lvl1pPr>
              <a:defRPr/>
            </a:lvl1pPr>
          </a:lstStyle>
          <a:p>
            <a:pPr>
              <a:defRPr/>
            </a:pPr>
            <a:fld id="{68F22A6C-1DEC-4651-A3BA-6F9453671007}" type="datetime1">
              <a:rPr lang="zh-CN" altLang="en-US"/>
              <a:pPr>
                <a:defRPr/>
              </a:pPr>
              <a:t>2024/11/26 Tuesday</a:t>
            </a:fld>
            <a:endParaRPr lang="en-US"/>
          </a:p>
        </p:txBody>
      </p:sp>
      <p:sp>
        <p:nvSpPr>
          <p:cNvPr id="6" name="Footer Placeholder 4"/>
          <p:cNvSpPr>
            <a:spLocks noGrp="1" noChangeArrowheads="1"/>
          </p:cNvSpPr>
          <p:nvPr>
            <p:ph type="ftr" sz="quarter" idx="11"/>
          </p:nvPr>
        </p:nvSpPr>
        <p:spPr>
          <a:xfrm>
            <a:off x="3124200" y="6245225"/>
            <a:ext cx="2895600" cy="476250"/>
          </a:xfrm>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a:xfrm>
            <a:off x="6553200" y="6245225"/>
            <a:ext cx="2133600" cy="476250"/>
          </a:xfrm>
        </p:spPr>
        <p:txBody>
          <a:bodyPr/>
          <a:lstStyle>
            <a:lvl1pPr>
              <a:defRPr/>
            </a:lvl1pPr>
          </a:lstStyle>
          <a:p>
            <a:pPr>
              <a:defRPr/>
            </a:pPr>
            <a:fld id="{8D59B517-5F82-415F-B6E9-65F6BF8B508A}"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noChangeArrowheads="1"/>
          </p:cNvSpPr>
          <p:nvPr>
            <p:ph type="dt" sz="half" idx="10"/>
          </p:nvPr>
        </p:nvSpPr>
        <p:spPr/>
        <p:txBody>
          <a:bodyPr/>
          <a:lstStyle>
            <a:lvl1pPr>
              <a:defRPr/>
            </a:lvl1pPr>
          </a:lstStyle>
          <a:p>
            <a:pPr>
              <a:defRPr/>
            </a:pPr>
            <a:fld id="{11A553CB-9BA7-4452-A0DF-46E126B5DF80}"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EF327ECB-4351-48C8-8A82-A23924E00483}"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Date Placeholder 3"/>
          <p:cNvSpPr>
            <a:spLocks noGrp="1" noChangeArrowheads="1"/>
          </p:cNvSpPr>
          <p:nvPr>
            <p:ph type="dt" sz="half" idx="10"/>
          </p:nvPr>
        </p:nvSpPr>
        <p:spPr/>
        <p:txBody>
          <a:bodyPr/>
          <a:lstStyle>
            <a:lvl1pPr>
              <a:defRPr/>
            </a:lvl1pPr>
          </a:lstStyle>
          <a:p>
            <a:pPr>
              <a:defRPr/>
            </a:pPr>
            <a:fld id="{09ED1695-194D-4733-AC71-7F041CE67500}"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99E43904-2BD3-4761-9F8A-05580BD6B69E}"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181100"/>
            <a:ext cx="3927475" cy="5175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181100"/>
            <a:ext cx="3929062" cy="5175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3"/>
          <p:cNvSpPr>
            <a:spLocks noGrp="1" noChangeArrowheads="1"/>
          </p:cNvSpPr>
          <p:nvPr>
            <p:ph type="dt" sz="half" idx="10"/>
          </p:nvPr>
        </p:nvSpPr>
        <p:spPr/>
        <p:txBody>
          <a:bodyPr/>
          <a:lstStyle>
            <a:lvl1pPr>
              <a:defRPr/>
            </a:lvl1pPr>
          </a:lstStyle>
          <a:p>
            <a:pPr>
              <a:defRPr/>
            </a:pPr>
            <a:fld id="{1D46B20C-18F4-4D3D-BEC1-51A572521E1A}" type="datetime1">
              <a:rPr lang="zh-CN" altLang="en-US"/>
              <a:pPr>
                <a:defRPr/>
              </a:pPr>
              <a:t>2024/11/26 Tuesday</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p:txBody>
          <a:bodyPr/>
          <a:lstStyle>
            <a:lvl1pPr>
              <a:defRPr/>
            </a:lvl1pPr>
          </a:lstStyle>
          <a:p>
            <a:pPr>
              <a:defRPr/>
            </a:pPr>
            <a:fld id="{7987C727-B887-4D91-BB77-68C01B3E8E3B}"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Date Placeholder 3"/>
          <p:cNvSpPr>
            <a:spLocks noGrp="1" noChangeArrowheads="1"/>
          </p:cNvSpPr>
          <p:nvPr>
            <p:ph type="dt" sz="half" idx="10"/>
          </p:nvPr>
        </p:nvSpPr>
        <p:spPr/>
        <p:txBody>
          <a:bodyPr/>
          <a:lstStyle>
            <a:lvl1pPr>
              <a:defRPr/>
            </a:lvl1pPr>
          </a:lstStyle>
          <a:p>
            <a:pPr>
              <a:defRPr/>
            </a:pPr>
            <a:fld id="{98C3464C-9712-439C-AD62-C6C2CBB0298D}" type="datetime1">
              <a:rPr lang="zh-CN" altLang="en-US"/>
              <a:pPr>
                <a:defRPr/>
              </a:pPr>
              <a:t>2024/11/26 Tuesday</a:t>
            </a:fld>
            <a:endParaRPr lang="en-US"/>
          </a:p>
        </p:txBody>
      </p:sp>
      <p:sp>
        <p:nvSpPr>
          <p:cNvPr id="8"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9" name="Slide Number Placeholder 5"/>
          <p:cNvSpPr>
            <a:spLocks noGrp="1" noChangeArrowheads="1"/>
          </p:cNvSpPr>
          <p:nvPr>
            <p:ph type="sldNum" sz="quarter" idx="12"/>
          </p:nvPr>
        </p:nvSpPr>
        <p:spPr/>
        <p:txBody>
          <a:bodyPr/>
          <a:lstStyle>
            <a:lvl1pPr>
              <a:defRPr/>
            </a:lvl1pPr>
          </a:lstStyle>
          <a:p>
            <a:pPr>
              <a:defRPr/>
            </a:pPr>
            <a:fld id="{C76B798A-DBA9-418D-9CFB-D9F00E131623}"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Date Placeholder 3"/>
          <p:cNvSpPr>
            <a:spLocks noGrp="1" noChangeArrowheads="1"/>
          </p:cNvSpPr>
          <p:nvPr>
            <p:ph type="dt" sz="half" idx="10"/>
          </p:nvPr>
        </p:nvSpPr>
        <p:spPr/>
        <p:txBody>
          <a:bodyPr/>
          <a:lstStyle>
            <a:lvl1pPr>
              <a:defRPr/>
            </a:lvl1pPr>
          </a:lstStyle>
          <a:p>
            <a:pPr>
              <a:defRPr/>
            </a:pPr>
            <a:fld id="{9D9CACF7-20E2-4AE2-9E00-9785F22AA062}" type="datetime1">
              <a:rPr lang="zh-CN" altLang="en-US"/>
              <a:pPr>
                <a:defRPr/>
              </a:pPr>
              <a:t>2024/11/26 Tuesday</a:t>
            </a:fld>
            <a:endParaRPr lang="en-US"/>
          </a:p>
        </p:txBody>
      </p:sp>
      <p:sp>
        <p:nvSpPr>
          <p:cNvPr id="4"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5" name="Slide Number Placeholder 5"/>
          <p:cNvSpPr>
            <a:spLocks noGrp="1" noChangeArrowheads="1"/>
          </p:cNvSpPr>
          <p:nvPr>
            <p:ph type="sldNum" sz="quarter" idx="12"/>
          </p:nvPr>
        </p:nvSpPr>
        <p:spPr/>
        <p:txBody>
          <a:bodyPr/>
          <a:lstStyle>
            <a:lvl1pPr>
              <a:defRPr/>
            </a:lvl1pPr>
          </a:lstStyle>
          <a:p>
            <a:pPr>
              <a:defRPr/>
            </a:pPr>
            <a:fld id="{36D16046-CE74-4B58-B250-9779910FB095}"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p:txBody>
          <a:bodyPr/>
          <a:lstStyle>
            <a:lvl1pPr>
              <a:defRPr/>
            </a:lvl1pPr>
          </a:lstStyle>
          <a:p>
            <a:pPr>
              <a:defRPr/>
            </a:pPr>
            <a:fld id="{C16EA13B-1B92-47CD-9F03-F5585F6DCDCE}" type="datetime1">
              <a:rPr lang="zh-CN" altLang="en-US"/>
              <a:pPr>
                <a:defRPr/>
              </a:pPr>
              <a:t>2024/11/26 Tuesday</a:t>
            </a:fld>
            <a:endParaRPr lang="en-US"/>
          </a:p>
        </p:txBody>
      </p:sp>
      <p:sp>
        <p:nvSpPr>
          <p:cNvPr id="3"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4" name="Slide Number Placeholder 5"/>
          <p:cNvSpPr>
            <a:spLocks noGrp="1" noChangeArrowheads="1"/>
          </p:cNvSpPr>
          <p:nvPr>
            <p:ph type="sldNum" sz="quarter" idx="12"/>
          </p:nvPr>
        </p:nvSpPr>
        <p:spPr/>
        <p:txBody>
          <a:bodyPr/>
          <a:lstStyle>
            <a:lvl1pPr>
              <a:defRPr/>
            </a:lvl1pPr>
          </a:lstStyle>
          <a:p>
            <a:pPr>
              <a:defRPr/>
            </a:pPr>
            <a:fld id="{BD53A88B-5D4D-44C4-B766-193B174ECCF0}"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8C29172D-D032-41A7-9496-8C37644C8582}" type="datetime1">
              <a:rPr lang="zh-CN" altLang="en-US"/>
              <a:pPr>
                <a:defRPr/>
              </a:pPr>
              <a:t>2024/11/26 Tuesday</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p:txBody>
          <a:bodyPr/>
          <a:lstStyle>
            <a:lvl1pPr>
              <a:defRPr/>
            </a:lvl1pPr>
          </a:lstStyle>
          <a:p>
            <a:pPr>
              <a:defRPr/>
            </a:pPr>
            <a:fld id="{67481E7F-C05B-4875-B2CB-BCA16BFDCF44}"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702459CA-DD8D-46C6-8CE7-4A2E689D3E25}" type="datetime1">
              <a:rPr lang="zh-CN" altLang="en-US"/>
              <a:pPr>
                <a:defRPr/>
              </a:pPr>
              <a:t>2024/11/26 Tuesday</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p:txBody>
          <a:bodyPr/>
          <a:lstStyle>
            <a:lvl1pPr>
              <a:defRPr/>
            </a:lvl1pPr>
          </a:lstStyle>
          <a:p>
            <a:pPr>
              <a:defRPr/>
            </a:pPr>
            <a:fld id="{B6547847-27DF-4F00-A1BF-D12BFC92A2A8}"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noChangeArrowheads="1"/>
          </p:cNvSpPr>
          <p:nvPr>
            <p:ph type="dt" sz="half" idx="10"/>
          </p:nvPr>
        </p:nvSpPr>
        <p:spPr/>
        <p:txBody>
          <a:bodyPr/>
          <a:lstStyle>
            <a:lvl1pPr>
              <a:defRPr/>
            </a:lvl1pPr>
          </a:lstStyle>
          <a:p>
            <a:pPr>
              <a:defRPr/>
            </a:pPr>
            <a:fld id="{C2B4FF78-1E68-4D86-852C-B2C91A53AA4B}"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A4ACE223-E8D2-497C-BA76-539148630A73}"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71475"/>
            <a:ext cx="2001837" cy="59848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71475"/>
            <a:ext cx="5854700" cy="59848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noChangeArrowheads="1"/>
          </p:cNvSpPr>
          <p:nvPr>
            <p:ph type="dt" sz="half" idx="10"/>
          </p:nvPr>
        </p:nvSpPr>
        <p:spPr/>
        <p:txBody>
          <a:bodyPr/>
          <a:lstStyle>
            <a:lvl1pPr>
              <a:defRPr/>
            </a:lvl1pPr>
          </a:lstStyle>
          <a:p>
            <a:pPr>
              <a:defRPr/>
            </a:pPr>
            <a:fld id="{6A0D9B23-2300-4E98-964B-7C23A9F3C8DD}"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B442DF78-3F6B-46C0-B366-2E2BC339C45E}"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66738" y="371475"/>
            <a:ext cx="7978775" cy="601663"/>
          </a:xfrm>
        </p:spPr>
        <p:txBody>
          <a:bodyPr/>
          <a:lstStyle/>
          <a:p>
            <a:r>
              <a:rPr lang="zh-CN" altLang="en-US"/>
              <a:t>单击此处编辑母版标题样式</a:t>
            </a:r>
          </a:p>
        </p:txBody>
      </p:sp>
      <p:sp>
        <p:nvSpPr>
          <p:cNvPr id="3" name="表格占位符 2"/>
          <p:cNvSpPr>
            <a:spLocks noGrp="1"/>
          </p:cNvSpPr>
          <p:nvPr>
            <p:ph type="tbl" idx="1"/>
          </p:nvPr>
        </p:nvSpPr>
        <p:spPr>
          <a:xfrm>
            <a:off x="566738" y="1181100"/>
            <a:ext cx="8008937" cy="5175250"/>
          </a:xfrm>
        </p:spPr>
        <p:txBody>
          <a:bodyPr/>
          <a:lstStyle/>
          <a:p>
            <a:pPr lvl="0"/>
            <a:endParaRPr lang="zh-CN" altLang="en-US" noProof="0"/>
          </a:p>
        </p:txBody>
      </p:sp>
      <p:sp>
        <p:nvSpPr>
          <p:cNvPr id="4" name="Date Placeholder 3"/>
          <p:cNvSpPr>
            <a:spLocks noGrp="1" noChangeArrowheads="1"/>
          </p:cNvSpPr>
          <p:nvPr>
            <p:ph type="dt" sz="half" idx="10"/>
          </p:nvPr>
        </p:nvSpPr>
        <p:spPr/>
        <p:txBody>
          <a:bodyPr/>
          <a:lstStyle>
            <a:lvl1pPr>
              <a:defRPr/>
            </a:lvl1pPr>
          </a:lstStyle>
          <a:p>
            <a:pPr>
              <a:defRPr/>
            </a:pPr>
            <a:fld id="{4AA6E1DD-2B31-4EB4-B7AC-FCB79B9A5151}"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A2E71F90-0239-4DA5-88EB-AB687F3ACC2E}"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8"/>
          <p:cNvPicPr>
            <a:picLocks noChangeAspect="1" noChangeArrowheads="1"/>
          </p:cNvPicPr>
          <p:nvPr/>
        </p:nvPicPr>
        <p:blipFill>
          <a:blip cstate="print"/>
          <a:srcRect l="96" t="1784" r="8476" b="1785"/>
          <a:stretch>
            <a:fillRect/>
          </a:stretch>
        </p:blipFill>
        <p:spPr bwMode="auto">
          <a:xfrm>
            <a:off x="0" y="-1270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75" name="Text Placeholder 2"/>
          <p:cNvSpPr>
            <a:spLocks noGrp="1" noChangeArrowheads="1"/>
          </p:cNvSpPr>
          <p:nvPr>
            <p:ph type="subTitle" idx="1"/>
          </p:nvPr>
        </p:nvSpPr>
        <p:spPr>
          <a:xfrm>
            <a:off x="331788" y="3676650"/>
            <a:ext cx="4664075" cy="512763"/>
          </a:xfrm>
        </p:spPr>
        <p:txBody>
          <a:bodyPr/>
          <a:lstStyle>
            <a:lvl1pPr marL="0" indent="0">
              <a:buFont typeface="Wingdings 2" panose="05020102010507070707" pitchFamily="18" charset="2"/>
              <a:buNone/>
              <a:defRPr sz="1600">
                <a:solidFill>
                  <a:schemeClr val="bg1"/>
                </a:solidFill>
              </a:defRPr>
            </a:lvl1pPr>
          </a:lstStyle>
          <a:p>
            <a:r>
              <a:rPr lang="zh-CN"/>
              <a:t>单击此处编辑母版副标题样式</a:t>
            </a:r>
          </a:p>
        </p:txBody>
      </p:sp>
      <p:sp>
        <p:nvSpPr>
          <p:cNvPr id="3079" name="Title Placeholder 1"/>
          <p:cNvSpPr>
            <a:spLocks noGrp="1" noChangeArrowheads="1"/>
          </p:cNvSpPr>
          <p:nvPr>
            <p:ph type="ctrTitle"/>
          </p:nvPr>
        </p:nvSpPr>
        <p:spPr>
          <a:xfrm>
            <a:off x="328613" y="2435225"/>
            <a:ext cx="4670425" cy="1138238"/>
          </a:xfrm>
        </p:spPr>
        <p:txBody>
          <a:bodyPr/>
          <a:lstStyle>
            <a:lvl1pPr>
              <a:defRPr sz="3000">
                <a:solidFill>
                  <a:schemeClr val="bg1"/>
                </a:solidFill>
              </a:defRPr>
            </a:lvl1pPr>
          </a:lstStyle>
          <a:p>
            <a:r>
              <a:rPr lang="zh-CN"/>
              <a:t>单击此处编辑母版标题样式</a:t>
            </a:r>
          </a:p>
        </p:txBody>
      </p:sp>
      <p:sp>
        <p:nvSpPr>
          <p:cNvPr id="5" name="Date Placeholder 3"/>
          <p:cNvSpPr>
            <a:spLocks noGrp="1" noChangeArrowheads="1"/>
          </p:cNvSpPr>
          <p:nvPr>
            <p:ph type="dt" sz="half" idx="10"/>
          </p:nvPr>
        </p:nvSpPr>
        <p:spPr>
          <a:xfrm>
            <a:off x="457200" y="6245225"/>
            <a:ext cx="2133600" cy="476250"/>
          </a:xfrm>
        </p:spPr>
        <p:txBody>
          <a:bodyPr/>
          <a:lstStyle>
            <a:lvl1pPr>
              <a:defRPr/>
            </a:lvl1pPr>
          </a:lstStyle>
          <a:p>
            <a:pPr>
              <a:defRPr/>
            </a:pPr>
            <a:fld id="{68F22A6C-1DEC-4651-A3BA-6F9453671007}" type="datetime1">
              <a:rPr lang="zh-CN" altLang="en-US"/>
              <a:pPr>
                <a:defRPr/>
              </a:pPr>
              <a:t>2024/11/26 Tuesday</a:t>
            </a:fld>
            <a:endParaRPr lang="en-US"/>
          </a:p>
        </p:txBody>
      </p:sp>
      <p:sp>
        <p:nvSpPr>
          <p:cNvPr id="6" name="Footer Placeholder 4"/>
          <p:cNvSpPr>
            <a:spLocks noGrp="1" noChangeArrowheads="1"/>
          </p:cNvSpPr>
          <p:nvPr>
            <p:ph type="ftr" sz="quarter" idx="11"/>
          </p:nvPr>
        </p:nvSpPr>
        <p:spPr>
          <a:xfrm>
            <a:off x="3124200" y="6245225"/>
            <a:ext cx="2895600" cy="476250"/>
          </a:xfrm>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a:xfrm>
            <a:off x="6553200" y="6245225"/>
            <a:ext cx="2133600" cy="476250"/>
          </a:xfrm>
        </p:spPr>
        <p:txBody>
          <a:bodyPr/>
          <a:lstStyle>
            <a:lvl1pPr>
              <a:defRPr/>
            </a:lvl1pPr>
          </a:lstStyle>
          <a:p>
            <a:pPr>
              <a:defRPr/>
            </a:pPr>
            <a:fld id="{8D59B517-5F82-415F-B6E9-65F6BF8B508A}" type="slidenum">
              <a:rPr lang="zh-CN" altLang="en-US"/>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noChangeArrowheads="1"/>
          </p:cNvSpPr>
          <p:nvPr>
            <p:ph type="dt" sz="half" idx="10"/>
          </p:nvPr>
        </p:nvSpPr>
        <p:spPr/>
        <p:txBody>
          <a:bodyPr/>
          <a:lstStyle>
            <a:lvl1pPr>
              <a:defRPr/>
            </a:lvl1pPr>
          </a:lstStyle>
          <a:p>
            <a:pPr>
              <a:defRPr/>
            </a:pPr>
            <a:fld id="{11A553CB-9BA7-4452-A0DF-46E126B5DF80}"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EF327ECB-4351-48C8-8A82-A23924E00483}" type="slidenum">
              <a:rPr lang="zh-CN" altLang="en-US"/>
              <a:pPr>
                <a:defRPr/>
              </a:pPr>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Date Placeholder 3"/>
          <p:cNvSpPr>
            <a:spLocks noGrp="1" noChangeArrowheads="1"/>
          </p:cNvSpPr>
          <p:nvPr>
            <p:ph type="dt" sz="half" idx="10"/>
          </p:nvPr>
        </p:nvSpPr>
        <p:spPr/>
        <p:txBody>
          <a:bodyPr/>
          <a:lstStyle>
            <a:lvl1pPr>
              <a:defRPr/>
            </a:lvl1pPr>
          </a:lstStyle>
          <a:p>
            <a:pPr>
              <a:defRPr/>
            </a:pPr>
            <a:fld id="{09ED1695-194D-4733-AC71-7F041CE67500}"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99E43904-2BD3-4761-9F8A-05580BD6B69E}" type="slidenum">
              <a:rPr lang="zh-CN" altLang="en-US"/>
              <a:pPr>
                <a:defRPr/>
              </a:pPr>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181100"/>
            <a:ext cx="3927475" cy="5175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181100"/>
            <a:ext cx="3929062" cy="5175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3"/>
          <p:cNvSpPr>
            <a:spLocks noGrp="1" noChangeArrowheads="1"/>
          </p:cNvSpPr>
          <p:nvPr>
            <p:ph type="dt" sz="half" idx="10"/>
          </p:nvPr>
        </p:nvSpPr>
        <p:spPr/>
        <p:txBody>
          <a:bodyPr/>
          <a:lstStyle>
            <a:lvl1pPr>
              <a:defRPr/>
            </a:lvl1pPr>
          </a:lstStyle>
          <a:p>
            <a:pPr>
              <a:defRPr/>
            </a:pPr>
            <a:fld id="{1D46B20C-18F4-4D3D-BEC1-51A572521E1A}" type="datetime1">
              <a:rPr lang="zh-CN" altLang="en-US"/>
              <a:pPr>
                <a:defRPr/>
              </a:pPr>
              <a:t>2024/11/26 Tuesday</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p:txBody>
          <a:bodyPr/>
          <a:lstStyle>
            <a:lvl1pPr>
              <a:defRPr/>
            </a:lvl1pPr>
          </a:lstStyle>
          <a:p>
            <a:pPr>
              <a:defRPr/>
            </a:pPr>
            <a:fld id="{7987C727-B887-4D91-BB77-68C01B3E8E3B}" type="slidenum">
              <a:rPr lang="zh-CN" altLang="en-US"/>
              <a:pPr>
                <a:defRPr/>
              </a:pPr>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Date Placeholder 3"/>
          <p:cNvSpPr>
            <a:spLocks noGrp="1" noChangeArrowheads="1"/>
          </p:cNvSpPr>
          <p:nvPr>
            <p:ph type="dt" sz="half" idx="10"/>
          </p:nvPr>
        </p:nvSpPr>
        <p:spPr/>
        <p:txBody>
          <a:bodyPr/>
          <a:lstStyle>
            <a:lvl1pPr>
              <a:defRPr/>
            </a:lvl1pPr>
          </a:lstStyle>
          <a:p>
            <a:pPr>
              <a:defRPr/>
            </a:pPr>
            <a:fld id="{98C3464C-9712-439C-AD62-C6C2CBB0298D}" type="datetime1">
              <a:rPr lang="zh-CN" altLang="en-US"/>
              <a:pPr>
                <a:defRPr/>
              </a:pPr>
              <a:t>2024/11/26 Tuesday</a:t>
            </a:fld>
            <a:endParaRPr lang="en-US"/>
          </a:p>
        </p:txBody>
      </p:sp>
      <p:sp>
        <p:nvSpPr>
          <p:cNvPr id="8"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9" name="Slide Number Placeholder 5"/>
          <p:cNvSpPr>
            <a:spLocks noGrp="1" noChangeArrowheads="1"/>
          </p:cNvSpPr>
          <p:nvPr>
            <p:ph type="sldNum" sz="quarter" idx="12"/>
          </p:nvPr>
        </p:nvSpPr>
        <p:spPr/>
        <p:txBody>
          <a:bodyPr/>
          <a:lstStyle>
            <a:lvl1pPr>
              <a:defRPr/>
            </a:lvl1pPr>
          </a:lstStyle>
          <a:p>
            <a:pPr>
              <a:defRPr/>
            </a:pPr>
            <a:fld id="{C76B798A-DBA9-418D-9CFB-D9F00E131623}" type="slidenum">
              <a:rPr lang="zh-CN" altLang="en-US"/>
              <a:pPr>
                <a:defRPr/>
              </a:pPr>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Date Placeholder 3"/>
          <p:cNvSpPr>
            <a:spLocks noGrp="1" noChangeArrowheads="1"/>
          </p:cNvSpPr>
          <p:nvPr>
            <p:ph type="dt" sz="half" idx="10"/>
          </p:nvPr>
        </p:nvSpPr>
        <p:spPr/>
        <p:txBody>
          <a:bodyPr/>
          <a:lstStyle>
            <a:lvl1pPr>
              <a:defRPr/>
            </a:lvl1pPr>
          </a:lstStyle>
          <a:p>
            <a:pPr>
              <a:defRPr/>
            </a:pPr>
            <a:fld id="{9D9CACF7-20E2-4AE2-9E00-9785F22AA062}" type="datetime1">
              <a:rPr lang="zh-CN" altLang="en-US"/>
              <a:pPr>
                <a:defRPr/>
              </a:pPr>
              <a:t>2024/11/26 Tuesday</a:t>
            </a:fld>
            <a:endParaRPr lang="en-US"/>
          </a:p>
        </p:txBody>
      </p:sp>
      <p:sp>
        <p:nvSpPr>
          <p:cNvPr id="4"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5" name="Slide Number Placeholder 5"/>
          <p:cNvSpPr>
            <a:spLocks noGrp="1" noChangeArrowheads="1"/>
          </p:cNvSpPr>
          <p:nvPr>
            <p:ph type="sldNum" sz="quarter" idx="12"/>
          </p:nvPr>
        </p:nvSpPr>
        <p:spPr/>
        <p:txBody>
          <a:bodyPr/>
          <a:lstStyle>
            <a:lvl1pPr>
              <a:defRPr/>
            </a:lvl1pPr>
          </a:lstStyle>
          <a:p>
            <a:pPr>
              <a:defRPr/>
            </a:pPr>
            <a:fld id="{36D16046-CE74-4B58-B250-9779910FB095}" type="slidenum">
              <a:rPr lang="zh-CN" altLang="en-US"/>
              <a:pPr>
                <a:defRPr/>
              </a:pPr>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p:txBody>
          <a:bodyPr/>
          <a:lstStyle>
            <a:lvl1pPr>
              <a:defRPr/>
            </a:lvl1pPr>
          </a:lstStyle>
          <a:p>
            <a:pPr>
              <a:defRPr/>
            </a:pPr>
            <a:fld id="{C16EA13B-1B92-47CD-9F03-F5585F6DCDCE}" type="datetime1">
              <a:rPr lang="zh-CN" altLang="en-US"/>
              <a:pPr>
                <a:defRPr/>
              </a:pPr>
              <a:t>2024/11/26 Tuesday</a:t>
            </a:fld>
            <a:endParaRPr lang="en-US"/>
          </a:p>
        </p:txBody>
      </p:sp>
      <p:sp>
        <p:nvSpPr>
          <p:cNvPr id="3"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4" name="Slide Number Placeholder 5"/>
          <p:cNvSpPr>
            <a:spLocks noGrp="1" noChangeArrowheads="1"/>
          </p:cNvSpPr>
          <p:nvPr>
            <p:ph type="sldNum" sz="quarter" idx="12"/>
          </p:nvPr>
        </p:nvSpPr>
        <p:spPr/>
        <p:txBody>
          <a:bodyPr/>
          <a:lstStyle>
            <a:lvl1pPr>
              <a:defRPr/>
            </a:lvl1pPr>
          </a:lstStyle>
          <a:p>
            <a:pPr>
              <a:defRPr/>
            </a:pPr>
            <a:fld id="{BD53A88B-5D4D-44C4-B766-193B174ECCF0}" type="slidenum">
              <a:rPr lang="zh-CN" altLang="en-US"/>
              <a:pPr>
                <a:defRPr/>
              </a:pPr>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8C29172D-D032-41A7-9496-8C37644C8582}" type="datetime1">
              <a:rPr lang="zh-CN" altLang="en-US"/>
              <a:pPr>
                <a:defRPr/>
              </a:pPr>
              <a:t>2024/11/26 Tuesday</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p:txBody>
          <a:bodyPr/>
          <a:lstStyle>
            <a:lvl1pPr>
              <a:defRPr/>
            </a:lvl1pPr>
          </a:lstStyle>
          <a:p>
            <a:pPr>
              <a:defRPr/>
            </a:pPr>
            <a:fld id="{67481E7F-C05B-4875-B2CB-BCA16BFDCF44}" type="slidenum">
              <a:rPr lang="zh-CN" altLang="en-US"/>
              <a:pPr>
                <a:defRPr/>
              </a:pPr>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702459CA-DD8D-46C6-8CE7-4A2E689D3E25}" type="datetime1">
              <a:rPr lang="zh-CN" altLang="en-US"/>
              <a:pPr>
                <a:defRPr/>
              </a:pPr>
              <a:t>2024/11/26 Tuesday</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7" name="Slide Number Placeholder 5"/>
          <p:cNvSpPr>
            <a:spLocks noGrp="1" noChangeArrowheads="1"/>
          </p:cNvSpPr>
          <p:nvPr>
            <p:ph type="sldNum" sz="quarter" idx="12"/>
          </p:nvPr>
        </p:nvSpPr>
        <p:spPr/>
        <p:txBody>
          <a:bodyPr/>
          <a:lstStyle>
            <a:lvl1pPr>
              <a:defRPr/>
            </a:lvl1pPr>
          </a:lstStyle>
          <a:p>
            <a:pPr>
              <a:defRPr/>
            </a:pPr>
            <a:fld id="{B6547847-27DF-4F00-A1BF-D12BFC92A2A8}" type="slidenum">
              <a:rPr lang="zh-CN" altLang="en-US"/>
              <a:pPr>
                <a:defRPr/>
              </a:pPr>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noChangeArrowheads="1"/>
          </p:cNvSpPr>
          <p:nvPr>
            <p:ph type="dt" sz="half" idx="10"/>
          </p:nvPr>
        </p:nvSpPr>
        <p:spPr/>
        <p:txBody>
          <a:bodyPr/>
          <a:lstStyle>
            <a:lvl1pPr>
              <a:defRPr/>
            </a:lvl1pPr>
          </a:lstStyle>
          <a:p>
            <a:pPr>
              <a:defRPr/>
            </a:pPr>
            <a:fld id="{C2B4FF78-1E68-4D86-852C-B2C91A53AA4B}"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A4ACE223-E8D2-497C-BA76-539148630A73}" type="slidenum">
              <a:rPr lang="zh-CN" altLang="en-US"/>
              <a:pPr>
                <a:defRPr/>
              </a:pPr>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71475"/>
            <a:ext cx="2001837" cy="59848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71475"/>
            <a:ext cx="5854700" cy="59848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noChangeArrowheads="1"/>
          </p:cNvSpPr>
          <p:nvPr>
            <p:ph type="dt" sz="half" idx="10"/>
          </p:nvPr>
        </p:nvSpPr>
        <p:spPr/>
        <p:txBody>
          <a:bodyPr/>
          <a:lstStyle>
            <a:lvl1pPr>
              <a:defRPr/>
            </a:lvl1pPr>
          </a:lstStyle>
          <a:p>
            <a:pPr>
              <a:defRPr/>
            </a:pPr>
            <a:fld id="{6A0D9B23-2300-4E98-964B-7C23A9F3C8DD}"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B442DF78-3F6B-46C0-B366-2E2BC339C45E}" type="slidenum">
              <a:rPr lang="zh-CN" altLang="en-US"/>
              <a:pPr>
                <a:defRPr/>
              </a:pPr>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66738" y="371475"/>
            <a:ext cx="7978775" cy="601663"/>
          </a:xfrm>
        </p:spPr>
        <p:txBody>
          <a:bodyPr/>
          <a:lstStyle/>
          <a:p>
            <a:r>
              <a:rPr lang="zh-CN" altLang="en-US"/>
              <a:t>单击此处编辑母版标题样式</a:t>
            </a:r>
          </a:p>
        </p:txBody>
      </p:sp>
      <p:sp>
        <p:nvSpPr>
          <p:cNvPr id="3" name="表格占位符 2"/>
          <p:cNvSpPr>
            <a:spLocks noGrp="1"/>
          </p:cNvSpPr>
          <p:nvPr>
            <p:ph type="tbl" idx="1"/>
          </p:nvPr>
        </p:nvSpPr>
        <p:spPr>
          <a:xfrm>
            <a:off x="566738" y="1181100"/>
            <a:ext cx="8008937" cy="5175250"/>
          </a:xfrm>
        </p:spPr>
        <p:txBody>
          <a:bodyPr/>
          <a:lstStyle/>
          <a:p>
            <a:pPr lvl="0"/>
            <a:endParaRPr lang="zh-CN" altLang="en-US" noProof="0"/>
          </a:p>
        </p:txBody>
      </p:sp>
      <p:sp>
        <p:nvSpPr>
          <p:cNvPr id="4" name="Date Placeholder 3"/>
          <p:cNvSpPr>
            <a:spLocks noGrp="1" noChangeArrowheads="1"/>
          </p:cNvSpPr>
          <p:nvPr>
            <p:ph type="dt" sz="half" idx="10"/>
          </p:nvPr>
        </p:nvSpPr>
        <p:spPr/>
        <p:txBody>
          <a:bodyPr/>
          <a:lstStyle>
            <a:lvl1pPr>
              <a:defRPr/>
            </a:lvl1pPr>
          </a:lstStyle>
          <a:p>
            <a:pPr>
              <a:defRPr/>
            </a:pPr>
            <a:fld id="{4AA6E1DD-2B31-4EB4-B7AC-FCB79B9A5151}" type="datetime1">
              <a:rPr lang="zh-CN" altLang="en-US"/>
              <a:pPr>
                <a:defRPr/>
              </a:pPr>
              <a:t>2024/11/26 Tuesday</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zh-CN" altLang="en-US"/>
          </a:p>
        </p:txBody>
      </p:sp>
      <p:sp>
        <p:nvSpPr>
          <p:cNvPr id="6" name="Slide Number Placeholder 5"/>
          <p:cNvSpPr>
            <a:spLocks noGrp="1" noChangeArrowheads="1"/>
          </p:cNvSpPr>
          <p:nvPr>
            <p:ph type="sldNum" sz="quarter" idx="12"/>
          </p:nvPr>
        </p:nvSpPr>
        <p:spPr/>
        <p:txBody>
          <a:bodyPr/>
          <a:lstStyle>
            <a:lvl1pPr>
              <a:defRPr/>
            </a:lvl1pPr>
          </a:lstStyle>
          <a:p>
            <a:pPr>
              <a:defRPr/>
            </a:pPr>
            <a:fld id="{A2E71F90-0239-4DA5-88EB-AB687F3ACC2E}"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2050" name="图片 8"/>
          <p:cNvPicPr>
            <a:picLocks noChangeAspect="1" noChangeArrowheads="1"/>
          </p:cNvPicPr>
          <p:nvPr/>
        </p:nvPicPr>
        <p:blipFill>
          <a:blip r:embed="rId14" cstate="print">
            <a:extLst>
              <a:ext uri="{28A0092B-C50C-407E-A947-70E740481C1C}">
                <a14:useLocalDpi xmlns:a14="http://schemas.microsoft.com/office/drawing/2010/main" xmlns="" val="0"/>
              </a:ext>
            </a:extLst>
          </a:blip>
          <a:srcRect l="96" t="1784" r="8476" b="1785"/>
          <a:stretch>
            <a:fillRect/>
          </a:stretch>
        </p:blipFill>
        <p:spPr bwMode="auto">
          <a:xfrm>
            <a:off x="0" y="-1270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51" name="矩形 6"/>
          <p:cNvSpPr>
            <a:spLocks noChangeArrowheads="1"/>
          </p:cNvSpPr>
          <p:nvPr/>
        </p:nvSpPr>
        <p:spPr bwMode="auto">
          <a:xfrm>
            <a:off x="0" y="-12700"/>
            <a:ext cx="9144000" cy="6858000"/>
          </a:xfrm>
          <a:prstGeom prst="rect">
            <a:avLst/>
          </a:prstGeom>
          <a:solidFill>
            <a:srgbClr val="FFFFFF">
              <a:alpha val="89803"/>
            </a:srgbClr>
          </a:solidFill>
          <a:ln>
            <a:noFill/>
          </a:ln>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endParaRPr>
          </a:p>
        </p:txBody>
      </p:sp>
      <p:sp>
        <p:nvSpPr>
          <p:cNvPr id="2052" name="Text Placeholder 2"/>
          <p:cNvSpPr>
            <a:spLocks noGrp="1" noChangeArrowheads="1"/>
          </p:cNvSpPr>
          <p:nvPr>
            <p:ph type="body" idx="1"/>
          </p:nvPr>
        </p:nvSpPr>
        <p:spPr bwMode="auto">
          <a:xfrm>
            <a:off x="566738" y="1181100"/>
            <a:ext cx="8008937" cy="5175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p:txBody>
      </p:sp>
      <p:sp>
        <p:nvSpPr>
          <p:cNvPr id="2053" name="Date Placeholder 3"/>
          <p:cNvSpPr>
            <a:spLocks noGrp="1" noChangeArrowheads="1"/>
          </p:cNvSpPr>
          <p:nvPr>
            <p:ph type="dt" sz="half" idx="2"/>
          </p:nvPr>
        </p:nvSpPr>
        <p:spPr bwMode="auto">
          <a:xfrm>
            <a:off x="628650" y="6356350"/>
            <a:ext cx="2057400" cy="365125"/>
          </a:xfrm>
          <a:prstGeom prst="rect">
            <a:avLst/>
          </a:prstGeom>
          <a:noFill/>
          <a:ln w="9525">
            <a:noFill/>
            <a:miter lim="800000"/>
          </a:ln>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A6A6A6"/>
                </a:solidFill>
                <a:latin typeface="Arial" panose="020B0604020202020204" pitchFamily="34" charset="0"/>
              </a:defRPr>
            </a:lvl1pPr>
          </a:lstStyle>
          <a:p>
            <a:pPr>
              <a:defRPr/>
            </a:pPr>
            <a:fld id="{7ED4F09A-8979-4F42-B0E1-7A1DC01BAD30}" type="datetime1">
              <a:rPr lang="zh-CN" altLang="en-US"/>
              <a:pPr>
                <a:defRPr/>
              </a:pPr>
              <a:t>2024/11/26 Tuesday</a:t>
            </a:fld>
            <a:endParaRPr lang="en-US"/>
          </a:p>
        </p:txBody>
      </p:sp>
      <p:sp>
        <p:nvSpPr>
          <p:cNvPr id="2054" name="Footer Placeholder 4"/>
          <p:cNvSpPr>
            <a:spLocks noGrp="1" noChangeArrowheads="1"/>
          </p:cNvSpPr>
          <p:nvPr>
            <p:ph type="ftr" sz="quarter" idx="3"/>
          </p:nvPr>
        </p:nvSpPr>
        <p:spPr bwMode="auto">
          <a:xfrm>
            <a:off x="3028950" y="6356350"/>
            <a:ext cx="3086100" cy="365125"/>
          </a:xfrm>
          <a:prstGeom prst="rect">
            <a:avLst/>
          </a:prstGeom>
          <a:noFill/>
          <a:ln w="9525">
            <a:noFill/>
            <a:miter lim="800000"/>
          </a:ln>
        </p:spPr>
        <p:txBody>
          <a:bodyPr vert="horz" wrap="square" lIns="91440" tIns="45720" rIns="91440" bIns="45720" numCol="1" anchor="ctr" anchorCtr="0" compatLnSpc="1"/>
          <a:lstStyle>
            <a:lvl1pPr algn="ctr" eaLnBrk="1" hangingPunct="1">
              <a:buFont typeface="Arial" panose="020B0604020202020204" pitchFamily="34" charset="0"/>
              <a:buNone/>
              <a:defRPr sz="900">
                <a:solidFill>
                  <a:srgbClr val="A6A6A6"/>
                </a:solidFill>
                <a:latin typeface="Arial" panose="020B0604020202020204" pitchFamily="34" charset="0"/>
              </a:defRPr>
            </a:lvl1pPr>
          </a:lstStyle>
          <a:p>
            <a:pPr>
              <a:defRPr/>
            </a:pPr>
            <a:endParaRPr lang="zh-CN" altLang="en-US"/>
          </a:p>
        </p:txBody>
      </p:sp>
      <p:sp>
        <p:nvSpPr>
          <p:cNvPr id="2055" name="Slide Number Placeholder 5"/>
          <p:cNvSpPr>
            <a:spLocks noGrp="1" noChangeArrowheads="1"/>
          </p:cNvSpPr>
          <p:nvPr>
            <p:ph type="sldNum" sz="quarter" idx="4"/>
          </p:nvPr>
        </p:nvSpPr>
        <p:spPr bwMode="auto">
          <a:xfrm>
            <a:off x="6457950" y="6356350"/>
            <a:ext cx="2057400" cy="365125"/>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A6A6A6"/>
                </a:solidFill>
              </a:defRPr>
            </a:lvl1pPr>
          </a:lstStyle>
          <a:p>
            <a:pPr>
              <a:defRPr/>
            </a:pPr>
            <a:fld id="{5B85D40D-28CC-4043-8B5D-6DADA90290B0}" type="slidenum">
              <a:rPr lang="zh-CN" altLang="en-US"/>
              <a:pPr>
                <a:defRPr/>
              </a:pPr>
              <a:t>‹#›</a:t>
            </a:fld>
            <a:endParaRPr lang="en-US" altLang="zh-CN"/>
          </a:p>
        </p:txBody>
      </p:sp>
      <p:sp>
        <p:nvSpPr>
          <p:cNvPr id="2056" name="Title Placeholder 1"/>
          <p:cNvSpPr>
            <a:spLocks noGrp="1" noChangeArrowheads="1"/>
          </p:cNvSpPr>
          <p:nvPr>
            <p:ph type="title"/>
          </p:nvPr>
        </p:nvSpPr>
        <p:spPr bwMode="auto">
          <a:xfrm>
            <a:off x="566738" y="371475"/>
            <a:ext cx="7978775" cy="601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lstStyle/>
          <a:p>
            <a:pPr lvl="0"/>
            <a:r>
              <a:rPr lang="zh-CN" altLang="zh-CN"/>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p:titleStyle>
    <p:bodyStyle>
      <a:lvl1pPr marL="266700" indent="-266700" algn="l" defTabSz="685800" rtl="0" eaLnBrk="0" fontAlgn="base" hangingPunct="0">
        <a:lnSpc>
          <a:spcPct val="90000"/>
        </a:lnSpc>
        <a:spcBef>
          <a:spcPts val="1350"/>
        </a:spcBef>
        <a:spcAft>
          <a:spcPct val="0"/>
        </a:spcAft>
        <a:buClr>
          <a:schemeClr val="accent1"/>
        </a:buClr>
        <a:buSzPct val="80000"/>
        <a:buFont typeface="Wingdings 2" panose="05020102010507070707" pitchFamily="18" charset="2"/>
        <a:buChar char=""/>
        <a:defRPr sz="2100">
          <a:solidFill>
            <a:srgbClr val="636917"/>
          </a:solidFill>
          <a:latin typeface="+mn-lt"/>
          <a:ea typeface="+mn-ea"/>
          <a:cs typeface="+mn-cs"/>
        </a:defRPr>
      </a:lvl1pPr>
      <a:lvl2pPr marL="266700" indent="-266700" algn="l" defTabSz="685800" rtl="0" eaLnBrk="0" fontAlgn="base" hangingPunct="0">
        <a:lnSpc>
          <a:spcPct val="130000"/>
        </a:lnSpc>
        <a:spcBef>
          <a:spcPct val="0"/>
        </a:spcBef>
        <a:spcAft>
          <a:spcPct val="0"/>
        </a:spcAft>
        <a:buFont typeface="Calibri" panose="020F0502020204030204" pitchFamily="34" charset="0"/>
        <a:buChar char=" "/>
        <a:defRPr sz="13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Calibri" panose="020F0502020204030204" pitchFamily="34" charset="0"/>
        <a:buChar char="•"/>
        <a:defRPr sz="1500">
          <a:solidFill>
            <a:srgbClr val="7F7F7F"/>
          </a:solidFill>
          <a:latin typeface="+mn-lt"/>
          <a:ea typeface="+mn-ea"/>
        </a:defRPr>
      </a:lvl3pPr>
      <a:lvl4pPr marL="1200150" indent="-171450" algn="l" defTabSz="685800" rtl="0" eaLnBrk="0" fontAlgn="base" hangingPunct="0">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4pPr>
      <a:lvl5pPr marL="1543050" indent="-171450" algn="l" defTabSz="685800" rtl="0" eaLnBrk="0" fontAlgn="base" hangingPunct="0">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5pPr>
      <a:lvl6pPr marL="20002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6pPr>
      <a:lvl7pPr marL="24574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7pPr>
      <a:lvl8pPr marL="29146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8pPr>
      <a:lvl9pPr marL="33718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2050" name="图片 8"/>
          <p:cNvPicPr>
            <a:picLocks noChangeAspect="1" noChangeArrowheads="1"/>
          </p:cNvPicPr>
          <p:nvPr/>
        </p:nvPicPr>
        <p:blipFill>
          <a:blip cstate="print"/>
          <a:srcRect l="96" t="1784" r="8476" b="1785"/>
          <a:stretch>
            <a:fillRect/>
          </a:stretch>
        </p:blipFill>
        <p:spPr bwMode="auto">
          <a:xfrm>
            <a:off x="0" y="-1270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51" name="矩形 6"/>
          <p:cNvSpPr>
            <a:spLocks noChangeArrowheads="1"/>
          </p:cNvSpPr>
          <p:nvPr/>
        </p:nvSpPr>
        <p:spPr bwMode="auto">
          <a:xfrm>
            <a:off x="0" y="-12700"/>
            <a:ext cx="9144000" cy="6858000"/>
          </a:xfrm>
          <a:prstGeom prst="rect">
            <a:avLst/>
          </a:prstGeom>
          <a:solidFill>
            <a:srgbClr val="FFFFFF">
              <a:alpha val="89803"/>
            </a:srgbClr>
          </a:solidFill>
          <a:ln>
            <a:noFill/>
          </a:ln>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endParaRPr>
          </a:p>
        </p:txBody>
      </p:sp>
      <p:sp>
        <p:nvSpPr>
          <p:cNvPr id="2052" name="Text Placeholder 2"/>
          <p:cNvSpPr>
            <a:spLocks noGrp="1" noChangeArrowheads="1"/>
          </p:cNvSpPr>
          <p:nvPr>
            <p:ph type="body" idx="1"/>
          </p:nvPr>
        </p:nvSpPr>
        <p:spPr bwMode="auto">
          <a:xfrm>
            <a:off x="566738" y="1181100"/>
            <a:ext cx="8008937" cy="5175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p:txBody>
      </p:sp>
      <p:sp>
        <p:nvSpPr>
          <p:cNvPr id="2053" name="Date Placeholder 3"/>
          <p:cNvSpPr>
            <a:spLocks noGrp="1" noChangeArrowheads="1"/>
          </p:cNvSpPr>
          <p:nvPr>
            <p:ph type="dt" sz="half" idx="2"/>
          </p:nvPr>
        </p:nvSpPr>
        <p:spPr bwMode="auto">
          <a:xfrm>
            <a:off x="628650" y="6356350"/>
            <a:ext cx="2057400" cy="365125"/>
          </a:xfrm>
          <a:prstGeom prst="rect">
            <a:avLst/>
          </a:prstGeom>
          <a:noFill/>
          <a:ln w="9525">
            <a:noFill/>
            <a:miter lim="800000"/>
          </a:ln>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A6A6A6"/>
                </a:solidFill>
                <a:latin typeface="Arial" panose="020B0604020202020204" pitchFamily="34" charset="0"/>
              </a:defRPr>
            </a:lvl1pPr>
          </a:lstStyle>
          <a:p>
            <a:pPr>
              <a:defRPr/>
            </a:pPr>
            <a:fld id="{7ED4F09A-8979-4F42-B0E1-7A1DC01BAD30}" type="datetime1">
              <a:rPr lang="zh-CN" altLang="en-US"/>
              <a:pPr>
                <a:defRPr/>
              </a:pPr>
              <a:t>2024/11/26 Tuesday</a:t>
            </a:fld>
            <a:endParaRPr lang="en-US"/>
          </a:p>
        </p:txBody>
      </p:sp>
      <p:sp>
        <p:nvSpPr>
          <p:cNvPr id="2054" name="Footer Placeholder 4"/>
          <p:cNvSpPr>
            <a:spLocks noGrp="1" noChangeArrowheads="1"/>
          </p:cNvSpPr>
          <p:nvPr>
            <p:ph type="ftr" sz="quarter" idx="3"/>
          </p:nvPr>
        </p:nvSpPr>
        <p:spPr bwMode="auto">
          <a:xfrm>
            <a:off x="3028950" y="6356350"/>
            <a:ext cx="3086100" cy="365125"/>
          </a:xfrm>
          <a:prstGeom prst="rect">
            <a:avLst/>
          </a:prstGeom>
          <a:noFill/>
          <a:ln w="9525">
            <a:noFill/>
            <a:miter lim="800000"/>
          </a:ln>
        </p:spPr>
        <p:txBody>
          <a:bodyPr vert="horz" wrap="square" lIns="91440" tIns="45720" rIns="91440" bIns="45720" numCol="1" anchor="ctr" anchorCtr="0" compatLnSpc="1"/>
          <a:lstStyle>
            <a:lvl1pPr algn="ctr" eaLnBrk="1" hangingPunct="1">
              <a:buFont typeface="Arial" panose="020B0604020202020204" pitchFamily="34" charset="0"/>
              <a:buNone/>
              <a:defRPr sz="900">
                <a:solidFill>
                  <a:srgbClr val="A6A6A6"/>
                </a:solidFill>
                <a:latin typeface="Arial" panose="020B0604020202020204" pitchFamily="34" charset="0"/>
              </a:defRPr>
            </a:lvl1pPr>
          </a:lstStyle>
          <a:p>
            <a:pPr>
              <a:defRPr/>
            </a:pPr>
            <a:endParaRPr lang="zh-CN" altLang="en-US"/>
          </a:p>
        </p:txBody>
      </p:sp>
      <p:sp>
        <p:nvSpPr>
          <p:cNvPr id="2055" name="Slide Number Placeholder 5"/>
          <p:cNvSpPr>
            <a:spLocks noGrp="1" noChangeArrowheads="1"/>
          </p:cNvSpPr>
          <p:nvPr>
            <p:ph type="sldNum" sz="quarter" idx="4"/>
          </p:nvPr>
        </p:nvSpPr>
        <p:spPr bwMode="auto">
          <a:xfrm>
            <a:off x="6457950" y="6356350"/>
            <a:ext cx="2057400" cy="365125"/>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A6A6A6"/>
                </a:solidFill>
              </a:defRPr>
            </a:lvl1pPr>
          </a:lstStyle>
          <a:p>
            <a:pPr>
              <a:defRPr/>
            </a:pPr>
            <a:fld id="{5B85D40D-28CC-4043-8B5D-6DADA90290B0}" type="slidenum">
              <a:rPr lang="zh-CN" altLang="en-US"/>
              <a:pPr>
                <a:defRPr/>
              </a:pPr>
              <a:t>‹#›</a:t>
            </a:fld>
            <a:endParaRPr lang="en-US" altLang="zh-CN"/>
          </a:p>
        </p:txBody>
      </p:sp>
      <p:sp>
        <p:nvSpPr>
          <p:cNvPr id="2056" name="Title Placeholder 1"/>
          <p:cNvSpPr>
            <a:spLocks noGrp="1" noChangeArrowheads="1"/>
          </p:cNvSpPr>
          <p:nvPr>
            <p:ph type="title"/>
          </p:nvPr>
        </p:nvSpPr>
        <p:spPr bwMode="auto">
          <a:xfrm>
            <a:off x="566738" y="371475"/>
            <a:ext cx="7978775" cy="601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lstStyle/>
          <a:p>
            <a:pPr lvl="0"/>
            <a:r>
              <a:rPr lang="zh-CN" altLang="zh-CN"/>
              <a:t>单击此处编辑母版标题样式</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p:titleStyle>
    <p:bodyStyle>
      <a:lvl1pPr marL="266700" indent="-266700" algn="l" defTabSz="685800" rtl="0" eaLnBrk="0" fontAlgn="base" hangingPunct="0">
        <a:lnSpc>
          <a:spcPct val="90000"/>
        </a:lnSpc>
        <a:spcBef>
          <a:spcPts val="1350"/>
        </a:spcBef>
        <a:spcAft>
          <a:spcPct val="0"/>
        </a:spcAft>
        <a:buClr>
          <a:schemeClr val="accent1"/>
        </a:buClr>
        <a:buSzPct val="80000"/>
        <a:buFont typeface="Wingdings 2" panose="05020102010507070707" pitchFamily="18" charset="2"/>
        <a:buChar char=""/>
        <a:defRPr sz="2100">
          <a:solidFill>
            <a:srgbClr val="636917"/>
          </a:solidFill>
          <a:latin typeface="+mn-lt"/>
          <a:ea typeface="+mn-ea"/>
          <a:cs typeface="+mn-cs"/>
        </a:defRPr>
      </a:lvl1pPr>
      <a:lvl2pPr marL="266700" indent="-266700" algn="l" defTabSz="685800" rtl="0" eaLnBrk="0" fontAlgn="base" hangingPunct="0">
        <a:lnSpc>
          <a:spcPct val="130000"/>
        </a:lnSpc>
        <a:spcBef>
          <a:spcPct val="0"/>
        </a:spcBef>
        <a:spcAft>
          <a:spcPct val="0"/>
        </a:spcAft>
        <a:buFont typeface="Calibri" panose="020F0502020204030204" pitchFamily="34" charset="0"/>
        <a:buChar char=" "/>
        <a:defRPr sz="13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Calibri" panose="020F0502020204030204" pitchFamily="34" charset="0"/>
        <a:buChar char="•"/>
        <a:defRPr sz="1500">
          <a:solidFill>
            <a:srgbClr val="7F7F7F"/>
          </a:solidFill>
          <a:latin typeface="+mn-lt"/>
          <a:ea typeface="+mn-ea"/>
        </a:defRPr>
      </a:lvl3pPr>
      <a:lvl4pPr marL="1200150" indent="-171450" algn="l" defTabSz="685800" rtl="0" eaLnBrk="0" fontAlgn="base" hangingPunct="0">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4pPr>
      <a:lvl5pPr marL="1543050" indent="-171450" algn="l" defTabSz="685800" rtl="0" eaLnBrk="0" fontAlgn="base" hangingPunct="0">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5pPr>
      <a:lvl6pPr marL="20002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6pPr>
      <a:lvl7pPr marL="24574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7pPr>
      <a:lvl8pPr marL="29146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8pPr>
      <a:lvl9pPr marL="3371850" indent="-171450" algn="l" defTabSz="685800" rtl="0" fontAlgn="base">
        <a:lnSpc>
          <a:spcPct val="90000"/>
        </a:lnSpc>
        <a:spcBef>
          <a:spcPts val="375"/>
        </a:spcBef>
        <a:spcAft>
          <a:spcPct val="0"/>
        </a:spcAft>
        <a:buFont typeface="Calibri" panose="020F0502020204030204" pitchFamily="34" charset="0"/>
        <a:buChar char="•"/>
        <a:defRPr sz="1300">
          <a:solidFill>
            <a:srgbClr val="7F7F7F"/>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jpeg"/><Relationship Id="rId7" Type="http://schemas.openxmlformats.org/officeDocument/2006/relationships/image" Target="../media/image13.w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6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image" Target="../media/image2.jpeg"/></Relationships>
</file>

<file path=ppt/slides/_rels/slide7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7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8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8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9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9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5.bin"/></Relationships>
</file>

<file path=ppt/slides/_rels/slide10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6.bin"/></Relationships>
</file>

<file path=ppt/slides/_rels/slide10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7.bin"/></Relationships>
</file>

<file path=ppt/slides/_rels/slide10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8.bin"/></Relationships>
</file>

<file path=ppt/slides/_rels/slide10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oleObject9.bin"/></Relationships>
</file>

<file path=ppt/slides/_rels/slide10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10.bin"/></Relationships>
</file>

<file path=ppt/slides/_rels/slide1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11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oleObject" Target="../embeddings/oleObject11.bin"/></Relationships>
</file>

<file path=ppt/slides/_rels/slide11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12.bin"/></Relationships>
</file>

<file path=ppt/slides/_rels/slide11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80.xml"/><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3.bin"/><Relationship Id="rId5" Type="http://schemas.openxmlformats.org/officeDocument/2006/relationships/image" Target="../media/image87.png"/><Relationship Id="rId4" Type="http://schemas.openxmlformats.org/officeDocument/2006/relationships/image" Target="../media/image2.jpeg"/></Relationships>
</file>

<file path=ppt/slides/_rels/slide1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oleObject" Target="../embeddings/oleObject15.bin"/></Relationships>
</file>

<file path=ppt/slides/_rels/slide12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4.xml"/></Relationships>
</file>

<file path=ppt/slides/_rels/slide12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8" Type="http://schemas.microsoft.com/office/2007/relationships/hdphoto" Target="../media/image96.wdp"/><Relationship Id="rId3" Type="http://schemas.openxmlformats.org/officeDocument/2006/relationships/image" Target="../media/image91.png"/><Relationship Id="rId7" Type="http://schemas.openxmlformats.org/officeDocument/2006/relationships/image" Target="../media/image93.png"/><Relationship Id="rId2" Type="http://schemas.openxmlformats.org/officeDocument/2006/relationships/image" Target="../media/image2.jpeg"/><Relationship Id="rId1" Type="http://schemas.openxmlformats.org/officeDocument/2006/relationships/slideLayout" Target="../slideLayouts/slideLayout2.xml"/><Relationship Id="rId6" Type="http://schemas.microsoft.com/office/2007/relationships/hdphoto" Target="../media/image94.wdp"/><Relationship Id="rId5" Type="http://schemas.openxmlformats.org/officeDocument/2006/relationships/image" Target="../media/image92.png"/><Relationship Id="rId4" Type="http://schemas.microsoft.com/office/2007/relationships/hdphoto" Target="../media/image92.wdp"/></Relationships>
</file>

<file path=ppt/slides/_rels/slide1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sp>
        <p:nvSpPr>
          <p:cNvPr id="5123" name="Rectangle 3"/>
          <p:cNvSpPr>
            <a:spLocks noGrp="1" noChangeArrowheads="1"/>
          </p:cNvSpPr>
          <p:nvPr>
            <p:ph type="body" idx="1"/>
          </p:nvPr>
        </p:nvSpPr>
        <p:spPr>
          <a:xfrm>
            <a:off x="468313" y="1147763"/>
            <a:ext cx="8496300" cy="5184775"/>
          </a:xfrm>
        </p:spPr>
        <p:txBody>
          <a:bodyPr/>
          <a:lstStyle/>
          <a:p>
            <a:pPr algn="ctr" eaLnBrk="1" hangingPunct="1">
              <a:buFont typeface="Wingdings 2" panose="05020102010507070707" pitchFamily="18" charset="2"/>
              <a:buNone/>
            </a:pPr>
            <a:r>
              <a:rPr lang="zh-CN" altLang="en-US" sz="7200" b="1">
                <a:solidFill>
                  <a:srgbClr val="0070C0"/>
                </a:solidFill>
                <a:ea typeface="华文行楷" panose="02010800040101010101" pitchFamily="2" charset="-122"/>
              </a:rPr>
              <a:t>金属热处理原理</a:t>
            </a:r>
            <a:endParaRPr lang="en-US" altLang="zh-CN" sz="7200" b="1">
              <a:solidFill>
                <a:srgbClr val="0070C0"/>
              </a:solidFill>
              <a:ea typeface="华文行楷" panose="02010800040101010101" pitchFamily="2" charset="-122"/>
            </a:endParaRPr>
          </a:p>
          <a:p>
            <a:pPr algn="ctr" eaLnBrk="1" hangingPunct="1">
              <a:buFont typeface="Wingdings 2" panose="05020102010507070707" pitchFamily="18" charset="2"/>
              <a:buNone/>
            </a:pPr>
            <a:r>
              <a:rPr lang="zh-CN" altLang="en-US" sz="7200" b="1">
                <a:solidFill>
                  <a:srgbClr val="0070C0"/>
                </a:solidFill>
                <a:ea typeface="华文行楷" panose="02010800040101010101" pitchFamily="2" charset="-122"/>
              </a:rPr>
              <a:t>与工艺</a:t>
            </a:r>
            <a:endParaRPr lang="zh-CN" altLang="en-US" sz="2800" b="1">
              <a:solidFill>
                <a:srgbClr val="0070C0"/>
              </a:solidFill>
              <a:latin typeface="隶书" panose="02010509060101010101" pitchFamily="49" charset="-122"/>
              <a:ea typeface="隶书" panose="02010509060101010101" pitchFamily="49" charset="-122"/>
            </a:endParaRPr>
          </a:p>
          <a:p>
            <a:pPr algn="ctr" eaLnBrk="1" hangingPunct="1">
              <a:buFont typeface="Wingdings 2" panose="05020102010507070707" pitchFamily="18" charset="2"/>
              <a:buNone/>
            </a:pPr>
            <a:endParaRPr lang="en-US" altLang="zh-CN" sz="2800" b="1">
              <a:solidFill>
                <a:srgbClr val="000000"/>
              </a:solidFill>
              <a:latin typeface="隶书" panose="02010509060101010101" pitchFamily="49" charset="-122"/>
              <a:ea typeface="隶书" panose="02010509060101010101" pitchFamily="49" charset="-122"/>
            </a:endParaRPr>
          </a:p>
          <a:p>
            <a:pPr algn="ct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马  峰</a:t>
            </a:r>
          </a:p>
          <a:p>
            <a:pPr algn="ct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中国矿业大学（北京）</a:t>
            </a:r>
          </a:p>
          <a:p>
            <a:pPr algn="ct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20</a:t>
            </a:r>
            <a:r>
              <a:rPr lang="en-US" altLang="zh-CN" sz="2800" b="1">
                <a:solidFill>
                  <a:srgbClr val="000000"/>
                </a:solidFill>
                <a:latin typeface="隶书" panose="02010509060101010101" pitchFamily="49" charset="-122"/>
                <a:ea typeface="隶书" panose="02010509060101010101" pitchFamily="49" charset="-122"/>
              </a:rPr>
              <a:t>22</a:t>
            </a:r>
            <a:r>
              <a:rPr lang="zh-CN" altLang="en-US" sz="2800" b="1">
                <a:solidFill>
                  <a:srgbClr val="000000"/>
                </a:solidFill>
                <a:latin typeface="隶书" panose="02010509060101010101" pitchFamily="49" charset="-122"/>
                <a:ea typeface="隶书" panose="02010509060101010101" pitchFamily="49" charset="-122"/>
              </a:rPr>
              <a:t>.</a:t>
            </a:r>
            <a:r>
              <a:rPr lang="en-US" altLang="zh-CN" sz="2800" b="1">
                <a:solidFill>
                  <a:srgbClr val="000000"/>
                </a:solidFill>
                <a:latin typeface="隶书" panose="02010509060101010101" pitchFamily="49" charset="-122"/>
                <a:ea typeface="隶书" panose="02010509060101010101" pitchFamily="49" charset="-122"/>
              </a:rPr>
              <a:t>7</a:t>
            </a:r>
            <a:endParaRPr lang="zh-CN" altLang="en-US" sz="2800" b="1">
              <a:solidFill>
                <a:srgbClr val="000000"/>
              </a:solidFill>
              <a:latin typeface="隶书" panose="02010509060101010101" pitchFamily="49" charset="-122"/>
              <a:ea typeface="隶书" panose="02010509060101010101" pitchFamily="49" charset="-122"/>
            </a:endParaRPr>
          </a:p>
          <a:p>
            <a:pP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                 </a:t>
            </a:r>
          </a:p>
          <a:p>
            <a:pPr eaLnBrk="1" hangingPunct="1">
              <a:buFont typeface="Wingdings 2" panose="05020102010507070707" pitchFamily="18" charset="2"/>
              <a:buNone/>
            </a:pPr>
            <a:endParaRPr lang="zh-CN" altLang="en-US" sz="2800" b="1">
              <a:latin typeface="隶书" panose="02010509060101010101" pitchFamily="49" charset="-122"/>
              <a:ea typeface="隶书" panose="02010509060101010101" pitchFamily="49" charset="-122"/>
            </a:endParaRPr>
          </a:p>
          <a:p>
            <a:pPr eaLnBrk="1" hangingPunct="1">
              <a:buFont typeface="Wingdings 2" panose="05020102010507070707" pitchFamily="18" charset="2"/>
              <a:buNone/>
            </a:pPr>
            <a:endParaRPr lang="zh-CN" altLang="en-US" sz="2800" b="1">
              <a:latin typeface="隶书" panose="02010509060101010101" pitchFamily="49" charset="-122"/>
              <a:ea typeface="隶书" panose="02010509060101010101" pitchFamily="49" charset="-122"/>
            </a:endParaRPr>
          </a:p>
        </p:txBody>
      </p:sp>
      <p:pic>
        <p:nvPicPr>
          <p:cNvPr id="5124"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25" name="矩形 2"/>
          <p:cNvSpPr>
            <a:spLocks noChangeArrowheads="1"/>
          </p:cNvSpPr>
          <p:nvPr/>
        </p:nvSpPr>
        <p:spPr bwMode="auto">
          <a:xfrm>
            <a:off x="0" y="5759450"/>
            <a:ext cx="9144000" cy="1098550"/>
          </a:xfrm>
          <a:prstGeom prst="rect">
            <a:avLst/>
          </a:prstGeom>
          <a:solidFill>
            <a:srgbClr val="0070C0">
              <a:alpha val="32156"/>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办公室：民族楼</a:t>
            </a: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237</a:t>
            </a:r>
          </a:p>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电    话：</a:t>
            </a: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13811861612</a:t>
            </a:r>
          </a:p>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E-mail:maf@cumtb.edu.cn</a:t>
            </a: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44" name="矩形 1"/>
          <p:cNvSpPr>
            <a:spLocks noChangeArrowheads="1"/>
          </p:cNvSpPr>
          <p:nvPr/>
        </p:nvSpPr>
        <p:spPr bwMode="auto">
          <a:xfrm>
            <a:off x="0" y="806450"/>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第五章  贝氏体转变</a:t>
            </a: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7" name="Text Box 5"/>
          <p:cNvSpPr txBox="1">
            <a:spLocks noChangeArrowheads="1"/>
          </p:cNvSpPr>
          <p:nvPr/>
        </p:nvSpPr>
        <p:spPr bwMode="auto">
          <a:xfrm>
            <a:off x="120666" y="2810768"/>
            <a:ext cx="4028710" cy="3748719"/>
          </a:xfrm>
          <a:prstGeom prst="rect">
            <a:avLst/>
          </a:prstGeom>
          <a:noFill/>
          <a:ln w="19050">
            <a:solidFill>
              <a:srgbClr val="0070C0"/>
            </a:solidFill>
          </a:ln>
          <a:effectLst/>
        </p:spPr>
        <p:txBody>
          <a:bodyPr wrap="square" rIns="18000">
            <a:spAutoFit/>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生产中常将钢奥氏体化后过冷至中温转变区等温停留，使之获得具有</a:t>
            </a:r>
            <a:r>
              <a:rPr kumimoji="1"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良好综合机械性能</a:t>
            </a:r>
            <a:r>
              <a:rPr lang="zh-CN" altLang="en-US" b="1" dirty="0" smtClean="0">
                <a:solidFill>
                  <a:srgbClr val="000000"/>
                </a:solidFill>
              </a:rPr>
              <a:t>的</a:t>
            </a:r>
            <a:r>
              <a:rPr kumimoji="1"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贝氏体</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组织，这种热处理操作称为</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贝氏体等温淬火</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有些合金钢，也可在进行连续冷却时</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通常是空冷</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来获得贝氏体组织。</a:t>
            </a:r>
            <a:endPar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pic>
        <p:nvPicPr>
          <p:cNvPr id="8" name="Picture 6" descr="1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76061" y="3072261"/>
            <a:ext cx="4700114" cy="31761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60124" y="1593187"/>
            <a:ext cx="9023752" cy="1130236"/>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贝氏体转变是铁碳合金系过冷奥氏体在介于珠光体转变和马氏体转变温度区间的一种转变，又简称为</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中温转变</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44" name="矩形 1"/>
          <p:cNvSpPr>
            <a:spLocks noChangeArrowheads="1"/>
          </p:cNvSpPr>
          <p:nvPr/>
        </p:nvSpPr>
        <p:spPr bwMode="auto">
          <a:xfrm>
            <a:off x="0" y="806450"/>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第五章  贝氏体转变</a:t>
            </a: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grpSp>
        <p:nvGrpSpPr>
          <p:cNvPr id="9" name="Group 2"/>
          <p:cNvGrpSpPr>
            <a:grpSpLocks noChangeAspect="1"/>
          </p:cNvGrpSpPr>
          <p:nvPr/>
        </p:nvGrpSpPr>
        <p:grpSpPr bwMode="auto">
          <a:xfrm>
            <a:off x="4250831" y="1479628"/>
            <a:ext cx="4762293" cy="5202237"/>
            <a:chOff x="1292" y="210"/>
            <a:chExt cx="3085" cy="3563"/>
          </a:xfrm>
        </p:grpSpPr>
        <p:grpSp>
          <p:nvGrpSpPr>
            <p:cNvPr id="10" name="Group 3"/>
            <p:cNvGrpSpPr/>
            <p:nvPr/>
          </p:nvGrpSpPr>
          <p:grpSpPr bwMode="auto">
            <a:xfrm>
              <a:off x="1338" y="210"/>
              <a:ext cx="3039" cy="3563"/>
              <a:chOff x="1429" y="210"/>
              <a:chExt cx="3039" cy="3563"/>
            </a:xfrm>
          </p:grpSpPr>
          <p:sp>
            <p:nvSpPr>
              <p:cNvPr id="14" name="Rectangle 4"/>
              <p:cNvSpPr>
                <a:spLocks noChangeArrowheads="1"/>
              </p:cNvSpPr>
              <p:nvPr/>
            </p:nvSpPr>
            <p:spPr bwMode="auto">
              <a:xfrm>
                <a:off x="1655" y="3475"/>
                <a:ext cx="2767" cy="2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5-1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共析碳钢 </a:t>
                </a: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曲线</a:t>
                </a: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15" name="Group 5"/>
              <p:cNvGrpSpPr/>
              <p:nvPr/>
            </p:nvGrpSpPr>
            <p:grpSpPr bwMode="auto">
              <a:xfrm>
                <a:off x="1429" y="210"/>
                <a:ext cx="3039" cy="3221"/>
                <a:chOff x="1383" y="164"/>
                <a:chExt cx="3039" cy="3221"/>
              </a:xfrm>
            </p:grpSpPr>
            <p:grpSp>
              <p:nvGrpSpPr>
                <p:cNvPr id="16" name="Group 6"/>
                <p:cNvGrpSpPr/>
                <p:nvPr/>
              </p:nvGrpSpPr>
              <p:grpSpPr bwMode="auto">
                <a:xfrm>
                  <a:off x="1383" y="164"/>
                  <a:ext cx="3039" cy="3221"/>
                  <a:chOff x="521" y="436"/>
                  <a:chExt cx="2188" cy="2540"/>
                </a:xfrm>
              </p:grpSpPr>
              <p:grpSp>
                <p:nvGrpSpPr>
                  <p:cNvPr id="20" name="Group 7"/>
                  <p:cNvGrpSpPr/>
                  <p:nvPr/>
                </p:nvGrpSpPr>
                <p:grpSpPr bwMode="auto">
                  <a:xfrm>
                    <a:off x="521" y="436"/>
                    <a:ext cx="2188" cy="2540"/>
                    <a:chOff x="2971" y="572"/>
                    <a:chExt cx="2188" cy="2540"/>
                  </a:xfrm>
                </p:grpSpPr>
                <p:pic>
                  <p:nvPicPr>
                    <p:cNvPr id="23" name="Picture 8" descr="过冷奥氏体转变产物"/>
                    <p:cNvPicPr>
                      <a:picLocks noChangeAspect="1" noChangeArrowheads="1"/>
                    </p:cNvPicPr>
                    <p:nvPr/>
                  </p:nvPicPr>
                  <p:blipFill>
                    <a:blip r:embed="rId3" cstate="print">
                      <a:lum bright="-24000" contrast="42000"/>
                      <a:extLst>
                        <a:ext uri="{28A0092B-C50C-407E-A947-70E740481C1C}">
                          <a14:useLocalDpi xmlns:a14="http://schemas.microsoft.com/office/drawing/2010/main" xmlns="" val="0"/>
                        </a:ext>
                      </a:extLst>
                    </a:blip>
                    <a:srcRect/>
                    <a:stretch>
                      <a:fillRect/>
                    </a:stretch>
                  </p:blipFill>
                  <p:spPr bwMode="auto">
                    <a:xfrm>
                      <a:off x="2971" y="572"/>
                      <a:ext cx="2188" cy="2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 name="Line 9"/>
                    <p:cNvSpPr>
                      <a:spLocks noChangeShapeType="1"/>
                    </p:cNvSpPr>
                    <p:nvPr/>
                  </p:nvSpPr>
                  <p:spPr bwMode="auto">
                    <a:xfrm flipH="1">
                      <a:off x="3016" y="1414"/>
                      <a:ext cx="408" cy="0"/>
                    </a:xfrm>
                    <a:prstGeom prst="line">
                      <a:avLst/>
                    </a:prstGeom>
                    <a:noFill/>
                    <a:ln w="31750">
                      <a:solidFill>
                        <a:srgbClr val="FF0000"/>
                      </a:solidFill>
                      <a:round/>
                      <a:head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 name="Line 10"/>
                    <p:cNvSpPr>
                      <a:spLocks noChangeShapeType="1"/>
                    </p:cNvSpPr>
                    <p:nvPr/>
                  </p:nvSpPr>
                  <p:spPr bwMode="auto">
                    <a:xfrm flipH="1">
                      <a:off x="2992" y="2187"/>
                      <a:ext cx="408" cy="0"/>
                    </a:xfrm>
                    <a:prstGeom prst="line">
                      <a:avLst/>
                    </a:prstGeom>
                    <a:noFill/>
                    <a:ln w="31750">
                      <a:solidFill>
                        <a:srgbClr val="FF0000"/>
                      </a:solidFill>
                      <a:round/>
                      <a:head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 name="Line 11"/>
                    <p:cNvSpPr>
                      <a:spLocks noChangeShapeType="1"/>
                    </p:cNvSpPr>
                    <p:nvPr/>
                  </p:nvSpPr>
                  <p:spPr bwMode="auto">
                    <a:xfrm>
                      <a:off x="3424" y="1416"/>
                      <a:ext cx="1543" cy="0"/>
                    </a:xfrm>
                    <a:prstGeom prst="line">
                      <a:avLst/>
                    </a:prstGeom>
                    <a:noFill/>
                    <a:ln w="25400">
                      <a:solidFill>
                        <a:srgbClr val="FF0066"/>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1" name="Line 12"/>
                  <p:cNvSpPr>
                    <a:spLocks noChangeShapeType="1"/>
                  </p:cNvSpPr>
                  <p:nvPr/>
                </p:nvSpPr>
                <p:spPr bwMode="auto">
                  <a:xfrm>
                    <a:off x="963" y="2307"/>
                    <a:ext cx="1043" cy="0"/>
                  </a:xfrm>
                  <a:prstGeom prst="line">
                    <a:avLst/>
                  </a:prstGeom>
                  <a:noFill/>
                  <a:ln w="25400">
                    <a:solidFill>
                      <a:srgbClr val="00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 name="Text Box 13"/>
                  <p:cNvSpPr txBox="1">
                    <a:spLocks noChangeArrowheads="1"/>
                  </p:cNvSpPr>
                  <p:nvPr/>
                </p:nvSpPr>
                <p:spPr bwMode="auto">
                  <a:xfrm>
                    <a:off x="1156" y="2115"/>
                    <a:ext cx="363" cy="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0" lang="en-US" altLang="zh-CN" sz="1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f</a:t>
                    </a:r>
                    <a:endParaRPr kumimoji="0" lang="en-US" altLang="zh-CN"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17" name="AutoShape 14"/>
                <p:cNvSpPr/>
                <p:nvPr/>
              </p:nvSpPr>
              <p:spPr bwMode="auto">
                <a:xfrm>
                  <a:off x="1746" y="709"/>
                  <a:ext cx="181" cy="498"/>
                </a:xfrm>
                <a:prstGeom prst="leftBrace">
                  <a:avLst>
                    <a:gd name="adj1" fmla="val 22928"/>
                    <a:gd name="adj2" fmla="val 50000"/>
                  </a:avLst>
                </a:prstGeom>
                <a:noFill/>
                <a:ln w="38100">
                  <a:solidFill>
                    <a:srgbClr val="FF0000"/>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AutoShape 15"/>
                <p:cNvSpPr/>
                <p:nvPr/>
              </p:nvSpPr>
              <p:spPr bwMode="auto">
                <a:xfrm>
                  <a:off x="1701" y="1253"/>
                  <a:ext cx="226" cy="952"/>
                </a:xfrm>
                <a:prstGeom prst="leftBrace">
                  <a:avLst>
                    <a:gd name="adj1" fmla="val 35103"/>
                    <a:gd name="adj2" fmla="val 50000"/>
                  </a:avLst>
                </a:prstGeom>
                <a:noFill/>
                <a:ln w="38100">
                  <a:solidFill>
                    <a:srgbClr val="FF0000"/>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AutoShape 16"/>
                <p:cNvSpPr/>
                <p:nvPr/>
              </p:nvSpPr>
              <p:spPr bwMode="auto">
                <a:xfrm>
                  <a:off x="1746" y="2251"/>
                  <a:ext cx="226" cy="272"/>
                </a:xfrm>
                <a:prstGeom prst="leftBrace">
                  <a:avLst>
                    <a:gd name="adj1" fmla="val 10029"/>
                    <a:gd name="adj2" fmla="val 50000"/>
                  </a:avLst>
                </a:prstGeom>
                <a:noFill/>
                <a:ln w="38100">
                  <a:solidFill>
                    <a:srgbClr val="FF0000"/>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sp>
          <p:nvSpPr>
            <p:cNvPr id="11" name="Text Box 17"/>
            <p:cNvSpPr txBox="1">
              <a:spLocks noChangeArrowheads="1"/>
            </p:cNvSpPr>
            <p:nvPr/>
          </p:nvSpPr>
          <p:spPr bwMode="auto">
            <a:xfrm>
              <a:off x="1292" y="890"/>
              <a:ext cx="589" cy="2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高温</a:t>
              </a: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Text Box 18"/>
            <p:cNvSpPr txBox="1">
              <a:spLocks noChangeArrowheads="1"/>
            </p:cNvSpPr>
            <p:nvPr/>
          </p:nvSpPr>
          <p:spPr bwMode="auto">
            <a:xfrm>
              <a:off x="1292" y="1616"/>
              <a:ext cx="499" cy="2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中温</a:t>
              </a: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Text Box 19"/>
            <p:cNvSpPr txBox="1">
              <a:spLocks noChangeArrowheads="1"/>
            </p:cNvSpPr>
            <p:nvPr/>
          </p:nvSpPr>
          <p:spPr bwMode="auto">
            <a:xfrm>
              <a:off x="1292" y="2296"/>
              <a:ext cx="544" cy="2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低温</a:t>
              </a: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4" name="矩形 3"/>
          <p:cNvSpPr/>
          <p:nvPr/>
        </p:nvSpPr>
        <p:spPr bwMode="auto">
          <a:xfrm>
            <a:off x="259955" y="1677206"/>
            <a:ext cx="3860000" cy="4702892"/>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2800" dirty="0">
                <a:solidFill>
                  <a:srgbClr val="FF0000"/>
                </a:solidFill>
                <a:latin typeface="Arial" panose="020B0604020202020204" pitchFamily="34" charset="0"/>
                <a:ea typeface="宋体" panose="02010600030101010101" pitchFamily="2" charset="-122"/>
              </a:rPr>
              <a:t>研究贝氏体转变的意义：</a:t>
            </a:r>
            <a:endParaRPr lang="en-US" altLang="zh-CN" sz="2800" dirty="0">
              <a:solidFill>
                <a:srgbClr val="FF0000"/>
              </a:solidFill>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贝氏体转变是中温转变。</a:t>
            </a:r>
            <a:endParaRPr kumimoji="0" lang="en-US" altLang="zh-CN" sz="24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2400" dirty="0">
                <a:solidFill>
                  <a:schemeClr val="tx1">
                    <a:lumMod val="50000"/>
                  </a:schemeClr>
                </a:solidFill>
                <a:latin typeface="Arial" panose="020B0604020202020204" pitchFamily="34" charset="0"/>
                <a:ea typeface="宋体" panose="02010600030101010101" pitchFamily="2" charset="-122"/>
              </a:rPr>
              <a:t>优点：</a:t>
            </a:r>
            <a:endParaRPr lang="en-US" altLang="zh-CN" sz="2400" dirty="0">
              <a:solidFill>
                <a:schemeClr val="tx1">
                  <a:lumMod val="50000"/>
                </a:schemeClr>
              </a:solidFill>
              <a:latin typeface="Arial" panose="020B0604020202020204" pitchFamily="34" charset="0"/>
              <a:ea typeface="宋体" panose="02010600030101010101" pitchFamily="2" charset="-122"/>
            </a:endParaRPr>
          </a:p>
          <a:p>
            <a:pPr marL="285750" marR="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pPr>
            <a:r>
              <a:rPr kumimoji="0" lang="zh-CN" altLang="en-US"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使钢得到良好的综合机械性能；</a:t>
            </a:r>
            <a:endParaRPr kumimoji="0" lang="en-US" altLang="zh-CN"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endParaRPr>
          </a:p>
          <a:p>
            <a:pPr marL="285750" marR="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pPr>
            <a:r>
              <a:rPr lang="zh-CN" altLang="en-US" sz="2800" dirty="0">
                <a:solidFill>
                  <a:schemeClr val="tx1">
                    <a:lumMod val="50000"/>
                  </a:schemeClr>
                </a:solidFill>
                <a:latin typeface="Arial" panose="020B0604020202020204" pitchFamily="34" charset="0"/>
                <a:ea typeface="宋体" panose="02010600030101010101" pitchFamily="2" charset="-122"/>
              </a:rPr>
              <a:t>减少像一般淬火产生的变形和开裂倾向。</a:t>
            </a:r>
            <a:endParaRPr lang="en-US" altLang="zh-CN" sz="2800" dirty="0">
              <a:solidFill>
                <a:schemeClr val="tx1">
                  <a:lumMod val="50000"/>
                </a:schemeClr>
              </a:solidFill>
              <a:latin typeface="Arial" panose="020B0604020202020204" pitchFamily="34" charset="0"/>
              <a:ea typeface="宋体" panose="02010600030101010101" pitchFamily="2" charset="-122"/>
            </a:endParaRPr>
          </a:p>
          <a:p>
            <a:pPr marR="0" algn="l" defTabSz="914400" rtl="0" eaLnBrk="1" fontAlgn="base" latinLnBrk="0" hangingPunct="1">
              <a:lnSpc>
                <a:spcPct val="100000"/>
              </a:lnSpc>
              <a:spcBef>
                <a:spcPct val="0"/>
              </a:spcBef>
              <a:spcAft>
                <a:spcPct val="0"/>
              </a:spcAft>
              <a:buClrTx/>
              <a:buSzTx/>
            </a:pPr>
            <a:r>
              <a:rPr kumimoji="0" lang="zh-CN" altLang="en-US"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因此，研究贝氏体转变及其应用，对于改善钢的强韧性，具有重要的意义。</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636" y="1945322"/>
            <a:ext cx="9144635" cy="491267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285750" marR="0" lvl="0" indent="-285750" algn="l" defTabSz="914400" rtl="0" eaLnBrk="1" fontAlgn="base" latinLnBrk="0" hangingPunct="1">
              <a:lnSpc>
                <a:spcPct val="150000"/>
              </a:lnSpc>
              <a:spcBef>
                <a:spcPts val="600"/>
              </a:spcBef>
              <a:spcAft>
                <a:spcPts val="600"/>
              </a:spcAft>
              <a:buClrTx/>
              <a:buSzTx/>
              <a:buFont typeface="Wingdings" panose="05000000000000000000" pitchFamily="2" charset="2"/>
              <a:buChar char="Ø"/>
              <a:defRPr/>
            </a:pPr>
            <a:r>
              <a:rPr lang="zh-CN" altLang="en-US" sz="2600" dirty="0">
                <a:solidFill>
                  <a:srgbClr val="060606"/>
                </a:solidFill>
                <a:latin typeface="Arial" panose="020B0604020202020204" pitchFamily="34" charset="0"/>
                <a:ea typeface="宋体" panose="02010600030101010101" pitchFamily="2" charset="-122"/>
              </a:rPr>
              <a:t>贝氏体转变是介于珠光体转变和马氏体转变之间的一种转变，又称为中温转变。其转变</a:t>
            </a:r>
            <a:r>
              <a:rPr lang="zh-CN" altLang="en-US" sz="2600" dirty="0">
                <a:solidFill>
                  <a:srgbClr val="FF0000"/>
                </a:solidFill>
                <a:latin typeface="Arial" panose="020B0604020202020204" pitchFamily="34" charset="0"/>
                <a:ea typeface="宋体" panose="02010600030101010101" pitchFamily="2" charset="-122"/>
              </a:rPr>
              <a:t>既有珠光体转变特征又有马氏体转变特征</a:t>
            </a:r>
            <a:r>
              <a:rPr lang="zh-CN" altLang="en-US" sz="2600" dirty="0">
                <a:solidFill>
                  <a:schemeClr val="tx1">
                    <a:lumMod val="50000"/>
                  </a:schemeClr>
                </a:solidFill>
                <a:latin typeface="Arial" panose="020B0604020202020204" pitchFamily="34" charset="0"/>
                <a:ea typeface="宋体" panose="02010600030101010101" pitchFamily="2" charset="-122"/>
              </a:rPr>
              <a:t>；</a:t>
            </a:r>
            <a:endParaRPr lang="en-US" altLang="zh-CN" sz="2600" dirty="0">
              <a:solidFill>
                <a:schemeClr val="tx1">
                  <a:lumMod val="50000"/>
                </a:schemeClr>
              </a:solidFill>
              <a:latin typeface="Arial" panose="020B0604020202020204" pitchFamily="34" charset="0"/>
              <a:ea typeface="宋体" panose="02010600030101010101" pitchFamily="2" charset="-122"/>
            </a:endParaRPr>
          </a:p>
          <a:p>
            <a:pPr marL="285750" marR="0" lvl="0" indent="-285750" algn="l" defTabSz="914400" rtl="0" eaLnBrk="1" fontAlgn="base" latinLnBrk="0" hangingPunct="1">
              <a:lnSpc>
                <a:spcPct val="150000"/>
              </a:lnSpc>
              <a:spcBef>
                <a:spcPts val="600"/>
              </a:spcBef>
              <a:spcAft>
                <a:spcPts val="600"/>
              </a:spcAft>
              <a:buClrTx/>
              <a:buSzTx/>
              <a:buFont typeface="Wingdings" panose="05000000000000000000" pitchFamily="2" charset="2"/>
              <a:buChar char="Ø"/>
              <a:defRPr/>
            </a:pPr>
            <a:r>
              <a:rPr lang="zh-CN" altLang="en-US" sz="2600" dirty="0">
                <a:solidFill>
                  <a:srgbClr val="060606"/>
                </a:solidFill>
                <a:latin typeface="Arial" panose="020B0604020202020204" pitchFamily="34" charset="0"/>
                <a:ea typeface="宋体" panose="02010600030101010101" pitchFamily="2" charset="-122"/>
              </a:rPr>
              <a:t>在贝氏体转变温度条件下，</a:t>
            </a:r>
            <a:r>
              <a:rPr kumimoji="0" lang="zh-CN" altLang="en-US" sz="26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铁原子不能扩散</a:t>
            </a:r>
            <a:r>
              <a:rPr kumimoji="0" lang="zh-CN" altLang="en-US" sz="26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a:t>
            </a:r>
            <a:r>
              <a:rPr lang="zh-CN" altLang="en-US" sz="2600" dirty="0">
                <a:solidFill>
                  <a:srgbClr val="060606"/>
                </a:solidFill>
                <a:latin typeface="Arial" panose="020B0604020202020204" pitchFamily="34" charset="0"/>
                <a:ea typeface="宋体" panose="02010600030101010101" pitchFamily="2" charset="-122"/>
              </a:rPr>
              <a:t>铁原子的结构变化靠共格切变来完成，这一点与马氏体转变类似；</a:t>
            </a:r>
            <a:endParaRPr lang="en-US" altLang="zh-CN" sz="2600" dirty="0">
              <a:solidFill>
                <a:srgbClr val="060606"/>
              </a:solidFill>
              <a:latin typeface="Arial" panose="020B0604020202020204" pitchFamily="34" charset="0"/>
              <a:ea typeface="宋体" panose="02010600030101010101" pitchFamily="2" charset="-122"/>
            </a:endParaRPr>
          </a:p>
          <a:p>
            <a:pPr marL="285750" marR="0" lvl="0" indent="-285750" algn="l" defTabSz="914400" rtl="0" eaLnBrk="1" fontAlgn="base" latinLnBrk="0" hangingPunct="1">
              <a:lnSpc>
                <a:spcPct val="150000"/>
              </a:lnSpc>
              <a:spcBef>
                <a:spcPts val="600"/>
              </a:spcBef>
              <a:spcAft>
                <a:spcPts val="600"/>
              </a:spcAft>
              <a:buClrTx/>
              <a:buSzTx/>
              <a:buFont typeface="Wingdings" panose="05000000000000000000" pitchFamily="2" charset="2"/>
              <a:buChar char="Ø"/>
              <a:defRPr/>
            </a:pPr>
            <a:r>
              <a:rPr lang="zh-CN" altLang="en-US" sz="2600" dirty="0">
                <a:solidFill>
                  <a:srgbClr val="060606"/>
                </a:solidFill>
                <a:latin typeface="Arial" panose="020B0604020202020204" pitchFamily="34" charset="0"/>
                <a:ea typeface="宋体" panose="02010600030101010101" pitchFamily="2" charset="-122"/>
              </a:rPr>
              <a:t>贝氏体转变过程中，</a:t>
            </a:r>
            <a:r>
              <a:rPr lang="zh-CN" altLang="en-US" sz="2600" dirty="0">
                <a:solidFill>
                  <a:srgbClr val="FF0000"/>
                </a:solidFill>
                <a:latin typeface="Arial" panose="020B0604020202020204" pitchFamily="34" charset="0"/>
                <a:ea typeface="宋体" panose="02010600030101010101" pitchFamily="2" charset="-122"/>
              </a:rPr>
              <a:t>碳原子扩散</a:t>
            </a:r>
            <a:r>
              <a:rPr lang="zh-CN" altLang="en-US" sz="2600" dirty="0">
                <a:solidFill>
                  <a:srgbClr val="060606"/>
                </a:solidFill>
                <a:latin typeface="Arial" panose="020B0604020202020204" pitchFamily="34" charset="0"/>
                <a:ea typeface="宋体" panose="02010600030101010101" pitchFamily="2" charset="-122"/>
              </a:rPr>
              <a:t>并产生碳化物析出，这一点类似于珠光体转变</a:t>
            </a:r>
            <a:r>
              <a:rPr lang="zh-CN" altLang="en-US" sz="2600" dirty="0" smtClean="0">
                <a:solidFill>
                  <a:srgbClr val="060606"/>
                </a:solidFill>
                <a:latin typeface="Arial" panose="020B0604020202020204" pitchFamily="34" charset="0"/>
                <a:ea typeface="宋体" panose="02010600030101010101" pitchFamily="2" charset="-122"/>
              </a:rPr>
              <a:t>。</a:t>
            </a:r>
            <a:endParaRPr lang="zh-CN" altLang="en-US" sz="2600" dirty="0">
              <a:solidFill>
                <a:srgbClr val="060606"/>
              </a:solidFill>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贝氏体的转变特征与组织形态</a:t>
            </a:r>
            <a:endParaRPr kumimoji="0" lang="zh-CN" altLang="en-US" sz="28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10" name="矩形 9"/>
          <p:cNvSpPr/>
          <p:nvPr/>
        </p:nvSpPr>
        <p:spPr bwMode="auto">
          <a:xfrm>
            <a:off x="-635" y="1354455"/>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贝氏体转变</a:t>
            </a:r>
            <a:r>
              <a:rPr kumimoji="1" lang="zh-CN" altLang="en-US" sz="2800" b="1" dirty="0">
                <a:solidFill>
                  <a:srgbClr val="0070C0"/>
                </a:solidFill>
                <a:latin typeface="Times New Roman" panose="02020603050405020304" pitchFamily="18" charset="0"/>
                <a:ea typeface="宋体" panose="02010600030101010101" pitchFamily="2" charset="-122"/>
              </a:rPr>
              <a:t>与珠光体、马氏体转变的比较</a:t>
            </a:r>
            <a:endParaRPr kumimoji="0" lang="zh-CN" altLang="en-US" sz="2800" b="0"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p:txBody>
      </p:sp>
      <p:sp>
        <p:nvSpPr>
          <p:cNvPr id="6" name="矩形 5"/>
          <p:cNvSpPr/>
          <p:nvPr/>
        </p:nvSpPr>
        <p:spPr bwMode="auto">
          <a:xfrm>
            <a:off x="0" y="1902460"/>
            <a:ext cx="9142729" cy="499840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636" y="1945322"/>
            <a:ext cx="9144635" cy="491267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285750" marR="0" lvl="0" indent="-285750" algn="l" defTabSz="914400" rtl="0" eaLnBrk="1" fontAlgn="base" latinLnBrk="0" hangingPunct="1">
              <a:lnSpc>
                <a:spcPct val="150000"/>
              </a:lnSpc>
              <a:spcBef>
                <a:spcPts val="1800"/>
              </a:spcBef>
              <a:spcAft>
                <a:spcPts val="1800"/>
              </a:spcAft>
              <a:buClrTx/>
              <a:buSzTx/>
              <a:buFont typeface="Wingdings" panose="05000000000000000000" pitchFamily="2" charset="2"/>
              <a:buChar char="Ø"/>
              <a:defRPr/>
            </a:pPr>
            <a:r>
              <a:rPr lang="zh-CN" altLang="en-US" sz="2600" dirty="0">
                <a:solidFill>
                  <a:srgbClr val="0A0A0A"/>
                </a:solidFill>
                <a:latin typeface="Arial" panose="020B0604020202020204" pitchFamily="34" charset="0"/>
                <a:ea typeface="宋体" panose="02010600030101010101" pitchFamily="2" charset="-122"/>
              </a:rPr>
              <a:t>贝氏体转变需要一定的</a:t>
            </a:r>
            <a:r>
              <a:rPr lang="zh-CN" altLang="en-US" sz="2600" dirty="0">
                <a:solidFill>
                  <a:srgbClr val="FF0000"/>
                </a:solidFill>
                <a:latin typeface="Arial" panose="020B0604020202020204" pitchFamily="34" charset="0"/>
                <a:ea typeface="宋体" panose="02010600030101010101" pitchFamily="2" charset="-122"/>
              </a:rPr>
              <a:t>孕育期</a:t>
            </a:r>
            <a:r>
              <a:rPr lang="zh-CN" altLang="en-US" sz="2600" dirty="0">
                <a:solidFill>
                  <a:schemeClr val="tx1">
                    <a:lumMod val="50000"/>
                  </a:schemeClr>
                </a:solidFill>
                <a:latin typeface="Arial" panose="020B0604020202020204" pitchFamily="34" charset="0"/>
                <a:ea typeface="宋体" panose="02010600030101010101" pitchFamily="2" charset="-122"/>
              </a:rPr>
              <a:t>，</a:t>
            </a:r>
            <a:r>
              <a:rPr lang="zh-CN" altLang="en-US" sz="2600" dirty="0">
                <a:solidFill>
                  <a:srgbClr val="0A0A0A"/>
                </a:solidFill>
                <a:latin typeface="Arial" panose="020B0604020202020204" pitchFamily="34" charset="0"/>
                <a:ea typeface="宋体" panose="02010600030101010101" pitchFamily="2" charset="-122"/>
              </a:rPr>
              <a:t>可以等温形成，也可以连续冷却转变；</a:t>
            </a:r>
            <a:endParaRPr lang="en-US" altLang="zh-CN" sz="2600" dirty="0">
              <a:solidFill>
                <a:srgbClr val="0A0A0A"/>
              </a:solidFill>
              <a:latin typeface="Arial" panose="020B0604020202020204" pitchFamily="34" charset="0"/>
              <a:ea typeface="宋体" panose="02010600030101010101" pitchFamily="2" charset="-122"/>
            </a:endParaRPr>
          </a:p>
          <a:p>
            <a:pPr marL="285750" marR="0" lvl="0" indent="-285750" algn="l" defTabSz="914400" rtl="0" eaLnBrk="1" fontAlgn="base" latinLnBrk="0" hangingPunct="1">
              <a:lnSpc>
                <a:spcPct val="150000"/>
              </a:lnSpc>
              <a:spcBef>
                <a:spcPts val="1800"/>
              </a:spcBef>
              <a:spcAft>
                <a:spcPts val="1800"/>
              </a:spcAft>
              <a:buClrTx/>
              <a:buSzTx/>
              <a:buFont typeface="Wingdings" panose="05000000000000000000" pitchFamily="2" charset="2"/>
              <a:buChar char="Ø"/>
              <a:defRPr/>
            </a:pPr>
            <a:r>
              <a:rPr kumimoji="0" lang="zh-CN" altLang="en-US" sz="2600" b="0" i="0" u="none" strike="noStrike" kern="1200" cap="none" spc="0" normalizeH="0" baseline="0" noProof="0" dirty="0">
                <a:ln>
                  <a:noFill/>
                </a:ln>
                <a:solidFill>
                  <a:srgbClr val="0A0A0A"/>
                </a:solidFill>
                <a:effectLst/>
                <a:uLnTx/>
                <a:uFillTx/>
                <a:latin typeface="Arial" panose="020B0604020202020204" pitchFamily="34" charset="0"/>
                <a:ea typeface="宋体" panose="02010600030101010101" pitchFamily="2" charset="-122"/>
                <a:cs typeface="+mn-cs"/>
              </a:rPr>
              <a:t>贝氏体转变是形核与长大过程；</a:t>
            </a:r>
            <a:r>
              <a:rPr kumimoji="0" lang="zh-CN" altLang="en-US" sz="26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铁素体按共格切变</a:t>
            </a:r>
            <a:r>
              <a:rPr kumimoji="0" lang="zh-CN" altLang="en-US" sz="2600" b="0" i="0" u="none" strike="noStrike" kern="1200" cap="none" spc="0" normalizeH="0" baseline="0" noProof="0" dirty="0">
                <a:ln>
                  <a:noFill/>
                </a:ln>
                <a:solidFill>
                  <a:srgbClr val="0A0A0A"/>
                </a:solidFill>
                <a:effectLst/>
                <a:uLnTx/>
                <a:uFillTx/>
                <a:latin typeface="Arial" panose="020B0604020202020204" pitchFamily="34" charset="0"/>
                <a:ea typeface="宋体" panose="02010600030101010101" pitchFamily="2" charset="-122"/>
                <a:cs typeface="+mn-cs"/>
              </a:rPr>
              <a:t>方式长大，产生表面浮凸；碳原子可以扩散，铁素体长大速度受碳扩散控制，速度较慢；</a:t>
            </a:r>
            <a:endParaRPr kumimoji="0" lang="en-US" altLang="zh-CN" sz="2600" b="0" i="0" u="none" strike="noStrike" kern="1200" cap="none" spc="0" normalizeH="0" baseline="0" noProof="0" dirty="0">
              <a:ln>
                <a:noFill/>
              </a:ln>
              <a:solidFill>
                <a:srgbClr val="0A0A0A"/>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ts val="1800"/>
              </a:spcBef>
              <a:spcAft>
                <a:spcPts val="1800"/>
              </a:spcAft>
              <a:buClrTx/>
              <a:buSzTx/>
              <a:buFont typeface="Wingdings" panose="05000000000000000000" pitchFamily="2" charset="2"/>
              <a:buChar char="Ø"/>
              <a:defRPr/>
            </a:pPr>
            <a:r>
              <a:rPr lang="zh-CN" altLang="en-US" sz="2600" dirty="0">
                <a:solidFill>
                  <a:srgbClr val="0A0A0A"/>
                </a:solidFill>
                <a:latin typeface="Arial" panose="020B0604020202020204" pitchFamily="34" charset="0"/>
                <a:ea typeface="宋体" panose="02010600030101010101" pitchFamily="2" charset="-122"/>
              </a:rPr>
              <a:t>贝氏体转变有上限温度</a:t>
            </a:r>
            <a:r>
              <a:rPr lang="zh-CN" altLang="en-US" sz="2600" dirty="0">
                <a:solidFill>
                  <a:srgbClr val="FF0000"/>
                </a:solidFill>
                <a:latin typeface="Arial" panose="020B0604020202020204" pitchFamily="34" charset="0"/>
                <a:ea typeface="宋体" panose="02010600030101010101" pitchFamily="2" charset="-122"/>
              </a:rPr>
              <a:t>（</a:t>
            </a:r>
            <a:r>
              <a:rPr lang="en-US" altLang="zh-CN" sz="2600" dirty="0">
                <a:solidFill>
                  <a:srgbClr val="FF0000"/>
                </a:solidFill>
                <a:latin typeface="Arial" panose="020B0604020202020204" pitchFamily="34" charset="0"/>
                <a:ea typeface="宋体" panose="02010600030101010101" pitchFamily="2" charset="-122"/>
              </a:rPr>
              <a:t>B</a:t>
            </a:r>
            <a:r>
              <a:rPr lang="en-US" altLang="zh-CN" sz="2600" baseline="-25000" dirty="0">
                <a:solidFill>
                  <a:srgbClr val="FF0000"/>
                </a:solidFill>
                <a:latin typeface="Arial" panose="020B0604020202020204" pitchFamily="34" charset="0"/>
                <a:ea typeface="宋体" panose="02010600030101010101" pitchFamily="2" charset="-122"/>
              </a:rPr>
              <a:t>S</a:t>
            </a:r>
            <a:r>
              <a:rPr lang="zh-CN" altLang="en-US" sz="2600" dirty="0">
                <a:solidFill>
                  <a:srgbClr val="FF0000"/>
                </a:solidFill>
                <a:latin typeface="Arial" panose="020B0604020202020204" pitchFamily="34" charset="0"/>
                <a:ea typeface="宋体" panose="02010600030101010101" pitchFamily="2" charset="-122"/>
              </a:rPr>
              <a:t>）</a:t>
            </a:r>
            <a:r>
              <a:rPr lang="zh-CN" altLang="en-US" sz="2600" dirty="0">
                <a:solidFill>
                  <a:srgbClr val="0A0A0A"/>
                </a:solidFill>
                <a:latin typeface="Arial" panose="020B0604020202020204" pitchFamily="34" charset="0"/>
                <a:ea typeface="宋体" panose="02010600030101010101" pitchFamily="2" charset="-122"/>
              </a:rPr>
              <a:t>和下限温度</a:t>
            </a:r>
            <a:r>
              <a:rPr lang="zh-CN" altLang="en-US" sz="2600" dirty="0">
                <a:solidFill>
                  <a:srgbClr val="FF0000"/>
                </a:solidFill>
                <a:latin typeface="Arial" panose="020B0604020202020204" pitchFamily="34" charset="0"/>
                <a:ea typeface="宋体" panose="02010600030101010101" pitchFamily="2" charset="-122"/>
              </a:rPr>
              <a:t>（</a:t>
            </a:r>
            <a:r>
              <a:rPr lang="en-US" altLang="zh-CN" sz="2600" dirty="0">
                <a:solidFill>
                  <a:srgbClr val="FF0000"/>
                </a:solidFill>
                <a:latin typeface="Arial" panose="020B0604020202020204" pitchFamily="34" charset="0"/>
                <a:ea typeface="宋体" panose="02010600030101010101" pitchFamily="2" charset="-122"/>
              </a:rPr>
              <a:t>B</a:t>
            </a:r>
            <a:r>
              <a:rPr lang="en-US" altLang="zh-CN" sz="2600" baseline="-25000" dirty="0">
                <a:solidFill>
                  <a:srgbClr val="FF0000"/>
                </a:solidFill>
                <a:latin typeface="Arial" panose="020B0604020202020204" pitchFamily="34" charset="0"/>
                <a:ea typeface="宋体" panose="02010600030101010101" pitchFamily="2" charset="-122"/>
              </a:rPr>
              <a:t>f</a:t>
            </a:r>
            <a:r>
              <a:rPr lang="zh-CN" altLang="en-US" sz="2600" dirty="0">
                <a:solidFill>
                  <a:srgbClr val="FF0000"/>
                </a:solidFill>
                <a:latin typeface="Arial" panose="020B0604020202020204" pitchFamily="34" charset="0"/>
                <a:ea typeface="宋体" panose="02010600030101010101" pitchFamily="2" charset="-122"/>
              </a:rPr>
              <a:t>）</a:t>
            </a:r>
            <a:r>
              <a:rPr lang="zh-CN" altLang="en-US" sz="2600" dirty="0">
                <a:solidFill>
                  <a:schemeClr val="tx1">
                    <a:lumMod val="50000"/>
                  </a:schemeClr>
                </a:solidFill>
                <a:latin typeface="Arial" panose="020B0604020202020204" pitchFamily="34" charset="0"/>
                <a:ea typeface="宋体" panose="02010600030101010101" pitchFamily="2" charset="-122"/>
              </a:rPr>
              <a:t>；</a:t>
            </a:r>
            <a:endParaRPr lang="en-US" altLang="zh-CN" sz="2600" dirty="0">
              <a:solidFill>
                <a:schemeClr val="tx1">
                  <a:lumMod val="50000"/>
                </a:schemeClr>
              </a:solidFill>
              <a:latin typeface="Arial" panose="020B0604020202020204" pitchFamily="34" charset="0"/>
              <a:ea typeface="宋体" panose="02010600030101010101" pitchFamily="2" charset="-122"/>
            </a:endParaRPr>
          </a:p>
          <a:p>
            <a:pPr marR="0" lvl="0" algn="l" defTabSz="914400" rtl="0" eaLnBrk="1" fontAlgn="base" latinLnBrk="0" hangingPunct="1">
              <a:lnSpc>
                <a:spcPct val="150000"/>
              </a:lnSpc>
              <a:spcBef>
                <a:spcPts val="600"/>
              </a:spcBef>
              <a:spcAft>
                <a:spcPts val="600"/>
              </a:spcAft>
              <a:buClrTx/>
              <a:buSzTx/>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贝氏体的转变特征与组织形态</a:t>
            </a:r>
            <a:endParaRPr kumimoji="0" lang="zh-CN" altLang="en-US" sz="28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10" name="矩形 9"/>
          <p:cNvSpPr/>
          <p:nvPr/>
        </p:nvSpPr>
        <p:spPr bwMode="auto">
          <a:xfrm>
            <a:off x="-635" y="1354455"/>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贝氏体转变的基本特征</a:t>
            </a:r>
            <a:endParaRPr kumimoji="0" lang="zh-CN" altLang="en-US" sz="2800" b="0"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p:txBody>
      </p:sp>
      <p:sp>
        <p:nvSpPr>
          <p:cNvPr id="6" name="矩形 5"/>
          <p:cNvSpPr/>
          <p:nvPr/>
        </p:nvSpPr>
        <p:spPr bwMode="auto">
          <a:xfrm>
            <a:off x="0" y="1902460"/>
            <a:ext cx="9142729" cy="499840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636" y="1945322"/>
            <a:ext cx="9153025" cy="495042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285750" marR="0" lvl="0" indent="-285750" algn="l" defTabSz="914400" rtl="0" eaLnBrk="1" fontAlgn="base" latinLnBrk="0" hangingPunct="1">
              <a:lnSpc>
                <a:spcPct val="150000"/>
              </a:lnSpc>
              <a:spcBef>
                <a:spcPts val="600"/>
              </a:spcBef>
              <a:spcAft>
                <a:spcPts val="600"/>
              </a:spcAft>
              <a:buClrTx/>
              <a:buSzTx/>
              <a:buFont typeface="Wingdings" panose="05000000000000000000" pitchFamily="2" charset="2"/>
              <a:buChar char="Ø"/>
              <a:defRPr/>
            </a:pPr>
            <a:r>
              <a:rPr kumimoji="0" lang="zh-CN" altLang="en-US" sz="25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较高温度</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形成的贝氏体中碳化物主要分布在</a:t>
            </a:r>
            <a:r>
              <a:rPr kumimoji="0" lang="zh-CN" altLang="en-US" sz="25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铁素体条之间</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a:t>
            </a:r>
            <a:r>
              <a:rPr kumimoji="0" lang="zh-CN" altLang="en-US" sz="25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较低温度</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形成的贝氏体碳化物主要分布在</a:t>
            </a:r>
            <a:r>
              <a:rPr kumimoji="0" lang="zh-CN" altLang="en-US" sz="25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铁素体内部</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。随着形成温度下降，贝氏体中碳素体的碳含量升高。</a:t>
            </a:r>
            <a:endParaRPr kumimoji="0" lang="en-US" altLang="zh-CN"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ts val="600"/>
              </a:spcBef>
              <a:spcAft>
                <a:spcPts val="600"/>
              </a:spcAft>
              <a:buClrTx/>
              <a:buSzTx/>
              <a:buFont typeface="Wingdings" panose="05000000000000000000" pitchFamily="2" charset="2"/>
              <a:buChar char="Ø"/>
              <a:defRPr/>
            </a:pPr>
            <a:r>
              <a:rPr lang="zh-CN" altLang="en-US" sz="2500" dirty="0">
                <a:solidFill>
                  <a:srgbClr val="FF0000"/>
                </a:solidFill>
                <a:latin typeface="Arial" panose="020B0604020202020204" pitchFamily="34" charset="0"/>
                <a:ea typeface="宋体" panose="02010600030101010101" pitchFamily="2" charset="-122"/>
              </a:rPr>
              <a:t>上贝氏体</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转变速度取决于碳在</a:t>
            </a:r>
            <a:r>
              <a:rPr lang="zh-CN" altLang="en-US" sz="2500" dirty="0">
                <a:solidFill>
                  <a:srgbClr val="FF0000"/>
                </a:solidFill>
                <a:latin typeface="Arial" panose="020B0604020202020204" pitchFamily="34" charset="0"/>
                <a:ea typeface="宋体" panose="02010600030101010101" pitchFamily="2" charset="-122"/>
              </a:rPr>
              <a:t>奥氏体</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中的扩散速度，</a:t>
            </a:r>
            <a:r>
              <a:rPr kumimoji="0" lang="zh-CN" altLang="en-US" sz="25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下贝氏体</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转变速度取决于碳在</a:t>
            </a:r>
            <a:r>
              <a:rPr lang="zh-CN" altLang="en-US" sz="2500" dirty="0">
                <a:solidFill>
                  <a:srgbClr val="FF0000"/>
                </a:solidFill>
                <a:latin typeface="Arial" panose="020B0604020202020204" pitchFamily="34" charset="0"/>
                <a:ea typeface="宋体" panose="02010600030101010101" pitchFamily="2" charset="-122"/>
              </a:rPr>
              <a:t>铁素体</a:t>
            </a:r>
            <a:r>
              <a:rPr kumimoji="0" lang="zh-CN" altLang="en-US"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rPr>
              <a:t>中的扩散速度；</a:t>
            </a:r>
            <a:endParaRPr kumimoji="0" lang="en-US" altLang="zh-CN"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ts val="600"/>
              </a:spcBef>
              <a:spcAft>
                <a:spcPts val="600"/>
              </a:spcAft>
              <a:buClrTx/>
              <a:buSzTx/>
              <a:buFont typeface="Wingdings" panose="05000000000000000000" pitchFamily="2" charset="2"/>
              <a:buChar char="Ø"/>
              <a:defRPr/>
            </a:pPr>
            <a:r>
              <a:rPr lang="zh-CN" altLang="en-US" sz="2500" dirty="0">
                <a:solidFill>
                  <a:schemeClr val="tx1">
                    <a:lumMod val="50000"/>
                  </a:schemeClr>
                </a:solidFill>
                <a:latin typeface="Arial" panose="020B0604020202020204" pitchFamily="34" charset="0"/>
                <a:ea typeface="宋体" panose="02010600030101010101" pitchFamily="2" charset="-122"/>
              </a:rPr>
              <a:t>上贝氏体中铁素体的惯习面是（</a:t>
            </a:r>
            <a:r>
              <a:rPr lang="en-US" altLang="zh-CN" sz="2500" dirty="0">
                <a:solidFill>
                  <a:schemeClr val="tx1">
                    <a:lumMod val="50000"/>
                  </a:schemeClr>
                </a:solidFill>
                <a:latin typeface="Arial" panose="020B0604020202020204" pitchFamily="34" charset="0"/>
                <a:ea typeface="宋体" panose="02010600030101010101" pitchFamily="2" charset="-122"/>
              </a:rPr>
              <a:t>1 1 1</a:t>
            </a:r>
            <a:r>
              <a:rPr lang="zh-CN" altLang="en-US" sz="2500" dirty="0">
                <a:solidFill>
                  <a:schemeClr val="tx1">
                    <a:lumMod val="50000"/>
                  </a:schemeClr>
                </a:solidFill>
                <a:latin typeface="Arial" panose="020B0604020202020204" pitchFamily="34" charset="0"/>
                <a:ea typeface="宋体" panose="02010600030101010101" pitchFamily="2" charset="-122"/>
              </a:rPr>
              <a:t>）</a:t>
            </a:r>
            <a:r>
              <a:rPr lang="el-GR" altLang="zh-CN" sz="2500" baseline="-25000" dirty="0">
                <a:solidFill>
                  <a:schemeClr val="tx1">
                    <a:lumMod val="50000"/>
                  </a:schemeClr>
                </a:solidFill>
                <a:latin typeface="Times New Roman" panose="02020603050405020304" pitchFamily="18" charset="0"/>
                <a:ea typeface="宋体" panose="02010600030101010101" pitchFamily="2" charset="-122"/>
                <a:cs typeface="Times New Roman" panose="02020603050405020304" pitchFamily="18" charset="0"/>
              </a:rPr>
              <a:t>γ</a:t>
            </a:r>
            <a:r>
              <a:rPr lang="zh-CN" altLang="en-US" sz="2500" dirty="0">
                <a:solidFill>
                  <a:schemeClr val="tx1">
                    <a:lumMod val="50000"/>
                  </a:schemeClr>
                </a:solidFill>
                <a:latin typeface="Times New Roman" panose="02020603050405020304" pitchFamily="18" charset="0"/>
                <a:ea typeface="宋体" panose="02010600030101010101" pitchFamily="2" charset="-122"/>
                <a:cs typeface="Times New Roman" panose="02020603050405020304" pitchFamily="18" charset="0"/>
              </a:rPr>
              <a:t>；下贝氏体铁素体的惯习面是</a:t>
            </a:r>
            <a:r>
              <a:rPr lang="zh-CN" altLang="en-US" sz="2500" dirty="0">
                <a:solidFill>
                  <a:schemeClr val="tx1">
                    <a:lumMod val="50000"/>
                  </a:schemeClr>
                </a:solidFill>
                <a:latin typeface="Arial" panose="020B0604020202020204" pitchFamily="34" charset="0"/>
                <a:ea typeface="宋体" panose="02010600030101010101" pitchFamily="2" charset="-122"/>
              </a:rPr>
              <a:t>（</a:t>
            </a:r>
            <a:r>
              <a:rPr lang="en-US" altLang="zh-CN" sz="2500" dirty="0">
                <a:solidFill>
                  <a:schemeClr val="tx1">
                    <a:lumMod val="50000"/>
                  </a:schemeClr>
                </a:solidFill>
                <a:latin typeface="Arial" panose="020B0604020202020204" pitchFamily="34" charset="0"/>
                <a:ea typeface="宋体" panose="02010600030101010101" pitchFamily="2" charset="-122"/>
              </a:rPr>
              <a:t>2 2 5</a:t>
            </a:r>
            <a:r>
              <a:rPr lang="zh-CN" altLang="en-US" sz="2500" dirty="0">
                <a:solidFill>
                  <a:schemeClr val="tx1">
                    <a:lumMod val="50000"/>
                  </a:schemeClr>
                </a:solidFill>
                <a:latin typeface="Arial" panose="020B0604020202020204" pitchFamily="34" charset="0"/>
                <a:ea typeface="宋体" panose="02010600030101010101" pitchFamily="2" charset="-122"/>
              </a:rPr>
              <a:t>）</a:t>
            </a:r>
            <a:r>
              <a:rPr lang="el-GR" altLang="zh-CN" sz="2500" baseline="-25000" dirty="0">
                <a:solidFill>
                  <a:schemeClr val="tx1">
                    <a:lumMod val="50000"/>
                  </a:schemeClr>
                </a:solidFill>
                <a:latin typeface="Times New Roman" panose="02020603050405020304" pitchFamily="18" charset="0"/>
                <a:ea typeface="宋体" panose="02010600030101010101" pitchFamily="2" charset="-122"/>
                <a:cs typeface="Times New Roman" panose="02020603050405020304" pitchFamily="18" charset="0"/>
              </a:rPr>
              <a:t>γ</a:t>
            </a:r>
            <a:r>
              <a:rPr lang="zh-CN" altLang="en-US" sz="2500" dirty="0">
                <a:solidFill>
                  <a:schemeClr val="tx1">
                    <a:lumMod val="50000"/>
                  </a:schemeClr>
                </a:solidFill>
                <a:latin typeface="Times New Roman" panose="02020603050405020304" pitchFamily="18" charset="0"/>
                <a:ea typeface="宋体" panose="02010600030101010101" pitchFamily="2" charset="-122"/>
                <a:cs typeface="Times New Roman" panose="02020603050405020304" pitchFamily="18" charset="0"/>
              </a:rPr>
              <a:t>；贝氏体中铁素体与奥氏体之间存在</a:t>
            </a:r>
            <a:r>
              <a:rPr lang="en-US" altLang="zh-CN" sz="2500" dirty="0">
                <a:solidFill>
                  <a:srgbClr val="FF0000"/>
                </a:solidFill>
                <a:latin typeface="Arial" panose="020B0604020202020204" pitchFamily="34" charset="0"/>
                <a:ea typeface="宋体" panose="02010600030101010101" pitchFamily="2" charset="-122"/>
              </a:rPr>
              <a:t>K-S</a:t>
            </a:r>
            <a:r>
              <a:rPr lang="zh-CN" altLang="en-US" sz="2500" dirty="0">
                <a:solidFill>
                  <a:schemeClr val="tx1">
                    <a:lumMod val="50000"/>
                  </a:schemeClr>
                </a:solidFill>
                <a:latin typeface="Times New Roman" panose="02020603050405020304" pitchFamily="18" charset="0"/>
                <a:ea typeface="宋体" panose="02010600030101010101" pitchFamily="2" charset="-122"/>
                <a:cs typeface="Times New Roman" panose="02020603050405020304" pitchFamily="18" charset="0"/>
              </a:rPr>
              <a:t>位向关系。</a:t>
            </a:r>
            <a:endParaRPr kumimoji="0" lang="en-US" altLang="zh-CN" sz="2500" b="0" i="0" u="none" strike="noStrike" kern="1200" cap="none" spc="0" normalizeH="0" baseline="0" noProof="0" dirty="0">
              <a:ln>
                <a:noFill/>
              </a:ln>
              <a:solidFill>
                <a:schemeClr val="tx1">
                  <a:lumMod val="50000"/>
                </a:schemeClr>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ts val="600"/>
              </a:spcBef>
              <a:spcAft>
                <a:spcPts val="60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一</a:t>
            </a: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贝氏体的转变特征与组织形态</a:t>
            </a:r>
            <a:endParaRPr kumimoji="0" lang="zh-CN" altLang="en-US" sz="28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10" name="矩形 9"/>
          <p:cNvSpPr/>
          <p:nvPr/>
        </p:nvSpPr>
        <p:spPr bwMode="auto">
          <a:xfrm>
            <a:off x="-635" y="1354455"/>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贝氏体转变的基本特征</a:t>
            </a:r>
            <a:endParaRPr kumimoji="0" lang="zh-CN" altLang="en-US" sz="2800" b="0"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p:txBody>
      </p:sp>
      <p:sp>
        <p:nvSpPr>
          <p:cNvPr id="6" name="矩形 5"/>
          <p:cNvSpPr/>
          <p:nvPr/>
        </p:nvSpPr>
        <p:spPr bwMode="auto">
          <a:xfrm>
            <a:off x="0" y="1902460"/>
            <a:ext cx="9142729" cy="499840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44" name="矩形 1"/>
          <p:cNvSpPr>
            <a:spLocks noChangeArrowheads="1"/>
          </p:cNvSpPr>
          <p:nvPr/>
        </p:nvSpPr>
        <p:spPr bwMode="auto">
          <a:xfrm>
            <a:off x="0" y="785495"/>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第五章  贝氏体转变</a:t>
            </a: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2" name="矩形 1"/>
          <p:cNvSpPr/>
          <p:nvPr/>
        </p:nvSpPr>
        <p:spPr bwMode="auto">
          <a:xfrm>
            <a:off x="0" y="1378585"/>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p>
        </p:txBody>
      </p:sp>
      <p:sp>
        <p:nvSpPr>
          <p:cNvPr id="30725" name="Text Box 5"/>
          <p:cNvSpPr txBox="1"/>
          <p:nvPr/>
        </p:nvSpPr>
        <p:spPr>
          <a:xfrm>
            <a:off x="368300" y="2077720"/>
            <a:ext cx="8407400" cy="45231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50000"/>
              </a:lnSpc>
              <a:spcBef>
                <a:spcPct val="0"/>
              </a:spcBef>
              <a:buNone/>
            </a:pPr>
            <a:r>
              <a:rPr lang="zh-CN" altLang="en-US" sz="2400" b="1" dirty="0">
                <a:solidFill>
                  <a:srgbClr val="FF0000"/>
                </a:solidFill>
              </a:rPr>
              <a:t>贝氏体为由条片状过饱和铁素体和碳化物</a:t>
            </a:r>
            <a:r>
              <a:rPr lang="en-US" altLang="zh-CN" sz="2400" b="1" dirty="0">
                <a:solidFill>
                  <a:srgbClr val="FF0000"/>
                </a:solidFill>
              </a:rPr>
              <a:t>(</a:t>
            </a:r>
            <a:r>
              <a:rPr lang="zh-CN" altLang="en-US" sz="2400" b="1" dirty="0">
                <a:solidFill>
                  <a:srgbClr val="FF0000"/>
                </a:solidFill>
              </a:rPr>
              <a:t>有时还有残余奥氏体</a:t>
            </a:r>
            <a:r>
              <a:rPr lang="en-US" altLang="zh-CN" sz="2400" b="1" dirty="0">
                <a:solidFill>
                  <a:srgbClr val="FF0000"/>
                </a:solidFill>
              </a:rPr>
              <a:t>)</a:t>
            </a:r>
            <a:r>
              <a:rPr lang="zh-CN" altLang="en-US" sz="2400" b="1" dirty="0">
                <a:solidFill>
                  <a:srgbClr val="FF0000"/>
                </a:solidFill>
              </a:rPr>
              <a:t>组成的</a:t>
            </a:r>
            <a:r>
              <a:rPr lang="zh-CN" altLang="en-US" sz="2400" b="1" dirty="0">
                <a:solidFill>
                  <a:schemeClr val="accent2"/>
                </a:solidFill>
              </a:rPr>
              <a:t>非片层</a:t>
            </a:r>
            <a:r>
              <a:rPr lang="zh-CN" altLang="en-US" sz="2400" b="1" dirty="0">
                <a:solidFill>
                  <a:srgbClr val="FF0000"/>
                </a:solidFill>
              </a:rPr>
              <a:t>状组织</a:t>
            </a:r>
            <a:r>
              <a:rPr lang="zh-CN" altLang="en-US" sz="2400" b="1" dirty="0"/>
              <a:t>。由于贝氏体中铁素体和碳化物的形态与分布情况多变，使贝氏体显微组织呈现为多种形态。据此，通常可将其分为：</a:t>
            </a:r>
          </a:p>
          <a:p>
            <a:pPr marL="0" lvl="0" indent="0" algn="just" eaLnBrk="1" hangingPunct="1">
              <a:lnSpc>
                <a:spcPct val="150000"/>
              </a:lnSpc>
              <a:spcBef>
                <a:spcPct val="0"/>
              </a:spcBef>
              <a:buNone/>
            </a:pPr>
            <a:r>
              <a:rPr lang="zh-CN" altLang="en-US" sz="2400" b="1" dirty="0"/>
              <a:t>①上贝氏体；②下贝氏体；</a:t>
            </a:r>
            <a:r>
              <a:rPr lang="zh-CN" altLang="en-US" sz="2400" b="1" dirty="0">
                <a:latin typeface="宋体" panose="02010600030101010101" pitchFamily="2" charset="-122"/>
              </a:rPr>
              <a:t>③</a:t>
            </a:r>
            <a:r>
              <a:rPr lang="zh-CN" altLang="en-US" sz="2400" b="1" dirty="0"/>
              <a:t>无碳化物贝氏体</a:t>
            </a:r>
            <a:r>
              <a:rPr lang="en-US" altLang="zh-CN" sz="2400" b="1" dirty="0"/>
              <a:t>(Carbide-free bainite)</a:t>
            </a:r>
            <a:r>
              <a:rPr lang="zh-CN" altLang="en-US" sz="2400" b="1" dirty="0"/>
              <a:t>；④粒状贝氏体</a:t>
            </a:r>
            <a:r>
              <a:rPr lang="en-US" altLang="zh-CN" sz="2400" b="1" dirty="0"/>
              <a:t>(Granular bainite)</a:t>
            </a:r>
            <a:r>
              <a:rPr lang="zh-CN" altLang="en-US" sz="2400" b="1" dirty="0"/>
              <a:t>；⑤反常贝氏体</a:t>
            </a:r>
            <a:r>
              <a:rPr lang="en-US" altLang="zh-CN" sz="2400" b="1" dirty="0"/>
              <a:t>(Inverse bainite)</a:t>
            </a:r>
            <a:r>
              <a:rPr lang="zh-CN" altLang="en-US" sz="2400" b="1" dirty="0"/>
              <a:t>；⑥柱状贝氏体等。其中以上贝氏体、下贝氏体最为常见，粒状贝氏体次之，其余的较为少见。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checkerboard(across)">
                                      <p:cBhvr>
                                        <p:cTn id="7" dur="5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8196" name="Text Box 5"/>
          <p:cNvSpPr txBox="1"/>
          <p:nvPr/>
        </p:nvSpPr>
        <p:spPr>
          <a:xfrm>
            <a:off x="-59125" y="4069179"/>
            <a:ext cx="9141460" cy="279057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t>多在奥氏体晶界形核，自晶界的一侧或两侧向晶内生长。在光学显微镜下，可以看到成束的条状铁素体自晶界向晶内生长，形似</a:t>
            </a:r>
            <a:r>
              <a:rPr lang="zh-CN" altLang="en-US" sz="2400" b="1" dirty="0">
                <a:solidFill>
                  <a:srgbClr val="FF0000"/>
                </a:solidFill>
              </a:rPr>
              <a:t>羽毛般</a:t>
            </a:r>
            <a:r>
              <a:rPr lang="zh-CN" altLang="en-US" sz="2400" b="1" dirty="0"/>
              <a:t>，故有</a:t>
            </a:r>
            <a:r>
              <a:rPr lang="zh-CN" altLang="en-US" sz="2400" b="1" dirty="0">
                <a:solidFill>
                  <a:srgbClr val="FF0000"/>
                </a:solidFill>
              </a:rPr>
              <a:t>羽毛状贝氏体</a:t>
            </a:r>
            <a:r>
              <a:rPr lang="zh-CN" altLang="en-US" sz="2400" b="1" dirty="0"/>
              <a:t>之称，此时无法分辨其条间的渗碳体。但在电子显微镜下，可较清晰地看到上贝中的铁素体和渗碳体的形态。</a:t>
            </a:r>
          </a:p>
        </p:txBody>
      </p:sp>
      <p:sp>
        <p:nvSpPr>
          <p:cNvPr id="8197" name="Text Box 8"/>
          <p:cNvSpPr txBox="1"/>
          <p:nvPr/>
        </p:nvSpPr>
        <p:spPr>
          <a:xfrm>
            <a:off x="-73730" y="1924014"/>
            <a:ext cx="9145905" cy="112857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solidFill>
                  <a:schemeClr val="accent2"/>
                </a:solidFill>
              </a:rPr>
              <a:t>上贝氏体</a:t>
            </a:r>
            <a:r>
              <a:rPr lang="zh-CN" altLang="en-US" sz="2400" b="1" dirty="0"/>
              <a:t>是在贝氏体转变区较上部的温度范围内（中、高碳钢大约在</a:t>
            </a:r>
            <a:r>
              <a:rPr lang="en-US" altLang="zh-CN" sz="2400" b="1" dirty="0"/>
              <a:t>350</a:t>
            </a:r>
            <a:r>
              <a:rPr lang="en-US" altLang="zh-CN" sz="2400" b="1" dirty="0">
                <a:latin typeface="宋体" panose="02010600030101010101" pitchFamily="2" charset="-122"/>
                <a:ea typeface="宋体" panose="02010600030101010101" pitchFamily="2" charset="-122"/>
              </a:rPr>
              <a:t>℃</a:t>
            </a:r>
            <a:r>
              <a:rPr lang="en-US" altLang="zh-CN" sz="2400" b="1" dirty="0"/>
              <a:t>~550</a:t>
            </a:r>
            <a:r>
              <a:rPr lang="en-US" altLang="zh-CN" sz="2400" b="1" dirty="0">
                <a:latin typeface="宋体" panose="02010600030101010101" pitchFamily="2" charset="-122"/>
                <a:ea typeface="宋体" panose="02010600030101010101" pitchFamily="2" charset="-122"/>
              </a:rPr>
              <a:t>℃</a:t>
            </a:r>
            <a:r>
              <a:rPr lang="zh-CN" altLang="en-US" sz="2400" b="1" dirty="0"/>
              <a:t>）形成的。</a:t>
            </a:r>
          </a:p>
        </p:txBody>
      </p:sp>
      <p:sp>
        <p:nvSpPr>
          <p:cNvPr id="8198" name="Text Box 9"/>
          <p:cNvSpPr txBox="1"/>
          <p:nvPr/>
        </p:nvSpPr>
        <p:spPr>
          <a:xfrm>
            <a:off x="-71190" y="3011928"/>
            <a:ext cx="9143365" cy="112857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t>它是由</a:t>
            </a:r>
            <a:r>
              <a:rPr lang="zh-CN" altLang="en-US" sz="2400" b="1" dirty="0">
                <a:solidFill>
                  <a:schemeClr val="accent2"/>
                </a:solidFill>
              </a:rPr>
              <a:t>成束的、大体上平行的</a:t>
            </a:r>
            <a:r>
              <a:rPr lang="zh-CN" altLang="en-US" sz="2400" b="1" dirty="0">
                <a:solidFill>
                  <a:srgbClr val="FF0000"/>
                </a:solidFill>
              </a:rPr>
              <a:t>板条状铁素体</a:t>
            </a:r>
            <a:r>
              <a:rPr lang="zh-CN" altLang="en-US" sz="2400" b="1" dirty="0">
                <a:solidFill>
                  <a:schemeClr val="accent2"/>
                </a:solidFill>
              </a:rPr>
              <a:t>和</a:t>
            </a:r>
            <a:r>
              <a:rPr lang="zh-CN" altLang="en-US" sz="2400" b="1" dirty="0">
                <a:solidFill>
                  <a:srgbClr val="FF0000"/>
                </a:solidFill>
              </a:rPr>
              <a:t>条间呈粒状或断续条状的渗碳体</a:t>
            </a:r>
            <a:r>
              <a:rPr lang="en-US" altLang="zh-CN" sz="2400" b="1" dirty="0">
                <a:solidFill>
                  <a:schemeClr val="accent2"/>
                </a:solidFill>
              </a:rPr>
              <a:t>(</a:t>
            </a:r>
            <a:r>
              <a:rPr lang="zh-CN" altLang="en-US" sz="2400" b="1" dirty="0">
                <a:solidFill>
                  <a:schemeClr val="accent2"/>
                </a:solidFill>
              </a:rPr>
              <a:t>有时还有</a:t>
            </a:r>
            <a:r>
              <a:rPr lang="zh-CN" altLang="en-US" sz="2400" b="1" dirty="0">
                <a:solidFill>
                  <a:srgbClr val="FF0000"/>
                </a:solidFill>
              </a:rPr>
              <a:t>残余奥氏体</a:t>
            </a:r>
            <a:r>
              <a:rPr lang="en-US" altLang="zh-CN" sz="2400" b="1" dirty="0">
                <a:solidFill>
                  <a:schemeClr val="accent2"/>
                </a:solidFill>
              </a:rPr>
              <a:t>)</a:t>
            </a:r>
            <a:r>
              <a:rPr lang="zh-CN" altLang="en-US" sz="2400" b="1" dirty="0">
                <a:solidFill>
                  <a:schemeClr val="accent2"/>
                </a:solidFill>
              </a:rPr>
              <a:t>所组成的非片层状组织</a:t>
            </a:r>
            <a:r>
              <a:rPr lang="zh-CN" altLang="en-US" sz="2400" b="1" dirty="0"/>
              <a:t>。</a:t>
            </a: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（上贝氏体的组织形态）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8197" name="Text Box 8"/>
          <p:cNvSpPr txBox="1"/>
          <p:nvPr/>
        </p:nvSpPr>
        <p:spPr>
          <a:xfrm>
            <a:off x="-73730" y="1924014"/>
            <a:ext cx="9145905" cy="45021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1200"/>
              </a:spcBef>
              <a:spcAft>
                <a:spcPts val="1200"/>
              </a:spcAft>
              <a:buFont typeface="Wingdings" panose="05000000000000000000" charset="0"/>
              <a:buChar char="Ø"/>
            </a:pPr>
            <a:r>
              <a:rPr lang="zh-CN" altLang="en-US" sz="2800" b="1" dirty="0"/>
              <a:t>上贝氏体中铁素体的亚结构是</a:t>
            </a:r>
            <a:r>
              <a:rPr lang="zh-CN" altLang="en-US" sz="2800" b="1" dirty="0">
                <a:solidFill>
                  <a:srgbClr val="FF0000"/>
                </a:solidFill>
              </a:rPr>
              <a:t>位错</a:t>
            </a:r>
            <a:r>
              <a:rPr lang="zh-CN" altLang="en-US" sz="2800" b="1" dirty="0"/>
              <a:t>，其密度比板条马氏体低</a:t>
            </a:r>
            <a:r>
              <a:rPr lang="en-US" altLang="zh-CN" sz="2800" b="1" dirty="0"/>
              <a:t>2~3</a:t>
            </a:r>
            <a:r>
              <a:rPr lang="zh-CN" altLang="en-US" sz="2800" b="1" dirty="0"/>
              <a:t>个数量级，随着形成温度降低，位错密度增大；</a:t>
            </a:r>
            <a:endParaRPr lang="en-US" altLang="zh-CN" sz="2800" b="1" dirty="0"/>
          </a:p>
          <a:p>
            <a:pPr lvl="0" algn="just" eaLnBrk="1" hangingPunct="1">
              <a:lnSpc>
                <a:spcPct val="150000"/>
              </a:lnSpc>
              <a:spcBef>
                <a:spcPts val="1200"/>
              </a:spcBef>
              <a:spcAft>
                <a:spcPts val="1200"/>
              </a:spcAft>
              <a:buFont typeface="Wingdings" panose="05000000000000000000" charset="0"/>
              <a:buChar char="Ø"/>
            </a:pPr>
            <a:r>
              <a:rPr lang="zh-CN" altLang="en-US" sz="2800" b="1" dirty="0"/>
              <a:t>随</a:t>
            </a:r>
            <a:r>
              <a:rPr lang="zh-CN" altLang="en-US" sz="2800" b="1" dirty="0">
                <a:solidFill>
                  <a:srgbClr val="FF0000"/>
                </a:solidFill>
              </a:rPr>
              <a:t>碳含量增加</a:t>
            </a:r>
            <a:r>
              <a:rPr lang="zh-CN" altLang="en-US" sz="2800" b="1" dirty="0"/>
              <a:t>，上贝氏体中</a:t>
            </a:r>
            <a:r>
              <a:rPr lang="zh-CN" altLang="en-US" sz="2800" b="1" dirty="0">
                <a:solidFill>
                  <a:srgbClr val="FF0000"/>
                </a:solidFill>
              </a:rPr>
              <a:t>铁素体条增多、变薄</a:t>
            </a:r>
            <a:r>
              <a:rPr lang="zh-CN" altLang="en-US" sz="2800" b="1" dirty="0"/>
              <a:t>，</a:t>
            </a:r>
            <a:r>
              <a:rPr lang="zh-CN" altLang="en-US" sz="2800" b="1" dirty="0">
                <a:solidFill>
                  <a:srgbClr val="FF0000"/>
                </a:solidFill>
              </a:rPr>
              <a:t>渗碳体数量增多、变细；</a:t>
            </a:r>
            <a:endParaRPr lang="en-US" altLang="zh-CN" sz="2800" b="1" dirty="0">
              <a:solidFill>
                <a:srgbClr val="FF0000"/>
              </a:solidFill>
            </a:endParaRPr>
          </a:p>
          <a:p>
            <a:pPr lvl="0" algn="just" eaLnBrk="1" hangingPunct="1">
              <a:lnSpc>
                <a:spcPct val="150000"/>
              </a:lnSpc>
              <a:spcBef>
                <a:spcPts val="1200"/>
              </a:spcBef>
              <a:spcAft>
                <a:spcPts val="1200"/>
              </a:spcAft>
              <a:buFont typeface="Wingdings" panose="05000000000000000000" charset="0"/>
              <a:buChar char="Ø"/>
            </a:pPr>
            <a:r>
              <a:rPr lang="zh-CN" altLang="en-US" sz="2800" b="1" dirty="0"/>
              <a:t>随</a:t>
            </a:r>
            <a:r>
              <a:rPr lang="zh-CN" altLang="en-US" sz="2800" b="1" dirty="0">
                <a:solidFill>
                  <a:srgbClr val="FF0000"/>
                </a:solidFill>
              </a:rPr>
              <a:t>转变温度降低</a:t>
            </a:r>
            <a:r>
              <a:rPr lang="zh-CN" altLang="en-US" sz="2800" b="1" dirty="0"/>
              <a:t>，上贝氏体中</a:t>
            </a:r>
            <a:r>
              <a:rPr lang="zh-CN" altLang="en-US" sz="2800" b="1" dirty="0">
                <a:solidFill>
                  <a:srgbClr val="FF0000"/>
                </a:solidFill>
              </a:rPr>
              <a:t>铁素体条变薄，渗碳体变细。</a:t>
            </a: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（上贝氏体的亚结构）</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贝氏体的组织形态与亚结构 </a:t>
            </a:r>
            <a:r>
              <a:rPr kumimoji="0" lang="zh-CN" altLang="en-US" sz="2800" b="1" i="0" baseline="0" noProof="0" dirty="0">
                <a:ln>
                  <a:noFill/>
                </a:ln>
                <a:solidFill>
                  <a:srgbClr val="C00000"/>
                </a:solidFill>
                <a:effectLst/>
                <a:uLnTx/>
                <a:uFillTx/>
                <a:latin typeface="Arial" panose="020B0604020202020204"/>
                <a:ea typeface="幼圆" panose="02010509060101010101" charset="-122"/>
              </a:rPr>
              <a:t>（上贝氏体）</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贝氏体的组织形态</a:t>
            </a:r>
            <a:r>
              <a:rPr kumimoji="0" lang="zh-CN" altLang="en-US" sz="2800" b="1" i="0" baseline="0" noProof="0" dirty="0">
                <a:ln>
                  <a:noFill/>
                </a:ln>
                <a:solidFill>
                  <a:srgbClr val="C00000"/>
                </a:solidFill>
                <a:effectLst/>
                <a:uLnTx/>
                <a:uFillTx/>
                <a:latin typeface="Arial" panose="020B0604020202020204"/>
                <a:ea typeface="幼圆" panose="02010509060101010101" charset="-122"/>
              </a:rPr>
              <a:t>（上贝氏体</a:t>
            </a:r>
            <a:r>
              <a:rPr kumimoji="0" lang="en-US" altLang="zh-CN" sz="2800" b="1" i="0" baseline="0" noProof="0" dirty="0">
                <a:ln>
                  <a:noFill/>
                </a:ln>
                <a:solidFill>
                  <a:srgbClr val="C00000"/>
                </a:solidFill>
                <a:effectLst/>
                <a:uLnTx/>
                <a:uFillTx/>
                <a:latin typeface="Arial" panose="020B0604020202020204"/>
                <a:ea typeface="幼圆" panose="02010509060101010101" charset="-122"/>
              </a:rPr>
              <a:t>-</a:t>
            </a:r>
            <a:r>
              <a:rPr kumimoji="0" lang="zh-CN" altLang="en-US" sz="2800" b="1" i="0" baseline="0" noProof="0" dirty="0">
                <a:ln>
                  <a:noFill/>
                </a:ln>
                <a:solidFill>
                  <a:srgbClr val="C00000"/>
                </a:solidFill>
                <a:effectLst/>
                <a:uLnTx/>
                <a:uFillTx/>
                <a:latin typeface="Arial" panose="020B0604020202020204"/>
                <a:ea typeface="幼圆" panose="02010509060101010101" charset="-122"/>
              </a:rPr>
              <a:t>羽毛状</a:t>
            </a:r>
            <a:r>
              <a:rPr kumimoji="0" lang="en-US" altLang="zh-CN" sz="2800" b="1" i="0" baseline="0" noProof="0" dirty="0">
                <a:ln>
                  <a:noFill/>
                </a:ln>
                <a:solidFill>
                  <a:srgbClr val="C00000"/>
                </a:solidFill>
                <a:effectLst/>
                <a:uLnTx/>
                <a:uFillTx/>
                <a:latin typeface="Arial" panose="020B0604020202020204"/>
                <a:ea typeface="幼圆" panose="02010509060101010101" charset="-122"/>
              </a:rPr>
              <a:t>B</a:t>
            </a:r>
            <a:r>
              <a:rPr kumimoji="0" lang="zh-CN" altLang="en-US" sz="2800" b="1" i="0" baseline="0" noProof="0" dirty="0">
                <a:ln>
                  <a:noFill/>
                </a:ln>
                <a:solidFill>
                  <a:srgbClr val="C00000"/>
                </a:solidFill>
                <a:effectLst/>
                <a:uLnTx/>
                <a:uFillTx/>
                <a:latin typeface="Arial" panose="020B0604020202020204"/>
                <a:ea typeface="幼圆" panose="02010509060101010101" charset="-122"/>
              </a:rPr>
              <a:t>）</a:t>
            </a:r>
          </a:p>
        </p:txBody>
      </p:sp>
      <p:sp>
        <p:nvSpPr>
          <p:cNvPr id="9218" name="Rectangle 2"/>
          <p:cNvSpPr/>
          <p:nvPr/>
        </p:nvSpPr>
        <p:spPr>
          <a:xfrm>
            <a:off x="38735" y="1341120"/>
            <a:ext cx="9064625" cy="1770380"/>
          </a:xfrm>
          <a:prstGeom prst="rect">
            <a:avLst/>
          </a:prstGeom>
          <a:noFill/>
          <a:ln w="19050" cmpd="sng">
            <a:solidFill>
              <a:srgbClr val="002060"/>
            </a:solidFill>
            <a:prstDash val="solid"/>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just" eaLnBrk="1" hangingPunct="1">
              <a:lnSpc>
                <a:spcPct val="130000"/>
              </a:lnSpc>
              <a:spcBef>
                <a:spcPct val="50000"/>
              </a:spcBef>
              <a:buClr>
                <a:srgbClr val="66FF33"/>
              </a:buClr>
              <a:buFont typeface="Wingdings" panose="05000000000000000000" pitchFamily="2" charset="2"/>
              <a:buNone/>
            </a:pPr>
            <a:r>
              <a:rPr lang="zh-CN" altLang="en-US" sz="2800" b="1" dirty="0"/>
              <a:t>其形态在光学显微镜下为</a:t>
            </a:r>
            <a:r>
              <a:rPr lang="zh-CN" altLang="en-US" sz="2800" b="1" dirty="0">
                <a:solidFill>
                  <a:srgbClr val="FF0000"/>
                </a:solidFill>
              </a:rPr>
              <a:t>羽毛状</a:t>
            </a:r>
            <a:r>
              <a:rPr lang="zh-CN" altLang="en-US" sz="2800" b="1" dirty="0"/>
              <a:t>。组织为一束平行的自</a:t>
            </a:r>
            <a:r>
              <a:rPr lang="en-US" altLang="zh-CN" sz="2800" b="1" dirty="0"/>
              <a:t>A</a:t>
            </a:r>
            <a:r>
              <a:rPr lang="zh-CN" altLang="en-US" sz="2800" b="1" dirty="0"/>
              <a:t>晶界长入晶内的</a:t>
            </a:r>
            <a:r>
              <a:rPr lang="en-US" altLang="zh-CN" sz="2800" b="1" dirty="0"/>
              <a:t>BF</a:t>
            </a:r>
            <a:r>
              <a:rPr lang="zh-CN" altLang="en-US" sz="2800" b="1" dirty="0"/>
              <a:t>板条。</a:t>
            </a:r>
            <a:r>
              <a:rPr lang="en-US" altLang="zh-CN" sz="2800" b="1" dirty="0"/>
              <a:t>BF</a:t>
            </a:r>
            <a:r>
              <a:rPr lang="zh-CN" altLang="en-US" sz="2800" b="1" dirty="0"/>
              <a:t>板条与</a:t>
            </a:r>
            <a:r>
              <a:rPr lang="en-US" altLang="zh-CN" sz="2800" b="1" dirty="0"/>
              <a:t>M</a:t>
            </a:r>
            <a:r>
              <a:rPr lang="zh-CN" altLang="en-US" sz="2800" b="1" dirty="0"/>
              <a:t>板条相近，但在铁素体板条之间分布有不连续碳化物。</a:t>
            </a:r>
          </a:p>
        </p:txBody>
      </p:sp>
      <p:grpSp>
        <p:nvGrpSpPr>
          <p:cNvPr id="4" name="组合 3"/>
          <p:cNvGrpSpPr/>
          <p:nvPr/>
        </p:nvGrpSpPr>
        <p:grpSpPr>
          <a:xfrm>
            <a:off x="34925" y="3378200"/>
            <a:ext cx="9043035" cy="2885440"/>
            <a:chOff x="0" y="5354"/>
            <a:chExt cx="14241" cy="4544"/>
          </a:xfrm>
        </p:grpSpPr>
        <p:pic>
          <p:nvPicPr>
            <p:cNvPr id="9219" name="Picture 3" descr="上贝氏体示意图"/>
            <p:cNvPicPr>
              <a:picLocks noChangeAspect="1"/>
            </p:cNvPicPr>
            <p:nvPr/>
          </p:nvPicPr>
          <p:blipFill>
            <a:blip r:embed="rId4" cstate="print"/>
            <a:stretch>
              <a:fillRect/>
            </a:stretch>
          </p:blipFill>
          <p:spPr>
            <a:xfrm>
              <a:off x="0" y="5354"/>
              <a:ext cx="4989" cy="4544"/>
            </a:xfrm>
            <a:prstGeom prst="rect">
              <a:avLst/>
            </a:prstGeom>
            <a:noFill/>
            <a:ln w="9525">
              <a:noFill/>
            </a:ln>
          </p:spPr>
        </p:pic>
        <p:pic>
          <p:nvPicPr>
            <p:cNvPr id="250885" name="Picture 5" descr="ZHANG"/>
            <p:cNvPicPr>
              <a:picLocks noChangeAspect="1"/>
            </p:cNvPicPr>
            <p:nvPr/>
          </p:nvPicPr>
          <p:blipFill>
            <a:blip r:embed="rId5" cstate="print"/>
            <a:stretch>
              <a:fillRect/>
            </a:stretch>
          </p:blipFill>
          <p:spPr>
            <a:xfrm>
              <a:off x="5121" y="5626"/>
              <a:ext cx="4476" cy="4273"/>
            </a:xfrm>
            <a:prstGeom prst="rect">
              <a:avLst/>
            </a:prstGeom>
            <a:noFill/>
            <a:ln w="9525">
              <a:noFill/>
            </a:ln>
          </p:spPr>
        </p:pic>
        <p:pic>
          <p:nvPicPr>
            <p:cNvPr id="250886" name="Picture 6"/>
            <p:cNvPicPr>
              <a:picLocks noChangeAspect="1"/>
            </p:cNvPicPr>
            <p:nvPr/>
          </p:nvPicPr>
          <p:blipFill>
            <a:blip r:embed="rId6" cstate="print"/>
            <a:srcRect l="48332" b="13930"/>
            <a:stretch>
              <a:fillRect/>
            </a:stretch>
          </p:blipFill>
          <p:spPr>
            <a:xfrm>
              <a:off x="10303" y="5626"/>
              <a:ext cx="3938" cy="4160"/>
            </a:xfrm>
            <a:prstGeom prst="rect">
              <a:avLst/>
            </a:prstGeom>
            <a:noFill/>
            <a:ln w="9525">
              <a:noFill/>
            </a:ln>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635"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贝氏体的组织形态与亚结构 </a:t>
            </a:r>
            <a:r>
              <a:rPr kumimoji="0" lang="zh-CN" altLang="en-US" sz="2800" b="1" i="0" baseline="0" noProof="0" dirty="0">
                <a:ln>
                  <a:noFill/>
                </a:ln>
                <a:solidFill>
                  <a:srgbClr val="C00000"/>
                </a:solidFill>
                <a:effectLst/>
                <a:uLnTx/>
                <a:uFillTx/>
                <a:latin typeface="Arial" panose="020B0604020202020204"/>
                <a:ea typeface="幼圆" panose="02010509060101010101" charset="-122"/>
              </a:rPr>
              <a:t>（上贝氏体）</a:t>
            </a:r>
          </a:p>
        </p:txBody>
      </p:sp>
      <p:grpSp>
        <p:nvGrpSpPr>
          <p:cNvPr id="6" name="组合 5"/>
          <p:cNvGrpSpPr/>
          <p:nvPr/>
        </p:nvGrpSpPr>
        <p:grpSpPr>
          <a:xfrm>
            <a:off x="0" y="1354455"/>
            <a:ext cx="9143365" cy="5469890"/>
            <a:chOff x="0" y="2133"/>
            <a:chExt cx="14399" cy="8614"/>
          </a:xfrm>
        </p:grpSpPr>
        <p:pic>
          <p:nvPicPr>
            <p:cNvPr id="4" name="Picture 2"/>
            <p:cNvPicPr>
              <a:picLocks noChangeAspect="1"/>
            </p:cNvPicPr>
            <p:nvPr/>
          </p:nvPicPr>
          <p:blipFill>
            <a:blip r:embed="rId4" cstate="print"/>
            <a:stretch>
              <a:fillRect/>
            </a:stretch>
          </p:blipFill>
          <p:spPr>
            <a:xfrm>
              <a:off x="0" y="2133"/>
              <a:ext cx="11065" cy="8614"/>
            </a:xfrm>
            <a:prstGeom prst="rect">
              <a:avLst/>
            </a:prstGeom>
            <a:noFill/>
            <a:ln w="9525">
              <a:noFill/>
            </a:ln>
          </p:spPr>
        </p:pic>
        <p:sp>
          <p:nvSpPr>
            <p:cNvPr id="5" name="Rectangle 3"/>
            <p:cNvSpPr/>
            <p:nvPr/>
          </p:nvSpPr>
          <p:spPr>
            <a:xfrm>
              <a:off x="11065" y="2152"/>
              <a:ext cx="3334" cy="8383"/>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000" b="1" dirty="0">
                  <a:solidFill>
                    <a:srgbClr val="FF0000"/>
                  </a:solidFill>
                  <a:latin typeface="Arial" panose="020B0604020202020204" pitchFamily="34" charset="0"/>
                </a:rPr>
                <a:t>上贝氏体组织形态</a:t>
              </a:r>
              <a:r>
                <a:rPr lang="zh-CN" altLang="en-US" sz="2000" dirty="0">
                  <a:solidFill>
                    <a:srgbClr val="FF0000"/>
                  </a:solidFill>
                  <a:latin typeface="Arial" panose="020B0604020202020204" pitchFamily="34" charset="0"/>
                </a:rPr>
                <a:t> </a:t>
              </a:r>
            </a:p>
            <a:p>
              <a:pPr marL="0" lvl="0" indent="0" eaLnBrk="1" hangingPunct="1">
                <a:spcBef>
                  <a:spcPct val="0"/>
                </a:spcBef>
                <a:buNone/>
              </a:pPr>
              <a:r>
                <a:rPr lang="en-US" altLang="zh-CN" sz="2000" dirty="0">
                  <a:latin typeface="Arial" panose="020B0604020202020204" pitchFamily="34" charset="0"/>
                </a:rPr>
                <a:t>(a)Fe-0.21C-8.81Ni</a:t>
              </a:r>
            </a:p>
            <a:p>
              <a:pPr marL="0" lvl="0" indent="0" eaLnBrk="1" hangingPunct="1">
                <a:spcBef>
                  <a:spcPct val="0"/>
                </a:spcBef>
                <a:buNone/>
              </a:pPr>
              <a:r>
                <a:rPr lang="en-US" altLang="zh-CN" sz="2000" dirty="0">
                  <a:latin typeface="Arial" panose="020B0604020202020204" pitchFamily="34" charset="0"/>
                </a:rPr>
                <a:t>500℃</a:t>
              </a:r>
              <a:r>
                <a:rPr lang="en-US" altLang="zh-CN"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rPr>
                <a:t>3min</a:t>
              </a:r>
            </a:p>
            <a:p>
              <a:pPr marL="0" lvl="0" indent="0" eaLnBrk="1" hangingPunct="1">
                <a:spcBef>
                  <a:spcPct val="0"/>
                </a:spcBef>
                <a:buNone/>
              </a:pPr>
              <a:endParaRPr lang="en-US" altLang="zh-CN" sz="2000" dirty="0">
                <a:latin typeface="Arial" panose="020B0604020202020204" pitchFamily="34" charset="0"/>
              </a:endParaRPr>
            </a:p>
            <a:p>
              <a:pPr marL="0" lvl="0" indent="0" eaLnBrk="1" hangingPunct="1">
                <a:spcBef>
                  <a:spcPct val="0"/>
                </a:spcBef>
                <a:buNone/>
              </a:pPr>
              <a:r>
                <a:rPr lang="en-US" altLang="zh-CN" sz="2000" dirty="0">
                  <a:latin typeface="Arial" panose="020B0604020202020204" pitchFamily="34" charset="0"/>
                </a:rPr>
                <a:t>(b)Fe-0.41C-8.74Ni</a:t>
              </a:r>
            </a:p>
            <a:p>
              <a:pPr marL="0" lvl="0" indent="0" eaLnBrk="1" hangingPunct="1">
                <a:spcBef>
                  <a:spcPct val="0"/>
                </a:spcBef>
                <a:buNone/>
              </a:pPr>
              <a:r>
                <a:rPr lang="en-US" altLang="zh-CN" sz="2000" dirty="0">
                  <a:latin typeface="Arial" panose="020B0604020202020204" pitchFamily="34" charset="0"/>
                </a:rPr>
                <a:t>450℃-3min</a:t>
              </a:r>
            </a:p>
            <a:p>
              <a:pPr marL="0" lvl="0" indent="0" eaLnBrk="1" hangingPunct="1">
                <a:spcBef>
                  <a:spcPct val="0"/>
                </a:spcBef>
                <a:buNone/>
              </a:pPr>
              <a:endParaRPr lang="en-US" altLang="zh-CN" sz="2000" dirty="0">
                <a:latin typeface="Arial" panose="020B0604020202020204" pitchFamily="34" charset="0"/>
              </a:endParaRPr>
            </a:p>
            <a:p>
              <a:pPr marL="0" lvl="0" indent="0" eaLnBrk="1" hangingPunct="1">
                <a:spcBef>
                  <a:spcPct val="0"/>
                </a:spcBef>
                <a:buNone/>
              </a:pPr>
              <a:r>
                <a:rPr lang="en-US" altLang="zh-CN" sz="2000" dirty="0">
                  <a:latin typeface="Arial" panose="020B0604020202020204" pitchFamily="34" charset="0"/>
                </a:rPr>
                <a:t>(c)Fe-0.41C-8.74Ni</a:t>
              </a:r>
            </a:p>
            <a:p>
              <a:pPr marL="0" lvl="0" indent="0" eaLnBrk="1" hangingPunct="1">
                <a:spcBef>
                  <a:spcPct val="0"/>
                </a:spcBef>
                <a:buNone/>
              </a:pPr>
              <a:r>
                <a:rPr lang="en-US" altLang="zh-CN" sz="2000" dirty="0">
                  <a:latin typeface="Arial" panose="020B0604020202020204" pitchFamily="34" charset="0"/>
                </a:rPr>
                <a:t>350℃-12min</a:t>
              </a:r>
            </a:p>
            <a:p>
              <a:pPr marL="0" lvl="0" indent="0" eaLnBrk="1" hangingPunct="1">
                <a:spcBef>
                  <a:spcPct val="0"/>
                </a:spcBef>
                <a:buNone/>
              </a:pPr>
              <a:endParaRPr lang="en-US" altLang="zh-CN" sz="2000" dirty="0">
                <a:latin typeface="Arial" panose="020B0604020202020204" pitchFamily="34" charset="0"/>
              </a:endParaRPr>
            </a:p>
            <a:p>
              <a:pPr marL="0" lvl="0" indent="0" eaLnBrk="1" hangingPunct="1">
                <a:spcBef>
                  <a:spcPct val="0"/>
                </a:spcBef>
                <a:buNone/>
              </a:pPr>
              <a:r>
                <a:rPr lang="en-US" altLang="zh-CN" sz="2000" dirty="0">
                  <a:latin typeface="Arial" panose="020B0604020202020204" pitchFamily="34" charset="0"/>
                </a:rPr>
                <a:t>(d)Fe-0.41C-8.74Ni</a:t>
              </a:r>
            </a:p>
            <a:p>
              <a:pPr marL="0" lvl="0" indent="0" eaLnBrk="1" hangingPunct="1">
                <a:spcBef>
                  <a:spcPct val="0"/>
                </a:spcBef>
                <a:buNone/>
              </a:pPr>
              <a:r>
                <a:rPr lang="en-US" altLang="zh-CN" sz="2000" dirty="0">
                  <a:latin typeface="Arial" panose="020B0604020202020204" pitchFamily="34" charset="0"/>
                </a:rPr>
                <a:t>220℃-150min</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635"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贝氏体的组织形态与亚结构 </a:t>
            </a:r>
            <a:r>
              <a:rPr kumimoji="0" lang="zh-CN" altLang="en-US" sz="2800" b="1" i="0" baseline="0" noProof="0" dirty="0">
                <a:ln>
                  <a:noFill/>
                </a:ln>
                <a:solidFill>
                  <a:srgbClr val="C00000"/>
                </a:solidFill>
                <a:effectLst/>
                <a:uLnTx/>
                <a:uFillTx/>
                <a:latin typeface="Arial" panose="020B0604020202020204"/>
                <a:ea typeface="幼圆" panose="02010509060101010101" charset="-122"/>
              </a:rPr>
              <a:t>（上贝氏体）</a:t>
            </a:r>
          </a:p>
        </p:txBody>
      </p:sp>
      <p:pic>
        <p:nvPicPr>
          <p:cNvPr id="11268" name="Picture 4"/>
          <p:cNvPicPr>
            <a:picLocks noChangeAspect="1"/>
          </p:cNvPicPr>
          <p:nvPr/>
        </p:nvPicPr>
        <p:blipFill>
          <a:blip r:embed="rId4" cstate="print"/>
          <a:stretch>
            <a:fillRect/>
          </a:stretch>
        </p:blipFill>
        <p:spPr>
          <a:xfrm>
            <a:off x="1173480" y="1354455"/>
            <a:ext cx="7052945" cy="4600575"/>
          </a:xfrm>
          <a:prstGeom prst="rect">
            <a:avLst/>
          </a:prstGeom>
          <a:noFill/>
          <a:ln w="9525">
            <a:noFill/>
          </a:ln>
        </p:spPr>
      </p:pic>
      <p:sp>
        <p:nvSpPr>
          <p:cNvPr id="4" name="矩形 3"/>
          <p:cNvSpPr/>
          <p:nvPr/>
        </p:nvSpPr>
        <p:spPr>
          <a:xfrm>
            <a:off x="-635" y="5955030"/>
            <a:ext cx="9142095" cy="892810"/>
          </a:xfrm>
          <a:prstGeom prst="rect">
            <a:avLst/>
          </a:prstGeom>
          <a:solidFill>
            <a:schemeClr val="accent1">
              <a:alpha val="32000"/>
            </a:schemeClr>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800" b="0" i="0" baseline="0">
                <a:ln>
                  <a:noFill/>
                </a:ln>
                <a:solidFill>
                  <a:srgbClr val="002060"/>
                </a:solidFill>
                <a:effectLst/>
                <a:uFillTx/>
                <a:latin typeface="Arial" panose="020B0604020202020204" pitchFamily="34" charset="0"/>
                <a:ea typeface="宋体" panose="02010600030101010101" pitchFamily="2" charset="-122"/>
              </a:rPr>
              <a:t>组织说明：基体为下贝氏体、马氏体及残余奥氏体，其上分布有少量羽毛状上贝氏体。</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635"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贝氏体的组织形态与亚结构 </a:t>
            </a:r>
            <a:r>
              <a:rPr kumimoji="0" lang="zh-CN" altLang="en-US" sz="2800" b="1" i="0" baseline="0" noProof="0" dirty="0">
                <a:ln>
                  <a:noFill/>
                </a:ln>
                <a:solidFill>
                  <a:srgbClr val="C00000"/>
                </a:solidFill>
                <a:effectLst/>
                <a:uLnTx/>
                <a:uFillTx/>
                <a:latin typeface="Arial" panose="020B0604020202020204"/>
                <a:ea typeface="幼圆" panose="02010509060101010101" charset="-122"/>
              </a:rPr>
              <a:t>（上贝氏体）</a:t>
            </a:r>
          </a:p>
        </p:txBody>
      </p:sp>
      <p:pic>
        <p:nvPicPr>
          <p:cNvPr id="12290" name="Picture 2"/>
          <p:cNvPicPr>
            <a:picLocks noChangeAspect="1"/>
          </p:cNvPicPr>
          <p:nvPr/>
        </p:nvPicPr>
        <p:blipFill>
          <a:blip r:embed="rId4" cstate="print"/>
          <a:stretch>
            <a:fillRect/>
          </a:stretch>
        </p:blipFill>
        <p:spPr>
          <a:xfrm>
            <a:off x="130175" y="1354455"/>
            <a:ext cx="3031490" cy="2231390"/>
          </a:xfrm>
          <a:prstGeom prst="rect">
            <a:avLst/>
          </a:prstGeom>
          <a:noFill/>
          <a:ln w="9525">
            <a:noFill/>
          </a:ln>
        </p:spPr>
      </p:pic>
      <p:grpSp>
        <p:nvGrpSpPr>
          <p:cNvPr id="5" name="组合 4"/>
          <p:cNvGrpSpPr/>
          <p:nvPr/>
        </p:nvGrpSpPr>
        <p:grpSpPr>
          <a:xfrm>
            <a:off x="1245870" y="4171950"/>
            <a:ext cx="6099810" cy="2252345"/>
            <a:chOff x="1962" y="6570"/>
            <a:chExt cx="9606" cy="3547"/>
          </a:xfrm>
        </p:grpSpPr>
        <p:pic>
          <p:nvPicPr>
            <p:cNvPr id="12292" name="Picture 4"/>
            <p:cNvPicPr>
              <a:picLocks noChangeAspect="1"/>
            </p:cNvPicPr>
            <p:nvPr/>
          </p:nvPicPr>
          <p:blipFill>
            <a:blip r:embed="rId5" cstate="print"/>
            <a:stretch>
              <a:fillRect/>
            </a:stretch>
          </p:blipFill>
          <p:spPr>
            <a:xfrm>
              <a:off x="1962" y="6577"/>
              <a:ext cx="4878" cy="3540"/>
            </a:xfrm>
            <a:prstGeom prst="rect">
              <a:avLst/>
            </a:prstGeom>
            <a:noFill/>
            <a:ln w="9525" cap="flat" cmpd="sng">
              <a:solidFill>
                <a:schemeClr val="accent2"/>
              </a:solidFill>
              <a:prstDash val="solid"/>
              <a:miter/>
              <a:headEnd type="none" w="med" len="med"/>
              <a:tailEnd type="none" w="med" len="med"/>
            </a:ln>
          </p:spPr>
        </p:pic>
        <p:pic>
          <p:nvPicPr>
            <p:cNvPr id="12293" name="Picture 5"/>
            <p:cNvPicPr>
              <a:picLocks noChangeAspect="1"/>
            </p:cNvPicPr>
            <p:nvPr/>
          </p:nvPicPr>
          <p:blipFill>
            <a:blip r:embed="rId6" cstate="print"/>
            <a:stretch>
              <a:fillRect/>
            </a:stretch>
          </p:blipFill>
          <p:spPr>
            <a:xfrm>
              <a:off x="6840" y="6570"/>
              <a:ext cx="4729" cy="3540"/>
            </a:xfrm>
            <a:prstGeom prst="rect">
              <a:avLst/>
            </a:prstGeom>
            <a:noFill/>
            <a:ln w="9525" cap="flat" cmpd="sng">
              <a:solidFill>
                <a:schemeClr val="accent2"/>
              </a:solidFill>
              <a:prstDash val="solid"/>
              <a:miter/>
              <a:headEnd type="none" w="med" len="med"/>
              <a:tailEnd type="none" w="med" len="med"/>
            </a:ln>
          </p:spPr>
        </p:pic>
      </p:grpSp>
      <p:sp>
        <p:nvSpPr>
          <p:cNvPr id="12294" name="Text Box 6"/>
          <p:cNvSpPr txBox="1"/>
          <p:nvPr/>
        </p:nvSpPr>
        <p:spPr>
          <a:xfrm>
            <a:off x="604520" y="3633788"/>
            <a:ext cx="13684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000" b="1" dirty="0"/>
              <a:t>珠光体</a:t>
            </a:r>
          </a:p>
        </p:txBody>
      </p:sp>
      <p:sp>
        <p:nvSpPr>
          <p:cNvPr id="12295" name="Text Box 7"/>
          <p:cNvSpPr txBox="1"/>
          <p:nvPr/>
        </p:nvSpPr>
        <p:spPr>
          <a:xfrm>
            <a:off x="5236845" y="3722688"/>
            <a:ext cx="18002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000" b="1" dirty="0"/>
              <a:t>板条马氏体</a:t>
            </a:r>
          </a:p>
        </p:txBody>
      </p:sp>
      <p:sp>
        <p:nvSpPr>
          <p:cNvPr id="12296" name="Text Box 8"/>
          <p:cNvSpPr txBox="1"/>
          <p:nvPr/>
        </p:nvSpPr>
        <p:spPr>
          <a:xfrm>
            <a:off x="3646488" y="6436995"/>
            <a:ext cx="1849437"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000" b="1" dirty="0"/>
              <a:t>上贝氏体</a:t>
            </a:r>
          </a:p>
        </p:txBody>
      </p:sp>
      <p:grpSp>
        <p:nvGrpSpPr>
          <p:cNvPr id="4" name="组合 3"/>
          <p:cNvGrpSpPr/>
          <p:nvPr/>
        </p:nvGrpSpPr>
        <p:grpSpPr>
          <a:xfrm>
            <a:off x="3317240" y="1354455"/>
            <a:ext cx="5696585" cy="2266950"/>
            <a:chOff x="4760" y="2077"/>
            <a:chExt cx="8971" cy="3570"/>
          </a:xfrm>
        </p:grpSpPr>
        <p:pic>
          <p:nvPicPr>
            <p:cNvPr id="12291" name="Picture 3"/>
            <p:cNvPicPr>
              <a:picLocks noChangeAspect="1"/>
            </p:cNvPicPr>
            <p:nvPr/>
          </p:nvPicPr>
          <p:blipFill>
            <a:blip r:embed="rId7" cstate="print"/>
            <a:stretch>
              <a:fillRect/>
            </a:stretch>
          </p:blipFill>
          <p:spPr>
            <a:xfrm>
              <a:off x="4760" y="2133"/>
              <a:ext cx="4321" cy="3502"/>
            </a:xfrm>
            <a:prstGeom prst="rect">
              <a:avLst/>
            </a:prstGeom>
            <a:noFill/>
            <a:ln w="9525" cap="flat" cmpd="sng">
              <a:solidFill>
                <a:schemeClr val="accent2"/>
              </a:solidFill>
              <a:prstDash val="solid"/>
              <a:miter/>
              <a:headEnd type="none" w="med" len="med"/>
              <a:tailEnd type="none" w="med" len="med"/>
            </a:ln>
          </p:spPr>
        </p:pic>
        <p:pic>
          <p:nvPicPr>
            <p:cNvPr id="12297" name="Picture 9"/>
            <p:cNvPicPr>
              <a:picLocks noChangeAspect="1"/>
            </p:cNvPicPr>
            <p:nvPr/>
          </p:nvPicPr>
          <p:blipFill>
            <a:blip r:embed="rId8" cstate="print"/>
            <a:srcRect l="9554" t="17407" r="8682" b="4239"/>
            <a:stretch>
              <a:fillRect/>
            </a:stretch>
          </p:blipFill>
          <p:spPr>
            <a:xfrm>
              <a:off x="9081" y="2077"/>
              <a:ext cx="4650" cy="3570"/>
            </a:xfrm>
            <a:prstGeom prst="rect">
              <a:avLst/>
            </a:prstGeom>
            <a:noFill/>
            <a:ln w="9525" cap="flat" cmpd="sng">
              <a:solidFill>
                <a:schemeClr val="accent2"/>
              </a:solidFill>
              <a:prstDash val="solid"/>
              <a:miter/>
              <a:headEnd type="none" w="med" len="med"/>
              <a:tailEnd type="none" w="med" len="med"/>
            </a:ln>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8196" name="Text Box 5"/>
          <p:cNvSpPr txBox="1"/>
          <p:nvPr/>
        </p:nvSpPr>
        <p:spPr>
          <a:xfrm>
            <a:off x="-67798" y="4961080"/>
            <a:ext cx="9141460" cy="112857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t>下贝氏体的铁素体中碳化物细小、弥散，呈粒状或条状，沿着与铁素体长轴呈一定角度</a:t>
            </a:r>
            <a:r>
              <a:rPr lang="zh-CN" altLang="en-US" sz="2400" b="1" dirty="0">
                <a:solidFill>
                  <a:srgbClr val="FF0000"/>
                </a:solidFill>
              </a:rPr>
              <a:t>平行</a:t>
            </a:r>
            <a:r>
              <a:rPr lang="zh-CN" altLang="en-US" sz="2400" b="1" dirty="0"/>
              <a:t>排列；</a:t>
            </a:r>
          </a:p>
        </p:txBody>
      </p:sp>
      <p:sp>
        <p:nvSpPr>
          <p:cNvPr id="8197" name="Text Box 8"/>
          <p:cNvSpPr txBox="1"/>
          <p:nvPr/>
        </p:nvSpPr>
        <p:spPr>
          <a:xfrm>
            <a:off x="-73730" y="1924014"/>
            <a:ext cx="9145905" cy="112857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solidFill>
                  <a:schemeClr val="accent2"/>
                </a:solidFill>
              </a:rPr>
              <a:t>下贝氏体</a:t>
            </a:r>
            <a:r>
              <a:rPr lang="zh-CN" altLang="en-US" sz="2400" b="1" dirty="0">
                <a:solidFill>
                  <a:schemeClr val="tx1">
                    <a:lumMod val="50000"/>
                  </a:schemeClr>
                </a:solidFill>
              </a:rPr>
              <a:t>形成于贝氏体转变较低的温度范围内，中高碳钢大约在</a:t>
            </a:r>
            <a:r>
              <a:rPr lang="zh-CN" altLang="en-US" sz="2400" b="1" dirty="0"/>
              <a:t>中、高碳钢大约在</a:t>
            </a:r>
            <a:r>
              <a:rPr lang="en-US" altLang="zh-CN" sz="2400" b="1" dirty="0">
                <a:solidFill>
                  <a:srgbClr val="FF0000"/>
                </a:solidFill>
              </a:rPr>
              <a:t>350</a:t>
            </a:r>
            <a:r>
              <a:rPr lang="en-US" altLang="zh-CN" sz="2400" b="1" dirty="0">
                <a:solidFill>
                  <a:srgbClr val="FF0000"/>
                </a:solidFill>
                <a:latin typeface="宋体" panose="02010600030101010101" pitchFamily="2" charset="-122"/>
                <a:ea typeface="宋体" panose="02010600030101010101" pitchFamily="2" charset="-122"/>
              </a:rPr>
              <a:t>℃</a:t>
            </a:r>
            <a:r>
              <a:rPr lang="en-US" altLang="zh-CN" sz="2400" b="1" dirty="0">
                <a:solidFill>
                  <a:srgbClr val="FF0000"/>
                </a:solidFill>
              </a:rPr>
              <a:t>~M</a:t>
            </a:r>
            <a:r>
              <a:rPr lang="en-US" altLang="zh-CN" sz="2400" b="1" baseline="-25000" dirty="0">
                <a:solidFill>
                  <a:srgbClr val="FF0000"/>
                </a:solidFill>
              </a:rPr>
              <a:t>S</a:t>
            </a:r>
            <a:r>
              <a:rPr lang="zh-CN" altLang="en-US" sz="2400" b="1" dirty="0"/>
              <a:t>）形成。</a:t>
            </a:r>
          </a:p>
        </p:txBody>
      </p:sp>
      <p:sp>
        <p:nvSpPr>
          <p:cNvPr id="8198" name="Text Box 9"/>
          <p:cNvSpPr txBox="1"/>
          <p:nvPr/>
        </p:nvSpPr>
        <p:spPr>
          <a:xfrm>
            <a:off x="-71190" y="3116093"/>
            <a:ext cx="9143365" cy="17532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t>下贝氏体是由</a:t>
            </a:r>
            <a:r>
              <a:rPr lang="zh-CN" altLang="en-US" sz="2400" b="1" dirty="0">
                <a:solidFill>
                  <a:schemeClr val="tx1">
                    <a:lumMod val="50000"/>
                  </a:schemeClr>
                </a:solidFill>
              </a:rPr>
              <a:t>过饱和片状</a:t>
            </a:r>
            <a:r>
              <a:rPr lang="zh-CN" altLang="en-US" sz="2400" b="1" dirty="0">
                <a:solidFill>
                  <a:srgbClr val="FF0000"/>
                </a:solidFill>
              </a:rPr>
              <a:t>铁素体</a:t>
            </a:r>
            <a:r>
              <a:rPr lang="zh-CN" altLang="en-US" sz="2400" b="1" dirty="0">
                <a:solidFill>
                  <a:schemeClr val="tx1">
                    <a:lumMod val="50000"/>
                  </a:schemeClr>
                </a:solidFill>
              </a:rPr>
              <a:t>和</a:t>
            </a:r>
            <a:r>
              <a:rPr lang="zh-CN" altLang="en-US" sz="2400" b="1" dirty="0">
                <a:solidFill>
                  <a:srgbClr val="FF0000"/>
                </a:solidFill>
              </a:rPr>
              <a:t>其内部沉淀的渗碳体</a:t>
            </a:r>
            <a:r>
              <a:rPr lang="zh-CN" altLang="en-US" sz="2400" b="1" dirty="0">
                <a:solidFill>
                  <a:schemeClr val="tx1">
                    <a:lumMod val="50000"/>
                  </a:schemeClr>
                </a:solidFill>
              </a:rPr>
              <a:t>组成的机械混合物。铁素体片空间呈凸透镜状，截面为针状或竹叶状，片间呈一定角度，可在奥氏体晶界形核，也可以在奥氏体晶内形核。</a:t>
            </a: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（下贝氏体的组织形态）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8197" name="Text Box 8"/>
          <p:cNvSpPr txBox="1"/>
          <p:nvPr/>
        </p:nvSpPr>
        <p:spPr>
          <a:xfrm>
            <a:off x="-73730" y="1924014"/>
            <a:ext cx="9145905" cy="120552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solidFill>
                  <a:schemeClr val="accent2"/>
                </a:solidFill>
              </a:rPr>
              <a:t>下贝氏体</a:t>
            </a:r>
            <a:r>
              <a:rPr lang="zh-CN" altLang="en-US" sz="2400" b="1" dirty="0">
                <a:solidFill>
                  <a:schemeClr val="tx1">
                    <a:lumMod val="50000"/>
                  </a:schemeClr>
                </a:solidFill>
              </a:rPr>
              <a:t>铁素体的亚结构为位错，密度比上贝氏体高；</a:t>
            </a:r>
            <a:endParaRPr lang="en-US" altLang="zh-CN" sz="2400" b="1" dirty="0">
              <a:solidFill>
                <a:schemeClr val="tx1">
                  <a:lumMod val="50000"/>
                </a:schemeClr>
              </a:solidFill>
            </a:endParaRPr>
          </a:p>
          <a:p>
            <a:pPr marL="0" lvl="0" indent="0" algn="just" eaLnBrk="1" hangingPunct="1">
              <a:lnSpc>
                <a:spcPct val="150000"/>
              </a:lnSpc>
              <a:spcBef>
                <a:spcPts val="600"/>
              </a:spcBef>
              <a:buNone/>
            </a:pPr>
            <a:endParaRPr lang="zh-CN" altLang="en-US" sz="2400" b="1" dirty="0"/>
          </a:p>
        </p:txBody>
      </p:sp>
      <p:sp>
        <p:nvSpPr>
          <p:cNvPr id="8198" name="Text Box 9"/>
          <p:cNvSpPr txBox="1"/>
          <p:nvPr/>
        </p:nvSpPr>
        <p:spPr>
          <a:xfrm>
            <a:off x="-65476" y="2905746"/>
            <a:ext cx="9143365" cy="57458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lvl="0" algn="just" eaLnBrk="1" hangingPunct="1">
              <a:lnSpc>
                <a:spcPct val="150000"/>
              </a:lnSpc>
              <a:spcBef>
                <a:spcPts val="600"/>
              </a:spcBef>
              <a:buFont typeface="Wingdings" panose="05000000000000000000" charset="0"/>
              <a:buChar char="Ø"/>
            </a:pPr>
            <a:r>
              <a:rPr lang="zh-CN" altLang="en-US" sz="2400" b="1" dirty="0">
                <a:solidFill>
                  <a:schemeClr val="tx1">
                    <a:lumMod val="50000"/>
                  </a:schemeClr>
                </a:solidFill>
              </a:rPr>
              <a:t>下贝氏体中铁素体过饱和碳含量高于上贝氏体。</a:t>
            </a: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（下贝氏体的亚结构）</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4" name="矩形 3"/>
          <p:cNvSpPr/>
          <p:nvPr/>
        </p:nvSpPr>
        <p:spPr bwMode="auto">
          <a:xfrm>
            <a:off x="10160" y="4060272"/>
            <a:ext cx="8924115" cy="2797728"/>
          </a:xfrm>
          <a:prstGeom prst="rect">
            <a:avLst/>
          </a:prstGeom>
          <a:solidFill>
            <a:srgbClr val="00B0F0">
              <a:alpha val="13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1" lang="zh-CN" altLang="en-US" sz="2400" b="1" dirty="0">
                <a:solidFill>
                  <a:schemeClr val="tx1">
                    <a:lumMod val="50000"/>
                  </a:schemeClr>
                </a:solidFill>
              </a:rPr>
              <a:t>与马氏体类似，下贝氏体由于碳含量的不同形态上也有区别：</a:t>
            </a:r>
            <a:endParaRPr kumimoji="1" lang="en-US" altLang="zh-CN" sz="2400" b="1" dirty="0">
              <a:solidFill>
                <a:schemeClr val="tx1">
                  <a:lumMod val="50000"/>
                </a:schemeClr>
              </a:solidFill>
            </a:endParaRPr>
          </a:p>
          <a:p>
            <a:pPr marL="342900" marR="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ü"/>
            </a:pPr>
            <a:r>
              <a:rPr kumimoji="1" lang="zh-CN" altLang="en-US" sz="2400" b="1" dirty="0">
                <a:solidFill>
                  <a:schemeClr val="tx1">
                    <a:lumMod val="50000"/>
                  </a:schemeClr>
                </a:solidFill>
              </a:rPr>
              <a:t>低碳下贝氏体：板条状；</a:t>
            </a:r>
            <a:endParaRPr kumimoji="1" lang="en-US" altLang="zh-CN" sz="2400" b="1" dirty="0">
              <a:solidFill>
                <a:schemeClr val="tx1">
                  <a:lumMod val="50000"/>
                </a:schemeClr>
              </a:solidFill>
            </a:endParaRPr>
          </a:p>
          <a:p>
            <a:pPr marL="342900" marR="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ü"/>
            </a:pPr>
            <a:r>
              <a:rPr kumimoji="1" lang="zh-CN" altLang="en-US" sz="2400" b="1" dirty="0">
                <a:solidFill>
                  <a:schemeClr val="tx1">
                    <a:lumMod val="50000"/>
                  </a:schemeClr>
                </a:solidFill>
              </a:rPr>
              <a:t>中碳下贝氏体：板条状</a:t>
            </a:r>
            <a:r>
              <a:rPr kumimoji="1" lang="en-US" altLang="zh-CN" sz="2400" b="1" dirty="0">
                <a:solidFill>
                  <a:schemeClr val="tx1">
                    <a:lumMod val="50000"/>
                  </a:schemeClr>
                </a:solidFill>
              </a:rPr>
              <a:t>+</a:t>
            </a:r>
            <a:r>
              <a:rPr kumimoji="1" lang="zh-CN" altLang="en-US" sz="2400" b="1" dirty="0">
                <a:solidFill>
                  <a:schemeClr val="tx1">
                    <a:lumMod val="50000"/>
                  </a:schemeClr>
                </a:solidFill>
              </a:rPr>
              <a:t>片状；</a:t>
            </a:r>
            <a:endParaRPr kumimoji="1" lang="en-US" altLang="zh-CN" sz="2400" b="1" dirty="0">
              <a:solidFill>
                <a:schemeClr val="tx1">
                  <a:lumMod val="50000"/>
                </a:schemeClr>
              </a:solidFill>
            </a:endParaRPr>
          </a:p>
          <a:p>
            <a:pPr marL="342900" marR="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ü"/>
            </a:pPr>
            <a:r>
              <a:rPr kumimoji="1" lang="zh-CN" altLang="en-US" sz="2400" b="1" dirty="0">
                <a:solidFill>
                  <a:schemeClr val="tx1">
                    <a:lumMod val="50000"/>
                  </a:schemeClr>
                </a:solidFill>
              </a:rPr>
              <a:t>高碳下贝氏体：片状。</a:t>
            </a:r>
            <a:endParaRPr kumimoji="1" lang="en-US" altLang="zh-CN" sz="2400" b="1" dirty="0">
              <a:solidFill>
                <a:schemeClr val="tx1">
                  <a:lumMod val="50000"/>
                </a:schemeClr>
              </a:solidFill>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1" lang="zh-CN" altLang="en-US" sz="2400" b="1" dirty="0">
              <a:solidFill>
                <a:schemeClr val="tx1">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（下贝氏体的组织形态）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低碳下贝氏体 </a:t>
            </a:r>
          </a:p>
        </p:txBody>
      </p:sp>
      <p:pic>
        <p:nvPicPr>
          <p:cNvPr id="11" name="Picture 14" descr="t500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662972" y="2781971"/>
            <a:ext cx="3989154" cy="3669402"/>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12" name="Text Box 16"/>
          <p:cNvSpPr txBox="1">
            <a:spLocks noChangeArrowheads="1"/>
          </p:cNvSpPr>
          <p:nvPr/>
        </p:nvSpPr>
        <p:spPr bwMode="auto">
          <a:xfrm>
            <a:off x="182563" y="2781971"/>
            <a:ext cx="3978376" cy="3669402"/>
          </a:xfrm>
          <a:prstGeom prst="rect">
            <a:avLst/>
          </a:prstGeom>
          <a:solidFill>
            <a:schemeClr val="bg1"/>
          </a:solid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200000"/>
              </a:lnSpc>
              <a:spcBef>
                <a:spcPts val="600"/>
              </a:spcBef>
              <a:spcAft>
                <a:spcPts val="600"/>
              </a:spcAft>
              <a:buFontTx/>
              <a:buNone/>
            </a:pPr>
            <a:r>
              <a:rPr lang="zh-CN" altLang="en-US" sz="2400" b="1" dirty="0"/>
              <a:t>在</a:t>
            </a:r>
            <a:r>
              <a:rPr lang="zh-CN" altLang="en-US" sz="2400" b="1" dirty="0">
                <a:solidFill>
                  <a:srgbClr val="FF0000"/>
                </a:solidFill>
              </a:rPr>
              <a:t>低碳</a:t>
            </a:r>
            <a:r>
              <a:rPr lang="en-US" altLang="zh-CN" sz="2400" b="1" dirty="0">
                <a:solidFill>
                  <a:srgbClr val="FF0000"/>
                </a:solidFill>
              </a:rPr>
              <a:t>(</a:t>
            </a:r>
            <a:r>
              <a:rPr lang="zh-CN" altLang="en-US" sz="2400" b="1" dirty="0">
                <a:solidFill>
                  <a:srgbClr val="FF0000"/>
                </a:solidFill>
              </a:rPr>
              <a:t>低合金</a:t>
            </a:r>
            <a:r>
              <a:rPr lang="en-US" altLang="zh-CN" sz="2400" b="1" dirty="0">
                <a:solidFill>
                  <a:srgbClr val="FF0000"/>
                </a:solidFill>
              </a:rPr>
              <a:t>)</a:t>
            </a:r>
            <a:r>
              <a:rPr lang="zh-CN" altLang="en-US" sz="2400" b="1" dirty="0">
                <a:solidFill>
                  <a:srgbClr val="FF0000"/>
                </a:solidFill>
              </a:rPr>
              <a:t>钢</a:t>
            </a:r>
            <a:r>
              <a:rPr lang="zh-CN" altLang="en-US" sz="2400" b="1" dirty="0">
                <a:solidFill>
                  <a:schemeClr val="accent2"/>
                </a:solidFill>
              </a:rPr>
              <a:t>中</a:t>
            </a:r>
            <a:r>
              <a:rPr lang="zh-CN" altLang="en-US" sz="2400" b="1" dirty="0"/>
              <a:t>，这种贝氏体铁素体的形态通常呈</a:t>
            </a:r>
            <a:r>
              <a:rPr lang="zh-CN" altLang="en-US" sz="2400" b="1" dirty="0">
                <a:solidFill>
                  <a:srgbClr val="FF0000"/>
                </a:solidFill>
              </a:rPr>
              <a:t>板条状</a:t>
            </a:r>
            <a:r>
              <a:rPr lang="zh-CN" altLang="en-US" sz="2400" b="1" dirty="0"/>
              <a:t>，若干个平行排列的板条便构成一束</a:t>
            </a:r>
            <a:r>
              <a:rPr lang="en-US" altLang="zh-CN" sz="2400" b="1" dirty="0"/>
              <a:t>(</a:t>
            </a:r>
            <a:r>
              <a:rPr lang="zh-CN" altLang="en-US" sz="2400" b="1" dirty="0"/>
              <a:t>见图</a:t>
            </a:r>
            <a:r>
              <a:rPr lang="en-US" altLang="zh-CN" sz="2400" b="1" dirty="0"/>
              <a:t>5-3)</a:t>
            </a:r>
            <a:r>
              <a:rPr lang="zh-CN" altLang="en-US" sz="2400" b="1" dirty="0"/>
              <a:t>，</a:t>
            </a:r>
            <a:r>
              <a:rPr lang="zh-CN" altLang="en-US" sz="2400" b="1" dirty="0">
                <a:solidFill>
                  <a:srgbClr val="FF0000"/>
                </a:solidFill>
              </a:rPr>
              <a:t>与板条状马氏体很相似</a:t>
            </a:r>
            <a:r>
              <a:rPr lang="zh-CN" altLang="en-US" sz="24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（下贝氏体的组织形态）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高碳下贝氏体 </a:t>
            </a:r>
          </a:p>
        </p:txBody>
      </p:sp>
      <p:sp>
        <p:nvSpPr>
          <p:cNvPr id="13" name="Text Box 4"/>
          <p:cNvSpPr txBox="1">
            <a:spLocks noChangeArrowheads="1"/>
          </p:cNvSpPr>
          <p:nvPr/>
        </p:nvSpPr>
        <p:spPr bwMode="auto">
          <a:xfrm>
            <a:off x="-1270" y="2375344"/>
            <a:ext cx="9165589" cy="871713"/>
          </a:xfrm>
          <a:prstGeom prst="rect">
            <a:avLst/>
          </a:prstGeom>
          <a:solidFill>
            <a:srgbClr val="FFFF66">
              <a:alpha val="16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zh-CN" altLang="en-US" sz="2400" b="1" dirty="0"/>
              <a:t>在</a:t>
            </a:r>
            <a:r>
              <a:rPr lang="zh-CN" altLang="en-US" sz="2400" b="1" dirty="0">
                <a:solidFill>
                  <a:srgbClr val="FF0000"/>
                </a:solidFill>
              </a:rPr>
              <a:t>高碳钢中</a:t>
            </a:r>
            <a:r>
              <a:rPr lang="zh-CN" altLang="en-US" sz="2400" b="1" dirty="0"/>
              <a:t>，贝氏体铁素体则往往呈</a:t>
            </a:r>
            <a:r>
              <a:rPr lang="zh-CN" altLang="en-US" sz="2400" b="1" dirty="0">
                <a:solidFill>
                  <a:srgbClr val="FF0000"/>
                </a:solidFill>
              </a:rPr>
              <a:t>片状</a:t>
            </a:r>
            <a:r>
              <a:rPr lang="zh-CN" altLang="en-US" sz="2400" b="1" dirty="0"/>
              <a:t>，各个片之间互成一定的交角</a:t>
            </a:r>
            <a:r>
              <a:rPr lang="en-US" altLang="zh-CN" sz="2400" b="1" dirty="0"/>
              <a:t>(</a:t>
            </a:r>
            <a:r>
              <a:rPr lang="zh-CN" altLang="en-US" sz="2400" b="1" dirty="0"/>
              <a:t>见图</a:t>
            </a:r>
            <a:r>
              <a:rPr lang="en-US" altLang="zh-CN" sz="2400" b="1" dirty="0"/>
              <a:t>5-4)</a:t>
            </a:r>
            <a:r>
              <a:rPr lang="zh-CN" altLang="en-US" sz="2400" b="1" dirty="0"/>
              <a:t>，</a:t>
            </a:r>
            <a:r>
              <a:rPr lang="zh-CN" altLang="en-US" sz="2400" b="1" dirty="0">
                <a:solidFill>
                  <a:schemeClr val="accent2"/>
                </a:solidFill>
              </a:rPr>
              <a:t>与片状马氏体很相似</a:t>
            </a:r>
            <a:r>
              <a:rPr lang="zh-CN" altLang="en-US" sz="2400" b="1" dirty="0"/>
              <a:t>。</a:t>
            </a:r>
          </a:p>
        </p:txBody>
      </p:sp>
      <p:pic>
        <p:nvPicPr>
          <p:cNvPr id="14" name="Picture 5" descr="t5007"/>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196661" y="3348407"/>
            <a:ext cx="7104274" cy="34082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0-#ppt_w/2"/>
                                          </p:val>
                                        </p:tav>
                                        <p:tav tm="100000">
                                          <p:val>
                                            <p:strVal val="#ppt_x"/>
                                          </p:val>
                                        </p:tav>
                                      </p:tavLst>
                                    </p:anim>
                                    <p:anim calcmode="lin" valueType="num">
                                      <p:cBhvr additive="base">
                                        <p:cTn id="13"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21589" y="617537"/>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（下贝氏体的组织形态）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中碳下贝氏体 </a:t>
            </a:r>
          </a:p>
        </p:txBody>
      </p:sp>
      <p:sp>
        <p:nvSpPr>
          <p:cNvPr id="11" name="Text Box 4"/>
          <p:cNvSpPr txBox="1">
            <a:spLocks noChangeArrowheads="1"/>
          </p:cNvSpPr>
          <p:nvPr/>
        </p:nvSpPr>
        <p:spPr bwMode="auto">
          <a:xfrm>
            <a:off x="616143" y="5705610"/>
            <a:ext cx="8506268" cy="875432"/>
          </a:xfrm>
          <a:prstGeom prst="rect">
            <a:avLst/>
          </a:prstGeom>
          <a:solidFill>
            <a:schemeClr val="bg1"/>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zh-CN" altLang="en-US" sz="2400" b="1" dirty="0"/>
              <a:t>        在中碳钢中，则两种形态的贝氏体铁素体兼有之。  </a:t>
            </a:r>
          </a:p>
          <a:p>
            <a:pPr algn="just" eaLnBrk="1" hangingPunct="1">
              <a:lnSpc>
                <a:spcPct val="110000"/>
              </a:lnSpc>
              <a:spcBef>
                <a:spcPct val="0"/>
              </a:spcBef>
              <a:buFontTx/>
              <a:buNone/>
            </a:pPr>
            <a:r>
              <a:rPr lang="zh-CN" altLang="en-US" sz="2400" dirty="0"/>
              <a:t>    </a:t>
            </a:r>
          </a:p>
        </p:txBody>
      </p:sp>
      <p:grpSp>
        <p:nvGrpSpPr>
          <p:cNvPr id="23" name="组合 22"/>
          <p:cNvGrpSpPr/>
          <p:nvPr/>
        </p:nvGrpSpPr>
        <p:grpSpPr>
          <a:xfrm>
            <a:off x="218450" y="2707856"/>
            <a:ext cx="8740992" cy="2554835"/>
            <a:chOff x="201504" y="2393178"/>
            <a:chExt cx="8740992" cy="2554835"/>
          </a:xfrm>
        </p:grpSpPr>
        <p:pic>
          <p:nvPicPr>
            <p:cNvPr id="7" name="图片 6"/>
            <p:cNvPicPr>
              <a:picLocks noChangeAspect="1"/>
            </p:cNvPicPr>
            <p:nvPr/>
          </p:nvPicPr>
          <p:blipFill>
            <a:blip r:embed="rId4" cstate="print"/>
            <a:stretch>
              <a:fillRect/>
            </a:stretch>
          </p:blipFill>
          <p:spPr>
            <a:xfrm>
              <a:off x="201504" y="2401000"/>
              <a:ext cx="2730201" cy="2523367"/>
            </a:xfrm>
            <a:prstGeom prst="rect">
              <a:avLst/>
            </a:prstGeom>
          </p:spPr>
        </p:pic>
        <p:pic>
          <p:nvPicPr>
            <p:cNvPr id="20" name="图片 19"/>
            <p:cNvPicPr>
              <a:picLocks noChangeAspect="1"/>
            </p:cNvPicPr>
            <p:nvPr/>
          </p:nvPicPr>
          <p:blipFill>
            <a:blip r:embed="rId5" cstate="print"/>
            <a:stretch>
              <a:fillRect/>
            </a:stretch>
          </p:blipFill>
          <p:spPr>
            <a:xfrm>
              <a:off x="2997862" y="2401000"/>
              <a:ext cx="2843959" cy="2523367"/>
            </a:xfrm>
            <a:prstGeom prst="rect">
              <a:avLst/>
            </a:prstGeom>
          </p:spPr>
        </p:pic>
        <p:pic>
          <p:nvPicPr>
            <p:cNvPr id="22" name="图片 21"/>
            <p:cNvPicPr>
              <a:picLocks noChangeAspect="1"/>
            </p:cNvPicPr>
            <p:nvPr/>
          </p:nvPicPr>
          <p:blipFill>
            <a:blip r:embed="rId6" cstate="print"/>
            <a:stretch>
              <a:fillRect/>
            </a:stretch>
          </p:blipFill>
          <p:spPr>
            <a:xfrm>
              <a:off x="5907978" y="2393178"/>
              <a:ext cx="3034518" cy="255483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（下贝氏体的组织形态）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中碳下贝氏体 </a:t>
            </a:r>
          </a:p>
        </p:txBody>
      </p:sp>
      <p:grpSp>
        <p:nvGrpSpPr>
          <p:cNvPr id="8" name="Group 3"/>
          <p:cNvGrpSpPr/>
          <p:nvPr/>
        </p:nvGrpSpPr>
        <p:grpSpPr bwMode="auto">
          <a:xfrm>
            <a:off x="689338" y="2541314"/>
            <a:ext cx="8018433" cy="4056567"/>
            <a:chOff x="2340" y="5184"/>
            <a:chExt cx="6659" cy="3390"/>
          </a:xfrm>
        </p:grpSpPr>
        <p:grpSp>
          <p:nvGrpSpPr>
            <p:cNvPr id="11" name="Group 4"/>
            <p:cNvGrpSpPr/>
            <p:nvPr/>
          </p:nvGrpSpPr>
          <p:grpSpPr bwMode="auto">
            <a:xfrm>
              <a:off x="2340" y="5184"/>
              <a:ext cx="6659" cy="3390"/>
              <a:chOff x="2138" y="6120"/>
              <a:chExt cx="6659" cy="3390"/>
            </a:xfrm>
          </p:grpSpPr>
          <p:pic>
            <p:nvPicPr>
              <p:cNvPr id="14" name="Picture 5" descr="高碳下贝氏体形态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138" y="6120"/>
                <a:ext cx="3220" cy="2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 name="Picture 6" descr="高碳下贝氏体形态2"/>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098" y="6120"/>
                <a:ext cx="2699" cy="25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6" name="Text Box 7"/>
              <p:cNvSpPr txBox="1">
                <a:spLocks noChangeArrowheads="1"/>
              </p:cNvSpPr>
              <p:nvPr/>
            </p:nvSpPr>
            <p:spPr bwMode="auto">
              <a:xfrm>
                <a:off x="2687" y="8772"/>
                <a:ext cx="5232" cy="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800" dirty="0">
                    <a:solidFill>
                      <a:srgbClr val="FF0000"/>
                    </a:solidFill>
                  </a:rPr>
                  <a:t>                          中、高碳钢下贝氏体形态比较</a:t>
                </a:r>
                <a:endParaRPr kumimoji="0" lang="en-US" altLang="zh-CN" sz="1800" dirty="0">
                  <a:solidFill>
                    <a:srgbClr val="FF0000"/>
                  </a:solidFill>
                </a:endParaRPr>
              </a:p>
              <a:p>
                <a:pPr eaLnBrk="1" hangingPunct="1">
                  <a:spcBef>
                    <a:spcPct val="0"/>
                  </a:spcBef>
                  <a:buFontTx/>
                  <a:buNone/>
                </a:pPr>
                <a:endParaRPr kumimoji="0" lang="zh-CN" altLang="en-US" sz="1800" dirty="0">
                  <a:solidFill>
                    <a:srgbClr val="FF0000"/>
                  </a:solidFill>
                </a:endParaRPr>
              </a:p>
              <a:p>
                <a:pPr eaLnBrk="1" hangingPunct="1">
                  <a:spcBef>
                    <a:spcPct val="0"/>
                  </a:spcBef>
                  <a:buFontTx/>
                  <a:buNone/>
                </a:pPr>
                <a:r>
                  <a:rPr kumimoji="0" lang="en-US" altLang="zh-CN" sz="1800" dirty="0">
                    <a:solidFill>
                      <a:srgbClr val="FF0000"/>
                    </a:solidFill>
                  </a:rPr>
                  <a:t>                 a) 45</a:t>
                </a:r>
                <a:r>
                  <a:rPr kumimoji="0" lang="zh-CN" altLang="en-US" sz="1800" dirty="0">
                    <a:solidFill>
                      <a:srgbClr val="FF0000"/>
                    </a:solidFill>
                  </a:rPr>
                  <a:t>钢            </a:t>
                </a:r>
                <a:r>
                  <a:rPr kumimoji="0" lang="en-US" altLang="zh-CN" sz="1800" dirty="0">
                    <a:solidFill>
                      <a:srgbClr val="FF0000"/>
                    </a:solidFill>
                  </a:rPr>
                  <a:t>b) 0.9%C-1.3%Si-1.1%Cr</a:t>
                </a:r>
                <a:r>
                  <a:rPr kumimoji="0" lang="zh-CN" altLang="en-US" sz="1800" dirty="0">
                    <a:solidFill>
                      <a:srgbClr val="FF0000"/>
                    </a:solidFill>
                  </a:rPr>
                  <a:t>钢 </a:t>
                </a:r>
                <a:endParaRPr kumimoji="0" lang="zh-CN" altLang="en-US" sz="1800" dirty="0">
                  <a:solidFill>
                    <a:srgbClr val="FF0000"/>
                  </a:solidFill>
                  <a:latin typeface="Arial" panose="020B0604020202020204" pitchFamily="34" charset="0"/>
                </a:endParaRPr>
              </a:p>
            </p:txBody>
          </p:sp>
        </p:grpSp>
        <p:sp>
          <p:nvSpPr>
            <p:cNvPr id="12" name="Text Box 8"/>
            <p:cNvSpPr txBox="1">
              <a:spLocks noChangeArrowheads="1"/>
            </p:cNvSpPr>
            <p:nvPr/>
          </p:nvSpPr>
          <p:spPr bwMode="auto">
            <a:xfrm>
              <a:off x="2340" y="7506"/>
              <a:ext cx="312" cy="252"/>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a:solidFill>
                    <a:srgbClr val="FF0000"/>
                  </a:solidFill>
                </a:rPr>
                <a:t>(a)</a:t>
              </a:r>
              <a:endParaRPr kumimoji="0" lang="en-US" altLang="zh-CN" sz="2000">
                <a:solidFill>
                  <a:srgbClr val="FF0000"/>
                </a:solidFill>
                <a:latin typeface="Arial" panose="020B0604020202020204" pitchFamily="34" charset="0"/>
              </a:endParaRPr>
            </a:p>
          </p:txBody>
        </p:sp>
        <p:sp>
          <p:nvSpPr>
            <p:cNvPr id="13" name="Text Box 9"/>
            <p:cNvSpPr txBox="1">
              <a:spLocks noChangeArrowheads="1"/>
            </p:cNvSpPr>
            <p:nvPr/>
          </p:nvSpPr>
          <p:spPr bwMode="auto">
            <a:xfrm>
              <a:off x="6312" y="7506"/>
              <a:ext cx="312" cy="252"/>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a:solidFill>
                    <a:srgbClr val="FF0000"/>
                  </a:solidFill>
                </a:rPr>
                <a:t>(b)</a:t>
              </a:r>
              <a:endParaRPr kumimoji="0" lang="en-US" altLang="zh-CN" sz="2000">
                <a:solidFill>
                  <a:srgbClr val="FF0000"/>
                </a:solidFill>
                <a:latin typeface="Arial" panose="020B0604020202020204" pitchFamily="34"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（其他贝氏体的组织形态）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无碳化物贝氏体 </a:t>
            </a:r>
          </a:p>
        </p:txBody>
      </p:sp>
      <p:pic>
        <p:nvPicPr>
          <p:cNvPr id="8" name="Picture 4" descr="t5009"/>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060255" y="2416662"/>
            <a:ext cx="3451020" cy="30595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5"/>
          <p:cNvSpPr txBox="1">
            <a:spLocks noChangeArrowheads="1"/>
          </p:cNvSpPr>
          <p:nvPr/>
        </p:nvSpPr>
        <p:spPr bwMode="auto">
          <a:xfrm>
            <a:off x="370979" y="2468269"/>
            <a:ext cx="4046392" cy="2921505"/>
          </a:xfrm>
          <a:prstGeom prst="rect">
            <a:avLst/>
          </a:prstGeom>
          <a:noFill/>
          <a:ln w="19050">
            <a:solidFill>
              <a:schemeClr val="tx1"/>
            </a:solidFill>
            <a:prstDash val="dashDot"/>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30000"/>
              </a:lnSpc>
              <a:spcBef>
                <a:spcPct val="0"/>
              </a:spcBef>
              <a:buFontTx/>
              <a:buNone/>
            </a:pPr>
            <a:r>
              <a:rPr lang="zh-CN" altLang="en-US" sz="2400" b="1" dirty="0"/>
              <a:t>无碳化物贝氏体的显微组织见图</a:t>
            </a:r>
            <a:r>
              <a:rPr lang="en-US" altLang="zh-CN" sz="2400" b="1" dirty="0"/>
              <a:t>5-6</a:t>
            </a:r>
            <a:r>
              <a:rPr lang="zh-CN" altLang="en-US" sz="2400" b="1" dirty="0"/>
              <a:t>，可见它是从晶界开始向晶内平行生长的</a:t>
            </a:r>
            <a:r>
              <a:rPr lang="zh-CN" altLang="en-US" sz="2400" b="1" dirty="0">
                <a:solidFill>
                  <a:srgbClr val="FF0000"/>
                </a:solidFill>
              </a:rPr>
              <a:t>成束的板条状铁素体</a:t>
            </a:r>
            <a:r>
              <a:rPr lang="zh-CN" altLang="en-US" sz="2400" b="1" dirty="0"/>
              <a:t>，其板条较宽，条间距离也较大。形成温度下</a:t>
            </a:r>
            <a:r>
              <a:rPr lang="zh-CN" altLang="en-US" sz="2400" b="1" dirty="0">
                <a:solidFill>
                  <a:srgbClr val="FF0000"/>
                </a:solidFill>
              </a:rPr>
              <a:t>板条间为富碳的奥氏体</a:t>
            </a:r>
            <a:r>
              <a:rPr lang="zh-CN" altLang="en-US" sz="2400" b="1" dirty="0"/>
              <a:t>。</a:t>
            </a:r>
          </a:p>
        </p:txBody>
      </p:sp>
      <p:sp>
        <p:nvSpPr>
          <p:cNvPr id="12" name="Text Box 6"/>
          <p:cNvSpPr txBox="1">
            <a:spLocks noChangeArrowheads="1"/>
          </p:cNvSpPr>
          <p:nvPr/>
        </p:nvSpPr>
        <p:spPr bwMode="auto">
          <a:xfrm>
            <a:off x="30480" y="5569172"/>
            <a:ext cx="9133840" cy="1277979"/>
          </a:xfrm>
          <a:prstGeom prst="rect">
            <a:avLst/>
          </a:prstGeom>
          <a:solidFill>
            <a:srgbClr val="92D050">
              <a:alpha val="31000"/>
            </a:srgbClr>
          </a:solidFill>
          <a:ln w="19050">
            <a:solidFill>
              <a:schemeClr val="tx1"/>
            </a:solidFill>
            <a:prstDash val="solid"/>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zh-CN" altLang="en-US" sz="2400" b="1" dirty="0"/>
              <a:t>这种富碳奥氏体在随后冷却过程中将会部分地转变为马氏体。如在同一温度继续停留则可能转变为奥氏体的其它分解产物</a:t>
            </a:r>
            <a:r>
              <a:rPr lang="en-US" altLang="zh-CN" sz="2400" b="1" dirty="0"/>
              <a:t>(</a:t>
            </a:r>
            <a:r>
              <a:rPr lang="zh-CN" altLang="en-US" sz="2400" b="1" dirty="0"/>
              <a:t>其它贝氏体或珠光体</a:t>
            </a:r>
            <a:r>
              <a:rPr lang="en-US" altLang="zh-CN" sz="2400" b="1" dirty="0"/>
              <a:t>)</a:t>
            </a:r>
            <a:r>
              <a:rPr lang="zh-CN" altLang="en-US" sz="2400" b="1" dirty="0"/>
              <a:t>。这类贝氏体形成时也具有</a:t>
            </a:r>
            <a:r>
              <a:rPr lang="zh-CN" altLang="en-US" sz="2400" b="1" dirty="0">
                <a:solidFill>
                  <a:srgbClr val="FF0000"/>
                </a:solidFill>
              </a:rPr>
              <a:t>浮凸效应</a:t>
            </a:r>
            <a:r>
              <a:rPr lang="zh-CN" altLang="en-US" sz="24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checkerboard(across)">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（其他贝氏体的组织形态）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粒状贝氏体 </a:t>
            </a:r>
          </a:p>
        </p:txBody>
      </p:sp>
      <p:sp>
        <p:nvSpPr>
          <p:cNvPr id="13" name="Text Box 4"/>
          <p:cNvSpPr txBox="1">
            <a:spLocks noChangeArrowheads="1"/>
          </p:cNvSpPr>
          <p:nvPr/>
        </p:nvSpPr>
        <p:spPr bwMode="auto">
          <a:xfrm>
            <a:off x="-1268" y="2364602"/>
            <a:ext cx="3214252" cy="2897460"/>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en-US" altLang="zh-CN" sz="2800" dirty="0"/>
              <a:t>    </a:t>
            </a:r>
            <a:r>
              <a:rPr lang="zh-CN" altLang="en-US" sz="2800" b="1" dirty="0"/>
              <a:t>粒状贝氏体一般是在</a:t>
            </a:r>
            <a:r>
              <a:rPr lang="zh-CN" altLang="en-US" sz="2800" b="1" dirty="0">
                <a:solidFill>
                  <a:srgbClr val="FF0000"/>
                </a:solidFill>
              </a:rPr>
              <a:t>低、中碳合金钢中存在</a:t>
            </a:r>
            <a:r>
              <a:rPr lang="zh-CN" altLang="en-US" sz="2800" b="1" dirty="0"/>
              <a:t>，它是</a:t>
            </a:r>
            <a:r>
              <a:rPr lang="zh-CN" altLang="en-US" sz="2800" b="1" dirty="0">
                <a:solidFill>
                  <a:srgbClr val="FF0000"/>
                </a:solidFill>
              </a:rPr>
              <a:t>在稍高于其典型上贝氏体形成温度下形成的</a:t>
            </a:r>
            <a:r>
              <a:rPr lang="zh-CN" altLang="en-US" sz="2800" b="1" dirty="0"/>
              <a:t>。</a:t>
            </a:r>
          </a:p>
        </p:txBody>
      </p:sp>
      <p:pic>
        <p:nvPicPr>
          <p:cNvPr id="14" name="Picture 10" descr="t5010"/>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364172" y="2357961"/>
            <a:ext cx="5638800" cy="3051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矩形 3"/>
          <p:cNvSpPr/>
          <p:nvPr/>
        </p:nvSpPr>
        <p:spPr bwMode="auto">
          <a:xfrm>
            <a:off x="-1270" y="5440886"/>
            <a:ext cx="9155429" cy="1459976"/>
          </a:xfrm>
          <a:prstGeom prst="rect">
            <a:avLst/>
          </a:prstGeom>
          <a:solidFill>
            <a:srgbClr val="0070C0">
              <a:alpha val="2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2800" dirty="0">
                <a:solidFill>
                  <a:schemeClr val="tx1">
                    <a:lumMod val="50000"/>
                  </a:schemeClr>
                </a:solidFill>
                <a:latin typeface="Arial" panose="020B0604020202020204" pitchFamily="34" charset="0"/>
                <a:ea typeface="宋体" panose="02010600030101010101" pitchFamily="2" charset="-122"/>
              </a:rPr>
              <a:t>粒状贝氏体</a:t>
            </a:r>
            <a:r>
              <a:rPr kumimoji="0" lang="zh-CN" altLang="en-US"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由条状亚单元组成的板条状铁素体和在其中呈一定方向分布的富碳奥氏体岛</a:t>
            </a:r>
            <a:r>
              <a:rPr kumimoji="0" lang="en-US" altLang="zh-CN"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a:t>
            </a:r>
            <a:r>
              <a:rPr kumimoji="0" lang="zh-CN" altLang="en-US"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有时还有少量碳化物</a:t>
            </a:r>
            <a:r>
              <a:rPr kumimoji="0" lang="en-US" altLang="zh-CN"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a:t>
            </a:r>
            <a:r>
              <a:rPr kumimoji="0" lang="zh-CN" altLang="en-US"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所构成的复相组织，并具有明显的浮凸效应。</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（其他贝氏体的组织形态）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粒状贝氏体 </a:t>
            </a:r>
          </a:p>
        </p:txBody>
      </p:sp>
      <p:sp>
        <p:nvSpPr>
          <p:cNvPr id="8" name="Text Box 2"/>
          <p:cNvSpPr txBox="1">
            <a:spLocks noChangeArrowheads="1"/>
          </p:cNvSpPr>
          <p:nvPr/>
        </p:nvSpPr>
        <p:spPr bwMode="auto">
          <a:xfrm>
            <a:off x="589000" y="6179303"/>
            <a:ext cx="8109066"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buFontTx/>
              <a:buNone/>
            </a:pPr>
            <a:r>
              <a:rPr lang="zh-CN" altLang="en-US" b="1" dirty="0">
                <a:solidFill>
                  <a:srgbClr val="FF0000"/>
                </a:solidFill>
                <a:ea typeface="华文新魏" panose="02010800040101010101" pitchFamily="2" charset="-122"/>
              </a:rPr>
              <a:t>粒状贝氏体：</a:t>
            </a:r>
            <a:r>
              <a:rPr lang="zh-CN" altLang="en-US" sz="3000" b="1" dirty="0">
                <a:solidFill>
                  <a:schemeClr val="tx2"/>
                </a:solidFill>
                <a:ea typeface="仿宋_GB2312" pitchFamily="49" charset="-122"/>
              </a:rPr>
              <a:t>贝氏体铁素体＋岛状物（</a:t>
            </a:r>
            <a:r>
              <a:rPr lang="en-US" altLang="zh-CN" sz="3000" b="1" dirty="0">
                <a:solidFill>
                  <a:schemeClr val="tx2"/>
                </a:solidFill>
                <a:ea typeface="仿宋_GB2312" pitchFamily="49" charset="-122"/>
              </a:rPr>
              <a:t>M-A</a:t>
            </a:r>
            <a:r>
              <a:rPr lang="zh-CN" altLang="en-US" sz="3000" b="1" dirty="0">
                <a:solidFill>
                  <a:schemeClr val="tx2"/>
                </a:solidFill>
                <a:ea typeface="仿宋_GB2312" pitchFamily="49" charset="-122"/>
              </a:rPr>
              <a:t>岛）     </a:t>
            </a:r>
          </a:p>
        </p:txBody>
      </p:sp>
      <p:pic>
        <p:nvPicPr>
          <p:cNvPr id="11"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b="28854"/>
          <a:stretch>
            <a:fillRect/>
          </a:stretch>
        </p:blipFill>
        <p:spPr bwMode="auto">
          <a:xfrm>
            <a:off x="2632848" y="2064537"/>
            <a:ext cx="4590074" cy="3888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（其他贝氏体的组织形态）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38180" y="2008143"/>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反常贝氏体 </a:t>
            </a:r>
          </a:p>
        </p:txBody>
      </p:sp>
      <p:sp>
        <p:nvSpPr>
          <p:cNvPr id="8" name="Text Box 4"/>
          <p:cNvSpPr txBox="1">
            <a:spLocks noChangeArrowheads="1"/>
          </p:cNvSpPr>
          <p:nvPr/>
        </p:nvSpPr>
        <p:spPr bwMode="auto">
          <a:xfrm>
            <a:off x="38180" y="2438844"/>
            <a:ext cx="5010222" cy="4121834"/>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zh-CN" altLang="en-US" sz="2400" b="1" dirty="0"/>
              <a:t>反常贝氏体</a:t>
            </a:r>
            <a:r>
              <a:rPr lang="zh-CN" altLang="en-US" sz="2400" b="1" dirty="0">
                <a:solidFill>
                  <a:srgbClr val="FF0000"/>
                </a:solidFill>
              </a:rPr>
              <a:t>产生于过共析钢中</a:t>
            </a:r>
            <a:r>
              <a:rPr lang="zh-CN" altLang="en-US" sz="2400" b="1" dirty="0"/>
              <a:t>。这种钢在</a:t>
            </a:r>
            <a:r>
              <a:rPr lang="en-US" altLang="zh-CN" sz="2400" b="1" dirty="0"/>
              <a:t>Bs</a:t>
            </a:r>
            <a:r>
              <a:rPr lang="zh-CN" altLang="en-US" sz="2400" b="1" dirty="0"/>
              <a:t>点以上因有先共析渗碳体的析出</a:t>
            </a:r>
            <a:r>
              <a:rPr lang="en-US" altLang="zh-CN" sz="2400" b="1" dirty="0"/>
              <a:t>(</a:t>
            </a:r>
            <a:r>
              <a:rPr lang="zh-CN" altLang="en-US" sz="2400" b="1" dirty="0"/>
              <a:t>一般呈</a:t>
            </a:r>
            <a:r>
              <a:rPr lang="zh-CN" altLang="en-US" sz="2400" b="1" dirty="0">
                <a:solidFill>
                  <a:srgbClr val="FF0000"/>
                </a:solidFill>
              </a:rPr>
              <a:t>魏氏形态</a:t>
            </a:r>
            <a:r>
              <a:rPr lang="en-US" altLang="zh-CN" sz="2400" b="1" dirty="0"/>
              <a:t>)</a:t>
            </a:r>
            <a:r>
              <a:rPr lang="zh-CN" altLang="en-US" sz="2400" b="1" dirty="0"/>
              <a:t>而使其周围奥氏体的碳含量降低，这样便促使在</a:t>
            </a:r>
            <a:r>
              <a:rPr lang="en-US" altLang="zh-CN" sz="2400" b="1" dirty="0"/>
              <a:t>Bs</a:t>
            </a:r>
            <a:r>
              <a:rPr lang="zh-CN" altLang="en-US" sz="2400" b="1" dirty="0"/>
              <a:t>点以下形成由碳化物与铁素体组成的上贝氏体。由于这种贝氏体是</a:t>
            </a:r>
            <a:r>
              <a:rPr lang="zh-CN" altLang="en-US" sz="2400" b="1" dirty="0">
                <a:solidFill>
                  <a:srgbClr val="FF0000"/>
                </a:solidFill>
              </a:rPr>
              <a:t>以渗碳体领先形核，和一般贝氏体以铁素体领先形核相反，故称为</a:t>
            </a:r>
            <a:r>
              <a:rPr lang="zh-CN" altLang="en-US" sz="2400" b="1" dirty="0">
                <a:solidFill>
                  <a:schemeClr val="accent2"/>
                </a:solidFill>
              </a:rPr>
              <a:t>反常贝氏体</a:t>
            </a:r>
            <a:r>
              <a:rPr lang="zh-CN" altLang="en-US" sz="2400" b="1" dirty="0"/>
              <a:t>，见图</a:t>
            </a:r>
            <a:r>
              <a:rPr lang="en-US" altLang="zh-CN" sz="2400" b="1" dirty="0"/>
              <a:t>5-9</a:t>
            </a:r>
            <a:r>
              <a:rPr lang="zh-CN" altLang="en-US" sz="2400" b="1" dirty="0"/>
              <a:t>。目前对这种贝氏体研究较少。</a:t>
            </a:r>
          </a:p>
        </p:txBody>
      </p:sp>
      <p:pic>
        <p:nvPicPr>
          <p:cNvPr id="11" name="Picture 6" descr="t501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309346" y="2437665"/>
            <a:ext cx="3583870" cy="4123013"/>
          </a:xfrm>
          <a:prstGeom prst="rect">
            <a:avLst/>
          </a:prstGeom>
          <a:noFill/>
          <a:ln w="19050">
            <a:solidFill>
              <a:srgbClr val="0070C0"/>
            </a:solidFill>
            <a:miter lim="800000"/>
            <a:headEnd/>
            <a:tailEnd/>
          </a:ln>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（其他贝氏体的组织形态）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0" name="Rectangle 2"/>
          <p:cNvSpPr txBox="1">
            <a:spLocks noChangeArrowheads="1"/>
          </p:cNvSpPr>
          <p:nvPr/>
        </p:nvSpPr>
        <p:spPr bwMode="auto">
          <a:xfrm>
            <a:off x="10160" y="1998848"/>
            <a:ext cx="9155429" cy="376496"/>
          </a:xfrm>
          <a:prstGeom prst="rect">
            <a:avLst/>
          </a:prstGeom>
          <a:solidFill>
            <a:schemeClr val="bg1"/>
          </a:solidFill>
          <a:ln>
            <a:noFill/>
          </a:ln>
        </p:spPr>
        <p:txBody>
          <a:bodyPr vert="horz" wrap="square" lIns="91440" tIns="45720" rIns="91440" bIns="45720" numCol="1" anchor="b" anchorCtr="0" compatLnSpc="1"/>
          <a:lstStyle>
            <a:lvl1pPr algn="l" defTabSz="685800" rtl="0" eaLnBrk="0" fontAlgn="base" hangingPunct="0">
              <a:lnSpc>
                <a:spcPct val="90000"/>
              </a:lnSpc>
              <a:spcBef>
                <a:spcPct val="0"/>
              </a:spcBef>
              <a:spcAft>
                <a:spcPct val="0"/>
              </a:spcAft>
              <a:defRPr sz="27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2700">
                <a:solidFill>
                  <a:schemeClr val="accent1"/>
                </a:solidFill>
                <a:latin typeface="Arial Black" panose="020B0A04020102020204" pitchFamily="34" charset="0"/>
                <a:ea typeface="微软雅黑" panose="020B0503020204020204" pitchFamily="34" charset="-122"/>
              </a:defRPr>
            </a:lvl9pPr>
          </a:lstStyle>
          <a:p>
            <a:pPr marL="342900" indent="-342900" eaLnBrk="1" hangingPunct="1">
              <a:buFont typeface="Wingdings" panose="05000000000000000000" pitchFamily="2" charset="2"/>
              <a:buChar char="Ø"/>
            </a:pPr>
            <a:r>
              <a:rPr lang="zh-CN" altLang="en-US" sz="2400" b="1" kern="0" dirty="0">
                <a:solidFill>
                  <a:schemeClr val="tx1"/>
                </a:solidFill>
              </a:rPr>
              <a:t>柱状贝氏体 </a:t>
            </a:r>
          </a:p>
        </p:txBody>
      </p:sp>
      <p:sp>
        <p:nvSpPr>
          <p:cNvPr id="8" name="Text Box 1028"/>
          <p:cNvSpPr txBox="1">
            <a:spLocks noChangeArrowheads="1"/>
          </p:cNvSpPr>
          <p:nvPr/>
        </p:nvSpPr>
        <p:spPr bwMode="auto">
          <a:xfrm>
            <a:off x="182563" y="2438844"/>
            <a:ext cx="4648200" cy="4108450"/>
          </a:xfrm>
          <a:prstGeom prst="rect">
            <a:avLst/>
          </a:prstGeom>
          <a:noFill/>
          <a:ln w="1905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zh-CN" altLang="en-US" sz="2400" b="1" dirty="0"/>
              <a:t>柱状贝氏体一般是在</a:t>
            </a:r>
            <a:r>
              <a:rPr lang="zh-CN" altLang="en-US" sz="2400" b="1" dirty="0">
                <a:solidFill>
                  <a:srgbClr val="FF0000"/>
                </a:solidFill>
              </a:rPr>
              <a:t>高碳钢或高碳合金钢的贝氏体转变区的较低温度范围内形成，</a:t>
            </a:r>
            <a:r>
              <a:rPr lang="zh-CN" altLang="en-US" sz="2400" b="1" dirty="0"/>
              <a:t>但在高压下，在中碳钢中亦可形成。</a:t>
            </a:r>
          </a:p>
          <a:p>
            <a:pPr algn="just" eaLnBrk="1" hangingPunct="1">
              <a:lnSpc>
                <a:spcPct val="110000"/>
              </a:lnSpc>
              <a:spcBef>
                <a:spcPct val="0"/>
              </a:spcBef>
              <a:buFontTx/>
              <a:buNone/>
            </a:pPr>
            <a:endParaRPr lang="zh-CN" altLang="en-US" sz="2400" b="1" dirty="0"/>
          </a:p>
          <a:p>
            <a:pPr algn="just" eaLnBrk="1" hangingPunct="1">
              <a:lnSpc>
                <a:spcPct val="110000"/>
              </a:lnSpc>
              <a:spcBef>
                <a:spcPct val="0"/>
              </a:spcBef>
              <a:buFontTx/>
              <a:buNone/>
            </a:pPr>
            <a:r>
              <a:rPr lang="zh-CN" altLang="en-US" sz="2400" b="1" dirty="0"/>
              <a:t>图</a:t>
            </a:r>
            <a:r>
              <a:rPr lang="en-US" altLang="zh-CN" sz="2400" b="1" dirty="0"/>
              <a:t>5-10</a:t>
            </a:r>
            <a:r>
              <a:rPr lang="zh-CN" altLang="en-US" sz="2400" b="1" dirty="0"/>
              <a:t>即为</a:t>
            </a:r>
            <a:r>
              <a:rPr lang="en-US" altLang="zh-CN" sz="2400" b="1" dirty="0"/>
              <a:t>0.44C</a:t>
            </a:r>
            <a:r>
              <a:rPr lang="zh-CN" altLang="en-US" sz="2400" b="1" dirty="0"/>
              <a:t>钢在</a:t>
            </a:r>
            <a:r>
              <a:rPr lang="en-US" altLang="zh-CN" sz="2400" b="1" dirty="0"/>
              <a:t>2400MPa</a:t>
            </a:r>
            <a:r>
              <a:rPr lang="zh-CN" altLang="en-US" sz="2400" b="1" dirty="0"/>
              <a:t>压力下形成的柱状贝氏体，柱状贝氏体铁素体上的碳化物有着一定的排列方向，这点与下贝氏体有一定程度的相似。    </a:t>
            </a:r>
          </a:p>
        </p:txBody>
      </p:sp>
      <p:pic>
        <p:nvPicPr>
          <p:cNvPr id="11" name="Picture 1032" descr="t501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135563" y="2438844"/>
            <a:ext cx="3538538" cy="419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第一节 贝氏体的转变特征与组织形态</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9" name="矩形 8"/>
          <p:cNvSpPr/>
          <p:nvPr/>
        </p:nvSpPr>
        <p:spPr bwMode="auto">
          <a:xfrm>
            <a:off x="4446" y="1348916"/>
            <a:ext cx="9143364" cy="548005"/>
          </a:xfrm>
          <a:prstGeom prst="rect">
            <a:avLst/>
          </a:prstGeom>
          <a:solidFill>
            <a:schemeClr val="accent1">
              <a:alpha val="23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457200" marR="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u"/>
            </a:pPr>
            <a:r>
              <a:rPr kumimoji="1" lang="zh-CN" altLang="en-US" sz="2800" b="1"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rPr>
              <a:t>贝氏体的组织形态与亚结构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（其他贝氏体的组织形态）</a:t>
            </a:r>
            <a:endParaRPr kumimoji="0" lang="zh-CN" altLang="en-US" sz="2800" b="0" i="0" u="none" strike="noStrike" cap="none" normalizeH="0" baseline="0" dirty="0">
              <a:ln>
                <a:noFill/>
              </a:ln>
              <a:solidFill>
                <a:srgbClr val="C00000"/>
              </a:solidFill>
              <a:effectLst/>
              <a:latin typeface="Arial" panose="020B0604020202020204" pitchFamily="34" charset="0"/>
              <a:ea typeface="宋体" panose="02010600030101010101" pitchFamily="2" charset="-122"/>
            </a:endParaRPr>
          </a:p>
        </p:txBody>
      </p:sp>
      <p:sp>
        <p:nvSpPr>
          <p:cNvPr id="12" name="Text Box 5"/>
          <p:cNvSpPr txBox="1">
            <a:spLocks noChangeArrowheads="1"/>
          </p:cNvSpPr>
          <p:nvPr/>
        </p:nvSpPr>
        <p:spPr bwMode="auto">
          <a:xfrm>
            <a:off x="490830" y="2709982"/>
            <a:ext cx="8393111" cy="324217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0"/>
              </a:spcBef>
              <a:buFontTx/>
              <a:buNone/>
            </a:pPr>
            <a:r>
              <a:rPr lang="zh-CN" altLang="en-US" sz="2800" b="1" dirty="0">
                <a:latin typeface="宋体" panose="02010600030101010101" pitchFamily="2" charset="-122"/>
              </a:rPr>
              <a:t>也有人认为，从各类贝氏体的形态特征来看，</a:t>
            </a:r>
            <a:r>
              <a:rPr lang="zh-CN" altLang="en-US" sz="2800" b="1" dirty="0">
                <a:solidFill>
                  <a:schemeClr val="tx1">
                    <a:lumMod val="50000"/>
                  </a:schemeClr>
                </a:solidFill>
                <a:latin typeface="宋体" panose="02010600030101010101" pitchFamily="2" charset="-122"/>
              </a:rPr>
              <a:t>无碳化物贝氏体、粒状贝氏体、反常贝氏体等似应归属于上贝氏体的范畴，</a:t>
            </a:r>
            <a:r>
              <a:rPr lang="zh-CN" altLang="en-US" sz="2800" b="1" dirty="0">
                <a:latin typeface="宋体" panose="02010600030101010101" pitchFamily="2" charset="-122"/>
              </a:rPr>
              <a:t>即它们都是上贝氏体的变体，而</a:t>
            </a:r>
            <a:r>
              <a:rPr lang="zh-CN" altLang="en-US" sz="2800" b="1" dirty="0">
                <a:solidFill>
                  <a:srgbClr val="FF0000"/>
                </a:solidFill>
                <a:latin typeface="宋体" panose="02010600030101010101" pitchFamily="2" charset="-122"/>
              </a:rPr>
              <a:t>柱状贝氏体可归属于下贝氏体的范畴</a:t>
            </a:r>
            <a:r>
              <a:rPr lang="zh-CN" altLang="en-US" sz="2800" b="1" dirty="0">
                <a:latin typeface="宋体" panose="02010600030101010101" pitchFamily="2" charset="-122"/>
              </a:rPr>
              <a:t>。按照这种观点，贝氏体只有上、下贝氏体两大类之分。</a:t>
            </a:r>
            <a:r>
              <a:rPr lang="zh-CN" altLang="en-US" sz="2800" b="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第二节 贝氏体的转变的晶体学</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13" name="Text Box 4"/>
          <p:cNvSpPr txBox="1">
            <a:spLocks noChangeArrowheads="1"/>
          </p:cNvSpPr>
          <p:nvPr/>
        </p:nvSpPr>
        <p:spPr bwMode="auto">
          <a:xfrm>
            <a:off x="48316" y="1855084"/>
            <a:ext cx="9046731" cy="395428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ts val="600"/>
              </a:spcBef>
              <a:buFontTx/>
              <a:buNone/>
            </a:pPr>
            <a:r>
              <a:rPr lang="zh-CN" altLang="en-US" b="1" dirty="0">
                <a:solidFill>
                  <a:srgbClr val="0070C0"/>
                </a:solidFill>
              </a:rPr>
              <a:t>上、下贝氏体中奥氏体</a:t>
            </a:r>
            <a:r>
              <a:rPr lang="en-US" altLang="zh-CN" b="1" dirty="0">
                <a:solidFill>
                  <a:srgbClr val="0070C0"/>
                </a:solidFill>
              </a:rPr>
              <a:t>-</a:t>
            </a:r>
            <a:r>
              <a:rPr lang="zh-CN" altLang="en-US" b="1" dirty="0">
                <a:solidFill>
                  <a:srgbClr val="0070C0"/>
                </a:solidFill>
              </a:rPr>
              <a:t>贝氏体铁素体间的晶体学关系多以</a:t>
            </a:r>
            <a:r>
              <a:rPr lang="en-US" altLang="zh-CN" b="1" dirty="0">
                <a:solidFill>
                  <a:srgbClr val="0070C0"/>
                </a:solidFill>
              </a:rPr>
              <a:t>K-S</a:t>
            </a:r>
            <a:r>
              <a:rPr lang="zh-CN" altLang="en-US" b="1" dirty="0">
                <a:solidFill>
                  <a:srgbClr val="0070C0"/>
                </a:solidFill>
              </a:rPr>
              <a:t>关系来代表</a:t>
            </a:r>
            <a:r>
              <a:rPr lang="zh-CN" altLang="en-US" sz="2400" b="1" dirty="0">
                <a:solidFill>
                  <a:srgbClr val="0070C0"/>
                </a:solidFill>
              </a:rPr>
              <a:t>。</a:t>
            </a:r>
          </a:p>
          <a:p>
            <a:pPr algn="just" eaLnBrk="1" hangingPunct="1">
              <a:lnSpc>
                <a:spcPct val="150000"/>
              </a:lnSpc>
              <a:spcBef>
                <a:spcPts val="600"/>
              </a:spcBef>
              <a:buFontTx/>
              <a:buNone/>
            </a:pPr>
            <a:r>
              <a:rPr lang="zh-CN" altLang="en-US" sz="2400" b="1" dirty="0">
                <a:solidFill>
                  <a:srgbClr val="FF0000"/>
                </a:solidFill>
              </a:rPr>
              <a:t>惯习面</a:t>
            </a:r>
            <a:r>
              <a:rPr lang="zh-CN" altLang="en-US" sz="2400" b="1" dirty="0"/>
              <a:t>，上贝氏体为</a:t>
            </a:r>
            <a:r>
              <a:rPr lang="en-US" altLang="zh-CN" sz="2400" b="1" dirty="0"/>
              <a:t>{111}</a:t>
            </a:r>
            <a:r>
              <a:rPr lang="en-US" altLang="zh-CN" sz="2400" b="1" dirty="0">
                <a:sym typeface="Symbol" panose="05050102010706020507" pitchFamily="18" charset="2"/>
              </a:rPr>
              <a:t></a:t>
            </a:r>
            <a:r>
              <a:rPr lang="zh-CN" altLang="en-US" sz="2400" b="1" dirty="0"/>
              <a:t>，而下贝氏体的情况较复杂，有人认为是</a:t>
            </a:r>
            <a:r>
              <a:rPr lang="en-US" altLang="zh-CN" sz="2400" b="1" dirty="0"/>
              <a:t>{110}</a:t>
            </a:r>
            <a:r>
              <a:rPr lang="en-US" altLang="zh-CN" sz="2400" b="1" dirty="0">
                <a:sym typeface="Symbol" panose="05050102010706020507" pitchFamily="18" charset="2"/>
              </a:rPr>
              <a:t></a:t>
            </a:r>
            <a:r>
              <a:rPr lang="zh-CN" altLang="en-US" sz="2400" b="1" dirty="0"/>
              <a:t>，也有报道为</a:t>
            </a:r>
            <a:r>
              <a:rPr lang="en-US" altLang="zh-CN" sz="2400" b="1" dirty="0"/>
              <a:t>{225}</a:t>
            </a:r>
            <a:r>
              <a:rPr lang="en-US" altLang="zh-CN" sz="2400" b="1" dirty="0">
                <a:sym typeface="Symbol" panose="05050102010706020507" pitchFamily="18" charset="2"/>
              </a:rPr>
              <a:t></a:t>
            </a:r>
            <a:r>
              <a:rPr lang="zh-CN" altLang="en-US" sz="2400" b="1" dirty="0"/>
              <a:t>、</a:t>
            </a:r>
            <a:r>
              <a:rPr lang="en-US" altLang="zh-CN" sz="2400" b="1" dirty="0"/>
              <a:t>{569}</a:t>
            </a:r>
            <a:r>
              <a:rPr lang="en-US" altLang="zh-CN" sz="2400" b="1" dirty="0">
                <a:sym typeface="Symbol" panose="05050102010706020507" pitchFamily="18" charset="2"/>
              </a:rPr>
              <a:t></a:t>
            </a:r>
            <a:r>
              <a:rPr lang="zh-CN" altLang="en-US" sz="2400" b="1" dirty="0"/>
              <a:t>，或</a:t>
            </a:r>
            <a:r>
              <a:rPr lang="en-US" altLang="zh-CN" sz="2400" b="1" dirty="0"/>
              <a:t>{254}</a:t>
            </a:r>
            <a:r>
              <a:rPr lang="en-US" altLang="zh-CN" sz="2400" b="1" dirty="0">
                <a:sym typeface="Symbol" panose="05050102010706020507" pitchFamily="18" charset="2"/>
              </a:rPr>
              <a:t></a:t>
            </a:r>
            <a:r>
              <a:rPr lang="zh-CN" altLang="en-US" sz="2400" b="1" dirty="0"/>
              <a:t>等。</a:t>
            </a:r>
          </a:p>
          <a:p>
            <a:pPr algn="just" eaLnBrk="1" hangingPunct="1">
              <a:lnSpc>
                <a:spcPct val="150000"/>
              </a:lnSpc>
              <a:spcBef>
                <a:spcPts val="600"/>
              </a:spcBef>
              <a:buFontTx/>
              <a:buNone/>
            </a:pPr>
            <a:r>
              <a:rPr lang="zh-CN" altLang="en-US" sz="2400" b="1" dirty="0"/>
              <a:t>关于贝氏体铁素体</a:t>
            </a:r>
            <a:r>
              <a:rPr lang="en-US" altLang="zh-CN" sz="2400" b="1" dirty="0"/>
              <a:t>-</a:t>
            </a:r>
            <a:r>
              <a:rPr lang="zh-CN" altLang="en-US" sz="2400" b="1" dirty="0"/>
              <a:t>碳化物、奥氏体</a:t>
            </a:r>
            <a:r>
              <a:rPr lang="en-US" altLang="zh-CN" sz="2400" b="1" dirty="0"/>
              <a:t>-</a:t>
            </a:r>
            <a:r>
              <a:rPr lang="zh-CN" altLang="en-US" sz="2400" b="1" dirty="0"/>
              <a:t>碳化物间的晶体学关系往往被用来作为判定碳化物究竟是由贝氏体铁素体中析出，还是由奥氏体中析出的重要依据，亦即涉及贝氏体转变的机理问题。</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800" b="1" i="0" u="none" strike="noStrike" cap="none" normalizeH="0" baseline="0" noProof="0" dirty="0">
                <a:ln>
                  <a:noFill/>
                </a:ln>
                <a:solidFill>
                  <a:srgbClr val="000000"/>
                </a:solidFill>
                <a:effectLst/>
                <a:uLnTx/>
                <a:uFillTx/>
                <a:latin typeface="Arial" panose="020B0604020202020204"/>
                <a:ea typeface="幼圆" panose="02010509060101010101" charset="-122"/>
              </a:rPr>
              <a:t>第二节 贝氏体的转变的晶体学</a:t>
            </a:r>
            <a:r>
              <a:rPr kumimoji="0" lang="zh-CN" altLang="en-US" sz="2800" b="1" i="0" u="none" strike="noStrike" cap="none" normalizeH="0" baseline="0" noProof="0" dirty="0">
                <a:ln>
                  <a:noFill/>
                </a:ln>
                <a:solidFill>
                  <a:srgbClr val="C00000"/>
                </a:solidFill>
                <a:effectLst/>
                <a:uLnTx/>
                <a:uFillTx/>
                <a:latin typeface="Arial" panose="020B0604020202020204"/>
                <a:ea typeface="幼圆" panose="02010509060101010101" charset="-122"/>
              </a:rPr>
              <a:t>（碳化物的类型）</a:t>
            </a:r>
            <a:endParaRPr kumimoji="0" lang="zh-CN" altLang="en-US" sz="2800" b="1" i="0" baseline="0" noProof="0" dirty="0">
              <a:ln>
                <a:noFill/>
              </a:ln>
              <a:solidFill>
                <a:srgbClr val="C00000"/>
              </a:solidFill>
              <a:effectLst/>
              <a:uLnTx/>
              <a:uFillTx/>
              <a:latin typeface="Arial" panose="020B0604020202020204"/>
              <a:ea typeface="幼圆" panose="02010509060101010101" charset="-122"/>
            </a:endParaRPr>
          </a:p>
        </p:txBody>
      </p:sp>
      <p:sp>
        <p:nvSpPr>
          <p:cNvPr id="7" name="Text Box 3"/>
          <p:cNvSpPr txBox="1">
            <a:spLocks noChangeArrowheads="1"/>
          </p:cNvSpPr>
          <p:nvPr/>
        </p:nvSpPr>
        <p:spPr bwMode="auto">
          <a:xfrm>
            <a:off x="96902" y="1744910"/>
            <a:ext cx="9036938" cy="531972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ts val="600"/>
              </a:spcBef>
              <a:buFontTx/>
              <a:buNone/>
            </a:pPr>
            <a:r>
              <a:rPr lang="zh-CN" altLang="en-US" sz="2400" b="1" dirty="0"/>
              <a:t>一般认为，</a:t>
            </a:r>
            <a:r>
              <a:rPr lang="zh-CN" altLang="en-US" sz="2400" b="1" dirty="0">
                <a:solidFill>
                  <a:srgbClr val="FF0000"/>
                </a:solidFill>
              </a:rPr>
              <a:t>上贝氏体</a:t>
            </a:r>
            <a:r>
              <a:rPr lang="zh-CN" altLang="en-US" sz="2400" b="1" dirty="0">
                <a:solidFill>
                  <a:schemeClr val="accent2"/>
                </a:solidFill>
              </a:rPr>
              <a:t>中的碳化物为</a:t>
            </a:r>
            <a:r>
              <a:rPr lang="en-US" altLang="zh-CN" sz="2400" b="1" dirty="0">
                <a:solidFill>
                  <a:schemeClr val="accent2"/>
                </a:solidFill>
              </a:rPr>
              <a:t>Fe</a:t>
            </a:r>
            <a:r>
              <a:rPr lang="en-US" altLang="zh-CN" sz="2400" b="1" baseline="-30000" dirty="0">
                <a:solidFill>
                  <a:schemeClr val="accent2"/>
                </a:solidFill>
              </a:rPr>
              <a:t>3</a:t>
            </a:r>
            <a:r>
              <a:rPr lang="en-US" altLang="zh-CN" sz="2400" b="1" dirty="0">
                <a:solidFill>
                  <a:schemeClr val="accent2"/>
                </a:solidFill>
              </a:rPr>
              <a:t>C</a:t>
            </a:r>
            <a:r>
              <a:rPr lang="zh-CN" altLang="en-US" sz="2400" b="1" dirty="0">
                <a:solidFill>
                  <a:schemeClr val="accent2"/>
                </a:solidFill>
              </a:rPr>
              <a:t>型；</a:t>
            </a:r>
          </a:p>
          <a:p>
            <a:pPr algn="just" eaLnBrk="1" hangingPunct="1">
              <a:lnSpc>
                <a:spcPct val="150000"/>
              </a:lnSpc>
              <a:spcBef>
                <a:spcPts val="600"/>
              </a:spcBef>
              <a:buFontTx/>
              <a:buNone/>
            </a:pPr>
            <a:r>
              <a:rPr lang="zh-CN" altLang="en-US" sz="2400" b="1" dirty="0">
                <a:solidFill>
                  <a:srgbClr val="FF0000"/>
                </a:solidFill>
              </a:rPr>
              <a:t>下贝氏体</a:t>
            </a:r>
            <a:r>
              <a:rPr lang="zh-CN" altLang="en-US" sz="2400" b="1" dirty="0">
                <a:solidFill>
                  <a:schemeClr val="accent2"/>
                </a:solidFill>
              </a:rPr>
              <a:t>中的碳化物取决于钢的成分、形成温度和保温时间</a:t>
            </a:r>
            <a:r>
              <a:rPr lang="zh-CN" altLang="en-US" sz="2400" b="1" dirty="0"/>
              <a:t>。</a:t>
            </a:r>
          </a:p>
          <a:p>
            <a:pPr algn="just" eaLnBrk="1" hangingPunct="1">
              <a:lnSpc>
                <a:spcPct val="150000"/>
              </a:lnSpc>
              <a:spcBef>
                <a:spcPts val="600"/>
              </a:spcBef>
              <a:buFontTx/>
              <a:buNone/>
            </a:pPr>
            <a:r>
              <a:rPr lang="zh-CN" altLang="en-US" sz="2400" b="1" dirty="0"/>
              <a:t>当钢中硅含量较高时，由于</a:t>
            </a:r>
            <a:r>
              <a:rPr lang="zh-CN" altLang="en-US" sz="2400" b="1" dirty="0">
                <a:solidFill>
                  <a:srgbClr val="FF0000"/>
                </a:solidFill>
              </a:rPr>
              <a:t>硅具有强烈的延缓渗碳体沉淀</a:t>
            </a:r>
            <a:r>
              <a:rPr lang="zh-CN" altLang="en-US" sz="2400" b="1" dirty="0"/>
              <a:t>的作用，因而在下贝氏体中难于形成渗碳体，而基本上是</a:t>
            </a:r>
            <a:r>
              <a:rPr lang="zh-CN" altLang="en-US" sz="2400" b="1" dirty="0">
                <a:solidFill>
                  <a:srgbClr val="FF0000"/>
                </a:solidFill>
                <a:sym typeface="Symbol" panose="05050102010706020507" pitchFamily="18" charset="2"/>
              </a:rPr>
              <a:t></a:t>
            </a:r>
            <a:r>
              <a:rPr lang="zh-CN" altLang="en-US" sz="2400" b="1" dirty="0">
                <a:solidFill>
                  <a:srgbClr val="FF0000"/>
                </a:solidFill>
              </a:rPr>
              <a:t>碳化物</a:t>
            </a:r>
            <a:r>
              <a:rPr lang="zh-CN" altLang="en-US" sz="2400" b="1" dirty="0"/>
              <a:t>。</a:t>
            </a:r>
          </a:p>
          <a:p>
            <a:pPr algn="just" eaLnBrk="1" hangingPunct="1">
              <a:lnSpc>
                <a:spcPct val="150000"/>
              </a:lnSpc>
              <a:spcBef>
                <a:spcPts val="600"/>
              </a:spcBef>
              <a:buFontTx/>
              <a:buNone/>
            </a:pPr>
            <a:r>
              <a:rPr lang="zh-CN" altLang="en-US" sz="2400" b="1" dirty="0"/>
              <a:t>在其它钢的下贝氏体中碳化物为</a:t>
            </a:r>
            <a:r>
              <a:rPr lang="zh-CN" altLang="en-US" sz="2400" b="1" dirty="0">
                <a:solidFill>
                  <a:srgbClr val="FF0000"/>
                </a:solidFill>
              </a:rPr>
              <a:t>渗碳体与</a:t>
            </a:r>
            <a:r>
              <a:rPr lang="zh-CN" altLang="en-US" sz="2400" b="1" dirty="0">
                <a:solidFill>
                  <a:srgbClr val="FF0000"/>
                </a:solidFill>
                <a:sym typeface="Symbol" panose="05050102010706020507" pitchFamily="18" charset="2"/>
              </a:rPr>
              <a:t></a:t>
            </a:r>
            <a:r>
              <a:rPr lang="zh-CN" altLang="en-US" sz="2400" b="1" dirty="0">
                <a:solidFill>
                  <a:srgbClr val="FF0000"/>
                </a:solidFill>
              </a:rPr>
              <a:t>碳化物的混合</a:t>
            </a:r>
            <a:r>
              <a:rPr lang="zh-CN" altLang="en-US" sz="2400" b="1" dirty="0"/>
              <a:t>，或全部是渗碳体。一般来说，</a:t>
            </a:r>
            <a:r>
              <a:rPr lang="zh-CN" altLang="en-US" sz="2400" b="1" dirty="0">
                <a:solidFill>
                  <a:srgbClr val="FF0000"/>
                </a:solidFill>
              </a:rPr>
              <a:t>形成温度愈低，保温时间愈短，出现</a:t>
            </a:r>
            <a:r>
              <a:rPr lang="zh-CN" altLang="en-US" sz="2400" b="1" dirty="0">
                <a:solidFill>
                  <a:srgbClr val="FF0000"/>
                </a:solidFill>
                <a:sym typeface="Symbol" panose="05050102010706020507" pitchFamily="18" charset="2"/>
              </a:rPr>
              <a:t></a:t>
            </a:r>
            <a:r>
              <a:rPr lang="zh-CN" altLang="en-US" sz="2400" b="1" dirty="0">
                <a:solidFill>
                  <a:srgbClr val="FF0000"/>
                </a:solidFill>
              </a:rPr>
              <a:t>碳化物的可能性或所占比例愈大</a:t>
            </a:r>
            <a:r>
              <a:rPr lang="zh-CN" altLang="en-US" sz="2400" b="1" dirty="0"/>
              <a:t>；反之，则愈小，显然这是由于温度愈高和持续时间愈长就愈有利于由</a:t>
            </a:r>
            <a:r>
              <a:rPr lang="zh-CN" altLang="en-US" sz="2400" b="1" dirty="0">
                <a:sym typeface="Symbol" panose="05050102010706020507" pitchFamily="18" charset="2"/>
              </a:rPr>
              <a:t></a:t>
            </a:r>
            <a:r>
              <a:rPr lang="zh-CN" altLang="en-US" sz="2400" b="1" dirty="0"/>
              <a:t>碳化物向渗碳体的转化所致。</a:t>
            </a:r>
          </a:p>
          <a:p>
            <a:pPr algn="just" eaLnBrk="1" hangingPunct="1">
              <a:lnSpc>
                <a:spcPct val="150000"/>
              </a:lnSpc>
              <a:spcBef>
                <a:spcPts val="600"/>
              </a:spcBef>
              <a:buFontTx/>
              <a:buNone/>
            </a:pPr>
            <a:r>
              <a:rPr lang="zh-CN" altLang="en-US" sz="2400" b="1"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第二节 贝氏体的转变的晶体学</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（碳化物与奥氏体的取向关系）</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6" name="Text Box 1027"/>
          <p:cNvSpPr txBox="1">
            <a:spLocks noChangeArrowheads="1"/>
          </p:cNvSpPr>
          <p:nvPr/>
        </p:nvSpPr>
        <p:spPr bwMode="auto">
          <a:xfrm>
            <a:off x="88067" y="1417955"/>
            <a:ext cx="8921709" cy="5309852"/>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ts val="600"/>
              </a:spcBef>
              <a:buFontTx/>
              <a:buNone/>
            </a:pPr>
            <a:r>
              <a:rPr lang="zh-CN" altLang="en-US" sz="2400" b="1" dirty="0">
                <a:solidFill>
                  <a:srgbClr val="FF0000"/>
                </a:solidFill>
              </a:rPr>
              <a:t>上贝氏体中碳化物</a:t>
            </a:r>
            <a:r>
              <a:rPr lang="en-US" altLang="zh-CN" sz="2400" b="1" dirty="0">
                <a:solidFill>
                  <a:srgbClr val="FF0000"/>
                </a:solidFill>
              </a:rPr>
              <a:t>(Fe</a:t>
            </a:r>
            <a:r>
              <a:rPr lang="en-US" altLang="zh-CN" sz="2400" b="1" baseline="-30000" dirty="0">
                <a:solidFill>
                  <a:srgbClr val="FF0000"/>
                </a:solidFill>
              </a:rPr>
              <a:t>3</a:t>
            </a:r>
            <a:r>
              <a:rPr lang="en-US" altLang="zh-CN" sz="2400" b="1" dirty="0">
                <a:solidFill>
                  <a:srgbClr val="FF0000"/>
                </a:solidFill>
              </a:rPr>
              <a:t>C)</a:t>
            </a:r>
            <a:r>
              <a:rPr lang="zh-CN" altLang="en-US" sz="2400" b="1" dirty="0">
                <a:solidFill>
                  <a:srgbClr val="FF0000"/>
                </a:solidFill>
              </a:rPr>
              <a:t>与奥氏体间具有</a:t>
            </a:r>
            <a:r>
              <a:rPr lang="en-US" altLang="zh-CN" sz="2400" b="1" dirty="0" err="1">
                <a:solidFill>
                  <a:srgbClr val="FF0000"/>
                </a:solidFill>
              </a:rPr>
              <a:t>Pitsch</a:t>
            </a:r>
            <a:r>
              <a:rPr lang="zh-CN" altLang="en-US" sz="2400" b="1" dirty="0">
                <a:solidFill>
                  <a:srgbClr val="FF0000"/>
                </a:solidFill>
              </a:rPr>
              <a:t>关系：</a:t>
            </a:r>
            <a:endParaRPr lang="zh-CN" altLang="en-US" sz="2400" b="1" dirty="0"/>
          </a:p>
          <a:p>
            <a:pPr algn="just" eaLnBrk="1" hangingPunct="1">
              <a:lnSpc>
                <a:spcPct val="150000"/>
              </a:lnSpc>
              <a:spcBef>
                <a:spcPts val="600"/>
              </a:spcBef>
              <a:buFontTx/>
              <a:buNone/>
            </a:pPr>
            <a:r>
              <a:rPr lang="zh-CN" altLang="en-US" sz="2400" b="1" dirty="0"/>
              <a:t>   </a:t>
            </a:r>
          </a:p>
          <a:p>
            <a:pPr algn="just" eaLnBrk="1" hangingPunct="1">
              <a:lnSpc>
                <a:spcPct val="150000"/>
              </a:lnSpc>
              <a:spcBef>
                <a:spcPts val="600"/>
              </a:spcBef>
              <a:buFontTx/>
              <a:buNone/>
            </a:pPr>
            <a:r>
              <a:rPr lang="zh-CN" altLang="en-US" sz="2400" b="1" dirty="0"/>
              <a:t>惯习面为：</a:t>
            </a:r>
          </a:p>
          <a:p>
            <a:pPr algn="just" eaLnBrk="1" hangingPunct="1">
              <a:lnSpc>
                <a:spcPct val="150000"/>
              </a:lnSpc>
              <a:spcBef>
                <a:spcPts val="600"/>
              </a:spcBef>
              <a:buFontTx/>
              <a:buNone/>
            </a:pPr>
            <a:r>
              <a:rPr lang="zh-CN" altLang="en-US" sz="2400" b="1" dirty="0"/>
              <a:t>由此证实了</a:t>
            </a:r>
            <a:r>
              <a:rPr lang="zh-CN" altLang="en-US" sz="2400" b="1" dirty="0">
                <a:solidFill>
                  <a:srgbClr val="FF0000"/>
                </a:solidFill>
              </a:rPr>
              <a:t>渗碳体是由奥氏体中直接析出</a:t>
            </a:r>
            <a:r>
              <a:rPr lang="zh-CN" altLang="en-US" sz="2400" b="1" dirty="0"/>
              <a:t>。</a:t>
            </a:r>
          </a:p>
          <a:p>
            <a:pPr algn="just" eaLnBrk="1" hangingPunct="1">
              <a:lnSpc>
                <a:spcPct val="120000"/>
              </a:lnSpc>
              <a:spcBef>
                <a:spcPts val="600"/>
              </a:spcBef>
              <a:buFontTx/>
              <a:buNone/>
            </a:pPr>
            <a:r>
              <a:rPr lang="zh-CN" altLang="en-US" sz="2400" b="1" dirty="0">
                <a:solidFill>
                  <a:srgbClr val="FF0000"/>
                </a:solidFill>
              </a:rPr>
              <a:t>下贝氏体中铁素体与碳化物间的取向关系</a:t>
            </a:r>
            <a:r>
              <a:rPr lang="zh-CN" altLang="en-US" sz="2400" b="1" dirty="0"/>
              <a:t>，目前虽有若干报道，但结论却并不一致，一般认为</a:t>
            </a:r>
            <a:r>
              <a:rPr lang="zh-CN" altLang="en-US" sz="2400" b="1" dirty="0">
                <a:solidFill>
                  <a:srgbClr val="FF0000"/>
                </a:solidFill>
              </a:rPr>
              <a:t>下贝氏体中铁素体与渗碳体间的取向关系与回火马氏体相近</a:t>
            </a:r>
            <a:r>
              <a:rPr lang="zh-CN" altLang="en-US" sz="2400" b="1" dirty="0"/>
              <a:t>。对</a:t>
            </a:r>
            <a:r>
              <a:rPr lang="zh-CN" altLang="en-US" sz="2400" b="1" dirty="0">
                <a:sym typeface="Symbol" panose="05050102010706020507" pitchFamily="18" charset="2"/>
              </a:rPr>
              <a:t></a:t>
            </a:r>
            <a:r>
              <a:rPr lang="zh-CN" altLang="en-US" sz="2400" b="1" dirty="0"/>
              <a:t>碳化物来说，它与铁素体的取向关系也与回火马氏体相近。</a:t>
            </a:r>
          </a:p>
          <a:p>
            <a:pPr algn="just" eaLnBrk="1" hangingPunct="1">
              <a:lnSpc>
                <a:spcPct val="120000"/>
              </a:lnSpc>
              <a:spcBef>
                <a:spcPts val="600"/>
              </a:spcBef>
              <a:buFontTx/>
              <a:buNone/>
            </a:pPr>
            <a:r>
              <a:rPr lang="zh-CN" altLang="en-US" sz="2400" b="1" dirty="0"/>
              <a:t>人们根据以上结果，认为下贝氏体中的碳化物是自过饱和铁素体中析出的。</a:t>
            </a:r>
          </a:p>
        </p:txBody>
      </p:sp>
      <p:graphicFrame>
        <p:nvGraphicFramePr>
          <p:cNvPr id="39941" name="Object 1028"/>
          <p:cNvGraphicFramePr>
            <a:graphicFrameLocks/>
          </p:cNvGraphicFramePr>
          <p:nvPr/>
        </p:nvGraphicFramePr>
        <p:xfrm>
          <a:off x="1158240" y="2033270"/>
          <a:ext cx="6781800" cy="644525"/>
        </p:xfrm>
        <a:graphic>
          <a:graphicData uri="http://schemas.openxmlformats.org/presentationml/2006/ole">
            <p:oleObj spid="_x0000_s3077" r:id="rId5" imgW="3505200" imgH="330200" progId="Equation.3">
              <p:embed/>
            </p:oleObj>
          </a:graphicData>
        </a:graphic>
      </p:graphicFrame>
      <p:graphicFrame>
        <p:nvGraphicFramePr>
          <p:cNvPr id="39943" name="Object 1030"/>
          <p:cNvGraphicFramePr>
            <a:graphicFrameLocks/>
          </p:cNvGraphicFramePr>
          <p:nvPr/>
        </p:nvGraphicFramePr>
        <p:xfrm>
          <a:off x="1766570" y="2814955"/>
          <a:ext cx="1828800" cy="473075"/>
        </p:xfrm>
        <a:graphic>
          <a:graphicData uri="http://schemas.openxmlformats.org/presentationml/2006/ole">
            <p:oleObj spid="_x0000_s3078" r:id="rId6" imgW="1066800" imgH="279400" progId="Equation.3">
              <p:embed/>
            </p:oleObj>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矩形 1"/>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第二节 贝氏体的转变的晶体学</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（碳化物与奥氏体的取向关系）</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9" name="Text Box 3"/>
          <p:cNvSpPr txBox="1">
            <a:spLocks noChangeArrowheads="1"/>
          </p:cNvSpPr>
          <p:nvPr/>
        </p:nvSpPr>
        <p:spPr bwMode="auto">
          <a:xfrm>
            <a:off x="314960" y="2074371"/>
            <a:ext cx="8534400" cy="3977179"/>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ts val="600"/>
              </a:spcBef>
              <a:buFontTx/>
              <a:buNone/>
            </a:pPr>
            <a:r>
              <a:rPr lang="zh-CN" altLang="en-US" sz="2400" b="1" dirty="0">
                <a:solidFill>
                  <a:schemeClr val="tx1">
                    <a:lumMod val="50000"/>
                  </a:schemeClr>
                </a:solidFill>
              </a:rPr>
              <a:t>但是，实际上根据所测得的</a:t>
            </a:r>
            <a:r>
              <a:rPr lang="en-US" altLang="zh-CN" sz="2400" b="1" dirty="0">
                <a:solidFill>
                  <a:schemeClr val="tx1">
                    <a:lumMod val="50000"/>
                  </a:schemeClr>
                </a:solidFill>
              </a:rPr>
              <a:t>Fe</a:t>
            </a:r>
            <a:r>
              <a:rPr lang="en-US" altLang="zh-CN" sz="2400" b="1" baseline="-30000" dirty="0">
                <a:solidFill>
                  <a:schemeClr val="tx1">
                    <a:lumMod val="50000"/>
                  </a:schemeClr>
                </a:solidFill>
              </a:rPr>
              <a:t>3</a:t>
            </a:r>
            <a:r>
              <a:rPr lang="en-US" altLang="zh-CN" sz="2400" b="1" dirty="0">
                <a:solidFill>
                  <a:schemeClr val="tx1">
                    <a:lumMod val="50000"/>
                  </a:schemeClr>
                </a:solidFill>
              </a:rPr>
              <a:t>C (</a:t>
            </a:r>
            <a:r>
              <a:rPr lang="zh-CN" altLang="en-US" sz="2400" b="1" dirty="0">
                <a:solidFill>
                  <a:schemeClr val="tx1">
                    <a:lumMod val="50000"/>
                  </a:schemeClr>
                </a:solidFill>
              </a:rPr>
              <a:t>或</a:t>
            </a:r>
            <a:r>
              <a:rPr lang="zh-CN" altLang="en-US" sz="2400" b="1" dirty="0">
                <a:solidFill>
                  <a:schemeClr val="tx1">
                    <a:lumMod val="50000"/>
                  </a:schemeClr>
                </a:solidFill>
                <a:sym typeface="Symbol" panose="05050102010706020507" pitchFamily="18" charset="2"/>
              </a:rPr>
              <a:t></a:t>
            </a:r>
            <a:r>
              <a:rPr lang="en-US" altLang="zh-CN" sz="2400" b="1" dirty="0">
                <a:solidFill>
                  <a:schemeClr val="tx1">
                    <a:lumMod val="50000"/>
                  </a:schemeClr>
                </a:solidFill>
              </a:rPr>
              <a:t>)</a:t>
            </a:r>
            <a:r>
              <a:rPr lang="zh-CN" altLang="en-US" sz="2400" b="1" dirty="0">
                <a:solidFill>
                  <a:schemeClr val="tx1">
                    <a:lumMod val="50000"/>
                  </a:schemeClr>
                </a:solidFill>
              </a:rPr>
              <a:t>与铁素体间的取向关系，并不一定就能说明</a:t>
            </a:r>
            <a:r>
              <a:rPr lang="en-US" altLang="zh-CN" sz="2400" b="1" dirty="0">
                <a:solidFill>
                  <a:schemeClr val="tx1">
                    <a:lumMod val="50000"/>
                  </a:schemeClr>
                </a:solidFill>
              </a:rPr>
              <a:t>Fe</a:t>
            </a:r>
            <a:r>
              <a:rPr lang="en-US" altLang="zh-CN" sz="2400" b="1" baseline="-30000" dirty="0">
                <a:solidFill>
                  <a:schemeClr val="tx1">
                    <a:lumMod val="50000"/>
                  </a:schemeClr>
                </a:solidFill>
              </a:rPr>
              <a:t>3</a:t>
            </a:r>
            <a:r>
              <a:rPr lang="en-US" altLang="zh-CN" sz="2400" b="1" dirty="0">
                <a:solidFill>
                  <a:schemeClr val="tx1">
                    <a:lumMod val="50000"/>
                  </a:schemeClr>
                </a:solidFill>
              </a:rPr>
              <a:t>C (</a:t>
            </a:r>
            <a:r>
              <a:rPr lang="zh-CN" altLang="en-US" sz="2400" b="1" dirty="0">
                <a:solidFill>
                  <a:schemeClr val="tx1">
                    <a:lumMod val="50000"/>
                  </a:schemeClr>
                </a:solidFill>
              </a:rPr>
              <a:t>或</a:t>
            </a:r>
            <a:r>
              <a:rPr lang="zh-CN" altLang="en-US" sz="2400" b="1" dirty="0">
                <a:solidFill>
                  <a:schemeClr val="tx1">
                    <a:lumMod val="50000"/>
                  </a:schemeClr>
                </a:solidFill>
                <a:sym typeface="Symbol" panose="05050102010706020507" pitchFamily="18" charset="2"/>
              </a:rPr>
              <a:t></a:t>
            </a:r>
            <a:r>
              <a:rPr lang="en-US" altLang="zh-CN" sz="2400" b="1" dirty="0">
                <a:solidFill>
                  <a:schemeClr val="tx1">
                    <a:lumMod val="50000"/>
                  </a:schemeClr>
                </a:solidFill>
              </a:rPr>
              <a:t>)</a:t>
            </a:r>
            <a:r>
              <a:rPr lang="zh-CN" altLang="en-US" sz="2400" b="1" dirty="0">
                <a:solidFill>
                  <a:schemeClr val="tx1">
                    <a:lumMod val="50000"/>
                  </a:schemeClr>
                </a:solidFill>
              </a:rPr>
              <a:t>即由铁素体中析出，因为奥氏体与铁素体间存在</a:t>
            </a:r>
            <a:r>
              <a:rPr lang="en-US" altLang="zh-CN" sz="2400" b="1" dirty="0">
                <a:solidFill>
                  <a:schemeClr val="tx1">
                    <a:lumMod val="50000"/>
                  </a:schemeClr>
                </a:solidFill>
              </a:rPr>
              <a:t>K-S</a:t>
            </a:r>
            <a:r>
              <a:rPr lang="zh-CN" altLang="en-US" sz="2400" b="1" dirty="0">
                <a:solidFill>
                  <a:schemeClr val="tx1">
                    <a:lumMod val="50000"/>
                  </a:schemeClr>
                </a:solidFill>
              </a:rPr>
              <a:t>关系，故可借此将</a:t>
            </a:r>
            <a:r>
              <a:rPr lang="en-US" altLang="zh-CN" sz="2400" b="1" dirty="0">
                <a:solidFill>
                  <a:schemeClr val="tx1">
                    <a:lumMod val="50000"/>
                  </a:schemeClr>
                </a:solidFill>
              </a:rPr>
              <a:t>Fe</a:t>
            </a:r>
            <a:r>
              <a:rPr lang="en-US" altLang="zh-CN" sz="2400" b="1" baseline="-30000" dirty="0">
                <a:solidFill>
                  <a:schemeClr val="tx1">
                    <a:lumMod val="50000"/>
                  </a:schemeClr>
                </a:solidFill>
              </a:rPr>
              <a:t>3</a:t>
            </a:r>
            <a:r>
              <a:rPr lang="en-US" altLang="zh-CN" sz="2400" b="1" dirty="0">
                <a:solidFill>
                  <a:schemeClr val="tx1">
                    <a:lumMod val="50000"/>
                  </a:schemeClr>
                </a:solidFill>
              </a:rPr>
              <a:t>C (</a:t>
            </a:r>
            <a:r>
              <a:rPr lang="zh-CN" altLang="en-US" sz="2400" b="1" dirty="0">
                <a:solidFill>
                  <a:schemeClr val="tx1">
                    <a:lumMod val="50000"/>
                  </a:schemeClr>
                </a:solidFill>
              </a:rPr>
              <a:t>或</a:t>
            </a:r>
            <a:r>
              <a:rPr lang="zh-CN" altLang="en-US" sz="2400" b="1" dirty="0">
                <a:solidFill>
                  <a:schemeClr val="tx1">
                    <a:lumMod val="50000"/>
                  </a:schemeClr>
                </a:solidFill>
                <a:sym typeface="Symbol" panose="05050102010706020507" pitchFamily="18" charset="2"/>
              </a:rPr>
              <a:t></a:t>
            </a:r>
            <a:r>
              <a:rPr lang="en-US" altLang="zh-CN" sz="2400" b="1" dirty="0">
                <a:solidFill>
                  <a:schemeClr val="tx1">
                    <a:lumMod val="50000"/>
                  </a:schemeClr>
                </a:solidFill>
              </a:rPr>
              <a:t>)</a:t>
            </a:r>
            <a:r>
              <a:rPr lang="zh-CN" altLang="en-US" sz="2400" b="1" dirty="0">
                <a:solidFill>
                  <a:schemeClr val="tx1">
                    <a:lumMod val="50000"/>
                  </a:schemeClr>
                </a:solidFill>
              </a:rPr>
              <a:t>与铁素体间取向关系转换为</a:t>
            </a:r>
            <a:r>
              <a:rPr lang="en-US" altLang="zh-CN" sz="2400" b="1" dirty="0">
                <a:solidFill>
                  <a:schemeClr val="tx1">
                    <a:lumMod val="50000"/>
                  </a:schemeClr>
                </a:solidFill>
              </a:rPr>
              <a:t>Fe</a:t>
            </a:r>
            <a:r>
              <a:rPr lang="en-US" altLang="zh-CN" sz="2400" b="1" baseline="-30000" dirty="0">
                <a:solidFill>
                  <a:schemeClr val="tx1">
                    <a:lumMod val="50000"/>
                  </a:schemeClr>
                </a:solidFill>
              </a:rPr>
              <a:t>3</a:t>
            </a:r>
            <a:r>
              <a:rPr lang="en-US" altLang="zh-CN" sz="2400" b="1" dirty="0">
                <a:solidFill>
                  <a:schemeClr val="tx1">
                    <a:lumMod val="50000"/>
                  </a:schemeClr>
                </a:solidFill>
              </a:rPr>
              <a:t>C (</a:t>
            </a:r>
            <a:r>
              <a:rPr lang="zh-CN" altLang="en-US" sz="2400" b="1" dirty="0">
                <a:solidFill>
                  <a:schemeClr val="tx1">
                    <a:lumMod val="50000"/>
                  </a:schemeClr>
                </a:solidFill>
              </a:rPr>
              <a:t>或</a:t>
            </a:r>
            <a:r>
              <a:rPr lang="zh-CN" altLang="en-US" sz="2400" b="1" dirty="0">
                <a:solidFill>
                  <a:schemeClr val="tx1">
                    <a:lumMod val="50000"/>
                  </a:schemeClr>
                </a:solidFill>
                <a:sym typeface="Symbol" panose="05050102010706020507" pitchFamily="18" charset="2"/>
              </a:rPr>
              <a:t></a:t>
            </a:r>
            <a:r>
              <a:rPr lang="en-US" altLang="zh-CN" sz="2400" b="1" dirty="0">
                <a:solidFill>
                  <a:schemeClr val="tx1">
                    <a:lumMod val="50000"/>
                  </a:schemeClr>
                </a:solidFill>
              </a:rPr>
              <a:t>)</a:t>
            </a:r>
            <a:r>
              <a:rPr lang="zh-CN" altLang="en-US" sz="2400" b="1" dirty="0">
                <a:solidFill>
                  <a:schemeClr val="tx1">
                    <a:lumMod val="50000"/>
                  </a:schemeClr>
                </a:solidFill>
              </a:rPr>
              <a:t>与奥氏体的关系。</a:t>
            </a:r>
          </a:p>
          <a:p>
            <a:pPr algn="just" eaLnBrk="1" hangingPunct="1">
              <a:lnSpc>
                <a:spcPct val="150000"/>
              </a:lnSpc>
              <a:spcBef>
                <a:spcPts val="600"/>
              </a:spcBef>
              <a:buFontTx/>
              <a:buNone/>
            </a:pPr>
            <a:r>
              <a:rPr lang="zh-CN" altLang="en-US" sz="2400" b="1" dirty="0">
                <a:solidFill>
                  <a:schemeClr val="tx1">
                    <a:lumMod val="50000"/>
                  </a:schemeClr>
                </a:solidFill>
              </a:rPr>
              <a:t>总之，有关贝氏体转变的晶体学关系问题目前尚无定论，这也是造成迄今为止对于贝氏体转变机理还存在重大分歧的原因之一。</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图片 5"/>
          <p:cNvPicPr>
            <a:picLocks noChangeAspect="1"/>
          </p:cNvPicPr>
          <p:nvPr/>
        </p:nvPicPr>
        <p:blipFill>
          <a:blip r:embed="rId4" cstate="print"/>
          <a:stretch>
            <a:fillRect/>
          </a:stretch>
        </p:blipFill>
        <p:spPr>
          <a:xfrm>
            <a:off x="3361690" y="1758950"/>
            <a:ext cx="5772150" cy="4838700"/>
          </a:xfrm>
          <a:prstGeom prst="rect">
            <a:avLst/>
          </a:prstGeom>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（贝氏体转变热力学条件）</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8" name="矩形 7"/>
          <p:cNvSpPr/>
          <p:nvPr/>
        </p:nvSpPr>
        <p:spPr bwMode="auto">
          <a:xfrm>
            <a:off x="10160" y="1536700"/>
            <a:ext cx="3482340" cy="5132387"/>
          </a:xfrm>
          <a:prstGeom prst="rect">
            <a:avLst/>
          </a:prstGeom>
          <a:solidFill>
            <a:srgbClr val="0070C0">
              <a:alpha val="20000"/>
            </a:srgbClr>
          </a:solidFill>
          <a:ln w="19050"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lumMod val="50000"/>
                  </a:schemeClr>
                </a:solidFill>
                <a:effectLst/>
                <a:latin typeface="Arial" panose="020B0604020202020204" pitchFamily="34" charset="0"/>
                <a:ea typeface="宋体" panose="02010600030101010101" pitchFamily="2" charset="-122"/>
              </a:rPr>
              <a:t>贝氏体转变是一个有碳原子扩散的共格切变过程，兼具珠光体和马氏体转变特征。和其他相变一样，贝氏体转变的热力学条件也是驱动力和阻力分析。</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（贝氏体转变热力学条件）</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9" name="Text Box 4"/>
          <p:cNvSpPr txBox="1">
            <a:spLocks noChangeArrowheads="1"/>
          </p:cNvSpPr>
          <p:nvPr/>
        </p:nvSpPr>
        <p:spPr bwMode="auto">
          <a:xfrm>
            <a:off x="0" y="1354454"/>
            <a:ext cx="9227890" cy="5303696"/>
          </a:xfrm>
          <a:prstGeom prst="rect">
            <a:avLst/>
          </a:prstGeom>
          <a:solidFill>
            <a:srgbClr val="CCECFF">
              <a:alpha val="39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一般认为贝氏体铁素体是按切变共格方式</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马氏体型转变</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形成的，</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贝氏体转变的热力学条件与马氏体转变相似</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。因此，相变的驱动力</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新、母相单位体积化学自由能差</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Gv</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必须足以补偿表面能</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Gs</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、弹性应变能</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E</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以及塑性应变能</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Gp</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等能量消耗</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B</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S</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E</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342900" marR="0" lvl="0" indent="-342900" algn="just" defTabSz="914400" eaLnBrk="1" fontAlgn="base" latinLnBrk="0" hangingPunct="1">
              <a:lnSpc>
                <a:spcPct val="110000"/>
              </a:lnSpc>
              <a:spcBef>
                <a:spcPct val="500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贝氏体转变时，奥氏体中碳发生了再分配，使贝氏体铁素体中碳含量降低</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，这就使铁素体的自由能降低，从而使在相同温度下的</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新、母相间自由能差增大</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提高了相变驱动力</a:t>
            </a:r>
            <a:r>
              <a:rPr lang="zh-CN" altLang="en-US" sz="2400" b="1" kern="0" dirty="0">
                <a:solidFill>
                  <a:srgbClr val="000000"/>
                </a:solidFill>
                <a:latin typeface="宋体" panose="02010600030101010101" pitchFamily="2" charset="-122"/>
              </a:rPr>
              <a:t>；</a:t>
            </a:r>
            <a:endParaRPr lang="en-US" altLang="zh-CN" sz="2400" b="1" kern="0" dirty="0">
              <a:solidFill>
                <a:srgbClr val="000000"/>
              </a:solidFill>
              <a:latin typeface="宋体" panose="02010600030101010101" pitchFamily="2" charset="-122"/>
            </a:endParaRPr>
          </a:p>
          <a:p>
            <a:pPr marL="342900" marR="0" lvl="0" indent="-342900" algn="just" defTabSz="914400" eaLnBrk="1" fontAlgn="base" latinLnBrk="0" hangingPunct="1">
              <a:lnSpc>
                <a:spcPct val="110000"/>
              </a:lnSpc>
              <a:spcBef>
                <a:spcPct val="500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碳原子从奥氏体中析出，使奥氏体出现贫碳区，降低了切变阻力。这样，</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在不需要像马氏体转变时那样大的过冷度条件下就有可能满足相变的热力学条件</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。因此，贝氏体形成的上限温度</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Bs</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必然显著高于马氏体开始形成温度</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a:t>
            </a:r>
            <a:r>
              <a:rPr kumimoji="0" lang="en-US" altLang="zh-CN" sz="2400" b="1" i="0" u="none" strike="noStrike" cap="none" normalizeH="0" baseline="0" noProof="0" dirty="0">
                <a:ln>
                  <a:noFill/>
                </a:ln>
                <a:solidFill>
                  <a:srgbClr val="C00000"/>
                </a:solidFill>
                <a:effectLst/>
                <a:uLnTx/>
                <a:uFillTx/>
                <a:latin typeface="Arial" panose="020B0604020202020204"/>
                <a:ea typeface="幼圆" panose="02010509060101010101" charset="-122"/>
              </a:rPr>
              <a:t>Bs</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点及其与钢成分的关系）</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6" name="Text Box 4"/>
          <p:cNvSpPr txBox="1">
            <a:spLocks noChangeArrowheads="1"/>
          </p:cNvSpPr>
          <p:nvPr/>
        </p:nvSpPr>
        <p:spPr bwMode="auto">
          <a:xfrm>
            <a:off x="228282" y="1397317"/>
            <a:ext cx="8686800" cy="2301875"/>
          </a:xfrm>
          <a:prstGeom prst="rect">
            <a:avLst/>
          </a:prstGeom>
          <a:noFill/>
          <a:ln w="19050">
            <a:solidFill>
              <a:srgbClr val="FF0000"/>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en-US" altLang="zh-CN" sz="2200" b="1" dirty="0">
                <a:solidFill>
                  <a:srgbClr val="FF0000"/>
                </a:solidFill>
              </a:rPr>
              <a:t>Bs</a:t>
            </a:r>
            <a:r>
              <a:rPr lang="zh-CN" altLang="en-US" sz="2200" b="1" dirty="0">
                <a:solidFill>
                  <a:srgbClr val="FF0000"/>
                </a:solidFill>
              </a:rPr>
              <a:t>点是表示奥氏体和贝氏体间自由能差达到相变所需的最小化学驱动力值时的温度</a:t>
            </a:r>
            <a:r>
              <a:rPr lang="zh-CN" altLang="en-US" sz="2200" b="1" dirty="0"/>
              <a:t>，高于</a:t>
            </a:r>
            <a:r>
              <a:rPr lang="en-US" altLang="zh-CN" sz="2200" b="1" dirty="0"/>
              <a:t>Bs</a:t>
            </a:r>
            <a:r>
              <a:rPr lang="zh-CN" altLang="en-US" sz="2200" b="1" dirty="0"/>
              <a:t>点则贝氏体转变不能进行。</a:t>
            </a:r>
          </a:p>
          <a:p>
            <a:pPr algn="just" eaLnBrk="1" hangingPunct="1">
              <a:lnSpc>
                <a:spcPct val="110000"/>
              </a:lnSpc>
              <a:spcBef>
                <a:spcPct val="0"/>
              </a:spcBef>
              <a:buFontTx/>
              <a:buNone/>
            </a:pPr>
            <a:r>
              <a:rPr lang="zh-CN" altLang="en-US" sz="2200" b="1" dirty="0"/>
              <a:t>图</a:t>
            </a:r>
            <a:r>
              <a:rPr lang="en-US" altLang="zh-CN" sz="2200" b="1" dirty="0"/>
              <a:t>5-13</a:t>
            </a:r>
            <a:r>
              <a:rPr lang="zh-CN" altLang="en-US" sz="2200" b="1" dirty="0"/>
              <a:t>中</a:t>
            </a:r>
            <a:r>
              <a:rPr lang="zh-CN" altLang="en-US" sz="2200" b="1" dirty="0">
                <a:sym typeface="Symbol" panose="05050102010706020507" pitchFamily="18" charset="2"/>
              </a:rPr>
              <a:t></a:t>
            </a:r>
            <a:r>
              <a:rPr lang="en-US" altLang="zh-CN" sz="2200" b="1" dirty="0"/>
              <a:t>F=0</a:t>
            </a:r>
            <a:r>
              <a:rPr lang="zh-CN" altLang="en-US" sz="2200" b="1" dirty="0"/>
              <a:t>的曲线表示奥氏体与同成分铁素体自由能相等时对应的温度</a:t>
            </a:r>
            <a:r>
              <a:rPr lang="en-US" altLang="zh-CN" sz="2200" b="1" dirty="0"/>
              <a:t>(</a:t>
            </a:r>
            <a:r>
              <a:rPr lang="zh-CN" altLang="en-US" sz="2200" b="1" dirty="0"/>
              <a:t>即相当于</a:t>
            </a:r>
            <a:r>
              <a:rPr lang="en-US" altLang="zh-CN" sz="2200" b="1" dirty="0"/>
              <a:t>T</a:t>
            </a:r>
            <a:r>
              <a:rPr lang="en-US" altLang="zh-CN" sz="2200" b="1" baseline="-30000" dirty="0"/>
              <a:t>o</a:t>
            </a:r>
            <a:r>
              <a:rPr lang="zh-CN" altLang="en-US" sz="2200" b="1" dirty="0"/>
              <a:t>温度</a:t>
            </a:r>
            <a:r>
              <a:rPr lang="en-US" altLang="zh-CN" sz="2200" b="1" dirty="0"/>
              <a:t>)</a:t>
            </a:r>
            <a:r>
              <a:rPr lang="zh-CN" altLang="en-US" sz="2200" b="1" dirty="0"/>
              <a:t>，该曲线与</a:t>
            </a:r>
            <a:r>
              <a:rPr lang="en-US" altLang="zh-CN" sz="2200" b="1" dirty="0" err="1"/>
              <a:t>Acm</a:t>
            </a:r>
            <a:r>
              <a:rPr lang="zh-CN" altLang="en-US" sz="2200" b="1" dirty="0"/>
              <a:t>的外推曲线相交于</a:t>
            </a:r>
            <a:r>
              <a:rPr lang="en-US" altLang="zh-CN" sz="2200" b="1" dirty="0"/>
              <a:t>P</a:t>
            </a:r>
            <a:r>
              <a:rPr lang="zh-CN" altLang="en-US" sz="2200" b="1" dirty="0"/>
              <a:t>点</a:t>
            </a:r>
            <a:r>
              <a:rPr lang="en-US" altLang="zh-CN" sz="2200" b="1" dirty="0"/>
              <a:t>(</a:t>
            </a:r>
            <a:r>
              <a:rPr lang="zh-CN" altLang="en-US" sz="2200" b="1" dirty="0"/>
              <a:t>相当于</a:t>
            </a:r>
            <a:r>
              <a:rPr lang="en-US" altLang="zh-CN" sz="2200" b="1" dirty="0"/>
              <a:t>0.5</a:t>
            </a:r>
            <a:r>
              <a:rPr lang="zh-CN" altLang="en-US" sz="2200" b="1" dirty="0"/>
              <a:t>％</a:t>
            </a:r>
            <a:r>
              <a:rPr lang="en-US" altLang="zh-CN" sz="2200" b="1" dirty="0"/>
              <a:t>C</a:t>
            </a:r>
            <a:r>
              <a:rPr lang="zh-CN" altLang="en-US" sz="2200" b="1" dirty="0"/>
              <a:t>和</a:t>
            </a:r>
            <a:r>
              <a:rPr lang="en-US" altLang="zh-CN" sz="2200" b="1" dirty="0"/>
              <a:t>590℃)</a:t>
            </a:r>
            <a:r>
              <a:rPr lang="zh-CN" altLang="en-US" sz="2200" b="1" dirty="0"/>
              <a:t>。可见，</a:t>
            </a:r>
            <a:r>
              <a:rPr lang="zh-CN" altLang="en-US" sz="2200" b="1" dirty="0">
                <a:solidFill>
                  <a:srgbClr val="FF0000"/>
                </a:solidFill>
              </a:rPr>
              <a:t>碳含量小于</a:t>
            </a:r>
            <a:r>
              <a:rPr lang="en-US" altLang="zh-CN" sz="2200" b="1" dirty="0">
                <a:solidFill>
                  <a:srgbClr val="FF0000"/>
                </a:solidFill>
              </a:rPr>
              <a:t>0.5</a:t>
            </a:r>
            <a:r>
              <a:rPr lang="zh-CN" altLang="en-US" sz="2200" b="1" dirty="0">
                <a:solidFill>
                  <a:srgbClr val="FF0000"/>
                </a:solidFill>
              </a:rPr>
              <a:t>％时，</a:t>
            </a:r>
            <a:r>
              <a:rPr lang="zh-CN" altLang="en-US" sz="2200" b="1" dirty="0">
                <a:solidFill>
                  <a:srgbClr val="FF0000"/>
                </a:solidFill>
                <a:sym typeface="Symbol" panose="05050102010706020507" pitchFamily="18" charset="2"/>
              </a:rPr>
              <a:t></a:t>
            </a:r>
            <a:r>
              <a:rPr lang="en-US" altLang="zh-CN" sz="2200" b="1" dirty="0">
                <a:solidFill>
                  <a:srgbClr val="FF0000"/>
                </a:solidFill>
              </a:rPr>
              <a:t>F=0</a:t>
            </a:r>
            <a:r>
              <a:rPr lang="zh-CN" altLang="en-US" sz="2200" b="1" dirty="0">
                <a:solidFill>
                  <a:srgbClr val="FF0000"/>
                </a:solidFill>
              </a:rPr>
              <a:t>曲线可近似表示贝氏体形成的上限温度</a:t>
            </a:r>
            <a:r>
              <a:rPr lang="en-US" altLang="zh-CN" sz="2200" b="1" dirty="0">
                <a:solidFill>
                  <a:srgbClr val="FF0000"/>
                </a:solidFill>
              </a:rPr>
              <a:t>Bs</a:t>
            </a:r>
            <a:r>
              <a:rPr lang="zh-CN" altLang="en-US" sz="2200" b="1" dirty="0">
                <a:solidFill>
                  <a:srgbClr val="FF0000"/>
                </a:solidFill>
              </a:rPr>
              <a:t>；</a:t>
            </a:r>
          </a:p>
        </p:txBody>
      </p:sp>
      <p:pic>
        <p:nvPicPr>
          <p:cNvPr id="8" name="Picture 5" descr="t500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523749" y="3736217"/>
            <a:ext cx="5276302" cy="3092306"/>
          </a:xfrm>
          <a:prstGeom prst="rect">
            <a:avLst/>
          </a:prstGeom>
          <a:noFill/>
          <a:ln w="19050">
            <a:solidFill>
              <a:srgbClr val="0070C0"/>
            </a:solidFill>
            <a:miter lim="800000"/>
            <a:headEnd/>
            <a:tailEnd/>
          </a:ln>
          <a:extLst>
            <a:ext uri="{909E8E84-426E-40DD-AFC4-6F175D3DCCD1}">
              <a14:hiddenFill xmlns:a14="http://schemas.microsoft.com/office/drawing/2010/main" xmlns="">
                <a:solidFill>
                  <a:srgbClr val="FFFFFF"/>
                </a:solidFill>
              </a14:hiddenFill>
            </a:ext>
          </a:extLst>
        </p:spPr>
      </p:pic>
      <p:sp>
        <p:nvSpPr>
          <p:cNvPr id="9" name="Text Box 6"/>
          <p:cNvSpPr txBox="1">
            <a:spLocks noChangeArrowheads="1"/>
          </p:cNvSpPr>
          <p:nvPr/>
        </p:nvSpPr>
        <p:spPr bwMode="auto">
          <a:xfrm>
            <a:off x="272596" y="3762692"/>
            <a:ext cx="2831332" cy="304121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zh-CN" altLang="en-US" sz="2200" b="1" dirty="0">
                <a:solidFill>
                  <a:srgbClr val="FF0000"/>
                </a:solidFill>
              </a:rPr>
              <a:t>但碳含量大于</a:t>
            </a:r>
            <a:r>
              <a:rPr lang="en-US" altLang="zh-CN" sz="2200" b="1" dirty="0">
                <a:solidFill>
                  <a:srgbClr val="FF0000"/>
                </a:solidFill>
              </a:rPr>
              <a:t>0.5</a:t>
            </a:r>
            <a:r>
              <a:rPr lang="zh-CN" altLang="en-US" sz="2200" b="1" dirty="0">
                <a:solidFill>
                  <a:srgbClr val="FF0000"/>
                </a:solidFill>
              </a:rPr>
              <a:t>％后，</a:t>
            </a:r>
            <a:r>
              <a:rPr lang="en-US" altLang="zh-CN" sz="2200" b="1" dirty="0">
                <a:solidFill>
                  <a:srgbClr val="FF0000"/>
                </a:solidFill>
              </a:rPr>
              <a:t>Bs</a:t>
            </a:r>
            <a:r>
              <a:rPr lang="zh-CN" altLang="en-US" sz="2200" b="1" dirty="0">
                <a:solidFill>
                  <a:srgbClr val="FF0000"/>
                </a:solidFill>
              </a:rPr>
              <a:t>温度则保持不变</a:t>
            </a:r>
            <a:r>
              <a:rPr lang="zh-CN" altLang="en-US" sz="2200" b="1" dirty="0"/>
              <a:t>。关于碳钢的</a:t>
            </a:r>
            <a:r>
              <a:rPr lang="en-US" altLang="zh-CN" sz="2200" b="1" dirty="0"/>
              <a:t>Bs</a:t>
            </a:r>
            <a:r>
              <a:rPr lang="zh-CN" altLang="en-US" sz="2200" b="1" dirty="0"/>
              <a:t>点与其碳含量的关系，</a:t>
            </a:r>
            <a:r>
              <a:rPr lang="en-US" altLang="zh-CN" sz="2200" b="1" dirty="0"/>
              <a:t>Kinsman</a:t>
            </a:r>
            <a:r>
              <a:rPr lang="zh-CN" altLang="en-US" sz="2200" b="1" dirty="0"/>
              <a:t>和</a:t>
            </a:r>
            <a:r>
              <a:rPr lang="en-US" altLang="zh-CN" sz="2200" b="1" dirty="0"/>
              <a:t>Aaronson</a:t>
            </a:r>
            <a:r>
              <a:rPr lang="zh-CN" altLang="en-US" sz="2200" b="1" dirty="0"/>
              <a:t>根据金相法也得出了类似的结果，见图</a:t>
            </a:r>
            <a:r>
              <a:rPr lang="en-US" altLang="zh-CN" sz="2200" b="1" dirty="0"/>
              <a:t>5-13(b)</a:t>
            </a:r>
            <a:r>
              <a:rPr lang="zh-CN" altLang="en-US" sz="22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heckerboard(across)">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10160" y="806450"/>
            <a:ext cx="9144000" cy="60515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（贝氏体转变热力学条件）</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6" name="Text Box 1028"/>
          <p:cNvSpPr txBox="1">
            <a:spLocks noChangeArrowheads="1"/>
          </p:cNvSpPr>
          <p:nvPr/>
        </p:nvSpPr>
        <p:spPr bwMode="auto">
          <a:xfrm>
            <a:off x="238760" y="2059192"/>
            <a:ext cx="8686800" cy="385127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buFontTx/>
              <a:buNone/>
            </a:pPr>
            <a:r>
              <a:rPr lang="zh-CN" altLang="en-US" sz="2800" b="1" dirty="0"/>
              <a:t>钢中加入稳定奥氏体的合金元素，将导致，</a:t>
            </a:r>
            <a:r>
              <a:rPr lang="zh-CN" altLang="en-US" sz="2800" b="1" dirty="0">
                <a:sym typeface="Symbol" panose="05050102010706020507" pitchFamily="18" charset="2"/>
              </a:rPr>
              <a:t></a:t>
            </a:r>
            <a:r>
              <a:rPr lang="en-US" altLang="zh-CN" sz="2800" b="1" dirty="0"/>
              <a:t>F</a:t>
            </a:r>
            <a:r>
              <a:rPr lang="zh-CN" altLang="en-US" sz="2800" b="1" dirty="0"/>
              <a:t>＝</a:t>
            </a:r>
            <a:r>
              <a:rPr lang="en-US" altLang="zh-CN" sz="2800" b="1" dirty="0"/>
              <a:t>0</a:t>
            </a:r>
            <a:r>
              <a:rPr lang="zh-CN" altLang="en-US" sz="2800" b="1" dirty="0"/>
              <a:t>曲线下移，从而使</a:t>
            </a:r>
            <a:r>
              <a:rPr lang="en-US" altLang="zh-CN" sz="2800" b="1" dirty="0"/>
              <a:t>P</a:t>
            </a:r>
            <a:r>
              <a:rPr lang="zh-CN" altLang="en-US" sz="2800" b="1" dirty="0"/>
              <a:t>点向左下方移动，引起</a:t>
            </a:r>
            <a:r>
              <a:rPr lang="en-US" altLang="zh-CN" sz="2800" b="1" dirty="0"/>
              <a:t>Bs</a:t>
            </a:r>
            <a:r>
              <a:rPr lang="zh-CN" altLang="en-US" sz="2800" b="1" dirty="0"/>
              <a:t>点降低。</a:t>
            </a:r>
          </a:p>
          <a:p>
            <a:pPr algn="just" eaLnBrk="1" hangingPunct="1">
              <a:lnSpc>
                <a:spcPct val="110000"/>
              </a:lnSpc>
              <a:spcBef>
                <a:spcPct val="0"/>
              </a:spcBef>
              <a:buFontTx/>
              <a:buNone/>
            </a:pPr>
            <a:r>
              <a:rPr lang="zh-CN" altLang="en-US" sz="2800" b="1" dirty="0"/>
              <a:t>关于合金元素对</a:t>
            </a:r>
            <a:r>
              <a:rPr lang="en-US" altLang="zh-CN" sz="2800" b="1" dirty="0"/>
              <a:t>Bs</a:t>
            </a:r>
            <a:r>
              <a:rPr lang="zh-CN" altLang="en-US" sz="2800" b="1" dirty="0"/>
              <a:t>点的影响，可用下列</a:t>
            </a:r>
            <a:r>
              <a:rPr lang="zh-CN" altLang="en-US" sz="2800" b="1" dirty="0">
                <a:solidFill>
                  <a:srgbClr val="FF0000"/>
                </a:solidFill>
              </a:rPr>
              <a:t>经验公式</a:t>
            </a:r>
            <a:r>
              <a:rPr lang="zh-CN" altLang="en-US" sz="2800" b="1" dirty="0"/>
              <a:t>来表示：</a:t>
            </a:r>
          </a:p>
          <a:p>
            <a:pPr algn="just" eaLnBrk="1" hangingPunct="1">
              <a:lnSpc>
                <a:spcPct val="110000"/>
              </a:lnSpc>
              <a:spcBef>
                <a:spcPct val="0"/>
              </a:spcBef>
              <a:buFontTx/>
              <a:buNone/>
            </a:pPr>
            <a:r>
              <a:rPr lang="zh-CN" altLang="en-US" sz="2800" b="1" dirty="0"/>
              <a:t>    </a:t>
            </a:r>
            <a:r>
              <a:rPr lang="en-US" altLang="zh-CN" sz="2800" b="1" dirty="0"/>
              <a:t>Bs(℃)</a:t>
            </a:r>
            <a:r>
              <a:rPr lang="zh-CN" altLang="en-US" sz="2800" b="1" dirty="0"/>
              <a:t>＝</a:t>
            </a:r>
            <a:r>
              <a:rPr lang="en-US" altLang="zh-CN" sz="2800" b="1" dirty="0"/>
              <a:t>830-270×(</a:t>
            </a:r>
            <a:r>
              <a:rPr lang="zh-CN" altLang="en-US" sz="2800" b="1" dirty="0"/>
              <a:t>％</a:t>
            </a:r>
            <a:r>
              <a:rPr lang="en-US" altLang="zh-CN" sz="2800" b="1" dirty="0"/>
              <a:t>C)-90(</a:t>
            </a:r>
            <a:r>
              <a:rPr lang="zh-CN" altLang="en-US" sz="2800" b="1" dirty="0"/>
              <a:t>％</a:t>
            </a:r>
            <a:r>
              <a:rPr lang="en-US" altLang="zh-CN" sz="2800" b="1" dirty="0"/>
              <a:t>Mn)-37×(</a:t>
            </a:r>
            <a:r>
              <a:rPr lang="zh-CN" altLang="en-US" sz="2800" b="1" dirty="0"/>
              <a:t>％</a:t>
            </a:r>
            <a:r>
              <a:rPr lang="en-US" altLang="zh-CN" sz="2800" b="1" dirty="0"/>
              <a:t>Ni)-70×(</a:t>
            </a:r>
            <a:r>
              <a:rPr lang="zh-CN" altLang="en-US" sz="2800" b="1" dirty="0"/>
              <a:t>％</a:t>
            </a:r>
            <a:r>
              <a:rPr lang="en-US" altLang="zh-CN" sz="2800" b="1" dirty="0"/>
              <a:t>Cr)-83×(</a:t>
            </a:r>
            <a:r>
              <a:rPr lang="zh-CN" altLang="en-US" sz="2800" b="1" dirty="0"/>
              <a:t>％</a:t>
            </a:r>
            <a:r>
              <a:rPr lang="en-US" altLang="zh-CN" sz="2800" b="1" dirty="0"/>
              <a:t>Mo)</a:t>
            </a:r>
          </a:p>
          <a:p>
            <a:pPr algn="just" eaLnBrk="1" hangingPunct="1">
              <a:lnSpc>
                <a:spcPct val="110000"/>
              </a:lnSpc>
              <a:spcBef>
                <a:spcPct val="0"/>
              </a:spcBef>
              <a:buFontTx/>
              <a:buNone/>
            </a:pPr>
            <a:r>
              <a:rPr lang="zh-CN" altLang="en-US" sz="2800" b="1" dirty="0"/>
              <a:t>上式适用于下列成分范围的钢：</a:t>
            </a:r>
            <a:r>
              <a:rPr lang="en-US" altLang="zh-CN" sz="2800" b="1" dirty="0"/>
              <a:t>C=0.1~0.55</a:t>
            </a:r>
            <a:r>
              <a:rPr lang="zh-CN" altLang="en-US" sz="2800" b="1" dirty="0"/>
              <a:t>％，</a:t>
            </a:r>
            <a:r>
              <a:rPr lang="en-US" altLang="zh-CN" sz="2800" b="1" dirty="0"/>
              <a:t>Cr≤3.5</a:t>
            </a:r>
            <a:r>
              <a:rPr lang="zh-CN" altLang="en-US" sz="2800" b="1" dirty="0"/>
              <a:t>％，</a:t>
            </a:r>
            <a:r>
              <a:rPr lang="en-US" altLang="zh-CN" sz="2800" b="1" dirty="0"/>
              <a:t>Mn</a:t>
            </a:r>
            <a:r>
              <a:rPr lang="zh-CN" altLang="en-US" sz="2800" b="1" dirty="0"/>
              <a:t>＝</a:t>
            </a:r>
            <a:r>
              <a:rPr lang="en-US" altLang="zh-CN" sz="2800" b="1" dirty="0"/>
              <a:t>0.2</a:t>
            </a:r>
            <a:r>
              <a:rPr lang="zh-CN" altLang="en-US" sz="2800" b="1" dirty="0"/>
              <a:t>～</a:t>
            </a:r>
            <a:r>
              <a:rPr lang="en-US" altLang="zh-CN" sz="2800" b="1" dirty="0"/>
              <a:t>1.7</a:t>
            </a:r>
            <a:r>
              <a:rPr lang="zh-CN" altLang="en-US" sz="2800" b="1" dirty="0"/>
              <a:t>％，</a:t>
            </a:r>
            <a:r>
              <a:rPr lang="en-US" altLang="zh-CN" sz="2800" b="1" dirty="0"/>
              <a:t>Mo≤1.0</a:t>
            </a:r>
            <a:r>
              <a:rPr lang="zh-CN" altLang="en-US" sz="2800" b="1" dirty="0"/>
              <a:t>％，</a:t>
            </a:r>
            <a:r>
              <a:rPr lang="en-US" altLang="zh-CN" sz="2800" b="1" dirty="0"/>
              <a:t>Ni≤5</a:t>
            </a:r>
            <a:r>
              <a:rPr lang="zh-CN" altLang="en-US" sz="28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（贝氏体转变过程）</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9" name="Rectangle 2"/>
          <p:cNvSpPr txBox="1">
            <a:spLocks noChangeArrowheads="1"/>
          </p:cNvSpPr>
          <p:nvPr/>
        </p:nvSpPr>
        <p:spPr bwMode="auto">
          <a:xfrm>
            <a:off x="10160" y="1354455"/>
            <a:ext cx="9133840" cy="548005"/>
          </a:xfrm>
          <a:prstGeom prst="rect">
            <a:avLst/>
          </a:prstGeom>
          <a:no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一</a:t>
            </a: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 </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贝氏体转变的两个基本过程</a:t>
            </a:r>
          </a:p>
        </p:txBody>
      </p:sp>
      <p:sp>
        <p:nvSpPr>
          <p:cNvPr id="10" name="Text Box 4"/>
          <p:cNvSpPr txBox="1">
            <a:spLocks noChangeArrowheads="1"/>
          </p:cNvSpPr>
          <p:nvPr/>
        </p:nvSpPr>
        <p:spPr bwMode="auto">
          <a:xfrm>
            <a:off x="466725" y="2349796"/>
            <a:ext cx="8098435" cy="324217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800" b="1" i="0" u="none" strike="noStrike" kern="0" cap="none" spc="0" normalizeH="0" baseline="0" noProof="0" dirty="0">
                <a:ln>
                  <a:noFill/>
                </a:ln>
                <a:solidFill>
                  <a:schemeClr val="tx1">
                    <a:lumMod val="50000"/>
                  </a:schemeClr>
                </a:solidFill>
                <a:effectLst/>
                <a:uLnTx/>
                <a:uFillTx/>
                <a:latin typeface="宋体" panose="02010600030101010101" pitchFamily="2" charset="-122"/>
                <a:ea typeface="宋体" panose="02010600030101010101" pitchFamily="2" charset="-122"/>
              </a:rPr>
              <a:t>已知典型的上、下贝氏体是由铁素体和碳化物组成的复相组织，因此贝氏体转变应当包含</a:t>
            </a:r>
            <a:r>
              <a:rPr kumimoji="1" lang="zh-CN" altLang="en-US" sz="28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铁素体的成长和碳化物的析出两个基本过程</a:t>
            </a: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a:t>
            </a:r>
            <a:r>
              <a:rPr kumimoji="1" lang="zh-CN" altLang="en-US" sz="2800" b="1" i="0" u="none" strike="noStrike" kern="0" cap="none" spc="0" normalizeH="0" baseline="0" noProof="0" dirty="0">
                <a:ln>
                  <a:noFill/>
                </a:ln>
                <a:solidFill>
                  <a:schemeClr val="tx1">
                    <a:lumMod val="50000"/>
                  </a:schemeClr>
                </a:solidFill>
                <a:effectLst/>
                <a:uLnTx/>
                <a:uFillTx/>
                <a:latin typeface="宋体" panose="02010600030101010101" pitchFamily="2" charset="-122"/>
                <a:ea typeface="宋体" panose="02010600030101010101" pitchFamily="2" charset="-122"/>
              </a:rPr>
              <a:t>它们决定了贝氏体中两个基本组成相的形态、分布和尺寸，因而也就决定了整个贝氏体的组织形态和性能。</a:t>
            </a:r>
            <a:r>
              <a:rPr kumimoji="1" lang="zh-CN" altLang="en-US" sz="2800" b="1" i="0" u="none" strike="noStrike" kern="0" cap="none" spc="0" normalizeH="0" baseline="0" noProof="0" dirty="0">
                <a:ln>
                  <a:noFill/>
                </a:ln>
                <a:solidFill>
                  <a:schemeClr val="tx1">
                    <a:lumMod val="50000"/>
                  </a:schemeClr>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（贝氏体转变过程）</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9" name="Rectangle 2"/>
          <p:cNvSpPr txBox="1">
            <a:spLocks noChangeArrowheads="1"/>
          </p:cNvSpPr>
          <p:nvPr/>
        </p:nvSpPr>
        <p:spPr bwMode="auto">
          <a:xfrm>
            <a:off x="-43483" y="1354455"/>
            <a:ext cx="9133840" cy="548005"/>
          </a:xfrm>
          <a:prstGeom prst="rect">
            <a:avLst/>
          </a:prstGeom>
          <a:no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二</a:t>
            </a: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 </a:t>
            </a:r>
            <a:r>
              <a:rPr lang="zh-CN" altLang="en-US" sz="2800" b="1" dirty="0">
                <a:solidFill>
                  <a:schemeClr val="tx1">
                    <a:lumMod val="50000"/>
                  </a:schemeClr>
                </a:solidFill>
                <a:latin typeface="Times New Roman" panose="02020603050405020304"/>
                <a:ea typeface="宋体" panose="02010600030101010101" pitchFamily="2" charset="-122"/>
              </a:rPr>
              <a:t>奥氏体中碳</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的再分配</a:t>
            </a:r>
          </a:p>
        </p:txBody>
      </p:sp>
      <p:sp>
        <p:nvSpPr>
          <p:cNvPr id="8" name="Text Box 4"/>
          <p:cNvSpPr txBox="1">
            <a:spLocks noChangeArrowheads="1"/>
          </p:cNvSpPr>
          <p:nvPr/>
        </p:nvSpPr>
        <p:spPr bwMode="auto">
          <a:xfrm>
            <a:off x="141287" y="1902460"/>
            <a:ext cx="8949069" cy="137763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ts val="600"/>
              </a:spcBef>
              <a:buFontTx/>
              <a:buNone/>
            </a:pPr>
            <a:r>
              <a:rPr lang="zh-CN" altLang="en-US" sz="2800" b="1" dirty="0"/>
              <a:t>在贝氏体转变时，在过冷奥氏体的碳必须通过扩散重新分布</a:t>
            </a:r>
            <a:r>
              <a:rPr lang="en-US" altLang="zh-CN" sz="2800" b="1" dirty="0"/>
              <a:t>—</a:t>
            </a:r>
            <a:r>
              <a:rPr lang="zh-CN" altLang="en-US" sz="2800" b="1" dirty="0">
                <a:solidFill>
                  <a:srgbClr val="FF0000"/>
                </a:solidFill>
              </a:rPr>
              <a:t>再分配</a:t>
            </a:r>
            <a:r>
              <a:rPr lang="zh-CN" altLang="en-US" sz="2800" b="1" dirty="0"/>
              <a:t>，形成</a:t>
            </a:r>
            <a:r>
              <a:rPr lang="zh-CN" altLang="en-US" sz="2800" b="1" dirty="0">
                <a:solidFill>
                  <a:schemeClr val="accent2"/>
                </a:solidFill>
              </a:rPr>
              <a:t>富碳区</a:t>
            </a:r>
            <a:r>
              <a:rPr lang="zh-CN" altLang="en-US" sz="2800" b="1" dirty="0"/>
              <a:t>和</a:t>
            </a:r>
            <a:r>
              <a:rPr lang="zh-CN" altLang="en-US" sz="2800" b="1" dirty="0">
                <a:solidFill>
                  <a:schemeClr val="accent2"/>
                </a:solidFill>
              </a:rPr>
              <a:t>贫碳区</a:t>
            </a:r>
            <a:r>
              <a:rPr lang="zh-CN" altLang="en-US" sz="2800" b="1" dirty="0"/>
              <a:t>，以满足新相形核时所必需的成分条件。</a:t>
            </a:r>
          </a:p>
        </p:txBody>
      </p:sp>
      <p:pic>
        <p:nvPicPr>
          <p:cNvPr id="11" name="Picture 5" descr="t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82563" y="3404200"/>
            <a:ext cx="8645525" cy="3036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（贝氏体转变过程）</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9" name="Rectangle 2"/>
          <p:cNvSpPr txBox="1">
            <a:spLocks noChangeArrowheads="1"/>
          </p:cNvSpPr>
          <p:nvPr/>
        </p:nvSpPr>
        <p:spPr bwMode="auto">
          <a:xfrm>
            <a:off x="-43483" y="1354455"/>
            <a:ext cx="9133840" cy="548005"/>
          </a:xfrm>
          <a:prstGeom prst="rect">
            <a:avLst/>
          </a:prstGeom>
          <a:no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二</a:t>
            </a: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 </a:t>
            </a:r>
            <a:r>
              <a:rPr lang="zh-CN" altLang="en-US" sz="2800" b="1" dirty="0">
                <a:solidFill>
                  <a:schemeClr val="tx1">
                    <a:lumMod val="50000"/>
                  </a:schemeClr>
                </a:solidFill>
                <a:latin typeface="Times New Roman" panose="02020603050405020304"/>
                <a:ea typeface="宋体" panose="02010600030101010101" pitchFamily="2" charset="-122"/>
              </a:rPr>
              <a:t>奥氏体中碳</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的再分配</a:t>
            </a:r>
          </a:p>
        </p:txBody>
      </p:sp>
      <p:sp>
        <p:nvSpPr>
          <p:cNvPr id="12" name="Text Box 3"/>
          <p:cNvSpPr txBox="1">
            <a:spLocks noChangeArrowheads="1"/>
          </p:cNvSpPr>
          <p:nvPr/>
        </p:nvSpPr>
        <p:spPr bwMode="auto">
          <a:xfrm>
            <a:off x="-9525" y="1885872"/>
            <a:ext cx="9143365" cy="4900822"/>
          </a:xfrm>
          <a:prstGeom prst="rect">
            <a:avLst/>
          </a:prstGeom>
          <a:solidFill>
            <a:srgbClr val="CCFFCC">
              <a:alpha val="38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贝氏体转变的孕育期内和转变过程中，都发生着碳的再分配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。但是，这一过程明显地</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受钢中碳和合金元素含量以及转变温度的影响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。因为依奥氏体中碳和合金元素的原始含量及转变温度的不同，贝氏体转变本身和从奥氏体中析出碳化物这两个过程中可能某一个占有优势，从而决定了碳的再分配规律。</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一般来说，</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随钢中碳含量的增高，从奥氏体中析出碳化物相的可能性增大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，同时合金元素中硅、锰、铬、镍等也依次使这种可能性增大。</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实验证实，在</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贝氏体转变时铁和合金元素原子是不进行扩散的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，这是由于在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中铁原子的自扩散系数和合金元素原子的异扩散系数都很小。因此，在</a:t>
            </a:r>
            <a:r>
              <a:rPr kumimoji="1"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贝氏体转变时不会发生合金元素的再分配现象</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（贝氏体转变过程）</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9" name="Rectangle 2"/>
          <p:cNvSpPr txBox="1">
            <a:spLocks noChangeArrowheads="1"/>
          </p:cNvSpPr>
          <p:nvPr/>
        </p:nvSpPr>
        <p:spPr bwMode="auto">
          <a:xfrm>
            <a:off x="-43483" y="1354455"/>
            <a:ext cx="9133840" cy="548005"/>
          </a:xfrm>
          <a:prstGeom prst="rect">
            <a:avLst/>
          </a:prstGeom>
          <a:no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三</a:t>
            </a: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贝氏体铁素体的形成及贝氏体铁素体的碳含量</a:t>
            </a:r>
          </a:p>
        </p:txBody>
      </p:sp>
      <p:sp>
        <p:nvSpPr>
          <p:cNvPr id="10" name="Text Box 8"/>
          <p:cNvSpPr txBox="1">
            <a:spLocks noChangeArrowheads="1"/>
          </p:cNvSpPr>
          <p:nvPr/>
        </p:nvSpPr>
        <p:spPr bwMode="auto">
          <a:xfrm>
            <a:off x="10159" y="2003024"/>
            <a:ext cx="9167163" cy="460812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关于在过冷奥氏体的</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贫碳区如何形成贝氏体的机理问题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，长期以来有着种种不同的见解。</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柯俊等人最早提出贝氏体铁素体是按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切变方式形成</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。认为最先是由</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奥氏体中贫碳区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形成低碳马氏体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，在随后的保温过程中因</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发生分解</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析出了碳化物，从而得到了贝氏体铁素体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持切变机理观点的人认为，贝氏体铁素体中的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碳量是过饱和的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，其含量与转变温度有关，在某一温度下形成的贝氏体的碳含量应相当于以该温度为</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点的奥氏体的碳含量。</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（贝氏体转变过程）</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8" name="Text Box 3"/>
          <p:cNvSpPr txBox="1">
            <a:spLocks noChangeArrowheads="1"/>
          </p:cNvSpPr>
          <p:nvPr/>
        </p:nvSpPr>
        <p:spPr bwMode="auto">
          <a:xfrm>
            <a:off x="98757" y="1826703"/>
            <a:ext cx="8991600" cy="132343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以亚共析钢为例，当</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成分的奥氏体被过冷到低于</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Bs</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温度时，它已处于</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Acm</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延长线的右侧，这意味着碳在奥氏体中处于过饱和状态，应具有从奥氏体中析出的倾向，因此奥氏体内必将发生碳的再分配，从而形成贫碳区和富碳区。富碳区的碳量向右方向增加，贫碳区的碳量向左方向降低。</a:t>
            </a:r>
          </a:p>
        </p:txBody>
      </p:sp>
      <p:pic>
        <p:nvPicPr>
          <p:cNvPr id="10" name="Picture 4" descr="t500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532423" y="3329320"/>
            <a:ext cx="3328147" cy="3306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5"/>
          <p:cNvSpPr txBox="1">
            <a:spLocks noChangeArrowheads="1"/>
          </p:cNvSpPr>
          <p:nvPr/>
        </p:nvSpPr>
        <p:spPr bwMode="auto">
          <a:xfrm>
            <a:off x="98757" y="3150142"/>
            <a:ext cx="5160397" cy="363176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贫碳区的碳量降到</a:t>
            </a:r>
            <a:r>
              <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Y</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以下时，就温度而言，已处于该成分奥氏体的</a:t>
            </a:r>
            <a:r>
              <a:rPr kumimoji="1" lang="en-US" altLang="zh-CN" sz="2000" b="1" i="0" u="none" strike="noStrike" kern="0" cap="none" spc="0" normalizeH="0" baseline="0" noProof="0" dirty="0" err="1">
                <a:ln>
                  <a:noFill/>
                </a:ln>
                <a:solidFill>
                  <a:srgbClr val="3333CC"/>
                </a:solidFill>
                <a:effectLst/>
                <a:uLnTx/>
                <a:uFillTx/>
                <a:latin typeface="Times New Roman" panose="02020603050405020304" pitchFamily="18" charset="0"/>
                <a:ea typeface="宋体" panose="02010600030101010101" pitchFamily="2" charset="-122"/>
              </a:rPr>
              <a:t>Ms</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点或其以下，于是便发生马氏体转变</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实测出的铁素体碳含量总是比按以上理论估计的值要低。例如，</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Hehemann</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的估计值为</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0.25</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％，而实测值仅为</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0.1</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0.15</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％，他认为这是由于铁素体长大时将部分碳排至周围的奥氏体中所致。</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也有人认为这是由于先形成的</a:t>
            </a: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低碳马氏体在随后等温时很快发生回火分解</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，从而使碳量降低所致。</a:t>
            </a:r>
          </a:p>
        </p:txBody>
      </p:sp>
      <p:sp>
        <p:nvSpPr>
          <p:cNvPr id="12" name="Rectangle 2"/>
          <p:cNvSpPr txBox="1">
            <a:spLocks noChangeArrowheads="1"/>
          </p:cNvSpPr>
          <p:nvPr/>
        </p:nvSpPr>
        <p:spPr bwMode="auto">
          <a:xfrm>
            <a:off x="-43483" y="1354455"/>
            <a:ext cx="9133840" cy="548005"/>
          </a:xfrm>
          <a:prstGeom prst="rect">
            <a:avLst/>
          </a:prstGeom>
          <a:no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三</a:t>
            </a: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贝氏体铁素体的形成及贝氏体铁素体的碳含量</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1" lang="en-US" altLang="zh-CN" sz="2400" b="1" i="0" u="none" strike="noStrike" kern="1200" cap="none" spc="0" normalizeH="0" baseline="0" noProof="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a:ln>
                  <a:noFill/>
                </a:ln>
                <a:solidFill>
                  <a:srgbClr val="000000"/>
                </a:solidFill>
                <a:effectLst/>
                <a:uLnTx/>
                <a:uFillTx/>
                <a:latin typeface="Times New Roman" panose="02020603050405020304"/>
                <a:ea typeface="宋体" panose="02010600030101010101" pitchFamily="2" charset="-122"/>
                <a:cs typeface="+mj-cs"/>
              </a:rPr>
              <a:t>四</a:t>
            </a:r>
            <a:r>
              <a:rPr kumimoji="1" lang="en-US" altLang="zh-CN" sz="2400" b="1" i="0" u="none" strike="noStrike" kern="1200" cap="none" spc="0" normalizeH="0" baseline="0" noProof="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a:ln>
                  <a:noFill/>
                </a:ln>
                <a:solidFill>
                  <a:srgbClr val="000000"/>
                </a:solidFill>
                <a:effectLst/>
                <a:uLnTx/>
                <a:uFillTx/>
                <a:latin typeface="Times New Roman" panose="02020603050405020304"/>
                <a:ea typeface="宋体" panose="02010600030101010101" pitchFamily="2" charset="-122"/>
                <a:cs typeface="+mj-cs"/>
              </a:rPr>
              <a:t>碳化物相的成分和类型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l" defTabSz="457200" rtl="0" eaLnBrk="1" fontAlgn="base" latinLnBrk="0" hangingPunct="1">
              <a:lnSpc>
                <a:spcPct val="100000"/>
              </a:lnSpc>
              <a:buClrTx/>
              <a:buSzTx/>
              <a:buFontTx/>
              <a:buNone/>
              <a:defRPr/>
            </a:pPr>
            <a:r>
              <a:rPr kumimoji="0" lang="zh-CN" altLang="en-US" sz="2400" b="1" i="0" u="none" strike="noStrike" cap="none" normalizeH="0" baseline="0" noProof="0" dirty="0">
                <a:ln>
                  <a:noFill/>
                </a:ln>
                <a:solidFill>
                  <a:srgbClr val="000000"/>
                </a:solidFill>
                <a:effectLst/>
                <a:uLnTx/>
                <a:uFillTx/>
                <a:latin typeface="Arial" panose="020B0604020202020204"/>
                <a:ea typeface="幼圆" panose="02010509060101010101" charset="-122"/>
              </a:rPr>
              <a:t>第三节 贝氏体转变热力学与转变过程</a:t>
            </a:r>
            <a:r>
              <a:rPr kumimoji="0" lang="zh-CN" altLang="en-US" sz="2400" b="1" i="0" u="none" strike="noStrike" cap="none" normalizeH="0" baseline="0" noProof="0" dirty="0">
                <a:ln>
                  <a:noFill/>
                </a:ln>
                <a:solidFill>
                  <a:srgbClr val="C00000"/>
                </a:solidFill>
                <a:effectLst/>
                <a:uLnTx/>
                <a:uFillTx/>
                <a:latin typeface="Arial" panose="020B0604020202020204"/>
                <a:ea typeface="幼圆" panose="02010509060101010101" charset="-122"/>
              </a:rPr>
              <a:t>（贝氏体转变过程）</a:t>
            </a:r>
            <a:endParaRPr kumimoji="0" lang="zh-CN" altLang="en-US" sz="2400" b="1" i="0" baseline="0" noProof="0" dirty="0">
              <a:ln>
                <a:noFill/>
              </a:ln>
              <a:solidFill>
                <a:srgbClr val="C00000"/>
              </a:solidFill>
              <a:effectLst/>
              <a:uLnTx/>
              <a:uFillTx/>
              <a:latin typeface="Arial" panose="020B0604020202020204"/>
              <a:ea typeface="幼圆" panose="02010509060101010101" charset="-122"/>
            </a:endParaRPr>
          </a:p>
        </p:txBody>
      </p:sp>
      <p:sp>
        <p:nvSpPr>
          <p:cNvPr id="10" name="Text Box 5"/>
          <p:cNvSpPr txBox="1">
            <a:spLocks noChangeArrowheads="1"/>
          </p:cNvSpPr>
          <p:nvPr/>
        </p:nvSpPr>
        <p:spPr bwMode="auto">
          <a:xfrm>
            <a:off x="583098" y="1977195"/>
            <a:ext cx="7789115" cy="453483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贝氏体中的碳化物相可能是</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渗碳体或</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碳化物</a:t>
            </a: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，这取决于钢的成分及转变的温度和持续时间</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。由于在贝氏体转变时合金元素不发生重新分布，所以碳化物中的合金元素含量总是大致等于钢中合金元素的平均含量。不论碳化物是直接从奥氏体中析出或是从贝氏体铁素体中析出，这一结论都是正确的。</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（切变机理）</a:t>
            </a:r>
          </a:p>
        </p:txBody>
      </p:sp>
      <p:sp>
        <p:nvSpPr>
          <p:cNvPr id="8" name="Text Box 3"/>
          <p:cNvSpPr txBox="1">
            <a:spLocks noChangeArrowheads="1"/>
          </p:cNvSpPr>
          <p:nvPr/>
        </p:nvSpPr>
        <p:spPr bwMode="auto">
          <a:xfrm>
            <a:off x="10160" y="1354456"/>
            <a:ext cx="9123680" cy="209050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贝氏体转变的温度比马氐体转变时为高，此时碳原子尚有一定的扩散能力，因而当</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贝氏体中铁素体在以切变共格方式长大的同时，还伴随着碳的扩散和碳化物从铁素体中脱溶沉淀的过程</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，故整个转变过程的速度受碳原子的扩散过程所控制，并且依温度不同碳自铁素体中的脱溶可以有以下几种形式：</a:t>
            </a:r>
          </a:p>
        </p:txBody>
      </p:sp>
      <p:sp>
        <p:nvSpPr>
          <p:cNvPr id="9" name="Text Box 3"/>
          <p:cNvSpPr txBox="1">
            <a:spLocks noChangeArrowheads="1"/>
          </p:cNvSpPr>
          <p:nvPr/>
        </p:nvSpPr>
        <p:spPr bwMode="auto">
          <a:xfrm>
            <a:off x="86687" y="3429000"/>
            <a:ext cx="8458200" cy="3346237"/>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当温度较高时，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板条状铁素体组成的</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无碳化物贝氏体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5-14(a)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所示。由于转变温度较高，过冷度较小，新相与母相间的化学自由能差较小，不足以补偿在更多的新相形成时所需消耗的界面能和各种应变能，因而形成的贝氏体铁素体量较少，亦即</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转变进行到一定程度后便会自行中途停顿下来</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（切变机理）</a:t>
            </a:r>
          </a:p>
        </p:txBody>
      </p:sp>
      <p:pic>
        <p:nvPicPr>
          <p:cNvPr id="11" name="Picture 4" descr="t500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318866" y="1642401"/>
            <a:ext cx="4714371" cy="45402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ext Box 5"/>
          <p:cNvSpPr txBox="1">
            <a:spLocks noChangeArrowheads="1"/>
          </p:cNvSpPr>
          <p:nvPr/>
        </p:nvSpPr>
        <p:spPr bwMode="auto">
          <a:xfrm>
            <a:off x="432666" y="1642401"/>
            <a:ext cx="3886200" cy="445423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此时铁素体板条显得较宽，且条间距离也较大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。至于位于铁素体板条间的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富碳奥氏体，在随后冷却过程中依其稳定性和冷速的不同，则可部分地继续转变为马氏体或奥氏体的其它分解产物，也可能全部保留下来</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（切变机理）</a:t>
            </a:r>
          </a:p>
        </p:txBody>
      </p:sp>
      <p:sp>
        <p:nvSpPr>
          <p:cNvPr id="6" name="Text Box 1027"/>
          <p:cNvSpPr txBox="1">
            <a:spLocks noChangeArrowheads="1"/>
          </p:cNvSpPr>
          <p:nvPr/>
        </p:nvSpPr>
        <p:spPr bwMode="auto">
          <a:xfrm>
            <a:off x="10160" y="1417955"/>
            <a:ext cx="4905789" cy="534062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当温度稍低时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（中温）</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，虽然碳在铁素体中仍可顺利地进行扩散，但在奥氏体中的扩散却不能充分进行，加之由于过冷度较大，相变驱动力增大，所形成的贝氏体铁素体量较多，板条较为密集，这样通过铁素体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奥氏体相界面进入板条间奥氏体中的碳就不能充分向板条束以外的奥氏体中扩散逸去，于是碳便在铁素休板条间以粒状或条状的碳化物形式析出，如图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5-14(b)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所示，结果得到呈羽毛状的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上贝氏体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8" name="Text Box 1028"/>
          <p:cNvSpPr txBox="1">
            <a:spLocks noChangeArrowheads="1"/>
          </p:cNvSpPr>
          <p:nvPr/>
        </p:nvSpPr>
        <p:spPr bwMode="auto">
          <a:xfrm>
            <a:off x="4926108" y="1354455"/>
            <a:ext cx="4207731" cy="2090509"/>
          </a:xfrm>
          <a:prstGeom prst="rect">
            <a:avLst/>
          </a:prstGeom>
          <a:solidFill>
            <a:srgbClr val="00B0F0">
              <a:alpha val="13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转变温度愈低，形成的贝氏体铁素体量愈多，而且板条也愈窄；同时，随着碳的扩散系数减小，使上贝氏体中的碳化物也变得更细小。</a:t>
            </a:r>
          </a:p>
        </p:txBody>
      </p:sp>
      <p:pic>
        <p:nvPicPr>
          <p:cNvPr id="9" name="Picture 1029" descr="t500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299851" y="3429000"/>
            <a:ext cx="3516979" cy="33879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heckerboard(across)">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（切变机理）</a:t>
            </a:r>
          </a:p>
        </p:txBody>
      </p:sp>
      <p:sp>
        <p:nvSpPr>
          <p:cNvPr id="6" name="Text Box 3"/>
          <p:cNvSpPr txBox="1">
            <a:spLocks noChangeArrowheads="1"/>
          </p:cNvSpPr>
          <p:nvPr/>
        </p:nvSpPr>
        <p:spPr bwMode="auto">
          <a:xfrm>
            <a:off x="10160" y="1354456"/>
            <a:ext cx="4479706" cy="542385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当温度较低时，碳在</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奥氏体中扩散极困难</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铁素体中扩散也受到相当限制</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，以致</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碳不能长程扩散</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到铁素体</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奥氏体相界面，而只能在铁素体片中短程扩散，在某一定的晶面上偏聚，进而以碳化物形式析出，从而得到在片状铁素体上分布着与铁素体长轴呈一定交角</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(55</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~60</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、排列成行的碳化物的复相组织，如图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5-14(c)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所示，此即</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下贝氏体</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．转变温度愈低，其中碳化物沉淀的弥散度便愈大，且铁素体中碳的过饱和度也愈高。</a:t>
            </a:r>
          </a:p>
        </p:txBody>
      </p:sp>
      <p:pic>
        <p:nvPicPr>
          <p:cNvPr id="8" name="Picture 4" descr="t500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512399" y="1843737"/>
            <a:ext cx="4479707" cy="4315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（切变机理）</a:t>
            </a:r>
          </a:p>
        </p:txBody>
      </p:sp>
      <p:sp>
        <p:nvSpPr>
          <p:cNvPr id="6" name="Text Box 3"/>
          <p:cNvSpPr txBox="1">
            <a:spLocks noChangeArrowheads="1"/>
          </p:cNvSpPr>
          <p:nvPr/>
        </p:nvSpPr>
        <p:spPr bwMode="auto">
          <a:xfrm>
            <a:off x="-9526" y="1354455"/>
            <a:ext cx="9153525" cy="534062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在某些低碳合金钢中，当过冷奥氏体在低于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温度，先发生</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碳的再分配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，接着在奥氏体的贫碳区开始形成许多彼此大体上平行的板条铁素体，碳原子从铁素体中通过与奥氏体的相界面不断向奥氏体中扩散。但由于奥氏体中本来就存在着碳的偏聚，所以铁素体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奥氏体相界面的推进速度对各部位来说将不会完全一致，于是铁素体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奥氏体相界面便出现了凹凸不平，即造成铁素体侧向的不均匀长大。随着时间的延续，铁素体板条进一步长大，并彼此靠拢，最终便将这些富碳的奥氏体区包围在其中；由于这部分奥氏体富碳，并含有一定量的合金元素，加之所处的温度又较高，故十分稳定，不会从中析出碳化物，因此就得到了粒状贝氏体组织。</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lang="en-US" altLang="zh-CN" sz="2400" b="1" kern="0" dirty="0">
                <a:solidFill>
                  <a:srgbClr val="000000"/>
                </a:solidFill>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利用电子显微镜证实，</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粒状贝氏体中的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块状</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或等轴状</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铁素体</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实际上是由许多板条状铁素体组成的，只是由于板条很细，在光学显微镜下难于辨认</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，以致误认为是块状铁素体。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（切变机理）</a:t>
            </a:r>
          </a:p>
        </p:txBody>
      </p:sp>
      <p:pic>
        <p:nvPicPr>
          <p:cNvPr id="10" name="Picture 4" descr="t500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64451" y="1861502"/>
            <a:ext cx="7740650" cy="4489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（台阶机理）</a:t>
            </a:r>
          </a:p>
        </p:txBody>
      </p:sp>
      <p:sp>
        <p:nvSpPr>
          <p:cNvPr id="8" name="Text Box 3"/>
          <p:cNvSpPr txBox="1">
            <a:spLocks noChangeArrowheads="1"/>
          </p:cNvSpPr>
          <p:nvPr/>
        </p:nvSpPr>
        <p:spPr bwMode="auto">
          <a:xfrm>
            <a:off x="152400" y="1354455"/>
            <a:ext cx="8839200" cy="2090509"/>
          </a:xfrm>
          <a:prstGeom prst="rect">
            <a:avLst/>
          </a:prstGeom>
          <a:noFill/>
          <a:ln w="1905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台阶机理认为贝氏体转变的浮凸与马氏体转变的浮凸不同，前者是由于转变产物的体积变化造成的，而并非由于切变所致</a:t>
            </a:r>
            <a:r>
              <a:rPr lang="en-US" altLang="zh-CN" sz="2400" b="1" kern="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认为“</a:t>
            </a:r>
            <a:r>
              <a:rPr kumimoji="1" lang="zh-CN" altLang="en-US" sz="2400" b="1" i="0" u="none" strike="noStrike" kern="0" cap="none" spc="0" normalizeH="0" baseline="0" noProof="0" dirty="0">
                <a:ln>
                  <a:noFill/>
                </a:ln>
                <a:solidFill>
                  <a:srgbClr val="3333FF"/>
                </a:solidFill>
                <a:effectLst/>
                <a:uLnTx/>
                <a:uFillTx/>
                <a:latin typeface="Times New Roman" panose="02020603050405020304" pitchFamily="18" charset="0"/>
                <a:ea typeface="宋体" panose="02010600030101010101" pitchFamily="2" charset="-122"/>
              </a:rPr>
              <a:t>贝氏体是非片层的共析反应产物”</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贝氏体转变同珠光体转变机理相同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，两者的区别仅在于后者是片层状，从而提出了</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贝氏体铁素体的长大是按台阶机理进行，并受碳的扩散所控制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9" name="Picture 5" descr="t1007"/>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953000" y="4097655"/>
            <a:ext cx="4048125" cy="2274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 Box 6"/>
          <p:cNvSpPr txBox="1">
            <a:spLocks noChangeArrowheads="1"/>
          </p:cNvSpPr>
          <p:nvPr/>
        </p:nvSpPr>
        <p:spPr bwMode="auto">
          <a:xfrm>
            <a:off x="228600" y="3552825"/>
            <a:ext cx="4495800" cy="3305175"/>
          </a:xfrm>
          <a:prstGeom prst="rect">
            <a:avLst/>
          </a:prstGeom>
          <a:noFill/>
          <a:ln w="1905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lang="zh-CN" altLang="en-US" sz="2400" b="1" kern="0" noProof="0" dirty="0">
                <a:solidFill>
                  <a:srgbClr val="000000"/>
                </a:solidFill>
              </a:rPr>
              <a:t>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图中台阶的宽面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水平面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的半共格相界面，但是台阶的端面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垂面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为无序结构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非共格面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，其原子处于较高的能量状态，因此这一界面具有较高的活动性，易于实现迁移，使台阶侧向移动，从而导致台阶宽面向前</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空心箭头所示方向</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推进。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heckerboard(across)">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9525" y="1165542"/>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第四节 贝氏体转变的机理</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（台阶机理）</a:t>
            </a:r>
          </a:p>
        </p:txBody>
      </p:sp>
      <p:sp>
        <p:nvSpPr>
          <p:cNvPr id="8" name="Text Box 4"/>
          <p:cNvSpPr txBox="1">
            <a:spLocks noChangeArrowheads="1"/>
          </p:cNvSpPr>
          <p:nvPr/>
        </p:nvSpPr>
        <p:spPr bwMode="auto">
          <a:xfrm>
            <a:off x="10160" y="1354455"/>
            <a:ext cx="9123680" cy="209050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Aaronson</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等利用热离子发射显微镜直接观察到先共析铁素体片台阶的形成和长大，认为台阶的移动速度是由碳在奥氏体中的体扩散控制的，并非属于切变长大；同时还用同样的方法对</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0.66C-3.34Cr</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等温形成的单个上贝氏体束进行了观测，获得了上贝氏体束中单个亚单元生长的电影图片，如图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5-18</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a:t>
            </a:r>
          </a:p>
        </p:txBody>
      </p:sp>
      <p:sp>
        <p:nvSpPr>
          <p:cNvPr id="9" name="Text Box 8"/>
          <p:cNvSpPr txBox="1">
            <a:spLocks noChangeArrowheads="1"/>
          </p:cNvSpPr>
          <p:nvPr/>
        </p:nvSpPr>
        <p:spPr bwMode="auto">
          <a:xfrm>
            <a:off x="84961" y="3815757"/>
            <a:ext cx="4953000" cy="290353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总的来说，关于贝氏体转变机理的研究目前虽还不够成熟，但较之数年前已有很大的进展，随着研究的不断深入，必将使人们对贝氏体转变的本质和规律性的认识日臻完善。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10000"/>
              </a:lnSpc>
              <a:spcBef>
                <a:spcPct val="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10" name="Picture 9" descr="t501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379790" y="3536653"/>
            <a:ext cx="3581400" cy="31575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heckerboard(across)">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（贝氏体转变动力学的特点</a:t>
            </a:r>
            <a:r>
              <a:rPr lang="zh-CN" altLang="en-US" sz="2400" b="1" dirty="0">
                <a:solidFill>
                  <a:srgbClr val="C00000"/>
                </a:solidFill>
                <a:latin typeface="Arial" panose="020B0604020202020204"/>
                <a:ea typeface="幼圆" panose="02010509060101010101" charset="-122"/>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 </a:t>
            </a:r>
          </a:p>
        </p:txBody>
      </p:sp>
      <p:sp>
        <p:nvSpPr>
          <p:cNvPr id="8" name="Text Box 4"/>
          <p:cNvSpPr txBox="1">
            <a:spLocks noChangeArrowheads="1"/>
          </p:cNvSpPr>
          <p:nvPr/>
        </p:nvSpPr>
        <p:spPr bwMode="auto">
          <a:xfrm>
            <a:off x="185420" y="1417955"/>
            <a:ext cx="8763000" cy="1453411"/>
          </a:xfrm>
          <a:prstGeom prst="rect">
            <a:avLst/>
          </a:prstGeom>
          <a:noFill/>
          <a:ln w="19050">
            <a:solidFill>
              <a:srgbClr val="0070C0"/>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贝氏体转变是一个形核、长大的过程，形核需有一定的孕育期，长大速度较马氏体转变慢得多，贝氏体转变具有不完全性，等等。</a:t>
            </a:r>
          </a:p>
        </p:txBody>
      </p:sp>
      <p:pic>
        <p:nvPicPr>
          <p:cNvPr id="9" name="Picture 6" descr="t500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601334" y="2999685"/>
            <a:ext cx="3030938" cy="3669402"/>
          </a:xfrm>
          <a:prstGeom prst="rect">
            <a:avLst/>
          </a:prstGeom>
          <a:noFill/>
          <a:ln w="19050">
            <a:solidFill>
              <a:srgbClr val="FF0000"/>
            </a:solidFill>
            <a:miter lim="800000"/>
            <a:headEnd/>
            <a:tailEnd/>
          </a:ln>
          <a:extLst>
            <a:ext uri="{909E8E84-426E-40DD-AFC4-6F175D3DCCD1}">
              <a14:hiddenFill xmlns:a14="http://schemas.microsoft.com/office/drawing/2010/main" xmlns="">
                <a:solidFill>
                  <a:srgbClr val="FFFFFF"/>
                </a:solidFill>
              </a14:hiddenFill>
            </a:ext>
          </a:extLst>
        </p:spPr>
      </p:pic>
      <p:sp>
        <p:nvSpPr>
          <p:cNvPr id="10" name="Text Box 7"/>
          <p:cNvSpPr txBox="1">
            <a:spLocks noChangeArrowheads="1"/>
          </p:cNvSpPr>
          <p:nvPr/>
        </p:nvSpPr>
        <p:spPr bwMode="auto">
          <a:xfrm>
            <a:off x="271244" y="2999685"/>
            <a:ext cx="4953000" cy="3669402"/>
          </a:xfrm>
          <a:prstGeom prst="rect">
            <a:avLst/>
          </a:prstGeom>
          <a:noFill/>
          <a:ln w="19050">
            <a:solidFill>
              <a:srgbClr val="FF0000"/>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人们通过测定奥氏体在发生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％贝氏体转变时的全激活能</a:t>
            </a:r>
            <a:r>
              <a:rPr kumimoji="1" lang="zh-CN" altLang="en-US"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，发现在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上、下贝氏体的转变温度区域内其全激活能值彼此不同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，但都随钢中碳含量的增高而增大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5-19)</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（贝氏体转变动力学的特点</a:t>
            </a:r>
            <a:r>
              <a:rPr lang="zh-CN" altLang="en-US" sz="2400" b="1" dirty="0">
                <a:solidFill>
                  <a:srgbClr val="C00000"/>
                </a:solidFill>
                <a:latin typeface="Arial" panose="020B0604020202020204"/>
                <a:ea typeface="幼圆" panose="02010509060101010101" charset="-122"/>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 </a:t>
            </a:r>
          </a:p>
        </p:txBody>
      </p:sp>
      <p:pic>
        <p:nvPicPr>
          <p:cNvPr id="11" name="Picture 5" descr="t5007"/>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356860" y="3765550"/>
            <a:ext cx="3733800" cy="283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ext Box 4"/>
          <p:cNvSpPr txBox="1">
            <a:spLocks noChangeArrowheads="1"/>
          </p:cNvSpPr>
          <p:nvPr/>
        </p:nvSpPr>
        <p:spPr bwMode="auto">
          <a:xfrm>
            <a:off x="76200" y="3079512"/>
            <a:ext cx="5410200" cy="3706813"/>
          </a:xfrm>
          <a:prstGeom prst="rect">
            <a:avLst/>
          </a:prstGeom>
          <a:noFill/>
          <a:ln w="1905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对于含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的过共析钢，其上、下贝氏体转变的全激活能分别约为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126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75kJ</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mol</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。而碳原子在奥氏体和铁素体中的扩散激活能分别为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126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84kJ</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mol</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。据此认为，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上、下贝氏体转变分别受碳在奥氏体和铁素体中的扩散所控制，并由此认定</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上贝氏体中碳化物的析出源是奥氏体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下贝氏体中碳化物的析出源是铁素体</a:t>
            </a:r>
            <a:r>
              <a:rPr kumimoji="1"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p>
        </p:txBody>
      </p:sp>
      <p:sp>
        <p:nvSpPr>
          <p:cNvPr id="13" name="Text Box 3"/>
          <p:cNvSpPr txBox="1">
            <a:spLocks noChangeArrowheads="1"/>
          </p:cNvSpPr>
          <p:nvPr/>
        </p:nvSpPr>
        <p:spPr bwMode="auto">
          <a:xfrm>
            <a:off x="10160" y="1354455"/>
            <a:ext cx="9123680" cy="1684244"/>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通过对发生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％贝氏体转变的时间</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和等温温度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之间关系的研究，发现在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附近直线斜率发生变化，而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正好大致是上、下贝氏体区的过渡温度，可见，不论是转变激活能或是动力学数据的测定结果都有力地说明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上，下贝氏体转变机理是不同的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heckerboard(across)">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heckerboard(across)">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（贝氏体转变动力学的特点</a:t>
            </a:r>
            <a:r>
              <a:rPr lang="zh-CN" altLang="en-US" sz="2400" b="1" dirty="0">
                <a:solidFill>
                  <a:srgbClr val="C00000"/>
                </a:solidFill>
                <a:latin typeface="Arial" panose="020B0604020202020204"/>
                <a:ea typeface="幼圆" panose="02010509060101010101" charset="-122"/>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 </a:t>
            </a:r>
          </a:p>
        </p:txBody>
      </p:sp>
      <p:sp>
        <p:nvSpPr>
          <p:cNvPr id="8" name="Text Box 3"/>
          <p:cNvSpPr txBox="1">
            <a:spLocks noChangeArrowheads="1"/>
          </p:cNvSpPr>
          <p:nvPr/>
        </p:nvSpPr>
        <p:spPr bwMode="auto">
          <a:xfrm>
            <a:off x="254000" y="1736519"/>
            <a:ext cx="4385671" cy="452310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碳在奥氏体中的扩散激活能是随其碳含量增高而减少的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上、下贝氏体转变的全激活能却随钢中碳含量增高而增大</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见图</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5-19)</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，亦即钢的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碳含量愈高，两者的差值愈大（</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P134</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9" name="Picture 4" descr="t500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129167" y="1961317"/>
            <a:ext cx="3553437" cy="42999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（贝氏体转变动力学的特点</a:t>
            </a:r>
            <a:r>
              <a:rPr lang="zh-CN" altLang="en-US" sz="2400" b="1" dirty="0">
                <a:solidFill>
                  <a:srgbClr val="C00000"/>
                </a:solidFill>
                <a:latin typeface="Arial" panose="020B0604020202020204"/>
                <a:ea typeface="幼圆" panose="02010509060101010101" charset="-122"/>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 </a:t>
            </a:r>
          </a:p>
        </p:txBody>
      </p:sp>
      <p:sp>
        <p:nvSpPr>
          <p:cNvPr id="8" name="Text Box 3"/>
          <p:cNvSpPr txBox="1">
            <a:spLocks noChangeArrowheads="1"/>
          </p:cNvSpPr>
          <p:nvPr/>
        </p:nvSpPr>
        <p:spPr bwMode="auto">
          <a:xfrm>
            <a:off x="10160" y="1354455"/>
            <a:ext cx="9123680" cy="434350"/>
          </a:xfrm>
          <a:prstGeom prst="rect">
            <a:avLst/>
          </a:prstGeom>
          <a:solidFill>
            <a:srgbClr val="0070C0">
              <a:alpha val="18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just" fontAlgn="base">
              <a:lnSpc>
                <a:spcPct val="110000"/>
              </a:lnSpc>
              <a:spcBef>
                <a:spcPct val="0"/>
              </a:spcBef>
              <a:spcAft>
                <a:spcPct val="0"/>
              </a:spcAft>
              <a:buNone/>
            </a:pPr>
            <a:r>
              <a:rPr kumimoji="1" lang="zh-CN" altLang="en-US" sz="2200" b="0" i="0" u="none" strike="noStrike" kern="0" cap="none" spc="0" normalizeH="0" baseline="0" noProof="0" dirty="0">
                <a:ln>
                  <a:noFill/>
                </a:ln>
                <a:solidFill>
                  <a:srgbClr val="000000"/>
                </a:solidFill>
                <a:effectLst/>
                <a:uLnTx/>
                <a:uFillTx/>
              </a:rPr>
              <a:t>贝氏体长大速度与形成温度和钢碳含量</a:t>
            </a:r>
            <a:r>
              <a:rPr lang="zh-CN" altLang="en-US" sz="2200" kern="0" dirty="0">
                <a:solidFill>
                  <a:srgbClr val="000000"/>
                </a:solidFill>
              </a:rPr>
              <a:t>的关系（</a:t>
            </a:r>
            <a:r>
              <a:rPr lang="zh-CN" altLang="en-US" sz="2200" kern="0" dirty="0">
                <a:solidFill>
                  <a:srgbClr val="FF0000"/>
                </a:solidFill>
              </a:rPr>
              <a:t>与珠光体的规律对比</a:t>
            </a:r>
            <a:r>
              <a:rPr lang="zh-CN" altLang="en-US" sz="2200" kern="0" dirty="0">
                <a:solidFill>
                  <a:srgbClr val="000000"/>
                </a:solidFill>
              </a:rPr>
              <a:t> ）。</a:t>
            </a:r>
            <a:endParaRPr kumimoji="1" lang="zh-CN" altLang="en-US" sz="2200" b="0" i="0" u="none" strike="noStrike" kern="0" cap="none" spc="0" normalizeH="0" baseline="0" noProof="0" dirty="0">
              <a:ln>
                <a:noFill/>
              </a:ln>
              <a:solidFill>
                <a:srgbClr val="000000"/>
              </a:solidFill>
              <a:effectLst/>
              <a:uLnTx/>
              <a:uFillTx/>
            </a:endParaRPr>
          </a:p>
        </p:txBody>
      </p:sp>
      <p:pic>
        <p:nvPicPr>
          <p:cNvPr id="9" name="Picture 4" descr="t500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110842" y="1902460"/>
            <a:ext cx="6776177" cy="4913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（贝氏体转变动力学的特点</a:t>
            </a:r>
            <a:r>
              <a:rPr lang="zh-CN" altLang="en-US" sz="2400" b="1" dirty="0">
                <a:solidFill>
                  <a:srgbClr val="C00000"/>
                </a:solidFill>
                <a:latin typeface="Arial" panose="020B0604020202020204"/>
                <a:ea typeface="幼圆" panose="02010509060101010101" charset="-122"/>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 </a:t>
            </a:r>
          </a:p>
        </p:txBody>
      </p:sp>
      <p:grpSp>
        <p:nvGrpSpPr>
          <p:cNvPr id="8" name="Group 5"/>
          <p:cNvGrpSpPr/>
          <p:nvPr/>
        </p:nvGrpSpPr>
        <p:grpSpPr bwMode="auto">
          <a:xfrm>
            <a:off x="284638" y="2599689"/>
            <a:ext cx="8564563" cy="3013075"/>
            <a:chOff x="144" y="2016"/>
            <a:chExt cx="5395" cy="1898"/>
          </a:xfrm>
        </p:grpSpPr>
        <p:pic>
          <p:nvPicPr>
            <p:cNvPr id="9" name="Picture 6" descr="t3010"/>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44" y="2016"/>
              <a:ext cx="2334" cy="18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7" descr="t3011"/>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592" y="2064"/>
              <a:ext cx="2947" cy="17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（贝氏体转变动力学的特点</a:t>
            </a:r>
            <a:r>
              <a:rPr kumimoji="0" lang="en-US" altLang="zh-CN"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转变不完整性</a:t>
            </a:r>
            <a:r>
              <a:rPr lang="zh-CN" altLang="en-US" sz="2200" b="1" dirty="0">
                <a:solidFill>
                  <a:srgbClr val="C00000"/>
                </a:solidFill>
                <a:latin typeface="Arial" panose="020B0604020202020204"/>
                <a:ea typeface="幼圆" panose="02010509060101010101" charset="-122"/>
              </a:rPr>
              <a:t>）</a:t>
            </a:r>
            <a:r>
              <a:rPr kumimoji="0" lang="zh-CN" altLang="en-US"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 </a:t>
            </a:r>
          </a:p>
        </p:txBody>
      </p:sp>
      <p:sp>
        <p:nvSpPr>
          <p:cNvPr id="8" name="Text Box 1027"/>
          <p:cNvSpPr txBox="1">
            <a:spLocks noChangeArrowheads="1"/>
          </p:cNvSpPr>
          <p:nvPr/>
        </p:nvSpPr>
        <p:spPr bwMode="auto">
          <a:xfrm>
            <a:off x="182563" y="1311593"/>
            <a:ext cx="8763000" cy="514673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解释</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endParaRPr>
          </a:p>
          <a:p>
            <a:pPr marL="342900" marR="0" lvl="0" indent="-342900" algn="just" defTabSz="914400" eaLnBrk="1" fontAlgn="base" latinLnBrk="0" hangingPunct="1">
              <a:lnSpc>
                <a:spcPct val="20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一般贝氏体转变总是优先在贫碳区开始的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，随着贝氏体转变量的增加，由于碳不断向奥氏体中扩散，使</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未转变奥氏体中的碳浓度愈来愈高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，从而增加了奥氏体的化学稳定性而使之难于转变；</a:t>
            </a:r>
          </a:p>
          <a:p>
            <a:pPr marL="342900" marR="0" lvl="0" indent="-342900" algn="just" defTabSz="914400" eaLnBrk="1" fontAlgn="base" latinLnBrk="0" hangingPunct="1">
              <a:lnSpc>
                <a:spcPct val="20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贝氏体的比容比奥氏体大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，产生了一定的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机械稳定化作用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，这也不利于贝氏体转变的继续进行。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（贝氏体转变动力学的特点</a:t>
            </a:r>
            <a:r>
              <a:rPr kumimoji="0" lang="en-US" altLang="zh-CN"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转变不完整性</a:t>
            </a:r>
            <a:r>
              <a:rPr lang="zh-CN" altLang="en-US" sz="2200" b="1" dirty="0">
                <a:solidFill>
                  <a:srgbClr val="C00000"/>
                </a:solidFill>
                <a:latin typeface="Arial" panose="020B0604020202020204"/>
                <a:ea typeface="幼圆" panose="02010509060101010101" charset="-122"/>
              </a:rPr>
              <a:t>）</a:t>
            </a:r>
            <a:r>
              <a:rPr kumimoji="0" lang="zh-CN" altLang="en-US" sz="22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 </a:t>
            </a:r>
          </a:p>
        </p:txBody>
      </p:sp>
      <p:sp>
        <p:nvSpPr>
          <p:cNvPr id="9" name="Text Box 3"/>
          <p:cNvSpPr txBox="1">
            <a:spLocks noChangeArrowheads="1"/>
          </p:cNvSpPr>
          <p:nvPr/>
        </p:nvSpPr>
        <p:spPr bwMode="auto">
          <a:xfrm>
            <a:off x="20320" y="1325114"/>
            <a:ext cx="9123680" cy="5562228"/>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转变不完全性随温度升高而愈加显著的原因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）主要与温度较高时使奥氏体与贝氏体间的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自由能差减小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，从而使相变驱动力减小有关。</a:t>
            </a: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）转变温度愈高，将愈有利于碳原子的扩散而形成更多的柯氏气团，从而增强未转变奥氏体热稳定化倾向的作用。</a:t>
            </a:r>
          </a:p>
          <a:p>
            <a:pPr marL="0" marR="0" lvl="0" indent="0" algn="just" defTabSz="914400" eaLnBrk="1" fontAlgn="base" latinLnBrk="0" hangingPunct="1">
              <a:lnSpc>
                <a:spcPct val="15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但应指出，当钢的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点低于</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点，亦即在</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点以下仍可发生贝氏体转变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时，随等温温度降低，贝氏体的转变量则愈来愈少。显然，这是由于在</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点以下大量马氏体的形成所引起的机械稳定化作用的结果。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8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（贝氏体等温转变动力学图） </a:t>
            </a:r>
          </a:p>
        </p:txBody>
      </p:sp>
      <p:sp>
        <p:nvSpPr>
          <p:cNvPr id="8" name="Text Box 7"/>
          <p:cNvSpPr txBox="1">
            <a:spLocks noChangeArrowheads="1"/>
          </p:cNvSpPr>
          <p:nvPr/>
        </p:nvSpPr>
        <p:spPr bwMode="auto">
          <a:xfrm>
            <a:off x="10160" y="1589420"/>
            <a:ext cx="9133840" cy="500823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贝氏体也有独立的等温转变动力学图，呈“</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型</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。这是因为：</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随过冷度增大，相间自由能差增大，即相变驱动力增大，从而促使转变加速；</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碳原子的扩散能力却愈益受到抑制，这又将使转变减缓，上述这一对矛盾因素共同作用的结果就使曲线上出现了“鼻子”。</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u"/>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依钢的化学成分不同，贝氏体转变的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曲线可与珠光体转变的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曲线部分地相重叠，也可彼此相分离。</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曲线的最高点所对应的温度即为</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Bs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。过冷奥氏体转变为贝氏体的终止温度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点有时高于</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点，而有时又低于</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8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（贝氏体等温转变动力学图） </a:t>
            </a:r>
          </a:p>
        </p:txBody>
      </p:sp>
      <p:sp>
        <p:nvSpPr>
          <p:cNvPr id="9" name="Text Box 4"/>
          <p:cNvSpPr txBox="1">
            <a:spLocks noChangeArrowheads="1"/>
          </p:cNvSpPr>
          <p:nvPr/>
        </p:nvSpPr>
        <p:spPr bwMode="auto">
          <a:xfrm>
            <a:off x="0" y="1350811"/>
            <a:ext cx="9123679" cy="166919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近年来，由于新技术的发展，测试的灵敏度大为提高，往往可以发现在贝氏体转变区内实际上存在着上贝氏体、下贝氏体、等温马氏体等几组独立的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）。这些研究结果也从另一个侧面证实</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上、下贝氏体是按照不同的转变机理</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形成的。</a:t>
            </a:r>
          </a:p>
        </p:txBody>
      </p:sp>
      <p:pic>
        <p:nvPicPr>
          <p:cNvPr id="10" name="Picture 6" descr="t5009"/>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043923" y="3020004"/>
            <a:ext cx="6623615" cy="383480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影响</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贝氏体转变动力学的因素） </a:t>
            </a:r>
          </a:p>
        </p:txBody>
      </p:sp>
      <p:sp>
        <p:nvSpPr>
          <p:cNvPr id="11"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一</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碳和合金元素</a:t>
            </a:r>
          </a:p>
        </p:txBody>
      </p:sp>
      <p:sp>
        <p:nvSpPr>
          <p:cNvPr id="12" name="Text Box 3"/>
          <p:cNvSpPr txBox="1">
            <a:spLocks noChangeArrowheads="1"/>
          </p:cNvSpPr>
          <p:nvPr/>
        </p:nvSpPr>
        <p:spPr bwMode="auto">
          <a:xfrm>
            <a:off x="10159" y="1892934"/>
            <a:ext cx="9123679" cy="127797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碳和除了铝、钴以外的合金元素如锰，铬、镍、硅、钼、钨、钒以及微量硼等，均</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延缓贝氏体的形成</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，其中以碳、锰，铬、镍的影响最为显著。原因：</a:t>
            </a:r>
          </a:p>
        </p:txBody>
      </p:sp>
      <p:sp>
        <p:nvSpPr>
          <p:cNvPr id="13" name="Text Box 4"/>
          <p:cNvSpPr txBox="1">
            <a:spLocks noChangeArrowheads="1"/>
          </p:cNvSpPr>
          <p:nvPr/>
        </p:nvSpPr>
        <p:spPr bwMode="auto">
          <a:xfrm>
            <a:off x="10159" y="3310400"/>
            <a:ext cx="9143364" cy="3408112"/>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①合金元素</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影响碳在奥氏体和铁素体中的扩散速度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，大多数合金元素</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除钴外</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均使扩散速度降低，从而减缓贝氏体的转变速度；</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②合金元素</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影响到在一定温度下的相间自由能差</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，从而影响</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点和在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点以下给定温度的相变驱动力，对于稳定奥氏体的元素如镍、锰、碳等而言，均使</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点降低，并减缓贝氏体的转变速度；</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③形成强碳化物的元素如铬、钼、钨、钒等，由于与碳的亲和力较大而在奥氏体中可能形成某种“</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原子集团</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”，使共格相界面移动困难，从而减缓贝氏体的转变速度，等等。</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影响</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贝氏体转变动力学的因素） </a:t>
            </a:r>
          </a:p>
        </p:txBody>
      </p:sp>
      <p:sp>
        <p:nvSpPr>
          <p:cNvPr id="11"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二</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奥氏体晶粒大小和奥氏体化温度</a:t>
            </a:r>
          </a:p>
        </p:txBody>
      </p:sp>
      <p:sp>
        <p:nvSpPr>
          <p:cNvPr id="8" name="Text Box 4"/>
          <p:cNvSpPr txBox="1">
            <a:spLocks noChangeArrowheads="1"/>
          </p:cNvSpPr>
          <p:nvPr/>
        </p:nvSpPr>
        <p:spPr bwMode="auto">
          <a:xfrm>
            <a:off x="127839" y="2388388"/>
            <a:ext cx="8888322" cy="3403752"/>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一般认为，</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奥氏体晶粒大小对贝氏体转变速度影响较小</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p>
          <a:p>
            <a:pPr marL="0" marR="0" lvl="0" indent="0" algn="just" defTabSz="914400" eaLnBrk="1" fontAlgn="base" latinLnBrk="0" hangingPunct="1">
              <a:lnSpc>
                <a:spcPct val="2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提高奥氏体化温度，使晶粒变大，可使贝氏体转变</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孕育期增长</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，转变</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速度减慢</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，这显然与加热温度提高后奥氏体成分更趋均匀，从而延缓了碳的再分配过程有关。</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影响</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贝氏体转变动力学的因素） </a:t>
            </a:r>
          </a:p>
        </p:txBody>
      </p:sp>
      <p:sp>
        <p:nvSpPr>
          <p:cNvPr id="11"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三</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应力和塑性形变</a:t>
            </a:r>
          </a:p>
        </p:txBody>
      </p:sp>
      <p:sp>
        <p:nvSpPr>
          <p:cNvPr id="8" name="Text Box 4"/>
          <p:cNvSpPr txBox="1">
            <a:spLocks noChangeArrowheads="1"/>
          </p:cNvSpPr>
          <p:nvPr/>
        </p:nvSpPr>
        <p:spPr bwMode="auto">
          <a:xfrm>
            <a:off x="-10160" y="1902460"/>
            <a:ext cx="2182909" cy="4975629"/>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通常，</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拉应力能促使贝氏体转变加速</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，如图</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5-23</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所示．这与奥氏体中存在一定的应力时会显著促进贝氏体形核和加速碳原子的扩散有关。</a:t>
            </a:r>
          </a:p>
        </p:txBody>
      </p:sp>
      <p:grpSp>
        <p:nvGrpSpPr>
          <p:cNvPr id="6" name="组合 5"/>
          <p:cNvGrpSpPr/>
          <p:nvPr/>
        </p:nvGrpSpPr>
        <p:grpSpPr>
          <a:xfrm>
            <a:off x="3395214" y="1926599"/>
            <a:ext cx="4856336" cy="4893647"/>
            <a:chOff x="3781107" y="1902460"/>
            <a:chExt cx="4856336" cy="4893647"/>
          </a:xfrm>
        </p:grpSpPr>
        <p:pic>
          <p:nvPicPr>
            <p:cNvPr id="9" name="Picture 7" descr="t5010"/>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788248" y="1902460"/>
              <a:ext cx="3849195" cy="48936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 Box 8"/>
            <p:cNvSpPr txBox="1">
              <a:spLocks noChangeArrowheads="1"/>
            </p:cNvSpPr>
            <p:nvPr/>
          </p:nvSpPr>
          <p:spPr bwMode="auto">
            <a:xfrm>
              <a:off x="3781107" y="2311712"/>
              <a:ext cx="1149292" cy="433965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无应力</a:t>
              </a:r>
            </a:p>
            <a:p>
              <a:pPr marL="0" marR="0" lvl="0" indent="0" defTabSz="914400" eaLnBrk="1" fontAlgn="base" latinLnBrk="0" hangingPunct="1">
                <a:lnSpc>
                  <a:spcPct val="100000"/>
                </a:lnSpc>
                <a:spcBef>
                  <a:spcPct val="50000"/>
                </a:spcBef>
                <a:spcAft>
                  <a:spcPct val="0"/>
                </a:spcAft>
                <a:buClrTx/>
                <a:buSzTx/>
                <a:buFontTx/>
                <a:buNone/>
                <a:defRPr/>
              </a:pP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低应力</a:t>
              </a:r>
            </a:p>
            <a:p>
              <a:pPr marL="0" marR="0" lvl="0" indent="0" defTabSz="914400" eaLnBrk="1" fontAlgn="base" latinLnBrk="0" hangingPunct="1">
                <a:lnSpc>
                  <a:spcPct val="100000"/>
                </a:lnSpc>
                <a:spcBef>
                  <a:spcPct val="50000"/>
                </a:spcBef>
                <a:spcAft>
                  <a:spcPct val="0"/>
                </a:spcAft>
                <a:buClrTx/>
                <a:buSzTx/>
                <a:buFontTx/>
                <a:buNone/>
                <a:defRPr/>
              </a:pP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高应力</a:t>
              </a:r>
            </a:p>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影响</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贝氏体转变动力学的因素） </a:t>
            </a:r>
          </a:p>
        </p:txBody>
      </p:sp>
      <p:sp>
        <p:nvSpPr>
          <p:cNvPr id="11"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三</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应力和塑性形变</a:t>
            </a:r>
          </a:p>
        </p:txBody>
      </p:sp>
      <p:sp>
        <p:nvSpPr>
          <p:cNvPr id="8" name="Text Box 3"/>
          <p:cNvSpPr txBox="1">
            <a:spLocks noChangeArrowheads="1"/>
          </p:cNvSpPr>
          <p:nvPr/>
        </p:nvSpPr>
        <p:spPr bwMode="auto">
          <a:xfrm>
            <a:off x="0" y="1931354"/>
            <a:ext cx="3968097" cy="489775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塑性形变的影响较为复杂。一般说来，</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在高温</a:t>
            </a:r>
            <a:r>
              <a:rPr kumimoji="1"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(800-1000℃)</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奥氏体区进行塑性形变，将使随后贝氏体转变的孕育期增长</a:t>
            </a:r>
            <a:r>
              <a:rPr kumimoji="1"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也有少数钢相反</a:t>
            </a:r>
            <a:r>
              <a:rPr kumimoji="1"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，转变速度减缓，转变不完全程度增大</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而在低于</a:t>
            </a:r>
            <a:r>
              <a:rPr kumimoji="1" lang="en-US" altLang="zh-CN"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Bs</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温度</a:t>
            </a:r>
            <a:r>
              <a:rPr kumimoji="1" lang="en-US" altLang="zh-CN"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一般为</a:t>
            </a:r>
            <a:r>
              <a:rPr kumimoji="1" lang="en-US" altLang="zh-CN"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450℃</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以下</a:t>
            </a:r>
            <a:r>
              <a:rPr kumimoji="1" lang="en-US" altLang="zh-CN"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进行塑性形变时，结果则恰恰相反</a:t>
            </a:r>
            <a:r>
              <a:rPr kumimoji="1" lang="en-US" altLang="zh-CN"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加快，</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如图</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5-24</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9" name="Picture 4" descr="t501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19067" y="2425285"/>
            <a:ext cx="5198430" cy="3626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影响</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贝氏体转变动力学的因素） </a:t>
            </a:r>
          </a:p>
        </p:txBody>
      </p:sp>
      <p:sp>
        <p:nvSpPr>
          <p:cNvPr id="11"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四</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奥氏体冷却过程中在不同温度停留</a:t>
            </a:r>
          </a:p>
        </p:txBody>
      </p:sp>
      <p:sp>
        <p:nvSpPr>
          <p:cNvPr id="8" name="Text Box 4"/>
          <p:cNvSpPr txBox="1">
            <a:spLocks noChangeArrowheads="1"/>
          </p:cNvSpPr>
          <p:nvPr/>
        </p:nvSpPr>
        <p:spPr bwMode="auto">
          <a:xfrm>
            <a:off x="39686" y="1902461"/>
            <a:ext cx="9094153" cy="1179169"/>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研究工件热处理时冷却过程中奥氏体在不同温度停留对贝氏体转变动力学的影响，有助于为发掘热处理新工艺提供理论依据，因而具有一定的实际意义，列举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9" name="Picture 5" descr="t501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702723" y="3113364"/>
            <a:ext cx="3842985" cy="3744635"/>
          </a:xfrm>
          <a:prstGeom prst="rect">
            <a:avLst/>
          </a:prstGeom>
          <a:noFill/>
          <a:ln w="19050">
            <a:noFill/>
          </a:ln>
        </p:spPr>
      </p:pic>
      <p:sp>
        <p:nvSpPr>
          <p:cNvPr id="10" name="Text Box 6"/>
          <p:cNvSpPr txBox="1">
            <a:spLocks noChangeArrowheads="1"/>
          </p:cNvSpPr>
          <p:nvPr/>
        </p:nvSpPr>
        <p:spPr bwMode="auto">
          <a:xfrm>
            <a:off x="39686" y="3113364"/>
            <a:ext cx="4178116" cy="3786036"/>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在珠光体</a:t>
            </a:r>
            <a:r>
              <a:rPr kumimoji="1" lang="en-US" altLang="zh-CN"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贝氏体区间的亚稳区停留将加速贝氏体的形成</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中规程</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。如高速工具钢</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W18Cr4V</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500-650℃(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处于奥氏体亚稳区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停留一定时间，可使随后发生的贝氏体转变加速。据研究认为，这是由于在上述温度停留时，奥氏体中有</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碳化物析出，降低了奥氏体中的碳和合金元素含量，提高了</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Bs</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点所致</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影响</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贝氏体转变动力学的因素） </a:t>
            </a:r>
          </a:p>
        </p:txBody>
      </p:sp>
      <p:sp>
        <p:nvSpPr>
          <p:cNvPr id="11"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四</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奥氏体冷却过程中在不同温度停留</a:t>
            </a:r>
          </a:p>
        </p:txBody>
      </p:sp>
      <p:sp>
        <p:nvSpPr>
          <p:cNvPr id="8" name="Text Box 4"/>
          <p:cNvSpPr txBox="1">
            <a:spLocks noChangeArrowheads="1"/>
          </p:cNvSpPr>
          <p:nvPr/>
        </p:nvSpPr>
        <p:spPr bwMode="auto">
          <a:xfrm>
            <a:off x="-9525" y="1902460"/>
            <a:ext cx="9143365" cy="1551579"/>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在贝氏体区上部停留，使奥氏体部分发生转变，将减慢随后在更低温度的贝氏体转变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。这可能是由于在</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高温区发生了部分上贝氏体转变后，使奥氏体中碳量增高，增加了过冷奥氏体的稳定性；同时在高温区停留，也促进了</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奥氏体的热稳定化</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效应所致</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9" name="Picture 5" descr="t5012a"/>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353886" y="3508085"/>
            <a:ext cx="3814715" cy="3230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6" descr="t5012"/>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39316" y="3454039"/>
            <a:ext cx="3244788" cy="316100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0-#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第五节 贝氏体转变动力学</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影响</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贝氏体转变动力学的因素） </a:t>
            </a:r>
          </a:p>
        </p:txBody>
      </p:sp>
      <p:sp>
        <p:nvSpPr>
          <p:cNvPr id="11"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四</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奥氏体冷却过程中在不同温度停留</a:t>
            </a:r>
          </a:p>
        </p:txBody>
      </p:sp>
      <p:sp>
        <p:nvSpPr>
          <p:cNvPr id="8" name="Text Box 5"/>
          <p:cNvSpPr txBox="1">
            <a:spLocks noChangeArrowheads="1"/>
          </p:cNvSpPr>
          <p:nvPr/>
        </p:nvSpPr>
        <p:spPr bwMode="auto">
          <a:xfrm>
            <a:off x="10161" y="1913151"/>
            <a:ext cx="9123680" cy="871713"/>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在贝氏体区下部或马氏体区停留，使奥氏体部分地发生转变，将使随后在更高温度的贝氏体转变加速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中规程</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9" name="Picture 9" descr="t501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284131" y="3066648"/>
            <a:ext cx="3698090" cy="3602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 Box 11"/>
          <p:cNvSpPr txBox="1">
            <a:spLocks noChangeArrowheads="1"/>
          </p:cNvSpPr>
          <p:nvPr/>
        </p:nvSpPr>
        <p:spPr bwMode="auto">
          <a:xfrm>
            <a:off x="10160" y="2944544"/>
            <a:ext cx="4908697" cy="3873532"/>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例如，</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GCr15</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钢中预先获得一定量的马氏体，可使随后在</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450℃</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时贝氏体转变的速度增加</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15</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倍：预先在</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300℃</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获得部分下贝氏体，可使</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450℃</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时贝氏体转变的速度增加</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6-7</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倍。上述这些现象是由于在较低温度发生的马氏体或贝氏体转变在奥氏体中产生的</a:t>
            </a:r>
            <a:r>
              <a:rPr kumimoji="1" lang="zh-CN" altLang="en-US" sz="23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应力和塑性变形</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，促进了随后在较高温度的贝氏体转变的形核所致。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8" name="Text Box 5"/>
          <p:cNvSpPr txBox="1">
            <a:spLocks noChangeArrowheads="1"/>
          </p:cNvSpPr>
          <p:nvPr/>
        </p:nvSpPr>
        <p:spPr bwMode="auto">
          <a:xfrm>
            <a:off x="337820" y="1605899"/>
            <a:ext cx="8458200" cy="499175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贝氏体等温淬火和贝氏体钢之所以获得广泛的应用，更重要的是</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贝氏体具有良好的强韧性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。一般来说，在同一强度级别的条件下，</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贝氏体的韧性常常高于回火马氏体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材料的机械性能取决于构成它的组织组成物的类别、形态、尺寸、分布状况和亚结构，贝氏体钢也不例外。但是贝氏体组织十分复杂，它不仅随转变温度不同而改变，而且</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欲得到单一类型的贝氏体也是很困难的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，以致很难严格地评价某单一类型贝氏体的机械性能，故</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通常所测定的实际上多是以某类贝氏体为主的混合组织的性能。</a:t>
            </a: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（贝氏体的强度）</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400" dirty="0">
                <a:solidFill>
                  <a:srgbClr val="000000"/>
                </a:solidFill>
                <a:latin typeface="Times New Roman" panose="02020603050405020304"/>
                <a:ea typeface="宋体" panose="02010600030101010101" pitchFamily="2" charset="-122"/>
              </a:rPr>
              <a:t>（一）</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贝氏体强度与转变温度之间的关系</a:t>
            </a:r>
          </a:p>
        </p:txBody>
      </p:sp>
      <p:sp>
        <p:nvSpPr>
          <p:cNvPr id="9" name="Text Box 4"/>
          <p:cNvSpPr txBox="1">
            <a:spLocks noChangeArrowheads="1"/>
          </p:cNvSpPr>
          <p:nvPr/>
        </p:nvSpPr>
        <p:spPr bwMode="auto">
          <a:xfrm>
            <a:off x="10160" y="1902460"/>
            <a:ext cx="9123680" cy="1226634"/>
          </a:xfrm>
          <a:prstGeom prst="rect">
            <a:avLst/>
          </a:prstGeom>
          <a:solidFill>
            <a:srgbClr val="CCFFCC">
              <a:alpha val="26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5-27</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为低、中碳合金结构钢经等温淬火后的机械性能。由图可知，两种钢的抗拉强度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和屈服强度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0.2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均随转变温度的降低而升高。这表明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下贝氏体的强度比上贝氏体</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10" name="Picture 12" descr="t501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962740" y="3129094"/>
            <a:ext cx="7216438" cy="37289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（贝氏体的强度）</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400" dirty="0">
                <a:solidFill>
                  <a:srgbClr val="000000"/>
                </a:solidFill>
                <a:latin typeface="Times New Roman" panose="02020603050405020304"/>
                <a:ea typeface="宋体" panose="02010600030101010101" pitchFamily="2" charset="-122"/>
              </a:rPr>
              <a:t>（二）</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影响贝氏体强度的因素</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endParaRPr>
          </a:p>
        </p:txBody>
      </p:sp>
      <p:sp>
        <p:nvSpPr>
          <p:cNvPr id="9" name="Text Box 4"/>
          <p:cNvSpPr txBox="1">
            <a:spLocks noChangeArrowheads="1"/>
          </p:cNvSpPr>
          <p:nvPr/>
        </p:nvSpPr>
        <p:spPr bwMode="auto">
          <a:xfrm>
            <a:off x="10160" y="1902460"/>
            <a:ext cx="9144000" cy="898525"/>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．贝氏体铁素体晶粒大小</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贝氏体铁素体的晶粒尺寸与屈服强度的关系服从</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Hall-Petch</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公式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10" name="Picture 6" descr="t501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582160" y="3038918"/>
            <a:ext cx="3694715" cy="3581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7"/>
          <p:cNvSpPr txBox="1">
            <a:spLocks noChangeArrowheads="1"/>
          </p:cNvSpPr>
          <p:nvPr/>
        </p:nvSpPr>
        <p:spPr bwMode="auto">
          <a:xfrm>
            <a:off x="37233" y="2895360"/>
            <a:ext cx="3999779" cy="386826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5-29(a)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为贝氏体铁素体晶粒尺寸对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0.2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的影响。应注意，这里所谓</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贝氏体铁素体晶粒尺寸</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d</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实际上是指板条宽度的平均值</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。该图表明，贝氏体铁素体晶粒</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板条宽度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愈细小，钢的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0.2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值愈高。</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（贝氏体的强度）</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（二）</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影响贝氏体强度的因素</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endParaRPr>
          </a:p>
        </p:txBody>
      </p:sp>
      <p:sp>
        <p:nvSpPr>
          <p:cNvPr id="12" name="Text Box 4"/>
          <p:cNvSpPr txBox="1">
            <a:spLocks noChangeArrowheads="1"/>
          </p:cNvSpPr>
          <p:nvPr/>
        </p:nvSpPr>
        <p:spPr bwMode="auto">
          <a:xfrm>
            <a:off x="10159" y="1902460"/>
            <a:ext cx="9123679" cy="1400383"/>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．碳化物的弥散度和分布状况 </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弥散强化</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被认为是最有效的强化手段之一。</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贝氏体中</a:t>
            </a: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碳化物的弥散强化作用</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在下贝氏体中占有特别重要的地位</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，但对上贝氏体来说则相对显得次要，其原因在于上贝氏体中碳化物较粗大，而且分布状况不良</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处于铁素体板条间</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13" name="Picture 5" descr="t501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572000" y="3307294"/>
            <a:ext cx="3663307" cy="35507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 name="Text Box 6"/>
          <p:cNvSpPr txBox="1">
            <a:spLocks noChangeArrowheads="1"/>
          </p:cNvSpPr>
          <p:nvPr/>
        </p:nvSpPr>
        <p:spPr bwMode="auto">
          <a:xfrm>
            <a:off x="-9525" y="3302843"/>
            <a:ext cx="4038600" cy="341632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贝氏体中碳化物的弥散度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(1mm</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中碳化物的数量</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0.2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的影响见图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5-29(b)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。可见，</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碳化物弥散度愈大，</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0.2</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值愈高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。由于碳化物的弥散度随转变温度降低而增大，所以上述关系与转变温度降低时强度增高的结果是一致的．</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（贝氏体的强度）</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（二）</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影响贝氏体强度的因素</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endParaRPr>
          </a:p>
        </p:txBody>
      </p:sp>
      <p:sp>
        <p:nvSpPr>
          <p:cNvPr id="12" name="Text Box 4"/>
          <p:cNvSpPr txBox="1">
            <a:spLocks noChangeArrowheads="1"/>
          </p:cNvSpPr>
          <p:nvPr/>
        </p:nvSpPr>
        <p:spPr bwMode="auto">
          <a:xfrm>
            <a:off x="261620" y="2029142"/>
            <a:ext cx="8610600" cy="470217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．溶质元素固溶强化</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碳对贝氏体铁素体的固溶强化作用要比以置换式溶入的合金元素大得多</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．随转变温度的降低，由于贝氏体铁素体中碳的过饱和度增大，故固溶强化效果显著。但由于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贝氏体铁素体中的碳含量与同一种钢的马氏体相比要少得多</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，故其固溶强化效果亦相应地小得多。</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．位错密度 </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随转变温度的降低，贝氏体铁素体中的位错密度不断增高</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。据研究，在铁</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碳合金中位错密度与由之引起的屈服强度的增量之间存在下述关系，即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0.2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=1.2</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l/2</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为位错密度，它并非通过加工硬化而是通过改变钢的碳含量并进行不同的热处理而获得的。由此可看出位错密度对贝氏体强度的贡献。</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（贝氏体的韧性）</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一</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上、下贝氏体的冲击韧性和韧脆转化温度</a:t>
            </a:r>
          </a:p>
        </p:txBody>
      </p:sp>
      <p:sp>
        <p:nvSpPr>
          <p:cNvPr id="9" name="Text Box 4"/>
          <p:cNvSpPr txBox="1">
            <a:spLocks noChangeArrowheads="1"/>
          </p:cNvSpPr>
          <p:nvPr/>
        </p:nvSpPr>
        <p:spPr bwMode="auto">
          <a:xfrm>
            <a:off x="10160" y="1902460"/>
            <a:ext cx="9123680" cy="861060"/>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许多研究都表明，</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下贝氏体的冲击韧性优于上贝氏体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5-27)</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，而且</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下贝氏体的韧脆转化温度也总是比上贝氏体为低</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越低越好）</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0" name="组合 9"/>
          <p:cNvGrpSpPr/>
          <p:nvPr/>
        </p:nvGrpSpPr>
        <p:grpSpPr>
          <a:xfrm>
            <a:off x="4810760" y="2928014"/>
            <a:ext cx="3933825" cy="3773488"/>
            <a:chOff x="5029200" y="1828800"/>
            <a:chExt cx="3933825" cy="3773488"/>
          </a:xfrm>
        </p:grpSpPr>
        <p:pic>
          <p:nvPicPr>
            <p:cNvPr id="11" name="Picture 6" descr="t501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029200" y="1828800"/>
              <a:ext cx="3933825" cy="37734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Line 7"/>
            <p:cNvSpPr>
              <a:spLocks noChangeShapeType="1"/>
            </p:cNvSpPr>
            <p:nvPr/>
          </p:nvSpPr>
          <p:spPr bwMode="auto">
            <a:xfrm flipH="1">
              <a:off x="7620000" y="2171700"/>
              <a:ext cx="76200" cy="2514600"/>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
        <p:nvSpPr>
          <p:cNvPr id="13" name="Text Box 8"/>
          <p:cNvSpPr txBox="1">
            <a:spLocks noChangeArrowheads="1"/>
          </p:cNvSpPr>
          <p:nvPr/>
        </p:nvSpPr>
        <p:spPr bwMode="auto">
          <a:xfrm>
            <a:off x="129060" y="2825495"/>
            <a:ext cx="4645730" cy="401637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5-30</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表示含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0.1</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0.15C</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0.5Mo-B</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钢韧脆转化温度与</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的关系。可见，随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增加，韧脆转化温度随之升高，当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900MPa</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左右时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相当于转变温度为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550</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，正处在上、下贝氏体的过渡区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，其韧脆转化温度突然降低，以后又随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增加而有所上升。</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（贝氏体的韧性）</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二</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影响贝氏体冲击性能的因素</a:t>
            </a:r>
          </a:p>
        </p:txBody>
      </p:sp>
      <p:sp>
        <p:nvSpPr>
          <p:cNvPr id="14" name="Text Box 4"/>
          <p:cNvSpPr txBox="1">
            <a:spLocks noChangeArrowheads="1"/>
          </p:cNvSpPr>
          <p:nvPr/>
        </p:nvSpPr>
        <p:spPr bwMode="auto">
          <a:xfrm>
            <a:off x="10160" y="1902460"/>
            <a:ext cx="9143364" cy="484324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以上结果表明，</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贝氏体组织的变化对其冲击性能，即冲击韧性和韧脆转化温度起着支配作用</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。其中起主要作用的组织因素如下：</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．铁素体板条和板条束的尺寸</a:t>
            </a: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板条束直径大小对韧脆转化温度的影响实质上表现为对</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断裂解理小平面</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的影响。通常可把</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板条束直径近似地认为相当于解理小平面的尺寸</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理解小平面的直径</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(d</a:t>
            </a:r>
            <a:r>
              <a:rPr kumimoji="1" lang="en-US" altLang="zh-CN" sz="22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即相当于裂纹传播的一个单元尺寸</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，简称为</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单元裂纹路程</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常以</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Lc</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表示</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亦可看作为有效晶粒尺寸</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。一般来说，</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解理小平面的直径随板条束直径的增大而增大，并由此而导致韧脆转化温度的升高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。上贝氏体的铁素体板条束直径一般都比下贝氏体为大，所以前者的韧脆转化温度总是高于后者。韧脆转化温度的升高，显然对冲击韧性是很不利的。</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（贝氏体的韧性）</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二</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影响贝氏体冲击性能的因素</a:t>
            </a:r>
          </a:p>
        </p:txBody>
      </p:sp>
      <p:sp>
        <p:nvSpPr>
          <p:cNvPr id="9" name="Text Box 4"/>
          <p:cNvSpPr txBox="1">
            <a:spLocks noChangeArrowheads="1"/>
          </p:cNvSpPr>
          <p:nvPr/>
        </p:nvSpPr>
        <p:spPr bwMode="auto">
          <a:xfrm>
            <a:off x="182563" y="2173605"/>
            <a:ext cx="8763000" cy="441325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岛状组成物</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当其组成主要为残余奥氏体时，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有利于提高贝氏体的冲击韧性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。但不论其组成比如何，却</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总是使韧脆转化温度升高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，这是因为其中的马氏体和冷至低温后又由残余奥氏体转变而来的马氏体均属高碳孪晶型，有利于解理裂纹的萌生和扩展所致。</a:t>
            </a:r>
          </a:p>
          <a:p>
            <a:pPr marL="0" marR="0" lvl="0" indent="0" algn="just" defTabSz="914400" eaLnBrk="1" fontAlgn="base" latinLnBrk="0" hangingPunct="1">
              <a:lnSpc>
                <a:spcPct val="100000"/>
              </a:lnSpc>
              <a:spcBef>
                <a:spcPts val="60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．奥氏体晶粒度    </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细化奥氏体晶粒可以直接导致铁素体板条厚度和板条束直径的减小，从而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有利于冲击性能的改善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。但对下贝氏体来说，其铁素体的尺寸本来就比上贝氏体为小，因此其冲击性能与原奥氏体晶粒度的依赖关系不如上贝氏体那样明显。</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（贝氏体的韧性）</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三</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贝氏体和普通淬火、回火组织在等强度</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硬度</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条件下的冲击性能比较 </a:t>
            </a:r>
          </a:p>
        </p:txBody>
      </p:sp>
      <p:sp>
        <p:nvSpPr>
          <p:cNvPr id="9" name="Text Box 4"/>
          <p:cNvSpPr txBox="1">
            <a:spLocks noChangeArrowheads="1"/>
          </p:cNvSpPr>
          <p:nvPr/>
        </p:nvSpPr>
        <p:spPr bwMode="auto">
          <a:xfrm>
            <a:off x="10160" y="1902651"/>
            <a:ext cx="9133840" cy="1446550"/>
          </a:xfrm>
          <a:prstGeom prst="rect">
            <a:avLst/>
          </a:prstGeom>
          <a:solidFill>
            <a:srgbClr val="92D050">
              <a:alpha val="25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许多研究表明，在较高的强度水平下，在</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等强度</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硬度</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条件下相比，下贝氏体组织的冲击韧性一般要比淬火、回火组织为高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5-31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为工业上常用的几种钢的实例。在高强度水平时，淬火、回火条件下出现回火马氏体脆性</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见第八章</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，是其冲击韧性低的主要原因。</a:t>
            </a:r>
          </a:p>
        </p:txBody>
      </p:sp>
      <p:pic>
        <p:nvPicPr>
          <p:cNvPr id="10" name="Picture 5" descr="t5017"/>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91505" y="3548596"/>
            <a:ext cx="7350830" cy="3309500"/>
          </a:xfrm>
          <a:prstGeom prst="rect">
            <a:avLst/>
          </a:prstGeom>
          <a:solidFill>
            <a:srgbClr val="92D050">
              <a:alpha val="73000"/>
            </a:srgbClr>
          </a:solid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（贝氏体的韧性）</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三</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贝氏体和普通淬火、回火组织在等强度</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硬度</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条件下的冲击性能比较 </a:t>
            </a:r>
          </a:p>
        </p:txBody>
      </p:sp>
      <p:sp>
        <p:nvSpPr>
          <p:cNvPr id="11" name="Text Box 4"/>
          <p:cNvSpPr txBox="1">
            <a:spLocks noChangeArrowheads="1"/>
          </p:cNvSpPr>
          <p:nvPr/>
        </p:nvSpPr>
        <p:spPr bwMode="auto">
          <a:xfrm>
            <a:off x="10159" y="1902460"/>
            <a:ext cx="9143365" cy="1285357"/>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应注意是，在贝氏体的冲击韧性高于淬火、回火组织的同时，其韧脆转化温度往往也比后者高，</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见表</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5-1</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。这除与贝氏体本身的组织特征有关外，还与含有较多的</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岛状组织有关。</a:t>
            </a:r>
          </a:p>
        </p:txBody>
      </p:sp>
      <p:graphicFrame>
        <p:nvGraphicFramePr>
          <p:cNvPr id="98308" name="Object 7"/>
          <p:cNvGraphicFramePr>
            <a:graphicFrameLocks/>
          </p:cNvGraphicFramePr>
          <p:nvPr/>
        </p:nvGraphicFramePr>
        <p:xfrm>
          <a:off x="114300" y="3531235"/>
          <a:ext cx="8915400" cy="3144838"/>
        </p:xfrm>
        <a:graphic>
          <a:graphicData uri="http://schemas.openxmlformats.org/presentationml/2006/ole">
            <p:oleObj spid="_x0000_s86017" r:id="rId5" imgW="10914286" imgH="3847619" progId="PBrush">
              <p:embed/>
            </p:oleObj>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第六节 贝氏体的机械性能</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（贝氏体的韧性）</a:t>
            </a:r>
          </a:p>
        </p:txBody>
      </p:sp>
      <p:sp>
        <p:nvSpPr>
          <p:cNvPr id="8" name="Rectangle 2"/>
          <p:cNvSpPr txBox="1">
            <a:spLocks noChangeArrowheads="1"/>
          </p:cNvSpPr>
          <p:nvPr/>
        </p:nvSpPr>
        <p:spPr bwMode="auto">
          <a:xfrm>
            <a:off x="10160" y="1354455"/>
            <a:ext cx="9123680" cy="548005"/>
          </a:xfrm>
          <a:prstGeom prst="rect">
            <a:avLst/>
          </a:prstGeom>
          <a:solidFill>
            <a:srgbClr val="0070C0">
              <a:alpha val="31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三</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贝氏体和普通淬火、回火组织在等强度</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硬度</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a:t>
            </a:r>
            <a:r>
              <a:rPr kumimoji="1" lang="zh-CN" altLang="en-US" sz="20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条件下的冲击性能比较 </a:t>
            </a:r>
          </a:p>
        </p:txBody>
      </p:sp>
      <p:sp>
        <p:nvSpPr>
          <p:cNvPr id="9" name="Text Box 4"/>
          <p:cNvSpPr txBox="1">
            <a:spLocks noChangeArrowheads="1"/>
          </p:cNvSpPr>
          <p:nvPr/>
        </p:nvSpPr>
        <p:spPr bwMode="auto">
          <a:xfrm>
            <a:off x="10160" y="1902461"/>
            <a:ext cx="9123680" cy="1200329"/>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最后还应指出，目前工业中应用的高强度或超高强度钢中，常常通过控制等温转变过程或控制连续冷却速度的办法来</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获得适当数量的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马氏体</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的复合组织，以达到良好的强韧性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10" name="Picture 5" descr="t501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037012" y="3488341"/>
            <a:ext cx="5029200" cy="3338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8"/>
          <p:cNvSpPr txBox="1">
            <a:spLocks noChangeArrowheads="1"/>
          </p:cNvSpPr>
          <p:nvPr/>
        </p:nvSpPr>
        <p:spPr bwMode="auto">
          <a:xfrm>
            <a:off x="10160" y="3210647"/>
            <a:ext cx="4046537" cy="353949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5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显然，这是因贝氏体与马氏体相比，前者强度低、韧性高，而后者正好相反，所以贝氏体加马氏体的复合组织的强度和韧性也介于全贝氏体和全马氏体组织之间，从而具有最佳的强韧性。</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总结：珠光体、马氏体、贝氏体转变特点的比较</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9" name="Text Box 44"/>
          <p:cNvSpPr txBox="1">
            <a:spLocks noChangeArrowheads="1"/>
          </p:cNvSpPr>
          <p:nvPr/>
        </p:nvSpPr>
        <p:spPr bwMode="auto">
          <a:xfrm>
            <a:off x="507014" y="1419288"/>
            <a:ext cx="79930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FontTx/>
              <a:buNone/>
            </a:pPr>
            <a:r>
              <a:rPr kumimoji="0" lang="zh-CN" altLang="en-US" sz="2400" b="1" dirty="0">
                <a:solidFill>
                  <a:srgbClr val="FF0000"/>
                </a:solidFill>
                <a:latin typeface="楷体_GB2312" pitchFamily="49" charset="-122"/>
                <a:ea typeface="楷体_GB2312" pitchFamily="49" charset="-122"/>
              </a:rPr>
              <a:t>   共析钢</a:t>
            </a:r>
            <a:r>
              <a:rPr kumimoji="0" lang="zh-CN" altLang="en-US" sz="2400" b="1" dirty="0">
                <a:solidFill>
                  <a:srgbClr val="000000"/>
                </a:solidFill>
                <a:latin typeface="楷体_GB2312" pitchFamily="49" charset="-122"/>
                <a:ea typeface="楷体_GB2312" pitchFamily="49" charset="-122"/>
              </a:rPr>
              <a:t>的珠光体、马氏体、贝氏体转变特点的比较</a:t>
            </a:r>
          </a:p>
        </p:txBody>
      </p:sp>
      <p:graphicFrame>
        <p:nvGraphicFramePr>
          <p:cNvPr id="11" name="Group 280"/>
          <p:cNvGraphicFramePr>
            <a:graphicFrameLocks noGrp="1"/>
          </p:cNvGraphicFramePr>
          <p:nvPr/>
        </p:nvGraphicFramePr>
        <p:xfrm>
          <a:off x="358083" y="1978895"/>
          <a:ext cx="8461897" cy="4739206"/>
        </p:xfrm>
        <a:graphic>
          <a:graphicData uri="http://schemas.openxmlformats.org/drawingml/2006/table">
            <a:tbl>
              <a:tblPr/>
              <a:tblGrid>
                <a:gridCol w="1765277"/>
                <a:gridCol w="2167890"/>
                <a:gridCol w="2850933"/>
                <a:gridCol w="1469517"/>
                <a:gridCol w="208280"/>
              </a:tblGrid>
              <a:tr h="383857">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珠光体转变</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贝氏体转变</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马氏体转变</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000000"/>
                      </a:solidFill>
                      <a:prstDash val="solid"/>
                      <a:round/>
                      <a:headEnd type="none" w="med" len="med"/>
                      <a:tailEnd type="none" w="med" len="med"/>
                    </a:lnL>
                    <a:lnR cap="flat">
                      <a:noFill/>
                    </a:lnR>
                    <a:lnT cap="flat">
                      <a:noFill/>
                    </a:lnT>
                    <a:lnB>
                      <a:noFill/>
                    </a:lnB>
                    <a:lnTlToBr>
                      <a:noFill/>
                    </a:lnTlToBr>
                    <a:lnBlToTr>
                      <a:noFill/>
                    </a:lnBlToTr>
                    <a:noFill/>
                  </a:tcPr>
                </a:tc>
              </a:tr>
              <a:tr h="383857">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转变温度范围</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Ar1 ~ 550℃</a:t>
                      </a:r>
                      <a:endParaRPr kumimoji="1" lang="en-US" altLang="zh-CN"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550 ℃~</a:t>
                      </a:r>
                      <a:r>
                        <a:rPr kumimoji="1" lang="en-US" altLang="zh-CN" sz="2000" b="1" i="0" u="none" strike="noStrike" cap="none" normalizeH="0" baseline="0" dirty="0" err="1">
                          <a:ln>
                            <a:noFill/>
                          </a:ln>
                          <a:solidFill>
                            <a:schemeClr val="tx1">
                              <a:lumMod val="50000"/>
                            </a:schemeClr>
                          </a:solidFill>
                          <a:effectLst/>
                          <a:latin typeface="Times New Roman" panose="02020603050405020304" pitchFamily="18" charset="0"/>
                          <a:ea typeface="宋体" panose="02010600030101010101" pitchFamily="2" charset="-122"/>
                        </a:rPr>
                        <a:t>Ms</a:t>
                      </a:r>
                      <a:endParaRPr kumimoji="1" lang="en-US" altLang="zh-CN"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&lt; Ms</a:t>
                      </a:r>
                      <a:endParaRPr kumimoji="1" lang="en-US" altLang="zh-CN"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432602">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扩散性</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铁与碳可扩散</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碳可扩散，铁不能扩散</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无扩散</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383857">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领先相</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渗碳体或铁素体</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铁素体</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383857">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共格性</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无</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有</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有</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1564955">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组成相</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两相组织</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l-GR" altLang="zh-CN"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α</a:t>
                      </a:r>
                      <a:r>
                        <a:rPr kumimoji="1" lang="en-US" altLang="zh-CN"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-Fe + Fe3C</a:t>
                      </a:r>
                      <a:endParaRPr kumimoji="1" lang="en-US" altLang="zh-CN"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两相组织</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&gt; 350 ℃</a:t>
                      </a: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a:t>
                      </a:r>
                      <a:r>
                        <a:rPr kumimoji="1" lang="el-GR"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α</a:t>
                      </a: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-Fe(C) + Fe</a:t>
                      </a:r>
                      <a:r>
                        <a:rPr kumimoji="1" lang="en-US" altLang="zh-CN" sz="2000" b="1" i="0" u="none" strike="noStrike" cap="none" normalizeH="0" baseline="-25000" dirty="0">
                          <a:ln>
                            <a:noFill/>
                          </a:ln>
                          <a:solidFill>
                            <a:schemeClr val="tx1">
                              <a:lumMod val="50000"/>
                            </a:schemeClr>
                          </a:solidFill>
                          <a:effectLst/>
                          <a:latin typeface="Times New Roman" panose="02020603050405020304" pitchFamily="18" charset="0"/>
                          <a:ea typeface="宋体" panose="02010600030101010101" pitchFamily="2" charset="-122"/>
                        </a:rPr>
                        <a:t>3</a:t>
                      </a: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C</a:t>
                      </a:r>
                      <a:endParaRPr kumimoji="1" lang="en-US" altLang="zh-CN"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&lt; 350 ℃</a:t>
                      </a: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a:t>
                      </a:r>
                      <a:r>
                        <a:rPr kumimoji="1" lang="el-GR"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α</a:t>
                      </a: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-Fe(C) + </a:t>
                      </a:r>
                      <a:r>
                        <a:rPr kumimoji="1" lang="en-US" altLang="zh-CN" sz="2000" b="1" i="0" u="none" strike="noStrike" cap="none" normalizeH="0" baseline="0" dirty="0" err="1">
                          <a:ln>
                            <a:noFill/>
                          </a:ln>
                          <a:solidFill>
                            <a:schemeClr val="tx1">
                              <a:lumMod val="50000"/>
                            </a:schemeClr>
                          </a:solidFill>
                          <a:effectLst/>
                          <a:latin typeface="Times New Roman" panose="02020603050405020304" pitchFamily="18" charset="0"/>
                          <a:ea typeface="宋体" panose="02010600030101010101" pitchFamily="2" charset="-122"/>
                        </a:rPr>
                        <a:t>Fe</a:t>
                      </a:r>
                      <a:r>
                        <a:rPr kumimoji="1" lang="en-US" altLang="zh-CN" sz="2000" b="1" i="0" u="none" strike="noStrike" cap="none" normalizeH="0" baseline="-25000" dirty="0" err="1">
                          <a:ln>
                            <a:noFill/>
                          </a:ln>
                          <a:solidFill>
                            <a:schemeClr val="tx1">
                              <a:lumMod val="50000"/>
                            </a:schemeClr>
                          </a:solidFill>
                          <a:effectLst/>
                          <a:latin typeface="Times New Roman" panose="02020603050405020304" pitchFamily="18" charset="0"/>
                          <a:ea typeface="宋体" panose="02010600030101010101" pitchFamily="2" charset="-122"/>
                        </a:rPr>
                        <a:t>x</a:t>
                      </a:r>
                      <a:r>
                        <a:rPr kumimoji="1" lang="en-US" altLang="zh-CN" sz="2000" b="1" i="0" u="none" strike="noStrike" cap="none" normalizeH="0" baseline="0" dirty="0" err="1">
                          <a:ln>
                            <a:noFill/>
                          </a:ln>
                          <a:solidFill>
                            <a:schemeClr val="tx1">
                              <a:lumMod val="50000"/>
                            </a:schemeClr>
                          </a:solidFill>
                          <a:effectLst/>
                          <a:latin typeface="Times New Roman" panose="02020603050405020304" pitchFamily="18" charset="0"/>
                          <a:ea typeface="宋体" panose="02010600030101010101" pitchFamily="2" charset="-122"/>
                        </a:rPr>
                        <a:t>C</a:t>
                      </a:r>
                      <a:endParaRPr kumimoji="1" lang="en-US" altLang="zh-CN"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单相组织</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l-GR" altLang="zh-CN"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α</a:t>
                      </a:r>
                      <a:r>
                        <a:rPr kumimoji="1" lang="en-US" altLang="zh-CN"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-Fe(C)</a:t>
                      </a:r>
                      <a:endParaRPr kumimoji="1" lang="en-US" altLang="zh-CN"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447083">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合金元素</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扩散</a:t>
                      </a:r>
                      <a:endParaRPr kumimoji="1" lang="zh-CN" altLang="en-US" sz="2000" b="0"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不扩散</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不扩散</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659121">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室温钢的组织</a:t>
                      </a:r>
                      <a:endParaRPr kumimoji="1" lang="zh-CN" altLang="en-US"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P</a:t>
                      </a:r>
                      <a:endParaRPr kumimoji="1" lang="en-US" altLang="zh-CN" sz="2000" b="0"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rPr>
                        <a:t>B+M+</a:t>
                      </a:r>
                      <a:r>
                        <a:rPr kumimoji="1" lang="en-US" altLang="zh-CN" sz="2000" b="1" i="0" u="none" strike="noStrike" cap="none" normalizeH="0" baseline="0">
                          <a:ln>
                            <a:noFill/>
                          </a:ln>
                          <a:solidFill>
                            <a:schemeClr val="tx1">
                              <a:lumMod val="50000"/>
                            </a:schemeClr>
                          </a:solidFill>
                          <a:effectLst/>
                          <a:latin typeface="Times New Roman" panose="02020603050405020304" pitchFamily="18" charset="0"/>
                          <a:ea typeface="宋体" panose="02010600030101010101" pitchFamily="2" charset="-122"/>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rPr>
                        <a:t>M+</a:t>
                      </a:r>
                      <a:r>
                        <a:rPr kumimoji="1" lang="en-US" altLang="zh-CN" sz="2000" b="1" i="0" u="none" strike="noStrike" cap="none" normalizeH="0" baseline="0" dirty="0">
                          <a:ln>
                            <a:noFill/>
                          </a:ln>
                          <a:solidFill>
                            <a:schemeClr val="tx1">
                              <a:lumMod val="50000"/>
                            </a:schemeClr>
                          </a:solidFill>
                          <a:effectLst/>
                          <a:latin typeface="Times New Roman" panose="02020603050405020304" pitchFamily="18" charset="0"/>
                          <a:ea typeface="宋体" panose="02010600030101010101" pitchFamily="2" charset="-122"/>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a:noFill/>
                    </a:lnT>
                    <a:lnB cap="flat">
                      <a:noFill/>
                    </a:lnB>
                    <a:lnTlToBr>
                      <a:noFill/>
                    </a:lnTlToBr>
                    <a:lnBlToTr>
                      <a:noFill/>
                    </a:lnBlToTr>
                    <a:noFill/>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第七节 魏氏组织</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8" name="Text Box 1028"/>
          <p:cNvSpPr txBox="1">
            <a:spLocks noChangeArrowheads="1"/>
          </p:cNvSpPr>
          <p:nvPr/>
        </p:nvSpPr>
        <p:spPr bwMode="auto">
          <a:xfrm>
            <a:off x="-9526" y="1354455"/>
            <a:ext cx="9133839" cy="1723549"/>
          </a:xfrm>
          <a:prstGeom prst="rect">
            <a:avLst/>
          </a:prstGeom>
          <a:solidFill>
            <a:srgbClr val="CCFFCC">
              <a:alpha val="20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魏氏组织是先共析相的一种特殊形态</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亚共析钢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来说，是指从晶界向晶内生长形成的一系列具有一定取向的片</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或针</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状铁素体，通称为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魏氏铁素体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过共析钢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来说，是指类似形态的渗碳体，通称为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魏氏渗碳体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9" name="Picture 1029" descr="t501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124200" y="3403600"/>
            <a:ext cx="5954712" cy="345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 Box 1030"/>
          <p:cNvSpPr txBox="1">
            <a:spLocks noChangeArrowheads="1"/>
          </p:cNvSpPr>
          <p:nvPr/>
        </p:nvSpPr>
        <p:spPr bwMode="auto">
          <a:xfrm>
            <a:off x="65088" y="3224308"/>
            <a:ext cx="2819400" cy="341632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魏氏铁素体从单个的形态来看虽呈片</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或针</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，但从整体来看，由于许多片常常是相互平行的，形似羽毛状，但与无碳化物贝氏体相比，它显得较粗大且末端较尖细。</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第七节 魏氏组织</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魏氏组织的组织形态）</a:t>
            </a:r>
          </a:p>
        </p:txBody>
      </p:sp>
      <p:sp>
        <p:nvSpPr>
          <p:cNvPr id="8" name="Text Box 5"/>
          <p:cNvSpPr txBox="1">
            <a:spLocks noChangeArrowheads="1"/>
          </p:cNvSpPr>
          <p:nvPr/>
        </p:nvSpPr>
        <p:spPr bwMode="auto">
          <a:xfrm>
            <a:off x="77598" y="1449387"/>
            <a:ext cx="8686800" cy="521970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由于目前对魏氏渗碳体研究得较少，而且这种组织也不多见，故下面仅限于讨论魏氏铁素体问题。 </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魏氏铁素体组织具有以下基本特征</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魏氏铁素体形成时产生</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表面浮凸</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魏氏铁素体沿母相奥氏体中一定的晶面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惯习面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析出，惯习面为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{111}</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（根据最近的研究，其惯习面与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(111)</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存在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4~20</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的偏差），并与奥氏体之间存在</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K-S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晶体学取向关系</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魏氏铁素体的尺寸随等温时间延长而增大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，这表明魏氏铁素体的形成是一个形核和长大的过程</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由上可看出，</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魏氏铁素体在形态上和晶体学上都具有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贝氏体铁素体</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的某些特征，因此，常把魏氏铁素体组织作为一种特殊的贝氏体转变产物来讨论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。例如，有人就把魏氏铁素体等同于无碳化物贝氏体，但也有不同的看法。</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第七节 魏氏组织</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（魏氏铁素体的形成条件和转变机理）</a:t>
            </a:r>
          </a:p>
        </p:txBody>
      </p:sp>
      <p:sp>
        <p:nvSpPr>
          <p:cNvPr id="8" name="Text Box 4"/>
          <p:cNvSpPr txBox="1">
            <a:spLocks noChangeArrowheads="1"/>
          </p:cNvSpPr>
          <p:nvPr/>
        </p:nvSpPr>
        <p:spPr bwMode="auto">
          <a:xfrm>
            <a:off x="356532" y="1373187"/>
            <a:ext cx="8229600" cy="529590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在对魏氏铁素体形成条件的研究中，人们总结出以下规律：</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魏氏铁素体既可在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等温条件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下形成，也可在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连续冷却</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条件下形成。</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在等温条件下，魏氏铁素体的形成有一个</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上限温度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Ws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表示。</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Ws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点随钢的碳含量和晶粒度不同而改变，碳含量愈高，晶粒度愈小，则</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Ws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点愈低。</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在连续冷却条件下，魏氏铁素体只有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在一定的冷速范围内才形成</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，过慢或过快的冷速均有碍于其形成。    </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魏氏铁素体</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易在粗晶粒的奥氏体中形成</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钢中碳含量超过</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％时，魏氏铁素体难于形成。</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钢中含有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铬、硅、钼时，有阻止魏氏铁素体形成的作用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，钼含量大于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0.8</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％的钢不会生成魏氏铁素体，而锰则会促进其形成。</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第七节 魏氏组织</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（魏氏铁素体的形成条件和转变机理）</a:t>
            </a:r>
          </a:p>
        </p:txBody>
      </p:sp>
      <p:sp>
        <p:nvSpPr>
          <p:cNvPr id="8" name="Text Box 3076"/>
          <p:cNvSpPr txBox="1">
            <a:spLocks noChangeArrowheads="1"/>
          </p:cNvSpPr>
          <p:nvPr/>
        </p:nvSpPr>
        <p:spPr bwMode="auto">
          <a:xfrm>
            <a:off x="10160" y="1354455"/>
            <a:ext cx="9123680" cy="1200329"/>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5-34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5-35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分别表示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亚共析钢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在等温和连续冷却条件下各种因素对先共析铁素体形态的影响。图中各字母符号所代表意义分别为：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网状铁素体；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W—</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魏氏铁素体，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块状铁素体；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珠光体。   </a:t>
            </a:r>
          </a:p>
        </p:txBody>
      </p:sp>
      <p:pic>
        <p:nvPicPr>
          <p:cNvPr id="9" name="Picture 3077" descr="t5019"/>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0160" y="2820506"/>
            <a:ext cx="5105400" cy="3917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3079" descr="t5020"/>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836291" y="3050811"/>
            <a:ext cx="2576818" cy="36876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1033"/>
          <p:cNvSpPr txBox="1">
            <a:spLocks noChangeArrowheads="1"/>
          </p:cNvSpPr>
          <p:nvPr/>
        </p:nvSpPr>
        <p:spPr bwMode="auto">
          <a:xfrm>
            <a:off x="2202110" y="2548209"/>
            <a:ext cx="5410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魏氏铁素体易在粗晶粒的奥氏体中形成</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第七节 魏氏组织</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魏氏铁素体对钢机械性能的影响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8" name="Text Box 4"/>
          <p:cNvSpPr txBox="1">
            <a:spLocks noChangeArrowheads="1"/>
          </p:cNvSpPr>
          <p:nvPr/>
        </p:nvSpPr>
        <p:spPr bwMode="auto">
          <a:xfrm>
            <a:off x="182563" y="1849596"/>
            <a:ext cx="8610600" cy="885825"/>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6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出现</a:t>
            </a:r>
            <a:r>
              <a:rPr kumimoji="1" lang="zh-CN" altLang="en-US" sz="2600" b="1"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rPr>
              <a:t>魏氏铁素体组织会引起钢的强度、韧性和塑性降低</a:t>
            </a:r>
            <a:r>
              <a:rPr kumimoji="1" lang="en-US" altLang="zh-CN" sz="26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rPr>
              <a:t>见表</a:t>
            </a:r>
            <a:r>
              <a:rPr kumimoji="1" lang="en-US" altLang="zh-CN" sz="26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5-2)</a:t>
            </a:r>
            <a:r>
              <a:rPr kumimoji="1" lang="zh-CN" altLang="en-US" sz="2600" b="1"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rPr>
              <a:t>，而且还使韧脆转化温度升高</a:t>
            </a:r>
            <a:r>
              <a:rPr kumimoji="1" lang="zh-CN" altLang="en-US" sz="26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9" name="Picture 6" descr="t502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58763" y="2821146"/>
            <a:ext cx="8382000" cy="3541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54455"/>
            <a:ext cx="9133840" cy="5503545"/>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2" name="矩形 1"/>
          <p:cNvSpPr/>
          <p:nvPr/>
        </p:nvSpPr>
        <p:spPr bwMode="auto">
          <a:xfrm>
            <a:off x="0" y="1354455"/>
            <a:ext cx="9133840" cy="550354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0" y="8064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第七节 魏氏组织</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魏氏铁素体对钢机械性能的影响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8" name="Text Box 5"/>
          <p:cNvSpPr txBox="1">
            <a:spLocks noChangeArrowheads="1"/>
          </p:cNvSpPr>
          <p:nvPr/>
        </p:nvSpPr>
        <p:spPr bwMode="auto">
          <a:xfrm>
            <a:off x="279097" y="1556708"/>
            <a:ext cx="8458200" cy="493436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亚共析钢魏氏组织的评定</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：在冶标</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(YB32-64)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中按魏氏组织出现的严重程度分为六级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，级别愈高，表示愈严重。</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应当指出，魏氏组织出现后之所以导致钢的性能变坏，除了由于这种组织本身的影响外，</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钢的晶粒粗大也是重要的原因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，因此在钢进行热加工时应</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尽量防止其过热</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。一般在钢中存在不严重的魏氏组织时，仍可按正常使用。但当奥氏体晶粒粗大、</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魏氏组织严重时则应设法消除，常用的办法是采用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退火或正火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；如果程度严重，还可采用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二次正火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第一次正火温度较高，第二次较低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但是，在实际生产中，工件经热加工后一般都还要进行最终热处理</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淬火、回火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，因此魏氏组织即自然被消除。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95413"/>
            <a:ext cx="9144000" cy="5462587"/>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44" name="矩形 1"/>
          <p:cNvSpPr>
            <a:spLocks noChangeArrowheads="1"/>
          </p:cNvSpPr>
          <p:nvPr/>
        </p:nvSpPr>
        <p:spPr bwMode="auto">
          <a:xfrm>
            <a:off x="0" y="806450"/>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第六章  钢的过冷奥氏体转变图</a:t>
            </a:r>
          </a:p>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9" name="Text Box 5"/>
          <p:cNvSpPr txBox="1">
            <a:spLocks noChangeArrowheads="1"/>
          </p:cNvSpPr>
          <p:nvPr/>
        </p:nvSpPr>
        <p:spPr bwMode="auto">
          <a:xfrm>
            <a:off x="902515" y="1605899"/>
            <a:ext cx="7338969" cy="499175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过冷奥氏体在</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a:t>
            </a:r>
            <a:r>
              <a:rPr kumimoji="1" lang="en-US" altLang="zh-CN" sz="2400" b="1" i="0" u="none" strike="noStrike" kern="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以下不同温度范围内将按不同机理转变成不同类型的组织。虽然转变的组织类型主要取决于转变温度，但转变的程度往往又与时间密切相关。</a:t>
            </a: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根据冷却条件，我们可以</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用</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IT(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Isothermal Transformation </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图和</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CT[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别称</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CCT(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Continuous Cooling Transformation</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图来全面地反映过冷奥氏体转变与等温温度，时间，或者与冷却速度间的关系</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图和</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图对热处理生产实践有着十分重要的意义。</a:t>
            </a: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95413"/>
            <a:ext cx="9144000" cy="5462587"/>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44" name="矩形 1"/>
          <p:cNvSpPr>
            <a:spLocks noChangeArrowheads="1"/>
          </p:cNvSpPr>
          <p:nvPr/>
        </p:nvSpPr>
        <p:spPr bwMode="auto">
          <a:xfrm>
            <a:off x="0" y="806450"/>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第六章  钢的过冷奥氏体转变图</a:t>
            </a:r>
          </a:p>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7" name="矩形 6"/>
          <p:cNvSpPr/>
          <p:nvPr/>
        </p:nvSpPr>
        <p:spPr bwMode="auto">
          <a:xfrm>
            <a:off x="0" y="1395413"/>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chemeClr val="tx1">
                    <a:lumMod val="50000"/>
                  </a:scheme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TTT</a:t>
            </a:r>
            <a:r>
              <a:rPr kumimoji="1" lang="zh-CN" altLang="en-US" sz="28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j-cs"/>
              </a:rPr>
              <a:t>图</a:t>
            </a:r>
            <a:r>
              <a:rPr kumimoji="1" lang="en-US" altLang="zh-CN" sz="24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chemeClr val="tx1">
                    <a:lumMod val="50000"/>
                  </a:schemeClr>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chemeClr val="tx1">
                  <a:lumMod val="50000"/>
                </a:schemeClr>
              </a:solidFill>
              <a:effectLst/>
              <a:uLnTx/>
              <a:uFillTx/>
              <a:latin typeface="Arial" panose="020B0604020202020204"/>
              <a:ea typeface="幼圆" panose="02010509060101010101" charset="-122"/>
              <a:cs typeface="+mn-cs"/>
            </a:endParaRPr>
          </a:p>
        </p:txBody>
      </p:sp>
      <p:sp>
        <p:nvSpPr>
          <p:cNvPr id="8" name="Text Box 3"/>
          <p:cNvSpPr txBox="1">
            <a:spLocks noChangeArrowheads="1"/>
          </p:cNvSpPr>
          <p:nvPr/>
        </p:nvSpPr>
        <p:spPr bwMode="auto">
          <a:xfrm>
            <a:off x="285067" y="2018614"/>
            <a:ext cx="4572000" cy="4909036"/>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3-1(a)</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共析碳钢的</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IT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。它是通过测定一系列</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不同温度</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的等温转变动力学曲线</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3-1(a))</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而绘制出的。由于曲线的形状呈字母“</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形，故又称为</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曲线的拐弯处，通称为</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“鼻子”</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，其孕育期最短，即过冷奥氏体最不稳定。</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过冷奥氏体在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2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以下三个温度区间内将分别发生不同类型的组织转变</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2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到</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550℃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左右的高温区，发生</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珠光体转变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550℃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左右到</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点的中温区，发生</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到</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200" b="1" i="0" u="none" strike="noStrike" kern="0" cap="none" spc="0" normalizeH="0" baseline="-30000" noProof="0" dirty="0" err="1">
                <a:ln>
                  <a:noFill/>
                </a:ln>
                <a:solidFill>
                  <a:srgbClr val="000000"/>
                </a:solidFill>
                <a:effectLst/>
                <a:uLnTx/>
                <a:uFillTx/>
                <a:latin typeface="Times New Roman" panose="02020603050405020304" pitchFamily="18" charset="0"/>
                <a:ea typeface="宋体" panose="02010600030101010101" pitchFamily="2" charset="-122"/>
              </a:rPr>
              <a:t>f</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点的低温区，发生</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马氏体转变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10" name="Picture 4" descr="t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142134" y="1987331"/>
            <a:ext cx="3683085" cy="48706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95413"/>
            <a:ext cx="9144000" cy="5462587"/>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72853"/>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图的建立</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金相法）</a:t>
            </a:r>
          </a:p>
        </p:txBody>
      </p:sp>
      <p:sp>
        <p:nvSpPr>
          <p:cNvPr id="9" name="Text Box 4"/>
          <p:cNvSpPr txBox="1">
            <a:spLocks noChangeArrowheads="1"/>
          </p:cNvSpPr>
          <p:nvPr/>
        </p:nvSpPr>
        <p:spPr bwMode="auto">
          <a:xfrm>
            <a:off x="0" y="1516856"/>
            <a:ext cx="8991600" cy="521970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这一方法的原理是</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利用金相显微镜直接观察</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过冷奥氏体在不同等温温度下，各转变阶段的</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转变产物及其数量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，根据组织的变化来确定过冷奥氏体等温转变的起止时间，从而绘制出等温转变图。。</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金相法所用试样通常为圆片状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10~15</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1.0~1.5mm)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试样一般应预先经过退火或正火处理。</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试验时，将试样加热奥氏体化后，迅速转入给定温度的等温浴炉中，分别</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停留不同时间</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，随即迅速</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淬入盐水</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中。在</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等温过程中未转变的奥氏体在淬水时将转变为马氏体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，而等温转变的产物则分布于其中，这样，在金相观察时即可识别出来。</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优点</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能较准确地测出转变的开始点和终了点，并能直接观察到转变产物的组织形态、分布状况及其数量</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缺点</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所得结果是不连续的，并且要制作大量金相试片，费时而麻烦。</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95413"/>
            <a:ext cx="9144000" cy="5462587"/>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72853"/>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图的建立</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膨胀</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法）</a:t>
            </a:r>
          </a:p>
        </p:txBody>
      </p:sp>
      <p:sp>
        <p:nvSpPr>
          <p:cNvPr id="8" name="Text Box 3"/>
          <p:cNvSpPr txBox="1">
            <a:spLocks noChangeArrowheads="1"/>
          </p:cNvSpPr>
          <p:nvPr/>
        </p:nvSpPr>
        <p:spPr bwMode="auto">
          <a:xfrm>
            <a:off x="0" y="1335874"/>
            <a:ext cx="9144000" cy="3139321"/>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利用钢在相变时发生的比容变化</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用</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热膨胀仪</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来测定过冷奥氏体在等温过程中转变的起止时间。测定前，预先将</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2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2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至</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点的温度范围划分成一定数量的等温温度间隔，每一等温温度使用一个试样。测定时，将试样加热奥氏体化，随后迅速转入预先控制好的等温炉中，作等温停留，此时</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膨胀仪可自动记录出等温转变时所引起的膨胀效应与时间的关系曲线</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。例如，图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过冷奥氏体经纯冷却收缩</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bc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和等温转变前的孕育期</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cd</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点起便开始转变，形成珠光体或贝氏体，</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de</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表示等温转变过程</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，至</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e</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点时则表示已转变终了，不再变化。最后将所得到的一系列膨胀</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时间曲线加以整理便可绘制出等温转变图。  </a:t>
            </a:r>
          </a:p>
        </p:txBody>
      </p:sp>
      <p:pic>
        <p:nvPicPr>
          <p:cNvPr id="10" name="Picture 9" descr="t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64279" y="4490211"/>
            <a:ext cx="3506598" cy="22510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10"/>
          <p:cNvSpPr txBox="1">
            <a:spLocks noChangeArrowheads="1"/>
          </p:cNvSpPr>
          <p:nvPr/>
        </p:nvSpPr>
        <p:spPr bwMode="auto">
          <a:xfrm>
            <a:off x="182563" y="4534734"/>
            <a:ext cx="3656902" cy="2200602"/>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优点</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是测量时间短，需要试样少，易于确定在各转变量下所需的时间，能测出过共析钢的先共析产物的析出线。</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缺点：</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膨胀曲线变化较平缓时，转折点不易精确测出。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330123"/>
            <a:ext cx="9144000" cy="5527877"/>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72853"/>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图的建立</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磁性法）</a:t>
            </a:r>
          </a:p>
        </p:txBody>
      </p:sp>
      <p:sp>
        <p:nvSpPr>
          <p:cNvPr id="9" name="Text Box 4"/>
          <p:cNvSpPr txBox="1">
            <a:spLocks noChangeArrowheads="1"/>
          </p:cNvSpPr>
          <p:nvPr/>
        </p:nvSpPr>
        <p:spPr bwMode="auto">
          <a:xfrm>
            <a:off x="-635" y="1330123"/>
            <a:ext cx="9144000" cy="412183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这一方法的原理是利用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奥氏体为顺磁性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，而其转变产物如</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铁素体</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a:t>
            </a:r>
            <a:r>
              <a:rPr kumimoji="1" lang="en-US" altLang="zh-CN" sz="24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2</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磁性转变温度</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770 ℃</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）以下</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、贝氏体和马氏体等均为铁磁性的特性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，通过过冷奥氏体在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以下等温或降温过程中引起的由顺磁性到铁磁性的变化来确定转变的起止时间以及转变量与时间的关系。</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磁性法的优点</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试样少、测试时间短和易于确定各转变产物达到一定百分数时所需的时间。</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磁性法的缺点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：不能测出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过共析钢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先共析渗碳体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的析出线和亚共析钢珠光体转变的开始线。这是因为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渗碳体的居里点</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Ao</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，在高于该温度析出时无磁性表现；以及珠光体与铁素体都是铁磁相而无法区分之故。</a:t>
            </a:r>
          </a:p>
        </p:txBody>
      </p:sp>
      <p:sp>
        <p:nvSpPr>
          <p:cNvPr id="12" name="Text Box 4"/>
          <p:cNvSpPr txBox="1">
            <a:spLocks noChangeArrowheads="1"/>
          </p:cNvSpPr>
          <p:nvPr/>
        </p:nvSpPr>
        <p:spPr bwMode="auto">
          <a:xfrm>
            <a:off x="0" y="5580021"/>
            <a:ext cx="9144000" cy="1277979"/>
          </a:xfrm>
          <a:prstGeom prst="rect">
            <a:avLst/>
          </a:prstGeom>
          <a:solidFill>
            <a:srgbClr val="FFFF66"/>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just" fontAlgn="base">
              <a:lnSpc>
                <a:spcPct val="110000"/>
              </a:lnSpc>
              <a:spcBef>
                <a:spcPct val="0"/>
              </a:spcBef>
              <a:spcAft>
                <a:spcPct val="0"/>
              </a:spcAft>
              <a:buNone/>
            </a:pPr>
            <a:r>
              <a:rPr kumimoji="1" lang="zh-CN" altLang="en-US" sz="2400" b="0" i="0" u="none" strike="noStrike" kern="0" cap="none" spc="0" normalizeH="0" baseline="0" noProof="0" dirty="0">
                <a:ln>
                  <a:noFill/>
                </a:ln>
                <a:solidFill>
                  <a:srgbClr val="000000"/>
                </a:solidFill>
                <a:effectLst/>
                <a:uLnTx/>
                <a:uFillTx/>
              </a:rPr>
              <a:t>上述方法各有其优缺点，故实践中往往是几种方法配合使用，以取长补短。</a:t>
            </a:r>
            <a:r>
              <a:rPr lang="zh-CN" altLang="en-US" sz="2400" kern="0" noProof="0" dirty="0">
                <a:solidFill>
                  <a:srgbClr val="000000"/>
                </a:solidFill>
              </a:rPr>
              <a:t>此外，硬度法、</a:t>
            </a:r>
            <a:r>
              <a:rPr lang="zh-CN" altLang="en-US" sz="2400" dirty="0">
                <a:solidFill>
                  <a:srgbClr val="000000"/>
                </a:solidFill>
              </a:rPr>
              <a:t>电阻法、热分析法和</a:t>
            </a:r>
            <a:r>
              <a:rPr lang="en-US" altLang="zh-CN" sz="2400" dirty="0">
                <a:solidFill>
                  <a:srgbClr val="000000"/>
                </a:solidFill>
              </a:rPr>
              <a:t>X—</a:t>
            </a:r>
            <a:r>
              <a:rPr lang="zh-CN" altLang="en-US" sz="2400" dirty="0">
                <a:solidFill>
                  <a:srgbClr val="000000"/>
                </a:solidFill>
              </a:rPr>
              <a:t>射线衍射法等也可用于测定</a:t>
            </a:r>
            <a:r>
              <a:rPr lang="en-US" altLang="zh-CN" sz="2400" dirty="0">
                <a:solidFill>
                  <a:srgbClr val="000000"/>
                </a:solidFill>
              </a:rPr>
              <a:t>IT</a:t>
            </a:r>
            <a:r>
              <a:rPr lang="zh-CN" altLang="en-US" sz="2400" dirty="0">
                <a:solidFill>
                  <a:srgbClr val="000000"/>
                </a:solidFill>
              </a:rPr>
              <a:t>图。 </a:t>
            </a:r>
            <a:endParaRPr kumimoji="1" lang="zh-CN" altLang="en-US" sz="2400" b="0" i="0" u="none" strike="noStrike" kern="0" cap="none" spc="0" normalizeH="0" baseline="0" noProof="0" dirty="0">
              <a:ln>
                <a:noFill/>
              </a:ln>
              <a:solidFill>
                <a:srgbClr val="000000"/>
              </a:solidFill>
              <a:effectLst/>
              <a:uLnTx/>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碳的影响）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8" name="Text Box 4"/>
          <p:cNvSpPr txBox="1">
            <a:spLocks noChangeArrowheads="1"/>
          </p:cNvSpPr>
          <p:nvPr/>
        </p:nvSpPr>
        <p:spPr bwMode="auto">
          <a:xfrm>
            <a:off x="0" y="1344901"/>
            <a:ext cx="9143365" cy="1949508"/>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在正常加热条件下，亚共析碳钢的</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曲线随着碳含量的增加向右移；过共析碳钢的</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曲线，随着碳含量的增加向左移。故在碳钢中以</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共析钢的过冷奥氏体最为稳定，亦即其</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曲线处于最右的位置</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9" name="Picture 8" descr="pic"/>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3294409"/>
            <a:ext cx="8997950" cy="3498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碳的影响）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10" name="Text Box 1028"/>
          <p:cNvSpPr txBox="1">
            <a:spLocks noChangeArrowheads="1"/>
          </p:cNvSpPr>
          <p:nvPr/>
        </p:nvSpPr>
        <p:spPr bwMode="auto">
          <a:xfrm>
            <a:off x="0" y="1328737"/>
            <a:ext cx="9144000" cy="2100263"/>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对亚、过共析钢而言，在珠光体转变之前将先分别析出先共析铁素体和先共析渗碳体，因此在它们的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图上都分别多了一条</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先共析铁素体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先共析渗碳体的析出线</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如果过共析钢加热温度未超过</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Acm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而是在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与</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Acm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之间，那么其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图上便不一定有先共析渗碳体的析出线。  </a:t>
            </a:r>
          </a:p>
        </p:txBody>
      </p:sp>
      <p:pic>
        <p:nvPicPr>
          <p:cNvPr id="11" name="Picture 1029" descr="t600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93193" y="3534738"/>
            <a:ext cx="5757613" cy="3323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合金元素的影响）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4"/>
          <p:cNvSpPr txBox="1">
            <a:spLocks noChangeArrowheads="1"/>
          </p:cNvSpPr>
          <p:nvPr/>
        </p:nvSpPr>
        <p:spPr bwMode="auto">
          <a:xfrm>
            <a:off x="304482" y="2109788"/>
            <a:ext cx="8534400" cy="338137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首先应该明确，</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合金元素</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除钴外</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只有溶于奥氏体中，才会增加过冷奥氏体的稳定性，使</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曲线右移</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如果未溶入奥氏体，则由于存在未溶的碳化物或夹杂物，往往会起非自发晶核作用，反而促进过冷奥氏体的转变，</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使</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曲线左移</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合金元素的影响）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8" name="Text Box 4"/>
          <p:cNvSpPr txBox="1">
            <a:spLocks noChangeArrowheads="1"/>
          </p:cNvSpPr>
          <p:nvPr/>
        </p:nvSpPr>
        <p:spPr bwMode="auto">
          <a:xfrm>
            <a:off x="-21606" y="1333294"/>
            <a:ext cx="4786553" cy="5340629"/>
          </a:xfrm>
          <a:prstGeom prst="rect">
            <a:avLst/>
          </a:prstGeom>
          <a:noFill/>
          <a:ln w="9525">
            <a:solidFill>
              <a:srgbClr val="FF0000"/>
            </a:solidFill>
            <a:miter lim="800000"/>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碳化物形成元素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，主要有铬、钼、钨、钒、钛等。这类元素如溶入奥氏体中也将不同程度地降低珠光体转变和贝氏体转变的速度；同时还</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使珠光体转变</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曲线移向高温</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曲线移向低温</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。当钢中这类元素含量较高时，将使上述两种转变的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曲线彼此分离，使</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图出现</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双</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曲线的特征</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。这样，在珠光体转变与贝氏体转变温度范围之间就出现了一个</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过冷奥氏体的高度稳定区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，参见图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3-2(b)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6-9</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pSp>
        <p:nvGrpSpPr>
          <p:cNvPr id="5" name="组合 4"/>
          <p:cNvGrpSpPr/>
          <p:nvPr/>
        </p:nvGrpSpPr>
        <p:grpSpPr>
          <a:xfrm>
            <a:off x="4689446" y="188913"/>
            <a:ext cx="3698904" cy="6629400"/>
            <a:chOff x="4689446" y="188913"/>
            <a:chExt cx="3698904" cy="6629400"/>
          </a:xfrm>
        </p:grpSpPr>
        <p:pic>
          <p:nvPicPr>
            <p:cNvPr id="6" name="Picture 7" descr="t3-3"/>
            <p:cNvPicPr>
              <a:picLocks noChangeAspect="1" noChangeArrowheads="1"/>
            </p:cNvPicPr>
            <p:nvPr/>
          </p:nvPicPr>
          <p:blipFill>
            <a:blip r:embed="rId3" cstate="print">
              <a:extLst>
                <a:ext uri="{28A0092B-C50C-407E-A947-70E740481C1C}">
                  <a14:useLocalDpi xmlns:a14="http://schemas.microsoft.com/office/drawing/2010/main" xmlns="" val="0"/>
                </a:ext>
              </a:extLst>
            </a:blip>
            <a:srcRect r="8513"/>
            <a:stretch>
              <a:fillRect/>
            </a:stretch>
          </p:blipFill>
          <p:spPr bwMode="auto">
            <a:xfrm>
              <a:off x="5840413" y="188913"/>
              <a:ext cx="2547937" cy="662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Line 10"/>
            <p:cNvSpPr>
              <a:spLocks noChangeShapeType="1"/>
            </p:cNvSpPr>
            <p:nvPr/>
          </p:nvSpPr>
          <p:spPr bwMode="auto">
            <a:xfrm flipV="1">
              <a:off x="4689446" y="4563611"/>
              <a:ext cx="2399251" cy="1115734"/>
            </a:xfrm>
            <a:prstGeom prst="line">
              <a:avLst/>
            </a:prstGeom>
            <a:noFill/>
            <a:ln w="9525">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9" name="Line 9"/>
            <p:cNvSpPr>
              <a:spLocks noChangeShapeType="1"/>
            </p:cNvSpPr>
            <p:nvPr/>
          </p:nvSpPr>
          <p:spPr bwMode="auto">
            <a:xfrm flipV="1">
              <a:off x="4689446" y="2860645"/>
              <a:ext cx="2628929" cy="2818699"/>
            </a:xfrm>
            <a:prstGeom prst="line">
              <a:avLst/>
            </a:prstGeom>
            <a:noFill/>
            <a:ln w="9525">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a:t>
            </a:r>
            <a:r>
              <a:rPr kumimoji="1" lang="en-US" altLang="zh-CN" sz="2400" b="1" dirty="0">
                <a:solidFill>
                  <a:srgbClr val="C00000"/>
                </a:solidFill>
                <a:latin typeface="Times New Roman" panose="02020603050405020304"/>
                <a:ea typeface="宋体" panose="02010600030101010101" pitchFamily="2" charset="-122"/>
              </a:rPr>
              <a:t>Co</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1029"/>
          <p:cNvSpPr txBox="1">
            <a:spLocks noChangeArrowheads="1"/>
          </p:cNvSpPr>
          <p:nvPr/>
        </p:nvSpPr>
        <p:spPr bwMode="auto">
          <a:xfrm>
            <a:off x="273458" y="1613504"/>
            <a:ext cx="4759937" cy="4785926"/>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钴</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加入钢中可溶入奥氏体，加速珠光体转变，使等温转变的</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开始线和终了线都左移</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，即缩短孕育期，但不改变</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曲线的形状。</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左移</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8" name="Picture 1033" descr="t600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13865" y="1613504"/>
            <a:ext cx="2775125" cy="4753933"/>
          </a:xfrm>
          <a:prstGeom prst="rect">
            <a:avLst/>
          </a:prstGeom>
          <a:noFill/>
          <a:ln w="19050">
            <a:solidFill>
              <a:srgbClr val="0070C0"/>
            </a:solidFill>
            <a:miter lim="800000"/>
            <a:headEnd/>
            <a:tailEnd/>
          </a:ln>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Ni</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9" name="Text Box 3"/>
          <p:cNvSpPr txBox="1">
            <a:spLocks noChangeArrowheads="1"/>
          </p:cNvSpPr>
          <p:nvPr/>
        </p:nvSpPr>
        <p:spPr bwMode="auto">
          <a:xfrm>
            <a:off x="466725" y="2105636"/>
            <a:ext cx="3310156" cy="4259263"/>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镍</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（扩大奥氏体区元素）不改变</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曲线的形状，但能显著提高过冷奥氏体的稳定性，延长孕育期</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右移，并使</a:t>
            </a: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鼻子向下移</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总体趋势：</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右下移</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10" name="Picture 4" descr="t600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19600" y="2105636"/>
            <a:ext cx="4343400" cy="4259263"/>
          </a:xfrm>
          <a:prstGeom prst="rect">
            <a:avLst/>
          </a:prstGeom>
          <a:noFill/>
          <a:ln w="19050">
            <a:solidFill>
              <a:srgbClr val="0070C0"/>
            </a:solidFill>
            <a:miter lim="800000"/>
            <a:headEnd/>
            <a:tailEnd/>
          </a:ln>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Mn</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3"/>
          <p:cNvSpPr txBox="1">
            <a:spLocks noChangeArrowheads="1"/>
          </p:cNvSpPr>
          <p:nvPr/>
        </p:nvSpPr>
        <p:spPr bwMode="auto">
          <a:xfrm>
            <a:off x="129839" y="1691441"/>
            <a:ext cx="4014287" cy="455887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锰</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为弱碳化物形成元素（也是扩大奥氏体区元素），其作用与镍相似，使</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右移但不改变其形状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6-5</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。与图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对比，可见锰使</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曲线右移的作用大于镍。我国锰资源较丰富，价格低于镍，故我国自行研制的合金钢中往往用锰部分地代替镍。 </a:t>
            </a:r>
          </a:p>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总体趋势：右下移</a:t>
            </a:r>
          </a:p>
        </p:txBody>
      </p:sp>
      <p:grpSp>
        <p:nvGrpSpPr>
          <p:cNvPr id="8" name="Group 9"/>
          <p:cNvGrpSpPr>
            <a:grpSpLocks noChangeAspect="1"/>
          </p:cNvGrpSpPr>
          <p:nvPr/>
        </p:nvGrpSpPr>
        <p:grpSpPr bwMode="auto">
          <a:xfrm>
            <a:off x="4366280" y="1615403"/>
            <a:ext cx="2458006" cy="4613420"/>
            <a:chOff x="2880" y="0"/>
            <a:chExt cx="2736" cy="2683"/>
          </a:xfrm>
        </p:grpSpPr>
        <p:pic>
          <p:nvPicPr>
            <p:cNvPr id="9" name="Picture 5" descr="t600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880" y="0"/>
              <a:ext cx="2736" cy="26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Line 8"/>
            <p:cNvSpPr>
              <a:spLocks noChangeShapeType="1"/>
            </p:cNvSpPr>
            <p:nvPr/>
          </p:nvSpPr>
          <p:spPr bwMode="auto">
            <a:xfrm>
              <a:off x="4992" y="1008"/>
              <a:ext cx="480" cy="0"/>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1" name="Group 7"/>
          <p:cNvGrpSpPr/>
          <p:nvPr/>
        </p:nvGrpSpPr>
        <p:grpSpPr bwMode="auto">
          <a:xfrm>
            <a:off x="7046440" y="1691441"/>
            <a:ext cx="1920666" cy="4558876"/>
            <a:chOff x="3744" y="624"/>
            <a:chExt cx="1824" cy="3696"/>
          </a:xfrm>
        </p:grpSpPr>
        <p:pic>
          <p:nvPicPr>
            <p:cNvPr id="12" name="Picture 4" descr="t600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744" y="624"/>
              <a:ext cx="1824" cy="36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 name="Line 6"/>
            <p:cNvSpPr>
              <a:spLocks noChangeShapeType="1"/>
            </p:cNvSpPr>
            <p:nvPr/>
          </p:nvSpPr>
          <p:spPr bwMode="auto">
            <a:xfrm>
              <a:off x="4848" y="3120"/>
              <a:ext cx="576" cy="0"/>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C</a:t>
            </a:r>
            <a:r>
              <a:rPr kumimoji="1" lang="en-US" altLang="zh-CN" sz="2400" b="1" dirty="0">
                <a:solidFill>
                  <a:srgbClr val="C00000"/>
                </a:solidFill>
                <a:latin typeface="Times New Roman" panose="02020603050405020304"/>
                <a:ea typeface="宋体" panose="02010600030101010101" pitchFamily="2" charset="-122"/>
              </a:rPr>
              <a:t>r</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5"/>
          <p:cNvSpPr txBox="1">
            <a:spLocks noChangeArrowheads="1"/>
          </p:cNvSpPr>
          <p:nvPr/>
        </p:nvSpPr>
        <p:spPr bwMode="auto">
          <a:xfrm>
            <a:off x="0" y="1290955"/>
            <a:ext cx="9143364" cy="1277979"/>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铬（</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缩小奥氏体区元素</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）能显著提高过冷奥氏体的稳定性，并且使</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曲线形状改变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使珠光体转变</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曲线向高温方向（</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右上</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）移动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曲线向低温方向（</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右下</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）移动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8" name="Picture 13" descr="t600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172378" y="2733747"/>
            <a:ext cx="4132722" cy="4124253"/>
          </a:xfrm>
          <a:prstGeom prst="rect">
            <a:avLst/>
          </a:prstGeom>
          <a:noFill/>
          <a:ln w="19050">
            <a:solidFill>
              <a:srgbClr val="FF0000"/>
            </a:solidFill>
          </a:ln>
        </p:spPr>
      </p:pic>
      <p:sp>
        <p:nvSpPr>
          <p:cNvPr id="9" name="Text Box 14"/>
          <p:cNvSpPr txBox="1">
            <a:spLocks noChangeArrowheads="1"/>
          </p:cNvSpPr>
          <p:nvPr/>
        </p:nvSpPr>
        <p:spPr bwMode="auto">
          <a:xfrm>
            <a:off x="750888" y="2733747"/>
            <a:ext cx="2871977" cy="4121834"/>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当铬含量较高时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如超过</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，可使两曲线完全分离，</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铬对贝氏体转变的推迟作用大于对珠光体转变的推迟作用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。还可看出，当铬含量相近时，碳含量高的，其孕育期将更长一些。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Mo</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和</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W</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3"/>
          <p:cNvSpPr txBox="1">
            <a:spLocks noChangeArrowheads="1"/>
          </p:cNvSpPr>
          <p:nvPr/>
        </p:nvSpPr>
        <p:spPr bwMode="auto">
          <a:xfrm>
            <a:off x="0" y="1290956"/>
            <a:ext cx="9144000" cy="127797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钼对</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图的影响见图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6-7</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。可以看出，</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钼对珠光体转变有强烈的抑制作用，但对贝氏体转变则影响不显著</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。钼对非共析钢先共析产物（铁素体或渗碳体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析出的速度也有抑制作用。  </a:t>
            </a:r>
          </a:p>
        </p:txBody>
      </p:sp>
      <p:pic>
        <p:nvPicPr>
          <p:cNvPr id="8" name="Picture 4" descr="t600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05575" y="2568935"/>
            <a:ext cx="5712800" cy="27138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ext Box 5"/>
          <p:cNvSpPr txBox="1">
            <a:spLocks noChangeArrowheads="1"/>
          </p:cNvSpPr>
          <p:nvPr/>
        </p:nvSpPr>
        <p:spPr bwMode="auto">
          <a:xfrm>
            <a:off x="1" y="5173756"/>
            <a:ext cx="9143999" cy="168424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钨对</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图的影响与钼相似</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。但只有当钨量较多时（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&gt;1.0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才能使珠光体和贝氏体的转变曲线明显分离。钨对推迟贝氏体转变的作用比钼要小，</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要使钨的影响达到与钼相当的效果，其含量应比钼量多一倍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heckerboard(across)">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B</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4"/>
          <p:cNvSpPr txBox="1">
            <a:spLocks noChangeArrowheads="1"/>
          </p:cNvSpPr>
          <p:nvPr/>
        </p:nvSpPr>
        <p:spPr bwMode="auto">
          <a:xfrm>
            <a:off x="255165" y="1717646"/>
            <a:ext cx="8458200" cy="432117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钢中加入</a:t>
            </a: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微量的硼</a:t>
            </a:r>
            <a:r>
              <a:rPr kumimoji="1" lang="en-US" altLang="zh-CN"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(0.001</a:t>
            </a: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en-US" altLang="zh-CN"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0.005</a:t>
            </a: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en-US" altLang="zh-CN"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就能显著提高过冷奥氏体的稳定性</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。但含量超过</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0.007</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％后便会生成低熔点共晶，引起钢的</a:t>
            </a: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热脆性</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，从而增加热压力加工的困难。</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硼对提高钢淬透性</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即使</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曲线右移）的作用主要对低碳和中碳钢有效</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，当碳含量接近共析成分时，硼提高</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的作用则几乎消失，因此，</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硼仅在碳含量低于</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0.6</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％的钢中得到应用</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合金元素）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3"/>
          <p:cNvSpPr txBox="1">
            <a:spLocks noChangeArrowheads="1"/>
          </p:cNvSpPr>
          <p:nvPr/>
        </p:nvSpPr>
        <p:spPr bwMode="auto">
          <a:xfrm>
            <a:off x="0" y="1290955"/>
            <a:ext cx="9143364" cy="89165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合金元素除了对</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曲线的形状和位置有影响外，对</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的高低也有影响，可用图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6-9</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一并加以概括。</a:t>
            </a:r>
          </a:p>
        </p:txBody>
      </p:sp>
      <p:sp>
        <p:nvSpPr>
          <p:cNvPr id="8" name="Text Box 6"/>
          <p:cNvSpPr txBox="1">
            <a:spLocks noChangeArrowheads="1"/>
          </p:cNvSpPr>
          <p:nvPr/>
        </p:nvSpPr>
        <p:spPr bwMode="auto">
          <a:xfrm>
            <a:off x="-635" y="5606094"/>
            <a:ext cx="9143364" cy="127797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以上所讨论的是单独加入某一种合金元素时对</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图的影响。当</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几种元素同时加入钢中时，则情况更为复杂，但一般来说可更显著地推迟过冷奥氏体的转变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graphicFrame>
        <p:nvGraphicFramePr>
          <p:cNvPr id="23558" name="Object 7"/>
          <p:cNvGraphicFramePr>
            <a:graphicFrameLocks/>
          </p:cNvGraphicFramePr>
          <p:nvPr/>
        </p:nvGraphicFramePr>
        <p:xfrm>
          <a:off x="1304925" y="2182495"/>
          <a:ext cx="6172200" cy="3504565"/>
        </p:xfrm>
        <a:graphic>
          <a:graphicData uri="http://schemas.openxmlformats.org/presentationml/2006/ole">
            <p:oleObj spid="_x0000_s178177" r:id="rId4" imgW="9933333" imgH="5638095" progId="PBrush">
              <p:embed/>
            </p:oleObj>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奥氏体化条件）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3"/>
          <p:cNvSpPr txBox="1">
            <a:spLocks noChangeArrowheads="1"/>
          </p:cNvSpPr>
          <p:nvPr/>
        </p:nvSpPr>
        <p:spPr bwMode="auto">
          <a:xfrm>
            <a:off x="254466" y="1809925"/>
            <a:ext cx="8458200" cy="410845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奥氏体化时，加热温度的高低和保温时间的长短，都会影响到奥氏体的晶粒大小和成分的均匀程度。</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晶粒愈粗大，奥氏体成分愈均匀，则奥氏体转变为</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珠光体或贝氏体</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的形核率就愈低，即过冷奥氏体的稳定性愈大，使</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曲线愈趋右移</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反之，</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加热温度偏低，保温时间不足，将获得成分不均匀的细晶粒奥氏体，甚至有较多量未溶解的第二相存在，结果将促进过冷奥氏体的分解，使</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曲线左移</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。但应指出，奥氏体晶粒大小对贝氏体转变速度的影响较小。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塑形变形的影响）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3"/>
          <p:cNvSpPr txBox="1">
            <a:spLocks noChangeArrowheads="1"/>
          </p:cNvSpPr>
          <p:nvPr/>
        </p:nvSpPr>
        <p:spPr bwMode="auto">
          <a:xfrm>
            <a:off x="182563" y="1290955"/>
            <a:ext cx="8686800" cy="580601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3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无论在高温</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指奥氏体稳定区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或低温</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指奥氏体亚稳定区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下对奥氏体进行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塑性形变，由于形变可促使碳和铁原子的扩散，都将加速珠光体的转变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342900" marR="0" lvl="0" indent="-342900" algn="just" defTabSz="914400" eaLnBrk="1" fontAlgn="base" latinLnBrk="0" hangingPunct="1">
              <a:lnSpc>
                <a:spcPct val="13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贝氏体转变的影响则不完全相同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，表现为</a:t>
            </a:r>
          </a:p>
          <a:p>
            <a:pPr marL="0" marR="0" lvl="0" indent="0" algn="just"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高温塑性形变对</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减缓作用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3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而低温塑性形变对</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贝氏体转变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加速作用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342900" marR="0" lvl="0" indent="-342900" algn="just" defTabSz="914400" eaLnBrk="1" fontAlgn="base" latinLnBrk="0" hangingPunct="1">
              <a:lnSpc>
                <a:spcPct val="13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拉应力</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也包括单向压应力</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状态必然会促进马氏体形成</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，从而表现为使</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点升高，而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多向压应力则会阻止马氏体形成</a:t>
            </a:r>
            <a:r>
              <a:rPr lang="zh-CN" altLang="en-US" sz="2400" b="1" kern="0" dirty="0">
                <a:solidFill>
                  <a:srgbClr val="FF0000"/>
                </a:solidFill>
              </a:rPr>
              <a:t>。</a:t>
            </a:r>
            <a:endPar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a:p>
            <a:pPr marL="342900" marR="0" lvl="0" indent="-342900" defTabSz="914400" eaLnBrk="0" fontAlgn="base" latinLnBrk="0" hangingPunct="0">
              <a:lnSpc>
                <a:spcPct val="13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少量的塑性形变能促进随后冷却时的马氏体转变</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使</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点提高</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，而超过一定限度的塑性形变则起着相反的作用，甚至使奥氏体完全稳定化</a:t>
            </a:r>
          </a:p>
          <a:p>
            <a:pPr marL="0" marR="0" lvl="0" indent="0" defTabSz="914400" eaLnBrk="0" fontAlgn="base" latinLnBrk="0" hangingPunct="0">
              <a:lnSpc>
                <a:spcPct val="130000"/>
              </a:lnSpc>
              <a:spcBef>
                <a:spcPct val="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（影响</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图的因素）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3"/>
          <p:cNvSpPr txBox="1">
            <a:spLocks noChangeArrowheads="1"/>
          </p:cNvSpPr>
          <p:nvPr/>
        </p:nvSpPr>
        <p:spPr bwMode="auto">
          <a:xfrm>
            <a:off x="346045" y="2158011"/>
            <a:ext cx="8686800" cy="254197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2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应当指出：</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在应用</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IT</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图时，必须注意其标明的试验条件，如奥氏体化温度、晶粒度等是否与实际应用条件相符，因为条件不同，情况会有所差异</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图的基本类型</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1</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1028"/>
          <p:cNvSpPr txBox="1">
            <a:spLocks noChangeArrowheads="1"/>
          </p:cNvSpPr>
          <p:nvPr/>
        </p:nvSpPr>
        <p:spPr bwMode="auto">
          <a:xfrm>
            <a:off x="0" y="1290955"/>
            <a:ext cx="9144000" cy="171466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珠光体转变与贝氏体转变曲线部分相重叠</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6-10(a))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之间，</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图只有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一个“鼻子</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”，该处孕育期最短。</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在“鼻子”以上进行珠光体转变，</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在，“鼻子”以下进行贝氏体转变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8" name="Text Box 1035"/>
          <p:cNvSpPr txBox="1">
            <a:spLocks noChangeArrowheads="1"/>
          </p:cNvSpPr>
          <p:nvPr/>
        </p:nvSpPr>
        <p:spPr bwMode="auto">
          <a:xfrm>
            <a:off x="466725" y="3429000"/>
            <a:ext cx="3409122" cy="2792239"/>
          </a:xfrm>
          <a:prstGeom prst="rect">
            <a:avLst/>
          </a:prstGeom>
          <a:noFill/>
          <a:ln w="9525">
            <a:solidFill>
              <a:srgbClr val="FF0000"/>
            </a:solidFill>
            <a:miter lim="800000"/>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这种类型多见于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碳钢或含非</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或弱</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碳化物形成元素的低合金钢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中，如钴钢、镍钢或锰含量较低的锰钢等。</a:t>
            </a:r>
          </a:p>
        </p:txBody>
      </p:sp>
      <p:graphicFrame>
        <p:nvGraphicFramePr>
          <p:cNvPr id="28679" name="Object 1036"/>
          <p:cNvGraphicFramePr>
            <a:graphicFrameLocks/>
          </p:cNvGraphicFramePr>
          <p:nvPr/>
        </p:nvGraphicFramePr>
        <p:xfrm>
          <a:off x="5311775" y="3429000"/>
          <a:ext cx="2817495" cy="3429000"/>
        </p:xfrm>
        <a:graphic>
          <a:graphicData uri="http://schemas.openxmlformats.org/presentationml/2006/ole">
            <p:oleObj spid="_x0000_s211969" r:id="rId4" imgW="2980952" imgH="3629532" progId="PBrush">
              <p:embed/>
            </p:oleObj>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图的基本类型</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2</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10" name="Text Box 7"/>
          <p:cNvSpPr txBox="1">
            <a:spLocks noChangeArrowheads="1"/>
          </p:cNvSpPr>
          <p:nvPr/>
        </p:nvSpPr>
        <p:spPr bwMode="auto">
          <a:xfrm>
            <a:off x="60120" y="1295400"/>
            <a:ext cx="9083880" cy="1200329"/>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珠光体转变的孕育期比贝氏体转变的长</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6-10(b))</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转变曲线分离</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。图中出现了两组曲线，上面一组代表珠光体转变，下面一组代表贝氏体转变，两转变区之间出现了一个过冷奥氏体稳定区。</a:t>
            </a:r>
          </a:p>
        </p:txBody>
      </p:sp>
      <p:sp>
        <p:nvSpPr>
          <p:cNvPr id="11" name="Text Box 9"/>
          <p:cNvSpPr txBox="1">
            <a:spLocks noChangeArrowheads="1"/>
          </p:cNvSpPr>
          <p:nvPr/>
        </p:nvSpPr>
        <p:spPr bwMode="auto">
          <a:xfrm>
            <a:off x="261456" y="2883470"/>
            <a:ext cx="4704400" cy="3586790"/>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合金元素较少时，两个“鼻子”之间的奥氏体稳定区不很明显；而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当合金元素含量较高时，两组曲线截然分开</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。合金元素对珠光体转变的抑制作用更强，故代表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珠光体转变的曲线更靠右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这种类型在含有铬、钼、钨、钒等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强碳化物形成元素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的钢中经常出现，如</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40CrNiMoA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a:t>
            </a:r>
          </a:p>
        </p:txBody>
      </p:sp>
      <p:graphicFrame>
        <p:nvGraphicFramePr>
          <p:cNvPr id="29703" name="Object 12"/>
          <p:cNvGraphicFramePr>
            <a:graphicFrameLocks/>
          </p:cNvGraphicFramePr>
          <p:nvPr/>
        </p:nvGraphicFramePr>
        <p:xfrm>
          <a:off x="5429250" y="2743835"/>
          <a:ext cx="3385185" cy="3947160"/>
        </p:xfrm>
        <a:graphic>
          <a:graphicData uri="http://schemas.openxmlformats.org/presentationml/2006/ole">
            <p:oleObj spid="_x0000_s216065" r:id="rId4" imgW="2809524" imgH="3277057" progId="PBrush">
              <p:embed/>
            </p:oleObj>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图的基本类型</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3</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5"/>
          <p:cNvSpPr txBox="1">
            <a:spLocks noChangeArrowheads="1"/>
          </p:cNvSpPr>
          <p:nvPr/>
        </p:nvSpPr>
        <p:spPr bwMode="auto">
          <a:xfrm>
            <a:off x="874234" y="1989291"/>
            <a:ext cx="3697448" cy="4170372"/>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只呈现贝氏体转变曲线</a:t>
            </a:r>
            <a:r>
              <a:rPr kumimoji="1" lang="en-US" altLang="zh-CN"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6-10(c))</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。这是因合金元素的作用使</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珠光体转变孕育期大大延长</a:t>
            </a:r>
            <a:r>
              <a:rPr kumimoji="1"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右移</a:t>
            </a:r>
            <a:r>
              <a:rPr kumimoji="1"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，以致珠光体转变曲线未能在图中出现。</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6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镍含量较多</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的低碳和中碳铬镍钼钢或铬镍钨钢</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即属此类，如</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18Cr2Ni4WA</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a:t>
            </a:r>
          </a:p>
        </p:txBody>
      </p:sp>
      <p:graphicFrame>
        <p:nvGraphicFramePr>
          <p:cNvPr id="30725" name="Object 11"/>
          <p:cNvGraphicFramePr>
            <a:graphicFrameLocks/>
          </p:cNvGraphicFramePr>
          <p:nvPr/>
        </p:nvGraphicFramePr>
        <p:xfrm>
          <a:off x="5029200" y="1989455"/>
          <a:ext cx="3468688" cy="4267200"/>
        </p:xfrm>
        <a:graphic>
          <a:graphicData uri="http://schemas.openxmlformats.org/presentationml/2006/ole">
            <p:oleObj spid="_x0000_s217089" r:id="rId4" imgW="3104762" imgH="3820058" progId="PBrush">
              <p:embed/>
            </p:oleObj>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图的基本类型</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4</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4"/>
          <p:cNvSpPr txBox="1">
            <a:spLocks noChangeArrowheads="1"/>
          </p:cNvSpPr>
          <p:nvPr/>
        </p:nvSpPr>
        <p:spPr bwMode="auto">
          <a:xfrm>
            <a:off x="0" y="1290797"/>
            <a:ext cx="9143365" cy="1292662"/>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珠光体转变曲线与贝氏体转变曲线相分离，珠光体转变的孕育期比贝氏体转变的短</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6-10(d))</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。这种类型在碳含量较高的合金钢中经常出现，如</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Cr12MoV</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a:t>
            </a:r>
          </a:p>
        </p:txBody>
      </p:sp>
      <p:sp>
        <p:nvSpPr>
          <p:cNvPr id="9" name="Text Box 89"/>
          <p:cNvSpPr txBox="1">
            <a:spLocks noChangeArrowheads="1"/>
          </p:cNvSpPr>
          <p:nvPr/>
        </p:nvSpPr>
        <p:spPr bwMode="auto">
          <a:xfrm>
            <a:off x="466725" y="3198317"/>
            <a:ext cx="4608513" cy="304482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Cr12MoV</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化学成分</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C1.45~1.70, Si ≤0.40,</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Mn≤0.35, Cr11.0~12.50, Mo0.40~0.60, </a:t>
            </a:r>
          </a:p>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V0.15~0.30%, </a:t>
            </a:r>
          </a:p>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 ≤0.030, </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S ≤0.030, </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aphicFrame>
        <p:nvGraphicFramePr>
          <p:cNvPr id="31748" name="Object 88"/>
          <p:cNvGraphicFramePr>
            <a:graphicFrameLocks/>
          </p:cNvGraphicFramePr>
          <p:nvPr/>
        </p:nvGraphicFramePr>
        <p:xfrm>
          <a:off x="5075555" y="2769870"/>
          <a:ext cx="3760470" cy="3902075"/>
        </p:xfrm>
        <a:graphic>
          <a:graphicData uri="http://schemas.openxmlformats.org/presentationml/2006/ole">
            <p:oleObj spid="_x0000_s218113" r:id="rId4" imgW="3048426" imgH="3161905" progId="PBrush">
              <p:embed/>
            </p:oleObj>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图的基本类型）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3"/>
          <p:cNvSpPr txBox="1">
            <a:spLocks noChangeArrowheads="1"/>
          </p:cNvSpPr>
          <p:nvPr/>
        </p:nvSpPr>
        <p:spPr bwMode="auto">
          <a:xfrm>
            <a:off x="264087" y="1777791"/>
            <a:ext cx="4266501" cy="453117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只呈现珠光体转变曲线</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6-10(e))</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。这是因合金元素的作用</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使贝氏体转变孕育期大大延长（</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右移</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，以致贝氏体转变曲线未能在图中出现。</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碳和强碳化物形成元素含量较高的钢即属此类型，如不锈钢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3Cr13</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4Cr13</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和工具钢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Cr12</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aphicFrame>
        <p:nvGraphicFramePr>
          <p:cNvPr id="32772" name="Object 5"/>
          <p:cNvGraphicFramePr>
            <a:graphicFrameLocks/>
          </p:cNvGraphicFramePr>
          <p:nvPr/>
        </p:nvGraphicFramePr>
        <p:xfrm>
          <a:off x="4964430" y="1971040"/>
          <a:ext cx="3895090" cy="4276725"/>
        </p:xfrm>
        <a:graphic>
          <a:graphicData uri="http://schemas.openxmlformats.org/presentationml/2006/ole">
            <p:oleObj spid="_x0000_s219137" r:id="rId4" imgW="2819794" imgH="3095238" progId="PBrush">
              <p:embed/>
            </p:oleObj>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第一节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5F5F5F">
                    <a:lumMod val="50000"/>
                  </a:srgbClr>
                </a:solidFill>
                <a:effectLst/>
                <a:uLnTx/>
                <a:uFillTx/>
                <a:latin typeface="Arial" panose="020B0604020202020204"/>
                <a:ea typeface="幼圆" panose="02010509060101010101" charset="-122"/>
                <a:cs typeface="+mn-cs"/>
              </a:rPr>
              <a:t>(</a:t>
            </a:r>
            <a:r>
              <a:rPr kumimoji="1" lang="en-US" altLang="zh-CN"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TTT</a:t>
            </a:r>
            <a:r>
              <a:rPr kumimoji="1" lang="zh-CN" altLang="en-US" sz="28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图</a:t>
            </a:r>
            <a:r>
              <a:rPr kumimoji="1" lang="en-US" altLang="zh-CN" sz="2400" b="1" i="0" u="none" strike="noStrike" kern="1200" cap="none" spc="0" normalizeH="0" baseline="0" noProof="0" dirty="0">
                <a:ln>
                  <a:noFill/>
                </a:ln>
                <a:solidFill>
                  <a:srgbClr val="5F5F5F">
                    <a:lumMod val="50000"/>
                  </a:srgbClr>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IT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图的基本类型） </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1027"/>
          <p:cNvSpPr txBox="1">
            <a:spLocks noChangeArrowheads="1"/>
          </p:cNvSpPr>
          <p:nvPr/>
        </p:nvSpPr>
        <p:spPr bwMode="auto">
          <a:xfrm>
            <a:off x="635" y="1308099"/>
            <a:ext cx="9143365" cy="1600199"/>
          </a:xfrm>
          <a:prstGeom prst="rect">
            <a:avLst/>
          </a:prstGeom>
          <a:noFill/>
          <a:ln w="1270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只析出碳化物，而无任何其它相变</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6-10(f))</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。在碳和合金元素含量较高的情况下，珠光体转变与贝氏体转变都被强烈抑制；同时，</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点降到室温以下，于是从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到室温的整个温度范围内，除了析出碳化物外，不发生任何相变。</a:t>
            </a:r>
          </a:p>
        </p:txBody>
      </p:sp>
      <p:sp>
        <p:nvSpPr>
          <p:cNvPr id="8" name="Text Box 1033"/>
          <p:cNvSpPr txBox="1">
            <a:spLocks noChangeArrowheads="1"/>
          </p:cNvSpPr>
          <p:nvPr/>
        </p:nvSpPr>
        <p:spPr bwMode="auto">
          <a:xfrm>
            <a:off x="466725" y="3603072"/>
            <a:ext cx="2819400" cy="275460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这类钢的奥氏体通常极其稳定，属于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4Cr14Ni14W2Mo</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aphicFrame>
        <p:nvGraphicFramePr>
          <p:cNvPr id="34823" name="Object 1034"/>
          <p:cNvGraphicFramePr>
            <a:graphicFrameLocks/>
          </p:cNvGraphicFramePr>
          <p:nvPr/>
        </p:nvGraphicFramePr>
        <p:xfrm>
          <a:off x="4574540" y="2971800"/>
          <a:ext cx="3632200" cy="3886200"/>
        </p:xfrm>
        <a:graphic>
          <a:graphicData uri="http://schemas.openxmlformats.org/presentationml/2006/ole">
            <p:oleObj spid="_x0000_s220161" r:id="rId4" imgW="3266667" imgH="3495238" progId="PBrush">
              <p:embed/>
            </p:oleObj>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a:t>
            </a:r>
            <a:r>
              <a:rPr lang="zh-CN" altLang="en-US" sz="2400" b="1" dirty="0">
                <a:solidFill>
                  <a:srgbClr val="000000"/>
                </a:solidFill>
                <a:latin typeface="Arial" panose="020B0604020202020204"/>
                <a:ea typeface="幼圆" panose="02010509060101010101" charset="-122"/>
              </a:rPr>
              <a:t>二</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节  </a:t>
            </a:r>
            <a:r>
              <a:rPr lang="en-US" altLang="zh-CN" sz="2400" b="1" dirty="0">
                <a:solidFill>
                  <a:srgbClr val="000000"/>
                </a:solidFill>
                <a:latin typeface="Arial" panose="020B0604020202020204"/>
                <a:ea typeface="幼圆" panose="02010509060101010101" charset="-122"/>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1027"/>
          <p:cNvSpPr txBox="1">
            <a:spLocks noChangeArrowheads="1"/>
          </p:cNvSpPr>
          <p:nvPr/>
        </p:nvSpPr>
        <p:spPr bwMode="auto">
          <a:xfrm>
            <a:off x="31109" y="1468103"/>
            <a:ext cx="9081146" cy="223824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由前已知，钢热处理时的冷却转变多数是在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连续冷却</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条件下进行的，如普通淬火、正火和退火等。虽然也可借助于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图来分析连续冷却过程中奥氏体的转变情况，但这往往是粗略的，有时甚至会出现较大的出入，因此建立</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图是十分必要和迫切的。</a:t>
            </a:r>
          </a:p>
        </p:txBody>
      </p:sp>
      <p:sp>
        <p:nvSpPr>
          <p:cNvPr id="8" name="Text Box 1029"/>
          <p:cNvSpPr txBox="1">
            <a:spLocks noChangeArrowheads="1"/>
          </p:cNvSpPr>
          <p:nvPr/>
        </p:nvSpPr>
        <p:spPr bwMode="auto">
          <a:xfrm>
            <a:off x="-635" y="4187395"/>
            <a:ext cx="9143999" cy="1684244"/>
          </a:xfrm>
          <a:prstGeom prst="rect">
            <a:avLst/>
          </a:prstGeom>
          <a:solidFill>
            <a:srgbClr val="CCFFCC">
              <a:alpha val="48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通常，测定钢的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图的方法有金相</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硬度法、端淬法、膨胀法以及利用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图作图和计算法等。由于上述方法各有其优缺点，故实践中往往是几种方法配合使用，以取长补短。</a:t>
            </a: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图的建立方法</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金相</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硬度法）</a:t>
            </a:r>
          </a:p>
        </p:txBody>
      </p:sp>
      <p:pic>
        <p:nvPicPr>
          <p:cNvPr id="9" name="Picture 13" descr="t6010"/>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91763" y="1374934"/>
            <a:ext cx="3462337" cy="5399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15" descr="t6010a"/>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130920" y="3229947"/>
            <a:ext cx="3055187" cy="35462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8"/>
          <p:cNvSpPr txBox="1">
            <a:spLocks noChangeArrowheads="1"/>
          </p:cNvSpPr>
          <p:nvPr/>
        </p:nvSpPr>
        <p:spPr bwMode="auto">
          <a:xfrm>
            <a:off x="21498" y="1290955"/>
            <a:ext cx="5159229" cy="1938992"/>
          </a:xfrm>
          <a:prstGeom prst="rect">
            <a:avLst/>
          </a:prstGeom>
          <a:solidFill>
            <a:srgbClr val="CC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将一组被测钢的试样</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通常为</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15</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3mm)</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加热至奥氏体化温度并保温后，自奥氏体状态</a:t>
            </a:r>
            <a:r>
              <a:rPr kumimoji="1" lang="zh-CN" altLang="en-US" sz="20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以一定速度冷至指定的温度</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0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0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0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立即急冷</a:t>
            </a:r>
            <a:r>
              <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淬入水中</a:t>
            </a:r>
            <a:r>
              <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，将高温的组织状态固定到室温。</a:t>
            </a: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通过观察金相组织和测量硬度，确定过冷奥氏体转变的开始点和终了点</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图的建立方法</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端淬法）</a:t>
            </a:r>
          </a:p>
        </p:txBody>
      </p:sp>
      <p:sp>
        <p:nvSpPr>
          <p:cNvPr id="6" name="Text Box 4"/>
          <p:cNvSpPr txBox="1">
            <a:spLocks noChangeArrowheads="1"/>
          </p:cNvSpPr>
          <p:nvPr/>
        </p:nvSpPr>
        <p:spPr bwMode="auto">
          <a:xfrm>
            <a:off x="0" y="1291145"/>
            <a:ext cx="9143364" cy="1938992"/>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此法要</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先测出指定条件下的冷却速度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，方法是先将一标准试样</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25</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100mm)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的圆周上沿长度方向每隔一定距离钻一小孔，每个孔中均焊一</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热电偶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。试验时先将试样进行奥氏体化，随后从炉中取出并立即在其</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末端喷水冷却</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，这样，沿试样长度上各点将具有不同的冷却速度，并可通过自动记录仪表把冷却曲线记录下来。</a:t>
            </a:r>
          </a:p>
        </p:txBody>
      </p:sp>
      <p:grpSp>
        <p:nvGrpSpPr>
          <p:cNvPr id="8" name="Group 8"/>
          <p:cNvGrpSpPr/>
          <p:nvPr/>
        </p:nvGrpSpPr>
        <p:grpSpPr bwMode="auto">
          <a:xfrm>
            <a:off x="182563" y="3230137"/>
            <a:ext cx="8534400" cy="3429000"/>
            <a:chOff x="384" y="2160"/>
            <a:chExt cx="5376" cy="2160"/>
          </a:xfrm>
        </p:grpSpPr>
        <p:pic>
          <p:nvPicPr>
            <p:cNvPr id="9" name="Picture 9" descr="t701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4" y="2374"/>
              <a:ext cx="4150" cy="19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10" descr="t7019"/>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64" y="2160"/>
              <a:ext cx="1496" cy="2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图的建立方法</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lang="zh-CN" altLang="en-US" sz="2400" b="1" dirty="0">
                <a:solidFill>
                  <a:srgbClr val="C00000"/>
                </a:solidFill>
                <a:latin typeface="Arial" panose="020B0604020202020204"/>
                <a:ea typeface="幼圆" panose="02010509060101010101" charset="-122"/>
              </a:rPr>
              <a:t>端淬法</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p>
        </p:txBody>
      </p:sp>
      <p:pic>
        <p:nvPicPr>
          <p:cNvPr id="6" name="Picture 7" descr="t601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13336" y="3034094"/>
            <a:ext cx="4947817" cy="36222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Text Box 1027"/>
          <p:cNvSpPr txBox="1">
            <a:spLocks noChangeArrowheads="1"/>
          </p:cNvSpPr>
          <p:nvPr/>
        </p:nvSpPr>
        <p:spPr bwMode="auto">
          <a:xfrm>
            <a:off x="-636" y="1290955"/>
            <a:ext cx="9144635" cy="1938992"/>
          </a:xfrm>
          <a:prstGeom prst="rect">
            <a:avLst/>
          </a:prstGeom>
          <a:noFill/>
          <a:ln w="12700">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接着再将另一试样</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圆周表面不钻小孔</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重复上述操作，但其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末端</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经过喷水冷却某一定时间</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3333CC"/>
                </a:solidFill>
                <a:effectLst/>
                <a:uLnTx/>
                <a:uFillTx/>
                <a:latin typeface="Times New Roman" panose="02020603050405020304" pitchFamily="18" charset="0"/>
                <a:ea typeface="宋体" panose="02010600030101010101" pitchFamily="2" charset="-122"/>
              </a:rPr>
              <a:t>1</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后</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即迅速取下整体淬水</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急冷</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，使该试样上对应于前者带小孔试样相同位置各点的组织状态固定下来，最后将试样圆柱表面磨平</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磨去</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2-3mm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深度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进行金相观察，即可知各点的组织转变情况</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转变产物及其相对量</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9" name="Text Box 1029"/>
          <p:cNvSpPr txBox="1">
            <a:spLocks noChangeArrowheads="1"/>
          </p:cNvSpPr>
          <p:nvPr/>
        </p:nvSpPr>
        <p:spPr bwMode="auto">
          <a:xfrm>
            <a:off x="-27658" y="3104386"/>
            <a:ext cx="2410132" cy="349775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若再取另一些试样重复上述操作，但分别</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经不同时间如</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这样便可在冷却曲线上标注出其变化，从而绘制出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见图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6-13(b))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图的建立方法</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膨胀法）</a:t>
            </a:r>
          </a:p>
        </p:txBody>
      </p:sp>
      <p:sp>
        <p:nvSpPr>
          <p:cNvPr id="10" name="Text Box 2052"/>
          <p:cNvSpPr txBox="1">
            <a:spLocks noChangeArrowheads="1"/>
          </p:cNvSpPr>
          <p:nvPr/>
        </p:nvSpPr>
        <p:spPr bwMode="auto">
          <a:xfrm>
            <a:off x="182563" y="2084461"/>
            <a:ext cx="8686800" cy="307507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此法是利用</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膨胀仪</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进行，先将试样加热奥氏体化，然后分别</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置于具有不同冷速的介质中冷却</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，同时进行膨胀量的测定，把测得的膨胀曲线上的有关转折点</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即转变的开始点和终了点</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标记在“温度</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时间”半对数坐标图上，并观察冷却后的金相组织。经对各条膨胀曲线上的转折点和对应的金相组织作分析后，将各物理意义相同的点连接起来，就可得到</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图的分析）</a:t>
            </a:r>
          </a:p>
        </p:txBody>
      </p:sp>
      <p:sp>
        <p:nvSpPr>
          <p:cNvPr id="6" name="Text Box 3"/>
          <p:cNvSpPr txBox="1">
            <a:spLocks noChangeArrowheads="1"/>
          </p:cNvSpPr>
          <p:nvPr/>
        </p:nvSpPr>
        <p:spPr bwMode="auto">
          <a:xfrm>
            <a:off x="111154" y="1366007"/>
            <a:ext cx="8686800" cy="1187450"/>
          </a:xfrm>
          <a:prstGeom prst="rect">
            <a:avLst/>
          </a:prstGeom>
          <a:noFill/>
          <a:ln w="1270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共析钢的</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中，只出现珠光体转变区和马氏体转变区，而无贝氏体转变区，这表明</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共析碳钢在连续冷却时不会产生贝氏体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8" name="Picture 4" descr="t6010a"/>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84646" y="2568367"/>
            <a:ext cx="3682927" cy="42747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ext Box 5"/>
          <p:cNvSpPr txBox="1">
            <a:spLocks noChangeArrowheads="1"/>
          </p:cNvSpPr>
          <p:nvPr/>
        </p:nvSpPr>
        <p:spPr bwMode="auto">
          <a:xfrm>
            <a:off x="111154" y="2813807"/>
            <a:ext cx="4724400" cy="3971925"/>
          </a:xfrm>
          <a:prstGeom prst="rect">
            <a:avLst/>
          </a:prstGeom>
          <a:noFill/>
          <a:ln w="1270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其珠光体转变区由</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三条曲线</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构成；左边一条为转变开始线，右边一条为转变终了线，下边一条</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虚线</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为转变中止线。</a:t>
            </a:r>
          </a:p>
          <a:p>
            <a:pPr marL="0" marR="0" lvl="0" indent="0" algn="just" defTabSz="914400" eaLnBrk="1" fontAlgn="base" latinLnBrk="0" hangingPunct="1">
              <a:lnSpc>
                <a:spcPct val="10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Vc</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称为</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下临界冷速</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，表示冷速低于该值时奥氏体将全部转变为珠光体。</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Vc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称为</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上临界冷速</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通常又称为“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淬火临界冷却速度</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图的分析）</a:t>
            </a:r>
          </a:p>
        </p:txBody>
      </p:sp>
      <p:sp>
        <p:nvSpPr>
          <p:cNvPr id="10" name="Text Box 3"/>
          <p:cNvSpPr txBox="1">
            <a:spLocks noChangeArrowheads="1"/>
          </p:cNvSpPr>
          <p:nvPr/>
        </p:nvSpPr>
        <p:spPr bwMode="auto">
          <a:xfrm>
            <a:off x="182563" y="1614990"/>
            <a:ext cx="4300742" cy="491897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现在来分析不同冷却速度下的转变情况。</a:t>
            </a: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当冷速处于</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33.3℃/s(Vc</a:t>
            </a:r>
            <a:r>
              <a:rPr kumimoji="1" lang="en-US" altLang="zh-CN" sz="2400" b="1" i="0" u="none" strike="noStrike" kern="0" cap="none" spc="0" normalizeH="0" baseline="-30000" noProof="0" dirty="0">
                <a:ln>
                  <a:noFill/>
                </a:ln>
                <a:solidFill>
                  <a:srgbClr val="FF3300"/>
                </a:solidFill>
                <a:effectLst/>
                <a:uLnTx/>
                <a:uFillTx/>
                <a:latin typeface="Times New Roman" panose="02020603050405020304" pitchFamily="18" charset="0"/>
                <a:ea typeface="宋体" panose="02010600030101010101" pitchFamily="2" charset="-122"/>
              </a:rPr>
              <a:t>1</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与</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138.8℃/s(</a:t>
            </a:r>
            <a:r>
              <a:rPr kumimoji="1" lang="en-US" altLang="zh-CN" sz="2400" b="1" i="0" u="none" strike="noStrike" kern="0" cap="none" spc="0" normalizeH="0" baseline="0" noProof="0" dirty="0" err="1">
                <a:ln>
                  <a:noFill/>
                </a:ln>
                <a:solidFill>
                  <a:srgbClr val="FF3300"/>
                </a:solidFill>
                <a:effectLst/>
                <a:uLnTx/>
                <a:uFillTx/>
                <a:latin typeface="Times New Roman" panose="02020603050405020304" pitchFamily="18" charset="0"/>
                <a:ea typeface="宋体" panose="02010600030101010101" pitchFamily="2" charset="-122"/>
              </a:rPr>
              <a:t>Vc</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之间时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，冷速曲线将只与转变开始线相交，而不与转变终了线相交，这意味着过冷奥氏体仅发生了部分转变</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分解</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即告中止；剩余的部分在继续冷却到</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点以下时便转变为马氏体。</a:t>
            </a:r>
          </a:p>
        </p:txBody>
      </p:sp>
      <p:graphicFrame>
        <p:nvGraphicFramePr>
          <p:cNvPr id="43012" name="Object 7"/>
          <p:cNvGraphicFramePr>
            <a:graphicFrameLocks/>
          </p:cNvGraphicFramePr>
          <p:nvPr/>
        </p:nvGraphicFramePr>
        <p:xfrm>
          <a:off x="4595495" y="1768475"/>
          <a:ext cx="3949065" cy="4368800"/>
        </p:xfrm>
        <a:graphic>
          <a:graphicData uri="http://schemas.openxmlformats.org/presentationml/2006/ole">
            <p:oleObj spid="_x0000_s221185" r:id="rId4" imgW="8333333" imgH="9221487" progId="PBrush">
              <p:embed/>
            </p:oleObj>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alpha val="28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图的分析）</a:t>
            </a:r>
          </a:p>
        </p:txBody>
      </p:sp>
      <p:sp>
        <p:nvSpPr>
          <p:cNvPr id="6" name="Text Box 3"/>
          <p:cNvSpPr txBox="1">
            <a:spLocks noChangeArrowheads="1"/>
          </p:cNvSpPr>
          <p:nvPr/>
        </p:nvSpPr>
        <p:spPr bwMode="auto">
          <a:xfrm>
            <a:off x="43311" y="1311529"/>
            <a:ext cx="5065584" cy="2616101"/>
          </a:xfrm>
          <a:prstGeom prst="rect">
            <a:avLst/>
          </a:prstGeom>
          <a:solidFill>
            <a:srgbClr val="CCFFCC">
              <a:alpha val="48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亚共析钢的</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图中出现了铁素体析出区，随着冷速的增大，铁素体析出量越来越少直至为零。</a:t>
            </a: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亚共析钢</a:t>
            </a:r>
            <a:r>
              <a:rPr kumimoji="1" lang="zh-CN" altLang="en-US" sz="20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的奥氏体在一定冷速范围内连续冷却时，可以形成贝氏体</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。在贝氏体转变区，出现</a:t>
            </a:r>
            <a:r>
              <a:rPr kumimoji="1" lang="en-US" altLang="zh-CN" sz="2000" b="1" i="0" u="none" strike="noStrike" kern="0" cap="none" spc="0" normalizeH="0" baseline="0" noProof="0" dirty="0" err="1">
                <a:ln>
                  <a:noFill/>
                </a:ln>
                <a:solidFill>
                  <a:srgbClr val="FF3300"/>
                </a:solidFill>
                <a:effectLst/>
                <a:uLnTx/>
                <a:uFillTx/>
                <a:latin typeface="Times New Roman" panose="02020603050405020304" pitchFamily="18" charset="0"/>
                <a:ea typeface="宋体" panose="02010600030101010101" pitchFamily="2" charset="-122"/>
              </a:rPr>
              <a:t>Ms</a:t>
            </a:r>
            <a:r>
              <a:rPr kumimoji="1" lang="zh-CN" altLang="en-US" sz="20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线右端向下倾斜的现象</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，这是由于亚共析钢中析出</a:t>
            </a: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贝氏铁素体</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后，使未转变的奥氏体中碳含量有所增高，以致</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温度下降</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8" name="Picture 5" descr="t601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01222" y="1311529"/>
            <a:ext cx="3899497" cy="55464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ext Box 1027"/>
          <p:cNvSpPr txBox="1">
            <a:spLocks noChangeArrowheads="1"/>
          </p:cNvSpPr>
          <p:nvPr/>
        </p:nvSpPr>
        <p:spPr bwMode="auto">
          <a:xfrm>
            <a:off x="30944" y="4350881"/>
            <a:ext cx="4969643" cy="2246769"/>
          </a:xfrm>
          <a:prstGeom prst="rect">
            <a:avLst/>
          </a:prstGeom>
          <a:solidFill>
            <a:srgbClr val="0070C0">
              <a:alpha val="21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过共析钢</a:t>
            </a:r>
            <a:r>
              <a:rPr kumimoji="1" lang="zh-CN" altLang="en-US" sz="20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的</a:t>
            </a:r>
            <a:r>
              <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CT</a:t>
            </a:r>
            <a:r>
              <a:rPr kumimoji="1" lang="zh-CN" altLang="en-US" sz="20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图与</a:t>
            </a: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共析钢</a:t>
            </a:r>
            <a:r>
              <a:rPr kumimoji="1" lang="zh-CN" altLang="en-US" sz="20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相比极为相似，</a:t>
            </a: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也没有贝氏体形成区</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，所不同的是它有一条先共析渗碳体的析出线。另外，</a:t>
            </a:r>
            <a:r>
              <a:rPr kumimoji="1" lang="zh-CN" altLang="en-US" sz="20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其</a:t>
            </a:r>
            <a:r>
              <a:rPr kumimoji="1" lang="en-US" altLang="zh-CN" sz="2000" b="1" i="0" u="none" strike="noStrike" kern="0" cap="none" spc="0" normalizeH="0" baseline="0" noProof="0" dirty="0" err="1">
                <a:ln>
                  <a:noFill/>
                </a:ln>
                <a:solidFill>
                  <a:srgbClr val="3333CC"/>
                </a:solidFill>
                <a:effectLst/>
                <a:uLnTx/>
                <a:uFillTx/>
                <a:latin typeface="Times New Roman" panose="02020603050405020304" pitchFamily="18" charset="0"/>
                <a:ea typeface="宋体" panose="02010600030101010101" pitchFamily="2" charset="-122"/>
              </a:rPr>
              <a:t>Ms</a:t>
            </a:r>
            <a:r>
              <a:rPr kumimoji="1" lang="zh-CN" altLang="en-US" sz="20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线右端向上倾斜</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，这是由于过共析钢奥氏体在较慢的冷速下，</a:t>
            </a: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在马氏体转变前有碳化物析出或发生部分的珠光体转变，使其周围奥氏体贫碳</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，故使</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温度升高。</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第二节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图的基本类型）</a:t>
            </a:r>
          </a:p>
        </p:txBody>
      </p:sp>
      <p:sp>
        <p:nvSpPr>
          <p:cNvPr id="6" name="Text Box 8"/>
          <p:cNvSpPr txBox="1">
            <a:spLocks noChangeArrowheads="1"/>
          </p:cNvSpPr>
          <p:nvPr/>
        </p:nvSpPr>
        <p:spPr bwMode="auto">
          <a:xfrm>
            <a:off x="1719110" y="1484237"/>
            <a:ext cx="5377978" cy="46166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影响</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图的因素，对</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图也是适用的</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8" name="Picture 9" descr="t601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968090" y="2086591"/>
            <a:ext cx="5856493" cy="45454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ext Box 10"/>
          <p:cNvSpPr txBox="1">
            <a:spLocks noChangeArrowheads="1"/>
          </p:cNvSpPr>
          <p:nvPr/>
        </p:nvSpPr>
        <p:spPr bwMode="auto">
          <a:xfrm>
            <a:off x="113838" y="2132193"/>
            <a:ext cx="2854252" cy="445423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在应用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图时，也必须注意其标明的试验条件，如奥氏体化温度和晶粒度等是否与实际应用的条件相符，因条件不同，情况会有所差异</a:t>
            </a:r>
            <a:r>
              <a:rPr lang="zh-CN" altLang="en-US" sz="2400" b="1" kern="0" dirty="0">
                <a:solidFill>
                  <a:srgbClr val="000000"/>
                </a:solidFill>
                <a:latin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a:t>
            </a:r>
            <a:r>
              <a:rPr lang="zh-CN" altLang="en-US" sz="2400" b="1" dirty="0">
                <a:solidFill>
                  <a:srgbClr val="000000"/>
                </a:solidFill>
                <a:latin typeface="Arial" panose="020B0604020202020204"/>
                <a:ea typeface="幼圆" panose="02010509060101010101" charset="-122"/>
              </a:rPr>
              <a:t>三</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1027"/>
          <p:cNvSpPr txBox="1">
            <a:spLocks noChangeArrowheads="1"/>
          </p:cNvSpPr>
          <p:nvPr/>
        </p:nvSpPr>
        <p:spPr bwMode="auto">
          <a:xfrm>
            <a:off x="-1" y="1290955"/>
            <a:ext cx="9143365" cy="830997"/>
          </a:xfrm>
          <a:prstGeom prst="rect">
            <a:avLst/>
          </a:prstGeom>
          <a:noFill/>
          <a:ln w="1270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图均采用“温度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时间”半对数坐标，因此可以将两类图形叠绘在相同的坐标轴上，加以比较。  </a:t>
            </a:r>
          </a:p>
        </p:txBody>
      </p:sp>
      <p:sp>
        <p:nvSpPr>
          <p:cNvPr id="8" name="Text Box 1031"/>
          <p:cNvSpPr txBox="1">
            <a:spLocks noChangeArrowheads="1"/>
          </p:cNvSpPr>
          <p:nvPr/>
        </p:nvSpPr>
        <p:spPr bwMode="auto">
          <a:xfrm>
            <a:off x="152081" y="2649319"/>
            <a:ext cx="4419600" cy="3862596"/>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共析碳钢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图叠示于图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6-16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。由图可知，</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曲线位于</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曲线的右下</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方，这表明连续冷却时过冷奥氏体要在比等温转变时较低的温度并经历较长的时间才开始转变。</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aphicFrame>
        <p:nvGraphicFramePr>
          <p:cNvPr id="48134" name="Object 1032"/>
          <p:cNvGraphicFramePr>
            <a:graphicFrameLocks/>
          </p:cNvGraphicFramePr>
          <p:nvPr/>
        </p:nvGraphicFramePr>
        <p:xfrm>
          <a:off x="4871085" y="2236470"/>
          <a:ext cx="4050665" cy="4520565"/>
        </p:xfrm>
        <a:graphic>
          <a:graphicData uri="http://schemas.openxmlformats.org/presentationml/2006/ole">
            <p:oleObj spid="_x0000_s228353" r:id="rId4" imgW="6323810" imgH="7059010" progId="PBrush">
              <p:embed/>
            </p:oleObj>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a:t>
            </a:r>
            <a:r>
              <a:rPr lang="zh-CN" altLang="en-US" sz="2400" b="1" dirty="0">
                <a:solidFill>
                  <a:srgbClr val="000000"/>
                </a:solidFill>
                <a:latin typeface="Arial" panose="020B0604020202020204"/>
                <a:ea typeface="幼圆" panose="02010509060101010101" charset="-122"/>
              </a:rPr>
              <a:t>三</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endPar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Text Box 5"/>
          <p:cNvSpPr txBox="1">
            <a:spLocks noChangeArrowheads="1"/>
          </p:cNvSpPr>
          <p:nvPr/>
        </p:nvSpPr>
        <p:spPr bwMode="auto">
          <a:xfrm>
            <a:off x="-636" y="1290955"/>
            <a:ext cx="9143365" cy="313932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我们可以把连续冷却过程看成是由许多个在不同温度下的微小的等温过程组成的。在连续冷却曲线上，每一个微小的时间段</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30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都对应着某一个温度</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，而每一个温度</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又都对应着一定的孕育期</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30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。这样，在过冷奥氏体转变温度范围内任一温度</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2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下的</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30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30000" noProof="0" dirty="0" err="1">
                <a:ln>
                  <a:noFill/>
                </a:ln>
                <a:solidFill>
                  <a:srgbClr val="000000"/>
                </a:solidFill>
                <a:effectLst/>
                <a:uLnTx/>
                <a:uFillTx/>
                <a:latin typeface="Times New Roman" panose="02020603050405020304" pitchFamily="18" charset="0"/>
                <a:ea typeface="宋体" panose="02010600030101010101" pitchFamily="2" charset="-122"/>
              </a:rPr>
              <a:t>i</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即表示在该温度下的</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孕育作用或孕育分数</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图可知，在“鼻子”以上，</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在高温区每停留</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30000" noProof="0" dirty="0" err="1">
                <a:ln>
                  <a:noFill/>
                </a:ln>
                <a:solidFill>
                  <a:srgbClr val="FF0000"/>
                </a:solidFill>
                <a:effectLst/>
                <a:uLnTx/>
                <a:uFillTx/>
                <a:latin typeface="Times New Roman" panose="02020603050405020304" pitchFamily="18" charset="0"/>
                <a:ea typeface="宋体" panose="02010600030101010101" pitchFamily="2" charset="-122"/>
              </a:rPr>
              <a:t>i</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所起的孕育作用要比在低温区时小</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。只有当在一系列温度的孕育分数累计总和等于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时，才能完成孕育作用，使转变得以开始。因此，连续‘冷却时，转变前所经历的时间必定大于等温时转变前所需时间，从而使连续冷却时转变开始点总是处于冷却曲线与等温转变开始曲线交点的右下方。</a:t>
            </a:r>
          </a:p>
        </p:txBody>
      </p:sp>
      <p:pic>
        <p:nvPicPr>
          <p:cNvPr id="8" name="Picture 9" descr="t6014a"/>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50624" y="4393178"/>
            <a:ext cx="2941692" cy="24648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ext Box 10"/>
          <p:cNvSpPr txBox="1">
            <a:spLocks noChangeArrowheads="1"/>
          </p:cNvSpPr>
          <p:nvPr/>
        </p:nvSpPr>
        <p:spPr bwMode="auto">
          <a:xfrm>
            <a:off x="900374" y="4755003"/>
            <a:ext cx="3549877" cy="178510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由于两类转变图之间存在一定的差别，故简单地</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用</a:t>
            </a:r>
            <a:r>
              <a:rPr kumimoji="1" lang="en-US" altLang="zh-CN"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IT</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图来估计连续冷却转变过程是不够精确的</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，这一点必须注意。</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10" name="Text Box 9"/>
          <p:cNvSpPr txBox="1">
            <a:spLocks noChangeArrowheads="1"/>
          </p:cNvSpPr>
          <p:nvPr/>
        </p:nvSpPr>
        <p:spPr bwMode="auto">
          <a:xfrm>
            <a:off x="453005" y="1746251"/>
            <a:ext cx="8263957" cy="433965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ct val="50000"/>
              </a:spcBef>
              <a:spcAft>
                <a:spcPct val="0"/>
              </a:spcAft>
              <a:buClrTx/>
              <a:buSzTx/>
              <a:buFontTx/>
              <a:buNone/>
              <a:defRPr/>
            </a:pPr>
            <a:r>
              <a:rPr kumimoji="1" lang="en-US" altLang="zh-CN" sz="24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钢的</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IT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图与</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CT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图是合理制订热处理工艺规程和发展新的热处理工艺</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如形变热处理等</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的重要依据</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；对于分析研究各种钢材在不同热处理条件下的金相组织和机械性能，合理选用钢材等方面也有重要的参考作用，因此它在生产实践和科学研究方面应用较广，具有重要的实际意义。</a:t>
            </a: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8" name="Rectangle 2"/>
          <p:cNvSpPr txBox="1">
            <a:spLocks noChangeArrowheads="1"/>
          </p:cNvSpPr>
          <p:nvPr/>
        </p:nvSpPr>
        <p:spPr bwMode="auto">
          <a:xfrm>
            <a:off x="-1" y="1290955"/>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 (</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一</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确定淬火临界冷却速度</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en-US" altLang="zh-CN" sz="2400" b="0" i="0" u="none" strike="noStrike" kern="1200" cap="none" spc="0" normalizeH="0" baseline="0" noProof="0" dirty="0" err="1">
                <a:ln>
                  <a:noFill/>
                </a:ln>
                <a:solidFill>
                  <a:srgbClr val="000000"/>
                </a:solidFill>
                <a:effectLst/>
                <a:uLnTx/>
                <a:uFillTx/>
                <a:latin typeface="宋体" panose="02010600030101010101" pitchFamily="2" charset="-122"/>
                <a:ea typeface="宋体" panose="02010600030101010101" pitchFamily="2" charset="-122"/>
                <a:cs typeface="+mj-cs"/>
              </a:rPr>
              <a:t>Vc</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 </a:t>
            </a:r>
          </a:p>
        </p:txBody>
      </p:sp>
      <p:sp>
        <p:nvSpPr>
          <p:cNvPr id="9" name="Text Box 4"/>
          <p:cNvSpPr txBox="1">
            <a:spLocks noChangeArrowheads="1"/>
          </p:cNvSpPr>
          <p:nvPr/>
        </p:nvSpPr>
        <p:spPr bwMode="auto">
          <a:xfrm>
            <a:off x="0" y="1862356"/>
            <a:ext cx="9143364" cy="298389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在只有</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IT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图时确定</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淬火临界冷却速度</a:t>
            </a:r>
            <a:r>
              <a:rPr kumimoji="1" lang="en-US" altLang="zh-CN"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en-US" altLang="zh-CN" sz="2200" b="1"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rPr>
              <a:t>Vc</a:t>
            </a:r>
            <a:r>
              <a:rPr kumimoji="1" lang="en-US" altLang="zh-CN"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的方法</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如图</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6-18</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所示，在</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图上，先叠绘一条与</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曲线“鼻子”相切的冷却曲线</a:t>
            </a:r>
            <a:r>
              <a:rPr kumimoji="1" lang="en-US" altLang="zh-CN" sz="2200" b="1" i="0" u="none" strike="noStrike" kern="0" cap="none" spc="0" normalizeH="0" baseline="0" noProof="0" dirty="0" err="1">
                <a:ln>
                  <a:noFill/>
                </a:ln>
                <a:solidFill>
                  <a:srgbClr val="000000"/>
                </a:solidFill>
                <a:effectLst/>
                <a:uLnTx/>
                <a:uFillTx/>
                <a:latin typeface="宋体" panose="02010600030101010101" pitchFamily="2" charset="-122"/>
                <a:ea typeface="宋体" panose="02010600030101010101" pitchFamily="2" charset="-122"/>
              </a:rPr>
              <a:t>V</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0" noProof="0" dirty="0" err="1">
                <a:ln>
                  <a:noFill/>
                </a:ln>
                <a:solidFill>
                  <a:srgbClr val="000000"/>
                </a:solidFill>
                <a:effectLst/>
                <a:uLnTx/>
                <a:uFillTx/>
                <a:latin typeface="宋体" panose="02010600030101010101" pitchFamily="2" charset="-122"/>
                <a:ea typeface="宋体" panose="02010600030101010101" pitchFamily="2" charset="-122"/>
              </a:rPr>
              <a:t>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，由此得到从临界点</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a:t>
            </a:r>
            <a:r>
              <a:rPr kumimoji="1" lang="en-US" altLang="zh-CN" sz="2200" b="1" i="0" u="none" strike="noStrike" kern="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rPr>
              <a:t>1</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到“鼻子”温度</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t</a:t>
            </a:r>
            <a:r>
              <a:rPr kumimoji="1" lang="en-US" altLang="zh-CN" sz="2200" b="1" i="0" u="none" strike="noStrike" kern="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rPr>
              <a:t>m</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平均冷速</a:t>
            </a:r>
            <a:r>
              <a:rPr kumimoji="1" lang="en-US" altLang="zh-CN" sz="2200" b="1"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rPr>
              <a:t>V</a:t>
            </a:r>
            <a:r>
              <a:rPr kumimoji="1" lang="en-US" altLang="zh-CN" sz="22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25000" noProof="0" dirty="0" err="1">
                <a:ln>
                  <a:noFill/>
                </a:ln>
                <a:solidFill>
                  <a:srgbClr val="FF0000"/>
                </a:solidFill>
                <a:effectLst/>
                <a:uLnTx/>
                <a:uFillTx/>
                <a:latin typeface="宋体" panose="02010600030101010101" pitchFamily="2" charset="-122"/>
                <a:ea typeface="宋体" panose="02010600030101010101" pitchFamily="2" charset="-122"/>
              </a:rPr>
              <a:t>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a:t>
            </a:r>
            <a:endPar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p>
          <a:p>
            <a:pPr marL="0" marR="0" lvl="0" indent="0" algn="just" defTabSz="914400" eaLnBrk="1" fontAlgn="base" latinLnBrk="0" hangingPunct="1">
              <a:lnSpc>
                <a:spcPct val="100000"/>
              </a:lnSpc>
              <a:spcBef>
                <a:spcPct val="15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式中</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a:t>
            </a:r>
            <a:r>
              <a:rPr kumimoji="1" lang="en-US" altLang="zh-CN" sz="2200" b="1" i="0" u="none" strike="noStrike" kern="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rPr>
              <a:t>1</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钢的临界点</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ct val="15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t</a:t>
            </a:r>
            <a:r>
              <a:rPr kumimoji="1" lang="en-US" altLang="zh-CN" sz="2200" b="1" i="0" u="none" strike="noStrike" kern="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rPr>
              <a:t>m</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鼻尖处温度</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00000"/>
              </a:lnSpc>
              <a:spcBef>
                <a:spcPct val="15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rPr>
              <a:t>m</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鼻尖处的孕育期</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(s)</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p:txBody>
      </p:sp>
      <p:pic>
        <p:nvPicPr>
          <p:cNvPr id="11" name="Picture 9" descr="t601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975334" y="3203222"/>
            <a:ext cx="3066388" cy="3697825"/>
          </a:xfrm>
          <a:prstGeom prst="rect">
            <a:avLst/>
          </a:prstGeom>
          <a:noFill/>
          <a:ln>
            <a:noFill/>
          </a:ln>
        </p:spPr>
      </p:pic>
      <p:sp>
        <p:nvSpPr>
          <p:cNvPr id="12" name="Text Box 10"/>
          <p:cNvSpPr txBox="1">
            <a:spLocks noChangeArrowheads="1"/>
          </p:cNvSpPr>
          <p:nvPr/>
        </p:nvSpPr>
        <p:spPr bwMode="auto">
          <a:xfrm>
            <a:off x="-635" y="4897192"/>
            <a:ext cx="5874326" cy="1960808"/>
          </a:xfrm>
          <a:prstGeom prst="rect">
            <a:avLst/>
          </a:prstGeom>
          <a:noFill/>
          <a:ln w="1270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由于连续冷却时，其</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曲线总是位于</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曲线的右侧，其孕育期较长，故必须对该式进行修正。根据经验，需在分母上引入</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修正系数</a:t>
            </a:r>
            <a:r>
              <a:rPr kumimoji="1" lang="en-US" altLang="zh-CN"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1.5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，此时得到</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临界冷却速度</a:t>
            </a:r>
            <a:r>
              <a:rPr kumimoji="1" lang="en-US" altLang="zh-CN" sz="2200" b="1"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rPr>
              <a:t>Vc</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p>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临界冷却速度是选择淬火介质的主要依据</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p>
        </p:txBody>
      </p:sp>
      <p:graphicFrame>
        <p:nvGraphicFramePr>
          <p:cNvPr id="51205" name="Object 5"/>
          <p:cNvGraphicFramePr>
            <a:graphicFrameLocks/>
          </p:cNvGraphicFramePr>
          <p:nvPr/>
        </p:nvGraphicFramePr>
        <p:xfrm>
          <a:off x="3392170" y="3202940"/>
          <a:ext cx="2057400" cy="728663"/>
        </p:xfrm>
        <a:graphic>
          <a:graphicData uri="http://schemas.openxmlformats.org/presentationml/2006/ole">
            <p:oleObj spid="_x0000_s231426" r:id="rId6" imgW="1206500" imgH="431800" progId="Equation.3">
              <p:embed/>
            </p:oleObj>
          </a:graphicData>
        </a:graphic>
      </p:graphicFrame>
      <p:graphicFrame>
        <p:nvGraphicFramePr>
          <p:cNvPr id="51209" name="Object 7"/>
          <p:cNvGraphicFramePr>
            <a:graphicFrameLocks/>
          </p:cNvGraphicFramePr>
          <p:nvPr/>
        </p:nvGraphicFramePr>
        <p:xfrm>
          <a:off x="3858260" y="5843588"/>
          <a:ext cx="1890713" cy="681037"/>
        </p:xfrm>
        <a:graphic>
          <a:graphicData uri="http://schemas.openxmlformats.org/presentationml/2006/ole">
            <p:oleObj spid="_x0000_s231425" r:id="rId7" imgW="1193800" imgH="431800" progId="Equation.3">
              <p:embed/>
            </p:oleObj>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6" name="Rectangle 2"/>
          <p:cNvSpPr txBox="1">
            <a:spLocks noChangeArrowheads="1"/>
          </p:cNvSpPr>
          <p:nvPr/>
        </p:nvSpPr>
        <p:spPr bwMode="auto">
          <a:xfrm>
            <a:off x="-1" y="1290955"/>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二</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分析转变产物及性能 </a:t>
            </a:r>
            <a:endPar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endParaRPr>
          </a:p>
        </p:txBody>
      </p:sp>
      <p:sp>
        <p:nvSpPr>
          <p:cNvPr id="8" name="Text Box 4"/>
          <p:cNvSpPr txBox="1">
            <a:spLocks noChangeArrowheads="1"/>
          </p:cNvSpPr>
          <p:nvPr/>
        </p:nvSpPr>
        <p:spPr bwMode="auto">
          <a:xfrm>
            <a:off x="636" y="1933203"/>
            <a:ext cx="9143364" cy="871713"/>
          </a:xfrm>
          <a:prstGeom prst="rect">
            <a:avLst/>
          </a:prstGeom>
          <a:noFill/>
          <a:ln w="1270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图上可根据不同的冷却速度方便地得知可能得到的转变产物以及其机械性能</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如硬度等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p>
        </p:txBody>
      </p:sp>
      <p:sp>
        <p:nvSpPr>
          <p:cNvPr id="10" name="Text Box 8"/>
          <p:cNvSpPr txBox="1">
            <a:spLocks noChangeArrowheads="1"/>
          </p:cNvSpPr>
          <p:nvPr/>
        </p:nvSpPr>
        <p:spPr bwMode="auto">
          <a:xfrm>
            <a:off x="369148" y="2962275"/>
            <a:ext cx="4191000" cy="3706812"/>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若只有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图而无</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图时，</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可以利用</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图近似地推测出在连续冷却条件下，奥氏体的转变过程及其转变产物</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。其</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方法是把已知的</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冷却曲线</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叠绘在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曲线上</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，根据两者的交点便可粗略估计这种钢在某一冷却速度下的转变温度范围及其产物。</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aphicFrame>
        <p:nvGraphicFramePr>
          <p:cNvPr id="52228" name="Object 7"/>
          <p:cNvGraphicFramePr>
            <a:graphicFrameLocks/>
          </p:cNvGraphicFramePr>
          <p:nvPr/>
        </p:nvGraphicFramePr>
        <p:xfrm>
          <a:off x="4846320" y="2695575"/>
          <a:ext cx="4086225" cy="4239260"/>
        </p:xfrm>
        <a:graphic>
          <a:graphicData uri="http://schemas.openxmlformats.org/presentationml/2006/ole">
            <p:oleObj spid="_x0000_s234497" r:id="rId4" imgW="3048426" imgH="3161905" progId="PBrush">
              <p:embed/>
            </p:oleObj>
          </a:graphicData>
        </a:graphic>
      </p:graphicFrame>
      <p:grpSp>
        <p:nvGrpSpPr>
          <p:cNvPr id="4" name="组合 3"/>
          <p:cNvGrpSpPr/>
          <p:nvPr/>
        </p:nvGrpSpPr>
        <p:grpSpPr>
          <a:xfrm>
            <a:off x="5033394" y="2822480"/>
            <a:ext cx="3842158" cy="3986402"/>
            <a:chOff x="5033394" y="2822480"/>
            <a:chExt cx="3842158" cy="3986402"/>
          </a:xfrm>
        </p:grpSpPr>
        <p:grpSp>
          <p:nvGrpSpPr>
            <p:cNvPr id="2" name="组合 1"/>
            <p:cNvGrpSpPr/>
            <p:nvPr/>
          </p:nvGrpSpPr>
          <p:grpSpPr>
            <a:xfrm>
              <a:off x="6573671" y="3061981"/>
              <a:ext cx="1412649" cy="2558643"/>
              <a:chOff x="6573671" y="3061981"/>
              <a:chExt cx="1412649" cy="2558643"/>
            </a:xfrm>
          </p:grpSpPr>
          <p:sp>
            <p:nvSpPr>
              <p:cNvPr id="13" name="Line 9"/>
              <p:cNvSpPr>
                <a:spLocks noChangeShapeType="1"/>
              </p:cNvSpPr>
              <p:nvPr/>
            </p:nvSpPr>
            <p:spPr bwMode="auto">
              <a:xfrm>
                <a:off x="7438929" y="4333874"/>
                <a:ext cx="329277" cy="1286749"/>
              </a:xfrm>
              <a:prstGeom prst="line">
                <a:avLst/>
              </a:prstGeom>
              <a:noFill/>
              <a:ln w="9525">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4" name="Line 10"/>
              <p:cNvSpPr>
                <a:spLocks noChangeShapeType="1"/>
              </p:cNvSpPr>
              <p:nvPr/>
            </p:nvSpPr>
            <p:spPr bwMode="auto">
              <a:xfrm flipH="1" flipV="1">
                <a:off x="7160633" y="3611980"/>
                <a:ext cx="278296" cy="721895"/>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5" name="Line 12"/>
              <p:cNvSpPr>
                <a:spLocks noChangeShapeType="1"/>
              </p:cNvSpPr>
              <p:nvPr/>
            </p:nvSpPr>
            <p:spPr bwMode="auto">
              <a:xfrm flipH="1" flipV="1">
                <a:off x="6828638" y="3087148"/>
                <a:ext cx="331992" cy="524829"/>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6" name="Line 15"/>
              <p:cNvSpPr>
                <a:spLocks noChangeShapeType="1"/>
              </p:cNvSpPr>
              <p:nvPr/>
            </p:nvSpPr>
            <p:spPr bwMode="auto">
              <a:xfrm>
                <a:off x="7654830" y="4333875"/>
                <a:ext cx="331490" cy="1278360"/>
              </a:xfrm>
              <a:prstGeom prst="line">
                <a:avLst/>
              </a:prstGeom>
              <a:noFill/>
              <a:ln w="9525">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7" name="Line 16"/>
              <p:cNvSpPr>
                <a:spLocks noChangeShapeType="1"/>
              </p:cNvSpPr>
              <p:nvPr/>
            </p:nvSpPr>
            <p:spPr bwMode="auto">
              <a:xfrm flipH="1" flipV="1">
                <a:off x="7376533" y="3611980"/>
                <a:ext cx="278296" cy="721895"/>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8" name="Line 17"/>
              <p:cNvSpPr>
                <a:spLocks noChangeShapeType="1"/>
              </p:cNvSpPr>
              <p:nvPr/>
            </p:nvSpPr>
            <p:spPr bwMode="auto">
              <a:xfrm flipH="1" flipV="1">
                <a:off x="7063529" y="3078759"/>
                <a:ext cx="313001" cy="533218"/>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9" name="Line 19"/>
              <p:cNvSpPr>
                <a:spLocks noChangeShapeType="1"/>
              </p:cNvSpPr>
              <p:nvPr/>
            </p:nvSpPr>
            <p:spPr bwMode="auto">
              <a:xfrm>
                <a:off x="7223030" y="4333875"/>
                <a:ext cx="335452" cy="1286749"/>
              </a:xfrm>
              <a:prstGeom prst="line">
                <a:avLst/>
              </a:prstGeom>
              <a:noFill/>
              <a:ln w="9525">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0" name="Line 20"/>
              <p:cNvSpPr>
                <a:spLocks noChangeShapeType="1"/>
              </p:cNvSpPr>
              <p:nvPr/>
            </p:nvSpPr>
            <p:spPr bwMode="auto">
              <a:xfrm flipH="1" flipV="1">
                <a:off x="6944733" y="3611980"/>
                <a:ext cx="278296" cy="721895"/>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1" name="Line 21"/>
              <p:cNvSpPr>
                <a:spLocks noChangeShapeType="1"/>
              </p:cNvSpPr>
              <p:nvPr/>
            </p:nvSpPr>
            <p:spPr bwMode="auto">
              <a:xfrm flipH="1" flipV="1">
                <a:off x="6573671" y="3061981"/>
                <a:ext cx="371061" cy="549998"/>
              </a:xfrm>
              <a:prstGeom prst="line">
                <a:avLst/>
              </a:prstGeom>
              <a:noFill/>
              <a:ln w="9525">
                <a:solidFill>
                  <a:srgbClr val="FF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cstate="print"/>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6" name="Rectangle 2"/>
          <p:cNvSpPr txBox="1">
            <a:spLocks noChangeArrowheads="1"/>
          </p:cNvSpPr>
          <p:nvPr/>
        </p:nvSpPr>
        <p:spPr bwMode="auto">
          <a:xfrm>
            <a:off x="-1" y="1290955"/>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三</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确定工艺规程</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普通退火和等温退火</a:t>
            </a:r>
            <a:endPar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endParaRPr>
          </a:p>
        </p:txBody>
      </p:sp>
      <p:sp>
        <p:nvSpPr>
          <p:cNvPr id="8" name="Text Box 4"/>
          <p:cNvSpPr txBox="1">
            <a:spLocks noChangeArrowheads="1"/>
          </p:cNvSpPr>
          <p:nvPr/>
        </p:nvSpPr>
        <p:spPr bwMode="auto">
          <a:xfrm>
            <a:off x="311282" y="2234966"/>
            <a:ext cx="3991317" cy="405677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20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普通退火时，可借助于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图确定钢在慢冷时大致的转变温度范围和所需的冷却时间；等温退火时，可直接从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图上确定所需的等温温度和等温时间，并可估计出其应得的组织。</a:t>
            </a:r>
          </a:p>
        </p:txBody>
      </p:sp>
      <p:pic>
        <p:nvPicPr>
          <p:cNvPr id="9" name="Picture 46" descr="t601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361957" y="1966518"/>
            <a:ext cx="4264025" cy="44624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cstate="print"/>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6" name="Rectangle 2"/>
          <p:cNvSpPr txBox="1">
            <a:spLocks noChangeArrowheads="1"/>
          </p:cNvSpPr>
          <p:nvPr/>
        </p:nvSpPr>
        <p:spPr bwMode="auto">
          <a:xfrm>
            <a:off x="-1" y="1290955"/>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三</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确定工艺规程</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分级淬火</a:t>
            </a:r>
            <a:endPar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endParaRPr>
          </a:p>
        </p:txBody>
      </p:sp>
      <p:sp>
        <p:nvSpPr>
          <p:cNvPr id="8" name="Text Box 3"/>
          <p:cNvSpPr txBox="1">
            <a:spLocks noChangeArrowheads="1"/>
          </p:cNvSpPr>
          <p:nvPr/>
        </p:nvSpPr>
        <p:spPr bwMode="auto">
          <a:xfrm>
            <a:off x="182563" y="1997416"/>
            <a:ext cx="4191000" cy="4725524"/>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20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分级淬火是一种能减小淬火内应力，减少工件变形和避免开裂的淬火工艺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将奥氏体化后的钢件在</a:t>
            </a:r>
            <a:r>
              <a:rPr kumimoji="1" lang="en-US" altLang="zh-CN" sz="2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Ms</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点以上奥氏体较稳定的某一温度的浴槽中作适当停留，使钢件表面与心部的温差有所减小，然后从浴槽中取出空冷。</a:t>
            </a:r>
          </a:p>
        </p:txBody>
      </p:sp>
      <p:pic>
        <p:nvPicPr>
          <p:cNvPr id="9" name="Picture 5" descr="t6016a"/>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93126" y="1931304"/>
            <a:ext cx="3948113" cy="3986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 Box 6"/>
          <p:cNvSpPr txBox="1">
            <a:spLocks noChangeArrowheads="1"/>
          </p:cNvSpPr>
          <p:nvPr/>
        </p:nvSpPr>
        <p:spPr bwMode="auto">
          <a:xfrm>
            <a:off x="4701302" y="5894265"/>
            <a:ext cx="4191000" cy="828675"/>
          </a:xfrm>
          <a:prstGeom prst="rect">
            <a:avLst/>
          </a:prstGeom>
          <a:solidFill>
            <a:srgbClr val="92D050"/>
          </a:solid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根据</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图可以</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估计钢件在浴槽中需停留的时间</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6" name="Rectangle 2"/>
          <p:cNvSpPr txBox="1">
            <a:spLocks noChangeArrowheads="1"/>
          </p:cNvSpPr>
          <p:nvPr/>
        </p:nvSpPr>
        <p:spPr bwMode="auto">
          <a:xfrm>
            <a:off x="-1" y="1290955"/>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三</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确定工艺规程</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等温</a:t>
            </a:r>
            <a:r>
              <a:rPr lang="zh-CN" altLang="en-US" sz="2400" dirty="0">
                <a:solidFill>
                  <a:srgbClr val="000000"/>
                </a:solidFill>
                <a:latin typeface="宋体" panose="02010600030101010101" pitchFamily="2" charset="-122"/>
                <a:ea typeface="宋体" panose="02010600030101010101" pitchFamily="2" charset="-122"/>
              </a:rPr>
              <a:t>淬火</a:t>
            </a:r>
            <a:endPar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endParaRPr>
          </a:p>
        </p:txBody>
      </p:sp>
      <p:sp>
        <p:nvSpPr>
          <p:cNvPr id="8" name="Text Box 3"/>
          <p:cNvSpPr txBox="1">
            <a:spLocks noChangeArrowheads="1"/>
          </p:cNvSpPr>
          <p:nvPr/>
        </p:nvSpPr>
        <p:spPr bwMode="auto">
          <a:xfrm>
            <a:off x="0" y="6400354"/>
            <a:ext cx="9144000" cy="434350"/>
          </a:xfrm>
          <a:prstGeom prst="rect">
            <a:avLst/>
          </a:prstGeom>
          <a:solidFill>
            <a:srgbClr val="92D050"/>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可根据</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图确定等温的温度范围及时间。   </a:t>
            </a:r>
          </a:p>
        </p:txBody>
      </p:sp>
      <p:pic>
        <p:nvPicPr>
          <p:cNvPr id="9" name="Picture 6" descr="t601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162248" y="1923494"/>
            <a:ext cx="4168775" cy="4381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6" name="Text Box 5"/>
          <p:cNvSpPr txBox="1">
            <a:spLocks noChangeArrowheads="1"/>
          </p:cNvSpPr>
          <p:nvPr/>
        </p:nvSpPr>
        <p:spPr bwMode="auto">
          <a:xfrm>
            <a:off x="636" y="1887861"/>
            <a:ext cx="9143364" cy="1551579"/>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它是将压力加工与热处理相结合施行综合强化的一种工艺，可分为</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高温形变热处理</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和</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低温形变热处理</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。根据等温转变图可以确定形变的温度和时间。</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8" name="Rectangle 2"/>
          <p:cNvSpPr txBox="1">
            <a:spLocks noChangeArrowheads="1"/>
          </p:cNvSpPr>
          <p:nvPr/>
        </p:nvSpPr>
        <p:spPr bwMode="auto">
          <a:xfrm>
            <a:off x="635" y="1283732"/>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三</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确定工艺规程</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形变热处理</a:t>
            </a:r>
            <a:endPar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endParaRPr>
          </a:p>
        </p:txBody>
      </p:sp>
      <p:pic>
        <p:nvPicPr>
          <p:cNvPr id="4" name="图片 3"/>
          <p:cNvPicPr>
            <a:picLocks noChangeAspect="1"/>
          </p:cNvPicPr>
          <p:nvPr/>
        </p:nvPicPr>
        <p:blipFill>
          <a:blip r:embed="rId3" cstate="print">
            <a:extLst>
              <a:ext uri="{BEBA8EAE-BF5A-486C-A8C5-ECC9F3942E4B}">
                <a14:imgProps xmlns:a14="http://schemas.microsoft.com/office/drawing/2010/main" xmlns="">
                  <a14:imgLayer r:embed="rId4">
                    <a14:imgEffect>
                      <a14:brightnessContrast contrast="40000"/>
                    </a14:imgEffect>
                  </a14:imgLayer>
                </a14:imgProps>
              </a:ext>
            </a:extLst>
          </a:blip>
          <a:stretch>
            <a:fillRect/>
          </a:stretch>
        </p:blipFill>
        <p:spPr>
          <a:xfrm>
            <a:off x="-635" y="3660818"/>
            <a:ext cx="2928393" cy="2936832"/>
          </a:xfrm>
          <a:prstGeom prst="rect">
            <a:avLst/>
          </a:prstGeom>
        </p:spPr>
      </p:pic>
      <p:pic>
        <p:nvPicPr>
          <p:cNvPr id="9" name="图片 8"/>
          <p:cNvPicPr>
            <a:picLocks noChangeAspect="1"/>
          </p:cNvPicPr>
          <p:nvPr/>
        </p:nvPicPr>
        <p:blipFill>
          <a:blip r:embed="rId5" cstate="print">
            <a:extLst>
              <a:ext uri="{BEBA8EAE-BF5A-486C-A8C5-ECC9F3942E4B}">
                <a14:imgProps xmlns:a14="http://schemas.microsoft.com/office/drawing/2010/main" xmlns="">
                  <a14:imgLayer r:embed="rId6">
                    <a14:imgEffect>
                      <a14:brightnessContrast contrast="51000"/>
                    </a14:imgEffect>
                  </a14:imgLayer>
                </a14:imgProps>
              </a:ext>
            </a:extLst>
          </a:blip>
          <a:stretch>
            <a:fillRect/>
          </a:stretch>
        </p:blipFill>
        <p:spPr>
          <a:xfrm>
            <a:off x="2927758" y="3604623"/>
            <a:ext cx="3066963" cy="2880349"/>
          </a:xfrm>
          <a:prstGeom prst="rect">
            <a:avLst/>
          </a:prstGeom>
        </p:spPr>
      </p:pic>
      <p:pic>
        <p:nvPicPr>
          <p:cNvPr id="11" name="图片 10"/>
          <p:cNvPicPr>
            <a:picLocks noChangeAspect="1"/>
          </p:cNvPicPr>
          <p:nvPr/>
        </p:nvPicPr>
        <p:blipFill>
          <a:blip r:embed="rId7" cstate="print">
            <a:extLst>
              <a:ext uri="{BEBA8EAE-BF5A-486C-A8C5-ECC9F3942E4B}">
                <a14:imgProps xmlns:a14="http://schemas.microsoft.com/office/drawing/2010/main" xmlns="">
                  <a14:imgLayer r:embed="rId8">
                    <a14:imgEffect>
                      <a14:brightnessContrast contrast="40000"/>
                    </a14:imgEffect>
                  </a14:imgLayer>
                </a14:imgProps>
              </a:ext>
            </a:extLst>
          </a:blip>
          <a:stretch>
            <a:fillRect/>
          </a:stretch>
        </p:blipFill>
        <p:spPr>
          <a:xfrm>
            <a:off x="5881106" y="3860415"/>
            <a:ext cx="3162226" cy="27914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6" name="Rectangle 2"/>
          <p:cNvSpPr txBox="1">
            <a:spLocks noChangeArrowheads="1"/>
          </p:cNvSpPr>
          <p:nvPr/>
        </p:nvSpPr>
        <p:spPr bwMode="auto">
          <a:xfrm>
            <a:off x="635" y="1283732"/>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四</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根据试棒直径由</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CT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图确定其应有的显微组织</a:t>
            </a:r>
            <a:endPar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endParaRPr>
          </a:p>
        </p:txBody>
      </p:sp>
      <p:sp>
        <p:nvSpPr>
          <p:cNvPr id="8" name="Text Box 5"/>
          <p:cNvSpPr txBox="1">
            <a:spLocks noChangeArrowheads="1"/>
          </p:cNvSpPr>
          <p:nvPr/>
        </p:nvSpPr>
        <p:spPr bwMode="auto">
          <a:xfrm>
            <a:off x="266382" y="1958773"/>
            <a:ext cx="8610600" cy="461581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新</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图是以温度为纵坐标，以棒材直径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代替时间</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为横坐标，称为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改型</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根据</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改型</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图</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可以确定大量工业用钢在空冷、油冷和水冷条件下，某一已知直径的棒材中心将得到的组织。对于每个钢的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图，都附有相应的棒材直径与硬度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有时为回火后的硬度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的关系。对应于获得马氏体或半马氏体硬度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从而可以判断其组织</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的棒材直径代表钢的淬透性，亦即表示钢在淬火时能获得马氏体组织的能力。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742951"/>
            <a:ext cx="9143365" cy="611505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endParaRPr>
          </a:p>
        </p:txBody>
      </p:sp>
      <p:sp>
        <p:nvSpPr>
          <p:cNvPr id="10242" name="Rectangle 2"/>
          <p:cNvSpPr>
            <a:spLocks noGrp="1" noRot="1" noChangeArrowheads="1"/>
          </p:cNvSpPr>
          <p:nvPr>
            <p:ph type="title"/>
          </p:nvPr>
        </p:nvSpPr>
        <p:spPr>
          <a:xfrm>
            <a:off x="755650" y="260350"/>
            <a:ext cx="6562725" cy="503238"/>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2563" y="188913"/>
            <a:ext cx="568325"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p:nvPr/>
        </p:nvSpPr>
        <p:spPr bwMode="auto">
          <a:xfrm>
            <a:off x="635" y="742950"/>
            <a:ext cx="9143365" cy="5480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457200" rtl="0" eaLnBrk="1" fontAlgn="base"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第三节 </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图的比较和应用</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IT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图和</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CT</a:t>
            </a:r>
            <a:r>
              <a:rPr kumimoji="0" lang="zh-CN" altLang="en-US" sz="24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图的应用）</a:t>
            </a:r>
          </a:p>
        </p:txBody>
      </p:sp>
      <p:sp>
        <p:nvSpPr>
          <p:cNvPr id="8" name="Rectangle 2"/>
          <p:cNvSpPr txBox="1">
            <a:spLocks noChangeArrowheads="1"/>
          </p:cNvSpPr>
          <p:nvPr/>
        </p:nvSpPr>
        <p:spPr bwMode="auto">
          <a:xfrm>
            <a:off x="635" y="1283732"/>
            <a:ext cx="9143365" cy="571401"/>
          </a:xfrm>
          <a:prstGeom prst="rect">
            <a:avLst/>
          </a:prstGeom>
          <a:solidFill>
            <a:srgbClr val="0070C0">
              <a:alpha val="52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四</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根据试棒直径由</a:t>
            </a:r>
            <a:r>
              <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CT</a:t>
            </a:r>
            <a:r>
              <a:rPr kumimoji="1"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rPr>
              <a:t>图确定其应有的显微组织</a:t>
            </a:r>
            <a:endParaRPr kumimoji="1"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j-cs"/>
            </a:endParaRPr>
          </a:p>
        </p:txBody>
      </p:sp>
      <p:pic>
        <p:nvPicPr>
          <p:cNvPr id="9" name="Picture 7" descr="t601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129293" y="1988774"/>
            <a:ext cx="4887713" cy="47355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 Box 6"/>
          <p:cNvSpPr txBox="1">
            <a:spLocks noChangeArrowheads="1"/>
          </p:cNvSpPr>
          <p:nvPr/>
        </p:nvSpPr>
        <p:spPr bwMode="auto">
          <a:xfrm>
            <a:off x="92916" y="2153197"/>
            <a:ext cx="3943461" cy="441412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棒材直径为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10mm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时，表示空冷的虚线通过了</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曲线的某一部位，可看出该棒材中心将得到铁素体、珠光体和少量贝氏体。如棒材直径仍为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10mm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，油冷可得到贝氏体和马氏体，水冷则可得到马氏体。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hhMWU0ZDhjYjMyM2RmMjZiNDg5YTllMzE3Mjg5MTEifQ=="/>
  <p:tag name="commondata" val="eyJoZGlkIjoiNTE1YmQyZTBlYzY2NDJhNmNlNTliZTQzZTY4Zjg5NDkifQ=="/>
</p:tagLst>
</file>

<file path=ppt/theme/theme1.xml><?xml version="1.0" encoding="utf-8"?>
<a:theme xmlns:a="http://schemas.openxmlformats.org/drawingml/2006/main" name="1_A000120150209A02PWBG">
  <a:themeElements>
    <a:clrScheme name="A000120150209A02PWBG 1">
      <a:dk1>
        <a:srgbClr val="5F5F5F"/>
      </a:dk1>
      <a:lt1>
        <a:srgbClr val="FFFFFF"/>
      </a:lt1>
      <a:dk2>
        <a:srgbClr val="5F5F5F"/>
      </a:dk2>
      <a:lt2>
        <a:srgbClr val="FFFFFF"/>
      </a:lt2>
      <a:accent1>
        <a:srgbClr val="83B40D"/>
      </a:accent1>
      <a:accent2>
        <a:srgbClr val="C5D12F"/>
      </a:accent2>
      <a:accent3>
        <a:srgbClr val="FFFFFF"/>
      </a:accent3>
      <a:accent4>
        <a:srgbClr val="505050"/>
      </a:accent4>
      <a:accent5>
        <a:srgbClr val="C1D6AA"/>
      </a:accent5>
      <a:accent6>
        <a:srgbClr val="B2BD2A"/>
      </a:accent6>
      <a:hlink>
        <a:srgbClr val="00B0F0"/>
      </a:hlink>
      <a:folHlink>
        <a:srgbClr val="AFB2B4"/>
      </a:folHlink>
    </a:clrScheme>
    <a:fontScheme name="A000120150209A02PWBG">
      <a:majorFont>
        <a:latin typeface="Arial Black"/>
        <a:ea typeface="微软雅黑"/>
        <a:cs typeface=""/>
      </a:majorFont>
      <a:minorFont>
        <a:latin typeface="Arial"/>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209A02PWBG 1">
        <a:dk1>
          <a:srgbClr val="5F5F5F"/>
        </a:dk1>
        <a:lt1>
          <a:srgbClr val="FFFFFF"/>
        </a:lt1>
        <a:dk2>
          <a:srgbClr val="5F5F5F"/>
        </a:dk2>
        <a:lt2>
          <a:srgbClr val="FFFFFF"/>
        </a:lt2>
        <a:accent1>
          <a:srgbClr val="83B40D"/>
        </a:accent1>
        <a:accent2>
          <a:srgbClr val="C5D12F"/>
        </a:accent2>
        <a:accent3>
          <a:srgbClr val="FFFFFF"/>
        </a:accent3>
        <a:accent4>
          <a:srgbClr val="505050"/>
        </a:accent4>
        <a:accent5>
          <a:srgbClr val="C1D6AA"/>
        </a:accent5>
        <a:accent6>
          <a:srgbClr val="B2BD2A"/>
        </a:accent6>
        <a:hlink>
          <a:srgbClr val="00B0F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2_A000120150209A02PWBG">
  <a:themeElements>
    <a:clrScheme name="A000120150209A02PWBG 1">
      <a:dk1>
        <a:srgbClr val="5F5F5F"/>
      </a:dk1>
      <a:lt1>
        <a:srgbClr val="FFFFFF"/>
      </a:lt1>
      <a:dk2>
        <a:srgbClr val="5F5F5F"/>
      </a:dk2>
      <a:lt2>
        <a:srgbClr val="FFFFFF"/>
      </a:lt2>
      <a:accent1>
        <a:srgbClr val="83B40D"/>
      </a:accent1>
      <a:accent2>
        <a:srgbClr val="C5D12F"/>
      </a:accent2>
      <a:accent3>
        <a:srgbClr val="FFFFFF"/>
      </a:accent3>
      <a:accent4>
        <a:srgbClr val="505050"/>
      </a:accent4>
      <a:accent5>
        <a:srgbClr val="C1D6AA"/>
      </a:accent5>
      <a:accent6>
        <a:srgbClr val="B2BD2A"/>
      </a:accent6>
      <a:hlink>
        <a:srgbClr val="00B0F0"/>
      </a:hlink>
      <a:folHlink>
        <a:srgbClr val="AFB2B4"/>
      </a:folHlink>
    </a:clrScheme>
    <a:fontScheme name="A000120150209A02PWBG">
      <a:majorFont>
        <a:latin typeface="Arial Black"/>
        <a:ea typeface="微软雅黑"/>
        <a:cs typeface=""/>
      </a:majorFont>
      <a:minorFont>
        <a:latin typeface="Arial"/>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209A02PWBG 1">
        <a:dk1>
          <a:srgbClr val="5F5F5F"/>
        </a:dk1>
        <a:lt1>
          <a:srgbClr val="FFFFFF"/>
        </a:lt1>
        <a:dk2>
          <a:srgbClr val="5F5F5F"/>
        </a:dk2>
        <a:lt2>
          <a:srgbClr val="FFFFFF"/>
        </a:lt2>
        <a:accent1>
          <a:srgbClr val="83B40D"/>
        </a:accent1>
        <a:accent2>
          <a:srgbClr val="C5D12F"/>
        </a:accent2>
        <a:accent3>
          <a:srgbClr val="FFFFFF"/>
        </a:accent3>
        <a:accent4>
          <a:srgbClr val="505050"/>
        </a:accent4>
        <a:accent5>
          <a:srgbClr val="C1D6AA"/>
        </a:accent5>
        <a:accent6>
          <a:srgbClr val="B2BD2A"/>
        </a:accent6>
        <a:hlink>
          <a:srgbClr val="00B0F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15387</Words>
  <Application>Microsoft Office PowerPoint</Application>
  <PresentationFormat>全屏显示(4:3)</PresentationFormat>
  <Paragraphs>704</Paragraphs>
  <Slides>127</Slides>
  <Notes>80</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127</vt:i4>
      </vt:variant>
    </vt:vector>
  </HeadingPairs>
  <TitlesOfParts>
    <vt:vector size="130" baseType="lpstr">
      <vt:lpstr>1_A000120150209A02PWBG</vt:lpstr>
      <vt:lpstr>2_A000120150209A02PWBG</vt:lpstr>
      <vt:lpstr>Microsoft 公式 3.0</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university of mining &amp; technology, beijing</dc:title>
  <dc:creator>马 峰</dc:creator>
  <cp:lastModifiedBy>xt256.com</cp:lastModifiedBy>
  <cp:revision>135</cp:revision>
  <dcterms:created xsi:type="dcterms:W3CDTF">2022-07-07T04:27:00Z</dcterms:created>
  <dcterms:modified xsi:type="dcterms:W3CDTF">2024-11-26T01:27:47Z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270F3A5C1D2743C9B2DD97C7A55DF579</vt:lpwstr>
  </property>
  <property fmtid="{D5CDD505-2E9C-101B-9397-08002B2CF9AE}" pid="3" name="KSOProductBuildVer">
    <vt:lpwstr>2052-12.1.0.16120</vt:lpwstr>
  </property>
</Properties>
</file>