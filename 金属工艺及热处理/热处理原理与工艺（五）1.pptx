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wdp" ContentType="image/vnd.ms-photo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42" r:id="rId2"/>
    <p:sldId id="443" r:id="rId3"/>
    <p:sldId id="444" r:id="rId4"/>
    <p:sldId id="445" r:id="rId5"/>
    <p:sldId id="448" r:id="rId6"/>
    <p:sldId id="449" r:id="rId7"/>
    <p:sldId id="450" r:id="rId8"/>
    <p:sldId id="451" r:id="rId9"/>
    <p:sldId id="453" r:id="rId10"/>
    <p:sldId id="454" r:id="rId11"/>
    <p:sldId id="455" r:id="rId12"/>
    <p:sldId id="456" r:id="rId13"/>
    <p:sldId id="457" r:id="rId14"/>
    <p:sldId id="458" r:id="rId15"/>
    <p:sldId id="459" r:id="rId16"/>
    <p:sldId id="461" r:id="rId17"/>
    <p:sldId id="460" r:id="rId18"/>
    <p:sldId id="463" r:id="rId19"/>
    <p:sldId id="462" r:id="rId20"/>
    <p:sldId id="464" r:id="rId21"/>
    <p:sldId id="465" r:id="rId22"/>
    <p:sldId id="466" r:id="rId23"/>
    <p:sldId id="467" r:id="rId24"/>
    <p:sldId id="468" r:id="rId25"/>
    <p:sldId id="469" r:id="rId26"/>
    <p:sldId id="470" r:id="rId27"/>
    <p:sldId id="471" r:id="rId28"/>
    <p:sldId id="472" r:id="rId29"/>
    <p:sldId id="473" r:id="rId30"/>
    <p:sldId id="474" r:id="rId31"/>
    <p:sldId id="475" r:id="rId32"/>
    <p:sldId id="476" r:id="rId33"/>
    <p:sldId id="477" r:id="rId34"/>
    <p:sldId id="478" r:id="rId35"/>
    <p:sldId id="479" r:id="rId36"/>
    <p:sldId id="480" r:id="rId37"/>
    <p:sldId id="481" r:id="rId38"/>
    <p:sldId id="482" r:id="rId39"/>
    <p:sldId id="483" r:id="rId40"/>
    <p:sldId id="484" r:id="rId41"/>
    <p:sldId id="485" r:id="rId42"/>
    <p:sldId id="486" r:id="rId43"/>
    <p:sldId id="487" r:id="rId44"/>
    <p:sldId id="488" r:id="rId45"/>
    <p:sldId id="489" r:id="rId46"/>
    <p:sldId id="490" r:id="rId47"/>
    <p:sldId id="491" r:id="rId48"/>
    <p:sldId id="492" r:id="rId49"/>
    <p:sldId id="493" r:id="rId50"/>
    <p:sldId id="494" r:id="rId51"/>
    <p:sldId id="495" r:id="rId52"/>
    <p:sldId id="497" r:id="rId53"/>
    <p:sldId id="496" r:id="rId54"/>
    <p:sldId id="498" r:id="rId55"/>
    <p:sldId id="499" r:id="rId56"/>
    <p:sldId id="500" r:id="rId57"/>
    <p:sldId id="501" r:id="rId58"/>
    <p:sldId id="502" r:id="rId59"/>
    <p:sldId id="503" r:id="rId60"/>
    <p:sldId id="504" r:id="rId61"/>
    <p:sldId id="505" r:id="rId62"/>
    <p:sldId id="506" r:id="rId63"/>
    <p:sldId id="507" r:id="rId64"/>
    <p:sldId id="508" r:id="rId65"/>
    <p:sldId id="509" r:id="rId66"/>
    <p:sldId id="510" r:id="rId67"/>
    <p:sldId id="511" r:id="rId68"/>
    <p:sldId id="512" r:id="rId69"/>
    <p:sldId id="513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-179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F22A6C-1DEC-4651-A3BA-6F9453671007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59B517-5F82-415F-B6E9-65F6BF8B50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29476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A553CB-9BA7-4452-A0DF-46E126B5DF80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327ECB-4351-48C8-8A82-A23924E0048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424888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ED1695-194D-4733-AC71-7F041CE67500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43904-2BD3-4761-9F8A-05580BD6B69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554525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46B20C-18F4-4D3D-BEC1-51A572521E1A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87C727-B887-4D91-BB77-68C01B3E8E3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35040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C3464C-9712-439C-AD62-C6C2CBB0298D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6B798A-DBA9-418D-9CFB-D9F00E13162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249138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9CACF7-20E2-4AE2-9E00-9785F22AA062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16046-CE74-4B58-B250-9779910FB095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9907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6EA13B-1B92-47CD-9F03-F5585F6DCDCE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3A88B-5D4D-44C4-B766-193B174ECCF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61759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29172D-D032-41A7-9496-8C37644C8582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481E7F-C05B-4875-B2CB-BCA16BFDCF44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88768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2459CA-DD8D-46C6-8CE7-4A2E689D3E25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547847-27DF-4F00-A1BF-D12BFC92A2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35165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B4FF78-1E68-4D86-852C-B2C91A53AA4B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ACE223-E8D2-497C-BA76-539148630A7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253104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D4F09A-8979-4F42-B0E1-7A1DC01BAD30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85D40D-28CC-4043-8B5D-6DADA90290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3547437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ED4F09A-8979-4F42-B0E1-7A1DC01BAD30}" type="datetime1">
              <a:rPr lang="zh-CN" altLang="en-US" smtClean="0"/>
              <a:pPr>
                <a:defRPr/>
              </a:pPr>
              <a:t>2024/12/20 Friday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85D40D-28CC-4043-8B5D-6DADA90290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="" xmlns:p14="http://schemas.microsoft.com/office/powerpoint/2010/main" val="182051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http://www.5822.com/com/wanlog/small/cp_cn_10851.jpg" TargetMode="External"/><Relationship Id="rId5" Type="http://schemas.openxmlformats.org/officeDocument/2006/relationships/image" Target="../media/image5.jpeg"/><Relationship Id="rId4" Type="http://schemas.openxmlformats.org/officeDocument/2006/relationships/image" Target="http://www.5822.com/com/wanlog/small/cp_cn_10872.jpg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A6%BB%E5%AD%90%E5%8C%96%E5%AD%A6%E7%83%AD%E5%A4%84%E7%90%86/1066298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8%A1%A8%E9%9D%A2%E7%83%AD%E5%A4%84%E7%90%86/5888229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hyperlink" Target="https://baike.baidu.com/item/%E4%B8%89%E4%B9%99%E9%86%87%E8%83%BA/10982214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68314" y="1147769"/>
            <a:ext cx="8496300" cy="5184775"/>
          </a:xfrm>
        </p:spPr>
        <p:txBody>
          <a:bodyPr/>
          <a:lstStyle/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7200" b="1">
                <a:solidFill>
                  <a:srgbClr val="0070C0"/>
                </a:solidFill>
                <a:ea typeface="华文行楷" panose="02010800040101010101" pitchFamily="2" charset="-122"/>
              </a:rPr>
              <a:t>金属热处理原理</a:t>
            </a:r>
            <a:endParaRPr lang="en-US" altLang="zh-CN" sz="7200" b="1">
              <a:solidFill>
                <a:srgbClr val="0070C0"/>
              </a:solidFill>
              <a:ea typeface="华文行楷" panose="02010800040101010101" pitchFamily="2" charset="-122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sz="7200" b="1">
                <a:solidFill>
                  <a:srgbClr val="0070C0"/>
                </a:solidFill>
                <a:ea typeface="华文行楷" panose="02010800040101010101" pitchFamily="2" charset="-122"/>
              </a:rPr>
              <a:t>与工艺</a:t>
            </a:r>
            <a:endParaRPr lang="zh-CN" altLang="en-US" b="1">
              <a:solidFill>
                <a:srgbClr val="0070C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endParaRPr lang="en-US" altLang="zh-CN" b="1">
              <a:solidFill>
                <a:srgbClr val="0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b="1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马  峰</a:t>
            </a: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b="1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中国矿业大学（北京）</a:t>
            </a:r>
          </a:p>
          <a:p>
            <a:pPr algn="ctr" eaLnBrk="1" hangingPunct="1">
              <a:buFont typeface="Wingdings 2" panose="05020102010507070707" pitchFamily="18" charset="2"/>
              <a:buNone/>
            </a:pPr>
            <a:r>
              <a:rPr lang="zh-CN" altLang="en-US" b="1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20</a:t>
            </a:r>
            <a:r>
              <a:rPr lang="en-US" altLang="zh-CN" b="1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22</a:t>
            </a:r>
            <a:r>
              <a:rPr lang="zh-CN" altLang="en-US" b="1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.</a:t>
            </a:r>
            <a:r>
              <a:rPr lang="en-US" altLang="zh-CN" b="1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7</a:t>
            </a:r>
            <a:endParaRPr lang="zh-CN" altLang="en-US" b="1">
              <a:solidFill>
                <a:srgbClr val="0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zh-CN" altLang="en-US" b="1">
                <a:solidFill>
                  <a:srgbClr val="0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           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zh-CN" altLang="en-US" b="1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zh-CN" altLang="en-US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5124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矩形 2"/>
          <p:cNvSpPr>
            <a:spLocks noChangeArrowheads="1"/>
          </p:cNvSpPr>
          <p:nvPr/>
        </p:nvSpPr>
        <p:spPr bwMode="auto">
          <a:xfrm>
            <a:off x="0" y="5759453"/>
            <a:ext cx="9144000" cy="1098551"/>
          </a:xfrm>
          <a:prstGeom prst="rect">
            <a:avLst/>
          </a:prstGeom>
          <a:solidFill>
            <a:srgbClr val="0070C0">
              <a:alpha val="32156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办公室：民族楼</a:t>
            </a:r>
            <a:r>
              <a:rPr lang="en-US" altLang="zh-CN">
                <a:solidFill>
                  <a:srgbClr val="000000"/>
                </a:solidFill>
              </a:rPr>
              <a:t>237</a:t>
            </a:r>
          </a:p>
          <a:p>
            <a:pPr algn="ctr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    电    话：</a:t>
            </a:r>
            <a:r>
              <a:rPr lang="en-US" altLang="zh-CN">
                <a:solidFill>
                  <a:srgbClr val="000000"/>
                </a:solidFill>
              </a:rPr>
              <a:t>13811861612</a:t>
            </a:r>
          </a:p>
          <a:p>
            <a:pPr algn="ctr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000000"/>
                </a:solidFill>
              </a:rPr>
              <a:t>            E-mail:maf@cumtb.edu.cn</a:t>
            </a:r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矩形 1"/>
          <p:cNvSpPr>
            <a:spLocks noChangeArrowheads="1"/>
          </p:cNvSpPr>
          <p:nvPr/>
        </p:nvSpPr>
        <p:spPr bwMode="auto">
          <a:xfrm>
            <a:off x="0" y="806455"/>
            <a:ext cx="9144000" cy="588963"/>
          </a:xfrm>
          <a:prstGeom prst="rect">
            <a:avLst/>
          </a:prstGeom>
          <a:solidFill>
            <a:srgbClr val="0070C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第九章  钢的化学热处理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72F1A696-B002-9BDA-B86D-E559D7AB6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12" y="2063254"/>
            <a:ext cx="8893175" cy="332834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化学热处理：钢件置于一定温度的活性介质中保温，使一种或几种元素渗入它的表面，改变其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表面化学成分、组织及性能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的热处理过程。</a:t>
            </a:r>
          </a:p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可分为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渗碳、氮化、碳氮共渗、渗硼、渗硫、渗金属（铝、铬等）等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="" xmlns:a16="http://schemas.microsoft.com/office/drawing/2014/main" id="{47E703F8-5992-AA5A-76BD-55391CEFF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5694622"/>
            <a:ext cx="9143999" cy="576248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生产上应用最广的化学热处理工艺是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hlinkClick r:id="rId3" action="ppaction://hlinksldjump"/>
              </a:rPr>
              <a:t>渗碳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hlinkClick r:id="rId4" action="ppaction://hlinksldjump"/>
              </a:rPr>
              <a:t>氮化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hlinkClick r:id="" action="ppaction://noaction"/>
              </a:rPr>
              <a:t>碳氮共渗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61504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化学热处理概述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4">
            <a:extLst>
              <a:ext uri="{FF2B5EF4-FFF2-40B4-BE49-F238E27FC236}">
                <a16:creationId xmlns="" xmlns:a16="http://schemas.microsoft.com/office/drawing/2014/main" id="{D4CD25C6-9495-BC19-D9C0-E80D1749D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" y="1942391"/>
            <a:ext cx="8608044" cy="274003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介质分解，释放出欲渗入元素的活性原子；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marR="0" lvl="0" indent="-457200" defTabSz="91440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表面吸收    活性原子在钢件表面被吸收并溶解，超过溶解度时还能形成化合物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反应扩散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marR="0" lvl="0" indent="-457200" defTabSz="914400" eaLnBrk="1" fontAlgn="base" latinLnBrk="0" hangingPunct="1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原子扩散    溶入元素的原子在浓度梯度的作用下由表及里扩散，形成一定厚度的扩散层。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="" xmlns:a16="http://schemas.microsoft.com/office/drawing/2014/main" id="{DCE3476C-BD09-1B63-BE52-14DC5CCD2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68" y="1593908"/>
            <a:ext cx="8424863" cy="4801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三个基本过程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="" xmlns:a16="http://schemas.microsoft.com/office/drawing/2014/main" id="{420D2CEA-98C1-FB8C-C88F-B477A2C6B909}"/>
              </a:ext>
            </a:extLst>
          </p:cNvPr>
          <p:cNvGrpSpPr/>
          <p:nvPr/>
        </p:nvGrpSpPr>
        <p:grpSpPr>
          <a:xfrm>
            <a:off x="326231" y="4790635"/>
            <a:ext cx="8432800" cy="1878447"/>
            <a:chOff x="277018" y="4718108"/>
            <a:chExt cx="8432800" cy="1878447"/>
          </a:xfrm>
        </p:grpSpPr>
        <p:sp>
          <p:nvSpPr>
            <p:cNvPr id="4" name="Rectangle 8">
              <a:extLst>
                <a:ext uri="{FF2B5EF4-FFF2-40B4-BE49-F238E27FC236}">
                  <a16:creationId xmlns="" xmlns:a16="http://schemas.microsoft.com/office/drawing/2014/main" id="{DAE9F41D-063B-F474-95E4-B5556E39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436" y="6077442"/>
              <a:ext cx="5541963" cy="51911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活性原子从工件表层向内部的扩散</a:t>
              </a:r>
            </a:p>
          </p:txBody>
        </p:sp>
        <p:sp>
          <p:nvSpPr>
            <p:cNvPr id="5" name="Text Box 9">
              <a:extLst>
                <a:ext uri="{FF2B5EF4-FFF2-40B4-BE49-F238E27FC236}">
                  <a16:creationId xmlns="" xmlns:a16="http://schemas.microsoft.com/office/drawing/2014/main" id="{2928F18E-9142-026D-3F3B-E273A63BAB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018" y="4718108"/>
              <a:ext cx="1600200" cy="519113"/>
            </a:xfrm>
            <a:prstGeom prst="rect">
              <a:avLst/>
            </a:prstGeom>
            <a:noFill/>
            <a:ln>
              <a:noFill/>
            </a:ln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原理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6" name="Rectangle 10">
              <a:extLst>
                <a:ext uri="{FF2B5EF4-FFF2-40B4-BE49-F238E27FC236}">
                  <a16:creationId xmlns="" xmlns:a16="http://schemas.microsoft.com/office/drawing/2014/main" id="{CBA257F4-AD92-EDA3-A908-63373804A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" y="5251508"/>
              <a:ext cx="3398838" cy="51911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渗剂分解出活性原子</a:t>
              </a:r>
            </a:p>
          </p:txBody>
        </p:sp>
        <p:sp>
          <p:nvSpPr>
            <p:cNvPr id="7" name="Rectangle 11">
              <a:extLst>
                <a:ext uri="{FF2B5EF4-FFF2-40B4-BE49-F238E27FC236}">
                  <a16:creationId xmlns="" xmlns:a16="http://schemas.microsoft.com/office/drawing/2014/main" id="{90527C5C-3AB2-879C-C129-F43F605CD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418" y="5251508"/>
              <a:ext cx="4089400" cy="519113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0" fontAlgn="base" latinLnBrk="0" hangingPunct="0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工件表面吸收活性原子</a:t>
              </a:r>
            </a:p>
          </p:txBody>
        </p:sp>
        <p:sp>
          <p:nvSpPr>
            <p:cNvPr id="8" name="AutoShape 12">
              <a:extLst>
                <a:ext uri="{FF2B5EF4-FFF2-40B4-BE49-F238E27FC236}">
                  <a16:creationId xmlns="" xmlns:a16="http://schemas.microsoft.com/office/drawing/2014/main" id="{0FAA2420-E55E-E06E-3E8B-D01259954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8418" y="5480108"/>
              <a:ext cx="609600" cy="228600"/>
            </a:xfrm>
            <a:prstGeom prst="rightArrow">
              <a:avLst>
                <a:gd name="adj1" fmla="val 50000"/>
                <a:gd name="adj2" fmla="val 66667"/>
              </a:avLst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AutoShape 13">
              <a:extLst>
                <a:ext uri="{FF2B5EF4-FFF2-40B4-BE49-F238E27FC236}">
                  <a16:creationId xmlns="" xmlns:a16="http://schemas.microsoft.com/office/drawing/2014/main" id="{D75A7D7C-D86B-3003-0A6E-6ED4F2543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18" y="6225405"/>
              <a:ext cx="609600" cy="228600"/>
            </a:xfrm>
            <a:prstGeom prst="rightArrow">
              <a:avLst>
                <a:gd name="adj1" fmla="val 50000"/>
                <a:gd name="adj2" fmla="val 66667"/>
              </a:avLst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矩形 1">
            <a:extLst>
              <a:ext uri="{FF2B5EF4-FFF2-40B4-BE49-F238E27FC236}">
                <a16:creationId xmlns="" xmlns:a16="http://schemas.microsoft.com/office/drawing/2014/main" id="{65A0601D-244E-907A-4243-C11051425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9916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化学热处理概述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1626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54C36769-6044-B0F5-48A4-E6F5465A5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9" y="1440362"/>
            <a:ext cx="3505200" cy="528638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扩散镀层的形成步骤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="" xmlns:a16="http://schemas.microsoft.com/office/drawing/2014/main" id="{20272488-4656-E69C-55BF-7E7324DC0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987" y="2193925"/>
            <a:ext cx="1752600" cy="11969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向基体金属提供扩散元素的原子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="" xmlns:a16="http://schemas.microsoft.com/office/drawing/2014/main" id="{88B640DB-41D3-8604-354A-6AA8F585E944}"/>
              </a:ext>
            </a:extLst>
          </p:cNvPr>
          <p:cNvGrpSpPr>
            <a:grpSpLocks/>
          </p:cNvGrpSpPr>
          <p:nvPr/>
        </p:nvGrpSpPr>
        <p:grpSpPr bwMode="auto">
          <a:xfrm>
            <a:off x="2295787" y="2117725"/>
            <a:ext cx="2667000" cy="1196975"/>
            <a:chOff x="1536" y="912"/>
            <a:chExt cx="1680" cy="754"/>
          </a:xfrm>
        </p:grpSpPr>
        <p:sp>
          <p:nvSpPr>
            <p:cNvPr id="5" name="Text Box 5">
              <a:extLst>
                <a:ext uri="{FF2B5EF4-FFF2-40B4-BE49-F238E27FC236}">
                  <a16:creationId xmlns="" xmlns:a16="http://schemas.microsoft.com/office/drawing/2014/main" id="{05D29AEA-D557-C011-8EBE-4BDF97AFE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912"/>
              <a:ext cx="1056" cy="754"/>
            </a:xfrm>
            <a:prstGeom prst="rect">
              <a:avLst/>
            </a:prstGeom>
            <a:noFill/>
            <a:ln w="9525">
              <a:solidFill>
                <a:srgbClr val="FF33CC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使这些原子处于活化状态</a:t>
              </a:r>
            </a:p>
          </p:txBody>
        </p:sp>
        <p:sp>
          <p:nvSpPr>
            <p:cNvPr id="6" name="Line 6">
              <a:extLst>
                <a:ext uri="{FF2B5EF4-FFF2-40B4-BE49-F238E27FC236}">
                  <a16:creationId xmlns="" xmlns:a16="http://schemas.microsoft.com/office/drawing/2014/main" id="{6309BFF7-74CD-FB2D-89D6-5844884DF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296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A412096B-5AF1-00C2-38AF-93BE404EB979}"/>
              </a:ext>
            </a:extLst>
          </p:cNvPr>
          <p:cNvGrpSpPr>
            <a:grpSpLocks/>
          </p:cNvGrpSpPr>
          <p:nvPr/>
        </p:nvGrpSpPr>
        <p:grpSpPr bwMode="auto">
          <a:xfrm>
            <a:off x="5115187" y="2117725"/>
            <a:ext cx="2819400" cy="1196975"/>
            <a:chOff x="3312" y="912"/>
            <a:chExt cx="1776" cy="754"/>
          </a:xfrm>
        </p:grpSpPr>
        <p:sp>
          <p:nvSpPr>
            <p:cNvPr id="8" name="Text Box 8">
              <a:extLst>
                <a:ext uri="{FF2B5EF4-FFF2-40B4-BE49-F238E27FC236}">
                  <a16:creationId xmlns="" xmlns:a16="http://schemas.microsoft.com/office/drawing/2014/main" id="{89EEF774-330E-74A9-D3F6-8B06494F0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912"/>
              <a:ext cx="1200" cy="754"/>
            </a:xfrm>
            <a:prstGeom prst="rect">
              <a:avLst/>
            </a:prstGeom>
            <a:noFill/>
            <a:ln w="9525">
              <a:solidFill>
                <a:srgbClr val="00CC99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活化的原子逐渐向基体内部扩散</a:t>
              </a:r>
            </a:p>
          </p:txBody>
        </p:sp>
        <p:sp>
          <p:nvSpPr>
            <p:cNvPr id="9" name="Line 9">
              <a:extLst>
                <a:ext uri="{FF2B5EF4-FFF2-40B4-BE49-F238E27FC236}">
                  <a16:creationId xmlns="" xmlns:a16="http://schemas.microsoft.com/office/drawing/2014/main" id="{CAC5D3BF-68D1-77EF-45BB-F85B05079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296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3346ADDF-98B2-F70E-D883-11A13291B3C7}"/>
              </a:ext>
            </a:extLst>
          </p:cNvPr>
          <p:cNvGrpSpPr>
            <a:grpSpLocks/>
          </p:cNvGrpSpPr>
          <p:nvPr/>
        </p:nvGrpSpPr>
        <p:grpSpPr bwMode="auto">
          <a:xfrm>
            <a:off x="619387" y="4098925"/>
            <a:ext cx="2743200" cy="2514600"/>
            <a:chOff x="480" y="2160"/>
            <a:chExt cx="1728" cy="1584"/>
          </a:xfrm>
        </p:grpSpPr>
        <p:sp>
          <p:nvSpPr>
            <p:cNvPr id="11" name="AutoShape 11">
              <a:extLst>
                <a:ext uri="{FF2B5EF4-FFF2-40B4-BE49-F238E27FC236}">
                  <a16:creationId xmlns="" xmlns:a16="http://schemas.microsoft.com/office/drawing/2014/main" id="{6970326E-EC3D-A6AE-9AD1-5F6CA1F0C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160"/>
              <a:ext cx="1728" cy="1584"/>
            </a:xfrm>
            <a:prstGeom prst="wedgeRectCallout">
              <a:avLst>
                <a:gd name="adj1" fmla="val -30324"/>
                <a:gd name="adj2" fmla="val -78407"/>
              </a:avLst>
            </a:prstGeom>
            <a:solidFill>
              <a:srgbClr val="FFFFFF"/>
            </a:solidFill>
            <a:ln w="9525">
              <a:solidFill>
                <a:srgbClr val="FF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Text Box 12">
              <a:extLst>
                <a:ext uri="{FF2B5EF4-FFF2-40B4-BE49-F238E27FC236}">
                  <a16:creationId xmlns="" xmlns:a16="http://schemas.microsoft.com/office/drawing/2014/main" id="{3A3959E7-FB1E-E29F-D6F2-124A820F8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256"/>
              <a:ext cx="1632" cy="1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为了向基体金属提供扩散元素的原子，可以通过电镀、化学镀、电泳、热浸、喷涂和粉末包装等方法，</a:t>
              </a:r>
              <a:r>
                <a: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使渗剂金属原子与基体金属表面直接接触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C1D757D2-6D9D-A971-ED73-8AA6BB91E0A4}"/>
              </a:ext>
            </a:extLst>
          </p:cNvPr>
          <p:cNvGrpSpPr>
            <a:grpSpLocks/>
          </p:cNvGrpSpPr>
          <p:nvPr/>
        </p:nvGrpSpPr>
        <p:grpSpPr bwMode="auto">
          <a:xfrm>
            <a:off x="5419986" y="3946526"/>
            <a:ext cx="3245841" cy="2651122"/>
            <a:chOff x="3504" y="2064"/>
            <a:chExt cx="1920" cy="1834"/>
          </a:xfrm>
        </p:grpSpPr>
        <p:sp>
          <p:nvSpPr>
            <p:cNvPr id="14" name="AutoShape 14">
              <a:extLst>
                <a:ext uri="{FF2B5EF4-FFF2-40B4-BE49-F238E27FC236}">
                  <a16:creationId xmlns="" xmlns:a16="http://schemas.microsoft.com/office/drawing/2014/main" id="{7A095BEE-60F7-43B9-8A9E-BDFA23ECE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064"/>
              <a:ext cx="1920" cy="1824"/>
            </a:xfrm>
            <a:prstGeom prst="wedgeRectCallout">
              <a:avLst>
                <a:gd name="adj1" fmla="val -9583"/>
                <a:gd name="adj2" fmla="val -70667"/>
              </a:avLst>
            </a:prstGeom>
            <a:solidFill>
              <a:srgbClr val="FFFFFF"/>
            </a:solidFill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15">
              <a:extLst>
                <a:ext uri="{FF2B5EF4-FFF2-40B4-BE49-F238E27FC236}">
                  <a16:creationId xmlns="" xmlns:a16="http://schemas.microsoft.com/office/drawing/2014/main" id="{CB008823-4370-7677-B0E0-518DBFAA2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112"/>
              <a:ext cx="1776" cy="1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扩散是各种原子在体系中趋向均匀化的过程。为了使这种均匀化加速，各种原子必须得到足够的能量，使它们能以一定的速度移动，因此需要加热。</a:t>
              </a:r>
              <a:r>
                <a:rPr kumimoji="1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从扩散的角度考虑，温度越高扩散速度越快。</a:t>
              </a:r>
              <a:endPara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" name="矩形 1">
            <a:extLst>
              <a:ext uri="{FF2B5EF4-FFF2-40B4-BE49-F238E27FC236}">
                <a16:creationId xmlns="" xmlns:a16="http://schemas.microsoft.com/office/drawing/2014/main" id="{ED958583-B74C-F54B-3541-0B332A2E3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91868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化学热处理概述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6879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钢的渗碳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9" name="Text Box 3">
            <a:extLst>
              <a:ext uri="{FF2B5EF4-FFF2-40B4-BE49-F238E27FC236}">
                <a16:creationId xmlns="" xmlns:a16="http://schemas.microsoft.com/office/drawing/2014/main" id="{DBB04D77-1673-9B91-392D-88D8B1D35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44" y="1488837"/>
            <a:ext cx="8763000" cy="130317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将钢件在渗碳介质中加热和保温，使碳原子渗入表面的工艺称为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="" xmlns:a16="http://schemas.microsoft.com/office/drawing/2014/main" id="{2DE6D598-6391-7DF5-9696-A12BA4A13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4679819"/>
            <a:ext cx="8763000" cy="1989263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渗碳方法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固体渗碳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液体渗碳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气体渗碳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最常用的是气体渗碳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，液体渗碳应用极少。</a:t>
            </a:r>
          </a:p>
          <a:p>
            <a:pPr marL="457200" marR="0" lvl="0" indent="-45720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渗碳用钢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：主要是低碳钢和低碳合金钢（</a:t>
            </a:r>
            <a:r>
              <a:rPr kumimoji="1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0.12 ~0.25 %C</a:t>
            </a: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="" xmlns:a16="http://schemas.microsoft.com/office/drawing/2014/main" id="{9CF81FB8-0666-835C-0D1D-DD6D3364B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7" y="2730163"/>
            <a:ext cx="8534400" cy="194950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渗碳的目的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是使钢件在渗碳后经过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适当淬火</a:t>
            </a:r>
            <a:r>
              <a:rPr lang="zh-CN" altLang="en-US" sz="2800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回火</a:t>
            </a:r>
            <a:r>
              <a:rPr lang="zh-CN" altLang="en-US" sz="2800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处理后，提高</a:t>
            </a:r>
            <a:r>
              <a:rPr lang="zh-CN" altLang="en-US" sz="2800" b="1" kern="0" dirty="0">
                <a:solidFill>
                  <a:srgbClr val="0070C0"/>
                </a:solidFill>
              </a:rPr>
              <a:t>表面</a:t>
            </a:r>
            <a:r>
              <a:rPr lang="zh-CN" altLang="en-US" sz="2800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</a:t>
            </a:r>
            <a:r>
              <a:rPr lang="zh-CN" altLang="en-US" sz="2800" b="1" kern="0" dirty="0">
                <a:solidFill>
                  <a:srgbClr val="0070C0"/>
                </a:solidFill>
              </a:rPr>
              <a:t>硬度、耐磨性及疲劳强度</a:t>
            </a:r>
            <a:r>
              <a:rPr lang="zh-CN" altLang="en-US" sz="2800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，而使</a:t>
            </a:r>
            <a:r>
              <a:rPr lang="zh-CN" altLang="en-US" sz="2800" b="1" kern="0" dirty="0">
                <a:solidFill>
                  <a:srgbClr val="0070C0"/>
                </a:solidFill>
              </a:rPr>
              <a:t>心部</a:t>
            </a:r>
            <a:r>
              <a:rPr lang="zh-CN" altLang="en-US" sz="2800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仍保持良好的</a:t>
            </a:r>
            <a:r>
              <a:rPr lang="zh-CN" altLang="en-US" sz="2800" b="1" kern="0" dirty="0">
                <a:solidFill>
                  <a:srgbClr val="0070C0"/>
                </a:solidFill>
              </a:rPr>
              <a:t>韧性和塑性</a:t>
            </a:r>
            <a:r>
              <a:rPr lang="zh-CN" altLang="en-US" sz="2800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。 </a:t>
            </a:r>
          </a:p>
        </p:txBody>
      </p:sp>
    </p:spTree>
    <p:extLst>
      <p:ext uri="{BB962C8B-B14F-4D97-AF65-F5344CB8AC3E}">
        <p14:creationId xmlns="" xmlns:p14="http://schemas.microsoft.com/office/powerpoint/2010/main" val="192985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14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钢的渗碳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/>
                <a:ea typeface="幼圆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j-cs"/>
              </a:rPr>
              <a:t>固体渗碳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宋体"/>
                <a:cs typeface="+mj-cs"/>
              </a:rPr>
              <a:t>)</a:t>
            </a:r>
            <a:endParaRPr lang="zh-CN" altLang="en-US" sz="2800" b="1" dirty="0">
              <a:solidFill>
                <a:srgbClr val="C0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160EB469-74DD-D2DE-7E92-7C621EC93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9" y="2489856"/>
            <a:ext cx="3038805" cy="3108543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固体渗碳剂通常是木炭与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20%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碳酸盐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(BaCO</a:t>
            </a:r>
            <a:r>
              <a:rPr kumimoji="1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Na</a:t>
            </a:r>
            <a:r>
              <a:rPr kumimoji="1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C0</a:t>
            </a:r>
            <a:r>
              <a:rPr kumimoji="1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的混合物。木炭提供所需活性碳原子，碳酸盐起催化作用。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="" xmlns:a16="http://schemas.microsoft.com/office/drawing/2014/main" id="{91790A59-2CFD-FB42-AA4A-67638ED51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7" y="5741988"/>
            <a:ext cx="8686800" cy="946150"/>
          </a:xfrm>
          <a:prstGeom prst="rect">
            <a:avLst/>
          </a:prstGeom>
          <a:solidFill>
            <a:srgbClr val="CC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固体渗碳的优点是设备简单，容易实现，但生产率低，劳动条件差，质量不易控制，目前应用不多。</a:t>
            </a:r>
          </a:p>
        </p:txBody>
      </p:sp>
      <p:pic>
        <p:nvPicPr>
          <p:cNvPr id="4" name="Picture 5" descr="lwf43a">
            <a:extLst>
              <a:ext uri="{FF2B5EF4-FFF2-40B4-BE49-F238E27FC236}">
                <a16:creationId xmlns="" xmlns:a16="http://schemas.microsoft.com/office/drawing/2014/main" id="{6FB39EEA-11FB-E025-9CFE-3AA467398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617" y="2489856"/>
            <a:ext cx="4792461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6">
            <a:extLst>
              <a:ext uri="{FF2B5EF4-FFF2-40B4-BE49-F238E27FC236}">
                <a16:creationId xmlns="" xmlns:a16="http://schemas.microsoft.com/office/drawing/2014/main" id="{412A94FB-F251-83FA-9F24-CC8A79AAD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81708"/>
            <a:ext cx="9143999" cy="95410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将零件和固体渗碳剂装入渗碳箱中如图密封后放入炉中加热至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900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950℃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，保温渗碳。</a:t>
            </a:r>
          </a:p>
        </p:txBody>
      </p:sp>
    </p:spTree>
    <p:extLst>
      <p:ext uri="{BB962C8B-B14F-4D97-AF65-F5344CB8AC3E}">
        <p14:creationId xmlns="" xmlns:p14="http://schemas.microsoft.com/office/powerpoint/2010/main" val="1614747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钢的渗碳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="" xmlns:a16="http://schemas.microsoft.com/office/drawing/2014/main" id="{11D5104E-3F7C-8686-8950-CFBE667B3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903" y="1719919"/>
            <a:ext cx="3838148" cy="3970318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将工件装在密封的渗碳炉中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如图，加热到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900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950℃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，向炉内加入易分解的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有机液体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如煤油、苯、甲醇等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，或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渗碳气体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如煤气、石油液化气等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，通过化学反应产生活性碳原子，使钢件表面渗碳。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="" xmlns:a16="http://schemas.microsoft.com/office/drawing/2014/main" id="{8A1E9022-2A91-CF35-C4C6-8863C6F26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903" y="5911850"/>
            <a:ext cx="8196880" cy="946150"/>
          </a:xfrm>
          <a:prstGeom prst="rect">
            <a:avLst/>
          </a:prstGeom>
          <a:solidFill>
            <a:srgbClr val="CCFFFF">
              <a:alpha val="26000"/>
            </a:srgb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气体渗碳的优点是生产率高，劳动条件较好，渗碳过程可以控制，渗碳层的质量和机械性能较好。</a:t>
            </a:r>
          </a:p>
        </p:txBody>
      </p:sp>
      <p:pic>
        <p:nvPicPr>
          <p:cNvPr id="4" name="Picture 5" descr="lwf44a">
            <a:extLst>
              <a:ext uri="{FF2B5EF4-FFF2-40B4-BE49-F238E27FC236}">
                <a16:creationId xmlns="" xmlns:a16="http://schemas.microsoft.com/office/drawing/2014/main" id="{3C36B1FA-AA63-2325-4707-9B835650F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406" y="1719919"/>
            <a:ext cx="3790377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28126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钢的渗碳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pic>
        <p:nvPicPr>
          <p:cNvPr id="2" name="Picture 2" descr="http://www.5822.com/com/wanlog/small/cp_cn_10872.jpg">
            <a:hlinkClick r:id="" action="ppaction://noaction"/>
            <a:extLst>
              <a:ext uri="{FF2B5EF4-FFF2-40B4-BE49-F238E27FC236}">
                <a16:creationId xmlns="" xmlns:a16="http://schemas.microsoft.com/office/drawing/2014/main" id="{366232E6-D64C-AF4F-5013-151393355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9" y="1884525"/>
            <a:ext cx="2758171" cy="385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http://www.5822.com/com/wanlog/small/cp_cn_10851.jpg">
            <a:hlinkClick r:id="" action="ppaction://noaction"/>
            <a:extLst>
              <a:ext uri="{FF2B5EF4-FFF2-40B4-BE49-F238E27FC236}">
                <a16:creationId xmlns="" xmlns:a16="http://schemas.microsoft.com/office/drawing/2014/main" id="{72F31644-DDCE-5CA9-7C01-E33C2B9D3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r:link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262" y="2065382"/>
            <a:ext cx="5343787" cy="367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="" xmlns:a16="http://schemas.microsoft.com/office/drawing/2014/main" id="{2DC65FB9-E8AC-48FA-F4FA-20CB0D671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7" y="5937432"/>
            <a:ext cx="365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defTabSz="914400" eaLnBrk="1" hangingPunct="1"/>
            <a:r>
              <a:rPr lang="zh-CN" altLang="en-US" sz="28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Arial Narrow" panose="020B0606020202030204" pitchFamily="34" charset="0"/>
              </a:rPr>
              <a:t>井式渗碳炉</a:t>
            </a:r>
          </a:p>
        </p:txBody>
      </p:sp>
    </p:spTree>
    <p:extLst>
      <p:ext uri="{BB962C8B-B14F-4D97-AF65-F5344CB8AC3E}">
        <p14:creationId xmlns="" xmlns:p14="http://schemas.microsoft.com/office/powerpoint/2010/main" val="90865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钢的渗碳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/>
                <a:ea typeface="幼圆"/>
              </a:rPr>
              <a:t>（渗碳工艺）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="" xmlns:a16="http://schemas.microsoft.com/office/drawing/2014/main" id="{1D1C16C3-FBF0-4665-581A-BEE2F9FA6B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95425"/>
            <a:ext cx="8686800" cy="5191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渗碳工艺参数：渗碳温度、渗碳时间、碳势等。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="" xmlns:a16="http://schemas.microsoft.com/office/drawing/2014/main" id="{52DB1A66-5780-2225-8D81-312916E49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85973"/>
            <a:ext cx="8382000" cy="4918269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渗碳温度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以上，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900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950℃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。温度愈高，渗碳速度愈快，渗层愈厚，生产率愈高。温度不能过高，以免奥氏体晶粒过大。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marR="0" lvl="0" indent="-45720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渗碳时间：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决定于对渗层厚度的要求。每保温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小时，厚度约增加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0.2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0.3mm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marR="0" lvl="0" indent="-45720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碳势：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在一定的温度下，炉内气氛与钢件表面含碳量平衡时的钢的表面相对含碳量。决定低碳钢渗碳后表面含碳量，一般为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0.8~1.1C%</a:t>
            </a:r>
            <a:r>
              <a:rPr lang="zh-CN" altLang="en-US" sz="28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。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CC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5859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钢的渗碳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/>
                <a:ea typeface="幼圆"/>
              </a:rPr>
              <a:t>（碳势的控制）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4471AC2A-B58A-000B-C06C-463110579486}"/>
              </a:ext>
            </a:extLst>
          </p:cNvPr>
          <p:cNvSpPr/>
          <p:nvPr/>
        </p:nvSpPr>
        <p:spPr>
          <a:xfrm>
            <a:off x="0" y="1423990"/>
            <a:ext cx="9144000" cy="1050762"/>
          </a:xfrm>
          <a:prstGeom prst="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通常以气氛中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CO2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含量来表示，含量高则碳势低，它们之间有对应关系，有专用仪器测定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CO2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含量。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26642978-6262-273C-F6B7-CDC38D661782}"/>
              </a:ext>
            </a:extLst>
          </p:cNvPr>
          <p:cNvSpPr/>
          <p:nvPr/>
        </p:nvSpPr>
        <p:spPr>
          <a:xfrm>
            <a:off x="1" y="2546060"/>
            <a:ext cx="9144000" cy="4249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以煤油为滴剂的气体渗碳工艺    在渗碳的保温过程中：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一般采用</a:t>
            </a:r>
            <a:r>
              <a:rPr lang="zh-CN" altLang="en-US" sz="2400" dirty="0">
                <a:solidFill>
                  <a:srgbClr val="FF0000"/>
                </a:solidFill>
              </a:rPr>
              <a:t>固定碳势法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</a:rPr>
              <a:t>分段控制法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控制炉气。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固定碳势法：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在整个渗碳过程中，炉内的碳势基本保持不变，这时煤油滴入量始终保持恒定，零件是处在一个固定碳势的气氛中进行渗碳的。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适用于渗碳层要求不太深的零件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不超过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1.2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毫米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；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操作和控制都比较简单。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78300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钢的渗碳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EED70F33-F853-D483-E270-2068178CF53B}"/>
              </a:ext>
            </a:extLst>
          </p:cNvPr>
          <p:cNvSpPr txBox="1"/>
          <p:nvPr/>
        </p:nvSpPr>
        <p:spPr>
          <a:xfrm>
            <a:off x="281030" y="1516063"/>
            <a:ext cx="8460297" cy="3359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分段控制法：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渗碳开始阶段对井式渗碳炉使用大的煤油滴入量；对贯通式炉，可同时用强的渗碳剂或提高渗碳温度，在较短的时间里使零件表面得到高于最后要求的碳浓度，以增加表面和内层的浓度梯度，加大渗碳的速度。在渗碳的第二阶段，适当减低炉内的碳势，让零件表面的碳向钢的内部或炉气中扩散，最后得到所需要的表面层碳浓度和渗层深度。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="" xmlns:a16="http://schemas.microsoft.com/office/drawing/2014/main" id="{FF4D8238-9ABE-2A38-2911-F6EAFBDDE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026024"/>
            <a:ext cx="9143999" cy="1831976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solidFill>
              <a:srgbClr val="FF0000"/>
            </a:solidFill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R="0" lvl="0" algn="just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与固定碳势法相比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algn="just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在相同的时间内可得到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较深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的渗碳层。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marR="0" lvl="0" indent="-342900" algn="just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达到相同的渗层深度的前提下，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渗碳时间和耗油量都能减少一半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="" xmlns:p14="http://schemas.microsoft.com/office/powerpoint/2010/main" val="157587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钢的渗碳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E43A6294-5E25-6EFD-3FB7-B472EA8581B7}"/>
              </a:ext>
            </a:extLst>
          </p:cNvPr>
          <p:cNvGrpSpPr/>
          <p:nvPr/>
        </p:nvGrpSpPr>
        <p:grpSpPr>
          <a:xfrm>
            <a:off x="0" y="3265487"/>
            <a:ext cx="9144000" cy="3592513"/>
            <a:chOff x="0" y="2212975"/>
            <a:chExt cx="9144000" cy="3592513"/>
          </a:xfrm>
        </p:grpSpPr>
        <p:pic>
          <p:nvPicPr>
            <p:cNvPr id="28" name="Picture 3" descr="层深-00">
              <a:extLst>
                <a:ext uri="{FF2B5EF4-FFF2-40B4-BE49-F238E27FC236}">
                  <a16:creationId xmlns="" xmlns:a16="http://schemas.microsoft.com/office/drawing/2014/main" id="{BC163434-F97D-1AFA-5779-E54F99A253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lum bright="6000" contrast="54000"/>
              <a:grayscl/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t="33072" b="31769"/>
            <a:stretch>
              <a:fillRect/>
            </a:stretch>
          </p:blipFill>
          <p:spPr bwMode="auto">
            <a:xfrm>
              <a:off x="0" y="2909888"/>
              <a:ext cx="9144000" cy="289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9" name="组合 28">
              <a:extLst>
                <a:ext uri="{FF2B5EF4-FFF2-40B4-BE49-F238E27FC236}">
                  <a16:creationId xmlns="" xmlns:a16="http://schemas.microsoft.com/office/drawing/2014/main" id="{341EFBB0-47D6-8A4B-F325-401702B91CD2}"/>
                </a:ext>
              </a:extLst>
            </p:cNvPr>
            <p:cNvGrpSpPr/>
            <p:nvPr/>
          </p:nvGrpSpPr>
          <p:grpSpPr>
            <a:xfrm>
              <a:off x="0" y="2212975"/>
              <a:ext cx="9144000" cy="3448050"/>
              <a:chOff x="0" y="2212975"/>
              <a:chExt cx="9144000" cy="3448050"/>
            </a:xfrm>
          </p:grpSpPr>
          <p:sp>
            <p:nvSpPr>
              <p:cNvPr id="30" name="Rectangle 5">
                <a:extLst>
                  <a:ext uri="{FF2B5EF4-FFF2-40B4-BE49-F238E27FC236}">
                    <a16:creationId xmlns="" xmlns:a16="http://schemas.microsoft.com/office/drawing/2014/main" id="{34BF66E9-9344-94B3-C920-EF7AC06B0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1000" y="2212975"/>
                <a:ext cx="490538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←</a:t>
                </a:r>
              </a:p>
            </p:txBody>
          </p:sp>
          <p:sp>
            <p:nvSpPr>
              <p:cNvPr id="31" name="Rectangle 6">
                <a:extLst>
                  <a:ext uri="{FF2B5EF4-FFF2-40B4-BE49-F238E27FC236}">
                    <a16:creationId xmlns="" xmlns:a16="http://schemas.microsoft.com/office/drawing/2014/main" id="{AD4EFB20-387C-EFFD-F97F-CE0BA6FA8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2200" y="2305050"/>
                <a:ext cx="338138" cy="365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←</a:t>
                </a:r>
              </a:p>
            </p:txBody>
          </p:sp>
          <p:sp>
            <p:nvSpPr>
              <p:cNvPr id="32" name="Rectangle 7">
                <a:extLst>
                  <a:ext uri="{FF2B5EF4-FFF2-40B4-BE49-F238E27FC236}">
                    <a16:creationId xmlns="" xmlns:a16="http://schemas.microsoft.com/office/drawing/2014/main" id="{BFE07E84-6515-F229-45A0-59484898FF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5725" y="2289175"/>
                <a:ext cx="320675" cy="365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←</a:t>
                </a:r>
              </a:p>
            </p:txBody>
          </p:sp>
          <p:grpSp>
            <p:nvGrpSpPr>
              <p:cNvPr id="33" name="Group 8">
                <a:extLst>
                  <a:ext uri="{FF2B5EF4-FFF2-40B4-BE49-F238E27FC236}">
                    <a16:creationId xmlns="" xmlns:a16="http://schemas.microsoft.com/office/drawing/2014/main" id="{B74AD8D4-3538-8F7F-60CB-05FEFA22E4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81800" y="2305050"/>
                <a:ext cx="2362200" cy="3355975"/>
                <a:chOff x="4272" y="1822"/>
                <a:chExt cx="1488" cy="2114"/>
              </a:xfrm>
            </p:grpSpPr>
            <p:sp>
              <p:nvSpPr>
                <p:cNvPr id="49" name="Rectangle 9">
                  <a:extLst>
                    <a:ext uri="{FF2B5EF4-FFF2-40B4-BE49-F238E27FC236}">
                      <a16:creationId xmlns="" xmlns:a16="http://schemas.microsoft.com/office/drawing/2014/main" id="{8F028FB2-57F6-021B-3A49-DE5B89CC22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2" y="1822"/>
                  <a:ext cx="1488" cy="242"/>
                </a:xfrm>
                <a:prstGeom prst="rect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过共析</a:t>
                  </a:r>
                  <a:r>
                    <a:rPr kumimoji="1" lang="en-US" altLang="zh-CN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r>
                    <a:rPr kumimoji="1" lang="zh-CN" altLang="en-US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＋</a:t>
                  </a:r>
                  <a:r>
                    <a:rPr kumimoji="1" lang="en-US" altLang="zh-CN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Fe</a:t>
                  </a:r>
                  <a:r>
                    <a:rPr kumimoji="1" lang="en-US" altLang="zh-CN" sz="2400" b="1" i="0" u="none" strike="noStrike" kern="0" cap="none" spc="0" normalizeH="0" baseline="-30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r>
                    <a:rPr kumimoji="1" lang="en-US" altLang="zh-CN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C</a:t>
                  </a:r>
                  <a:r>
                    <a:rPr kumimoji="1" lang="en-US" altLang="zh-CN" sz="2400" b="1" i="0" u="none" strike="noStrike" kern="0" cap="none" spc="0" normalizeH="0" baseline="-3000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Ⅱ</a:t>
                  </a:r>
                  <a:endPara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Rectangle 10">
                  <a:extLst>
                    <a:ext uri="{FF2B5EF4-FFF2-40B4-BE49-F238E27FC236}">
                      <a16:creationId xmlns="" xmlns:a16="http://schemas.microsoft.com/office/drawing/2014/main" id="{D822E9EA-5472-6509-7CB4-8B0D07535C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0" y="2112"/>
                  <a:ext cx="720" cy="182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" name="Line 11">
                  <a:extLst>
                    <a:ext uri="{FF2B5EF4-FFF2-40B4-BE49-F238E27FC236}">
                      <a16:creationId xmlns="" xmlns:a16="http://schemas.microsoft.com/office/drawing/2014/main" id="{16FDF122-4B25-F670-80AE-42EC834077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32" y="2064"/>
                  <a:ext cx="192" cy="2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52" name="AutoShape 12">
                  <a:extLst>
                    <a:ext uri="{FF2B5EF4-FFF2-40B4-BE49-F238E27FC236}">
                      <a16:creationId xmlns="" xmlns:a16="http://schemas.microsoft.com/office/drawing/2014/main" id="{4312342A-F356-8612-5DA1-86576C97EA5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040" y="2352"/>
                  <a:ext cx="720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4" name="Group 13">
                <a:extLst>
                  <a:ext uri="{FF2B5EF4-FFF2-40B4-BE49-F238E27FC236}">
                    <a16:creationId xmlns="" xmlns:a16="http://schemas.microsoft.com/office/drawing/2014/main" id="{FA16E7E4-F646-E33E-6481-A30F4603E0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43438" y="2305050"/>
                <a:ext cx="3352800" cy="3352800"/>
                <a:chOff x="2928" y="1824"/>
                <a:chExt cx="2112" cy="2112"/>
              </a:xfrm>
            </p:grpSpPr>
            <p:sp>
              <p:nvSpPr>
                <p:cNvPr id="45" name="Rectangle 14">
                  <a:extLst>
                    <a:ext uri="{FF2B5EF4-FFF2-40B4-BE49-F238E27FC236}">
                      <a16:creationId xmlns="" xmlns:a16="http://schemas.microsoft.com/office/drawing/2014/main" id="{B67578E8-F6BB-80CF-9A2D-744305EC2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54" y="1824"/>
                  <a:ext cx="838" cy="242"/>
                </a:xfrm>
                <a:prstGeom prst="rect">
                  <a:avLst/>
                </a:prstGeom>
                <a:noFill/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共析（</a:t>
                  </a:r>
                  <a:r>
                    <a:rPr kumimoji="1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r>
                    <a:rPr kumimoji="1" lang="zh-CN" alt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</a:p>
              </p:txBody>
            </p:sp>
            <p:sp>
              <p:nvSpPr>
                <p:cNvPr id="46" name="Rectangle 15">
                  <a:extLst>
                    <a:ext uri="{FF2B5EF4-FFF2-40B4-BE49-F238E27FC236}">
                      <a16:creationId xmlns="" xmlns:a16="http://schemas.microsoft.com/office/drawing/2014/main" id="{B22DB012-67A1-2DC4-588D-BA60660259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2112"/>
                  <a:ext cx="2112" cy="182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Line 16">
                  <a:extLst>
                    <a:ext uri="{FF2B5EF4-FFF2-40B4-BE49-F238E27FC236}">
                      <a16:creationId xmlns="" xmlns:a16="http://schemas.microsoft.com/office/drawing/2014/main" id="{C584E4A3-3849-4FB7-0767-74BD2AF936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0" y="2064"/>
                  <a:ext cx="480" cy="28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48" name="AutoShape 17">
                  <a:extLst>
                    <a:ext uri="{FF2B5EF4-FFF2-40B4-BE49-F238E27FC236}">
                      <a16:creationId xmlns="" xmlns:a16="http://schemas.microsoft.com/office/drawing/2014/main" id="{C1FA58B6-9B5E-08C7-2AF8-8016CC6C746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2928" y="2352"/>
                  <a:ext cx="2112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5" name="Group 18">
                <a:extLst>
                  <a:ext uri="{FF2B5EF4-FFF2-40B4-BE49-F238E27FC236}">
                    <a16:creationId xmlns="" xmlns:a16="http://schemas.microsoft.com/office/drawing/2014/main" id="{BBD180CA-1513-1F8E-DE94-29A155DAA7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76375" y="2305050"/>
                <a:ext cx="3200400" cy="3355975"/>
                <a:chOff x="912" y="1822"/>
                <a:chExt cx="2016" cy="2114"/>
              </a:xfrm>
            </p:grpSpPr>
            <p:sp>
              <p:nvSpPr>
                <p:cNvPr id="41" name="Rectangle 19">
                  <a:extLst>
                    <a:ext uri="{FF2B5EF4-FFF2-40B4-BE49-F238E27FC236}">
                      <a16:creationId xmlns="" xmlns:a16="http://schemas.microsoft.com/office/drawing/2014/main" id="{0D505E56-3607-1AFD-E52F-89D61F9129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1822"/>
                  <a:ext cx="1508" cy="242"/>
                </a:xfrm>
                <a:prstGeom prst="rect">
                  <a:avLst/>
                </a:prstGeom>
                <a:noFill/>
                <a:ln w="19050">
                  <a:solidFill>
                    <a:srgbClr val="FF00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亚共析（</a:t>
                  </a:r>
                  <a:r>
                    <a:rPr kumimoji="1" lang="en-US" altLang="zh-CN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</a:t>
                  </a:r>
                  <a:r>
                    <a:rPr kumimoji="1" lang="zh-CN" altLang="en-US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＋</a:t>
                  </a:r>
                  <a:r>
                    <a:rPr kumimoji="1" lang="en-US" altLang="zh-CN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F</a:t>
                  </a:r>
                  <a:r>
                    <a:rPr kumimoji="1" lang="zh-CN" altLang="en-US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）</a:t>
                  </a:r>
                </a:p>
              </p:txBody>
            </p:sp>
            <p:sp>
              <p:nvSpPr>
                <p:cNvPr id="42" name="Rectangle 20">
                  <a:extLst>
                    <a:ext uri="{FF2B5EF4-FFF2-40B4-BE49-F238E27FC236}">
                      <a16:creationId xmlns="" xmlns:a16="http://schemas.microsoft.com/office/drawing/2014/main" id="{29D46365-C107-C840-AB58-56C77DAEF6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2112"/>
                  <a:ext cx="2016" cy="1824"/>
                </a:xfrm>
                <a:prstGeom prst="rect">
                  <a:avLst/>
                </a:prstGeom>
                <a:noFill/>
                <a:ln w="9525">
                  <a:solidFill>
                    <a:srgbClr val="FF00FF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Line 21">
                  <a:extLst>
                    <a:ext uri="{FF2B5EF4-FFF2-40B4-BE49-F238E27FC236}">
                      <a16:creationId xmlns="" xmlns:a16="http://schemas.microsoft.com/office/drawing/2014/main" id="{F5199E88-38E0-06F7-F992-A302856FFE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064"/>
                  <a:ext cx="0" cy="432"/>
                </a:xfrm>
                <a:prstGeom prst="line">
                  <a:avLst/>
                </a:prstGeom>
                <a:noFill/>
                <a:ln w="22225">
                  <a:solidFill>
                    <a:srgbClr val="FF00FF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44" name="AutoShape 22">
                  <a:extLst>
                    <a:ext uri="{FF2B5EF4-FFF2-40B4-BE49-F238E27FC236}">
                      <a16:creationId xmlns="" xmlns:a16="http://schemas.microsoft.com/office/drawing/2014/main" id="{EFE326D0-A783-968A-B461-D6DF3D45F32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912" y="2496"/>
                  <a:ext cx="2016" cy="0"/>
                </a:xfrm>
                <a:prstGeom prst="straightConnector1">
                  <a:avLst/>
                </a:prstGeom>
                <a:noFill/>
                <a:ln w="19050">
                  <a:solidFill>
                    <a:srgbClr val="FF00FF"/>
                  </a:solidFill>
                  <a:miter lim="800000"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6" name="Group 23">
                <a:extLst>
                  <a:ext uri="{FF2B5EF4-FFF2-40B4-BE49-F238E27FC236}">
                    <a16:creationId xmlns="" xmlns:a16="http://schemas.microsoft.com/office/drawing/2014/main" id="{11C5A122-8861-E4E1-EC97-42CE73B47C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08225"/>
                <a:ext cx="1447800" cy="3352800"/>
                <a:chOff x="0" y="1824"/>
                <a:chExt cx="912" cy="2112"/>
              </a:xfrm>
            </p:grpSpPr>
            <p:sp>
              <p:nvSpPr>
                <p:cNvPr id="37" name="Rectangle 24">
                  <a:extLst>
                    <a:ext uri="{FF2B5EF4-FFF2-40B4-BE49-F238E27FC236}">
                      <a16:creationId xmlns="" xmlns:a16="http://schemas.microsoft.com/office/drawing/2014/main" id="{9C638F9D-FF0B-A703-5358-42B8C8A0A2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" y="1824"/>
                  <a:ext cx="432" cy="236"/>
                </a:xfrm>
                <a:prstGeom prst="rect">
                  <a:avLst/>
                </a:pr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心部</a:t>
                  </a:r>
                </a:p>
              </p:txBody>
            </p:sp>
            <p:sp>
              <p:nvSpPr>
                <p:cNvPr id="38" name="Rectangle 25">
                  <a:extLst>
                    <a:ext uri="{FF2B5EF4-FFF2-40B4-BE49-F238E27FC236}">
                      <a16:creationId xmlns="" xmlns:a16="http://schemas.microsoft.com/office/drawing/2014/main" id="{B4CF383F-80C0-A4BA-0423-88FCAAFDFE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12"/>
                  <a:ext cx="912" cy="1824"/>
                </a:xfrm>
                <a:prstGeom prst="rect">
                  <a:avLst/>
                </a:pr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" name="Line 26">
                  <a:extLst>
                    <a:ext uri="{FF2B5EF4-FFF2-40B4-BE49-F238E27FC236}">
                      <a16:creationId xmlns="" xmlns:a16="http://schemas.microsoft.com/office/drawing/2014/main" id="{415D9990-E82F-6B1C-582C-3DB2EBB088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84" y="2064"/>
                  <a:ext cx="48" cy="480"/>
                </a:xfrm>
                <a:prstGeom prst="line">
                  <a:avLst/>
                </a:prstGeom>
                <a:noFill/>
                <a:ln w="22225">
                  <a:solidFill>
                    <a:srgbClr val="FF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cxnSp>
              <p:nvCxnSpPr>
                <p:cNvPr id="40" name="AutoShape 27">
                  <a:extLst>
                    <a:ext uri="{FF2B5EF4-FFF2-40B4-BE49-F238E27FC236}">
                      <a16:creationId xmlns="" xmlns:a16="http://schemas.microsoft.com/office/drawing/2014/main" id="{3FF0FB73-6A02-9C53-A90D-D56457CC4D0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0" y="2544"/>
                  <a:ext cx="912" cy="0"/>
                </a:xfrm>
                <a:prstGeom prst="straightConnector1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sp>
        <p:nvSpPr>
          <p:cNvPr id="53" name="Text Box 28">
            <a:extLst>
              <a:ext uri="{FF2B5EF4-FFF2-40B4-BE49-F238E27FC236}">
                <a16:creationId xmlns="" xmlns:a16="http://schemas.microsoft.com/office/drawing/2014/main" id="{90648A9E-D2BA-A57B-DAD0-133ECA121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58395"/>
            <a:ext cx="9144000" cy="1600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lang="zh-CN" altLang="en-US" sz="2800" b="1" kern="0" dirty="0">
                <a:solidFill>
                  <a:srgbClr val="000000"/>
                </a:solidFill>
              </a:rPr>
              <a:t>渗碳后的组织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表层为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珠光体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二次渗碳体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，心部为原始亚共析组织，中间为过渡组织。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7417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第二节  钢的渗碳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渗碳后的热处理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C091929C-8F86-611C-CF5C-39D2F84D0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423990"/>
            <a:ext cx="9143999" cy="446755"/>
          </a:xfrm>
          <a:prstGeom prst="rect">
            <a:avLst/>
          </a:prstGeom>
          <a:solidFill>
            <a:srgbClr val="0070C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defTabSz="457189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/>
                <a:ea typeface="幼圆"/>
              </a:rPr>
              <a:t>直接淬火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="" xmlns:a16="http://schemas.microsoft.com/office/drawing/2014/main" id="{098D0959-1CFB-E7DB-B5E5-622EEA1DA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3887" y="1894585"/>
            <a:ext cx="9143998" cy="113024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通常在渗碳后进行淬火处理，并在淬火后通常进行低温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(150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200℃)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回火，以消除淬火应力和提高韧性。</a:t>
            </a: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="" xmlns:a16="http://schemas.microsoft.com/office/drawing/2014/main" id="{F65C6814-1EF0-BD77-B0AB-5E40606C04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34764"/>
            <a:ext cx="9144000" cy="3623236"/>
          </a:xfrm>
          <a:prstGeom prst="rect">
            <a:avLst/>
          </a:prstGeom>
          <a:solidFill>
            <a:srgbClr val="0070C0">
              <a:alpha val="9000"/>
            </a:srgbClr>
          </a:solidFill>
          <a:ln>
            <a:solidFill>
              <a:srgbClr val="FF0000"/>
            </a:solidFill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直接淬火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渗碳后直接淬火，为了减少淬火时的变形，常将工件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预冷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到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830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850℃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后淬火。预冷后再淬火是为了减少工件的变形开裂；</a:t>
            </a:r>
          </a:p>
          <a:p>
            <a:pPr marL="342900" marR="0" lvl="0" indent="-342900" defTabSz="91440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淬火后进行低温回火；</a:t>
            </a:r>
          </a:p>
          <a:p>
            <a:pPr marL="342900" marR="0" lvl="0" indent="-342900" defTabSz="91440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适用于载荷小、耐磨性要求较低的工件。广泛用于制造承受高速、中载并要求抗冲击和耐磨损的零件，如汽车、拖拉机变速箱齿轮、离合器轴和车辆的伞齿轮和主轴等。</a:t>
            </a:r>
          </a:p>
        </p:txBody>
      </p:sp>
    </p:spTree>
    <p:extLst>
      <p:ext uri="{BB962C8B-B14F-4D97-AF65-F5344CB8AC3E}">
        <p14:creationId xmlns="" xmlns:p14="http://schemas.microsoft.com/office/powerpoint/2010/main" val="1367011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第二节  钢的渗碳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渗碳后的热处理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C091929C-8F86-611C-CF5C-39D2F84D0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423990"/>
            <a:ext cx="9143999" cy="446755"/>
          </a:xfrm>
          <a:prstGeom prst="rect">
            <a:avLst/>
          </a:prstGeom>
          <a:solidFill>
            <a:srgbClr val="0070C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defTabSz="457189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/>
                <a:ea typeface="幼圆"/>
              </a:rPr>
              <a:t>一次淬火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="" xmlns:a16="http://schemas.microsoft.com/office/drawing/2014/main" id="{7B571773-725E-D1FC-9831-BD07E957F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66" y="4145249"/>
            <a:ext cx="8893175" cy="195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淬火温度选择：应兼顾表面和心部的要求，通常：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Pct val="130000"/>
              <a:buFontTx/>
              <a:buChar char="•"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心部性能要求较高时：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 Ac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 以提高心部性能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Pct val="130000"/>
              <a:buFontTx/>
              <a:buChar char="•"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表面性能要求较高时：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 Ac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 以提高表面性能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FF00"/>
              </a:buClr>
              <a:buSzPct val="130000"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一般在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820~850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℃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之间，大于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Ac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，接近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Ac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略低于</a:t>
            </a:r>
            <a:r>
              <a:rPr kumimoji="1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Ac</a:t>
            </a:r>
            <a:r>
              <a:rPr kumimoji="1" lang="en-US" altLang="zh-CN" sz="2400" b="1" i="0" u="none" strike="noStrike" kern="0" cap="none" spc="0" normalizeH="0" baseline="-2500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cm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，可以满足两方面的需求；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="" xmlns:a16="http://schemas.microsoft.com/office/drawing/2014/main" id="{82E39F88-AB71-15E3-E477-C6589E03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770" y="6026361"/>
            <a:ext cx="9023230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应用：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仅适用于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本质细晶粒钢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，如合金钢和不重要的碳钢零件，碳钢的淬火温度比合金钢可适当低一些。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2003F5A9-C15C-1256-23D5-56CD18651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9" y="1895617"/>
            <a:ext cx="73601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渗碳后缓冷，重新加热淬火及低温回火。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="" xmlns:a16="http://schemas.microsoft.com/office/drawing/2014/main" id="{99B2A875-C4A1-DD3F-BB1B-6036415EA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07" y="2506649"/>
            <a:ext cx="125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ea typeface="楷体_GB2312" pitchFamily="49" charset="-122"/>
              </a:rPr>
              <a:t>目的</a:t>
            </a:r>
            <a:r>
              <a:rPr lang="zh-CN" altLang="en-US" sz="2800" b="1" dirty="0">
                <a:solidFill>
                  <a:srgbClr val="00FF00"/>
                </a:solidFill>
                <a:ea typeface="楷体_GB2312" pitchFamily="49" charset="-122"/>
              </a:rPr>
              <a:t>：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="" xmlns:a16="http://schemas.microsoft.com/office/drawing/2014/main" id="{E93E4650-29BE-D418-B2B4-E4E201B06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592" y="2536034"/>
            <a:ext cx="39624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防止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Fe</a:t>
            </a:r>
            <a:r>
              <a:rPr kumimoji="1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1" lang="en-US" altLang="zh-CN" sz="2800" b="1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Ⅱ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的过量析出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细化晶粒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防止变形</a:t>
            </a:r>
          </a:p>
        </p:txBody>
      </p:sp>
    </p:spTree>
    <p:extLst>
      <p:ext uri="{BB962C8B-B14F-4D97-AF65-F5344CB8AC3E}">
        <p14:creationId xmlns="" xmlns:p14="http://schemas.microsoft.com/office/powerpoint/2010/main" val="961441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第二节  钢的渗碳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渗碳后的热处理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C091929C-8F86-611C-CF5C-39D2F84D0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1423990"/>
            <a:ext cx="9143999" cy="446755"/>
          </a:xfrm>
          <a:prstGeom prst="rect">
            <a:avLst/>
          </a:prstGeom>
          <a:solidFill>
            <a:srgbClr val="0070C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defTabSz="457189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20204"/>
                <a:ea typeface="幼圆"/>
              </a:rPr>
              <a:t>二次淬火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="" xmlns:a16="http://schemas.microsoft.com/office/drawing/2014/main" id="{0656673C-D4FF-D25F-3A01-646491BC2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133" y="1891508"/>
            <a:ext cx="8223250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目的：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140000"/>
              <a:buFontTx/>
              <a:buChar char="•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第一次淬火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 Ac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，细化心部组织提高其性能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140000"/>
              <a:buFontTx/>
              <a:buChar char="•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第二次淬火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 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&gt; Ac</a:t>
            </a:r>
            <a:r>
              <a:rPr kumimoji="1" lang="en-US" altLang="zh-CN" sz="28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，细化表层组织提高其性能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140000"/>
              <a:buFontTx/>
              <a:buChar char="•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故可获得表面具有高硬度、耐磨性和疲劳强度，心部具有良好的强韧性和塑性。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="" xmlns:a16="http://schemas.microsoft.com/office/drawing/2014/main" id="{1560DF21-4AF2-D165-538A-4E0B826A2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558" y="4396709"/>
            <a:ext cx="7772400" cy="231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rPr>
              <a:t>应用：</a:t>
            </a:r>
          </a:p>
          <a:p>
            <a:pPr marL="0" marR="0" lvl="0" indent="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    仅适用于本质粗晶粒钢和使用性能要求很高的工件。这种方法工艺较复杂，因加热次数多，工件易氧化、脱碳和变形，成本高等缺点，故目前该工艺已很少采用。</a:t>
            </a:r>
          </a:p>
        </p:txBody>
      </p:sp>
    </p:spTree>
    <p:extLst>
      <p:ext uri="{BB962C8B-B14F-4D97-AF65-F5344CB8AC3E}">
        <p14:creationId xmlns="" xmlns:p14="http://schemas.microsoft.com/office/powerpoint/2010/main" val="3437667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9222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第二节  钢的渗碳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渗碳后的热处理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5E28F0E5-ACB0-408F-0137-CEA6E38D11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sharpenSoften amount="75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17" y="1826913"/>
            <a:ext cx="8254766" cy="490525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73007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第二节  钢的渗碳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渗碳后热处理的组织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CDD48CBE-1181-3EFC-9819-2EED4342E426}"/>
              </a:ext>
            </a:extLst>
          </p:cNvPr>
          <p:cNvGrpSpPr/>
          <p:nvPr/>
        </p:nvGrpSpPr>
        <p:grpSpPr>
          <a:xfrm>
            <a:off x="165894" y="2673074"/>
            <a:ext cx="8812212" cy="2744787"/>
            <a:chOff x="179388" y="1557338"/>
            <a:chExt cx="8812212" cy="2744787"/>
          </a:xfrm>
        </p:grpSpPr>
        <p:sp>
          <p:nvSpPr>
            <p:cNvPr id="4" name="Text Box 4">
              <a:extLst>
                <a:ext uri="{FF2B5EF4-FFF2-40B4-BE49-F238E27FC236}">
                  <a16:creationId xmlns="" xmlns:a16="http://schemas.microsoft.com/office/drawing/2014/main" id="{D456463C-DB69-0162-2D2E-A746A906C9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113" y="1557338"/>
              <a:ext cx="761841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渗碳件渗碳后淬火及低温回火后的组织：</a:t>
              </a:r>
            </a:p>
          </p:txBody>
        </p:sp>
        <p:sp>
          <p:nvSpPr>
            <p:cNvPr id="5" name="Rectangle 8">
              <a:extLst>
                <a:ext uri="{FF2B5EF4-FFF2-40B4-BE49-F238E27FC236}">
                  <a16:creationId xmlns="" xmlns:a16="http://schemas.microsoft.com/office/drawing/2014/main" id="{F50FFB16-2820-768D-61B7-C9EE7C53D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388" y="2717800"/>
              <a:ext cx="1828800" cy="1160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淬透时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: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未淬透时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</a:rPr>
                <a:t>:</a:t>
              </a:r>
            </a:p>
          </p:txBody>
        </p:sp>
        <p:sp>
          <p:nvSpPr>
            <p:cNvPr id="6" name="Rectangle 9">
              <a:extLst>
                <a:ext uri="{FF2B5EF4-FFF2-40B4-BE49-F238E27FC236}">
                  <a16:creationId xmlns="" xmlns:a16="http://schemas.microsoft.com/office/drawing/2014/main" id="{BB08F595-6ED6-0044-E864-FA9571E1A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2746375"/>
              <a:ext cx="231933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kumimoji="1" lang="zh-CN" altLang="en-US" sz="2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回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kumimoji="1" lang="zh-CN" altLang="en-US" sz="2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少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800" b="1" i="0" u="none" strike="noStrike" kern="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endParaRPr kumimoji="1" lang="en-US" altLang="zh-CN" sz="2800" b="1" i="0" u="none" strike="noStrike" kern="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Rectangle 10">
              <a:extLst>
                <a:ext uri="{FF2B5EF4-FFF2-40B4-BE49-F238E27FC236}">
                  <a16:creationId xmlns="" xmlns:a16="http://schemas.microsoft.com/office/drawing/2014/main" id="{B37A075B-7C30-4D08-A789-893A06E02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2746375"/>
              <a:ext cx="54133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→</a:t>
              </a:r>
            </a:p>
          </p:txBody>
        </p:sp>
        <p:sp>
          <p:nvSpPr>
            <p:cNvPr id="9" name="Rectangle 11">
              <a:extLst>
                <a:ext uri="{FF2B5EF4-FFF2-40B4-BE49-F238E27FC236}">
                  <a16:creationId xmlns="" xmlns:a16="http://schemas.microsoft.com/office/drawing/2014/main" id="{4856F6F8-6742-CF7D-30CD-813CDAA49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675" y="2746375"/>
              <a:ext cx="144303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kumimoji="1" lang="zh-CN" altLang="en-US" sz="2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回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800" b="1" i="0" u="none" strike="noStrike" kern="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</a:p>
          </p:txBody>
        </p:sp>
        <p:sp>
          <p:nvSpPr>
            <p:cNvPr id="10" name="Rectangle 12">
              <a:extLst>
                <a:ext uri="{FF2B5EF4-FFF2-40B4-BE49-F238E27FC236}">
                  <a16:creationId xmlns="" xmlns:a16="http://schemas.microsoft.com/office/drawing/2014/main" id="{46B377BD-9726-10CE-71F1-D3ABBEC61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8063" y="2760663"/>
              <a:ext cx="541337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→</a:t>
              </a:r>
            </a:p>
          </p:txBody>
        </p:sp>
        <p:sp>
          <p:nvSpPr>
            <p:cNvPr id="11" name="Rectangle 13">
              <a:extLst>
                <a:ext uri="{FF2B5EF4-FFF2-40B4-BE49-F238E27FC236}">
                  <a16:creationId xmlns="" xmlns:a16="http://schemas.microsoft.com/office/drawing/2014/main" id="{55A99011-D6BF-6273-26C0-7D1C830CE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0825" y="2760663"/>
              <a:ext cx="147637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低碳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kumimoji="1" lang="zh-CN" altLang="en-US" sz="2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回</a:t>
              </a:r>
            </a:p>
          </p:txBody>
        </p:sp>
        <p:sp>
          <p:nvSpPr>
            <p:cNvPr id="12" name="Rectangle 14">
              <a:extLst>
                <a:ext uri="{FF2B5EF4-FFF2-40B4-BE49-F238E27FC236}">
                  <a16:creationId xmlns="" xmlns:a16="http://schemas.microsoft.com/office/drawing/2014/main" id="{513948E9-034C-8B15-C5CF-68289CECD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3341688"/>
              <a:ext cx="231933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kumimoji="1" lang="zh-CN" altLang="en-US" sz="2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回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kumimoji="1" lang="zh-CN" altLang="en-US" sz="2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少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800" b="1" i="0" u="none" strike="noStrike" kern="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</a:p>
          </p:txBody>
        </p:sp>
        <p:sp>
          <p:nvSpPr>
            <p:cNvPr id="13" name="Rectangle 15">
              <a:extLst>
                <a:ext uri="{FF2B5EF4-FFF2-40B4-BE49-F238E27FC236}">
                  <a16:creationId xmlns="" xmlns:a16="http://schemas.microsoft.com/office/drawing/2014/main" id="{5129EC01-315F-4FE7-93E1-2C1AFCE9C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279775"/>
              <a:ext cx="54133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→</a:t>
              </a:r>
            </a:p>
          </p:txBody>
        </p:sp>
        <p:sp>
          <p:nvSpPr>
            <p:cNvPr id="14" name="Rectangle 16">
              <a:extLst>
                <a:ext uri="{FF2B5EF4-FFF2-40B4-BE49-F238E27FC236}">
                  <a16:creationId xmlns="" xmlns:a16="http://schemas.microsoft.com/office/drawing/2014/main" id="{C1E3A6BE-E351-F7A6-AEB0-099B9444F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3355975"/>
              <a:ext cx="1443038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kumimoji="1" lang="zh-CN" altLang="en-US" sz="2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回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2800" b="1" i="0" u="none" strike="noStrike" kern="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</a:p>
          </p:txBody>
        </p:sp>
        <p:sp>
          <p:nvSpPr>
            <p:cNvPr id="15" name="Rectangle 17">
              <a:extLst>
                <a:ext uri="{FF2B5EF4-FFF2-40B4-BE49-F238E27FC236}">
                  <a16:creationId xmlns="" xmlns:a16="http://schemas.microsoft.com/office/drawing/2014/main" id="{B2BEC267-B222-E8AD-B259-A110CAE4F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400" y="3294063"/>
              <a:ext cx="54133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→</a:t>
              </a:r>
            </a:p>
          </p:txBody>
        </p:sp>
        <p:sp>
          <p:nvSpPr>
            <p:cNvPr id="16" name="Rectangle 18">
              <a:extLst>
                <a:ext uri="{FF2B5EF4-FFF2-40B4-BE49-F238E27FC236}">
                  <a16:creationId xmlns="" xmlns:a16="http://schemas.microsoft.com/office/drawing/2014/main" id="{C864FB26-0D67-B900-7E1A-25C300E22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3355975"/>
              <a:ext cx="2667000" cy="946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低碳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kumimoji="1" lang="zh-CN" altLang="en-US" sz="2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回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＋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或有少量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7" name="Text Box 15">
              <a:extLst>
                <a:ext uri="{FF2B5EF4-FFF2-40B4-BE49-F238E27FC236}">
                  <a16:creationId xmlns="" xmlns:a16="http://schemas.microsoft.com/office/drawing/2014/main" id="{7830806A-9F73-B324-39EA-0E58F83B0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613" y="2060575"/>
              <a:ext cx="6048375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表面                                      心部</a:t>
              </a:r>
            </a:p>
          </p:txBody>
        </p:sp>
      </p:grpSp>
    </p:spTree>
    <p:extLst>
      <p:ext uri="{BB962C8B-B14F-4D97-AF65-F5344CB8AC3E}">
        <p14:creationId xmlns="" xmlns:p14="http://schemas.microsoft.com/office/powerpoint/2010/main" val="2215513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第二节  钢的渗碳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渗碳后热处理的组织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="" xmlns:a16="http://schemas.microsoft.com/office/drawing/2014/main" id="{EC92F8E9-CC29-5539-12DB-35D8F9719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396477"/>
            <a:ext cx="9144000" cy="321746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表层组织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1" lang="zh-CN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回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＋粒状碳化物＋少量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A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R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          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硬度为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58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～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62HRC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心部组织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低碳钢：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P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类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+F,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硬度为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10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～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15HRC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低碳合金钢：低碳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M</a:t>
            </a:r>
            <a:r>
              <a:rPr kumimoji="1" lang="zh-CN" altLang="en-US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回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＋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F,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硬度为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35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～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45HR</a:t>
            </a: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            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/>
                <a:ea typeface="黑体" panose="02010609060101010101" pitchFamily="49" charset="-122"/>
                <a:cs typeface="+mn-cs"/>
              </a:rPr>
              <a:t>具有较高强度和足够高的韧性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="" xmlns:a16="http://schemas.microsoft.com/office/drawing/2014/main" id="{6482AA18-8867-2C1C-B9CB-8A06BADD8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" y="4745418"/>
            <a:ext cx="841692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一般渗碳件的加工工艺路线为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99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锻造→正火→机加工→渗碳→淬火→低温回火→精磨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举例：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20CrMnTi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钢制作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汽车齿轮</a:t>
            </a:r>
          </a:p>
        </p:txBody>
      </p:sp>
    </p:spTree>
    <p:extLst>
      <p:ext uri="{BB962C8B-B14F-4D97-AF65-F5344CB8AC3E}">
        <p14:creationId xmlns="" xmlns:p14="http://schemas.microsoft.com/office/powerpoint/2010/main" val="1481122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第二节  钢的渗碳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渗碳后热处理的组织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="" xmlns:a16="http://schemas.microsoft.com/office/drawing/2014/main" id="{85C94CAD-9258-5004-7692-E53C627B1532}"/>
              </a:ext>
            </a:extLst>
          </p:cNvPr>
          <p:cNvGrpSpPr/>
          <p:nvPr/>
        </p:nvGrpSpPr>
        <p:grpSpPr>
          <a:xfrm>
            <a:off x="323325" y="1535025"/>
            <a:ext cx="8497349" cy="5195891"/>
            <a:chOff x="38100" y="304800"/>
            <a:chExt cx="9067800" cy="5897563"/>
          </a:xfrm>
        </p:grpSpPr>
        <p:sp>
          <p:nvSpPr>
            <p:cNvPr id="19" name="Rectangle 3">
              <a:extLst>
                <a:ext uri="{FF2B5EF4-FFF2-40B4-BE49-F238E27FC236}">
                  <a16:creationId xmlns="" xmlns:a16="http://schemas.microsoft.com/office/drawing/2014/main" id="{441C39BD-2DE7-8416-EA54-440ABA1FA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" y="304800"/>
              <a:ext cx="8382000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20CrMnTi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钢齿轮渗碳后淬火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+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低温回火后的组织：</a:t>
              </a:r>
            </a:p>
          </p:txBody>
        </p:sp>
        <p:grpSp>
          <p:nvGrpSpPr>
            <p:cNvPr id="20" name="Group 4">
              <a:extLst>
                <a:ext uri="{FF2B5EF4-FFF2-40B4-BE49-F238E27FC236}">
                  <a16:creationId xmlns="" xmlns:a16="http://schemas.microsoft.com/office/drawing/2014/main" id="{D5348A47-6581-F790-2D39-81A6AD5F93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" y="838200"/>
              <a:ext cx="3048000" cy="5334000"/>
              <a:chOff x="24" y="528"/>
              <a:chExt cx="1920" cy="3360"/>
            </a:xfrm>
          </p:grpSpPr>
          <p:sp>
            <p:nvSpPr>
              <p:cNvPr id="36" name="Text Box 5">
                <a:extLst>
                  <a:ext uri="{FF2B5EF4-FFF2-40B4-BE49-F238E27FC236}">
                    <a16:creationId xmlns="" xmlns:a16="http://schemas.microsoft.com/office/drawing/2014/main" id="{864E12D8-B1D4-9AEA-0823-06C2FFD053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528"/>
                <a:ext cx="1728" cy="264"/>
              </a:xfrm>
              <a:prstGeom prst="rect">
                <a:avLst/>
              </a:prstGeom>
              <a:noFill/>
              <a:ln w="19050">
                <a:solidFill>
                  <a:srgbClr val="00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2075" tIns="0" rIns="92075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节园：</a:t>
                </a:r>
                <a:r>
                  <a:rPr kumimoji="1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  <a:r>
                  <a:rPr kumimoji="1" lang="zh-CN" altLang="en-US" sz="20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回</a:t>
                </a:r>
                <a:r>
                  <a:rPr kumimoji="1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＋</a:t>
                </a:r>
                <a:r>
                  <a:rPr kumimoji="1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K</a:t>
                </a:r>
                <a:r>
                  <a:rPr kumimoji="1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＋</a:t>
                </a: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en-US" altLang="zh-CN" sz="2400" b="1" i="0" u="none" strike="noStrike" kern="0" cap="none" spc="0" normalizeH="0" baseline="30000" noProof="0" dirty="0">
                    <a:ln>
                      <a:noFill/>
                    </a:ln>
                    <a:solidFill>
                      <a:srgbClr val="FFFF9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'</a:t>
                </a:r>
              </a:p>
            </p:txBody>
          </p:sp>
          <p:pic>
            <p:nvPicPr>
              <p:cNvPr id="37" name="Picture 6" descr="20CrMnTi钢渗碳淬火（节圆）组织">
                <a:extLst>
                  <a:ext uri="{FF2B5EF4-FFF2-40B4-BE49-F238E27FC236}">
                    <a16:creationId xmlns="" xmlns:a16="http://schemas.microsoft.com/office/drawing/2014/main" id="{649A6EE0-094A-B5FC-4FC2-6B26A490A1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lum contrast="60000"/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 l="8519" t="2092" r="14450" b="8936"/>
              <a:stretch>
                <a:fillRect/>
              </a:stretch>
            </p:blipFill>
            <p:spPr bwMode="auto">
              <a:xfrm>
                <a:off x="24" y="864"/>
                <a:ext cx="1920" cy="30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1" name="Group 7">
              <a:extLst>
                <a:ext uri="{FF2B5EF4-FFF2-40B4-BE49-F238E27FC236}">
                  <a16:creationId xmlns="" xmlns:a16="http://schemas.microsoft.com/office/drawing/2014/main" id="{13A04953-80AA-DEFB-AC41-752D6D277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0300" y="873125"/>
              <a:ext cx="2895600" cy="5329238"/>
              <a:chOff x="3912" y="550"/>
              <a:chExt cx="1824" cy="3357"/>
            </a:xfrm>
          </p:grpSpPr>
          <p:pic>
            <p:nvPicPr>
              <p:cNvPr id="34" name="Picture 8" descr="20CrMnTi钢渗碳淬火心部组织50X">
                <a:extLst>
                  <a:ext uri="{FF2B5EF4-FFF2-40B4-BE49-F238E27FC236}">
                    <a16:creationId xmlns="" xmlns:a16="http://schemas.microsoft.com/office/drawing/2014/main" id="{443F8C4A-A035-6C39-0A9F-3C3718F1C6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lum contrast="60000"/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 l="23956" t="17444" r="25258"/>
              <a:stretch>
                <a:fillRect/>
              </a:stretch>
            </p:blipFill>
            <p:spPr bwMode="auto">
              <a:xfrm>
                <a:off x="3912" y="864"/>
                <a:ext cx="1824" cy="30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" name="Rectangle 9">
                <a:extLst>
                  <a:ext uri="{FF2B5EF4-FFF2-40B4-BE49-F238E27FC236}">
                    <a16:creationId xmlns="" xmlns:a16="http://schemas.microsoft.com/office/drawing/2014/main" id="{90211EFC-2982-7A9A-2EDC-C1278C388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550"/>
                <a:ext cx="1207" cy="220"/>
              </a:xfrm>
              <a:prstGeom prst="rect">
                <a:avLst/>
              </a:prstGeom>
              <a:noFill/>
              <a:ln w="19050">
                <a:solidFill>
                  <a:srgbClr val="00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心部：低碳</a:t>
                </a:r>
                <a:r>
                  <a:rPr kumimoji="1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</a:p>
            </p:txBody>
          </p:sp>
        </p:grpSp>
        <p:grpSp>
          <p:nvGrpSpPr>
            <p:cNvPr id="22" name="Group 10">
              <a:extLst>
                <a:ext uri="{FF2B5EF4-FFF2-40B4-BE49-F238E27FC236}">
                  <a16:creationId xmlns="" xmlns:a16="http://schemas.microsoft.com/office/drawing/2014/main" id="{5B7B1673-1256-7D2A-DD83-9009A033B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857250"/>
              <a:ext cx="3048000" cy="5318125"/>
              <a:chOff x="1968" y="540"/>
              <a:chExt cx="1920" cy="3350"/>
            </a:xfrm>
          </p:grpSpPr>
          <p:pic>
            <p:nvPicPr>
              <p:cNvPr id="32" name="Picture 11" descr="20CrMnTi钢渗碳淬火（齿顶）组织">
                <a:extLst>
                  <a:ext uri="{FF2B5EF4-FFF2-40B4-BE49-F238E27FC236}">
                    <a16:creationId xmlns="" xmlns:a16="http://schemas.microsoft.com/office/drawing/2014/main" id="{FE96686F-FB09-E581-0793-D045F5310D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lum contrast="60000"/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 l="11446" r="10097" b="6235"/>
              <a:stretch>
                <a:fillRect/>
              </a:stretch>
            </p:blipFill>
            <p:spPr bwMode="auto">
              <a:xfrm>
                <a:off x="1968" y="866"/>
                <a:ext cx="1920" cy="30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" name="Rectangle 12">
                <a:extLst>
                  <a:ext uri="{FF2B5EF4-FFF2-40B4-BE49-F238E27FC236}">
                    <a16:creationId xmlns="" xmlns:a16="http://schemas.microsoft.com/office/drawing/2014/main" id="{900510FF-EA82-D82B-B983-ED74F817DD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540"/>
                <a:ext cx="1728" cy="264"/>
              </a:xfrm>
              <a:prstGeom prst="rect">
                <a:avLst/>
              </a:prstGeom>
              <a:noFill/>
              <a:ln w="19050">
                <a:solidFill>
                  <a:srgbClr val="00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齿顶： </a:t>
                </a:r>
                <a:r>
                  <a:rPr kumimoji="1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  <a:r>
                  <a:rPr kumimoji="1" lang="zh-CN" altLang="en-US" sz="20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回</a:t>
                </a:r>
                <a:r>
                  <a:rPr kumimoji="1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＋</a:t>
                </a:r>
                <a:r>
                  <a:rPr kumimoji="1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K</a:t>
                </a:r>
                <a:r>
                  <a:rPr kumimoji="1" lang="zh-CN" alt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＋</a:t>
                </a: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kumimoji="1" lang="en-US" altLang="zh-CN" sz="2400" b="1" i="0" u="none" strike="noStrike" kern="0" cap="none" spc="0" normalizeH="0" baseline="30000" noProof="0" dirty="0">
                    <a:ln>
                      <a:noFill/>
                    </a:ln>
                    <a:solidFill>
                      <a:srgbClr val="FFFF9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'</a:t>
                </a:r>
                <a:endParaRPr kumimoji="1" lang="en-US" altLang="zh-CN" sz="2400" b="1" i="0" u="none" strike="noStrike" kern="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3" name="Line 13">
              <a:extLst>
                <a:ext uri="{FF2B5EF4-FFF2-40B4-BE49-F238E27FC236}">
                  <a16:creationId xmlns="" xmlns:a16="http://schemas.microsoft.com/office/drawing/2014/main" id="{C0F9AAFA-4D0B-6338-9EEC-9F77BE798FF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052332">
              <a:off x="2513720" y="1110856"/>
              <a:ext cx="303267" cy="1035758"/>
            </a:xfrm>
            <a:prstGeom prst="line">
              <a:avLst/>
            </a:prstGeom>
            <a:noFill/>
            <a:ln w="15875">
              <a:solidFill>
                <a:srgbClr val="00FF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14">
              <a:extLst>
                <a:ext uri="{FF2B5EF4-FFF2-40B4-BE49-F238E27FC236}">
                  <a16:creationId xmlns="" xmlns:a16="http://schemas.microsoft.com/office/drawing/2014/main" id="{C46FC256-91E8-F83E-4AA8-C89135B654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4492" y="1219200"/>
              <a:ext cx="72909" cy="68580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15">
              <a:extLst>
                <a:ext uri="{FF2B5EF4-FFF2-40B4-BE49-F238E27FC236}">
                  <a16:creationId xmlns="" xmlns:a16="http://schemas.microsoft.com/office/drawing/2014/main" id="{F0933B3E-273D-A839-3C23-2D126668E1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1143000"/>
              <a:ext cx="304800" cy="1524000"/>
            </a:xfrm>
            <a:prstGeom prst="line">
              <a:avLst/>
            </a:prstGeom>
            <a:noFill/>
            <a:ln w="22225">
              <a:solidFill>
                <a:srgbClr val="FF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16">
              <a:extLst>
                <a:ext uri="{FF2B5EF4-FFF2-40B4-BE49-F238E27FC236}">
                  <a16:creationId xmlns="" xmlns:a16="http://schemas.microsoft.com/office/drawing/2014/main" id="{E7333CC8-3770-B594-08F7-ECE22735DF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5400" y="1219200"/>
              <a:ext cx="361949" cy="3429000"/>
            </a:xfrm>
            <a:prstGeom prst="line">
              <a:avLst/>
            </a:prstGeom>
            <a:noFill/>
            <a:ln w="19050">
              <a:solidFill>
                <a:srgbClr val="00CC99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17">
              <a:extLst>
                <a:ext uri="{FF2B5EF4-FFF2-40B4-BE49-F238E27FC236}">
                  <a16:creationId xmlns="" xmlns:a16="http://schemas.microsoft.com/office/drawing/2014/main" id="{72147FE7-C872-E954-2029-15197ECE8C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72001" y="1219200"/>
              <a:ext cx="419099" cy="144780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18">
              <a:extLst>
                <a:ext uri="{FF2B5EF4-FFF2-40B4-BE49-F238E27FC236}">
                  <a16:creationId xmlns="" xmlns:a16="http://schemas.microsoft.com/office/drawing/2014/main" id="{1A6528A7-BDCF-DAE5-C261-77C4F53A2C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62400" y="1219200"/>
              <a:ext cx="377707" cy="2362199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9" name="Group 19">
              <a:extLst>
                <a:ext uri="{FF2B5EF4-FFF2-40B4-BE49-F238E27FC236}">
                  <a16:creationId xmlns="" xmlns:a16="http://schemas.microsoft.com/office/drawing/2014/main" id="{C85DB3D1-AEFF-0B71-F5A4-5A3780F2D1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1750" y="1219200"/>
              <a:ext cx="2590800" cy="4572000"/>
              <a:chOff x="4020" y="768"/>
              <a:chExt cx="1632" cy="2880"/>
            </a:xfrm>
          </p:grpSpPr>
          <p:sp>
            <p:nvSpPr>
              <p:cNvPr id="30" name="AutoShape 20">
                <a:extLst>
                  <a:ext uri="{FF2B5EF4-FFF2-40B4-BE49-F238E27FC236}">
                    <a16:creationId xmlns="" xmlns:a16="http://schemas.microsoft.com/office/drawing/2014/main" id="{79CBDE8D-9AFA-36EC-D765-A3C1288F0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0" y="1200"/>
                <a:ext cx="1632" cy="2448"/>
              </a:xfrm>
              <a:prstGeom prst="flowChartConnector">
                <a:avLst/>
              </a:prstGeom>
              <a:noFill/>
              <a:ln w="19050">
                <a:solidFill>
                  <a:srgbClr val="00CC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21">
                <a:extLst>
                  <a:ext uri="{FF2B5EF4-FFF2-40B4-BE49-F238E27FC236}">
                    <a16:creationId xmlns="" xmlns:a16="http://schemas.microsoft.com/office/drawing/2014/main" id="{76F0B0A5-C9B6-1DBA-A141-4DDE87C56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0" y="768"/>
                <a:ext cx="0" cy="432"/>
              </a:xfrm>
              <a:prstGeom prst="line">
                <a:avLst/>
              </a:prstGeom>
              <a:noFill/>
              <a:ln w="19050">
                <a:solidFill>
                  <a:srgbClr val="00CC99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="" xmlns:p14="http://schemas.microsoft.com/office/powerpoint/2010/main" val="21951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第二节  钢的渗碳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渗碳后热处理的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/>
                <a:ea typeface="幼圆"/>
              </a:rPr>
              <a:t>性能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="" xmlns:a16="http://schemas.microsoft.com/office/drawing/2014/main" id="{B01FDF25-B6F9-527F-B5C9-3D04BE53F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21999"/>
            <a:ext cx="8534400" cy="462100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marR="0" lvl="0" indent="-45720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表面硬度高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: 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达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HRC58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以上，耐磨性较好，心部韧性较好，硬度较低。未淬透时低碳心部的硬度约为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HB140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180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 淬透后得到低碳马氏体，硬度可达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HRC30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45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kumimoji="1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疲劳强度高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表层为高碳马氏体，体积膨胀大，心部体积膨胀小，结果在表层中造成压应力，使零件的疲劳强度提高。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9038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第二节  钢的渗碳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渗碳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/>
                <a:ea typeface="幼圆"/>
              </a:rPr>
              <a:t>工艺举例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="" xmlns:a16="http://schemas.microsoft.com/office/drawing/2014/main" id="{5CA88868-EAA2-8282-6226-2864D131D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641" t="8659" r="4753" b="15364"/>
          <a:stretch>
            <a:fillRect/>
          </a:stretch>
        </p:blipFill>
        <p:spPr bwMode="auto">
          <a:xfrm>
            <a:off x="659781" y="1423990"/>
            <a:ext cx="7803875" cy="5434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109389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第二节  钢的渗碳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渗碳工艺举例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="" xmlns:a16="http://schemas.microsoft.com/office/drawing/2014/main" id="{30CA66F7-FCDA-5DC5-FE54-F20397718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6267" t="9636" r="13640" b="15538"/>
          <a:stretch>
            <a:fillRect/>
          </a:stretch>
        </p:blipFill>
        <p:spPr bwMode="auto">
          <a:xfrm>
            <a:off x="0" y="1460116"/>
            <a:ext cx="7703621" cy="5397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>
            <a:extLst>
              <a:ext uri="{FF2B5EF4-FFF2-40B4-BE49-F238E27FC236}">
                <a16:creationId xmlns="" xmlns:a16="http://schemas.microsoft.com/office/drawing/2014/main" id="{F23FD29D-8171-ED3B-A8C8-32EF55680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976" y="1423989"/>
            <a:ext cx="3552024" cy="251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FCA1453-C628-257D-FF58-10C202FC8443}"/>
              </a:ext>
            </a:extLst>
          </p:cNvPr>
          <p:cNvSpPr/>
          <p:nvPr/>
        </p:nvSpPr>
        <p:spPr>
          <a:xfrm>
            <a:off x="0" y="1423989"/>
            <a:ext cx="9144000" cy="5434011"/>
          </a:xfrm>
          <a:prstGeom prst="rect">
            <a:avLst/>
          </a:prstGeom>
          <a:solidFill>
            <a:srgbClr val="00B0F0">
              <a:alpha val="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23416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第三节  钢的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氮化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7D3E46CB-817D-82D2-995E-F6A230424A6C}"/>
              </a:ext>
            </a:extLst>
          </p:cNvPr>
          <p:cNvSpPr/>
          <p:nvPr/>
        </p:nvSpPr>
        <p:spPr>
          <a:xfrm>
            <a:off x="466729" y="1495425"/>
            <a:ext cx="8481270" cy="52450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氮化：将氮渗入钢件表面，以</a:t>
            </a:r>
            <a:r>
              <a:rPr lang="zh-CN" altLang="en-US" sz="2400" dirty="0">
                <a:solidFill>
                  <a:srgbClr val="FF0000"/>
                </a:solidFill>
              </a:rPr>
              <a:t>提高其硬度、耐磨性和疲劳强度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的一种化学热处理方法。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氮化的优点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高的硬度和耐磨性；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高疲劳强度；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变形小且规律性强；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较高的抗“卡咬”能力；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较高的抗腐蚀性能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氮化的缺点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生产周期长，成本较高；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氮化层较薄且脆性较大。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第三节  钢的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氮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化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（氮化原理）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67284" y="1575414"/>
            <a:ext cx="1860406" cy="57928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渗氮原理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47641" y="2384997"/>
            <a:ext cx="774617" cy="51019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b="1" dirty="0"/>
              <a:t>NH</a:t>
            </a:r>
            <a:r>
              <a:rPr lang="en-US" altLang="zh-CN" b="1" baseline="-25000" dirty="0"/>
              <a:t>3</a:t>
            </a:r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1441630" y="2156091"/>
            <a:ext cx="1009651" cy="540308"/>
            <a:chOff x="1140" y="2688"/>
            <a:chExt cx="610" cy="305"/>
          </a:xfrm>
        </p:grpSpPr>
        <p:sp>
          <p:nvSpPr>
            <p:cNvPr id="19" name="AutoShape 8"/>
            <p:cNvSpPr>
              <a:spLocks noChangeArrowheads="1"/>
            </p:cNvSpPr>
            <p:nvPr/>
          </p:nvSpPr>
          <p:spPr bwMode="auto">
            <a:xfrm>
              <a:off x="1140" y="2937"/>
              <a:ext cx="576" cy="56"/>
            </a:xfrm>
            <a:prstGeom prst="rightArrow">
              <a:avLst>
                <a:gd name="adj1" fmla="val 50000"/>
                <a:gd name="adj2" fmla="val 257143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0" name="Text Box 9"/>
            <p:cNvSpPr txBox="1">
              <a:spLocks noChangeArrowheads="1"/>
            </p:cNvSpPr>
            <p:nvPr/>
          </p:nvSpPr>
          <p:spPr bwMode="auto">
            <a:xfrm>
              <a:off x="1154" y="2688"/>
              <a:ext cx="596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/>
                <a:t>550℃</a:t>
              </a:r>
            </a:p>
          </p:txBody>
        </p:sp>
      </p:grp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598969" y="2412557"/>
            <a:ext cx="1911717" cy="51019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b="1" dirty="0"/>
              <a:t>分解活性</a:t>
            </a:r>
            <a:r>
              <a:rPr lang="en-US" altLang="zh-CN" b="1" dirty="0"/>
              <a:t>[N]</a:t>
            </a:r>
          </a:p>
        </p:txBody>
      </p:sp>
      <p:sp>
        <p:nvSpPr>
          <p:cNvPr id="17" name="AutoShape 12"/>
          <p:cNvSpPr>
            <a:spLocks noChangeArrowheads="1"/>
          </p:cNvSpPr>
          <p:nvPr/>
        </p:nvSpPr>
        <p:spPr bwMode="auto">
          <a:xfrm rot="5400000">
            <a:off x="2844789" y="3104584"/>
            <a:ext cx="631967" cy="99204"/>
          </a:xfrm>
          <a:prstGeom prst="rightArrow">
            <a:avLst>
              <a:gd name="adj1" fmla="val 50000"/>
              <a:gd name="adj2" fmla="val 257143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488008" y="3515312"/>
            <a:ext cx="1721852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表面形成固溶体或氮化物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2453489" y="5356416"/>
            <a:ext cx="1683184" cy="64633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b="1" dirty="0"/>
              <a:t>达到一定渗层</a:t>
            </a:r>
            <a:r>
              <a:rPr lang="en-US" altLang="zh-CN" b="1" dirty="0"/>
              <a:t>0.40~0.60mm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2747280" y="4024435"/>
            <a:ext cx="510193" cy="1208612"/>
            <a:chOff x="1606543" y="3082875"/>
            <a:chExt cx="510193" cy="1208612"/>
          </a:xfrm>
        </p:grpSpPr>
        <p:sp>
          <p:nvSpPr>
            <p:cNvPr id="15" name="AutoShape 16"/>
            <p:cNvSpPr>
              <a:spLocks noChangeArrowheads="1"/>
            </p:cNvSpPr>
            <p:nvPr/>
          </p:nvSpPr>
          <p:spPr bwMode="auto">
            <a:xfrm rot="5400000">
              <a:off x="1557329" y="3743031"/>
              <a:ext cx="940134" cy="156778"/>
            </a:xfrm>
            <a:prstGeom prst="rightArrow">
              <a:avLst>
                <a:gd name="adj1" fmla="val 50000"/>
                <a:gd name="adj2" fmla="val 140594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6" name="Text Box 17"/>
            <p:cNvSpPr txBox="1">
              <a:spLocks noChangeArrowheads="1"/>
            </p:cNvSpPr>
            <p:nvPr/>
          </p:nvSpPr>
          <p:spPr bwMode="auto">
            <a:xfrm rot="16200000">
              <a:off x="1276539" y="3412879"/>
              <a:ext cx="1170202" cy="510193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/>
                <a:t>40~70h</a:t>
              </a:r>
            </a:p>
          </p:txBody>
        </p:sp>
      </p:grpSp>
      <p:grpSp>
        <p:nvGrpSpPr>
          <p:cNvPr id="2050" name="Group 232"/>
          <p:cNvGrpSpPr>
            <a:grpSpLocks/>
          </p:cNvGrpSpPr>
          <p:nvPr/>
        </p:nvGrpSpPr>
        <p:grpSpPr bwMode="auto">
          <a:xfrm>
            <a:off x="4680642" y="1575915"/>
            <a:ext cx="4318503" cy="5164389"/>
            <a:chOff x="0" y="0"/>
            <a:chExt cx="4635" cy="5460"/>
          </a:xfrm>
        </p:grpSpPr>
        <p:pic>
          <p:nvPicPr>
            <p:cNvPr id="2051" name="Picture 233" descr="未命名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0" y="0"/>
              <a:ext cx="4307" cy="4680"/>
            </a:xfrm>
            <a:prstGeom prst="rect">
              <a:avLst/>
            </a:prstGeom>
            <a:noFill/>
          </p:spPr>
        </p:pic>
        <p:sp>
          <p:nvSpPr>
            <p:cNvPr id="2052" name="Text Box 234"/>
            <p:cNvSpPr txBox="1">
              <a:spLocks noChangeArrowheads="1"/>
            </p:cNvSpPr>
            <p:nvPr/>
          </p:nvSpPr>
          <p:spPr bwMode="auto">
            <a:xfrm>
              <a:off x="315" y="4680"/>
              <a:ext cx="4320" cy="7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900" dirty="0" smtClean="0">
                  <a:latin typeface="宋体" pitchFamily="2" charset="-122"/>
                  <a:ea typeface="宋体" pitchFamily="2" charset="-122"/>
                  <a:cs typeface="宋体" pitchFamily="2" charset="-122"/>
                </a:rPr>
                <a:t>                          </a:t>
              </a:r>
              <a:endParaRPr lang="en-US" altLang="zh-CN" sz="900" dirty="0" smtClean="0">
                <a:latin typeface="宋体" pitchFamily="2" charset="-122"/>
                <a:ea typeface="宋体" pitchFamily="2" charset="-122"/>
                <a:cs typeface="宋体" pitchFamily="2" charset="-122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                         </a:t>
              </a: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纯铁的表面氮化</a:t>
              </a: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          （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</a:t>
              </a: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）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Fe-N</a:t>
              </a: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相图（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b</a:t>
              </a: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）相分布（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c</a:t>
              </a: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）氮浓度分布</a:t>
              </a:r>
              <a:endParaRPr kumimoji="0" 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第三节  钢的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氮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化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（气体渗氮）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90808" y="1671953"/>
            <a:ext cx="266700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0" rIns="92075" bIns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1. </a:t>
            </a:r>
            <a:r>
              <a:rPr lang="zh-CN" altLang="en-US" sz="2800" b="1" dirty="0">
                <a:ea typeface="楷体_GB2312" pitchFamily="49" charset="-122"/>
              </a:rPr>
              <a:t>气体渗氮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90808" y="2073590"/>
            <a:ext cx="27432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0" rIns="92075" bIns="0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FF00"/>
              </a:buClr>
              <a:buFont typeface="Wingdings" pitchFamily="2" charset="2"/>
              <a:buNone/>
            </a:pPr>
            <a:r>
              <a:rPr lang="zh-CN" altLang="en-US" sz="2800" b="1" dirty="0">
                <a:ea typeface="楷体_GB2312" pitchFamily="49" charset="-122"/>
              </a:rPr>
              <a:t>设备：</a:t>
            </a:r>
          </a:p>
          <a:p>
            <a:pPr eaLnBrk="1" hangingPunct="1">
              <a:spcBef>
                <a:spcPct val="20000"/>
              </a:spcBef>
              <a:buClr>
                <a:srgbClr val="00FF00"/>
              </a:buClr>
              <a:buFont typeface="Wingdings" pitchFamily="2" charset="2"/>
              <a:buNone/>
            </a:pPr>
            <a:r>
              <a:rPr lang="zh-CN" altLang="en-US" sz="2800" b="1" dirty="0"/>
              <a:t>井式气体渗氮炉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90808" y="3064190"/>
            <a:ext cx="3657600" cy="93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0" rIns="92075" bIns="0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00FF00"/>
              </a:buClr>
              <a:buFont typeface="Wingdings" pitchFamily="2" charset="2"/>
              <a:buNone/>
            </a:pPr>
            <a:r>
              <a:rPr lang="zh-CN" altLang="en-US" sz="2800" b="1">
                <a:ea typeface="楷体_GB2312" pitchFamily="49" charset="-122"/>
              </a:rPr>
              <a:t>渗氮剂：</a:t>
            </a:r>
          </a:p>
          <a:p>
            <a:pPr eaLnBrk="1" hangingPunct="1">
              <a:spcBef>
                <a:spcPct val="20000"/>
              </a:spcBef>
              <a:buClr>
                <a:srgbClr val="00FF00"/>
              </a:buClr>
              <a:buFont typeface="Wingdings" pitchFamily="2" charset="2"/>
              <a:buNone/>
            </a:pPr>
            <a:r>
              <a:rPr lang="zh-CN" altLang="en-US" sz="2800" b="1"/>
              <a:t>氨气</a:t>
            </a:r>
            <a:r>
              <a:rPr lang="zh-CN" altLang="en-US" sz="2000" b="1"/>
              <a:t>（</a:t>
            </a:r>
            <a:r>
              <a:rPr lang="en-US" altLang="zh-CN" sz="2000" b="1"/>
              <a:t>2NH</a:t>
            </a:r>
            <a:r>
              <a:rPr lang="en-US" altLang="zh-CN" sz="2000" b="1" baseline="-25000"/>
              <a:t>3</a:t>
            </a:r>
            <a:r>
              <a:rPr lang="en-US" altLang="zh-CN" sz="2000" b="1">
                <a:ea typeface="Arial Unicode MS" pitchFamily="34" charset="-122"/>
                <a:cs typeface="Arial Unicode MS" pitchFamily="34" charset="-122"/>
              </a:rPr>
              <a:t>⇌3H</a:t>
            </a:r>
            <a:r>
              <a:rPr lang="en-US" altLang="zh-CN" sz="2000" b="1" baseline="-25000">
                <a:ea typeface="Arial Unicode MS" pitchFamily="34" charset="-122"/>
                <a:cs typeface="Arial Unicode MS" pitchFamily="34" charset="-122"/>
              </a:rPr>
              <a:t>2</a:t>
            </a:r>
            <a:r>
              <a:rPr lang="zh-CN" altLang="en-US" sz="2000" b="1">
                <a:ea typeface="Arial Unicode MS" pitchFamily="34" charset="-122"/>
                <a:cs typeface="Arial Unicode MS" pitchFamily="34" charset="-122"/>
              </a:rPr>
              <a:t>＋</a:t>
            </a:r>
            <a:r>
              <a:rPr lang="en-US" altLang="zh-CN" sz="2000" b="1">
                <a:ea typeface="Arial Unicode MS" pitchFamily="34" charset="-122"/>
                <a:cs typeface="Arial Unicode MS" pitchFamily="34" charset="-122"/>
              </a:rPr>
              <a:t>2</a:t>
            </a:r>
            <a:r>
              <a:rPr lang="en-US" altLang="zh-CN" sz="2000" b="1">
                <a:cs typeface="Times New Roman" pitchFamily="18" charset="0"/>
              </a:rPr>
              <a:t>[</a:t>
            </a:r>
            <a:r>
              <a:rPr lang="en-US" altLang="zh-CN" sz="2000" b="1"/>
              <a:t>N</a:t>
            </a:r>
            <a:r>
              <a:rPr lang="en-US" altLang="zh-CN" sz="2000" b="1">
                <a:cs typeface="Times New Roman" pitchFamily="18" charset="0"/>
              </a:rPr>
              <a:t>]</a:t>
            </a:r>
            <a:r>
              <a:rPr lang="zh-CN" altLang="en-US" sz="2000" b="1"/>
              <a:t>）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90808" y="4126228"/>
            <a:ext cx="3886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0" rIns="92075" bIns="0">
            <a:spAutoFit/>
          </a:bodyPr>
          <a:lstStyle/>
          <a:p>
            <a:pPr eaLnBrk="1" hangingPunct="1">
              <a:spcBef>
                <a:spcPct val="10000"/>
              </a:spcBef>
              <a:buClr>
                <a:srgbClr val="00FF00"/>
              </a:buClr>
              <a:buFont typeface="Wingdings" pitchFamily="2" charset="2"/>
              <a:buNone/>
            </a:pPr>
            <a:r>
              <a:rPr lang="zh-CN" altLang="en-US" sz="2400" b="1" dirty="0">
                <a:ea typeface="隶书" pitchFamily="49" charset="-122"/>
              </a:rPr>
              <a:t>生产中通常是通过调解氨分解率控制渗氮过程（采用氨分解率测定计）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90808" y="5497828"/>
            <a:ext cx="4038600" cy="89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0" rIns="92075" bIns="0">
            <a:spAutoFit/>
          </a:bodyPr>
          <a:lstStyle/>
          <a:p>
            <a:pPr eaLnBrk="1" hangingPunct="1">
              <a:spcBef>
                <a:spcPct val="10000"/>
              </a:spcBef>
              <a:buClr>
                <a:srgbClr val="00FF00"/>
              </a:buClr>
              <a:buFont typeface="Wingdings" pitchFamily="2" charset="2"/>
              <a:buNone/>
            </a:pPr>
            <a:r>
              <a:rPr lang="zh-CN" altLang="en-US" sz="2800" b="1">
                <a:ea typeface="楷体_GB2312" pitchFamily="49" charset="-122"/>
              </a:rPr>
              <a:t>渗氮温度：</a:t>
            </a:r>
            <a:r>
              <a:rPr lang="en-US" altLang="zh-CN" sz="2800" b="1"/>
              <a:t>500</a:t>
            </a:r>
            <a:r>
              <a:rPr lang="zh-CN" altLang="en-US" sz="2800" b="1"/>
              <a:t>～</a:t>
            </a:r>
            <a:r>
              <a:rPr lang="en-US" altLang="zh-CN" sz="2800" b="1"/>
              <a:t>600℃ </a:t>
            </a:r>
          </a:p>
          <a:p>
            <a:pPr eaLnBrk="1" hangingPunct="1">
              <a:spcBef>
                <a:spcPct val="10000"/>
              </a:spcBef>
              <a:buClr>
                <a:srgbClr val="00FF00"/>
              </a:buClr>
              <a:buFont typeface="Wingdings" pitchFamily="2" charset="2"/>
              <a:buNone/>
            </a:pPr>
            <a:r>
              <a:rPr lang="zh-CN" altLang="en-US" sz="2800" b="1">
                <a:ea typeface="楷体_GB2312" pitchFamily="49" charset="-122"/>
              </a:rPr>
              <a:t>渗层厚度：</a:t>
            </a:r>
            <a:r>
              <a:rPr lang="en-US" altLang="zh-CN" b="1"/>
              <a:t>0.40~0.60mm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7781" y="1739489"/>
            <a:ext cx="4371886" cy="4534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第三节  钢的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氮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化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（离子氮化）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511930"/>
            <a:ext cx="9144000" cy="534607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buFont typeface="Wingdings" pitchFamily="2" charset="2"/>
              <a:buChar char="u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离子氮化（辉光放电氮化或等离子氮化）：将含氮</a:t>
            </a:r>
            <a:r>
              <a:rPr lang="zh-CN" altLang="en-US" sz="2400" dirty="0" smtClean="0">
                <a:solidFill>
                  <a:srgbClr val="FF0000"/>
                </a:solidFill>
              </a:rPr>
              <a:t>气体电离后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产生的氮离子轰击零件表面加热并进行氮化，获得表面渗氮层的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离子化学热处理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工艺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离子氮化的特点：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氮化时间短，可以缩短到气体氮化时间的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2/3~1/3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离子氮化表面形成的白层很薄，甚至没有。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离子氮化引起的变形很小，特别适合形状复杂的精密零件。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易于实现局部氮化。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易于实现均匀氮化。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可适用于各种材料，例如不锈钢、耐热钢、工具钢、氮化钢等。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可节约电能和氨气的消耗。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劳动条件有所改善，不产生污染。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  <a:buFont typeface="Wingdings" pitchFamily="2" charset="2"/>
              <a:buChar char="u"/>
            </a:pP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第三节  钢的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氮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化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（离子氮化）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 rot="10800000" flipV="1">
            <a:off x="147782" y="1382115"/>
            <a:ext cx="8996218" cy="574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984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离子氮化的原理与过程：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2984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zh-CN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真空室内高压电场的作用下进行。氮化的工件</a:t>
            </a: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kumimoji="0" lang="zh-CN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阴极</a:t>
            </a: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r>
              <a:rPr kumimoji="0" lang="zh-CN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阳极</a:t>
            </a: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kumimoji="0" lang="zh-CN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炉罩。</a:t>
            </a:r>
            <a:endParaRPr kumimoji="0" lang="en-US" altLang="zh-CN" sz="240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2984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zh-CN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真空度</a:t>
            </a:r>
            <a:r>
              <a:rPr kumimoji="0" lang="en-US" altLang="zh-CN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0.5</a:t>
            </a: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毫米汞柱以上时，充入少量的氨气。氨气分解：</a:t>
            </a:r>
            <a:endParaRPr kumimoji="0" lang="zh-CN" altLang="en-US" sz="240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96863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         </a:t>
            </a:r>
            <a:r>
              <a:rPr kumimoji="0" lang="en-US" altLang="zh-CN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2NH3</a:t>
            </a:r>
            <a:r>
              <a:rPr kumimoji="0" lang="en-US" altLang="zh-CN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/>
                <a:ea typeface="宋体" pitchFamily="2" charset="-122"/>
                <a:cs typeface="Times New Roman" pitchFamily="18" charset="0"/>
              </a:rPr>
              <a:t>——</a:t>
            </a:r>
            <a:r>
              <a:rPr kumimoji="0" lang="en-US" altLang="zh-CN" sz="240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3H2+2[N]</a:t>
            </a:r>
          </a:p>
          <a:p>
            <a:pPr indent="296863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阴极（工件）表面形成一层紫色的辉光，高能氮离子轰击工件表面，由动能转化为热能使工件表面温度升高。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indent="296863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氮的正离子在阴极夺取电子后还原为氮原子为工件表面吸收，并向内层扩散。</a:t>
            </a:r>
            <a:endParaRPr lang="en-US" altLang="zh-CN" sz="2400" dirty="0" smtClean="0">
              <a:solidFill>
                <a:srgbClr val="00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indent="296863" defTabSz="9144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氮离子溅射，溅射出来的铁离子在等离子区与氮离子化合，形成含氮浓度很高的氮化铁（</a:t>
            </a:r>
            <a:r>
              <a:rPr lang="en-US" altLang="zh-CN" sz="2400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FeN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），氮化铁又重新附着在工件表面，然后分解为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Fe</a:t>
            </a:r>
            <a:r>
              <a:rPr lang="en-US" altLang="zh-CN" sz="2400" baseline="-300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Fe</a:t>
            </a:r>
            <a:r>
              <a:rPr lang="en-US" altLang="zh-CN" sz="2400" baseline="-300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，并释放出氮原子向工件内部扩散，于是在工件表面形成了氮化层。</a:t>
            </a:r>
            <a:r>
              <a:rPr lang="zh-CN" altLang="en-US" sz="800" dirty="0" smtClean="0">
                <a:latin typeface="Arial" pitchFamily="34" charset="0"/>
                <a:ea typeface="宋体" pitchFamily="2" charset="-122"/>
                <a:cs typeface="宋体" pitchFamily="2" charset="-122"/>
              </a:rPr>
              <a:t> </a:t>
            </a:r>
            <a:endParaRPr lang="zh-CN" altLang="en-US" sz="3600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968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400" i="0" u="none" strike="noStrike" cap="none" normalizeH="0" baseline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第三节  钢的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氮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化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（离子氮化）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5113" y="1469125"/>
            <a:ext cx="6275889" cy="505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第三节  钢的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氮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pic>
        <p:nvPicPr>
          <p:cNvPr id="3074" name="Picture 2" descr="https://bkimg.cdn.bcebos.com/pic/f31fbe096b63f6247bca201a8c44ebf81a4ca317?x-bce-process=image/watermark,image_d2F0ZXIvYmFpa2U4MA==,g_7,xp_5,yp_5/format,f_aut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9974" y="1448554"/>
            <a:ext cx="3072422" cy="2883156"/>
          </a:xfrm>
          <a:prstGeom prst="rect">
            <a:avLst/>
          </a:prstGeom>
          <a:noFill/>
        </p:spPr>
      </p:pic>
      <p:pic>
        <p:nvPicPr>
          <p:cNvPr id="3076" name="Picture 4" descr="https://gimg2.baidu.com/image_search/src=http%3A%2F%2Fwhlzdhl87.xmp12.host.35.com%2Fupload%2F20170424%2F103400960.jpeg&amp;refer=http%3A%2F%2Fwhlzdhl87.xmp12.host.35.com&amp;app=2002&amp;size=f9999,10000&amp;q=a80&amp;n=0&amp;g=0n&amp;fmt=auto?sec=1663645075&amp;t=6fa4f846efda8cb5c33c75afa482c7a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72831" y="3055623"/>
            <a:ext cx="3748136" cy="2811102"/>
          </a:xfrm>
          <a:prstGeom prst="rect">
            <a:avLst/>
          </a:prstGeom>
          <a:noFill/>
        </p:spPr>
      </p:pic>
      <p:pic>
        <p:nvPicPr>
          <p:cNvPr id="3078" name="Picture 6" descr="https://gimg2.baidu.com/image_search/src=http%3A%2F%2Fimg.dlwjdh.com%2Fupload%2F5920%2F220615%2F1859b32da323c4f47cd22f65f5fdc985.jpg&amp;refer=http%3A%2F%2Fimg.dlwjdh.com&amp;app=2002&amp;size=f9999,10000&amp;q=a80&amp;n=0&amp;g=0n&amp;fmt=auto?sec=1663645109&amp;t=fb6f1c0df98d8cb078c4372db2520a3d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913" y="1537116"/>
            <a:ext cx="3275688" cy="2424010"/>
          </a:xfrm>
          <a:prstGeom prst="rect">
            <a:avLst/>
          </a:prstGeom>
          <a:noFill/>
        </p:spPr>
      </p:pic>
      <p:pic>
        <p:nvPicPr>
          <p:cNvPr id="3080" name="Picture 8" descr="https://gimg2.baidu.com/image_search/src=http%3A%2F%2Fsem.g3img.com%2Fg3img%2Ffengdong0617%2F20150624160518_36919.jpg&amp;refer=http%3A%2F%2Fsem.g3img.com&amp;app=2002&amp;size=f9999,10000&amp;q=a80&amp;n=0&amp;g=0n&amp;fmt=auto?sec=1663645168&amp;t=764c4df2d0bfa361f8f36665ff9d95a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4033" y="4321583"/>
            <a:ext cx="3313568" cy="2536417"/>
          </a:xfrm>
          <a:prstGeom prst="rect">
            <a:avLst/>
          </a:prstGeom>
          <a:noFill/>
        </p:spPr>
      </p:pic>
      <p:pic>
        <p:nvPicPr>
          <p:cNvPr id="3082" name="Picture 10" descr="https://gimg2.baidu.com/image_search/src=http%3A%2F%2Fimg.diytrade.com%2Fcdimg%2F152062%2F2345483%2F0%2F1252461307.jpg&amp;refer=http%3A%2F%2Fimg.diytrade.com&amp;app=2002&amp;size=f9999,10000&amp;q=a80&amp;n=0&amp;g=0n&amp;fmt=auto?sec=1663645249&amp;t=829c643110643e274a594aed1060243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830431" y="4590107"/>
            <a:ext cx="3057649" cy="21230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第三节  钢的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氮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化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（氮化后的组织和性能）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96159" y="1584356"/>
            <a:ext cx="3859794" cy="504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000" b="1" dirty="0" smtClean="0">
                <a:solidFill>
                  <a:schemeClr val="tx2"/>
                </a:solidFill>
              </a:rPr>
              <a:t>钢</a:t>
            </a:r>
            <a:r>
              <a:rPr lang="zh-CN" altLang="en-US" sz="2000" b="1" dirty="0">
                <a:solidFill>
                  <a:schemeClr val="tx2"/>
                </a:solidFill>
              </a:rPr>
              <a:t>件氮化后具有很高的硬度</a:t>
            </a:r>
            <a:r>
              <a:rPr lang="en-US" altLang="zh-CN" sz="2000" b="1" dirty="0">
                <a:solidFill>
                  <a:schemeClr val="tx2"/>
                </a:solidFill>
              </a:rPr>
              <a:t>(HV1000</a:t>
            </a:r>
            <a:r>
              <a:rPr lang="zh-CN" altLang="en-US" sz="2000" b="1" dirty="0">
                <a:solidFill>
                  <a:schemeClr val="tx2"/>
                </a:solidFill>
              </a:rPr>
              <a:t>～</a:t>
            </a:r>
            <a:r>
              <a:rPr lang="en-US" altLang="zh-CN" sz="2000" b="1" dirty="0">
                <a:solidFill>
                  <a:schemeClr val="tx2"/>
                </a:solidFill>
              </a:rPr>
              <a:t>1100)</a:t>
            </a:r>
            <a:r>
              <a:rPr lang="zh-CN" altLang="en-US" sz="2000" b="1" dirty="0">
                <a:solidFill>
                  <a:schemeClr val="tx2"/>
                </a:solidFill>
              </a:rPr>
              <a:t>、耐磨性和热硬性</a:t>
            </a:r>
            <a:r>
              <a:rPr lang="zh-CN" altLang="en-US" sz="2000" b="1" dirty="0" smtClean="0">
                <a:solidFill>
                  <a:schemeClr val="tx2"/>
                </a:solidFill>
              </a:rPr>
              <a:t>。</a:t>
            </a:r>
            <a:endParaRPr lang="en-US" altLang="zh-CN" sz="2000" b="1" dirty="0" smtClean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000" b="1" dirty="0" smtClean="0">
                <a:solidFill>
                  <a:schemeClr val="tx2"/>
                </a:solidFill>
              </a:rPr>
              <a:t>氮</a:t>
            </a:r>
            <a:r>
              <a:rPr lang="zh-CN" altLang="en-US" sz="2000" b="1" dirty="0">
                <a:solidFill>
                  <a:schemeClr val="tx2"/>
                </a:solidFill>
              </a:rPr>
              <a:t>可溶于铁素体和奥氏体中</a:t>
            </a:r>
            <a:r>
              <a:rPr lang="zh-CN" altLang="en-US" sz="2000" b="1" dirty="0" smtClean="0">
                <a:solidFill>
                  <a:schemeClr val="tx2"/>
                </a:solidFill>
              </a:rPr>
              <a:t>，与</a:t>
            </a:r>
            <a:r>
              <a:rPr lang="zh-CN" altLang="en-US" sz="2000" b="1" dirty="0">
                <a:solidFill>
                  <a:schemeClr val="tx2"/>
                </a:solidFill>
              </a:rPr>
              <a:t>铁形成</a:t>
            </a:r>
            <a:r>
              <a:rPr lang="zh-CN" altLang="en-US" sz="2000" b="1" dirty="0">
                <a:solidFill>
                  <a:schemeClr val="tx2"/>
                </a:solidFill>
                <a:sym typeface="Symbol" pitchFamily="18" charset="2"/>
              </a:rPr>
              <a:t></a:t>
            </a:r>
            <a:r>
              <a:rPr lang="zh-CN" altLang="en-US" sz="2000" b="1" dirty="0">
                <a:solidFill>
                  <a:schemeClr val="tx2"/>
                </a:solidFill>
              </a:rPr>
              <a:t>’相</a:t>
            </a:r>
            <a:r>
              <a:rPr lang="en-US" altLang="zh-CN" sz="2000" b="1" dirty="0">
                <a:solidFill>
                  <a:schemeClr val="tx2"/>
                </a:solidFill>
              </a:rPr>
              <a:t>(Fe</a:t>
            </a:r>
            <a:r>
              <a:rPr lang="en-US" altLang="zh-CN" sz="2000" b="1" baseline="-30000" dirty="0">
                <a:solidFill>
                  <a:schemeClr val="tx2"/>
                </a:solidFill>
              </a:rPr>
              <a:t>4</a:t>
            </a:r>
            <a:r>
              <a:rPr lang="en-US" altLang="zh-CN" sz="2000" b="1" dirty="0">
                <a:solidFill>
                  <a:schemeClr val="tx2"/>
                </a:solidFill>
              </a:rPr>
              <a:t>N)</a:t>
            </a:r>
            <a:r>
              <a:rPr lang="zh-CN" altLang="en-US" sz="2000" b="1" dirty="0">
                <a:solidFill>
                  <a:schemeClr val="tx2"/>
                </a:solidFill>
              </a:rPr>
              <a:t>与</a:t>
            </a:r>
            <a:r>
              <a:rPr lang="zh-CN" altLang="en-US" sz="2000" b="1" dirty="0">
                <a:solidFill>
                  <a:schemeClr val="tx2"/>
                </a:solidFill>
                <a:sym typeface="Symbol" pitchFamily="18" charset="2"/>
              </a:rPr>
              <a:t></a:t>
            </a:r>
            <a:r>
              <a:rPr lang="zh-CN" altLang="en-US" sz="2000" b="1" dirty="0">
                <a:solidFill>
                  <a:schemeClr val="tx2"/>
                </a:solidFill>
              </a:rPr>
              <a:t>相</a:t>
            </a:r>
            <a:r>
              <a:rPr lang="en-US" altLang="zh-CN" sz="2000" b="1" dirty="0">
                <a:solidFill>
                  <a:schemeClr val="tx2"/>
                </a:solidFill>
              </a:rPr>
              <a:t>(Fe</a:t>
            </a:r>
            <a:r>
              <a:rPr lang="en-US" altLang="zh-CN" sz="2000" b="1" baseline="-30000" dirty="0">
                <a:solidFill>
                  <a:schemeClr val="tx2"/>
                </a:solidFill>
              </a:rPr>
              <a:t>2</a:t>
            </a:r>
            <a:r>
              <a:rPr lang="en-US" altLang="zh-CN" sz="2000" b="1" dirty="0">
                <a:solidFill>
                  <a:schemeClr val="tx2"/>
                </a:solidFill>
              </a:rPr>
              <a:t>N)</a:t>
            </a:r>
            <a:r>
              <a:rPr lang="zh-CN" altLang="en-US" sz="2000" b="1" dirty="0">
                <a:solidFill>
                  <a:schemeClr val="tx2"/>
                </a:solidFill>
              </a:rPr>
              <a:t>。氮化后，工件的最外层为一白色</a:t>
            </a:r>
            <a:r>
              <a:rPr lang="zh-CN" altLang="en-US" sz="2000" b="1" dirty="0">
                <a:solidFill>
                  <a:schemeClr val="tx2"/>
                </a:solidFill>
                <a:sym typeface="Symbol" pitchFamily="18" charset="2"/>
              </a:rPr>
              <a:t></a:t>
            </a:r>
            <a:r>
              <a:rPr lang="zh-CN" altLang="en-US" sz="2000" b="1" dirty="0">
                <a:solidFill>
                  <a:schemeClr val="tx2"/>
                </a:solidFill>
              </a:rPr>
              <a:t>或</a:t>
            </a:r>
            <a:r>
              <a:rPr lang="zh-CN" altLang="en-US" sz="2000" b="1" dirty="0">
                <a:solidFill>
                  <a:schemeClr val="tx2"/>
                </a:solidFill>
                <a:sym typeface="Symbol" pitchFamily="18" charset="2"/>
              </a:rPr>
              <a:t></a:t>
            </a:r>
            <a:r>
              <a:rPr lang="zh-CN" altLang="en-US" sz="2000" b="1" dirty="0">
                <a:solidFill>
                  <a:schemeClr val="tx2"/>
                </a:solidFill>
              </a:rPr>
              <a:t>’相的氮化物薄层，很脆，常用精磨磨去，中间是暗黑色含氮共析体</a:t>
            </a:r>
            <a:r>
              <a:rPr lang="en-US" altLang="zh-CN" sz="2000" b="1" dirty="0">
                <a:solidFill>
                  <a:schemeClr val="tx2"/>
                </a:solidFill>
              </a:rPr>
              <a:t>(</a:t>
            </a:r>
            <a:r>
              <a:rPr lang="en-US" altLang="zh-CN" sz="2000" b="1" dirty="0">
                <a:solidFill>
                  <a:schemeClr val="tx2"/>
                </a:solidFill>
                <a:sym typeface="Symbol" pitchFamily="18" charset="2"/>
              </a:rPr>
              <a:t></a:t>
            </a:r>
            <a:r>
              <a:rPr lang="en-US" altLang="zh-CN" sz="2000" b="1" dirty="0">
                <a:solidFill>
                  <a:schemeClr val="tx2"/>
                </a:solidFill>
              </a:rPr>
              <a:t>+</a:t>
            </a:r>
            <a:r>
              <a:rPr lang="en-US" altLang="zh-CN" sz="2000" b="1" dirty="0">
                <a:solidFill>
                  <a:schemeClr val="tx2"/>
                </a:solidFill>
                <a:sym typeface="Symbol" pitchFamily="18" charset="2"/>
              </a:rPr>
              <a:t></a:t>
            </a:r>
            <a:r>
              <a:rPr lang="en-US" altLang="zh-CN" sz="2000" b="1" dirty="0">
                <a:solidFill>
                  <a:schemeClr val="tx2"/>
                </a:solidFill>
              </a:rPr>
              <a:t>’)</a:t>
            </a:r>
            <a:r>
              <a:rPr lang="zh-CN" altLang="en-US" sz="2000" b="1" dirty="0">
                <a:solidFill>
                  <a:schemeClr val="tx2"/>
                </a:solidFill>
              </a:rPr>
              <a:t>层， 心部为原始回火索氏体组织</a:t>
            </a:r>
            <a:r>
              <a:rPr lang="en-US" altLang="zh-CN" sz="2000" b="1" dirty="0">
                <a:solidFill>
                  <a:schemeClr val="tx2"/>
                </a:solidFill>
              </a:rPr>
              <a:t>(</a:t>
            </a:r>
            <a:r>
              <a:rPr lang="zh-CN" altLang="en-US" sz="2000" b="1" dirty="0">
                <a:solidFill>
                  <a:schemeClr val="tx2"/>
                </a:solidFill>
                <a:hlinkClick r:id="rId3" action="ppaction://hlinksldjump"/>
              </a:rPr>
              <a:t>照片</a:t>
            </a:r>
            <a:r>
              <a:rPr lang="en-US" altLang="zh-CN" sz="2000" b="1" dirty="0">
                <a:solidFill>
                  <a:schemeClr val="tx2"/>
                </a:solidFill>
              </a:rPr>
              <a:t>)</a:t>
            </a:r>
            <a:r>
              <a:rPr lang="zh-CN" altLang="en-US" sz="2000" b="1" dirty="0">
                <a:solidFill>
                  <a:schemeClr val="tx2"/>
                </a:solidFill>
              </a:rPr>
              <a:t>。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2000" b="1" dirty="0" smtClean="0">
                <a:solidFill>
                  <a:schemeClr val="accent2"/>
                </a:solidFill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</a:rPr>
              <a:t>钢氮化后，渗层体积增大，造成表面压应力，使疲劳强度大大提高。</a:t>
            </a:r>
            <a:endParaRPr lang="zh-CN" altLang="en-US" sz="20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20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氮化温度低，零件变形小。</a:t>
            </a:r>
            <a:endParaRPr lang="zh-CN" altLang="en-US" sz="20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2000" b="1" dirty="0" smtClean="0">
                <a:solidFill>
                  <a:schemeClr val="tx2"/>
                </a:solidFill>
              </a:rPr>
              <a:t> </a:t>
            </a:r>
            <a:r>
              <a:rPr lang="zh-CN" altLang="en-US" sz="2000" b="1" dirty="0">
                <a:solidFill>
                  <a:schemeClr val="tx2"/>
                </a:solidFill>
              </a:rPr>
              <a:t>氮化后表面形成致密的化学稳定性较高的</a:t>
            </a:r>
            <a:r>
              <a:rPr lang="zh-CN" altLang="en-US" sz="2000" b="1" dirty="0">
                <a:solidFill>
                  <a:schemeClr val="tx2"/>
                </a:solidFill>
                <a:sym typeface="Symbol" pitchFamily="18" charset="2"/>
              </a:rPr>
              <a:t> </a:t>
            </a:r>
            <a:r>
              <a:rPr lang="zh-CN" altLang="en-US" sz="2000" b="1" dirty="0">
                <a:solidFill>
                  <a:schemeClr val="tx2"/>
                </a:solidFill>
              </a:rPr>
              <a:t>相层，所以耐蚀性好。</a:t>
            </a:r>
          </a:p>
        </p:txBody>
      </p:sp>
      <p:grpSp>
        <p:nvGrpSpPr>
          <p:cNvPr id="7" name="Group 232"/>
          <p:cNvGrpSpPr>
            <a:grpSpLocks/>
          </p:cNvGrpSpPr>
          <p:nvPr/>
        </p:nvGrpSpPr>
        <p:grpSpPr bwMode="auto">
          <a:xfrm>
            <a:off x="4680642" y="1575915"/>
            <a:ext cx="4318503" cy="5164389"/>
            <a:chOff x="0" y="0"/>
            <a:chExt cx="4635" cy="5460"/>
          </a:xfrm>
        </p:grpSpPr>
        <p:pic>
          <p:nvPicPr>
            <p:cNvPr id="9" name="Picture 233" descr="未命名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0" y="0"/>
              <a:ext cx="4307" cy="4680"/>
            </a:xfrm>
            <a:prstGeom prst="rect">
              <a:avLst/>
            </a:prstGeom>
            <a:noFill/>
          </p:spPr>
        </p:pic>
        <p:sp>
          <p:nvSpPr>
            <p:cNvPr id="10" name="Text Box 234"/>
            <p:cNvSpPr txBox="1">
              <a:spLocks noChangeArrowheads="1"/>
            </p:cNvSpPr>
            <p:nvPr/>
          </p:nvSpPr>
          <p:spPr bwMode="auto">
            <a:xfrm>
              <a:off x="315" y="4680"/>
              <a:ext cx="4320" cy="7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900" dirty="0" smtClean="0">
                  <a:latin typeface="宋体" pitchFamily="2" charset="-122"/>
                  <a:ea typeface="宋体" pitchFamily="2" charset="-122"/>
                  <a:cs typeface="宋体" pitchFamily="2" charset="-122"/>
                </a:rPr>
                <a:t>                          </a:t>
              </a:r>
              <a:endParaRPr lang="en-US" altLang="zh-CN" sz="900" dirty="0" smtClean="0">
                <a:latin typeface="宋体" pitchFamily="2" charset="-122"/>
                <a:ea typeface="宋体" pitchFamily="2" charset="-122"/>
                <a:cs typeface="宋体" pitchFamily="2" charset="-122"/>
              </a:endParaRP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                         </a:t>
              </a: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纯铁的表面氮化</a:t>
              </a:r>
            </a:p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          （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a</a:t>
              </a: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）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Fe-N</a:t>
              </a: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相图（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b</a:t>
              </a: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）相分布（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c</a:t>
              </a:r>
              <a:r>
                <a:rPr kumimoji="0" lang="zh-CN" altLang="en-US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itchFamily="2" charset="-122"/>
                  <a:ea typeface="宋体" pitchFamily="2" charset="-122"/>
                  <a:cs typeface="宋体" pitchFamily="2" charset="-122"/>
                </a:rPr>
                <a:t>）氮浓度分布</a:t>
              </a:r>
              <a:endParaRPr kumimoji="0" 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pitchFamily="2" charset="-122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第三节  钢的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氮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化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（氮化后的组织和性能）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1474" y="2045799"/>
            <a:ext cx="5024437" cy="379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535911" y="2799862"/>
            <a:ext cx="3257550" cy="216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材料：</a:t>
            </a:r>
            <a:r>
              <a:rPr lang="en-US" altLang="zh-CN" dirty="0">
                <a:solidFill>
                  <a:srgbClr val="000000"/>
                </a:solidFill>
              </a:rPr>
              <a:t>38CrMoAl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腐蚀剂：</a:t>
            </a:r>
            <a:r>
              <a:rPr lang="en-US" altLang="zh-CN" dirty="0">
                <a:solidFill>
                  <a:srgbClr val="000000"/>
                </a:solidFill>
              </a:rPr>
              <a:t>4%</a:t>
            </a:r>
            <a:r>
              <a:rPr lang="zh-CN" altLang="en-US" dirty="0">
                <a:solidFill>
                  <a:srgbClr val="000000"/>
                </a:solidFill>
              </a:rPr>
              <a:t>硝酸酒精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处理工艺：调质后渗氮</a:t>
            </a:r>
            <a:endParaRPr lang="en-US" altLang="zh-CN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基体为回火索氏体，白亮的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层为氮化物层，</a:t>
            </a:r>
            <a:r>
              <a:rPr lang="en-US" altLang="zh-CN" dirty="0">
                <a:solidFill>
                  <a:srgbClr val="000000"/>
                </a:solidFill>
              </a:rPr>
              <a:t>B</a:t>
            </a:r>
            <a:r>
              <a:rPr lang="zh-CN" altLang="en-US" dirty="0">
                <a:solidFill>
                  <a:srgbClr val="000000"/>
                </a:solidFill>
              </a:rPr>
              <a:t>、</a:t>
            </a:r>
            <a:r>
              <a:rPr lang="en-US" altLang="zh-CN" dirty="0">
                <a:solidFill>
                  <a:srgbClr val="000000"/>
                </a:solidFill>
              </a:rPr>
              <a:t>C</a:t>
            </a:r>
            <a:r>
              <a:rPr lang="zh-CN" altLang="en-US" dirty="0">
                <a:solidFill>
                  <a:srgbClr val="000000"/>
                </a:solidFill>
              </a:rPr>
              <a:t>为扩散层</a:t>
            </a:r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第三节  钢的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氮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化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（氮化后的组织和性能）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868786" y="5926232"/>
            <a:ext cx="487680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b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钢渗氮缓冷至室温的显微组织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703497" y="1420155"/>
            <a:ext cx="7915402" cy="4477918"/>
            <a:chOff x="703497" y="1420155"/>
            <a:chExt cx="7915402" cy="4477918"/>
          </a:xfrm>
        </p:grpSpPr>
        <p:pic>
          <p:nvPicPr>
            <p:cNvPr id="9" name="Picture 3" descr="40Cr钢渗氮2  20X"/>
            <p:cNvPicPr>
              <a:picLocks noChangeAspect="1" noChangeArrowheads="1"/>
            </p:cNvPicPr>
            <p:nvPr/>
          </p:nvPicPr>
          <p:blipFill>
            <a:blip r:embed="rId3" cstate="print">
              <a:lum bright="-24000" contrast="36000"/>
            </a:blip>
            <a:srcRect t="4422" b="20209"/>
            <a:stretch>
              <a:fillRect/>
            </a:stretch>
          </p:blipFill>
          <p:spPr bwMode="auto">
            <a:xfrm>
              <a:off x="4983177" y="1430449"/>
              <a:ext cx="3635722" cy="44676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4956960" y="5520133"/>
              <a:ext cx="1295400" cy="371369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  <a:effectLst/>
          </p:spPr>
          <p:txBody>
            <a:bodyPr tIns="0" bIns="0" anchor="b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</a:t>
              </a:r>
              <a:r>
                <a:rPr lang="en-US" altLang="zh-CN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40Cr</a:t>
              </a:r>
              <a:r>
                <a:rPr lang="zh-CN" altLang="en-US" b="1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钢</a:t>
              </a:r>
            </a:p>
          </p:txBody>
        </p:sp>
        <p:pic>
          <p:nvPicPr>
            <p:cNvPr id="13" name="Picture 7" descr="45钢渗氮1  20x"/>
            <p:cNvPicPr>
              <a:picLocks noChangeAspect="1" noChangeArrowheads="1"/>
            </p:cNvPicPr>
            <p:nvPr/>
          </p:nvPicPr>
          <p:blipFill>
            <a:blip r:embed="rId4" cstate="print"/>
            <a:srcRect t="16142"/>
            <a:stretch>
              <a:fillRect/>
            </a:stretch>
          </p:blipFill>
          <p:spPr bwMode="auto">
            <a:xfrm>
              <a:off x="703497" y="1420155"/>
              <a:ext cx="3452043" cy="4422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712551" y="5452659"/>
              <a:ext cx="838200" cy="375121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tIns="0" bIns="0" anchor="b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dirty="0"/>
                <a:t>45</a:t>
              </a:r>
              <a:r>
                <a:rPr lang="zh-CN" altLang="en-US" b="1" dirty="0"/>
                <a:t>钢</a:t>
              </a:r>
            </a:p>
          </p:txBody>
        </p:sp>
      </p:grp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657052" y="6430963"/>
            <a:ext cx="7918450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b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由表至里为：</a:t>
            </a:r>
            <a:r>
              <a:rPr lang="en-US" altLang="zh-CN" sz="2800" b="1" dirty="0" err="1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ε+γ</a:t>
            </a:r>
            <a:r>
              <a:rPr lang="en-US" altLang="zh-CN" sz="2800" b="1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´</a:t>
            </a:r>
            <a:r>
              <a:rPr lang="zh-CN" altLang="en-US" sz="2800" b="1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相</a:t>
            </a:r>
            <a:r>
              <a:rPr lang="zh-CN" altLang="en-US" sz="2800" b="1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</a:rPr>
              <a:t>→</a:t>
            </a:r>
            <a:r>
              <a:rPr lang="zh-CN" altLang="en-US" sz="2800" b="1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800" b="1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γ´</a:t>
            </a:r>
            <a:r>
              <a:rPr lang="zh-CN" altLang="en-US" sz="2800" b="1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相</a:t>
            </a:r>
            <a:r>
              <a:rPr lang="zh-CN" altLang="en-US" sz="2800" b="1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Times New Roman" pitchFamily="18" charset="0"/>
              </a:rPr>
              <a:t> </a:t>
            </a:r>
            <a:r>
              <a:rPr lang="zh-CN" altLang="en-US" sz="2800" b="1" dirty="0">
                <a:solidFill>
                  <a:srgbClr val="FFFF00"/>
                </a:solidFill>
              </a:rPr>
              <a:t>→</a:t>
            </a:r>
            <a:r>
              <a:rPr lang="zh-CN" alt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心部</a:t>
            </a:r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第四节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软氮化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4856" y="1466661"/>
            <a:ext cx="8999144" cy="5142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u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软氮化本质上是氮碳共渗，在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500~580℃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下对钢件表面同时渗入氮、碳原子的化学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表面热处理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工艺。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itchFamily="2" charset="2"/>
              <a:buChar char="u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软氮化方法：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气体软氮化：在含有碳、氮原子的气氛中进行低温氮、碳共渗，常用用的共渗介质有尿素、甲酰胺和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三乙醇胺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，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液体软氮化：在盐浴中完成。盐浴一般是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NaCN(40%~50%)+Na</a:t>
            </a:r>
            <a:r>
              <a:rPr lang="en-US" altLang="zh-CN" sz="24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</a:t>
            </a:r>
            <a:r>
              <a:rPr lang="en-US" altLang="zh-CN" sz="24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(30%~40%)+</a:t>
            </a:r>
            <a:r>
              <a:rPr lang="en-US" altLang="zh-CN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KCl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(20%~25%)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或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NaCN(55%~65%)+KCN (35%~45%)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原理：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获得氰酸根：</a:t>
            </a:r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01112" y="4928008"/>
            <a:ext cx="5087334" cy="1748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第四节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软氮化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439501"/>
            <a:ext cx="9144000" cy="32501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缺点：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盐浴活性差；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氰盐有剧毒。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现代常用的软氮化工艺：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配方：尿素：碳酸钠：氯化钾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=3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：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：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（重量比）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0886" y="4601048"/>
            <a:ext cx="779145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第四节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软氮化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(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软氮化的组织与性能特点）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439501"/>
            <a:ext cx="9144000" cy="15934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软氮化后的组织（由表及里）：化合物层（</a:t>
            </a:r>
            <a:r>
              <a:rPr lang="el-GR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宋体"/>
              </a:rPr>
              <a:t>ε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宋体"/>
              </a:rPr>
              <a:t>-Fe(C,N)+</a:t>
            </a:r>
            <a:r>
              <a:rPr lang="el-GR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宋体"/>
              </a:rPr>
              <a:t>γ′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宋体"/>
              </a:rPr>
              <a:t>-Fe</a:t>
            </a:r>
            <a:r>
              <a:rPr lang="en-US" altLang="zh-CN" sz="24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宋体"/>
              </a:rPr>
              <a:t>4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宋体"/>
              </a:rPr>
              <a:t>N)</a:t>
            </a: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扩散层（慢冷：基体组织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高度弥散氮化物；快冷：氮溶入基体，含氮固溶体）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8564579" y="1747318"/>
            <a:ext cx="579421" cy="9053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060" name="Picture 4" descr="https://bkimg.cdn.bcebos.com/pic/9213b07eca80653884f445ff9bdda144ac3482c4?x-bce-process=image/watermark,image_d2F0ZXIvYmFpa2U5Mg==,g_7,xp_5,yp_5/format,f_aut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7705" y="2906161"/>
            <a:ext cx="4306864" cy="36282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第四节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软氮化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(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软氮化的组织与性能特点）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61315" y="1937441"/>
            <a:ext cx="6790099" cy="3395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  <a:buFont typeface="Wingdings" pitchFamily="2" charset="2"/>
              <a:buChar char="u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软氮化的特点：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宋体"/>
              </a:rPr>
              <a:t>提高零件的耐磨性和抗咬卡、抗擦伤性能；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ea typeface="宋体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宋体"/>
              </a:rPr>
              <a:t>提高零件的疲劳强度；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ea typeface="宋体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宋体"/>
              </a:rPr>
              <a:t>渗入速度快、生产效率高；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ea typeface="宋体"/>
            </a:endParaRP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ea typeface="宋体"/>
              </a:rPr>
              <a:t>提高钢的抗大气和海水腐蚀能力。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ea typeface="宋体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第五节  钢的碳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氮共渗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59120" y="1765426"/>
            <a:ext cx="8534400" cy="2398713"/>
          </a:xfrm>
          <a:prstGeom prst="rect">
            <a:avLst/>
          </a:prstGeom>
          <a:solidFill>
            <a:srgbClr val="00B0F0">
              <a:alpha val="13000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碳氮共渗</a:t>
            </a:r>
            <a:r>
              <a:rPr lang="zh-CN" altLang="en-US" sz="2800" b="1" dirty="0">
                <a:solidFill>
                  <a:schemeClr val="tx2"/>
                </a:solidFill>
              </a:rPr>
              <a:t>就是同时向零件表面渗入碳和氮的化学热处理工艺，也称</a:t>
            </a:r>
            <a:r>
              <a:rPr lang="zh-CN" altLang="en-US" sz="2800" b="1" dirty="0">
                <a:solidFill>
                  <a:srgbClr val="FF0000"/>
                </a:solidFill>
              </a:rPr>
              <a:t>氰化</a:t>
            </a:r>
            <a:r>
              <a:rPr lang="zh-CN" altLang="en-US" sz="2800" b="1" dirty="0">
                <a:solidFill>
                  <a:schemeClr val="tx2"/>
                </a:solidFill>
              </a:rPr>
              <a:t>。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主要有</a:t>
            </a:r>
            <a:r>
              <a:rPr lang="zh-CN" altLang="en-US" sz="2800" b="1" dirty="0">
                <a:solidFill>
                  <a:srgbClr val="FF0000"/>
                </a:solidFill>
              </a:rPr>
              <a:t>液体碳氮共渗</a:t>
            </a:r>
            <a:r>
              <a:rPr lang="zh-CN" altLang="en-US" sz="2800" b="1" dirty="0">
                <a:solidFill>
                  <a:schemeClr val="tx2"/>
                </a:solidFill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</a:rPr>
              <a:t>气体碳氮共渗</a:t>
            </a:r>
            <a:r>
              <a:rPr lang="zh-CN" altLang="en-US" sz="2800" b="1" dirty="0">
                <a:solidFill>
                  <a:schemeClr val="tx2"/>
                </a:solidFill>
              </a:rPr>
              <a:t>两种。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液体碳氮共渗有毒，污染环境，劳动条件差，已很少应用。气体碳氮共渗又分</a:t>
            </a:r>
            <a:r>
              <a:rPr lang="zh-CN" altLang="en-US" sz="2800" b="1" dirty="0">
                <a:solidFill>
                  <a:srgbClr val="FF0000"/>
                </a:solidFill>
              </a:rPr>
              <a:t>高温</a:t>
            </a:r>
            <a:r>
              <a:rPr lang="zh-CN" altLang="en-US" sz="2800" b="1" dirty="0">
                <a:solidFill>
                  <a:schemeClr val="tx2"/>
                </a:solidFill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</a:rPr>
              <a:t>低温</a:t>
            </a:r>
            <a:r>
              <a:rPr lang="zh-CN" altLang="en-US" sz="2800" b="1" dirty="0">
                <a:solidFill>
                  <a:schemeClr val="tx2"/>
                </a:solidFill>
              </a:rPr>
              <a:t>两种。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05145" y="4351464"/>
            <a:ext cx="8686800" cy="2014537"/>
          </a:xfrm>
          <a:prstGeom prst="rect">
            <a:avLst/>
          </a:prstGeom>
          <a:solidFill>
            <a:srgbClr val="00B0F0">
              <a:alpha val="13000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共渗工艺和渗碳相比，具有时间短，生产效率高，表面硬度高，变形小等优点。但共渗层较薄，主要用于形状复杂，要求变形小的小型耐磨零件。 </a:t>
            </a:r>
          </a:p>
          <a:p>
            <a:pPr eaLnBrk="1" hangingPunct="1">
              <a:spcBef>
                <a:spcPct val="50000"/>
              </a:spcBef>
            </a:pPr>
            <a:endParaRPr lang="en-US" altLang="zh-CN" sz="2800" b="1" dirty="0"/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9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第五节  钢的碳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氮共渗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（高温碳氮共渗）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81000" y="1544371"/>
            <a:ext cx="8686800" cy="1373188"/>
          </a:xfrm>
          <a:prstGeom prst="rect">
            <a:avLst/>
          </a:prstGeom>
          <a:solidFill>
            <a:srgbClr val="66FFCC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spcBef>
                <a:spcPct val="20000"/>
              </a:spcBef>
              <a:buFont typeface="Wingdings" pitchFamily="2" charset="2"/>
              <a:buChar char="u"/>
            </a:pPr>
            <a:r>
              <a:rPr lang="zh-CN" altLang="en-US" sz="2800" b="1" dirty="0">
                <a:solidFill>
                  <a:schemeClr val="tx2"/>
                </a:solidFill>
              </a:rPr>
              <a:t>与渗碳一样，将工件放入密封炉内，加热到共渗温度，向炉内滴入煤油，同时通以氨气（</a:t>
            </a:r>
            <a:r>
              <a:rPr lang="en-US" altLang="zh-CN" sz="2800" b="1" dirty="0">
                <a:solidFill>
                  <a:schemeClr val="tx2"/>
                </a:solidFill>
              </a:rPr>
              <a:t>NH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</a:rPr>
              <a:t>），经保温后，工件表面获得一定深度的共渗层。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81000" y="2992171"/>
            <a:ext cx="8763000" cy="239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chemeClr val="accent2"/>
                </a:solidFill>
              </a:rPr>
              <a:t>高温碳氮共渗主要是渗碳</a:t>
            </a:r>
            <a:r>
              <a:rPr lang="zh-CN" altLang="en-US" sz="2800" b="1" dirty="0">
                <a:solidFill>
                  <a:srgbClr val="FF0000"/>
                </a:solidFill>
              </a:rPr>
              <a:t>，但氮的渗入使碳浓度很快提高，从而使共渗温度降低和时间缩短。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碳氮共渗温度为</a:t>
            </a:r>
            <a:r>
              <a:rPr lang="en-US" altLang="zh-CN" sz="2800" b="1" dirty="0">
                <a:solidFill>
                  <a:srgbClr val="FF0000"/>
                </a:solidFill>
              </a:rPr>
              <a:t>830</a:t>
            </a:r>
            <a:r>
              <a:rPr lang="zh-CN" altLang="en-US" sz="2800" b="1" dirty="0">
                <a:solidFill>
                  <a:srgbClr val="FF0000"/>
                </a:solidFill>
              </a:rPr>
              <a:t>～</a:t>
            </a:r>
            <a:r>
              <a:rPr lang="en-US" altLang="zh-CN" sz="2800" b="1" dirty="0">
                <a:solidFill>
                  <a:srgbClr val="FF0000"/>
                </a:solidFill>
              </a:rPr>
              <a:t>850℃</a:t>
            </a:r>
            <a:r>
              <a:rPr lang="zh-CN" altLang="en-US" sz="2800" b="1" dirty="0">
                <a:solidFill>
                  <a:srgbClr val="FF0000"/>
                </a:solidFill>
              </a:rPr>
              <a:t>，保温</a:t>
            </a: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～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小时后，共渗层可达</a:t>
            </a:r>
            <a:r>
              <a:rPr lang="en-US" altLang="zh-CN" sz="2800" b="1" dirty="0">
                <a:solidFill>
                  <a:srgbClr val="FF0000"/>
                </a:solidFill>
              </a:rPr>
              <a:t>0.2</a:t>
            </a:r>
            <a:r>
              <a:rPr lang="zh-CN" altLang="en-US" sz="2800" b="1" dirty="0">
                <a:solidFill>
                  <a:srgbClr val="FF0000"/>
                </a:solidFill>
              </a:rPr>
              <a:t>～</a:t>
            </a:r>
            <a:r>
              <a:rPr lang="en-US" altLang="zh-CN" sz="2800" b="1" dirty="0">
                <a:solidFill>
                  <a:srgbClr val="FF0000"/>
                </a:solidFill>
              </a:rPr>
              <a:t>0.5mm</a:t>
            </a:r>
            <a:r>
              <a:rPr lang="zh-CN" altLang="en-US" sz="2800" b="1" dirty="0">
                <a:solidFill>
                  <a:srgbClr val="FF0000"/>
                </a:solidFill>
              </a:rPr>
              <a:t>。</a:t>
            </a:r>
          </a:p>
          <a:p>
            <a:pPr eaLnBrk="1" hangingPunct="1">
              <a:spcBef>
                <a:spcPct val="20000"/>
              </a:spcBef>
            </a:pPr>
            <a:endParaRPr lang="en-US" altLang="zh-CN" sz="2800" b="1" dirty="0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12278" y="5035975"/>
            <a:ext cx="8534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</a:rPr>
              <a:t>碳氮共渗后淬火，再低温回火。共渗温度较低，晶粒不会长的太大，一般可采用</a:t>
            </a:r>
            <a:r>
              <a:rPr lang="zh-CN" altLang="en-US" sz="2800" b="1" dirty="0">
                <a:solidFill>
                  <a:srgbClr val="FF0000"/>
                </a:solidFill>
              </a:rPr>
              <a:t>直接淬火</a:t>
            </a:r>
            <a:r>
              <a:rPr lang="zh-CN" altLang="en-US" sz="2800" b="1" dirty="0">
                <a:solidFill>
                  <a:schemeClr val="accent2"/>
                </a:solidFill>
              </a:rPr>
              <a:t>。</a:t>
            </a:r>
          </a:p>
        </p:txBody>
      </p:sp>
      <p:sp>
        <p:nvSpPr>
          <p:cNvPr id="13" name="矩形 12"/>
          <p:cNvSpPr/>
          <p:nvPr/>
        </p:nvSpPr>
        <p:spPr>
          <a:xfrm>
            <a:off x="0" y="6396274"/>
            <a:ext cx="9144000" cy="4617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/>
              <a:t>低温碳氮共渗即软氮化，已渗氮为主。</a:t>
            </a:r>
            <a:endParaRPr lang="zh-CN" alt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10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第六节   渗金属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94894" y="1576230"/>
            <a:ext cx="8468449" cy="5159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利用化学热处理方法将金属（如铬、钒、铌、钛）原子渗入工件表面的工艺称为渗金属。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渗铬工艺常用于耐腐蚀、抗高温氧化、耐磨损和需提高疲劳强度的工件，适用于碳钢、合金钢、铸铁、铁基合金、镍基合金、钴基合金、难熔金属等材料的表面改性处理。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渗钛可提高钢铁的耐蚀性、表面硬度和耐磨性；可提高铜基合金、铝基合金的表面硬度、耐磨性、热稳定性能。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渗钒、铌工艺主要用于要求超高硬度、高耐磨性的工件。</a:t>
            </a:r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第六节   渗金属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1572081"/>
            <a:ext cx="8866801" cy="4611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原理：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利用铬、钒、铌、钛与碳的亲和力比铁强，能从铁中获得碳原子的能力，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形成金属碳化物渗层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铬、钒、钛的原子直径较大，渗入钢件中造成晶格的畸变，表面能升高，但由于这些元素与碳的亲和力比铁强，与碳形成碳化物，可使晶格畸变减小，表面能降低，使金属原子能不断“渗入”。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高温下碳原子较金属（如铬、钒、铌、钛）原子扩散更容易，而且钢铁表面有碳化物形成后，也阻碍金属原子进一步渗入，所以金属碳化物渗层的增长是金属原子不断吸附于钢的表面，碳原子不断由里向外扩散的结果，这也是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金属碳化物渗层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又称为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金属碳化物覆层</a:t>
            </a: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的原因。</a:t>
            </a:r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第六节   渗金属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（金属渗层的形成）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64333" y="1840871"/>
            <a:ext cx="1752600" cy="11969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</a:rPr>
              <a:t>向基体金属提供扩散元素的原子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2393133" y="1764671"/>
            <a:ext cx="2667000" cy="1196975"/>
            <a:chOff x="1536" y="912"/>
            <a:chExt cx="1680" cy="754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2160" y="912"/>
              <a:ext cx="1056" cy="754"/>
            </a:xfrm>
            <a:prstGeom prst="rect">
              <a:avLst/>
            </a:prstGeom>
            <a:noFill/>
            <a:ln w="9525">
              <a:solidFill>
                <a:srgbClr val="FF33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8000"/>
                  </a:solidFill>
                </a:rPr>
                <a:t>使这些原子处于活化状态</a:t>
              </a: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1536" y="129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7"/>
          <p:cNvGrpSpPr>
            <a:grpSpLocks/>
          </p:cNvGrpSpPr>
          <p:nvPr/>
        </p:nvGrpSpPr>
        <p:grpSpPr bwMode="auto">
          <a:xfrm>
            <a:off x="5212533" y="1764671"/>
            <a:ext cx="2819400" cy="1196975"/>
            <a:chOff x="3312" y="912"/>
            <a:chExt cx="1776" cy="754"/>
          </a:xfrm>
        </p:grpSpPr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888" y="912"/>
              <a:ext cx="1200" cy="754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3300"/>
                  </a:solidFill>
                </a:rPr>
                <a:t>活化的原子逐渐向基体内部扩散</a:t>
              </a: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312" y="129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10"/>
          <p:cNvGrpSpPr>
            <a:grpSpLocks/>
          </p:cNvGrpSpPr>
          <p:nvPr/>
        </p:nvGrpSpPr>
        <p:grpSpPr bwMode="auto">
          <a:xfrm>
            <a:off x="716733" y="3745871"/>
            <a:ext cx="2743200" cy="2514600"/>
            <a:chOff x="480" y="2160"/>
            <a:chExt cx="1728" cy="1584"/>
          </a:xfrm>
        </p:grpSpPr>
        <p:sp>
          <p:nvSpPr>
            <p:cNvPr id="15" name="AutoShape 11"/>
            <p:cNvSpPr>
              <a:spLocks noChangeArrowheads="1"/>
            </p:cNvSpPr>
            <p:nvPr/>
          </p:nvSpPr>
          <p:spPr bwMode="auto">
            <a:xfrm>
              <a:off x="480" y="2160"/>
              <a:ext cx="1728" cy="1584"/>
            </a:xfrm>
            <a:prstGeom prst="wedgeRectCallout">
              <a:avLst>
                <a:gd name="adj1" fmla="val -30324"/>
                <a:gd name="adj2" fmla="val -78407"/>
              </a:avLst>
            </a:prstGeom>
            <a:solidFill>
              <a:schemeClr val="bg1"/>
            </a:solidFill>
            <a:ln w="9525">
              <a:solidFill>
                <a:srgbClr val="FF33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zh-CN" altLang="zh-CN"/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528" y="2256"/>
              <a:ext cx="1632" cy="1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 eaLnBrk="1" hangingPunct="1"/>
              <a:r>
                <a:rPr lang="zh-CN" altLang="en-US" sz="2000" dirty="0"/>
                <a:t>为了向基体金属提供扩散元素的原子，可以通过电镀、化学镀、电泳、热浸、喷涂和粉末包装等方法，</a:t>
              </a:r>
              <a:r>
                <a:rPr lang="zh-CN" altLang="en-US" sz="2000" dirty="0">
                  <a:solidFill>
                    <a:schemeClr val="accent2"/>
                  </a:solidFill>
                </a:rPr>
                <a:t>使渗剂金属原子与基体金属表面直接接触</a:t>
              </a:r>
            </a:p>
          </p:txBody>
        </p:sp>
      </p:grpSp>
      <p:grpSp>
        <p:nvGrpSpPr>
          <p:cNvPr id="17" name="Group 13"/>
          <p:cNvGrpSpPr>
            <a:grpSpLocks/>
          </p:cNvGrpSpPr>
          <p:nvPr/>
        </p:nvGrpSpPr>
        <p:grpSpPr bwMode="auto">
          <a:xfrm>
            <a:off x="5517333" y="3593471"/>
            <a:ext cx="3048000" cy="2911475"/>
            <a:chOff x="3504" y="2064"/>
            <a:chExt cx="1920" cy="1834"/>
          </a:xfrm>
        </p:grpSpPr>
        <p:sp>
          <p:nvSpPr>
            <p:cNvPr id="18" name="AutoShape 14"/>
            <p:cNvSpPr>
              <a:spLocks noChangeArrowheads="1"/>
            </p:cNvSpPr>
            <p:nvPr/>
          </p:nvSpPr>
          <p:spPr bwMode="auto">
            <a:xfrm>
              <a:off x="3504" y="2064"/>
              <a:ext cx="1920" cy="1824"/>
            </a:xfrm>
            <a:prstGeom prst="wedgeRectCallout">
              <a:avLst>
                <a:gd name="adj1" fmla="val -9583"/>
                <a:gd name="adj2" fmla="val -70667"/>
              </a:avLst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1" hangingPunct="1"/>
              <a:endParaRPr lang="zh-CN" altLang="zh-CN"/>
            </a:p>
          </p:txBody>
        </p:sp>
        <p:sp>
          <p:nvSpPr>
            <p:cNvPr id="19" name="Text Box 15"/>
            <p:cNvSpPr txBox="1">
              <a:spLocks noChangeArrowheads="1"/>
            </p:cNvSpPr>
            <p:nvPr/>
          </p:nvSpPr>
          <p:spPr bwMode="auto">
            <a:xfrm>
              <a:off x="3600" y="2112"/>
              <a:ext cx="1776" cy="1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/>
                <a:t>扩散是各种原子在体系中趋向均匀化的过程。为了使这种均匀化加速，各种原子必须得到足够的能量，使它们能以一定的速度移动，因此需要加热。</a:t>
              </a:r>
              <a:r>
                <a:rPr lang="zh-CN" altLang="en-US" sz="2000" dirty="0">
                  <a:solidFill>
                    <a:srgbClr val="CC3300"/>
                  </a:solidFill>
                </a:rPr>
                <a:t>从扩散的角度考虑，温度越高扩散速度越快。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第六节   渗金属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（</a:t>
            </a:r>
            <a:r>
              <a:rPr lang="zh-CN" altLang="en-US" sz="2800" b="1" dirty="0" smtClean="0">
                <a:solidFill>
                  <a:srgbClr val="C00000"/>
                </a:solidFill>
                <a:ea typeface="楷体_GB2312" pitchFamily="49" charset="-122"/>
              </a:rPr>
              <a:t>渗层金属的沉积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5198" y="1544371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/>
              <a:t>如何向基体金属提供活性渗层金属原子</a:t>
            </a:r>
            <a:r>
              <a:rPr lang="en-US" altLang="zh-CN" sz="2400" dirty="0"/>
              <a:t>?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23319" y="2059664"/>
            <a:ext cx="8305800" cy="8318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2"/>
                </a:solidFill>
              </a:rPr>
              <a:t>目前大多利用金属氯化物在高温下发生置换反应与还原反应，以获得大量活化的渗剂原子。</a:t>
            </a:r>
            <a:endParaRPr lang="zh-CN" altLang="en-US" sz="2400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90465" y="2999716"/>
            <a:ext cx="8292220" cy="1938992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/>
            <a:r>
              <a:rPr lang="en-US" altLang="zh-CN" sz="2400" dirty="0">
                <a:solidFill>
                  <a:srgbClr val="FF33CC"/>
                </a:solidFill>
                <a:ea typeface="楷体_GB2312" pitchFamily="49" charset="-122"/>
              </a:rPr>
              <a:t>   </a:t>
            </a:r>
            <a:r>
              <a:rPr lang="zh-CN" altLang="en-US" sz="2400" dirty="0">
                <a:ea typeface="楷体_GB2312" pitchFamily="49" charset="-122"/>
              </a:rPr>
              <a:t>将</a:t>
            </a:r>
            <a:r>
              <a:rPr lang="zh-CN" altLang="en-US" sz="2400" b="1" u="sng" dirty="0">
                <a:solidFill>
                  <a:srgbClr val="FF33CC"/>
                </a:solidFill>
                <a:ea typeface="楷体_GB2312" pitchFamily="49" charset="-122"/>
              </a:rPr>
              <a:t>基体金属</a:t>
            </a:r>
            <a:r>
              <a:rPr lang="en-US" altLang="zh-CN" sz="2400" b="1" u="sng" dirty="0">
                <a:solidFill>
                  <a:srgbClr val="FF33CC"/>
                </a:solidFill>
                <a:ea typeface="楷体_GB2312" pitchFamily="49" charset="-122"/>
              </a:rPr>
              <a:t>M</a:t>
            </a:r>
            <a:r>
              <a:rPr lang="zh-CN" altLang="en-US" sz="2400" dirty="0">
                <a:ea typeface="楷体_GB2312" pitchFamily="49" charset="-122"/>
              </a:rPr>
              <a:t>置于</a:t>
            </a:r>
            <a:r>
              <a:rPr lang="zh-CN" altLang="en-US" sz="2400" b="1" u="sng" dirty="0">
                <a:solidFill>
                  <a:srgbClr val="FF33CC"/>
                </a:solidFill>
                <a:ea typeface="楷体_GB2312" pitchFamily="49" charset="-122"/>
              </a:rPr>
              <a:t>渗层金属</a:t>
            </a:r>
            <a:r>
              <a:rPr lang="en-US" altLang="zh-CN" sz="2400" b="1" u="sng" dirty="0">
                <a:solidFill>
                  <a:srgbClr val="FF33CC"/>
                </a:solidFill>
                <a:ea typeface="楷体_GB2312" pitchFamily="49" charset="-122"/>
              </a:rPr>
              <a:t>B</a:t>
            </a:r>
            <a:r>
              <a:rPr lang="zh-CN" altLang="en-US" sz="2400" b="1" u="sng" dirty="0">
                <a:solidFill>
                  <a:srgbClr val="FF33CC"/>
                </a:solidFill>
                <a:ea typeface="楷体_GB2312" pitchFamily="49" charset="-122"/>
              </a:rPr>
              <a:t>的氯化物</a:t>
            </a:r>
            <a:r>
              <a:rPr lang="en-US" altLang="zh-CN" sz="2400" b="1" u="sng" dirty="0">
                <a:solidFill>
                  <a:srgbClr val="FF33CC"/>
                </a:solidFill>
                <a:ea typeface="楷体_GB2312" pitchFamily="49" charset="-122"/>
              </a:rPr>
              <a:t>BCl</a:t>
            </a:r>
            <a:r>
              <a:rPr lang="en-US" altLang="zh-CN" sz="2400" b="1" u="sng" baseline="-25000" dirty="0">
                <a:solidFill>
                  <a:srgbClr val="FF33CC"/>
                </a:solidFill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FF33CC"/>
                </a:solidFill>
                <a:ea typeface="楷体_GB2312" pitchFamily="49" charset="-122"/>
              </a:rPr>
              <a:t>蒸汽</a:t>
            </a:r>
            <a:r>
              <a:rPr lang="zh-CN" altLang="en-US" sz="2400" dirty="0">
                <a:ea typeface="楷体_GB2312" pitchFamily="49" charset="-122"/>
              </a:rPr>
              <a:t>中</a:t>
            </a:r>
            <a:r>
              <a:rPr lang="zh-CN" altLang="en-US" sz="2400" dirty="0">
                <a:solidFill>
                  <a:srgbClr val="FF33CC"/>
                </a:solidFill>
                <a:ea typeface="楷体_GB2312" pitchFamily="49" charset="-122"/>
              </a:rPr>
              <a:t>，</a:t>
            </a:r>
            <a:r>
              <a:rPr lang="zh-CN" altLang="en-US" sz="2400" dirty="0">
                <a:ea typeface="楷体_GB2312" pitchFamily="49" charset="-122"/>
              </a:rPr>
              <a:t>发生置换反应：</a:t>
            </a:r>
          </a:p>
          <a:p>
            <a:pPr algn="just" eaLnBrk="1" hangingPunct="1"/>
            <a:r>
              <a:rPr lang="zh-CN" altLang="en-US" sz="2400" dirty="0">
                <a:solidFill>
                  <a:srgbClr val="FF33CC"/>
                </a:solidFill>
                <a:ea typeface="楷体_GB2312" pitchFamily="49" charset="-122"/>
              </a:rPr>
              <a:t>                     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BCl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 + M 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  <a:sym typeface="Wingdings 3" pitchFamily="18" charset="2"/>
              </a:rPr>
              <a:t>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 MCl</a:t>
            </a:r>
            <a:r>
              <a:rPr lang="en-US" altLang="zh-CN" sz="2400" b="1" baseline="-25000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ea typeface="楷体_GB2312" pitchFamily="49" charset="-122"/>
              </a:rPr>
              <a:t> + B</a:t>
            </a:r>
            <a:r>
              <a:rPr lang="en-US" altLang="zh-CN" sz="2400" dirty="0">
                <a:solidFill>
                  <a:srgbClr val="FF33CC"/>
                </a:solidFill>
                <a:ea typeface="楷体_GB2312" pitchFamily="49" charset="-122"/>
              </a:rPr>
              <a:t>                          (1)</a:t>
            </a:r>
          </a:p>
          <a:p>
            <a:pPr algn="just" eaLnBrk="1" hangingPunct="1"/>
            <a:r>
              <a:rPr lang="zh-CN" altLang="en-US" sz="2400" dirty="0">
                <a:ea typeface="楷体_GB2312" pitchFamily="49" charset="-122"/>
              </a:rPr>
              <a:t>金属</a:t>
            </a:r>
            <a:r>
              <a:rPr lang="en-US" altLang="zh-CN" sz="2400" dirty="0">
                <a:ea typeface="楷体_GB2312" pitchFamily="49" charset="-122"/>
              </a:rPr>
              <a:t>M</a:t>
            </a:r>
            <a:r>
              <a:rPr lang="zh-CN" altLang="en-US" sz="2400" dirty="0">
                <a:ea typeface="楷体_GB2312" pitchFamily="49" charset="-122"/>
              </a:rPr>
              <a:t>上形成</a:t>
            </a:r>
            <a:r>
              <a:rPr lang="zh-CN" altLang="en-US" sz="2400" b="1" u="sng" dirty="0">
                <a:solidFill>
                  <a:srgbClr val="FF33CC"/>
                </a:solidFill>
                <a:ea typeface="楷体_GB2312" pitchFamily="49" charset="-122"/>
              </a:rPr>
              <a:t>活性的渗层金属</a:t>
            </a:r>
            <a:r>
              <a:rPr lang="en-US" altLang="zh-CN" sz="2400" b="1" u="sng" dirty="0">
                <a:solidFill>
                  <a:srgbClr val="FF33CC"/>
                </a:solidFill>
                <a:ea typeface="楷体_GB2312" pitchFamily="49" charset="-122"/>
              </a:rPr>
              <a:t>B</a:t>
            </a:r>
            <a:r>
              <a:rPr lang="zh-CN" altLang="en-US" sz="2400" b="1" u="sng" dirty="0">
                <a:solidFill>
                  <a:srgbClr val="FF33CC"/>
                </a:solidFill>
                <a:ea typeface="楷体_GB2312" pitchFamily="49" charset="-122"/>
              </a:rPr>
              <a:t>原子</a:t>
            </a:r>
            <a:r>
              <a:rPr lang="zh-CN" altLang="en-US" sz="2400" dirty="0">
                <a:solidFill>
                  <a:srgbClr val="FF33CC"/>
                </a:solidFill>
                <a:ea typeface="楷体_GB2312" pitchFamily="49" charset="-122"/>
              </a:rPr>
              <a:t>，</a:t>
            </a:r>
            <a:r>
              <a:rPr lang="zh-CN" altLang="en-US" sz="2400" dirty="0">
                <a:ea typeface="楷体_GB2312" pitchFamily="49" charset="-122"/>
              </a:rPr>
              <a:t>随后扩散到基体金属</a:t>
            </a:r>
            <a:r>
              <a:rPr lang="en-US" altLang="zh-CN" sz="2400" dirty="0">
                <a:ea typeface="楷体_GB2312" pitchFamily="49" charset="-122"/>
              </a:rPr>
              <a:t>M</a:t>
            </a:r>
            <a:r>
              <a:rPr lang="zh-CN" altLang="en-US" sz="2400" dirty="0">
                <a:ea typeface="楷体_GB2312" pitchFamily="49" charset="-122"/>
              </a:rPr>
              <a:t>中去形成渗层。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359074" y="5156704"/>
            <a:ext cx="8424862" cy="125888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C3300"/>
                </a:solidFill>
                <a:ea typeface="黑体" pitchFamily="49" charset="-122"/>
              </a:rPr>
              <a:t>问题</a:t>
            </a:r>
            <a:r>
              <a:rPr lang="zh-CN" altLang="en-US" dirty="0"/>
              <a:t>：该置换反应能否发生？如果能发生，有多少</a:t>
            </a:r>
            <a:r>
              <a:rPr lang="en-US" altLang="zh-CN" dirty="0"/>
              <a:t>BCl</a:t>
            </a:r>
            <a:r>
              <a:rPr lang="en-US" altLang="zh-CN" baseline="-25000" dirty="0"/>
              <a:t>2</a:t>
            </a:r>
            <a:r>
              <a:rPr lang="zh-CN" altLang="en-US" dirty="0"/>
              <a:t>蒸汽能够转变为渗层原子</a:t>
            </a:r>
            <a:r>
              <a:rPr lang="en-US" altLang="zh-CN" dirty="0"/>
              <a:t>B</a:t>
            </a:r>
            <a:r>
              <a:rPr lang="zh-CN" altLang="en-US" dirty="0"/>
              <a:t>？这</a:t>
            </a:r>
            <a:r>
              <a:rPr lang="zh-CN" altLang="en-US" b="1" dirty="0">
                <a:solidFill>
                  <a:srgbClr val="008000"/>
                </a:solidFill>
              </a:rPr>
              <a:t>需要根据物理化学考虑反应的平衡常数</a:t>
            </a:r>
            <a:r>
              <a:rPr lang="en-US" altLang="zh-CN" b="1" dirty="0">
                <a:solidFill>
                  <a:srgbClr val="008000"/>
                </a:solidFill>
              </a:rPr>
              <a:t>k</a:t>
            </a:r>
            <a:r>
              <a:rPr lang="zh-CN" altLang="en-US" b="1" dirty="0">
                <a:solidFill>
                  <a:srgbClr val="008000"/>
                </a:solidFill>
              </a:rPr>
              <a:t>，只有当</a:t>
            </a:r>
            <a:r>
              <a:rPr lang="en-US" altLang="zh-CN" b="1" dirty="0">
                <a:solidFill>
                  <a:srgbClr val="008000"/>
                </a:solidFill>
              </a:rPr>
              <a:t>k</a:t>
            </a:r>
            <a:r>
              <a:rPr lang="zh-CN" altLang="en-US" b="1" dirty="0">
                <a:solidFill>
                  <a:srgbClr val="008000"/>
                </a:solidFill>
              </a:rPr>
              <a:t>大于一定值时，在</a:t>
            </a:r>
            <a:r>
              <a:rPr lang="en-US" altLang="zh-CN" b="1" dirty="0">
                <a:solidFill>
                  <a:srgbClr val="008000"/>
                </a:solidFill>
              </a:rPr>
              <a:t>M</a:t>
            </a:r>
            <a:r>
              <a:rPr lang="zh-CN" altLang="en-US" b="1" dirty="0">
                <a:solidFill>
                  <a:srgbClr val="008000"/>
                </a:solidFill>
              </a:rPr>
              <a:t>上渗</a:t>
            </a:r>
            <a:r>
              <a:rPr lang="en-US" altLang="zh-CN" b="1" dirty="0">
                <a:solidFill>
                  <a:srgbClr val="008000"/>
                </a:solidFill>
              </a:rPr>
              <a:t>B</a:t>
            </a:r>
            <a:r>
              <a:rPr lang="zh-CN" altLang="en-US" b="1" dirty="0">
                <a:solidFill>
                  <a:srgbClr val="008000"/>
                </a:solidFill>
              </a:rPr>
              <a:t>才有可能。</a:t>
            </a:r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animBg="1" autoUpdateAnimBg="0"/>
      <p:bldP spid="9" grpId="0" animBg="1" autoUpdateAnimBg="0"/>
      <p:bldP spid="10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第六节   渗金属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（</a:t>
            </a:r>
            <a:r>
              <a:rPr lang="zh-CN" altLang="en-US" sz="2800" dirty="0" smtClean="0">
                <a:solidFill>
                  <a:srgbClr val="C00000"/>
                </a:solidFill>
                <a:ea typeface="黑体" pitchFamily="49" charset="-122"/>
              </a:rPr>
              <a:t>渗层原子的扩散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0" y="1394233"/>
            <a:ext cx="9144000" cy="4100931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 b="1" dirty="0">
                <a:solidFill>
                  <a:schemeClr val="accent2"/>
                </a:solidFill>
              </a:rPr>
              <a:t>活化的渗剂原子能否向基体金属内部扩散与很多因素有关，其中较重要的因素是</a:t>
            </a:r>
            <a:r>
              <a:rPr lang="zh-CN" altLang="en-US" sz="2200" b="1" dirty="0">
                <a:solidFill>
                  <a:srgbClr val="FF0000"/>
                </a:solidFill>
              </a:rPr>
              <a:t>原子尺寸</a:t>
            </a:r>
            <a:r>
              <a:rPr lang="zh-CN" altLang="en-US" sz="2200" b="1" dirty="0">
                <a:solidFill>
                  <a:schemeClr val="accent2"/>
                </a:solidFill>
              </a:rPr>
              <a:t>。</a:t>
            </a:r>
            <a:endParaRPr lang="zh-CN" altLang="en-US" sz="2200" dirty="0"/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 dirty="0"/>
              <a:t>     </a:t>
            </a:r>
            <a:r>
              <a:rPr lang="zh-CN" altLang="en-US" sz="2200" dirty="0" smtClean="0"/>
              <a:t>有</a:t>
            </a:r>
            <a:r>
              <a:rPr lang="zh-CN" altLang="en-US" sz="2200" dirty="0"/>
              <a:t>碳、氢、氮和氧</a:t>
            </a:r>
            <a:r>
              <a:rPr lang="zh-CN" altLang="en-US" sz="2200" dirty="0" smtClean="0"/>
              <a:t>等小原子向</a:t>
            </a:r>
            <a:r>
              <a:rPr lang="zh-CN" altLang="en-US" sz="2200" dirty="0"/>
              <a:t>金属内部移动受到的阻力较小，因此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 dirty="0"/>
              <a:t>扩散速度较快。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 dirty="0"/>
              <a:t>    </a:t>
            </a:r>
            <a:r>
              <a:rPr lang="zh-CN" altLang="en-US" sz="2200" dirty="0" smtClean="0"/>
              <a:t>但一</a:t>
            </a:r>
            <a:r>
              <a:rPr lang="zh-CN" altLang="en-US" sz="2200" dirty="0"/>
              <a:t>种金属原子在另一种金属中的扩散，由于原子半径的数量级相同，间隙扩散的可能性较小。一般认为，</a:t>
            </a:r>
            <a:r>
              <a:rPr lang="zh-CN" altLang="en-US" sz="2200" dirty="0">
                <a:solidFill>
                  <a:srgbClr val="008000"/>
                </a:solidFill>
              </a:rPr>
              <a:t>这种类型的扩散归因于金属内部的</a:t>
            </a:r>
            <a:r>
              <a:rPr lang="zh-CN" altLang="en-US" sz="2200" dirty="0">
                <a:solidFill>
                  <a:srgbClr val="000099"/>
                </a:solidFill>
              </a:rPr>
              <a:t>缺陷</a:t>
            </a:r>
            <a:r>
              <a:rPr lang="en-US" altLang="zh-CN" sz="2200" dirty="0">
                <a:solidFill>
                  <a:srgbClr val="000099"/>
                </a:solidFill>
              </a:rPr>
              <a:t>(</a:t>
            </a:r>
            <a:r>
              <a:rPr lang="zh-CN" altLang="en-US" sz="2200" dirty="0">
                <a:solidFill>
                  <a:srgbClr val="000099"/>
                </a:solidFill>
              </a:rPr>
              <a:t>晶格中的空位</a:t>
            </a:r>
            <a:r>
              <a:rPr lang="en-US" altLang="zh-CN" sz="2200" dirty="0">
                <a:solidFill>
                  <a:srgbClr val="000099"/>
                </a:solidFill>
              </a:rPr>
              <a:t>)</a:t>
            </a:r>
            <a:r>
              <a:rPr lang="zh-CN" altLang="en-US" sz="2200" dirty="0">
                <a:solidFill>
                  <a:srgbClr val="008000"/>
                </a:solidFill>
              </a:rPr>
              <a:t>。渗剂金属原子进入空位，空位向相反方向移动。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0" y="5503763"/>
            <a:ext cx="9144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ea typeface="楷体_GB2312" pitchFamily="49" charset="-122"/>
              </a:rPr>
              <a:t>所以，如果扩散元素原子的直径比基体金属原子的直径大得多，扩散元素的原子就无法进入基体金属的原子点阵中，即使可能挤进，也会造成点阵畸变，使固溶体处于不稳定状态。</a:t>
            </a:r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第六节   渗金属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（渗金属的方法）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095552" y="1655511"/>
            <a:ext cx="615553" cy="4727183"/>
          </a:xfrm>
          <a:prstGeom prst="rect">
            <a:avLst/>
          </a:prstGeom>
          <a:noFill/>
          <a:ln w="9525">
            <a:solidFill>
              <a:srgbClr val="008000"/>
            </a:solidFill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33CC"/>
                </a:solidFill>
                <a:ea typeface="楷体_GB2312" pitchFamily="49" charset="-122"/>
              </a:rPr>
              <a:t>渗金属化学热处理的工艺种类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097447" y="1400270"/>
            <a:ext cx="20574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/>
              <a:t>粉末填充法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000" dirty="0"/>
              <a:t>膏剂涂覆法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000" dirty="0"/>
              <a:t>电热旋流法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000" dirty="0"/>
              <a:t>覆盖层扩散法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296624" y="2870703"/>
            <a:ext cx="1981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/>
              <a:t>盐浴法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000" dirty="0"/>
              <a:t>电解盐浴法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000" dirty="0"/>
              <a:t>水溶液电解法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478386" y="1929897"/>
            <a:ext cx="11430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/>
              <a:t>固体法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409731" y="3175503"/>
            <a:ext cx="11430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/>
              <a:t>液体法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2509319" y="4712328"/>
            <a:ext cx="12192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/>
              <a:t>气体法</a:t>
            </a: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2427838" y="5833449"/>
            <a:ext cx="1600200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/>
              <a:t>等离子法</a:t>
            </a: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4251356" y="4344155"/>
            <a:ext cx="18288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/>
              <a:t>固体气体法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000" dirty="0"/>
              <a:t>间接气体法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000" dirty="0"/>
              <a:t>流动离子炉法</a:t>
            </a:r>
          </a:p>
        </p:txBody>
      </p:sp>
      <p:sp>
        <p:nvSpPr>
          <p:cNvPr id="14" name="AutoShape 10"/>
          <p:cNvSpPr>
            <a:spLocks/>
          </p:cNvSpPr>
          <p:nvPr/>
        </p:nvSpPr>
        <p:spPr bwMode="auto">
          <a:xfrm>
            <a:off x="1863505" y="1714878"/>
            <a:ext cx="304800" cy="4495800"/>
          </a:xfrm>
          <a:prstGeom prst="leftBrace">
            <a:avLst>
              <a:gd name="adj1" fmla="val 122917"/>
              <a:gd name="adj2" fmla="val 49222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5" name="AutoShape 11"/>
          <p:cNvSpPr>
            <a:spLocks/>
          </p:cNvSpPr>
          <p:nvPr/>
        </p:nvSpPr>
        <p:spPr bwMode="auto">
          <a:xfrm>
            <a:off x="3672689" y="1507402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6" name="AutoShape 12"/>
          <p:cNvSpPr>
            <a:spLocks/>
          </p:cNvSpPr>
          <p:nvPr/>
        </p:nvSpPr>
        <p:spPr bwMode="auto">
          <a:xfrm>
            <a:off x="3739836" y="3023103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7" name="AutoShape 13"/>
          <p:cNvSpPr>
            <a:spLocks/>
          </p:cNvSpPr>
          <p:nvPr/>
        </p:nvSpPr>
        <p:spPr bwMode="auto">
          <a:xfrm>
            <a:off x="3933731" y="4460340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第六节   渗金属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（渗金属的方法）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graphicFrame>
        <p:nvGraphicFramePr>
          <p:cNvPr id="5" name="Group 46"/>
          <p:cNvGraphicFramePr>
            <a:graphicFrameLocks noGrp="1"/>
          </p:cNvGraphicFramePr>
          <p:nvPr>
            <p:ph idx="1"/>
          </p:nvPr>
        </p:nvGraphicFramePr>
        <p:xfrm>
          <a:off x="613956" y="1519780"/>
          <a:ext cx="7715234" cy="5155659"/>
        </p:xfrm>
        <a:graphic>
          <a:graphicData uri="http://schemas.openxmlformats.org/drawingml/2006/table">
            <a:tbl>
              <a:tblPr/>
              <a:tblGrid>
                <a:gridCol w="1197576"/>
                <a:gridCol w="2951419"/>
                <a:gridCol w="3566239"/>
              </a:tblGrid>
              <a:tr h="33428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方    法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渗    剂    组    分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   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特                             点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5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粉末法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8" marB="45718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金属粉或金属化合物和还原剂（如：铝粉）卤化铵、氧化铝等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一般装箱在高温箱式炉、井式炉中进行加热保温。装箱和出炉时劳动强度大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3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膏剂法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金属粉或金属合金粉、活化剂、粘结剂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多用感应加热，应用不多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23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硼砂熔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盐法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以中性盐为基，加入金属粉或金属化合物和还原剂（如：铝粉）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一般用坩埚浴炉。熔盐稳定，渗层均匀，盐挥发少，不易老化，无公害。缺点是工件取出时粘盐较多，应用较广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668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中性熔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盐法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以中性盐为基，加入金属粉或金属化合物和还原剂（如：铝粉）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可在坩埚盐炉或电极盐炉中渗金属。盐浴流动性好，工件取出时粘盐较少；盐浴上下成分不太均匀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57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电解熔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盐法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以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Na</a:t>
                      </a:r>
                      <a:r>
                        <a:rPr kumimoji="1" lang="en-US" altLang="zh-CN" sz="1400" b="0" i="0" u="none" strike="noStrike" cap="none" normalizeH="0" baseline="-2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1400" b="0" i="0" u="none" strike="noStrike" cap="none" normalizeH="0" baseline="-2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</a:t>
                      </a:r>
                      <a:r>
                        <a:rPr kumimoji="1" lang="en-US" altLang="zh-CN" sz="1400" b="0" i="0" u="none" strike="noStrike" cap="none" normalizeH="0" baseline="-2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为基，金属（扩散元素）板作为阳极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在电解坩埚盐浴炉中渗金属，熔盐稳定，无公害；工装夹具较复杂，应用不多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05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气体法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金属的卤化物气体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含有毒、有腐蚀、易爆炸气体，对设备要求高，操作必须注意安全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36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离子法</a:t>
                      </a:r>
                    </a:p>
                  </a:txBody>
                  <a:tcPr marT="45718" marB="457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用欲渗金属作中间极（源极）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渗速快，渗层均匀，劳动条件好，应用不多</a:t>
                      </a:r>
                    </a:p>
                  </a:txBody>
                  <a:tcPr marT="45718" marB="4571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1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第六节   渗金属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（渗金属的组织）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04866" y="1586668"/>
            <a:ext cx="8785225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400" dirty="0"/>
              <a:t>渗金属层的组织和渗入金属的浓度分布主要与基体材料成分有关，而渗金属工艺的影响较小，钢的渗金属层组织和渗入金属浓度分布受碳含量影响较大。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/>
              <a:t>对低碳和低碳合金钢渗金属（如铬、钛），</a:t>
            </a:r>
            <a:r>
              <a:rPr lang="zh-CN" altLang="en-US" sz="2400" dirty="0">
                <a:solidFill>
                  <a:srgbClr val="FF0000"/>
                </a:solidFill>
              </a:rPr>
              <a:t>表面形成固溶体</a:t>
            </a:r>
            <a:r>
              <a:rPr lang="zh-CN" altLang="en-US" sz="2400" dirty="0"/>
              <a:t>，并有游离分布的碳化物；渗入金属浓度分布由表及里逐渐减少。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/>
              <a:t>中、高碳（合金）钢渗金属，表面形成</a:t>
            </a:r>
            <a:r>
              <a:rPr lang="zh-CN" altLang="en-US" sz="2400" dirty="0">
                <a:solidFill>
                  <a:srgbClr val="FF0000"/>
                </a:solidFill>
              </a:rPr>
              <a:t>碳化物型渗层</a:t>
            </a:r>
            <a:r>
              <a:rPr lang="zh-CN" altLang="en-US" sz="2400" dirty="0"/>
              <a:t>，渗层中渗入金属浓度极高，渗层中几乎不含基体金属，界面浓度曲线形成陡降</a:t>
            </a:r>
            <a:r>
              <a:rPr lang="zh-CN" altLang="en-US" sz="2400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第六节   渗金属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（渗金属的组织）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graphicFrame>
        <p:nvGraphicFramePr>
          <p:cNvPr id="5" name="Group 70"/>
          <p:cNvGraphicFramePr>
            <a:graphicFrameLocks noGrp="1"/>
          </p:cNvGraphicFramePr>
          <p:nvPr/>
        </p:nvGraphicFramePr>
        <p:xfrm>
          <a:off x="153909" y="1890791"/>
          <a:ext cx="8839200" cy="2491395"/>
        </p:xfrm>
        <a:graphic>
          <a:graphicData uri="http://schemas.openxmlformats.org/drawingml/2006/table">
            <a:tbl>
              <a:tblPr/>
              <a:tblGrid>
                <a:gridCol w="1676400"/>
                <a:gridCol w="609600"/>
                <a:gridCol w="1295400"/>
                <a:gridCol w="1295400"/>
                <a:gridCol w="1295400"/>
                <a:gridCol w="1295400"/>
                <a:gridCol w="1371600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钢中碳含量</a:t>
                      </a:r>
                      <a:r>
                        <a:rPr kumimoji="1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w(C)(﹪)</a:t>
                      </a:r>
                    </a:p>
                  </a:txBody>
                  <a:tcPr marT="45706" marB="457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0.05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0.15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0.41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0.61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1.04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1.18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73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渗层的组织结构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6" marB="457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α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α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</a:t>
                      </a:r>
                      <a:r>
                        <a:rPr kumimoji="1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r>
                        <a:rPr kumimoji="1" lang="en-US" altLang="zh-CN" sz="1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23</a:t>
                      </a:r>
                      <a:r>
                        <a:rPr kumimoji="1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23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1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Fe,Cr)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23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1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1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Fe,Cr)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23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1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1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Fe,Cr)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23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endParaRPr kumimoji="1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1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Fe,Cr)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渗层中平均铬含量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w(C)(﹪)</a:t>
                      </a:r>
                    </a:p>
                  </a:txBody>
                  <a:tcPr marT="45706" marB="457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25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24.5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36.5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70.0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9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渗层中平均碳含量</a:t>
                      </a: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w(C)(﹪)</a:t>
                      </a:r>
                    </a:p>
                  </a:txBody>
                  <a:tcPr marT="45706" marB="45706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2~3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5~7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6~8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06" marB="457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1482725" y="1464523"/>
            <a:ext cx="5638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latin typeface="Arial" pitchFamily="34" charset="0"/>
              </a:rPr>
              <a:t>      </a:t>
            </a:r>
            <a:r>
              <a:rPr kumimoji="0" lang="en-US" altLang="zh-CN" sz="1800" dirty="0" smtClean="0">
                <a:latin typeface="Arial" pitchFamily="34" charset="0"/>
              </a:rPr>
              <a:t>   </a:t>
            </a:r>
            <a:r>
              <a:rPr kumimoji="0" lang="zh-CN" altLang="en-US" sz="1800" dirty="0">
                <a:latin typeface="Arial" pitchFamily="34" charset="0"/>
              </a:rPr>
              <a:t>钢的碳含量对渗铬层组织和铬、碳含量的影响</a:t>
            </a:r>
          </a:p>
        </p:txBody>
      </p:sp>
      <p:sp>
        <p:nvSpPr>
          <p:cNvPr id="7" name="Text Box 45"/>
          <p:cNvSpPr txBox="1">
            <a:spLocks noChangeArrowheads="1"/>
          </p:cNvSpPr>
          <p:nvPr/>
        </p:nvSpPr>
        <p:spPr bwMode="auto">
          <a:xfrm>
            <a:off x="2320925" y="4664923"/>
            <a:ext cx="533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 smtClean="0">
                <a:latin typeface="Arial" pitchFamily="34" charset="0"/>
              </a:rPr>
              <a:t>       </a:t>
            </a:r>
            <a:r>
              <a:rPr kumimoji="0" lang="en-US" altLang="zh-CN" sz="1800" dirty="0" smtClean="0">
                <a:latin typeface="Arial" pitchFamily="34" charset="0"/>
              </a:rPr>
              <a:t>  </a:t>
            </a:r>
            <a:r>
              <a:rPr kumimoji="0" lang="zh-CN" altLang="en-US" sz="1800" dirty="0">
                <a:latin typeface="Arial" pitchFamily="34" charset="0"/>
              </a:rPr>
              <a:t>几种碳化物型渗层的组织</a:t>
            </a:r>
          </a:p>
        </p:txBody>
      </p:sp>
      <p:graphicFrame>
        <p:nvGraphicFramePr>
          <p:cNvPr id="9" name="Group 72"/>
          <p:cNvGraphicFramePr>
            <a:graphicFrameLocks noGrp="1"/>
          </p:cNvGraphicFramePr>
          <p:nvPr/>
        </p:nvGraphicFramePr>
        <p:xfrm>
          <a:off x="339725" y="5122123"/>
          <a:ext cx="8534400" cy="1143000"/>
        </p:xfrm>
        <a:graphic>
          <a:graphicData uri="http://schemas.openxmlformats.org/drawingml/2006/table">
            <a:tbl>
              <a:tblPr/>
              <a:tblGrid>
                <a:gridCol w="1143000"/>
                <a:gridCol w="2895600"/>
                <a:gridCol w="1219200"/>
                <a:gridCol w="1143000"/>
                <a:gridCol w="1066800"/>
                <a:gridCol w="10668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渗层种类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       </a:t>
                      </a: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渗                   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渗    钒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渗     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渗      钽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渗       钛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渗层组织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r>
                        <a:rPr kumimoji="1" lang="en-US" altLang="zh-CN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23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Cr,Fe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r>
                        <a:rPr kumimoji="1" lang="en-US" altLang="zh-CN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+Fe,Cr)</a:t>
                      </a:r>
                      <a:r>
                        <a:rPr kumimoji="1" lang="en-US" altLang="zh-CN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  <a:r>
                        <a:rPr kumimoji="1" lang="en-US" altLang="zh-CN" sz="1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VC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或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VC+V</a:t>
                      </a:r>
                      <a:r>
                        <a:rPr kumimoji="1" lang="en-US" altLang="zh-CN" sz="1400" b="0" i="0" u="none" strike="noStrike" cap="none" normalizeH="0" baseline="-2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</a:t>
                      </a:r>
                      <a:r>
                        <a:rPr kumimoji="1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NbC</a:t>
                      </a:r>
                      <a:endParaRPr kumimoji="1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</a:t>
                      </a:r>
                      <a:r>
                        <a:rPr kumimoji="1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TaC</a:t>
                      </a:r>
                      <a:endParaRPr kumimoji="1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   TiC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TiC+Fe</a:t>
                      </a:r>
                      <a:r>
                        <a:rPr kumimoji="1" lang="en-US" altLang="zh-CN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Ti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00C1D023-DD67-A68F-F05B-608AE24B2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5027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幼圆"/>
                <a:cs typeface="+mn-cs"/>
              </a:rPr>
              <a:t>第六节   渗金属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（渗金属的性能）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幼圆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0" y="1432759"/>
            <a:ext cx="9144000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Font typeface="Wingdings" pitchFamily="2" charset="2"/>
              <a:buChar char="u"/>
            </a:pPr>
            <a:r>
              <a:rPr lang="zh-CN" altLang="en-US" sz="2400" dirty="0">
                <a:solidFill>
                  <a:srgbClr val="FF0000"/>
                </a:solidFill>
              </a:rPr>
              <a:t>钢的碳化物覆层的共同特点是硬度高、耐磨性和、耐蚀性</a:t>
            </a:r>
            <a:r>
              <a:rPr lang="zh-CN" altLang="en-US" sz="2400" dirty="0" smtClean="0">
                <a:solidFill>
                  <a:srgbClr val="FF0000"/>
                </a:solidFill>
              </a:rPr>
              <a:t>好。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dirty="0"/>
          </a:p>
        </p:txBody>
      </p:sp>
      <p:graphicFrame>
        <p:nvGraphicFramePr>
          <p:cNvPr id="6" name="Group 70"/>
          <p:cNvGraphicFramePr>
            <a:graphicFrameLocks noGrp="1"/>
          </p:cNvGraphicFramePr>
          <p:nvPr>
            <p:ph idx="1"/>
          </p:nvPr>
        </p:nvGraphicFramePr>
        <p:xfrm>
          <a:off x="559051" y="2029784"/>
          <a:ext cx="7772400" cy="4114801"/>
        </p:xfrm>
        <a:graphic>
          <a:graphicData uri="http://schemas.openxmlformats.org/drawingml/2006/table">
            <a:tbl>
              <a:tblPr/>
              <a:tblGrid>
                <a:gridCol w="1271588"/>
                <a:gridCol w="1019175"/>
                <a:gridCol w="1108075"/>
                <a:gridCol w="1109662"/>
                <a:gridCol w="1109663"/>
                <a:gridCol w="952500"/>
                <a:gridCol w="1201737"/>
              </a:tblGrid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渗层种类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渗层厚度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m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表面硬度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HV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耐磨性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抗热粘着性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耐蚀性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抗高温氧化性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6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VC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2500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2800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差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6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NbC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2400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差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5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TiC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3200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差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8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Cr,Fe)23C6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1520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1800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5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渗    硼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1200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较高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淬火钢</a:t>
                      </a:r>
                    </a:p>
                  </a:txBody>
                  <a:tcPr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——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600</a:t>
                      </a: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1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700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一般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差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差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差</a:t>
                      </a:r>
                    </a:p>
                  </a:txBody>
                  <a:tcPr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74969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矩形 1"/>
          <p:cNvSpPr>
            <a:spLocks noChangeArrowheads="1"/>
          </p:cNvSpPr>
          <p:nvPr/>
        </p:nvSpPr>
        <p:spPr bwMode="auto">
          <a:xfrm>
            <a:off x="0" y="806455"/>
            <a:ext cx="9144000" cy="588963"/>
          </a:xfrm>
          <a:prstGeom prst="rect">
            <a:avLst/>
          </a:prstGeom>
          <a:solidFill>
            <a:srgbClr val="0070C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第十章  特种热处理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4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61504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表面热处理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69530" y="1949795"/>
            <a:ext cx="8458012" cy="2996654"/>
          </a:xfrm>
          <a:prstGeom prst="rect">
            <a:avLst/>
          </a:prstGeom>
          <a:solidFill>
            <a:srgbClr val="00FFFF">
              <a:alpha val="31000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u"/>
            </a:pPr>
            <a:r>
              <a:rPr lang="zh-CN" altLang="en-US" sz="2800" b="1" dirty="0">
                <a:solidFill>
                  <a:schemeClr val="tx2"/>
                </a:solidFill>
              </a:rPr>
              <a:t>仅对钢的表面加热、冷却而不改变其成分的热处理工艺称为</a:t>
            </a:r>
            <a:r>
              <a:rPr lang="zh-CN" altLang="en-US" sz="2800" b="1" dirty="0">
                <a:solidFill>
                  <a:srgbClr val="FF0000"/>
                </a:solidFill>
              </a:rPr>
              <a:t>表面热处理</a:t>
            </a:r>
            <a:r>
              <a:rPr lang="zh-CN" altLang="en-US" sz="2800" b="1" dirty="0">
                <a:solidFill>
                  <a:schemeClr val="tx2"/>
                </a:solidFill>
              </a:rPr>
              <a:t>。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常用于中碳钢、中碳低合金钢（</a:t>
            </a:r>
            <a:r>
              <a:rPr lang="en-US" altLang="zh-CN" sz="2800" b="1" dirty="0">
                <a:solidFill>
                  <a:srgbClr val="FF0000"/>
                </a:solidFill>
              </a:rPr>
              <a:t>0.4~0.5C%</a:t>
            </a:r>
            <a:r>
              <a:rPr lang="zh-CN" altLang="en-US" sz="2800" b="1" dirty="0">
                <a:solidFill>
                  <a:srgbClr val="FF0000"/>
                </a:solidFill>
              </a:rPr>
              <a:t>）和球墨铸铁及可锻铸铁</a:t>
            </a:r>
            <a:r>
              <a:rPr lang="zh-CN" altLang="en-US" sz="2800" b="1" dirty="0">
                <a:solidFill>
                  <a:schemeClr val="tx2"/>
                </a:solidFill>
              </a:rPr>
              <a:t>。这类材料经预先热处理</a:t>
            </a:r>
            <a:r>
              <a:rPr lang="en-US" altLang="zh-CN" sz="2800" b="1" dirty="0">
                <a:solidFill>
                  <a:schemeClr val="tx2"/>
                </a:solidFill>
              </a:rPr>
              <a:t>(</a:t>
            </a:r>
            <a:r>
              <a:rPr lang="zh-CN" altLang="en-US" sz="2800" b="1" dirty="0">
                <a:solidFill>
                  <a:schemeClr val="tx2"/>
                </a:solidFill>
              </a:rPr>
              <a:t>正火或调质</a:t>
            </a:r>
            <a:r>
              <a:rPr lang="en-US" altLang="zh-CN" sz="2800" b="1" dirty="0">
                <a:solidFill>
                  <a:schemeClr val="tx2"/>
                </a:solidFill>
              </a:rPr>
              <a:t>)</a:t>
            </a:r>
            <a:r>
              <a:rPr lang="zh-CN" altLang="en-US" sz="2800" b="1" dirty="0">
                <a:solidFill>
                  <a:schemeClr val="tx2"/>
                </a:solidFill>
              </a:rPr>
              <a:t>后再经表面淬火，可使心部保持较高的综合机械性能，而表面具有较高的硬度</a:t>
            </a:r>
            <a:r>
              <a:rPr lang="en-US" altLang="zh-CN" sz="2800" b="1" dirty="0">
                <a:solidFill>
                  <a:schemeClr val="tx2"/>
                </a:solidFill>
              </a:rPr>
              <a:t>(&gt;HRC50)</a:t>
            </a:r>
            <a:r>
              <a:rPr lang="zh-CN" altLang="en-US" sz="2800" b="1" dirty="0">
                <a:solidFill>
                  <a:schemeClr val="tx2"/>
                </a:solidFill>
              </a:rPr>
              <a:t>和耐磨性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85720" y="5069703"/>
            <a:ext cx="8458200" cy="1488549"/>
          </a:xfrm>
          <a:prstGeom prst="rect">
            <a:avLst/>
          </a:prstGeom>
          <a:solidFill>
            <a:srgbClr val="00FF99">
              <a:alpha val="61000"/>
            </a:srgbClr>
          </a:solidFill>
          <a:ln w="12700" cap="sq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chemeClr val="tx2"/>
                </a:solidFill>
              </a:rPr>
              <a:t>按照加热方式，有</a:t>
            </a:r>
            <a:r>
              <a:rPr lang="zh-CN" altLang="en-US" sz="2800" b="1" dirty="0">
                <a:solidFill>
                  <a:schemeClr val="tx2"/>
                </a:solidFill>
                <a:hlinkClick r:id="rId4" action="ppaction://hlinksldjump"/>
              </a:rPr>
              <a:t>感应加热</a:t>
            </a:r>
            <a:r>
              <a:rPr lang="zh-CN" altLang="en-US" sz="2800" b="1" dirty="0">
                <a:solidFill>
                  <a:schemeClr val="tx2"/>
                </a:solidFill>
              </a:rPr>
              <a:t>、</a:t>
            </a:r>
            <a:r>
              <a:rPr lang="zh-CN" altLang="en-US" sz="2800" b="1" dirty="0">
                <a:solidFill>
                  <a:schemeClr val="tx2"/>
                </a:solidFill>
                <a:hlinkClick r:id="rId5" action="ppaction://hlinksldjump"/>
              </a:rPr>
              <a:t>火焰加热</a:t>
            </a:r>
            <a:r>
              <a:rPr lang="zh-CN" altLang="en-US" sz="2800" b="1" dirty="0">
                <a:solidFill>
                  <a:schemeClr val="tx2"/>
                </a:solidFill>
              </a:rPr>
              <a:t>、电接触加热和电解加热等表面热处理、</a:t>
            </a:r>
            <a:r>
              <a:rPr lang="zh-CN" altLang="en-US" sz="2800" b="1" dirty="0">
                <a:solidFill>
                  <a:srgbClr val="FF0000"/>
                </a:solidFill>
              </a:rPr>
              <a:t>高能束加热表面热处理</a:t>
            </a:r>
            <a:r>
              <a:rPr lang="zh-CN" altLang="en-US" sz="2800" b="1" dirty="0">
                <a:solidFill>
                  <a:schemeClr val="tx2"/>
                </a:solidFill>
              </a:rPr>
              <a:t>。最常用的是前两种。</a:t>
            </a:r>
            <a:endParaRPr lang="zh-CN" altLang="en-US" sz="2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9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3976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表面热处理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(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感应加热表面热处理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)</a:t>
            </a:r>
            <a:endParaRPr lang="zh-CN" altLang="en-US" sz="2800" b="1" dirty="0">
              <a:solidFill>
                <a:srgbClr val="C0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0" y="1415452"/>
            <a:ext cx="9143999" cy="3201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  <a:buFont typeface="Wingdings" pitchFamily="2" charset="2"/>
              <a:buChar char="u"/>
            </a:pPr>
            <a:r>
              <a:rPr lang="zh-CN" altLang="en-US" sz="2400" b="1" dirty="0" smtClean="0">
                <a:solidFill>
                  <a:schemeClr val="tx2"/>
                </a:solidFill>
              </a:rPr>
              <a:t>感应加热</a:t>
            </a:r>
            <a:r>
              <a:rPr lang="zh-CN" altLang="en-US" sz="2400" b="1" dirty="0">
                <a:solidFill>
                  <a:schemeClr val="tx2"/>
                </a:solidFill>
              </a:rPr>
              <a:t>的基本原理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 smtClean="0">
                <a:solidFill>
                  <a:schemeClr val="tx2"/>
                </a:solidFill>
              </a:rPr>
              <a:t>感应线圈</a:t>
            </a:r>
            <a:r>
              <a:rPr lang="zh-CN" altLang="en-US" sz="2400" b="1" dirty="0">
                <a:solidFill>
                  <a:schemeClr val="tx2"/>
                </a:solidFill>
              </a:rPr>
              <a:t>中通以交流电时，即在其内部和周围产生感应交变磁场。使工件内部产生感应电流而被加热。由于交流电的</a:t>
            </a:r>
            <a:r>
              <a:rPr lang="zh-CN" altLang="en-US" sz="2400" b="1" dirty="0">
                <a:solidFill>
                  <a:srgbClr val="FF0000"/>
                </a:solidFill>
              </a:rPr>
              <a:t>集肤效应</a:t>
            </a:r>
            <a:r>
              <a:rPr lang="zh-CN" altLang="en-US" sz="2400" b="1" dirty="0">
                <a:solidFill>
                  <a:schemeClr val="tx2"/>
                </a:solidFill>
              </a:rPr>
              <a:t>，感应电流集中分布于靠近表面处，而中心几乎为零。电流透入的深度，主要与电流频率有关。对于碳钢，存在以下关系：</a:t>
            </a:r>
          </a:p>
          <a:p>
            <a:pPr eaLnBrk="1" hangingPunct="1">
              <a:spcBef>
                <a:spcPct val="20000"/>
              </a:spcBef>
            </a:pP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solidFill>
                  <a:schemeClr val="tx2"/>
                </a:solidFill>
              </a:rPr>
              <a:t>式中</a:t>
            </a:r>
            <a:r>
              <a:rPr lang="zh-CN" altLang="en-US" b="1" dirty="0">
                <a:solidFill>
                  <a:schemeClr val="tx2"/>
                </a:solidFill>
                <a:sym typeface="Symbol" pitchFamily="18" charset="2"/>
              </a:rPr>
              <a:t></a:t>
            </a:r>
            <a:r>
              <a:rPr lang="en-US" altLang="zh-CN" b="1" dirty="0">
                <a:solidFill>
                  <a:schemeClr val="tx2"/>
                </a:solidFill>
                <a:sym typeface="Symbol" pitchFamily="18" charset="2"/>
              </a:rPr>
              <a:t>—</a:t>
            </a:r>
            <a:r>
              <a:rPr lang="zh-CN" altLang="en-US" b="1" dirty="0">
                <a:solidFill>
                  <a:schemeClr val="tx2"/>
                </a:solidFill>
                <a:sym typeface="Symbol" pitchFamily="18" charset="2"/>
              </a:rPr>
              <a:t>电阻率； </a:t>
            </a:r>
            <a:r>
              <a:rPr lang="en-US" altLang="zh-CN" b="1" dirty="0">
                <a:solidFill>
                  <a:schemeClr val="tx2"/>
                </a:solidFill>
                <a:sym typeface="Symbol" pitchFamily="18" charset="2"/>
              </a:rPr>
              <a:t>—</a:t>
            </a:r>
            <a:r>
              <a:rPr lang="zh-CN" altLang="en-US" b="1" dirty="0">
                <a:solidFill>
                  <a:schemeClr val="tx2"/>
                </a:solidFill>
                <a:sym typeface="Symbol" pitchFamily="18" charset="2"/>
              </a:rPr>
              <a:t>相对导磁率；</a:t>
            </a:r>
            <a:r>
              <a:rPr lang="en-US" altLang="zh-CN" b="1" dirty="0">
                <a:solidFill>
                  <a:schemeClr val="tx2"/>
                </a:solidFill>
                <a:sym typeface="Symbol" pitchFamily="18" charset="2"/>
              </a:rPr>
              <a:t>f—</a:t>
            </a:r>
            <a:r>
              <a:rPr lang="zh-CN" altLang="en-US" b="1" dirty="0">
                <a:solidFill>
                  <a:schemeClr val="tx2"/>
                </a:solidFill>
                <a:sym typeface="Symbol" pitchFamily="18" charset="2"/>
              </a:rPr>
              <a:t>电流频率</a:t>
            </a:r>
          </a:p>
        </p:txBody>
      </p:sp>
      <p:graphicFrame>
        <p:nvGraphicFramePr>
          <p:cNvPr id="11" name="Object 0"/>
          <p:cNvGraphicFramePr>
            <a:graphicFrameLocks noChangeAspect="1"/>
          </p:cNvGraphicFramePr>
          <p:nvPr/>
        </p:nvGraphicFramePr>
        <p:xfrm>
          <a:off x="1183741" y="3366397"/>
          <a:ext cx="5669732" cy="871669"/>
        </p:xfrm>
        <a:graphic>
          <a:graphicData uri="http://schemas.openxmlformats.org/presentationml/2006/ole">
            <p:oleObj spid="_x0000_s49154" name="Equation" r:id="rId4" imgW="3136900" imgH="482600" progId="Equation.3">
              <p:embed/>
            </p:oleObj>
          </a:graphicData>
        </a:graphic>
      </p:graphicFrame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48181" y="4794659"/>
            <a:ext cx="8610600" cy="1628775"/>
          </a:xfrm>
          <a:prstGeom prst="rect">
            <a:avLst/>
          </a:prstGeom>
          <a:solidFill>
            <a:srgbClr val="92D050">
              <a:alpha val="34000"/>
            </a:srgbClr>
          </a:solidFill>
          <a:ln w="12700" cap="sq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要求淬硬层</a:t>
            </a:r>
            <a:r>
              <a:rPr lang="en-US" altLang="zh-CN" sz="2800" b="1" dirty="0">
                <a:solidFill>
                  <a:schemeClr val="tx2"/>
                </a:solidFill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</a:rPr>
              <a:t>～</a:t>
            </a:r>
            <a:r>
              <a:rPr lang="en-US" altLang="zh-CN" sz="2800" b="1" dirty="0">
                <a:solidFill>
                  <a:schemeClr val="tx2"/>
                </a:solidFill>
              </a:rPr>
              <a:t>5mm</a:t>
            </a:r>
            <a:r>
              <a:rPr lang="zh-CN" altLang="en-US" sz="2800" b="1" dirty="0">
                <a:solidFill>
                  <a:schemeClr val="tx2"/>
                </a:solidFill>
              </a:rPr>
              <a:t>时，可采用频率为</a:t>
            </a:r>
            <a:r>
              <a:rPr lang="en-US" altLang="zh-CN" sz="2800" b="1" dirty="0">
                <a:solidFill>
                  <a:schemeClr val="tx2"/>
                </a:solidFill>
              </a:rPr>
              <a:t>2.5</a:t>
            </a:r>
            <a:r>
              <a:rPr lang="zh-CN" altLang="en-US" sz="2800" b="1" dirty="0">
                <a:solidFill>
                  <a:schemeClr val="tx2"/>
                </a:solidFill>
              </a:rPr>
              <a:t>～</a:t>
            </a:r>
            <a:r>
              <a:rPr lang="en-US" altLang="zh-CN" sz="2800" b="1" dirty="0">
                <a:solidFill>
                  <a:schemeClr val="tx2"/>
                </a:solidFill>
              </a:rPr>
              <a:t>8kHz</a:t>
            </a:r>
            <a:r>
              <a:rPr lang="zh-CN" altLang="en-US" sz="2800" b="1" dirty="0">
                <a:solidFill>
                  <a:schemeClr val="tx2"/>
                </a:solidFill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</a:rPr>
              <a:t>中频</a:t>
            </a:r>
            <a:r>
              <a:rPr lang="zh-CN" altLang="en-US" sz="2800" b="1" dirty="0">
                <a:solidFill>
                  <a:schemeClr val="tx2"/>
                </a:solidFill>
              </a:rPr>
              <a:t>加热；淬硬层为</a:t>
            </a:r>
            <a:r>
              <a:rPr lang="en-US" altLang="zh-CN" sz="2800" b="1" dirty="0">
                <a:solidFill>
                  <a:schemeClr val="tx2"/>
                </a:solidFill>
              </a:rPr>
              <a:t>0.5</a:t>
            </a:r>
            <a:r>
              <a:rPr lang="zh-CN" altLang="en-US" sz="2800" b="1" dirty="0">
                <a:solidFill>
                  <a:schemeClr val="tx2"/>
                </a:solidFill>
              </a:rPr>
              <a:t>～</a:t>
            </a:r>
            <a:r>
              <a:rPr lang="en-US" altLang="zh-CN" sz="2800" b="1" dirty="0">
                <a:solidFill>
                  <a:schemeClr val="tx2"/>
                </a:solidFill>
              </a:rPr>
              <a:t>2mm</a:t>
            </a:r>
            <a:r>
              <a:rPr lang="zh-CN" altLang="en-US" sz="2800" b="1" dirty="0">
                <a:solidFill>
                  <a:schemeClr val="tx2"/>
                </a:solidFill>
              </a:rPr>
              <a:t>时，可采用频率为</a:t>
            </a:r>
            <a:r>
              <a:rPr lang="en-US" altLang="zh-CN" sz="2800" b="1" dirty="0">
                <a:solidFill>
                  <a:schemeClr val="tx2"/>
                </a:solidFill>
              </a:rPr>
              <a:t>200</a:t>
            </a:r>
            <a:r>
              <a:rPr lang="zh-CN" altLang="en-US" sz="2800" b="1" dirty="0">
                <a:solidFill>
                  <a:schemeClr val="tx2"/>
                </a:solidFill>
              </a:rPr>
              <a:t>～</a:t>
            </a:r>
            <a:r>
              <a:rPr lang="en-US" altLang="zh-CN" sz="2800" b="1" dirty="0">
                <a:solidFill>
                  <a:schemeClr val="tx2"/>
                </a:solidFill>
              </a:rPr>
              <a:t>300kHz</a:t>
            </a:r>
            <a:r>
              <a:rPr lang="zh-CN" altLang="en-US" sz="2800" b="1" dirty="0">
                <a:solidFill>
                  <a:schemeClr val="tx2"/>
                </a:solidFill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</a:rPr>
              <a:t>高频</a:t>
            </a:r>
            <a:r>
              <a:rPr lang="zh-CN" altLang="en-US" sz="2800" b="1" dirty="0">
                <a:solidFill>
                  <a:schemeClr val="tx2"/>
                </a:solidFill>
              </a:rPr>
              <a:t>电源；要求</a:t>
            </a:r>
            <a:r>
              <a:rPr lang="en-US" altLang="zh-CN" sz="2800" b="1" dirty="0">
                <a:solidFill>
                  <a:schemeClr val="tx2"/>
                </a:solidFill>
              </a:rPr>
              <a:t>10mm</a:t>
            </a:r>
            <a:r>
              <a:rPr lang="zh-CN" altLang="en-US" sz="2800" b="1" dirty="0">
                <a:solidFill>
                  <a:schemeClr val="tx2"/>
                </a:solidFill>
              </a:rPr>
              <a:t>以上淬硬层的工件，可采用频率为</a:t>
            </a:r>
            <a:r>
              <a:rPr lang="en-US" altLang="zh-CN" sz="2800" b="1" dirty="0">
                <a:solidFill>
                  <a:schemeClr val="tx2"/>
                </a:solidFill>
              </a:rPr>
              <a:t>50Hz</a:t>
            </a:r>
            <a:r>
              <a:rPr lang="zh-CN" altLang="en-US" sz="2800" b="1" dirty="0">
                <a:solidFill>
                  <a:schemeClr val="tx2"/>
                </a:solidFill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</a:rPr>
              <a:t>工频</a:t>
            </a:r>
            <a:r>
              <a:rPr lang="zh-CN" altLang="en-US" sz="2800" b="1" dirty="0">
                <a:solidFill>
                  <a:schemeClr val="tx2"/>
                </a:solidFill>
              </a:rPr>
              <a:t>电源。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3976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表面热处理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8762" y="1731194"/>
            <a:ext cx="3302502" cy="4379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32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11685" y="1671952"/>
            <a:ext cx="5251657" cy="4366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3976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表面热处理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(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感应加热表面热处理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)</a:t>
            </a:r>
            <a:endParaRPr lang="zh-CN" altLang="en-US" sz="2800" b="1" dirty="0" smtClean="0">
              <a:solidFill>
                <a:srgbClr val="C00000"/>
              </a:solidFill>
              <a:latin typeface="Arial" panose="020B0604020202020204"/>
              <a:ea typeface="幼圆"/>
            </a:endParaRPr>
          </a:p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52228" y="1430448"/>
            <a:ext cx="8785225" cy="513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感应加热后马上采用水、乳化液等喷射冷却淬火。相变速度很快，一般只需几秒或几十秒钟。与一般淬火相比，其工艺、淬火后组织和性能有以下特点：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淬火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后组织为细</a:t>
            </a:r>
            <a:r>
              <a:rPr lang="zh-CN" altLang="en-US" sz="2800" b="1" dirty="0">
                <a:solidFill>
                  <a:schemeClr val="accent2"/>
                </a:solidFill>
              </a:rPr>
              <a:t>隐晶马氏体</a:t>
            </a:r>
            <a:r>
              <a:rPr lang="zh-CN" altLang="en-US" sz="2800" b="1" dirty="0">
                <a:solidFill>
                  <a:srgbClr val="FF0000"/>
                </a:solidFill>
              </a:rPr>
              <a:t>。表面硬度比一般淬火高 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～</a:t>
            </a:r>
            <a:r>
              <a:rPr lang="en-US" altLang="zh-CN" sz="2800" b="1" dirty="0">
                <a:solidFill>
                  <a:srgbClr val="FF0000"/>
                </a:solidFill>
              </a:rPr>
              <a:t>3HRC</a:t>
            </a:r>
            <a:r>
              <a:rPr lang="zh-CN" altLang="en-US" sz="2800" b="1" dirty="0">
                <a:solidFill>
                  <a:srgbClr val="FF0000"/>
                </a:solidFill>
              </a:rPr>
              <a:t>，而且脆性较低。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2800" b="1" dirty="0" smtClean="0">
                <a:solidFill>
                  <a:schemeClr val="accent2"/>
                </a:solidFill>
              </a:rPr>
              <a:t> 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表面层淬得马氏体后，在工件表层造成较大的</a:t>
            </a:r>
            <a:r>
              <a:rPr lang="zh-CN" altLang="en-US" sz="2800" b="1" dirty="0">
                <a:solidFill>
                  <a:schemeClr val="accent2"/>
                </a:solidFill>
              </a:rPr>
              <a:t>残余压应力，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显著提高工件的</a:t>
            </a:r>
            <a:r>
              <a:rPr lang="zh-CN" altLang="en-US" sz="2800" b="1" dirty="0">
                <a:solidFill>
                  <a:schemeClr val="accent2"/>
                </a:solidFill>
              </a:rPr>
              <a:t>疲劳强度。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zh-CN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因加热速度快，没有保温时间，工件的氧化脱碳少。另外，内部未加热，工件的淬火变形也小。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加热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温度和淬硬层厚度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从表面到半马氏体区的距离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容易控制，便于实现机械化和自动化。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3976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0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表面热处理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(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激光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热处理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)</a:t>
            </a:r>
            <a:endParaRPr lang="zh-CN" altLang="en-US" sz="2800" b="1" dirty="0" smtClean="0">
              <a:solidFill>
                <a:srgbClr val="C00000"/>
              </a:solidFill>
              <a:latin typeface="Arial" panose="020B0604020202020204"/>
              <a:ea typeface="幼圆"/>
            </a:endParaRPr>
          </a:p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321805"/>
            <a:ext cx="9144000" cy="2408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激光热处理：以高能量激光束快速扫描工件，使被照射的金属或合金表面温度以极快速度升高到相变点以上，激光束离开被照射部位时，由于热传导作用，处于冷态的基体使其迅速冷却而进行自冷淬火，得到较细小的硬化层组织，硬度一般高于常规淬火硬度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3739081"/>
            <a:ext cx="9144000" cy="3118919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激光的特点：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高方向性；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高亮度性；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高单色性。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3976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表面热处理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(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激光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热处理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)</a:t>
            </a:r>
            <a:endParaRPr lang="zh-CN" altLang="en-US" sz="2800" b="1" dirty="0" smtClean="0">
              <a:solidFill>
                <a:srgbClr val="C00000"/>
              </a:solidFill>
              <a:latin typeface="Arial" panose="020B0604020202020204"/>
              <a:ea typeface="幼圆"/>
            </a:endParaRPr>
          </a:p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303699"/>
            <a:ext cx="9144000" cy="5554301"/>
          </a:xfrm>
          <a:prstGeom prst="rect">
            <a:avLst/>
          </a:prstGeom>
          <a:solidFill>
            <a:schemeClr val="accent1">
              <a:alpha val="2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激光处理的特点：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处理过程极快，所以大气气氛对表面的影响一般较小；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热能由光束传递给零件表面，为无接触加热，不会发生因接触导致的表面污染；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采用望远镜镜头聚焦，其焦深很长，对处理表面凹凸不平、形状复杂的工件十分有利；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加热区域小且为扫描式加热，故处理变形小；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可进行局部表面合金化处理；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易实现自动化。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3976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表面热处理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(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激光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热处理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)</a:t>
            </a:r>
            <a:endParaRPr lang="zh-CN" altLang="en-US" sz="2800" b="1" dirty="0" smtClean="0">
              <a:solidFill>
                <a:srgbClr val="C00000"/>
              </a:solidFill>
              <a:latin typeface="Arial" panose="020B0604020202020204"/>
              <a:ea typeface="幼圆"/>
            </a:endParaRPr>
          </a:p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26" y="1569362"/>
            <a:ext cx="9141474" cy="4677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3976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表面热处理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(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气相沉积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)</a:t>
            </a:r>
            <a:endParaRPr lang="zh-CN" altLang="en-US" sz="2800" b="1" dirty="0" smtClean="0">
              <a:solidFill>
                <a:srgbClr val="C00000"/>
              </a:solidFill>
              <a:latin typeface="Arial" panose="020B0604020202020204"/>
              <a:ea typeface="幼圆"/>
            </a:endParaRPr>
          </a:p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0" y="1322803"/>
            <a:ext cx="9144000" cy="2625354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3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分为</a:t>
            </a:r>
            <a:r>
              <a:rPr lang="zh-CN" altLang="en-US" sz="2800" b="1" dirty="0">
                <a:solidFill>
                  <a:srgbClr val="FF3399"/>
                </a:solidFill>
              </a:rPr>
              <a:t>化学气相沉积</a:t>
            </a:r>
            <a:r>
              <a:rPr lang="en-US" altLang="zh-CN" sz="2800" b="1" dirty="0">
                <a:solidFill>
                  <a:srgbClr val="FF3399"/>
                </a:solidFill>
              </a:rPr>
              <a:t>(CVD)</a:t>
            </a:r>
            <a:r>
              <a:rPr lang="zh-CN" altLang="en-US" sz="2800" b="1" dirty="0">
                <a:solidFill>
                  <a:srgbClr val="0000FF"/>
                </a:solidFill>
              </a:rPr>
              <a:t>和物理气相沉积</a:t>
            </a:r>
            <a:r>
              <a:rPr lang="en-US" altLang="zh-CN" sz="2800" b="1" dirty="0">
                <a:solidFill>
                  <a:srgbClr val="0000FF"/>
                </a:solidFill>
              </a:rPr>
              <a:t>(PVD)</a:t>
            </a:r>
            <a:r>
              <a:rPr lang="zh-CN" altLang="en-US" sz="2800" b="1" dirty="0">
                <a:solidFill>
                  <a:srgbClr val="0000FF"/>
                </a:solidFill>
              </a:rPr>
              <a:t>。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3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化学气相沉积是使挥发性化合物气体发生分解或化学反应，并在工件上沉积成膜的方法。。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物理气相沉积包括真空蒸发、溅射、离子镀三种方法，都是在真空条件下进行，也称为真空镀膜法</a:t>
            </a:r>
            <a:r>
              <a:rPr lang="zh-CN" altLang="en-US" sz="3200" b="1" dirty="0">
                <a:solidFill>
                  <a:srgbClr val="FF0000"/>
                </a:solidFill>
              </a:rPr>
              <a:t>。</a:t>
            </a:r>
            <a:endParaRPr lang="zh-CN" altLang="en-US" sz="3200" b="1" dirty="0">
              <a:solidFill>
                <a:schemeClr val="tx2"/>
              </a:solidFill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0" y="4161649"/>
            <a:ext cx="9144000" cy="2246769"/>
          </a:xfrm>
          <a:prstGeom prst="rect">
            <a:avLst/>
          </a:prstGeom>
          <a:solidFill>
            <a:srgbClr val="FFFF99"/>
          </a:solidFill>
          <a:ln w="12700" cap="sq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spcBef>
                <a:spcPct val="30000"/>
              </a:spcBef>
            </a:pPr>
            <a:r>
              <a:rPr lang="zh-CN" altLang="en-US" sz="2800" b="1" dirty="0">
                <a:solidFill>
                  <a:srgbClr val="0000FF"/>
                </a:solidFill>
              </a:rPr>
              <a:t>气相沉积的特点</a:t>
            </a:r>
            <a:r>
              <a:rPr lang="zh-CN" altLang="en-US" sz="2800" b="1" dirty="0">
                <a:solidFill>
                  <a:schemeClr val="tx2"/>
                </a:solidFill>
              </a:rPr>
              <a:t>       镀层附着力较强，均匀，快速，质量好，公害小，选材广。能制备各种耐磨膜</a:t>
            </a:r>
            <a:r>
              <a:rPr lang="en-US" altLang="zh-CN" sz="2800" b="1" dirty="0">
                <a:solidFill>
                  <a:schemeClr val="tx2"/>
                </a:solidFill>
              </a:rPr>
              <a:t>(</a:t>
            </a:r>
            <a:r>
              <a:rPr lang="zh-CN" altLang="en-US" sz="2800" b="1" dirty="0">
                <a:solidFill>
                  <a:schemeClr val="tx2"/>
                </a:solidFill>
              </a:rPr>
              <a:t>如</a:t>
            </a:r>
            <a:r>
              <a:rPr lang="en-US" altLang="zh-CN" sz="2800" b="1" dirty="0" err="1">
                <a:solidFill>
                  <a:schemeClr val="tx2"/>
                </a:solidFill>
              </a:rPr>
              <a:t>TiN</a:t>
            </a:r>
            <a:r>
              <a:rPr lang="zh-CN" altLang="en-US" sz="2800" b="1" dirty="0">
                <a:solidFill>
                  <a:schemeClr val="tx2"/>
                </a:solidFill>
              </a:rPr>
              <a:t>、</a:t>
            </a:r>
            <a:r>
              <a:rPr lang="en-US" altLang="zh-CN" sz="2800" b="1" dirty="0" err="1">
                <a:solidFill>
                  <a:schemeClr val="tx2"/>
                </a:solidFill>
              </a:rPr>
              <a:t>TiC</a:t>
            </a:r>
            <a:r>
              <a:rPr lang="zh-CN" altLang="en-US" sz="2800" b="1" dirty="0">
                <a:solidFill>
                  <a:schemeClr val="tx2"/>
                </a:solidFill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</a:rPr>
              <a:t>W</a:t>
            </a:r>
            <a:r>
              <a:rPr lang="en-US" altLang="zh-CN" sz="2800" b="1" baseline="-30000" dirty="0">
                <a:solidFill>
                  <a:schemeClr val="tx2"/>
                </a:solidFill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</a:rPr>
              <a:t>C</a:t>
            </a:r>
            <a:r>
              <a:rPr lang="zh-CN" altLang="en-US" sz="2800" b="1" dirty="0">
                <a:solidFill>
                  <a:schemeClr val="tx2"/>
                </a:solidFill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</a:rPr>
              <a:t>A1</a:t>
            </a:r>
            <a:r>
              <a:rPr lang="en-US" altLang="zh-CN" sz="2800" b="1" baseline="-30000" dirty="0">
                <a:solidFill>
                  <a:schemeClr val="tx2"/>
                </a:solidFill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</a:rPr>
              <a:t>O</a:t>
            </a:r>
            <a:r>
              <a:rPr lang="en-US" altLang="zh-CN" sz="2800" b="1" baseline="-30000" dirty="0">
                <a:solidFill>
                  <a:schemeClr val="tx2"/>
                </a:solidFill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</a:rPr>
              <a:t>等</a:t>
            </a:r>
            <a:r>
              <a:rPr lang="en-US" altLang="zh-CN" sz="2800" b="1" dirty="0">
                <a:solidFill>
                  <a:schemeClr val="tx2"/>
                </a:solidFill>
              </a:rPr>
              <a:t>)</a:t>
            </a:r>
            <a:r>
              <a:rPr lang="zh-CN" altLang="en-US" sz="2800" b="1" dirty="0">
                <a:solidFill>
                  <a:schemeClr val="tx2"/>
                </a:solidFill>
              </a:rPr>
              <a:t>、耐蚀膜</a:t>
            </a:r>
            <a:r>
              <a:rPr lang="en-US" altLang="zh-CN" sz="2800" b="1" dirty="0">
                <a:solidFill>
                  <a:schemeClr val="tx2"/>
                </a:solidFill>
              </a:rPr>
              <a:t>(</a:t>
            </a:r>
            <a:r>
              <a:rPr lang="zh-CN" altLang="en-US" sz="2800" b="1" dirty="0">
                <a:solidFill>
                  <a:schemeClr val="tx2"/>
                </a:solidFill>
              </a:rPr>
              <a:t>如</a:t>
            </a:r>
            <a:r>
              <a:rPr lang="en-US" altLang="zh-CN" sz="2800" b="1" dirty="0">
                <a:solidFill>
                  <a:schemeClr val="tx2"/>
                </a:solidFill>
              </a:rPr>
              <a:t>Al</a:t>
            </a:r>
            <a:r>
              <a:rPr lang="zh-CN" altLang="en-US" sz="2800" b="1" dirty="0">
                <a:solidFill>
                  <a:schemeClr val="tx2"/>
                </a:solidFill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</a:rPr>
              <a:t>Cr</a:t>
            </a:r>
            <a:r>
              <a:rPr lang="zh-CN" altLang="en-US" sz="2800" b="1" dirty="0">
                <a:solidFill>
                  <a:schemeClr val="tx2"/>
                </a:solidFill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</a:rPr>
              <a:t>Ni</a:t>
            </a:r>
            <a:r>
              <a:rPr lang="zh-CN" altLang="en-US" sz="2800" b="1" dirty="0">
                <a:solidFill>
                  <a:schemeClr val="tx2"/>
                </a:solidFill>
              </a:rPr>
              <a:t>及某些多层金属等</a:t>
            </a:r>
            <a:r>
              <a:rPr lang="en-US" altLang="zh-CN" sz="2800" b="1" dirty="0">
                <a:solidFill>
                  <a:schemeClr val="tx2"/>
                </a:solidFill>
              </a:rPr>
              <a:t>)</a:t>
            </a:r>
            <a:r>
              <a:rPr lang="zh-CN" altLang="en-US" sz="2800" b="1" dirty="0">
                <a:solidFill>
                  <a:schemeClr val="tx2"/>
                </a:solidFill>
              </a:rPr>
              <a:t>、润滑膜</a:t>
            </a:r>
            <a:r>
              <a:rPr lang="en-US" altLang="zh-CN" sz="2800" b="1" dirty="0">
                <a:solidFill>
                  <a:schemeClr val="tx2"/>
                </a:solidFill>
              </a:rPr>
              <a:t>(</a:t>
            </a:r>
            <a:r>
              <a:rPr lang="zh-CN" altLang="en-US" sz="2800" b="1" dirty="0">
                <a:solidFill>
                  <a:schemeClr val="tx2"/>
                </a:solidFill>
              </a:rPr>
              <a:t>如</a:t>
            </a:r>
            <a:r>
              <a:rPr lang="en-US" altLang="zh-CN" sz="2800" b="1" dirty="0">
                <a:solidFill>
                  <a:schemeClr val="tx2"/>
                </a:solidFill>
              </a:rPr>
              <a:t>MoS</a:t>
            </a:r>
            <a:r>
              <a:rPr lang="en-US" altLang="zh-CN" sz="2800" b="1" baseline="-30000" dirty="0">
                <a:solidFill>
                  <a:schemeClr val="tx2"/>
                </a:solidFill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</a:rPr>
              <a:t>、</a:t>
            </a:r>
            <a:r>
              <a:rPr lang="en-US" altLang="zh-CN" sz="2800" b="1" dirty="0">
                <a:solidFill>
                  <a:schemeClr val="tx2"/>
                </a:solidFill>
              </a:rPr>
              <a:t>WS</a:t>
            </a:r>
            <a:r>
              <a:rPr lang="en-US" altLang="zh-CN" sz="2800" b="1" baseline="-30000" dirty="0">
                <a:solidFill>
                  <a:schemeClr val="tx2"/>
                </a:solidFill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</a:rPr>
              <a:t>、石墨、</a:t>
            </a:r>
            <a:r>
              <a:rPr lang="en-US" altLang="zh-CN" sz="2800" b="1" dirty="0">
                <a:solidFill>
                  <a:schemeClr val="tx2"/>
                </a:solidFill>
              </a:rPr>
              <a:t>CaF</a:t>
            </a:r>
            <a:r>
              <a:rPr lang="en-US" altLang="zh-CN" sz="2800" b="1" baseline="-30000" dirty="0">
                <a:solidFill>
                  <a:schemeClr val="tx2"/>
                </a:solidFill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</a:rPr>
              <a:t>等</a:t>
            </a:r>
            <a:r>
              <a:rPr lang="en-US" altLang="zh-CN" sz="2800" b="1" dirty="0">
                <a:solidFill>
                  <a:schemeClr val="tx2"/>
                </a:solidFill>
              </a:rPr>
              <a:t>)</a:t>
            </a:r>
            <a:r>
              <a:rPr lang="zh-CN" altLang="en-US" sz="2800" b="1" dirty="0">
                <a:solidFill>
                  <a:schemeClr val="tx2"/>
                </a:solidFill>
              </a:rPr>
              <a:t>、磁性膜、光学膜，以及其它功能性薄膜。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3976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/>
                <a:ea typeface="幼圆"/>
              </a:rPr>
              <a:t>第一节  </a:t>
            </a: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表面热处理</a:t>
            </a:r>
            <a:r>
              <a:rPr lang="en-US" altLang="zh-CN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(</a:t>
            </a:r>
            <a:r>
              <a:rPr lang="zh-CN" altLang="en-US" sz="2800" b="1" dirty="0" smtClean="0">
                <a:solidFill>
                  <a:srgbClr val="C00000"/>
                </a:solidFill>
                <a:latin typeface="Arial" panose="020B0604020202020204"/>
                <a:ea typeface="幼圆"/>
              </a:rPr>
              <a:t>化学气相沉积</a:t>
            </a:r>
            <a:r>
              <a:rPr lang="en-US" altLang="zh-CN" sz="2800" b="1" dirty="0" smtClean="0">
                <a:solidFill>
                  <a:srgbClr val="C00000"/>
                </a:solidFill>
              </a:rPr>
              <a:t>)</a:t>
            </a:r>
            <a:endParaRPr lang="zh-CN" altLang="en-US" sz="2800" b="1" dirty="0" smtClean="0">
              <a:solidFill>
                <a:srgbClr val="C00000"/>
              </a:solidFill>
              <a:latin typeface="Arial" panose="020B0604020202020204"/>
              <a:ea typeface="幼圆"/>
            </a:endParaRPr>
          </a:p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pic>
        <p:nvPicPr>
          <p:cNvPr id="112642" name="Picture 2" descr="https://gimg2.baidu.com/image_search/src=http%3A%2F%2Fimg.scimall.org.cn%2Fcollect%2F2021%2F01%2F05%2F20210105164000_0868a2.jpg-orig&amp;refer=http%3A%2F%2Fimg.scimall.org.cn&amp;app=2002&amp;size=f9999,10000&amp;q=a80&amp;n=0&amp;g=0n&amp;fmt=auto?sec=1669172408&amp;t=d958a6fc0b35cb34f231c2b3b367ecd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47828" y="1352016"/>
            <a:ext cx="6207787" cy="2540594"/>
          </a:xfrm>
          <a:prstGeom prst="rect">
            <a:avLst/>
          </a:prstGeom>
          <a:noFill/>
        </p:spPr>
      </p:pic>
      <p:pic>
        <p:nvPicPr>
          <p:cNvPr id="112644" name="Picture 4" descr="https://gimg2.baidu.com/image_search/src=http%3A%2F%2Fbkimg.cdn.bcebos.com%2Fpic%2Fd000baa1cd11728b471016de36b6d4cec3fdfd0386be&amp;refer=http%3A%2F%2Fbkimg.cdn.bcebos.com&amp;app=2002&amp;size=f9999,10000&amp;q=a80&amp;n=0&amp;g=0n&amp;fmt=auto?sec=1669172594&amp;t=89b8b4ced4ac152b163cd58850f6534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47043" y="3119215"/>
            <a:ext cx="3896957" cy="25936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可控气氛热处理与真空热处理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22190" y="1718418"/>
            <a:ext cx="8610600" cy="1803400"/>
          </a:xfrm>
          <a:prstGeom prst="rect">
            <a:avLst/>
          </a:prstGeom>
          <a:solidFill>
            <a:srgbClr val="66FFCC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． 可控气氛热处理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zh-CN" altLang="en-US" sz="2800" dirty="0">
                <a:solidFill>
                  <a:schemeClr val="tx2"/>
                </a:solidFill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</a:rPr>
              <a:t>在炉气成分可以控制的炉内进行的热处理称为可控气氛热处理。炉气分渗碳性、还原性和中性保护气氛（惰性气体）等。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55662" y="4075633"/>
            <a:ext cx="8534400" cy="2209800"/>
          </a:xfrm>
          <a:prstGeom prst="rect">
            <a:avLst/>
          </a:prstGeom>
          <a:solidFill>
            <a:srgbClr val="FFFF00"/>
          </a:solidFill>
          <a:ln w="12700" cap="sq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可控气氛热处理有一系列技术经济优点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</a:p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能减少和避免钢件在加热过程中氧化和脱碳，节约钢材，提高工件质量，可实现</a:t>
            </a:r>
            <a:r>
              <a:rPr lang="zh-CN" altLang="en-US" sz="2800" b="1" dirty="0">
                <a:solidFill>
                  <a:srgbClr val="FF0000"/>
                </a:solidFill>
              </a:rPr>
              <a:t>光亮热处理</a:t>
            </a:r>
            <a:r>
              <a:rPr lang="zh-CN" altLang="en-US" sz="2800" b="1" dirty="0">
                <a:solidFill>
                  <a:schemeClr val="tx2"/>
                </a:solidFill>
              </a:rPr>
              <a:t>，保证工件的尺寸精度，可进行控制表面碳浓度的渗碳和碳氮共渗，可使已脱碳的工件表面复碳等等。</a:t>
            </a:r>
            <a:endParaRPr lang="zh-CN" altLang="en-US" sz="28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  <p:bldP spid="10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可控气氛热处理与真空热处理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0" y="1847164"/>
            <a:ext cx="9144000" cy="947311"/>
          </a:xfrm>
          <a:prstGeom prst="rect">
            <a:avLst/>
          </a:prstGeom>
          <a:solidFill>
            <a:srgbClr val="FFCC00">
              <a:alpha val="25000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chemeClr val="tx2"/>
                </a:solidFill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</a:rPr>
              <a:t>指真空中进行的热处理。包括真空淬火、真空退火、真空回火和真空化学热处理等。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0" y="2736872"/>
            <a:ext cx="9144000" cy="4121128"/>
          </a:xfrm>
          <a:prstGeom prst="rect">
            <a:avLst/>
          </a:prstGeom>
          <a:solidFill>
            <a:srgbClr val="FFFF00">
              <a:alpha val="24000"/>
            </a:srgbClr>
          </a:solidFill>
          <a:ln w="12700" cap="sq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accent2"/>
                </a:solidFill>
              </a:rPr>
              <a:t>（</a:t>
            </a:r>
            <a:r>
              <a:rPr lang="en-US" altLang="zh-CN" sz="2800" b="1" dirty="0">
                <a:solidFill>
                  <a:schemeClr val="accent2"/>
                </a:solidFill>
              </a:rPr>
              <a:t>1</a:t>
            </a:r>
            <a:r>
              <a:rPr lang="zh-CN" altLang="en-US" sz="2800" b="1" dirty="0">
                <a:solidFill>
                  <a:schemeClr val="accent2"/>
                </a:solidFill>
              </a:rPr>
              <a:t>）真空热处理的效果</a:t>
            </a:r>
          </a:p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a. </a:t>
            </a:r>
            <a:r>
              <a:rPr lang="zh-CN" altLang="en-US" sz="2800" b="1" dirty="0"/>
              <a:t>可以</a:t>
            </a:r>
            <a:r>
              <a:rPr lang="zh-CN" altLang="en-US" sz="2800" b="1" dirty="0">
                <a:solidFill>
                  <a:srgbClr val="FF0000"/>
                </a:solidFill>
              </a:rPr>
              <a:t>减少变形</a:t>
            </a:r>
            <a:r>
              <a:rPr lang="zh-CN" altLang="en-US" sz="2800" b="1" dirty="0"/>
              <a:t>   在真空中加热，</a:t>
            </a:r>
            <a:r>
              <a:rPr lang="zh-CN" altLang="en-US" sz="2800" b="1" dirty="0">
                <a:solidFill>
                  <a:srgbClr val="FF0000"/>
                </a:solidFill>
              </a:rPr>
              <a:t>升温速度很慢</a:t>
            </a:r>
            <a:r>
              <a:rPr lang="zh-CN" altLang="en-US" sz="2800" b="1" dirty="0"/>
              <a:t>，工件截面温差很小，工件变形较小。</a:t>
            </a:r>
          </a:p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chemeClr val="accent2"/>
                </a:solidFill>
              </a:rPr>
              <a:t>b. </a:t>
            </a:r>
            <a:r>
              <a:rPr lang="zh-CN" altLang="en-US" sz="2800" b="1" dirty="0"/>
              <a:t>可以减少和防止氧化</a:t>
            </a:r>
          </a:p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c. </a:t>
            </a:r>
            <a:r>
              <a:rPr lang="zh-CN" altLang="en-US" sz="2800" b="1" dirty="0"/>
              <a:t>可以</a:t>
            </a:r>
            <a:r>
              <a:rPr lang="zh-CN" altLang="en-US" sz="2800" b="1" dirty="0">
                <a:solidFill>
                  <a:srgbClr val="FF0000"/>
                </a:solidFill>
              </a:rPr>
              <a:t>净化表面</a:t>
            </a:r>
            <a:r>
              <a:rPr lang="zh-CN" altLang="en-US" sz="2800" b="1" dirty="0"/>
              <a:t>    在高真空中，表面的氧化物、油污等发生分解挥发，工件可得到光亮的表面。</a:t>
            </a:r>
          </a:p>
          <a:p>
            <a:pPr eaLnBrk="1" hangingPunct="1">
              <a:lnSpc>
                <a:spcPct val="95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chemeClr val="accent2"/>
                </a:solidFill>
              </a:rPr>
              <a:t>d. </a:t>
            </a:r>
            <a:r>
              <a:rPr lang="zh-CN" altLang="en-US" sz="2800" b="1" dirty="0">
                <a:solidFill>
                  <a:srgbClr val="FF0000"/>
                </a:solidFill>
              </a:rPr>
              <a:t>脱气作用</a:t>
            </a:r>
            <a:r>
              <a:rPr lang="zh-CN" altLang="en-US" sz="2800" b="1" dirty="0"/>
              <a:t>     溶解在金属中的气体，在真空中长时间加热时，会不断逸出并由真空泵排出。有利于改善钢的韧性，提高工件的使用寿命。</a:t>
            </a:r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0" y="1372805"/>
            <a:ext cx="25218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chemeClr val="accent2"/>
                </a:solidFill>
              </a:rPr>
              <a:t>2</a:t>
            </a:r>
            <a:r>
              <a:rPr lang="zh-CN" altLang="en-US" sz="2800" b="1" dirty="0" smtClean="0">
                <a:solidFill>
                  <a:schemeClr val="accent2"/>
                </a:solidFill>
              </a:rPr>
              <a:t>．真空热处理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11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可控气氛热处理与真空热处理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0" y="2392162"/>
            <a:ext cx="9144000" cy="446583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真空技术的发展，以及对重要零件的更高性能和使用可靠性的要求，使真空热处理得到了越来越广泛的应用。</a:t>
            </a:r>
          </a:p>
          <a:p>
            <a:pPr eaLnBrk="1" hangingPunct="1">
              <a:spcBef>
                <a:spcPct val="5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a. </a:t>
            </a:r>
            <a:r>
              <a:rPr lang="zh-CN" altLang="en-US" sz="2800" b="1" dirty="0">
                <a:solidFill>
                  <a:srgbClr val="FF0000"/>
                </a:solidFill>
              </a:rPr>
              <a:t>真空退火</a:t>
            </a:r>
            <a:r>
              <a:rPr lang="zh-CN" altLang="en-US" sz="2800" b="1" dirty="0">
                <a:solidFill>
                  <a:schemeClr val="accent2"/>
                </a:solidFill>
              </a:rPr>
              <a:t>    </a:t>
            </a:r>
            <a:r>
              <a:rPr lang="zh-CN" altLang="en-US" sz="2800" b="1" dirty="0"/>
              <a:t>有避免氧化、脱碳和去气、脱脂的作用，除了钢、铜及其合金外，还用于与气体亲和力较强的金属，如钛、钽、铌、锆等。</a:t>
            </a:r>
          </a:p>
          <a:p>
            <a:pPr eaLnBrk="1" hangingPunct="1">
              <a:spcBef>
                <a:spcPct val="5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b. </a:t>
            </a:r>
            <a:r>
              <a:rPr lang="zh-CN" altLang="en-US" sz="2800" b="1" dirty="0">
                <a:solidFill>
                  <a:srgbClr val="FF0000"/>
                </a:solidFill>
              </a:rPr>
              <a:t>真空淬火</a:t>
            </a:r>
            <a:r>
              <a:rPr lang="zh-CN" altLang="en-US" sz="2800" b="1" dirty="0">
                <a:solidFill>
                  <a:schemeClr val="tx2"/>
                </a:solidFill>
              </a:rPr>
              <a:t>    已大量用于各种钢，以及各种时效合金、硬磁合金的固溶处理。</a:t>
            </a:r>
          </a:p>
          <a:p>
            <a:pPr eaLnBrk="1" hangingPunct="1">
              <a:spcBef>
                <a:spcPct val="5000"/>
              </a:spcBef>
            </a:pPr>
            <a:r>
              <a:rPr lang="en-US" altLang="zh-CN" sz="2800" b="1" dirty="0">
                <a:solidFill>
                  <a:srgbClr val="FF0000"/>
                </a:solidFill>
              </a:rPr>
              <a:t>c. </a:t>
            </a:r>
            <a:r>
              <a:rPr lang="zh-CN" altLang="en-US" sz="2800" b="1" dirty="0">
                <a:solidFill>
                  <a:srgbClr val="FF0000"/>
                </a:solidFill>
              </a:rPr>
              <a:t>真空渗碳</a:t>
            </a:r>
            <a:r>
              <a:rPr lang="zh-CN" altLang="en-US" sz="2800" b="1" dirty="0">
                <a:solidFill>
                  <a:schemeClr val="accent2"/>
                </a:solidFill>
              </a:rPr>
              <a:t>    也叫</a:t>
            </a:r>
            <a:r>
              <a:rPr lang="zh-CN" altLang="en-US" sz="2800" b="1" dirty="0">
                <a:solidFill>
                  <a:srgbClr val="FF0000"/>
                </a:solidFill>
              </a:rPr>
              <a:t>低压</a:t>
            </a:r>
            <a:r>
              <a:rPr lang="en-US" altLang="zh-CN" sz="2800" b="1" dirty="0">
                <a:solidFill>
                  <a:srgbClr val="FF0000"/>
                </a:solidFill>
              </a:rPr>
              <a:t>(10</a:t>
            </a:r>
            <a:r>
              <a:rPr lang="en-US" altLang="zh-CN" sz="2800" b="1" baseline="30000" dirty="0">
                <a:solidFill>
                  <a:srgbClr val="FF0000"/>
                </a:solidFill>
              </a:rPr>
              <a:t>-3</a:t>
            </a:r>
            <a:r>
              <a:rPr lang="en-US" altLang="zh-CN" sz="2800" b="1" dirty="0">
                <a:solidFill>
                  <a:srgbClr val="FF0000"/>
                </a:solidFill>
              </a:rPr>
              <a:t>Pa</a:t>
            </a:r>
            <a:r>
              <a:rPr lang="zh-CN" altLang="en-US" sz="2800" b="1" dirty="0">
                <a:solidFill>
                  <a:srgbClr val="FF0000"/>
                </a:solidFill>
              </a:rPr>
              <a:t>甲烷或丙烷气氛，</a:t>
            </a:r>
            <a:r>
              <a:rPr lang="zh-CN" altLang="en-US" dirty="0"/>
              <a:t>一个标准大气压</a:t>
            </a:r>
            <a:r>
              <a:rPr lang="en-US" altLang="zh-CN" dirty="0"/>
              <a:t>=1013</a:t>
            </a:r>
            <a:r>
              <a:rPr lang="zh-CN" altLang="en-US" dirty="0"/>
              <a:t>百帕</a:t>
            </a:r>
            <a:r>
              <a:rPr lang="en-US" altLang="zh-CN" sz="2800" b="1" dirty="0">
                <a:solidFill>
                  <a:srgbClr val="FF0000"/>
                </a:solidFill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</a:rPr>
              <a:t>渗碳</a:t>
            </a:r>
            <a:r>
              <a:rPr lang="zh-CN" altLang="en-US" sz="2800" b="1" dirty="0">
                <a:solidFill>
                  <a:schemeClr val="accent2"/>
                </a:solidFill>
              </a:rPr>
              <a:t>，</a:t>
            </a:r>
            <a:r>
              <a:rPr lang="zh-CN" altLang="en-US" sz="2800" b="1" dirty="0"/>
              <a:t>是近来在高温渗碳和真空淬火的基础上发展起来的一项新工艺。与普通渗碳相比有许多优点。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1530036"/>
            <a:ext cx="9144000" cy="609600"/>
          </a:xfrm>
          <a:prstGeom prst="rect">
            <a:avLst/>
          </a:prstGeom>
          <a:solidFill>
            <a:srgbClr val="CCFFCC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0" lang="en-US" altLang="zh-CN" sz="3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3600" b="1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）真空热处理的应用</a:t>
            </a:r>
            <a:endParaRPr kumimoji="0" lang="zh-CN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形变热处理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30898" y="1663574"/>
            <a:ext cx="8877300" cy="47910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800" b="1" dirty="0"/>
              <a:t>将塑性变形和热处理有机结合起来，以提高材料机械性能的复合热处理工艺称为</a:t>
            </a:r>
            <a:r>
              <a:rPr lang="zh-CN" altLang="en-US" sz="2800" b="1" dirty="0">
                <a:solidFill>
                  <a:srgbClr val="FF0000"/>
                </a:solidFill>
              </a:rPr>
              <a:t>形变热处理</a:t>
            </a:r>
            <a:r>
              <a:rPr lang="zh-CN" altLang="en-US" sz="2800" b="1" dirty="0">
                <a:solidFill>
                  <a:schemeClr val="accent2"/>
                </a:solidFill>
              </a:rPr>
              <a:t>。</a:t>
            </a:r>
            <a:r>
              <a:rPr lang="zh-CN" altLang="en-US" sz="2800" b="1" dirty="0"/>
              <a:t>金属在形变的同时或形变前后发生相变时，会使</a:t>
            </a:r>
            <a:r>
              <a:rPr lang="zh-CN" altLang="en-US" sz="2800" b="1" dirty="0">
                <a:solidFill>
                  <a:srgbClr val="FF0000"/>
                </a:solidFill>
              </a:rPr>
              <a:t>晶粒细化</a:t>
            </a:r>
            <a:r>
              <a:rPr lang="zh-CN" altLang="en-US" sz="2800" b="1" dirty="0">
                <a:solidFill>
                  <a:schemeClr val="accent2"/>
                </a:solidFill>
              </a:rPr>
              <a:t>，</a:t>
            </a:r>
            <a:r>
              <a:rPr lang="zh-CN" altLang="en-US" sz="2800" b="1" dirty="0"/>
              <a:t>位错密度增高，晶界发生畸变，碳化物弥散效果增强等，从而可获得单一强化方法不可能达到的</a:t>
            </a:r>
            <a:r>
              <a:rPr lang="zh-CN" altLang="en-US" sz="2800" b="1" dirty="0">
                <a:solidFill>
                  <a:srgbClr val="FF0000"/>
                </a:solidFill>
              </a:rPr>
              <a:t>综合强韧化效果</a:t>
            </a:r>
            <a:r>
              <a:rPr lang="zh-CN" altLang="en-US" sz="2800" b="1" dirty="0">
                <a:solidFill>
                  <a:schemeClr val="accent2"/>
                </a:solidFill>
              </a:rPr>
              <a:t>。</a:t>
            </a:r>
            <a:r>
              <a:rPr lang="zh-CN" altLang="en-US" sz="2800" b="1" dirty="0"/>
              <a:t>可分为</a:t>
            </a:r>
            <a:r>
              <a:rPr lang="en-US" altLang="zh-CN" sz="2800" b="1" dirty="0">
                <a:solidFill>
                  <a:schemeClr val="accent2"/>
                </a:solidFill>
              </a:rPr>
              <a:t>: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dirty="0">
                <a:solidFill>
                  <a:schemeClr val="tx2"/>
                </a:solidFill>
              </a:rPr>
              <a:t>1  </a:t>
            </a:r>
            <a:r>
              <a:rPr lang="zh-CN" altLang="en-US" sz="2800" b="1" dirty="0">
                <a:solidFill>
                  <a:schemeClr val="tx2"/>
                </a:solidFill>
              </a:rPr>
              <a:t>相变前形变的形变热处理 </a:t>
            </a:r>
            <a:r>
              <a:rPr lang="en-US" altLang="zh-CN" sz="2800" b="1" dirty="0">
                <a:solidFill>
                  <a:schemeClr val="tx2"/>
                </a:solidFill>
              </a:rPr>
              <a:t>1). </a:t>
            </a:r>
            <a:r>
              <a:rPr lang="zh-CN" altLang="en-US" sz="2800" b="1" dirty="0">
                <a:solidFill>
                  <a:schemeClr val="tx2"/>
                </a:solidFill>
                <a:hlinkClick r:id="rId3" action="ppaction://hlinksldjump"/>
              </a:rPr>
              <a:t>高温形变热处理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                                                 </a:t>
            </a:r>
            <a:r>
              <a:rPr lang="zh-CN" altLang="en-US" sz="2800" b="1" dirty="0" smtClean="0">
                <a:solidFill>
                  <a:schemeClr val="tx2"/>
                </a:solidFill>
              </a:rPr>
              <a:t>     </a:t>
            </a:r>
            <a:r>
              <a:rPr lang="en-US" altLang="zh-CN" sz="2800" b="1" dirty="0" smtClean="0">
                <a:solidFill>
                  <a:schemeClr val="tx2"/>
                </a:solidFill>
              </a:rPr>
              <a:t>2</a:t>
            </a:r>
            <a:r>
              <a:rPr lang="en-US" altLang="zh-CN" sz="2800" b="1" dirty="0">
                <a:solidFill>
                  <a:schemeClr val="tx2"/>
                </a:solidFill>
              </a:rPr>
              <a:t>). </a:t>
            </a:r>
            <a:r>
              <a:rPr lang="zh-CN" altLang="en-US" sz="2800" b="1" dirty="0">
                <a:solidFill>
                  <a:schemeClr val="tx2"/>
                </a:solidFill>
                <a:hlinkClick r:id="rId4" action="ppaction://hlinksldjump"/>
              </a:rPr>
              <a:t>中</a:t>
            </a:r>
            <a:r>
              <a:rPr lang="en-US" altLang="zh-CN" sz="2800" b="1" dirty="0">
                <a:solidFill>
                  <a:schemeClr val="tx2"/>
                </a:solidFill>
                <a:hlinkClick r:id="rId4" action="ppaction://hlinksldjump"/>
              </a:rPr>
              <a:t>/</a:t>
            </a:r>
            <a:r>
              <a:rPr lang="zh-CN" altLang="en-US" sz="2800" b="1" dirty="0">
                <a:solidFill>
                  <a:schemeClr val="tx2"/>
                </a:solidFill>
                <a:hlinkClick r:id="rId4" action="ppaction://hlinksldjump"/>
              </a:rPr>
              <a:t>低温形变热处理</a:t>
            </a:r>
            <a:endParaRPr lang="zh-CN" altLang="en-US" sz="2800" b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dirty="0">
                <a:solidFill>
                  <a:schemeClr val="tx2"/>
                </a:solidFill>
              </a:rPr>
              <a:t>2  </a:t>
            </a:r>
            <a:r>
              <a:rPr lang="zh-CN" altLang="en-US" sz="2800" b="1" dirty="0">
                <a:solidFill>
                  <a:schemeClr val="tx2"/>
                </a:solidFill>
              </a:rPr>
              <a:t>相变中形变的形变热处理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dirty="0">
                <a:solidFill>
                  <a:schemeClr val="tx2"/>
                </a:solidFill>
              </a:rPr>
              <a:t>3  </a:t>
            </a:r>
            <a:r>
              <a:rPr lang="zh-CN" altLang="en-US" sz="2800" b="1" dirty="0">
                <a:solidFill>
                  <a:schemeClr val="tx2"/>
                </a:solidFill>
              </a:rPr>
              <a:t>相变后形变的形变热处理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 dirty="0">
                <a:solidFill>
                  <a:schemeClr val="tx2"/>
                </a:solidFill>
              </a:rPr>
              <a:t>4   </a:t>
            </a:r>
            <a:r>
              <a:rPr lang="zh-CN" altLang="en-US" sz="2800" b="1" dirty="0">
                <a:solidFill>
                  <a:schemeClr val="tx2"/>
                </a:solidFill>
              </a:rPr>
              <a:t>形变热处理的强韧化机理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形变热处理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2107194"/>
            <a:ext cx="9144000" cy="1274195"/>
          </a:xfrm>
          <a:prstGeom prst="rect">
            <a:avLst/>
          </a:prstGeom>
          <a:solidFill>
            <a:srgbClr val="66FFCC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solidFill>
                  <a:schemeClr val="tx2"/>
                </a:solidFill>
              </a:rPr>
              <a:t>分为</a:t>
            </a:r>
            <a:r>
              <a:rPr lang="zh-CN" altLang="en-US" sz="2400" b="1" dirty="0">
                <a:solidFill>
                  <a:srgbClr val="FF0000"/>
                </a:solidFill>
              </a:rPr>
              <a:t>高温形变淬火、高温形变等温淬火、高温形变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正火等</a:t>
            </a:r>
            <a:r>
              <a:rPr lang="zh-CN" altLang="en-US" sz="2400" b="1" dirty="0">
                <a:solidFill>
                  <a:srgbClr val="FF0000"/>
                </a:solidFill>
              </a:rPr>
              <a:t>。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常用的是高温形变淬火，</a:t>
            </a:r>
            <a:r>
              <a:rPr lang="zh-CN" altLang="en-US" sz="2400" b="1" dirty="0">
                <a:solidFill>
                  <a:schemeClr val="tx2"/>
                </a:solidFill>
              </a:rPr>
              <a:t>其工艺是将钢加热到稳定的奥氏体区域，进行塑性变形，然后立即进行</a:t>
            </a:r>
            <a:r>
              <a:rPr lang="zh-CN" altLang="en-US" sz="2400" b="1" dirty="0">
                <a:solidFill>
                  <a:srgbClr val="FF0000"/>
                </a:solidFill>
              </a:rPr>
              <a:t>淬火和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回火</a:t>
            </a:r>
            <a:r>
              <a:rPr lang="zh-CN" altLang="en-US" sz="2400" b="1" dirty="0" smtClean="0">
                <a:solidFill>
                  <a:schemeClr val="tx2"/>
                </a:solidFill>
              </a:rPr>
              <a:t>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1358020"/>
            <a:ext cx="9144000" cy="633742"/>
          </a:xfrm>
          <a:prstGeom prst="rect">
            <a:avLst/>
          </a:prstGeom>
          <a:solidFill>
            <a:srgbClr val="CCFFCC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1)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． 高温形变热处理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0" y="5207991"/>
            <a:ext cx="9144000" cy="1391985"/>
          </a:xfrm>
          <a:prstGeom prst="rect">
            <a:avLst/>
          </a:prstGeom>
          <a:solidFill>
            <a:srgbClr val="FF99FF">
              <a:alpha val="0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800" b="1" dirty="0"/>
              <a:t>高温形变热处理对钢材无特殊要求，可将锻造和轧制同热处理结合起来，省去重新加热过程，从而节约能源，减少材料的氧化、脱碳和变形。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0" y="3510481"/>
            <a:ext cx="9144000" cy="1569660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400" b="1" dirty="0">
                <a:solidFill>
                  <a:schemeClr val="accent2"/>
                </a:solidFill>
              </a:rPr>
              <a:t>工艺的要点</a:t>
            </a:r>
            <a:r>
              <a:rPr lang="en-US" altLang="zh-CN" sz="2400" b="1" dirty="0">
                <a:solidFill>
                  <a:srgbClr val="FF0000"/>
                </a:solidFill>
              </a:rPr>
              <a:t>:   </a:t>
            </a:r>
            <a:r>
              <a:rPr lang="zh-CN" altLang="en-US" sz="2400" b="1" dirty="0"/>
              <a:t>在稳定的奥氏体区形变时，为了保留形变强化的效果（使变形增加的位错尽可能</a:t>
            </a:r>
            <a:r>
              <a:rPr lang="zh-CN" altLang="en-US" sz="2400" b="1" dirty="0" smtClean="0"/>
              <a:t>多地保</a:t>
            </a:r>
            <a:r>
              <a:rPr lang="zh-CN" altLang="en-US" sz="2400" b="1" dirty="0"/>
              <a:t>留并被转变后的马氏体继承），应尽可能</a:t>
            </a:r>
            <a:r>
              <a:rPr lang="zh-CN" altLang="en-US" sz="2400" b="1" dirty="0">
                <a:solidFill>
                  <a:schemeClr val="hlink"/>
                </a:solidFill>
              </a:rPr>
              <a:t>避免发生奥氏体再结晶</a:t>
            </a:r>
            <a:r>
              <a:rPr lang="zh-CN" altLang="en-US" sz="2400" b="1" dirty="0"/>
              <a:t>的软化过程，所以，形变后应立即快速冷却。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7" grpId="0" animBg="1" autoUpdateAnimBg="0"/>
      <p:bldP spid="9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形变热处理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50414" y="1466662"/>
            <a:ext cx="7507994" cy="5391338"/>
            <a:chOff x="250825" y="241300"/>
            <a:chExt cx="8893175" cy="6616700"/>
          </a:xfrm>
        </p:grpSpPr>
        <p:pic>
          <p:nvPicPr>
            <p:cNvPr id="6" name="Picture 4" descr="fe-n0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109788" y="241300"/>
              <a:ext cx="7034212" cy="6616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50825" y="1916113"/>
              <a:ext cx="2411413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</a:rPr>
                <a:t>中温</a:t>
              </a:r>
              <a:r>
                <a:rPr lang="zh-CN" altLang="en-US" b="1" dirty="0" smtClean="0">
                  <a:solidFill>
                    <a:srgbClr val="FF0000"/>
                  </a:solidFill>
                </a:rPr>
                <a:t>形变热处理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1258888" y="2420938"/>
              <a:ext cx="3529012" cy="79216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331913" y="2420938"/>
              <a:ext cx="1655762" cy="79216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形变热处理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pic>
        <p:nvPicPr>
          <p:cNvPr id="5" name="Picture 3" descr="lwf51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7510" y="1443274"/>
            <a:ext cx="5648913" cy="4577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413850" y="6113353"/>
            <a:ext cx="6507933" cy="74464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高温形变热处理工艺图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形变热处理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2070886"/>
            <a:ext cx="9144000" cy="954107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将钢加热到稳定的奥氏体状态后，迅速冷却到</a:t>
            </a:r>
            <a:r>
              <a:rPr lang="zh-CN" altLang="en-US" sz="2800" b="1" dirty="0">
                <a:solidFill>
                  <a:srgbClr val="FF0000"/>
                </a:solidFill>
              </a:rPr>
              <a:t>过冷奥氏体的亚稳区</a:t>
            </a:r>
            <a:r>
              <a:rPr lang="zh-CN" altLang="en-US" sz="2800" b="1" dirty="0">
                <a:solidFill>
                  <a:schemeClr val="tx2"/>
                </a:solidFill>
              </a:rPr>
              <a:t>进行塑性变形，然后</a:t>
            </a:r>
            <a:r>
              <a:rPr lang="zh-CN" altLang="en-US" sz="2800" b="1" dirty="0">
                <a:solidFill>
                  <a:srgbClr val="FF0000"/>
                </a:solidFill>
              </a:rPr>
              <a:t>淬火和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回火</a:t>
            </a:r>
            <a:r>
              <a:rPr lang="zh-CN" altLang="en-US" sz="2800" b="1" dirty="0" smtClean="0">
                <a:solidFill>
                  <a:schemeClr val="tx2"/>
                </a:solidFill>
              </a:rPr>
              <a:t>。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1358020"/>
            <a:ext cx="9144000" cy="706169"/>
          </a:xfrm>
          <a:prstGeom prst="rect">
            <a:avLst/>
          </a:prstGeom>
          <a:solidFill>
            <a:srgbClr val="FFFF99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2)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．中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低温形变热处理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0" y="5473005"/>
            <a:ext cx="9144000" cy="1384995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</a:rPr>
              <a:t>中温形变热处理的形变温度较低，因此形变速度要快。这种方法的强化效果虽好，但因工艺实施较难，目前仅用于强度要求很高的弹簧钢丝、轴承等小型零件及刀具等。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0" y="4337962"/>
            <a:ext cx="9144000" cy="954107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中温形变热处理要求钢有高的淬透性，以使在形变时不产生非马氏体转变。</a:t>
            </a:r>
            <a:endParaRPr lang="zh-CN" altLang="en-US" sz="2800" dirty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0" y="3206278"/>
            <a:ext cx="9144000" cy="954107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sz="2800" b="1" dirty="0"/>
              <a:t>这种方法和高温形变热处理相比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除具有相同的强韧化效果外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还可提高钢的回火稳定性。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第二节  形变热处理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04489" y="1421394"/>
            <a:ext cx="8249388" cy="5262924"/>
            <a:chOff x="179388" y="836613"/>
            <a:chExt cx="8964612" cy="5865812"/>
          </a:xfrm>
        </p:grpSpPr>
        <p:sp>
          <p:nvSpPr>
            <p:cNvPr id="15" name="Text Box 3"/>
            <p:cNvSpPr txBox="1">
              <a:spLocks noChangeArrowheads="1"/>
            </p:cNvSpPr>
            <p:nvPr/>
          </p:nvSpPr>
          <p:spPr bwMode="auto">
            <a:xfrm>
              <a:off x="179388" y="981075"/>
              <a:ext cx="2879725" cy="4838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1.</a:t>
              </a:r>
              <a:r>
                <a:rPr lang="zh-CN" altLang="en-US" b="1"/>
                <a:t>珠光体的冷形变（图</a:t>
              </a:r>
              <a:r>
                <a:rPr lang="en-US" altLang="zh-CN" b="1"/>
                <a:t>10-21g)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 b="1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2.</a:t>
              </a:r>
              <a:r>
                <a:rPr lang="zh-CN" altLang="en-US" b="1"/>
                <a:t>珠光体的温加工（图</a:t>
              </a:r>
              <a:r>
                <a:rPr lang="en-US" altLang="zh-CN" b="1"/>
                <a:t>10-21h)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3.</a:t>
              </a:r>
              <a:r>
                <a:rPr lang="zh-CN" altLang="en-US" b="1"/>
                <a:t>回火</a:t>
              </a:r>
              <a:r>
                <a:rPr lang="zh-CN" altLang="en-US" b="1">
                  <a:solidFill>
                    <a:srgbClr val="FF0000"/>
                  </a:solidFill>
                </a:rPr>
                <a:t>马氏体的形变时效</a:t>
              </a:r>
              <a:r>
                <a:rPr lang="zh-CN" altLang="en-US" b="1"/>
                <a:t>（图</a:t>
              </a:r>
              <a:r>
                <a:rPr lang="en-US" altLang="zh-CN" b="1"/>
                <a:t>10-21i)</a:t>
              </a:r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  <a:p>
              <a:pPr eaLnBrk="1" hangingPunct="1">
                <a:spcBef>
                  <a:spcPct val="50000"/>
                </a:spcBef>
              </a:pPr>
              <a:endParaRPr lang="en-US" altLang="zh-CN"/>
            </a:p>
          </p:txBody>
        </p:sp>
        <p:pic>
          <p:nvPicPr>
            <p:cNvPr id="16" name="Picture 4" descr="fe-n00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08300" y="836613"/>
              <a:ext cx="6235700" cy="58658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Line 5"/>
            <p:cNvSpPr>
              <a:spLocks noChangeShapeType="1"/>
            </p:cNvSpPr>
            <p:nvPr/>
          </p:nvSpPr>
          <p:spPr bwMode="auto">
            <a:xfrm>
              <a:off x="2051050" y="1557338"/>
              <a:ext cx="2881313" cy="345598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1979613" y="2924175"/>
              <a:ext cx="4392612" cy="19446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7"/>
            <p:cNvSpPr>
              <a:spLocks noChangeShapeType="1"/>
            </p:cNvSpPr>
            <p:nvPr/>
          </p:nvSpPr>
          <p:spPr bwMode="auto">
            <a:xfrm>
              <a:off x="2843213" y="4437063"/>
              <a:ext cx="4824412" cy="165576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280658" y="5200564"/>
            <a:ext cx="2688879" cy="1477328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 smtClean="0"/>
              <a:t>1.</a:t>
            </a:r>
            <a:r>
              <a:rPr lang="zh-CN" altLang="en-US" b="1" dirty="0" smtClean="0"/>
              <a:t>组织细化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 smtClean="0"/>
              <a:t>2.</a:t>
            </a:r>
            <a:r>
              <a:rPr lang="zh-CN" altLang="en-US" b="1" dirty="0" smtClean="0"/>
              <a:t>位错密度和亚结构的变化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 smtClean="0"/>
              <a:t>3.</a:t>
            </a:r>
            <a:r>
              <a:rPr lang="zh-CN" altLang="en-US" b="1" dirty="0" smtClean="0"/>
              <a:t>碳化物的弥散强化作用</a:t>
            </a:r>
            <a:endParaRPr lang="zh-CN" altLang="en-US" b="1" dirty="0"/>
          </a:p>
        </p:txBody>
      </p:sp>
      <p:sp>
        <p:nvSpPr>
          <p:cNvPr id="21" name="矩形 20"/>
          <p:cNvSpPr/>
          <p:nvPr/>
        </p:nvSpPr>
        <p:spPr>
          <a:xfrm>
            <a:off x="204337" y="4656674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形变热处理的强韧化机理：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典型零件工艺流程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="" xmlns:a16="http://schemas.microsoft.com/office/drawing/2014/main" id="{6482AA18-8867-2C1C-B9CB-8A06BADD8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323" y="1866416"/>
            <a:ext cx="841692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</a:rPr>
              <a:t>一般渗碳件的加工工艺路线为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C99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锻造→正火→机加工→渗碳→淬火→低温回火→精磨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举例：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20CrMnTi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钢制作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汽车齿轮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典型零件工艺流程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115713" name="Rectangle 1"/>
          <p:cNvSpPr>
            <a:spLocks noChangeArrowheads="1"/>
          </p:cNvSpPr>
          <p:nvPr/>
        </p:nvSpPr>
        <p:spPr bwMode="auto">
          <a:xfrm>
            <a:off x="479833" y="1869997"/>
            <a:ext cx="7867462" cy="3692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下料→锻压毛坯→等温球化退火→车削加工→粗磨→淬火→回火→细磨→稳定化处理（附加回火）→精研工件表面→检验→清洗→防锈→成品</a:t>
            </a:r>
            <a:endParaRPr kumimoji="0" lang="zh-CN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8288" y="1985902"/>
            <a:ext cx="4095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dirty="0" smtClean="0"/>
              <a:t>滚动轴承（</a:t>
            </a:r>
            <a:r>
              <a:rPr lang="en-US" altLang="zh-CN" sz="3200" dirty="0" smtClean="0"/>
              <a:t>GCr15</a:t>
            </a:r>
            <a:r>
              <a:rPr lang="zh-CN" altLang="zh-CN" sz="3200" dirty="0" smtClean="0"/>
              <a:t>钢）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55655" y="260353"/>
            <a:ext cx="6562725" cy="503239"/>
          </a:xfrm>
        </p:spPr>
        <p:txBody>
          <a:bodyPr/>
          <a:lstStyle/>
          <a:p>
            <a:pPr eaLnBrk="1" hangingPunct="1"/>
            <a:r>
              <a:rPr lang="zh-CN" altLang="zh-CN" sz="2000" u="sng" dirty="0">
                <a:latin typeface="Times New Roman" panose="02020603050405020304" pitchFamily="18" charset="0"/>
              </a:rPr>
              <a:t>China university of mining &amp; technology, beijing</a:t>
            </a:r>
          </a:p>
        </p:txBody>
      </p:sp>
      <p:pic>
        <p:nvPicPr>
          <p:cNvPr id="10243" name="图片 6147" descr="未命名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7" y="188918"/>
            <a:ext cx="56832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1">
            <a:extLst>
              <a:ext uri="{FF2B5EF4-FFF2-40B4-BE49-F238E27FC236}">
                <a16:creationId xmlns="" xmlns:a16="http://schemas.microsoft.com/office/drawing/2014/main" id="{5835FC3A-A425-B989-A8A3-7C96CB046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80390"/>
            <a:ext cx="9144000" cy="588963"/>
          </a:xfrm>
          <a:prstGeom prst="rect">
            <a:avLst/>
          </a:prstGeom>
          <a:solidFill>
            <a:srgbClr val="00B050">
              <a:alpha val="49019"/>
            </a:srgbClr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45718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latin typeface="Arial" panose="020B0604020202020204"/>
                <a:ea typeface="幼圆"/>
              </a:rPr>
              <a:t>典型零件工艺流程</a:t>
            </a:r>
            <a:endParaRPr lang="zh-CN" altLang="en-US" sz="2800" b="1" dirty="0">
              <a:solidFill>
                <a:srgbClr val="FF0000"/>
              </a:solidFill>
              <a:latin typeface="Arial" panose="020B0604020202020204"/>
              <a:ea typeface="幼圆"/>
            </a:endParaRPr>
          </a:p>
        </p:txBody>
      </p:sp>
      <p:sp>
        <p:nvSpPr>
          <p:cNvPr id="131073" name="Rectangle 1"/>
          <p:cNvSpPr>
            <a:spLocks noChangeArrowheads="1"/>
          </p:cNvSpPr>
          <p:nvPr/>
        </p:nvSpPr>
        <p:spPr bwMode="auto">
          <a:xfrm>
            <a:off x="253497" y="1918985"/>
            <a:ext cx="8157172" cy="4430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车床主轴要求轴颈部位硬度为</a:t>
            </a:r>
            <a:r>
              <a:rPr kumimoji="0" lang="en-US" altLang="zh-CN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HRC54-58</a:t>
            </a:r>
            <a:r>
              <a:rPr kumimoji="0" lang="zh-CN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，其余地方为</a:t>
            </a:r>
            <a:r>
              <a:rPr kumimoji="0" lang="en-US" altLang="zh-CN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HRC20-25</a:t>
            </a:r>
            <a:r>
              <a:rPr kumimoji="0" lang="zh-CN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，采用</a:t>
            </a:r>
            <a:r>
              <a:rPr kumimoji="0" lang="en-US" altLang="zh-CN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45</a:t>
            </a:r>
            <a:r>
              <a:rPr kumimoji="0" lang="zh-CN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钢制作该主轴，其加工路线为：    </a:t>
            </a:r>
            <a:endParaRPr kumimoji="0" lang="zh-CN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下料 → 锻造→ 正火 → 机加工→ 调质→ 机加工（精）→轴颈表面淬火→         低温回火 → 磨加工</a:t>
            </a:r>
            <a:endParaRPr kumimoji="0" lang="zh-CN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A000120150209A02PWBG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2029</TotalTime>
  <Words>6813</Words>
  <Application>Microsoft Office PowerPoint</Application>
  <PresentationFormat>全屏显示(4:3)</PresentationFormat>
  <Paragraphs>592</Paragraphs>
  <Slides>69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1" baseType="lpstr">
      <vt:lpstr>1_A000120150209A02PWBG</vt:lpstr>
      <vt:lpstr>Equation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  <vt:lpstr>China university of mining &amp; technology, beijing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university of mining &amp; technology, beijing</dc:title>
  <dc:creator>马 峰</dc:creator>
  <cp:lastModifiedBy>xt256.com</cp:lastModifiedBy>
  <cp:revision>129</cp:revision>
  <dcterms:created xsi:type="dcterms:W3CDTF">2022-08-13T00:52:56Z</dcterms:created>
  <dcterms:modified xsi:type="dcterms:W3CDTF">2024-12-20T01:32:38Z</dcterms:modified>
</cp:coreProperties>
</file>