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16"/>
  </p:notesMasterIdLst>
  <p:handoutMasterIdLst>
    <p:handoutMasterId r:id="rId117"/>
  </p:handoutMasterIdLst>
  <p:sldIdLst>
    <p:sldId id="256" r:id="rId4"/>
    <p:sldId id="257" r:id="rId5"/>
    <p:sldId id="260" r:id="rId6"/>
    <p:sldId id="259" r:id="rId7"/>
    <p:sldId id="258" r:id="rId8"/>
    <p:sldId id="261" r:id="rId9"/>
    <p:sldId id="262" r:id="rId10"/>
    <p:sldId id="265" r:id="rId11"/>
    <p:sldId id="266" r:id="rId12"/>
    <p:sldId id="263"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64" r:id="rId34"/>
    <p:sldId id="287" r:id="rId35"/>
    <p:sldId id="288" r:id="rId36"/>
    <p:sldId id="289" r:id="rId37"/>
    <p:sldId id="290" r:id="rId38"/>
    <p:sldId id="291" r:id="rId39"/>
    <p:sldId id="292" r:id="rId40"/>
    <p:sldId id="293" r:id="rId41"/>
    <p:sldId id="294" r:id="rId42"/>
    <p:sldId id="295" r:id="rId43"/>
    <p:sldId id="298" r:id="rId44"/>
    <p:sldId id="296" r:id="rId45"/>
    <p:sldId id="297" r:id="rId46"/>
    <p:sldId id="299" r:id="rId47"/>
    <p:sldId id="300" r:id="rId48"/>
    <p:sldId id="321" r:id="rId49"/>
    <p:sldId id="320" r:id="rId50"/>
    <p:sldId id="303" r:id="rId51"/>
    <p:sldId id="305" r:id="rId52"/>
    <p:sldId id="315" r:id="rId53"/>
    <p:sldId id="322" r:id="rId54"/>
    <p:sldId id="323" r:id="rId55"/>
    <p:sldId id="324" r:id="rId56"/>
    <p:sldId id="325" r:id="rId57"/>
    <p:sldId id="326" r:id="rId58"/>
    <p:sldId id="327" r:id="rId59"/>
    <p:sldId id="328" r:id="rId60"/>
    <p:sldId id="329" r:id="rId61"/>
    <p:sldId id="330" r:id="rId62"/>
    <p:sldId id="331" r:id="rId63"/>
    <p:sldId id="332" r:id="rId64"/>
    <p:sldId id="344" r:id="rId65"/>
    <p:sldId id="333" r:id="rId66"/>
    <p:sldId id="334" r:id="rId67"/>
    <p:sldId id="335" r:id="rId68"/>
    <p:sldId id="336" r:id="rId69"/>
    <p:sldId id="337" r:id="rId70"/>
    <p:sldId id="338" r:id="rId71"/>
    <p:sldId id="339" r:id="rId72"/>
    <p:sldId id="340" r:id="rId73"/>
    <p:sldId id="341" r:id="rId74"/>
    <p:sldId id="342" r:id="rId75"/>
    <p:sldId id="343" r:id="rId76"/>
    <p:sldId id="347" r:id="rId77"/>
    <p:sldId id="346" r:id="rId78"/>
    <p:sldId id="345" r:id="rId79"/>
    <p:sldId id="348" r:id="rId80"/>
    <p:sldId id="349" r:id="rId81"/>
    <p:sldId id="350" r:id="rId82"/>
    <p:sldId id="351" r:id="rId83"/>
    <p:sldId id="357" r:id="rId84"/>
    <p:sldId id="358" r:id="rId85"/>
    <p:sldId id="359" r:id="rId86"/>
    <p:sldId id="353" r:id="rId87"/>
    <p:sldId id="352" r:id="rId88"/>
    <p:sldId id="354" r:id="rId89"/>
    <p:sldId id="356" r:id="rId90"/>
    <p:sldId id="355" r:id="rId91"/>
    <p:sldId id="360" r:id="rId92"/>
    <p:sldId id="361" r:id="rId93"/>
    <p:sldId id="362" r:id="rId94"/>
    <p:sldId id="363" r:id="rId95"/>
    <p:sldId id="364" r:id="rId96"/>
    <p:sldId id="365" r:id="rId97"/>
    <p:sldId id="366" r:id="rId98"/>
    <p:sldId id="368" r:id="rId99"/>
    <p:sldId id="369" r:id="rId100"/>
    <p:sldId id="370" r:id="rId101"/>
    <p:sldId id="371" r:id="rId102"/>
    <p:sldId id="367" r:id="rId103"/>
    <p:sldId id="372" r:id="rId104"/>
    <p:sldId id="373" r:id="rId105"/>
    <p:sldId id="374" r:id="rId106"/>
    <p:sldId id="378" r:id="rId107"/>
    <p:sldId id="377" r:id="rId108"/>
    <p:sldId id="379" r:id="rId109"/>
    <p:sldId id="376" r:id="rId110"/>
    <p:sldId id="380" r:id="rId111"/>
    <p:sldId id="384" r:id="rId112"/>
    <p:sldId id="381" r:id="rId113"/>
    <p:sldId id="383" r:id="rId114"/>
    <p:sldId id="385" r:id="rId115"/>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9" userDrawn="1">
          <p15:clr>
            <a:srgbClr val="A4A3A4"/>
          </p15:clr>
        </p15:guide>
        <p15:guide id="2" pos="28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35" d="100"/>
          <a:sy n="135" d="100"/>
        </p:scale>
        <p:origin x="-840" y="-78"/>
      </p:cViewPr>
      <p:guideLst>
        <p:guide orient="horz" pos="1599"/>
        <p:guide pos="289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0" Type="http://schemas.openxmlformats.org/officeDocument/2006/relationships/tableStyles" Target="tableStyles.xml"/><Relationship Id="rId12" Type="http://schemas.openxmlformats.org/officeDocument/2006/relationships/slide" Target="slides/slide9.xml"/><Relationship Id="rId119" Type="http://schemas.openxmlformats.org/officeDocument/2006/relationships/viewProps" Target="viewProps.xml"/><Relationship Id="rId118" Type="http://schemas.openxmlformats.org/officeDocument/2006/relationships/presProps" Target="presProps.xml"/><Relationship Id="rId117" Type="http://schemas.openxmlformats.org/officeDocument/2006/relationships/handoutMaster" Target="handoutMasters/handoutMaster1.xml"/><Relationship Id="rId116" Type="http://schemas.openxmlformats.org/officeDocument/2006/relationships/notesMaster" Target="notesMasters/notesMaster1.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58.wmf"/><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F0BDF3F-1078-44CE-8789-0E5E060F903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F04F785-38BA-484E-BF84-660E51C99F1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102402" name="组合 102401"/>
          <p:cNvGrpSpPr/>
          <p:nvPr/>
        </p:nvGrpSpPr>
        <p:grpSpPr>
          <a:xfrm>
            <a:off x="0" y="0"/>
            <a:ext cx="5867400" cy="5143500"/>
            <a:chOff x="0" y="0"/>
            <a:chExt cx="3696" cy="4320"/>
          </a:xfrm>
        </p:grpSpPr>
        <p:sp>
          <p:nvSpPr>
            <p:cNvPr id="102403" name="矩形 102402"/>
            <p:cNvSpPr/>
            <p:nvPr/>
          </p:nvSpPr>
          <p:spPr>
            <a:xfrm>
              <a:off x="0" y="0"/>
              <a:ext cx="2880" cy="4320"/>
            </a:xfrm>
            <a:prstGeom prst="rect">
              <a:avLst/>
            </a:prstGeom>
            <a:solidFill>
              <a:schemeClr val="accent2"/>
            </a:solidFill>
            <a:ln w="9525">
              <a:noFill/>
            </a:ln>
          </p:spPr>
          <p:txBody>
            <a:bodyPr wrap="none" anchor="ctr" anchorCtr="0"/>
            <a:lstStyle/>
            <a:p>
              <a:pPr lvl="0" algn="ctr"/>
              <a:endParaRPr lang="zh-CN" altLang="en-US" u="none" dirty="0">
                <a:latin typeface="Times New Roman" panose="02020603050405020304" pitchFamily="18" charset="0"/>
              </a:endParaRPr>
            </a:p>
          </p:txBody>
        </p:sp>
        <p:sp>
          <p:nvSpPr>
            <p:cNvPr id="102404" name="圆角矩形 102403"/>
            <p:cNvSpPr/>
            <p:nvPr/>
          </p:nvSpPr>
          <p:spPr>
            <a:xfrm>
              <a:off x="432" y="624"/>
              <a:ext cx="3264" cy="1200"/>
            </a:xfrm>
            <a:prstGeom prst="roundRect">
              <a:avLst>
                <a:gd name="adj" fmla="val 50000"/>
              </a:avLst>
            </a:prstGeom>
            <a:solidFill>
              <a:schemeClr val="bg1"/>
            </a:solidFill>
            <a:ln w="9525">
              <a:noFill/>
            </a:ln>
          </p:spPr>
          <p:txBody>
            <a:bodyPr wrap="none" anchor="ctr" anchorCtr="0"/>
            <a:lstStyle/>
            <a:p>
              <a:pPr lvl="0" algn="ctr"/>
              <a:endParaRPr lang="zh-CN" altLang="en-US" u="none" dirty="0">
                <a:latin typeface="Times New Roman" panose="02020603050405020304" pitchFamily="18" charset="0"/>
              </a:endParaRPr>
            </a:p>
          </p:txBody>
        </p:sp>
      </p:grpSp>
      <p:grpSp>
        <p:nvGrpSpPr>
          <p:cNvPr id="102405" name="组合 102404"/>
          <p:cNvGrpSpPr/>
          <p:nvPr/>
        </p:nvGrpSpPr>
        <p:grpSpPr>
          <a:xfrm>
            <a:off x="3632200" y="3667125"/>
            <a:ext cx="4876800" cy="239316"/>
            <a:chOff x="2288" y="3080"/>
            <a:chExt cx="3072" cy="201"/>
          </a:xfrm>
        </p:grpSpPr>
        <p:sp>
          <p:nvSpPr>
            <p:cNvPr id="102406" name="圆角矩形 102405"/>
            <p:cNvSpPr/>
            <p:nvPr/>
          </p:nvSpPr>
          <p:spPr>
            <a:xfrm flipH="1">
              <a:off x="2288" y="3080"/>
              <a:ext cx="2914" cy="200"/>
            </a:xfrm>
            <a:prstGeom prst="roundRect">
              <a:avLst>
                <a:gd name="adj" fmla="val 0"/>
              </a:avLst>
            </a:prstGeom>
            <a:solidFill>
              <a:schemeClr val="hlink"/>
            </a:solidFill>
            <a:ln w="9525">
              <a:noFill/>
            </a:ln>
          </p:spPr>
          <p:txBody>
            <a:bodyPr/>
            <a:lstStyle/>
            <a:p>
              <a:endParaRPr lang="zh-CN" altLang="en-US" sz="1350"/>
            </a:p>
          </p:txBody>
        </p:sp>
        <p:sp>
          <p:nvSpPr>
            <p:cNvPr id="102407" name="流程图: 延期 102406"/>
            <p:cNvSpPr/>
            <p:nvPr/>
          </p:nvSpPr>
          <p:spPr>
            <a:xfrm>
              <a:off x="5196" y="3080"/>
              <a:ext cx="164" cy="201"/>
            </a:xfrm>
            <a:prstGeom prst="flowChartDelay">
              <a:avLst/>
            </a:prstGeom>
            <a:solidFill>
              <a:schemeClr val="hlink"/>
            </a:solidFill>
            <a:ln w="9525">
              <a:noFill/>
            </a:ln>
          </p:spPr>
          <p:txBody>
            <a:bodyPr/>
            <a:lstStyle/>
            <a:p>
              <a:endParaRPr lang="zh-CN" altLang="en-US" sz="1350"/>
            </a:p>
          </p:txBody>
        </p:sp>
      </p:grpSp>
      <p:sp>
        <p:nvSpPr>
          <p:cNvPr id="102408" name="副标题 102407"/>
          <p:cNvSpPr>
            <a:spLocks noGrp="1"/>
          </p:cNvSpPr>
          <p:nvPr>
            <p:ph type="subTitle" idx="1"/>
          </p:nvPr>
        </p:nvSpPr>
        <p:spPr>
          <a:xfrm>
            <a:off x="4673600" y="2195513"/>
            <a:ext cx="4013200" cy="1366838"/>
          </a:xfrm>
          <a:prstGeom prst="rect">
            <a:avLst/>
          </a:prstGeom>
          <a:noFill/>
          <a:ln w="9525">
            <a:noFill/>
          </a:ln>
        </p:spPr>
        <p:txBody>
          <a:bodyPr anchor="b" anchorCtr="0"/>
          <a:lstStyle>
            <a:lvl1pPr marL="0" lvl="0" indent="0">
              <a:buClr>
                <a:schemeClr val="tx1"/>
              </a:buClr>
              <a:buSzPct val="75000"/>
              <a:buFont typeface="Wingdings" panose="05000000000000000000" pitchFamily="2" charset="2"/>
              <a:buNone/>
              <a:defRPr>
                <a:solidFill>
                  <a:schemeClr val="tx2"/>
                </a:solidFill>
              </a:defRPr>
            </a:lvl1pPr>
            <a:lvl2pPr marL="342900" lvl="1" indent="0" algn="ctr">
              <a:buClr>
                <a:schemeClr val="tx1"/>
              </a:buClr>
              <a:buSzPct val="75000"/>
              <a:buFontTx/>
              <a:buNone/>
              <a:defRPr>
                <a:solidFill>
                  <a:schemeClr val="tx2"/>
                </a:solidFill>
              </a:defRPr>
            </a:lvl2pPr>
            <a:lvl3pPr marL="685800" lvl="2" indent="0" algn="ctr">
              <a:buClr>
                <a:schemeClr val="tx1"/>
              </a:buClr>
              <a:buSzPct val="75000"/>
              <a:buFont typeface="Wingdings" panose="05000000000000000000" pitchFamily="2" charset="2"/>
              <a:buNone/>
              <a:defRPr>
                <a:solidFill>
                  <a:schemeClr val="tx2"/>
                </a:solidFill>
              </a:defRPr>
            </a:lvl3pPr>
            <a:lvl4pPr marL="1028700" lvl="3" indent="0" algn="ctr">
              <a:buClr>
                <a:schemeClr val="tx1"/>
              </a:buClr>
              <a:buSzPct val="80000"/>
              <a:buFontTx/>
              <a:buNone/>
              <a:defRPr>
                <a:solidFill>
                  <a:schemeClr val="tx2"/>
                </a:solidFill>
              </a:defRPr>
            </a:lvl4pPr>
            <a:lvl5pPr marL="1371600" lvl="4" indent="0" algn="ctr">
              <a:buClr>
                <a:schemeClr val="tx1"/>
              </a:buClr>
              <a:buSzPct val="65000"/>
              <a:buFont typeface="Wingdings" panose="05000000000000000000" pitchFamily="2" charset="2"/>
              <a:buNone/>
              <a:defRPr>
                <a:solidFill>
                  <a:schemeClr val="tx2"/>
                </a:solidFill>
              </a:defRPr>
            </a:lvl5pPr>
          </a:lstStyle>
          <a:p>
            <a:pPr lvl="0"/>
            <a:r>
              <a:rPr lang="zh-CN" altLang="en-US" dirty="0"/>
              <a:t>单击此处编辑母版副标题样式</a:t>
            </a:r>
            <a:endParaRPr lang="zh-CN" altLang="en-US" dirty="0"/>
          </a:p>
        </p:txBody>
      </p:sp>
      <p:sp>
        <p:nvSpPr>
          <p:cNvPr id="102409" name="日期占位符 102408"/>
          <p:cNvSpPr>
            <a:spLocks noGrp="1"/>
          </p:cNvSpPr>
          <p:nvPr>
            <p:ph type="dt" sz="quarter" idx="2"/>
          </p:nvPr>
        </p:nvSpPr>
        <p:spPr>
          <a:xfrm>
            <a:off x="2438400" y="4686300"/>
            <a:ext cx="2130425" cy="355997"/>
          </a:xfrm>
          <a:prstGeom prst="rect">
            <a:avLst/>
          </a:prstGeom>
          <a:noFill/>
          <a:ln w="9525">
            <a:noFill/>
          </a:ln>
        </p:spPr>
        <p:txBody>
          <a:bodyPr anchor="b" anchorCtr="0"/>
          <a:lstStyle>
            <a:lvl1pPr algn="r">
              <a:defRPr sz="1050">
                <a:solidFill>
                  <a:schemeClr val="bg1"/>
                </a:solidFill>
                <a:latin typeface="Arial" panose="020B0604020202020204" pitchFamily="34" charset="0"/>
              </a:defRPr>
            </a:lvl1pPr>
          </a:lstStyle>
          <a:p>
            <a:endParaRPr lang="zh-CN" altLang="en-US" dirty="0">
              <a:latin typeface="Times New Roman" panose="02020603050405020304" pitchFamily="18" charset="0"/>
            </a:endParaRPr>
          </a:p>
        </p:txBody>
      </p:sp>
      <p:sp>
        <p:nvSpPr>
          <p:cNvPr id="102410" name="页脚占位符 102409"/>
          <p:cNvSpPr>
            <a:spLocks noGrp="1"/>
          </p:cNvSpPr>
          <p:nvPr>
            <p:ph type="ftr" sz="quarter" idx="3"/>
          </p:nvPr>
        </p:nvSpPr>
        <p:spPr>
          <a:xfrm>
            <a:off x="5791200" y="4686300"/>
            <a:ext cx="2897188" cy="355997"/>
          </a:xfrm>
          <a:prstGeom prst="rect">
            <a:avLst/>
          </a:prstGeom>
          <a:noFill/>
          <a:ln w="9525">
            <a:noFill/>
          </a:ln>
        </p:spPr>
        <p:txBody>
          <a:bodyPr anchor="b" anchorCtr="0"/>
          <a:lstStyle>
            <a:lvl1pPr algn="r">
              <a:defRPr sz="1050">
                <a:latin typeface="Arial" panose="020B0604020202020204" pitchFamily="34" charset="0"/>
              </a:defRPr>
            </a:lvl1pPr>
          </a:lstStyle>
          <a:p>
            <a:endParaRPr lang="zh-CN" altLang="en-US" dirty="0"/>
          </a:p>
        </p:txBody>
      </p:sp>
      <p:sp>
        <p:nvSpPr>
          <p:cNvPr id="102411" name="灯片编号占位符 102410"/>
          <p:cNvSpPr>
            <a:spLocks noGrp="1"/>
          </p:cNvSpPr>
          <p:nvPr>
            <p:ph type="sldNum" sz="quarter" idx="4"/>
          </p:nvPr>
        </p:nvSpPr>
        <p:spPr>
          <a:xfrm>
            <a:off x="76200" y="4686300"/>
            <a:ext cx="587375" cy="366713"/>
          </a:xfrm>
          <a:prstGeom prst="rect">
            <a:avLst/>
          </a:prstGeom>
          <a:noFill/>
          <a:ln w="9525">
            <a:noFill/>
          </a:ln>
        </p:spPr>
        <p:txBody>
          <a:bodyPr anchor="b" anchorCtr="0"/>
          <a:lstStyle>
            <a:lvl1pPr>
              <a:defRPr sz="1950" b="1">
                <a:solidFill>
                  <a:schemeClr val="bg1"/>
                </a:solidFill>
                <a:latin typeface="Arial" panose="020B0604020202020204" pitchFamily="34" charset="0"/>
              </a:defRPr>
            </a:lvl1pPr>
          </a:lstStyle>
          <a:p>
            <a:fld id="{9A0DB2DC-4C9A-4742-B13C-FB6460FD3503}" type="slidenum">
              <a:rPr lang="zh-CN" altLang="en-US" dirty="0"/>
            </a:fld>
            <a:endParaRPr lang="zh-CN" altLang="en-US" dirty="0">
              <a:latin typeface="Times New Roman" panose="02020603050405020304" pitchFamily="18" charset="0"/>
            </a:endParaRPr>
          </a:p>
        </p:txBody>
      </p:sp>
      <p:sp>
        <p:nvSpPr>
          <p:cNvPr id="102412" name="标题 102411"/>
          <p:cNvSpPr>
            <a:spLocks noGrp="1"/>
          </p:cNvSpPr>
          <p:nvPr>
            <p:ph type="ctrTitle" sz="quarter"/>
          </p:nvPr>
        </p:nvSpPr>
        <p:spPr>
          <a:xfrm>
            <a:off x="685800" y="742950"/>
            <a:ext cx="8229600" cy="1428750"/>
          </a:xfrm>
          <a:prstGeom prst="roundRect">
            <a:avLst>
              <a:gd name="adj" fmla="val 50000"/>
            </a:avLst>
          </a:prstGeom>
          <a:noFill/>
          <a:ln w="9525">
            <a:noFill/>
          </a:ln>
        </p:spPr>
        <p:txBody>
          <a:bodyPr anchor="ctr" anchorCtr="0"/>
          <a:lstStyle>
            <a:lvl1pPr lvl="0" algn="ctr">
              <a:buClrTx/>
              <a:buSzTx/>
              <a:buFontTx/>
              <a:defRPr>
                <a:solidFill>
                  <a:schemeClr val="tx1"/>
                </a:solidFill>
              </a:defRPr>
            </a:lvl1pPr>
          </a:lstStyle>
          <a:p>
            <a:pPr lvl="0"/>
            <a:r>
              <a:rPr lang="zh-CN" altLang="en-US" dirty="0"/>
              <a:t>单击此处编辑母版标题样式</a:t>
            </a:r>
            <a:endParaRPr lang="zh-CN" alt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fld id="{BB962C8B-B14F-4D97-AF65-F5344CB8AC3E}" type="datetime1">
              <a:rPr lang="zh-CN" altLang="en-US" dirty="0"/>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3375"/>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3442097"/>
            <a:ext cx="7886700" cy="1125140"/>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771650"/>
            <a:ext cx="3769582" cy="279320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61643" y="1771650"/>
            <a:ext cx="3769582" cy="279320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333829"/>
            <a:ext cx="3655181" cy="617934"/>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7400" indent="0">
              <a:buNone/>
              <a:defRPr sz="1015"/>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1999034"/>
            <a:ext cx="3655181" cy="26432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7400" indent="0">
              <a:buNone/>
              <a:defRPr sz="1015"/>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1999034"/>
            <a:ext cx="3673182" cy="26432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18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740569"/>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18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342901"/>
            <a:ext cx="4629150" cy="4052888"/>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7400" indent="0">
              <a:buNone/>
              <a:defRPr sz="79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571500"/>
            <a:ext cx="1981200" cy="3993356"/>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571500"/>
            <a:ext cx="5828748" cy="3993356"/>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62000" y="571500"/>
            <a:ext cx="7924800" cy="399335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a:fld id="{BB962C8B-B14F-4D97-AF65-F5344CB8AC3E}" type="datetime1">
              <a:rPr lang="zh-CN" altLang="en-US" dirty="0"/>
            </a:fld>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F0BDF3F-1078-44CE-8789-0E5E060F9034}"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F04F785-38BA-484E-BF84-660E51C99F1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1378" name="组合 101377"/>
          <p:cNvGrpSpPr/>
          <p:nvPr/>
        </p:nvGrpSpPr>
        <p:grpSpPr>
          <a:xfrm>
            <a:off x="0" y="0"/>
            <a:ext cx="7620000" cy="5143500"/>
            <a:chOff x="0" y="0"/>
            <a:chExt cx="4800" cy="4320"/>
          </a:xfrm>
        </p:grpSpPr>
        <p:grpSp>
          <p:nvGrpSpPr>
            <p:cNvPr id="101379" name="组合 101378"/>
            <p:cNvGrpSpPr/>
            <p:nvPr userDrawn="1"/>
          </p:nvGrpSpPr>
          <p:grpSpPr>
            <a:xfrm>
              <a:off x="0" y="0"/>
              <a:ext cx="2016" cy="4320"/>
              <a:chOff x="0" y="0"/>
              <a:chExt cx="2016" cy="4320"/>
            </a:xfrm>
          </p:grpSpPr>
          <p:sp>
            <p:nvSpPr>
              <p:cNvPr id="101380" name="矩形 101379"/>
              <p:cNvSpPr/>
              <p:nvPr userDrawn="1"/>
            </p:nvSpPr>
            <p:spPr>
              <a:xfrm>
                <a:off x="0" y="0"/>
                <a:ext cx="480" cy="4320"/>
              </a:xfrm>
              <a:prstGeom prst="rect">
                <a:avLst/>
              </a:prstGeom>
              <a:solidFill>
                <a:schemeClr val="accent2"/>
              </a:solidFill>
              <a:ln w="9525">
                <a:noFill/>
              </a:ln>
            </p:spPr>
            <p:txBody>
              <a:bodyPr/>
              <a:lstStyle/>
              <a:p>
                <a:endParaRPr lang="zh-CN" altLang="en-US" sz="1350"/>
              </a:p>
            </p:txBody>
          </p:sp>
          <p:sp>
            <p:nvSpPr>
              <p:cNvPr id="101381" name="任意多边形 101380"/>
              <p:cNvSpPr/>
              <p:nvPr userDrawn="1"/>
            </p:nvSpPr>
            <p:spPr>
              <a:xfrm>
                <a:off x="288" y="0"/>
                <a:ext cx="1728" cy="735"/>
              </a:xfrm>
              <a:custGeom>
                <a:avLst/>
                <a:gdLst/>
                <a:ahLst/>
                <a:cxnLst/>
                <a:rect l="0" t="0" r="0" b="0"/>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alpha val="100000"/>
                </a:schemeClr>
              </a:solidFill>
              <a:ln w="9525">
                <a:noFill/>
              </a:ln>
            </p:spPr>
            <p:txBody>
              <a:bodyPr/>
              <a:lstStyle/>
              <a:p>
                <a:endParaRPr lang="zh-CN" altLang="en-US" sz="1350"/>
              </a:p>
            </p:txBody>
          </p:sp>
        </p:grpSp>
        <p:grpSp>
          <p:nvGrpSpPr>
            <p:cNvPr id="101382" name="组合 101381"/>
            <p:cNvGrpSpPr/>
            <p:nvPr/>
          </p:nvGrpSpPr>
          <p:grpSpPr>
            <a:xfrm>
              <a:off x="144" y="1248"/>
              <a:ext cx="4656" cy="201"/>
              <a:chOff x="144" y="1248"/>
              <a:chExt cx="4656" cy="201"/>
            </a:xfrm>
          </p:grpSpPr>
          <p:sp>
            <p:nvSpPr>
              <p:cNvPr id="101383" name="圆角矩形 101382"/>
              <p:cNvSpPr/>
              <p:nvPr/>
            </p:nvSpPr>
            <p:spPr>
              <a:xfrm>
                <a:off x="384" y="1248"/>
                <a:ext cx="4416" cy="200"/>
              </a:xfrm>
              <a:prstGeom prst="roundRect">
                <a:avLst>
                  <a:gd name="adj" fmla="val 0"/>
                </a:avLst>
              </a:prstGeom>
              <a:solidFill>
                <a:schemeClr val="hlink"/>
              </a:solidFill>
              <a:ln w="9525">
                <a:noFill/>
              </a:ln>
            </p:spPr>
            <p:txBody>
              <a:bodyPr/>
              <a:lstStyle/>
              <a:p>
                <a:endParaRPr lang="zh-CN" altLang="en-US" sz="1350"/>
              </a:p>
            </p:txBody>
          </p:sp>
          <p:sp>
            <p:nvSpPr>
              <p:cNvPr id="101384" name="流程图: 延期 101383"/>
              <p:cNvSpPr/>
              <p:nvPr/>
            </p:nvSpPr>
            <p:spPr>
              <a:xfrm flipH="1">
                <a:off x="144" y="1248"/>
                <a:ext cx="248" cy="201"/>
              </a:xfrm>
              <a:prstGeom prst="flowChartDelay">
                <a:avLst/>
              </a:prstGeom>
              <a:solidFill>
                <a:schemeClr val="hlink"/>
              </a:solidFill>
              <a:ln w="9525">
                <a:noFill/>
              </a:ln>
            </p:spPr>
            <p:txBody>
              <a:bodyPr/>
              <a:lstStyle/>
              <a:p>
                <a:endParaRPr lang="zh-CN" altLang="en-US" sz="1350"/>
              </a:p>
            </p:txBody>
          </p:sp>
        </p:grpSp>
      </p:grpSp>
      <p:sp>
        <p:nvSpPr>
          <p:cNvPr id="101385" name="标题 101384"/>
          <p:cNvSpPr>
            <a:spLocks noGrp="1"/>
          </p:cNvSpPr>
          <p:nvPr>
            <p:ph type="title"/>
          </p:nvPr>
        </p:nvSpPr>
        <p:spPr>
          <a:xfrm>
            <a:off x="762000" y="571500"/>
            <a:ext cx="7924800" cy="857250"/>
          </a:xfrm>
          <a:prstGeom prst="roundRect">
            <a:avLst>
              <a:gd name="adj" fmla="val 21667"/>
            </a:avLst>
          </a:prstGeom>
          <a:noFill/>
          <a:ln w="9525">
            <a:noFill/>
          </a:ln>
        </p:spPr>
        <p:txBody>
          <a:bodyPr anchor="b" anchorCtr="0"/>
          <a:lstStyle/>
          <a:p>
            <a:pPr lvl="0"/>
            <a:r>
              <a:rPr lang="zh-CN" altLang="en-US" dirty="0"/>
              <a:t>单击此处编辑母版标题样式</a:t>
            </a:r>
            <a:endParaRPr lang="zh-CN" altLang="en-US" dirty="0"/>
          </a:p>
        </p:txBody>
      </p:sp>
      <p:sp>
        <p:nvSpPr>
          <p:cNvPr id="101386" name="文本占位符 101385"/>
          <p:cNvSpPr>
            <a:spLocks noGrp="1"/>
          </p:cNvSpPr>
          <p:nvPr>
            <p:ph type="body" idx="1"/>
          </p:nvPr>
        </p:nvSpPr>
        <p:spPr>
          <a:xfrm>
            <a:off x="838200" y="1771650"/>
            <a:ext cx="7693025" cy="2793206"/>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1387" name="日期占位符 101386"/>
          <p:cNvSpPr>
            <a:spLocks noGrp="1"/>
          </p:cNvSpPr>
          <p:nvPr>
            <p:ph type="dt" sz="half" idx="2"/>
          </p:nvPr>
        </p:nvSpPr>
        <p:spPr>
          <a:xfrm>
            <a:off x="2438400" y="4686300"/>
            <a:ext cx="2130425" cy="355997"/>
          </a:xfrm>
          <a:prstGeom prst="rect">
            <a:avLst/>
          </a:prstGeom>
          <a:noFill/>
          <a:ln w="9525">
            <a:noFill/>
          </a:ln>
        </p:spPr>
        <p:txBody>
          <a:bodyPr anchor="b" anchorCtr="0"/>
          <a:lstStyle>
            <a:lvl1pPr algn="r">
              <a:defRPr sz="1050">
                <a:latin typeface="Arial" panose="020B0604020202020204" pitchFamily="34" charset="0"/>
              </a:defRPr>
            </a:lvl1pPr>
          </a:lstStyle>
          <a:p>
            <a:pPr lvl="0"/>
            <a:fld id="{BB962C8B-B14F-4D97-AF65-F5344CB8AC3E}" type="datetime1">
              <a:rPr lang="zh-CN" altLang="en-US" dirty="0"/>
            </a:fld>
            <a:endParaRPr lang="zh-CN" altLang="en-US" dirty="0">
              <a:latin typeface="Times New Roman" panose="02020603050405020304" pitchFamily="18" charset="0"/>
            </a:endParaRPr>
          </a:p>
        </p:txBody>
      </p:sp>
      <p:sp>
        <p:nvSpPr>
          <p:cNvPr id="101388" name="页脚占位符 101387"/>
          <p:cNvSpPr>
            <a:spLocks noGrp="1"/>
          </p:cNvSpPr>
          <p:nvPr>
            <p:ph type="ftr" sz="quarter" idx="3"/>
          </p:nvPr>
        </p:nvSpPr>
        <p:spPr>
          <a:xfrm>
            <a:off x="5791200" y="4686300"/>
            <a:ext cx="2897188" cy="355997"/>
          </a:xfrm>
          <a:prstGeom prst="rect">
            <a:avLst/>
          </a:prstGeom>
          <a:noFill/>
          <a:ln w="9525">
            <a:noFill/>
          </a:ln>
        </p:spPr>
        <p:txBody>
          <a:bodyPr anchor="b" anchorCtr="0"/>
          <a:lstStyle>
            <a:lvl1pPr algn="ctr">
              <a:defRPr sz="1050">
                <a:latin typeface="Arial" panose="020B0604020202020204" pitchFamily="34" charset="0"/>
              </a:defRPr>
            </a:lvl1pPr>
          </a:lstStyle>
          <a:p>
            <a:pPr lvl="0"/>
            <a:endParaRPr lang="zh-CN" altLang="en-US" dirty="0"/>
          </a:p>
        </p:txBody>
      </p:sp>
      <p:sp>
        <p:nvSpPr>
          <p:cNvPr id="101389" name="灯片编号占位符 101388"/>
          <p:cNvSpPr>
            <a:spLocks noGrp="1"/>
          </p:cNvSpPr>
          <p:nvPr>
            <p:ph type="sldNum" sz="quarter" idx="4"/>
          </p:nvPr>
        </p:nvSpPr>
        <p:spPr>
          <a:xfrm>
            <a:off x="84138" y="4681538"/>
            <a:ext cx="587375" cy="366713"/>
          </a:xfrm>
          <a:prstGeom prst="rect">
            <a:avLst/>
          </a:prstGeom>
          <a:noFill/>
          <a:ln w="9525">
            <a:noFill/>
          </a:ln>
        </p:spPr>
        <p:txBody>
          <a:bodyPr anchor="b" anchorCtr="1"/>
          <a:lstStyle>
            <a:lvl1pPr>
              <a:defRPr sz="1950" b="1">
                <a:solidFill>
                  <a:schemeClr val="bg1"/>
                </a:solidFill>
                <a:latin typeface="Arial" panose="020B0604020202020204" pitchFamily="34" charset="0"/>
              </a:defRPr>
            </a:lvl1p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marL="0" lvl="0" indent="0" algn="l" defTabSz="685800" rtl="0" eaLnBrk="1" fontAlgn="base" latinLnBrk="0" hangingPunct="1">
        <a:lnSpc>
          <a:spcPct val="90000"/>
        </a:lnSpc>
        <a:spcBef>
          <a:spcPct val="0"/>
        </a:spcBef>
        <a:spcAft>
          <a:spcPct val="0"/>
        </a:spcAft>
        <a:buNone/>
        <a:defRPr sz="2700" b="1" i="0" u="none" kern="1200" baseline="0">
          <a:solidFill>
            <a:schemeClr val="tx2"/>
          </a:solidFill>
          <a:latin typeface="+mj-lt"/>
          <a:ea typeface="+mj-ea"/>
          <a:cs typeface="+mj-cs"/>
        </a:defRPr>
      </a:lvl1pPr>
    </p:titleStyle>
    <p:bodyStyle>
      <a:lvl1pPr marL="257175" lvl="0" indent="-257175" algn="l" defTabSz="685800" rtl="0" eaLnBrk="1" fontAlgn="base" latinLnBrk="0" hangingPunct="1">
        <a:lnSpc>
          <a:spcPct val="100000"/>
        </a:lnSpc>
        <a:spcBef>
          <a:spcPct val="15000"/>
        </a:spcBef>
        <a:spcAft>
          <a:spcPct val="0"/>
        </a:spcAft>
        <a:buClr>
          <a:schemeClr val="tx1"/>
        </a:buClr>
        <a:buSzPct val="75000"/>
        <a:buFont typeface="Wingdings" panose="05000000000000000000" pitchFamily="2" charset="2"/>
        <a:buChar char="l"/>
        <a:defRPr sz="2100" b="0" i="0" u="none" kern="1200" baseline="0">
          <a:solidFill>
            <a:schemeClr val="tx1"/>
          </a:solidFill>
          <a:latin typeface="+mn-lt"/>
          <a:ea typeface="+mn-ea"/>
          <a:cs typeface="+mn-cs"/>
        </a:defRPr>
      </a:lvl1pPr>
      <a:lvl2pPr marL="557530" lvl="1" indent="-213995" algn="l" defTabSz="685800" rtl="0" eaLnBrk="1" fontAlgn="base" latinLnBrk="0" hangingPunct="1">
        <a:lnSpc>
          <a:spcPct val="100000"/>
        </a:lnSpc>
        <a:spcBef>
          <a:spcPct val="15000"/>
        </a:spcBef>
        <a:spcAft>
          <a:spcPct val="0"/>
        </a:spcAft>
        <a:buClr>
          <a:schemeClr val="tx1"/>
        </a:buClr>
        <a:buSzPct val="75000"/>
        <a:buFontTx/>
        <a:buChar char="–"/>
        <a:defRPr sz="1800" b="0" i="0" u="none" kern="1200" baseline="0">
          <a:solidFill>
            <a:schemeClr val="tx1"/>
          </a:solidFill>
          <a:latin typeface="+mn-lt"/>
          <a:ea typeface="+mn-ea"/>
          <a:cs typeface="+mn-cs"/>
        </a:defRPr>
      </a:lvl2pPr>
      <a:lvl3pPr marL="857250" lvl="2" indent="-171450" algn="l" defTabSz="685800" rtl="0" eaLnBrk="1" fontAlgn="base" latinLnBrk="0" hangingPunct="1">
        <a:lnSpc>
          <a:spcPct val="100000"/>
        </a:lnSpc>
        <a:spcBef>
          <a:spcPct val="15000"/>
        </a:spcBef>
        <a:spcAft>
          <a:spcPct val="0"/>
        </a:spcAft>
        <a:buClr>
          <a:schemeClr val="tx1"/>
        </a:buClr>
        <a:buSzPct val="75000"/>
        <a:buFont typeface="Wingdings" panose="05000000000000000000" pitchFamily="2" charset="2"/>
        <a:buChar char="l"/>
        <a:defRPr sz="1500" b="0" i="0" u="none" kern="1200" baseline="0">
          <a:solidFill>
            <a:schemeClr val="tx1"/>
          </a:solidFill>
          <a:latin typeface="+mn-lt"/>
          <a:ea typeface="+mn-ea"/>
          <a:cs typeface="+mn-cs"/>
        </a:defRPr>
      </a:lvl3pPr>
      <a:lvl4pPr marL="1200150" lvl="3" indent="-171450" algn="l" defTabSz="685800" rtl="0" eaLnBrk="1" fontAlgn="base" latinLnBrk="0" hangingPunct="1">
        <a:lnSpc>
          <a:spcPct val="100000"/>
        </a:lnSpc>
        <a:spcBef>
          <a:spcPct val="15000"/>
        </a:spcBef>
        <a:spcAft>
          <a:spcPct val="0"/>
        </a:spcAft>
        <a:buClr>
          <a:schemeClr val="tx1"/>
        </a:buClr>
        <a:buSzPct val="80000"/>
        <a:buFontTx/>
        <a:buChar char="–"/>
        <a:defRPr sz="1350" b="0" i="0" u="none" kern="1200" baseline="0">
          <a:solidFill>
            <a:schemeClr val="tx1"/>
          </a:solidFill>
          <a:latin typeface="+mn-lt"/>
          <a:ea typeface="+mn-ea"/>
          <a:cs typeface="+mn-cs"/>
        </a:defRPr>
      </a:lvl4pPr>
      <a:lvl5pPr marL="1543050" lvl="4" indent="-171450" algn="l" defTabSz="685800" rtl="0" eaLnBrk="1" fontAlgn="base" latinLnBrk="0" hangingPunct="1">
        <a:lnSpc>
          <a:spcPct val="100000"/>
        </a:lnSpc>
        <a:spcBef>
          <a:spcPct val="15000"/>
        </a:spcBef>
        <a:spcAft>
          <a:spcPct val="0"/>
        </a:spcAft>
        <a:buClr>
          <a:schemeClr val="tx1"/>
        </a:buClr>
        <a:buSzPct val="65000"/>
        <a:buFont typeface="Wingdings" panose="05000000000000000000" pitchFamily="2" charset="2"/>
        <a:buChar char="l"/>
        <a:defRPr sz="1350" b="0" i="0" u="none" kern="1200" baseline="0">
          <a:solidFill>
            <a:schemeClr val="tx1"/>
          </a:solidFill>
          <a:latin typeface="+mn-lt"/>
          <a:ea typeface="+mn-ea"/>
          <a:cs typeface="+mn-cs"/>
        </a:defRPr>
      </a:lvl5pPr>
      <a:lvl6pPr marL="1885950" lvl="5" indent="-171450" algn="l" defTabSz="685800" rtl="0" eaLnBrk="1" fontAlgn="base" latinLnBrk="0" hangingPunct="1">
        <a:lnSpc>
          <a:spcPct val="100000"/>
        </a:lnSpc>
        <a:spcBef>
          <a:spcPct val="15000"/>
        </a:spcBef>
        <a:spcAft>
          <a:spcPct val="0"/>
        </a:spcAft>
        <a:buClr>
          <a:schemeClr val="tx1"/>
        </a:buClr>
        <a:buSzPct val="65000"/>
        <a:buFont typeface="Wingdings" panose="05000000000000000000" pitchFamily="2" charset="2"/>
        <a:buChar char="l"/>
        <a:defRPr sz="1350" b="0" i="0" u="none" kern="1200" baseline="0">
          <a:solidFill>
            <a:schemeClr val="tx1"/>
          </a:solidFill>
          <a:latin typeface="+mn-lt"/>
          <a:ea typeface="+mn-ea"/>
          <a:cs typeface="+mn-cs"/>
        </a:defRPr>
      </a:lvl6pPr>
      <a:lvl7pPr marL="2228850" lvl="6" indent="-171450" algn="l" defTabSz="685800" rtl="0" eaLnBrk="1" fontAlgn="base" latinLnBrk="0" hangingPunct="1">
        <a:lnSpc>
          <a:spcPct val="100000"/>
        </a:lnSpc>
        <a:spcBef>
          <a:spcPct val="15000"/>
        </a:spcBef>
        <a:spcAft>
          <a:spcPct val="0"/>
        </a:spcAft>
        <a:buClr>
          <a:schemeClr val="tx1"/>
        </a:buClr>
        <a:buSzPct val="65000"/>
        <a:buFont typeface="Wingdings" panose="05000000000000000000" pitchFamily="2" charset="2"/>
        <a:buChar char="l"/>
        <a:defRPr sz="1350" b="0" i="0" u="none" kern="1200" baseline="0">
          <a:solidFill>
            <a:schemeClr val="tx1"/>
          </a:solidFill>
          <a:latin typeface="+mn-lt"/>
          <a:ea typeface="+mn-ea"/>
          <a:cs typeface="+mn-cs"/>
        </a:defRPr>
      </a:lvl7pPr>
      <a:lvl8pPr marL="2571750" lvl="7" indent="-171450" algn="l" defTabSz="685800" rtl="0" eaLnBrk="1" fontAlgn="base" latinLnBrk="0" hangingPunct="1">
        <a:lnSpc>
          <a:spcPct val="100000"/>
        </a:lnSpc>
        <a:spcBef>
          <a:spcPct val="15000"/>
        </a:spcBef>
        <a:spcAft>
          <a:spcPct val="0"/>
        </a:spcAft>
        <a:buClr>
          <a:schemeClr val="tx1"/>
        </a:buClr>
        <a:buSzPct val="65000"/>
        <a:buFont typeface="Wingdings" panose="05000000000000000000" pitchFamily="2" charset="2"/>
        <a:buChar char="l"/>
        <a:defRPr sz="1350" b="0" i="0" u="none" kern="1200" baseline="0">
          <a:solidFill>
            <a:schemeClr val="tx1"/>
          </a:solidFill>
          <a:latin typeface="+mn-lt"/>
          <a:ea typeface="+mn-ea"/>
          <a:cs typeface="+mn-cs"/>
        </a:defRPr>
      </a:lvl8pPr>
      <a:lvl9pPr marL="2914650" lvl="8" indent="-171450" algn="l" defTabSz="685800" rtl="0" eaLnBrk="1" fontAlgn="base" latinLnBrk="0" hangingPunct="1">
        <a:lnSpc>
          <a:spcPct val="100000"/>
        </a:lnSpc>
        <a:spcBef>
          <a:spcPct val="15000"/>
        </a:spcBef>
        <a:spcAft>
          <a:spcPct val="0"/>
        </a:spcAft>
        <a:buClr>
          <a:schemeClr val="tx1"/>
        </a:buClr>
        <a:buSzPct val="65000"/>
        <a:buFont typeface="Wingdings" panose="05000000000000000000" pitchFamily="2" charset="2"/>
        <a:buChar char="l"/>
        <a:defRPr sz="1350" b="0" i="0" u="none" kern="1200" baseline="0">
          <a:solidFill>
            <a:schemeClr val="tx1"/>
          </a:solidFill>
          <a:latin typeface="+mn-lt"/>
          <a:ea typeface="+mn-ea"/>
          <a:cs typeface="+mn-cs"/>
        </a:defRPr>
      </a:lvl9pPr>
    </p:bodyStyle>
    <p:otherStyle>
      <a:lvl1pPr marL="0" lvl="0" indent="0" algn="l" defTabSz="6858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342900" lvl="1"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685800" lvl="2"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028700" lvl="3"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371600" lvl="4"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1714500" lvl="5"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057400" lvl="6"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2400300" lvl="7"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2743200" lvl="8" indent="0" algn="l" defTabSz="6858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jpeg"/><Relationship Id="rId3" Type="http://schemas.openxmlformats.org/officeDocument/2006/relationships/image" Target="../media/image10.jpeg"/><Relationship Id="rId2" Type="http://schemas.openxmlformats.org/officeDocument/2006/relationships/image" Target="../media/image2.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9.wmf"/><Relationship Id="rId2" Type="http://schemas.openxmlformats.org/officeDocument/2006/relationships/image" Target="../media/image2.jpe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2.jpe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4.wmf"/><Relationship Id="rId2" Type="http://schemas.openxmlformats.org/officeDocument/2006/relationships/image" Target="../media/image2.jpe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5.wmf"/><Relationship Id="rId2" Type="http://schemas.openxmlformats.org/officeDocument/2006/relationships/image" Target="../media/image2.jpe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6.wmf"/><Relationship Id="rId2" Type="http://schemas.openxmlformats.org/officeDocument/2006/relationships/image" Target="../media/image2.jpe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8.wmf"/><Relationship Id="rId2" Type="http://schemas.openxmlformats.org/officeDocument/2006/relationships/image" Target="../media/image2.jpe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jpeg"/><Relationship Id="rId2" Type="http://schemas.openxmlformats.org/officeDocument/2006/relationships/image" Target="../media/image2.jpe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jpeg"/><Relationship Id="rId2" Type="http://schemas.openxmlformats.org/officeDocument/2006/relationships/image" Target="../media/image2.jpe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2.jpe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2.jpe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2.jpeg"/><Relationship Id="rId1" Type="http://schemas.openxmlformats.org/officeDocument/2006/relationships/image" Target="../media/image1.png"/></Relationships>
</file>

<file path=ppt/slides/_rels/slide40.xml.rels><?xml version="1.0" encoding="UTF-8" standalone="yes"?>
<Relationships xmlns="http://schemas.openxmlformats.org/package/2006/relationships"><Relationship Id="rId9" Type="http://schemas.openxmlformats.org/officeDocument/2006/relationships/image" Target="../media/image40.png"/><Relationship Id="rId8" Type="http://schemas.openxmlformats.org/officeDocument/2006/relationships/image" Target="../media/image39.png"/><Relationship Id="rId7" Type="http://schemas.openxmlformats.org/officeDocument/2006/relationships/image" Target="../media/image38.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2.jpeg"/><Relationship Id="rId10" Type="http://schemas.openxmlformats.org/officeDocument/2006/relationships/slideLayout" Target="../slideLayouts/slideLayout1.xml"/><Relationship Id="rId1" Type="http://schemas.openxmlformats.org/officeDocument/2006/relationships/image" Target="../media/image1.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2.jpeg"/><Relationship Id="rId1" Type="http://schemas.openxmlformats.org/officeDocument/2006/relationships/image" Target="../media/image1.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3.png"/><Relationship Id="rId2" Type="http://schemas.openxmlformats.org/officeDocument/2006/relationships/image" Target="../media/image2.jpeg"/><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wmf"/><Relationship Id="rId2" Type="http://schemas.openxmlformats.org/officeDocument/2006/relationships/image" Target="../media/image2.jpeg"/><Relationship Id="rId1" Type="http://schemas.openxmlformats.org/officeDocument/2006/relationships/image" Target="../media/image1.png"/></Relationships>
</file>

<file path=ppt/slides/_rels/slide4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2.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2.jpeg"/><Relationship Id="rId1" Type="http://schemas.openxmlformats.org/officeDocument/2006/relationships/image" Target="../media/image1.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3.png"/><Relationship Id="rId2" Type="http://schemas.openxmlformats.org/officeDocument/2006/relationships/image" Target="../media/image2.jpeg"/><Relationship Id="rId1"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2.jpeg"/><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7.wmf"/><Relationship Id="rId7" Type="http://schemas.openxmlformats.org/officeDocument/2006/relationships/oleObject" Target="../embeddings/oleObject4.bin"/><Relationship Id="rId6" Type="http://schemas.openxmlformats.org/officeDocument/2006/relationships/image" Target="../media/image56.wmf"/><Relationship Id="rId5" Type="http://schemas.openxmlformats.org/officeDocument/2006/relationships/oleObject" Target="../embeddings/oleObject3.bin"/><Relationship Id="rId4" Type="http://schemas.openxmlformats.org/officeDocument/2006/relationships/image" Target="../media/image55.wmf"/><Relationship Id="rId3" Type="http://schemas.openxmlformats.org/officeDocument/2006/relationships/oleObject" Target="../embeddings/oleObject2.bin"/><Relationship Id="rId2" Type="http://schemas.openxmlformats.org/officeDocument/2006/relationships/image" Target="../media/image54.wmf"/><Relationship Id="rId14" Type="http://schemas.openxmlformats.org/officeDocument/2006/relationships/vmlDrawing" Target="../drawings/vmlDrawing1.vml"/><Relationship Id="rId13" Type="http://schemas.openxmlformats.org/officeDocument/2006/relationships/slideLayout" Target="../slideLayouts/slideLayout18.xml"/><Relationship Id="rId12" Type="http://schemas.openxmlformats.org/officeDocument/2006/relationships/image" Target="../media/image2.jpeg"/><Relationship Id="rId11" Type="http://schemas.openxmlformats.org/officeDocument/2006/relationships/image" Target="../media/image1.png"/><Relationship Id="rId10" Type="http://schemas.openxmlformats.org/officeDocument/2006/relationships/image" Target="../media/image58.wmf"/><Relationship Id="rId1" Type="http://schemas.openxmlformats.org/officeDocument/2006/relationships/oleObject" Target="../embeddings/oleObject1.bin"/></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50.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jpeg"/><Relationship Id="rId7" Type="http://schemas.openxmlformats.org/officeDocument/2006/relationships/image" Target="../media/image62.jpeg"/><Relationship Id="rId6" Type="http://schemas.openxmlformats.org/officeDocument/2006/relationships/image" Target="../media/image61.png"/><Relationship Id="rId5" Type="http://schemas.openxmlformats.org/officeDocument/2006/relationships/oleObject" Target="../embeddings/oleObject6.bin"/><Relationship Id="rId4" Type="http://schemas.openxmlformats.org/officeDocument/2006/relationships/image" Target="../media/image60.GIF"/><Relationship Id="rId3" Type="http://schemas.openxmlformats.org/officeDocument/2006/relationships/image" Target="../media/image59.png"/><Relationship Id="rId2" Type="http://schemas.openxmlformats.org/officeDocument/2006/relationships/image" Target="../media/image2.jpeg"/><Relationship Id="rId12" Type="http://schemas.openxmlformats.org/officeDocument/2006/relationships/vmlDrawing" Target="../drawings/vmlDrawing2.vml"/><Relationship Id="rId11" Type="http://schemas.openxmlformats.org/officeDocument/2006/relationships/slideLayout" Target="../slideLayouts/slideLayout1.xml"/><Relationship Id="rId10" Type="http://schemas.openxmlformats.org/officeDocument/2006/relationships/image" Target="../media/image65.png"/><Relationship Id="rId1" Type="http://schemas.openxmlformats.org/officeDocument/2006/relationships/image" Target="../media/image1.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6.png"/><Relationship Id="rId2" Type="http://schemas.openxmlformats.org/officeDocument/2006/relationships/image" Target="../media/image2.jpeg"/><Relationship Id="rId1"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7.png"/><Relationship Id="rId2" Type="http://schemas.openxmlformats.org/officeDocument/2006/relationships/image" Target="../media/image2.jpeg"/><Relationship Id="rId1" Type="http://schemas.openxmlformats.org/officeDocument/2006/relationships/image" Target="../media/image1.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9.png"/><Relationship Id="rId3" Type="http://schemas.openxmlformats.org/officeDocument/2006/relationships/image" Target="../media/image68.jpeg"/><Relationship Id="rId2" Type="http://schemas.openxmlformats.org/officeDocument/2006/relationships/image" Target="../media/image2.jpeg"/><Relationship Id="rId1" Type="http://schemas.openxmlformats.org/officeDocument/2006/relationships/image" Target="../media/image1.png"/></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0.png"/><Relationship Id="rId3" Type="http://schemas.openxmlformats.org/officeDocument/2006/relationships/image" Target="../media/image59.png"/><Relationship Id="rId2" Type="http://schemas.openxmlformats.org/officeDocument/2006/relationships/image" Target="../media/image2.jpeg"/><Relationship Id="rId1"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image" Target="../media/image2.jpeg"/><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5.png"/><Relationship Id="rId2" Type="http://schemas.openxmlformats.org/officeDocument/2006/relationships/image" Target="../media/image2.jpeg"/><Relationship Id="rId1" Type="http://schemas.openxmlformats.org/officeDocument/2006/relationships/image" Target="../media/image1.png"/></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6.png"/><Relationship Id="rId2" Type="http://schemas.openxmlformats.org/officeDocument/2006/relationships/image" Target="../media/image2.jpeg"/><Relationship Id="rId1" Type="http://schemas.openxmlformats.org/officeDocument/2006/relationships/image" Target="../media/image1.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7.png"/><Relationship Id="rId2" Type="http://schemas.openxmlformats.org/officeDocument/2006/relationships/image" Target="../media/image2.jpeg"/><Relationship Id="rId1" Type="http://schemas.openxmlformats.org/officeDocument/2006/relationships/image" Target="../media/image1.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8.png"/><Relationship Id="rId2" Type="http://schemas.openxmlformats.org/officeDocument/2006/relationships/image" Target="../media/image2.jpeg"/><Relationship Id="rId1"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0.png"/><Relationship Id="rId3" Type="http://schemas.openxmlformats.org/officeDocument/2006/relationships/image" Target="../media/image79.jpeg"/><Relationship Id="rId2" Type="http://schemas.openxmlformats.org/officeDocument/2006/relationships/image" Target="../media/image2.jpeg"/><Relationship Id="rId1" Type="http://schemas.openxmlformats.org/officeDocument/2006/relationships/image" Target="../media/image1.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1.jpeg"/><Relationship Id="rId2" Type="http://schemas.openxmlformats.org/officeDocument/2006/relationships/image" Target="../media/image2.jpeg"/><Relationship Id="rId1" Type="http://schemas.openxmlformats.org/officeDocument/2006/relationships/image" Target="../media/image1.png"/></Relationships>
</file>

<file path=ppt/slides/_rels/slide7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3.png"/><Relationship Id="rId3" Type="http://schemas.openxmlformats.org/officeDocument/2006/relationships/image" Target="../media/image82.jpeg"/><Relationship Id="rId2" Type="http://schemas.openxmlformats.org/officeDocument/2006/relationships/image" Target="../media/image2.jpeg"/><Relationship Id="rId1" Type="http://schemas.openxmlformats.org/officeDocument/2006/relationships/image" Target="../media/image1.png"/></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4.GIF"/><Relationship Id="rId3" Type="http://schemas.openxmlformats.org/officeDocument/2006/relationships/image" Target="../media/image60.GIF"/><Relationship Id="rId2" Type="http://schemas.openxmlformats.org/officeDocument/2006/relationships/image" Target="../media/image2.jpeg"/><Relationship Id="rId1" Type="http://schemas.openxmlformats.org/officeDocument/2006/relationships/image" Target="../media/image1.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5.png"/><Relationship Id="rId2" Type="http://schemas.openxmlformats.org/officeDocument/2006/relationships/image" Target="../media/image2.jpeg"/><Relationship Id="rId1" Type="http://schemas.openxmlformats.org/officeDocument/2006/relationships/image" Target="../media/image1.png"/></Relationships>
</file>

<file path=ppt/slides/_rels/slide7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7.GIF"/><Relationship Id="rId4" Type="http://schemas.openxmlformats.org/officeDocument/2006/relationships/image" Target="../media/image61.png"/><Relationship Id="rId3" Type="http://schemas.openxmlformats.org/officeDocument/2006/relationships/image" Target="../media/image86.jpeg"/><Relationship Id="rId2" Type="http://schemas.openxmlformats.org/officeDocument/2006/relationships/image" Target="../media/image2.jpeg"/><Relationship Id="rId1" Type="http://schemas.openxmlformats.org/officeDocument/2006/relationships/image" Target="../media/image1.png"/></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2.jpeg"/><Relationship Id="rId1" Type="http://schemas.openxmlformats.org/officeDocument/2006/relationships/image" Target="../media/image1.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0.png"/><Relationship Id="rId2" Type="http://schemas.openxmlformats.org/officeDocument/2006/relationships/image" Target="../media/image2.jpeg"/><Relationship Id="rId1" Type="http://schemas.openxmlformats.org/officeDocument/2006/relationships/image" Target="../media/image1.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7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2.jpeg"/><Relationship Id="rId3" Type="http://schemas.openxmlformats.org/officeDocument/2006/relationships/image" Target="../media/image91.jpeg"/><Relationship Id="rId2" Type="http://schemas.openxmlformats.org/officeDocument/2006/relationships/image" Target="../media/image2.jpeg"/><Relationship Id="rId1" Type="http://schemas.openxmlformats.org/officeDocument/2006/relationships/image" Target="../media/image1.png"/></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3.png"/><Relationship Id="rId2" Type="http://schemas.openxmlformats.org/officeDocument/2006/relationships/image" Target="../media/image2.jpeg"/><Relationship Id="rId1" Type="http://schemas.openxmlformats.org/officeDocument/2006/relationships/image" Target="../media/image1.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4.jpeg"/><Relationship Id="rId2" Type="http://schemas.openxmlformats.org/officeDocument/2006/relationships/image" Target="../media/image2.jpeg"/><Relationship Id="rId1" Type="http://schemas.openxmlformats.org/officeDocument/2006/relationships/image" Target="../media/image1.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8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6.png"/><Relationship Id="rId3" Type="http://schemas.openxmlformats.org/officeDocument/2006/relationships/image" Target="../media/image95.png"/><Relationship Id="rId2" Type="http://schemas.openxmlformats.org/officeDocument/2006/relationships/image" Target="../media/image2.jpeg"/><Relationship Id="rId1" Type="http://schemas.openxmlformats.org/officeDocument/2006/relationships/image" Target="../media/image1.png"/></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2.jpeg"/><Relationship Id="rId1" Type="http://schemas.openxmlformats.org/officeDocument/2006/relationships/image" Target="../media/image1.png"/></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9.png"/><Relationship Id="rId2" Type="http://schemas.openxmlformats.org/officeDocument/2006/relationships/image" Target="../media/image2.jpeg"/><Relationship Id="rId1" Type="http://schemas.openxmlformats.org/officeDocument/2006/relationships/image" Target="../media/image1.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3.jpeg"/><Relationship Id="rId3" Type="http://schemas.openxmlformats.org/officeDocument/2006/relationships/image" Target="../media/image100.png"/><Relationship Id="rId2" Type="http://schemas.openxmlformats.org/officeDocument/2006/relationships/image" Target="../media/image2.jpeg"/><Relationship Id="rId1" Type="http://schemas.openxmlformats.org/officeDocument/2006/relationships/image" Target="../media/image1.png"/></Relationships>
</file>

<file path=ppt/slides/_rels/slide8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1.jpeg"/><Relationship Id="rId2" Type="http://schemas.openxmlformats.org/officeDocument/2006/relationships/image" Target="../media/image2.jpeg"/><Relationship Id="rId1" Type="http://schemas.openxmlformats.org/officeDocument/2006/relationships/image" Target="../media/image1.png"/></Relationships>
</file>

<file path=ppt/slides/_rels/slide8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2.jpeg"/><Relationship Id="rId2" Type="http://schemas.openxmlformats.org/officeDocument/2006/relationships/image" Target="../media/image2.jpeg"/><Relationship Id="rId1" Type="http://schemas.openxmlformats.org/officeDocument/2006/relationships/image" Target="../media/image1.png"/></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4.png"/><Relationship Id="rId3" Type="http://schemas.openxmlformats.org/officeDocument/2006/relationships/image" Target="../media/image103.png"/><Relationship Id="rId2" Type="http://schemas.openxmlformats.org/officeDocument/2006/relationships/image" Target="../media/image2.jpeg"/><Relationship Id="rId1" Type="http://schemas.openxmlformats.org/officeDocument/2006/relationships/image" Target="../media/image1.png"/></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6.jpeg"/><Relationship Id="rId3" Type="http://schemas.openxmlformats.org/officeDocument/2006/relationships/image" Target="../media/image105.jpeg"/><Relationship Id="rId2" Type="http://schemas.openxmlformats.org/officeDocument/2006/relationships/image" Target="../media/image2.jpeg"/><Relationship Id="rId1" Type="http://schemas.openxmlformats.org/officeDocument/2006/relationships/image" Target="../media/image1.png"/></Relationships>
</file>

<file path=ppt/slides/_rels/slide9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7.png"/><Relationship Id="rId2" Type="http://schemas.openxmlformats.org/officeDocument/2006/relationships/image" Target="../media/image2.jpeg"/><Relationship Id="rId1" Type="http://schemas.openxmlformats.org/officeDocument/2006/relationships/image" Target="../media/image1.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9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8.png"/><Relationship Id="rId2" Type="http://schemas.openxmlformats.org/officeDocument/2006/relationships/image" Target="../media/image2.jpeg"/><Relationship Id="rId1" Type="http://schemas.openxmlformats.org/officeDocument/2006/relationships/image" Target="../media/image1.png"/></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9.png"/><Relationship Id="rId2" Type="http://schemas.openxmlformats.org/officeDocument/2006/relationships/image" Target="../media/image2.jpeg"/><Relationship Id="rId1" Type="http://schemas.openxmlformats.org/officeDocument/2006/relationships/image" Target="../media/image1.png"/></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0.png"/><Relationship Id="rId2" Type="http://schemas.openxmlformats.org/officeDocument/2006/relationships/image" Target="../media/image2.jpeg"/><Relationship Id="rId1" Type="http://schemas.openxmlformats.org/officeDocument/2006/relationships/image" Target="../media/image1.png"/></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12.png"/><Relationship Id="rId3" Type="http://schemas.openxmlformats.org/officeDocument/2006/relationships/image" Target="../media/image111.png"/><Relationship Id="rId2" Type="http://schemas.openxmlformats.org/officeDocument/2006/relationships/image" Target="../media/image2.jpeg"/><Relationship Id="rId1" Type="http://schemas.openxmlformats.org/officeDocument/2006/relationships/image" Target="../media/image1.png"/></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3.png"/><Relationship Id="rId2" Type="http://schemas.openxmlformats.org/officeDocument/2006/relationships/image" Target="../media/image2.jpeg"/><Relationship Id="rId1" Type="http://schemas.openxmlformats.org/officeDocument/2006/relationships/image" Target="../media/image1.png"/></Relationships>
</file>

<file path=ppt/slides/_rels/slide9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4.png"/><Relationship Id="rId2" Type="http://schemas.openxmlformats.org/officeDocument/2006/relationships/image" Target="../media/image2.jpeg"/><Relationship Id="rId1" Type="http://schemas.openxmlformats.org/officeDocument/2006/relationships/image" Target="../media/image1.png"/></Relationships>
</file>

<file path=ppt/slides/_rels/slide10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5.png"/><Relationship Id="rId2" Type="http://schemas.openxmlformats.org/officeDocument/2006/relationships/image" Target="../media/image2.jpeg"/><Relationship Id="rId1" Type="http://schemas.openxmlformats.org/officeDocument/2006/relationships/image" Target="../media/image1.png"/></Relationships>
</file>

<file path=ppt/slides/_rels/slide10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6.png"/><Relationship Id="rId2" Type="http://schemas.openxmlformats.org/officeDocument/2006/relationships/image" Target="../media/image2.jpeg"/><Relationship Id="rId1" Type="http://schemas.openxmlformats.org/officeDocument/2006/relationships/image" Target="../media/image1.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10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7.png"/><Relationship Id="rId2" Type="http://schemas.openxmlformats.org/officeDocument/2006/relationships/image" Target="../media/image2.jpeg"/><Relationship Id="rId1" Type="http://schemas.openxmlformats.org/officeDocument/2006/relationships/image" Target="../media/image1.png"/></Relationships>
</file>

<file path=ppt/slides/_rels/slide10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8.jpeg"/><Relationship Id="rId2" Type="http://schemas.openxmlformats.org/officeDocument/2006/relationships/image" Target="../media/image2.jpeg"/><Relationship Id="rId1" Type="http://schemas.openxmlformats.org/officeDocument/2006/relationships/image" Target="../media/image1.png"/></Relationships>
</file>

<file path=ppt/slides/_rels/slide10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9.jpeg"/><Relationship Id="rId2" Type="http://schemas.openxmlformats.org/officeDocument/2006/relationships/image" Target="../media/image2.jpeg"/><Relationship Id="rId1" Type="http://schemas.openxmlformats.org/officeDocument/2006/relationships/image" Target="../media/image1.png"/></Relationships>
</file>

<file path=ppt/slides/_rels/slide10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0.jpeg"/><Relationship Id="rId2" Type="http://schemas.openxmlformats.org/officeDocument/2006/relationships/image" Target="../media/image2.jpeg"/><Relationship Id="rId1" Type="http://schemas.openxmlformats.org/officeDocument/2006/relationships/image" Target="../media/image1.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10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1.jpeg"/><Relationship Id="rId2" Type="http://schemas.openxmlformats.org/officeDocument/2006/relationships/image" Target="../media/image2.jpeg"/><Relationship Id="rId1" Type="http://schemas.openxmlformats.org/officeDocument/2006/relationships/image" Target="../media/image1.png"/></Relationships>
</file>

<file path=ppt/slides/_rels/slide10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4.jpeg"/><Relationship Id="rId4" Type="http://schemas.openxmlformats.org/officeDocument/2006/relationships/image" Target="../media/image123.jpeg"/><Relationship Id="rId3" Type="http://schemas.openxmlformats.org/officeDocument/2006/relationships/image" Target="../media/image122.png"/><Relationship Id="rId2" Type="http://schemas.openxmlformats.org/officeDocument/2006/relationships/image" Target="../media/image2.jpeg"/><Relationship Id="rId1" Type="http://schemas.openxmlformats.org/officeDocument/2006/relationships/image" Target="../media/image1.png"/></Relationships>
</file>

<file path=ppt/slides/_rels/slide1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6.jpeg"/><Relationship Id="rId3" Type="http://schemas.openxmlformats.org/officeDocument/2006/relationships/image" Target="../media/image125.jpeg"/><Relationship Id="rId2" Type="http://schemas.openxmlformats.org/officeDocument/2006/relationships/image" Target="../media/image2.jpeg"/><Relationship Id="rId1" Type="http://schemas.openxmlformats.org/officeDocument/2006/relationships/image" Target="../media/image1.png"/></Relationships>
</file>

<file path=ppt/slides/_rels/slide11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8.jpeg"/><Relationship Id="rId3" Type="http://schemas.openxmlformats.org/officeDocument/2006/relationships/image" Target="../media/image127.jpeg"/><Relationship Id="rId2" Type="http://schemas.openxmlformats.org/officeDocument/2006/relationships/image" Target="../media/image2.jpeg"/><Relationship Id="rId1" Type="http://schemas.openxmlformats.org/officeDocument/2006/relationships/image" Target="../media/image1.png"/></Relationships>
</file>

<file path=ppt/slides/_rels/slide1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30.jpeg"/><Relationship Id="rId3" Type="http://schemas.openxmlformats.org/officeDocument/2006/relationships/image" Target="../media/image129.jpeg"/><Relationship Id="rId2" Type="http://schemas.openxmlformats.org/officeDocument/2006/relationships/image" Target="../media/image2.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21" name="矩形 2"/>
          <p:cNvSpPr>
            <a:spLocks noChangeArrowheads="1"/>
          </p:cNvSpPr>
          <p:nvPr/>
        </p:nvSpPr>
        <p:spPr bwMode="auto">
          <a:xfrm>
            <a:off x="0" y="4044950"/>
            <a:ext cx="9144000" cy="1098550"/>
          </a:xfrm>
          <a:prstGeom prst="rect">
            <a:avLst/>
          </a:prstGeom>
          <a:solidFill>
            <a:srgbClr val="0070C0">
              <a:alpha val="32156"/>
            </a:srgbClr>
          </a:solidFill>
          <a:ln w="9525" algn="ctr">
            <a:solidFill>
              <a:schemeClr val="tx1"/>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Font typeface="Arial" panose="020B0604020202020204" pitchFamily="34" charset="0"/>
              <a:buNone/>
            </a:pPr>
            <a:r>
              <a:rPr lang="zh-CN" altLang="en-US" dirty="0">
                <a:solidFill>
                  <a:srgbClr val="000000"/>
                </a:solidFill>
              </a:rPr>
              <a:t>办公室：民族楼</a:t>
            </a:r>
            <a:r>
              <a:rPr lang="en-US" altLang="zh-CN" dirty="0">
                <a:solidFill>
                  <a:srgbClr val="000000"/>
                </a:solidFill>
              </a:rPr>
              <a:t>237</a:t>
            </a:r>
            <a:endParaRPr lang="en-US" altLang="zh-CN" dirty="0">
              <a:solidFill>
                <a:srgbClr val="000000"/>
              </a:solidFill>
            </a:endParaRPr>
          </a:p>
          <a:p>
            <a:pPr algn="ctr" eaLnBrk="1" hangingPunct="1">
              <a:lnSpc>
                <a:spcPct val="120000"/>
              </a:lnSpc>
              <a:buFont typeface="Arial" panose="020B0604020202020204" pitchFamily="34" charset="0"/>
              <a:buNone/>
            </a:pPr>
            <a:r>
              <a:rPr lang="zh-CN" altLang="en-US" dirty="0">
                <a:solidFill>
                  <a:srgbClr val="000000"/>
                </a:solidFill>
              </a:rPr>
              <a:t>     电    话：</a:t>
            </a:r>
            <a:r>
              <a:rPr lang="en-US" altLang="zh-CN" dirty="0">
                <a:solidFill>
                  <a:srgbClr val="000000"/>
                </a:solidFill>
              </a:rPr>
              <a:t>13811861612</a:t>
            </a:r>
            <a:endParaRPr lang="en-US" altLang="zh-CN" dirty="0">
              <a:solidFill>
                <a:srgbClr val="000000"/>
              </a:solidFill>
            </a:endParaRPr>
          </a:p>
          <a:p>
            <a:pPr algn="ctr" eaLnBrk="1" hangingPunct="1">
              <a:lnSpc>
                <a:spcPct val="120000"/>
              </a:lnSpc>
              <a:buFont typeface="Arial" panose="020B0604020202020204" pitchFamily="34" charset="0"/>
              <a:buNone/>
            </a:pPr>
            <a:r>
              <a:rPr lang="en-US" altLang="zh-CN" dirty="0">
                <a:solidFill>
                  <a:srgbClr val="000000"/>
                </a:solidFill>
              </a:rPr>
              <a:t>            E-</a:t>
            </a:r>
            <a:r>
              <a:rPr lang="en-US" altLang="zh-CN" dirty="0" err="1">
                <a:solidFill>
                  <a:srgbClr val="000000"/>
                </a:solidFill>
              </a:rPr>
              <a:t>mail:maf@cumtb.edu.cn</a:t>
            </a:r>
            <a:endParaRPr lang="zh-CN" altLang="en-US" dirty="0">
              <a:solidFill>
                <a:srgbClr val="000000"/>
              </a:solidFill>
            </a:endParaRPr>
          </a:p>
        </p:txBody>
      </p:sp>
      <p:sp>
        <p:nvSpPr>
          <p:cNvPr id="24" name="直角三角形 23"/>
          <p:cNvSpPr/>
          <p:nvPr/>
        </p:nvSpPr>
        <p:spPr>
          <a:xfrm rot="10800000">
            <a:off x="2643174" y="714362"/>
            <a:ext cx="1714512" cy="150019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直角三角形 24"/>
          <p:cNvSpPr/>
          <p:nvPr/>
        </p:nvSpPr>
        <p:spPr>
          <a:xfrm rot="16200000">
            <a:off x="2731143" y="2126591"/>
            <a:ext cx="1538574" cy="1714512"/>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0" name="Picture 6"/>
          <p:cNvPicPr>
            <a:picLocks noChangeAspect="1" noChangeArrowheads="1"/>
          </p:cNvPicPr>
          <p:nvPr/>
        </p:nvPicPr>
        <p:blipFill>
          <a:blip r:embed="rId3" cstate="print"/>
          <a:srcRect/>
          <a:stretch>
            <a:fillRect/>
          </a:stretch>
        </p:blipFill>
        <p:spPr bwMode="auto">
          <a:xfrm>
            <a:off x="1" y="658541"/>
            <a:ext cx="4571999" cy="3381152"/>
          </a:xfrm>
          <a:prstGeom prst="rect">
            <a:avLst/>
          </a:prstGeom>
          <a:noFill/>
          <a:ln w="9525">
            <a:noFill/>
            <a:miter lim="800000"/>
            <a:headEnd/>
            <a:tailEnd/>
          </a:ln>
          <a:effectLst/>
        </p:spPr>
      </p:pic>
      <p:sp>
        <p:nvSpPr>
          <p:cNvPr id="28" name="矩形 27"/>
          <p:cNvSpPr/>
          <p:nvPr/>
        </p:nvSpPr>
        <p:spPr>
          <a:xfrm>
            <a:off x="4000496" y="500048"/>
            <a:ext cx="5143504" cy="35260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b="1" dirty="0" smtClean="0">
                <a:solidFill>
                  <a:schemeClr val="tx1"/>
                </a:solidFill>
                <a:latin typeface="华文行楷" panose="02010800040101010101" pitchFamily="2" charset="-122"/>
                <a:ea typeface="华文行楷" panose="02010800040101010101" pitchFamily="2" charset="-122"/>
              </a:rPr>
              <a:t>金属热处理原理</a:t>
            </a:r>
            <a:endParaRPr lang="en-US" altLang="zh-CN" sz="4000" b="1" dirty="0" smtClean="0">
              <a:solidFill>
                <a:schemeClr val="tx1"/>
              </a:solidFill>
              <a:latin typeface="华文行楷" panose="02010800040101010101" pitchFamily="2" charset="-122"/>
              <a:ea typeface="华文行楷" panose="02010800040101010101" pitchFamily="2" charset="-122"/>
            </a:endParaRPr>
          </a:p>
          <a:p>
            <a:pPr algn="ctr"/>
            <a:r>
              <a:rPr lang="zh-CN" altLang="en-US" sz="4000" b="1" dirty="0" smtClean="0">
                <a:solidFill>
                  <a:schemeClr val="tx1"/>
                </a:solidFill>
                <a:latin typeface="华文行楷" panose="02010800040101010101" pitchFamily="2" charset="-122"/>
                <a:ea typeface="华文行楷" panose="02010800040101010101" pitchFamily="2" charset="-122"/>
              </a:rPr>
              <a:t>与工艺</a:t>
            </a:r>
            <a:endParaRPr lang="en-US" altLang="zh-CN" sz="4000" b="1" dirty="0" smtClean="0">
              <a:solidFill>
                <a:schemeClr val="tx1"/>
              </a:solidFill>
              <a:latin typeface="华文行楷" panose="02010800040101010101" pitchFamily="2" charset="-122"/>
              <a:ea typeface="华文行楷" panose="02010800040101010101" pitchFamily="2" charset="-122"/>
            </a:endParaRPr>
          </a:p>
          <a:p>
            <a:pPr algn="ctr"/>
            <a:endParaRPr lang="en-US" altLang="zh-CN" b="1" dirty="0" smtClean="0">
              <a:solidFill>
                <a:schemeClr val="tx1"/>
              </a:solidFill>
              <a:latin typeface="+mn-ea"/>
            </a:endParaRPr>
          </a:p>
          <a:p>
            <a:pPr algn="ctr"/>
            <a:endParaRPr lang="en-US" altLang="zh-CN" b="1" dirty="0" smtClean="0">
              <a:solidFill>
                <a:schemeClr val="tx1"/>
              </a:solidFill>
              <a:latin typeface="+mn-ea"/>
            </a:endParaRPr>
          </a:p>
          <a:p>
            <a:pPr algn="ctr"/>
            <a:r>
              <a:rPr lang="zh-CN" altLang="en-US" sz="2800" b="1" dirty="0" smtClean="0">
                <a:solidFill>
                  <a:schemeClr val="tx1"/>
                </a:solidFill>
                <a:latin typeface="+mn-ea"/>
              </a:rPr>
              <a:t>马峰</a:t>
            </a:r>
            <a:endParaRPr lang="en-US" altLang="zh-CN" sz="2800" b="1" dirty="0" smtClean="0">
              <a:solidFill>
                <a:schemeClr val="tx1"/>
              </a:solidFill>
              <a:latin typeface="+mn-ea"/>
            </a:endParaRPr>
          </a:p>
          <a:p>
            <a:pPr algn="ctr"/>
            <a:r>
              <a:rPr lang="en-US" altLang="zh-CN" sz="2800" b="1" dirty="0" smtClean="0">
                <a:solidFill>
                  <a:schemeClr val="tx1"/>
                </a:solidFill>
                <a:latin typeface="+mn-ea"/>
              </a:rPr>
              <a:t>2025.5</a:t>
            </a:r>
            <a:endParaRPr lang="en-US" altLang="zh-CN" sz="2800" b="1" dirty="0" smtClean="0">
              <a:solidFill>
                <a:schemeClr val="tx1"/>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14348" y="71420"/>
            <a:ext cx="1422184" cy="461665"/>
          </a:xfrm>
          <a:prstGeom prst="rect">
            <a:avLst/>
          </a:prstGeom>
        </p:spPr>
        <p:txBody>
          <a:bodyPr wrap="none">
            <a:spAutoFit/>
          </a:bodyPr>
          <a:lstStyle/>
          <a:p>
            <a:r>
              <a:rPr lang="zh-CN" altLang="en-US" sz="2400" b="1" dirty="0" smtClean="0">
                <a:solidFill>
                  <a:srgbClr val="000000"/>
                </a:solidFill>
              </a:rPr>
              <a:t>教学大纲</a:t>
            </a:r>
            <a:endParaRPr lang="zh-CN" altLang="en-US" sz="2400" b="1" dirty="0">
              <a:solidFill>
                <a:srgbClr val="000000"/>
              </a:solidFill>
            </a:endParaRPr>
          </a:p>
        </p:txBody>
      </p:sp>
      <p:sp>
        <p:nvSpPr>
          <p:cNvPr id="16" name="矩形 15"/>
          <p:cNvSpPr/>
          <p:nvPr/>
        </p:nvSpPr>
        <p:spPr>
          <a:xfrm>
            <a:off x="0" y="642924"/>
            <a:ext cx="9144000" cy="642942"/>
          </a:xfrm>
          <a:prstGeom prst="rect">
            <a:avLst/>
          </a:prstGeom>
          <a:solidFill>
            <a:schemeClr val="accent1">
              <a:alpha val="50000"/>
            </a:schemeClr>
          </a:solid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u"/>
            </a:pPr>
            <a:r>
              <a:rPr lang="zh-CN" altLang="en-US" dirty="0" smtClean="0">
                <a:solidFill>
                  <a:schemeClr val="tx1"/>
                </a:solidFill>
              </a:rPr>
              <a:t>课程性质：适用于</a:t>
            </a:r>
            <a:r>
              <a:rPr lang="zh-CN" altLang="en-US" dirty="0">
                <a:solidFill>
                  <a:schemeClr val="tx1"/>
                </a:solidFill>
              </a:rPr>
              <a:t>智能制造、机械工程专业的专业任选课。</a:t>
            </a:r>
            <a:endParaRPr lang="zh-CN" altLang="en-US" dirty="0">
              <a:solidFill>
                <a:schemeClr val="tx1"/>
              </a:solidFill>
            </a:endParaRPr>
          </a:p>
        </p:txBody>
      </p:sp>
      <p:sp>
        <p:nvSpPr>
          <p:cNvPr id="18" name="矩形 17"/>
          <p:cNvSpPr/>
          <p:nvPr/>
        </p:nvSpPr>
        <p:spPr>
          <a:xfrm>
            <a:off x="214282" y="1357304"/>
            <a:ext cx="4429124" cy="3643338"/>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u"/>
            </a:pPr>
            <a:r>
              <a:rPr lang="zh-CN" altLang="en-US" dirty="0">
                <a:solidFill>
                  <a:schemeClr val="tx1"/>
                </a:solidFill>
              </a:rPr>
              <a:t>课程目标</a:t>
            </a:r>
            <a:r>
              <a:rPr lang="zh-CN" altLang="en-US" dirty="0" smtClean="0">
                <a:solidFill>
                  <a:schemeClr val="tx1"/>
                </a:solidFill>
              </a:rPr>
              <a:t>：</a:t>
            </a:r>
            <a:endParaRPr lang="en-US" altLang="zh-CN" dirty="0" smtClean="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掌握</a:t>
            </a:r>
            <a:r>
              <a:rPr lang="zh-CN" altLang="en-US" dirty="0">
                <a:solidFill>
                  <a:schemeClr val="tx1"/>
                </a:solidFill>
              </a:rPr>
              <a:t>涉及工程材料热处理的基本原理、概念和工艺方法；</a:t>
            </a:r>
            <a:endParaRPr lang="zh-CN" altLang="en-US" dirty="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了</a:t>
            </a:r>
            <a:r>
              <a:rPr lang="zh-CN" altLang="en-US" dirty="0">
                <a:solidFill>
                  <a:schemeClr val="tx1"/>
                </a:solidFill>
              </a:rPr>
              <a:t>解热处理组织与性能之间的关系</a:t>
            </a:r>
            <a:r>
              <a:rPr lang="en-US" altLang="zh-CN" dirty="0">
                <a:solidFill>
                  <a:schemeClr val="tx1"/>
                </a:solidFill>
              </a:rPr>
              <a:t>;</a:t>
            </a:r>
            <a:endParaRPr lang="zh-CN" altLang="en-US" dirty="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掌握</a:t>
            </a:r>
            <a:r>
              <a:rPr lang="zh-CN" altLang="en-US" dirty="0">
                <a:solidFill>
                  <a:schemeClr val="tx1"/>
                </a:solidFill>
              </a:rPr>
              <a:t>从材料的内部组织结构来探讨材料组织结构与性能的内在联系及规律的方法；</a:t>
            </a:r>
            <a:endParaRPr lang="zh-CN" altLang="en-US" dirty="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培养</a:t>
            </a:r>
            <a:r>
              <a:rPr lang="zh-CN" altLang="en-US" dirty="0">
                <a:solidFill>
                  <a:schemeClr val="tx1"/>
                </a:solidFill>
              </a:rPr>
              <a:t>针对机械零件和工程结构对材料的性能要求，根据材料相变原理，合理选用材料、正确应用热处理工艺技术的能力。</a:t>
            </a:r>
            <a:endParaRPr lang="zh-CN" altLang="en-US" dirty="0">
              <a:solidFill>
                <a:schemeClr val="tx1"/>
              </a:solidFill>
            </a:endParaRPr>
          </a:p>
        </p:txBody>
      </p:sp>
      <p:sp>
        <p:nvSpPr>
          <p:cNvPr id="20" name="矩形 19"/>
          <p:cNvSpPr/>
          <p:nvPr/>
        </p:nvSpPr>
        <p:spPr>
          <a:xfrm>
            <a:off x="4857752" y="1357304"/>
            <a:ext cx="4071966" cy="3643338"/>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u"/>
            </a:pPr>
            <a:r>
              <a:rPr lang="zh-CN" altLang="en-US" dirty="0">
                <a:solidFill>
                  <a:schemeClr val="tx1"/>
                </a:solidFill>
              </a:rPr>
              <a:t>课程内容：</a:t>
            </a:r>
            <a:endParaRPr lang="en-US" altLang="zh-CN" dirty="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金属</a:t>
            </a:r>
            <a:r>
              <a:rPr lang="zh-CN" altLang="en-US" dirty="0">
                <a:solidFill>
                  <a:schemeClr val="tx1"/>
                </a:solidFill>
              </a:rPr>
              <a:t>固态相变中五大转变</a:t>
            </a:r>
            <a:r>
              <a:rPr lang="zh-CN" altLang="en-US" dirty="0" smtClean="0">
                <a:solidFill>
                  <a:schemeClr val="tx1"/>
                </a:solidFill>
              </a:rPr>
              <a:t>原理</a:t>
            </a:r>
            <a:endParaRPr lang="en-US" altLang="zh-CN" dirty="0" smtClean="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退火</a:t>
            </a:r>
            <a:r>
              <a:rPr lang="zh-CN" altLang="en-US" dirty="0">
                <a:solidFill>
                  <a:schemeClr val="tx1"/>
                </a:solidFill>
              </a:rPr>
              <a:t>与</a:t>
            </a:r>
            <a:r>
              <a:rPr lang="zh-CN" altLang="en-US" dirty="0" smtClean="0">
                <a:solidFill>
                  <a:schemeClr val="tx1"/>
                </a:solidFill>
              </a:rPr>
              <a:t>正火</a:t>
            </a:r>
            <a:endParaRPr lang="en-US" altLang="zh-CN" dirty="0" smtClean="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淬火</a:t>
            </a:r>
            <a:r>
              <a:rPr lang="zh-CN" altLang="en-US" dirty="0">
                <a:solidFill>
                  <a:schemeClr val="tx1"/>
                </a:solidFill>
              </a:rPr>
              <a:t>与</a:t>
            </a:r>
            <a:r>
              <a:rPr lang="zh-CN" altLang="en-US" dirty="0" smtClean="0">
                <a:solidFill>
                  <a:schemeClr val="tx1"/>
                </a:solidFill>
              </a:rPr>
              <a:t>回火</a:t>
            </a:r>
            <a:endParaRPr lang="en-US" altLang="zh-CN" dirty="0" smtClean="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化学热处理</a:t>
            </a:r>
            <a:endParaRPr lang="en-US" altLang="zh-CN" dirty="0" smtClean="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变形</a:t>
            </a:r>
            <a:r>
              <a:rPr lang="zh-CN" altLang="en-US" dirty="0">
                <a:solidFill>
                  <a:schemeClr val="tx1"/>
                </a:solidFill>
              </a:rPr>
              <a:t>与</a:t>
            </a:r>
            <a:r>
              <a:rPr lang="zh-CN" altLang="en-US" dirty="0" smtClean="0">
                <a:solidFill>
                  <a:schemeClr val="tx1"/>
                </a:solidFill>
              </a:rPr>
              <a:t>开裂</a:t>
            </a:r>
            <a:endParaRPr lang="en-US" altLang="zh-CN" dirty="0" smtClean="0">
              <a:solidFill>
                <a:schemeClr val="tx1"/>
              </a:solidFill>
            </a:endParaRPr>
          </a:p>
          <a:p>
            <a:pPr>
              <a:lnSpc>
                <a:spcPct val="150000"/>
              </a:lnSpc>
              <a:buFont typeface="Wingdings" panose="05000000000000000000" pitchFamily="2" charset="2"/>
              <a:buChar char="Ø"/>
            </a:pPr>
            <a:r>
              <a:rPr lang="zh-CN" altLang="en-US" dirty="0" smtClean="0">
                <a:solidFill>
                  <a:schemeClr val="tx1"/>
                </a:solidFill>
              </a:rPr>
              <a:t>热处理</a:t>
            </a:r>
            <a:r>
              <a:rPr lang="zh-CN" altLang="en-US" dirty="0">
                <a:solidFill>
                  <a:schemeClr val="tx1"/>
                </a:solidFill>
              </a:rPr>
              <a:t>工艺</a:t>
            </a:r>
            <a:r>
              <a:rPr lang="zh-CN" altLang="en-US" dirty="0" smtClean="0">
                <a:solidFill>
                  <a:schemeClr val="tx1"/>
                </a:solidFill>
              </a:rPr>
              <a:t>设计</a:t>
            </a:r>
            <a:endParaRPr lang="en-US" altLang="zh-CN" dirty="0" smtClean="0">
              <a:solidFill>
                <a:schemeClr val="tx1"/>
              </a:solidFill>
            </a:endParaRPr>
          </a:p>
          <a:p>
            <a:pPr>
              <a:lnSpc>
                <a:spcPct val="150000"/>
              </a:lnSpc>
            </a:pPr>
            <a:endParaRPr lang="zh-CN" altLang="en-US" dirty="0">
              <a:solidFill>
                <a:schemeClr val="tx1"/>
              </a:solidFill>
            </a:endParaRPr>
          </a:p>
          <a:p>
            <a:pPr algn="ct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graphicFrame>
        <p:nvGraphicFramePr>
          <p:cNvPr id="7" name="表格 6"/>
          <p:cNvGraphicFramePr>
            <a:graphicFrameLocks noGrp="1"/>
          </p:cNvGraphicFramePr>
          <p:nvPr/>
        </p:nvGraphicFramePr>
        <p:xfrm>
          <a:off x="428596" y="714362"/>
          <a:ext cx="8501122" cy="4071966"/>
        </p:xfrm>
        <a:graphic>
          <a:graphicData uri="http://schemas.openxmlformats.org/drawingml/2006/table">
            <a:tbl>
              <a:tblPr/>
              <a:tblGrid>
                <a:gridCol w="2928958"/>
                <a:gridCol w="5572164"/>
              </a:tblGrid>
              <a:tr h="361181">
                <a:tc>
                  <a:txBody>
                    <a:bodyPr/>
                    <a:lstStyle/>
                    <a:p>
                      <a:pPr marL="0" marR="0" algn="ctr" fontAlgn="ctr">
                        <a:spcBef>
                          <a:spcPts val="0"/>
                        </a:spcBef>
                        <a:spcAft>
                          <a:spcPts val="0"/>
                        </a:spcAft>
                      </a:pPr>
                      <a:r>
                        <a:rPr lang="zh-CN" altLang="en-US" sz="1200" b="1" kern="0" dirty="0">
                          <a:solidFill>
                            <a:srgbClr val="000000"/>
                          </a:solidFill>
                          <a:latin typeface="黑体" panose="02010609060101010101" charset="-122"/>
                        </a:rPr>
                        <a:t>课程目标</a:t>
                      </a:r>
                      <a:endParaRPr lang="zh-CN" altLang="en-US" sz="1200" b="1" kern="100" dirty="0">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zh-CN" altLang="en-US" sz="1200" b="1" kern="0" dirty="0">
                          <a:solidFill>
                            <a:srgbClr val="000000"/>
                          </a:solidFill>
                          <a:latin typeface="黑体" panose="02010609060101010101" charset="-122"/>
                        </a:rPr>
                        <a:t>毕业要求指标点</a:t>
                      </a:r>
                      <a:endParaRPr lang="zh-CN" altLang="en-US" sz="1200" b="1" kern="100" dirty="0">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1374">
                <a:tc>
                  <a:txBody>
                    <a:bodyPr/>
                    <a:lstStyle/>
                    <a:p>
                      <a:pPr marL="0" marR="0" algn="l">
                        <a:lnSpc>
                          <a:spcPct val="150000"/>
                        </a:lnSpc>
                        <a:spcBef>
                          <a:spcPts val="0"/>
                        </a:spcBef>
                        <a:spcAft>
                          <a:spcPts val="0"/>
                        </a:spcAft>
                      </a:pPr>
                      <a:r>
                        <a:rPr lang="zh-CN" altLang="en-US" sz="1200" kern="100" dirty="0">
                          <a:solidFill>
                            <a:schemeClr val="tx1"/>
                          </a:solidFill>
                          <a:latin typeface="宋体" panose="02010600030101010101" pitchFamily="2" charset="-122"/>
                          <a:cs typeface="黑体" panose="02010609060101010101" charset="-122"/>
                        </a:rPr>
                        <a:t>目标</a:t>
                      </a:r>
                      <a:r>
                        <a:rPr lang="en-US" altLang="zh-CN" sz="1200" kern="100" dirty="0">
                          <a:solidFill>
                            <a:schemeClr val="tx1"/>
                          </a:solidFill>
                          <a:latin typeface="宋体" panose="02010600030101010101" pitchFamily="2" charset="-122"/>
                          <a:cs typeface="黑体" panose="02010609060101010101" charset="-122"/>
                        </a:rPr>
                        <a:t>1</a:t>
                      </a:r>
                      <a:r>
                        <a:rPr lang="zh-CN" altLang="en-US" sz="1200" kern="100" dirty="0">
                          <a:solidFill>
                            <a:schemeClr val="tx1"/>
                          </a:solidFill>
                          <a:latin typeface="宋体" panose="02010600030101010101" pitchFamily="2" charset="-122"/>
                          <a:cs typeface="黑体" panose="02010609060101010101" charset="-122"/>
                        </a:rPr>
                        <a:t>：</a:t>
                      </a:r>
                      <a:r>
                        <a:rPr lang="zh-CN" altLang="en-US" sz="1200" kern="100" dirty="0">
                          <a:solidFill>
                            <a:schemeClr val="tx1"/>
                          </a:solidFill>
                          <a:latin typeface="宋体" panose="02010600030101010101" pitchFamily="2" charset="-122"/>
                        </a:rPr>
                        <a:t>掌握涉及工程材料热处理的基本原理、概念和工艺方法；</a:t>
                      </a:r>
                      <a:endParaRPr lang="zh-CN" altLang="en-US" sz="1200" kern="100" dirty="0">
                        <a:solidFill>
                          <a:schemeClr val="tx1"/>
                        </a:solidFill>
                        <a:latin typeface="Calibri" panose="020F0502020204030204"/>
                      </a:endParaRPr>
                    </a:p>
                  </a:txBody>
                  <a:tcPr marL="5813" marR="5813" marT="41857"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ctr">
                        <a:lnSpc>
                          <a:spcPct val="150000"/>
                        </a:lnSpc>
                        <a:spcBef>
                          <a:spcPts val="0"/>
                        </a:spcBef>
                        <a:spcAft>
                          <a:spcPts val="0"/>
                        </a:spcAft>
                      </a:pPr>
                      <a:r>
                        <a:rPr lang="en-US" altLang="zh-CN" sz="1200" kern="100" dirty="0">
                          <a:solidFill>
                            <a:schemeClr val="tx1"/>
                          </a:solidFill>
                          <a:latin typeface="宋体" panose="02010600030101010101" pitchFamily="2" charset="-122"/>
                          <a:cs typeface="黑体" panose="02010609060101010101" charset="-122"/>
                        </a:rPr>
                        <a:t>1.2 </a:t>
                      </a:r>
                      <a:r>
                        <a:rPr lang="zh-CN" altLang="en-US" sz="1200" kern="100" dirty="0">
                          <a:solidFill>
                            <a:schemeClr val="tx1"/>
                          </a:solidFill>
                          <a:latin typeface="宋体" panose="02010600030101010101" pitchFamily="2" charset="-122"/>
                          <a:cs typeface="黑体" panose="02010609060101010101" charset="-122"/>
                        </a:rPr>
                        <a:t>具有工程基础和专业知识，并能够将其应用于模型的推理、求解和</a:t>
                      </a:r>
                      <a:r>
                        <a:rPr lang="zh-CN" altLang="en-US" sz="1200" kern="100" dirty="0" smtClean="0">
                          <a:solidFill>
                            <a:schemeClr val="tx1"/>
                          </a:solidFill>
                          <a:latin typeface="宋体" panose="02010600030101010101" pitchFamily="2" charset="-122"/>
                          <a:cs typeface="黑体" panose="02010609060101010101" charset="-122"/>
                        </a:rPr>
                        <a:t>分析</a:t>
                      </a:r>
                      <a:r>
                        <a:rPr lang="zh-CN" altLang="en-US" sz="1200" kern="100" dirty="0">
                          <a:solidFill>
                            <a:schemeClr val="tx1"/>
                          </a:solidFill>
                          <a:latin typeface="宋体" panose="02010600030101010101" pitchFamily="2" charset="-122"/>
                          <a:cs typeface="黑体" panose="02010609060101010101" charset="-122"/>
                        </a:rPr>
                        <a:t>；</a:t>
                      </a:r>
                      <a:endParaRPr lang="zh-CN" altLang="en-US" sz="1200" kern="100" dirty="0">
                        <a:solidFill>
                          <a:schemeClr val="tx1"/>
                        </a:solidFill>
                        <a:latin typeface="Calibri" panose="020F0502020204030204"/>
                      </a:endParaRPr>
                    </a:p>
                  </a:txBody>
                  <a:tcPr marL="5813" marR="5813" marT="41857"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6305">
                <a:tc>
                  <a:txBody>
                    <a:bodyPr/>
                    <a:lstStyle/>
                    <a:p>
                      <a:pPr marL="0" marR="0" algn="l">
                        <a:lnSpc>
                          <a:spcPct val="150000"/>
                        </a:lnSpc>
                        <a:spcBef>
                          <a:spcPts val="0"/>
                        </a:spcBef>
                        <a:spcAft>
                          <a:spcPts val="0"/>
                        </a:spcAft>
                      </a:pPr>
                      <a:r>
                        <a:rPr lang="zh-CN" altLang="en-US" sz="1200" kern="100" dirty="0">
                          <a:solidFill>
                            <a:schemeClr val="tx1"/>
                          </a:solidFill>
                          <a:latin typeface="宋体" panose="02010600030101010101" pitchFamily="2" charset="-122"/>
                          <a:cs typeface="黑体" panose="02010609060101010101" charset="-122"/>
                        </a:rPr>
                        <a:t>目标</a:t>
                      </a:r>
                      <a:r>
                        <a:rPr lang="en-US" altLang="zh-CN" sz="1200" kern="100" dirty="0">
                          <a:solidFill>
                            <a:schemeClr val="tx1"/>
                          </a:solidFill>
                          <a:latin typeface="宋体" panose="02010600030101010101" pitchFamily="2" charset="-122"/>
                          <a:cs typeface="黑体" panose="02010609060101010101" charset="-122"/>
                        </a:rPr>
                        <a:t>2</a:t>
                      </a:r>
                      <a:r>
                        <a:rPr lang="zh-CN" altLang="en-US" sz="1200" kern="100" dirty="0">
                          <a:solidFill>
                            <a:schemeClr val="tx1"/>
                          </a:solidFill>
                          <a:latin typeface="宋体" panose="02010600030101010101" pitchFamily="2" charset="-122"/>
                          <a:cs typeface="黑体" panose="02010609060101010101" charset="-122"/>
                        </a:rPr>
                        <a:t>：</a:t>
                      </a:r>
                      <a:r>
                        <a:rPr lang="zh-CN" altLang="en-US" sz="1200" kern="100" dirty="0">
                          <a:solidFill>
                            <a:schemeClr val="tx1"/>
                          </a:solidFill>
                          <a:latin typeface="宋体" panose="02010600030101010101" pitchFamily="2" charset="-122"/>
                        </a:rPr>
                        <a:t>了解热处理组织与性能之间的关系</a:t>
                      </a:r>
                      <a:r>
                        <a:rPr lang="en-US" altLang="zh-CN" sz="1200" kern="100" dirty="0">
                          <a:solidFill>
                            <a:schemeClr val="tx1"/>
                          </a:solidFill>
                          <a:latin typeface="宋体" panose="02010600030101010101" pitchFamily="2" charset="-122"/>
                        </a:rPr>
                        <a:t>;</a:t>
                      </a:r>
                      <a:endParaRPr lang="zh-CN" altLang="en-US" sz="1200" kern="100" dirty="0">
                        <a:solidFill>
                          <a:schemeClr val="tx1"/>
                        </a:solidFill>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ctr">
                        <a:lnSpc>
                          <a:spcPct val="150000"/>
                        </a:lnSpc>
                        <a:spcBef>
                          <a:spcPts val="0"/>
                        </a:spcBef>
                        <a:spcAft>
                          <a:spcPts val="0"/>
                        </a:spcAft>
                      </a:pPr>
                      <a:r>
                        <a:rPr lang="en-US" altLang="zh-CN" sz="1200" kern="100" dirty="0">
                          <a:solidFill>
                            <a:schemeClr val="tx1"/>
                          </a:solidFill>
                          <a:latin typeface="宋体" panose="02010600030101010101" pitchFamily="2" charset="-122"/>
                          <a:cs typeface="黑体" panose="02010609060101010101" charset="-122"/>
                        </a:rPr>
                        <a:t>1.2 </a:t>
                      </a:r>
                      <a:r>
                        <a:rPr lang="zh-CN" altLang="en-US" sz="1200" kern="100" dirty="0">
                          <a:solidFill>
                            <a:schemeClr val="tx1"/>
                          </a:solidFill>
                          <a:latin typeface="宋体" panose="02010600030101010101" pitchFamily="2" charset="-122"/>
                          <a:cs typeface="黑体" panose="02010609060101010101" charset="-122"/>
                        </a:rPr>
                        <a:t>具有工程基础和专业知识，并能够将其应用于模型的推理、求解和</a:t>
                      </a:r>
                      <a:r>
                        <a:rPr lang="zh-CN" altLang="en-US" sz="1200" kern="100" dirty="0" smtClean="0">
                          <a:solidFill>
                            <a:schemeClr val="tx1"/>
                          </a:solidFill>
                          <a:latin typeface="宋体" panose="02010600030101010101" pitchFamily="2" charset="-122"/>
                          <a:cs typeface="黑体" panose="02010609060101010101" charset="-122"/>
                        </a:rPr>
                        <a:t>分析</a:t>
                      </a:r>
                      <a:r>
                        <a:rPr lang="zh-CN" altLang="en-US" sz="1200" kern="100" dirty="0">
                          <a:solidFill>
                            <a:schemeClr val="tx1"/>
                          </a:solidFill>
                          <a:latin typeface="宋体" panose="02010600030101010101" pitchFamily="2" charset="-122"/>
                          <a:cs typeface="黑体" panose="02010609060101010101" charset="-122"/>
                        </a:rPr>
                        <a:t>；</a:t>
                      </a:r>
                      <a:endParaRPr lang="zh-CN" altLang="en-US" sz="1200" kern="100" dirty="0">
                        <a:solidFill>
                          <a:schemeClr val="tx1"/>
                        </a:solidFill>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86553">
                <a:tc>
                  <a:txBody>
                    <a:bodyPr/>
                    <a:lstStyle/>
                    <a:p>
                      <a:pPr marL="0" marR="0" algn="just">
                        <a:lnSpc>
                          <a:spcPct val="150000"/>
                        </a:lnSpc>
                        <a:spcBef>
                          <a:spcPts val="0"/>
                        </a:spcBef>
                        <a:spcAft>
                          <a:spcPts val="0"/>
                        </a:spcAft>
                      </a:pPr>
                      <a:r>
                        <a:rPr lang="zh-CN" altLang="en-US" sz="1200" kern="0">
                          <a:solidFill>
                            <a:schemeClr val="tx1"/>
                          </a:solidFill>
                          <a:latin typeface="宋体" panose="02010600030101010101" pitchFamily="2" charset="-122"/>
                          <a:cs typeface="黑体" panose="02010609060101010101" charset="-122"/>
                        </a:rPr>
                        <a:t>目标</a:t>
                      </a:r>
                      <a:r>
                        <a:rPr lang="en-US" altLang="zh-CN" sz="1200" kern="0">
                          <a:solidFill>
                            <a:schemeClr val="tx1"/>
                          </a:solidFill>
                          <a:latin typeface="宋体" panose="02010600030101010101" pitchFamily="2" charset="-122"/>
                          <a:cs typeface="黑体" panose="02010609060101010101" charset="-122"/>
                        </a:rPr>
                        <a:t>3</a:t>
                      </a:r>
                      <a:r>
                        <a:rPr lang="zh-CN" altLang="en-US" sz="1200" kern="0">
                          <a:solidFill>
                            <a:schemeClr val="tx1"/>
                          </a:solidFill>
                          <a:latin typeface="宋体" panose="02010600030101010101" pitchFamily="2" charset="-122"/>
                          <a:cs typeface="黑体" panose="02010609060101010101" charset="-122"/>
                        </a:rPr>
                        <a:t>：</a:t>
                      </a:r>
                      <a:r>
                        <a:rPr lang="zh-CN" altLang="en-US" sz="1200" kern="100">
                          <a:solidFill>
                            <a:schemeClr val="tx1"/>
                          </a:solidFill>
                          <a:latin typeface="宋体" panose="02010600030101010101" pitchFamily="2" charset="-122"/>
                        </a:rPr>
                        <a:t>掌握从材料的内部组织结构来探讨材料组织结构与性能的内在联系及规律的方法；</a:t>
                      </a:r>
                      <a:endParaRPr lang="zh-CN" altLang="en-US" sz="1200" kern="100">
                        <a:solidFill>
                          <a:schemeClr val="tx1"/>
                        </a:solidFill>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ctr">
                        <a:lnSpc>
                          <a:spcPct val="150000"/>
                        </a:lnSpc>
                        <a:spcBef>
                          <a:spcPts val="0"/>
                        </a:spcBef>
                        <a:spcAft>
                          <a:spcPts val="0"/>
                        </a:spcAft>
                      </a:pPr>
                      <a:r>
                        <a:rPr lang="en-US" altLang="zh-CN" sz="1200" kern="100" dirty="0">
                          <a:solidFill>
                            <a:schemeClr val="tx1"/>
                          </a:solidFill>
                          <a:latin typeface="宋体" panose="02010600030101010101" pitchFamily="2" charset="-122"/>
                          <a:cs typeface="黑体" panose="02010609060101010101" charset="-122"/>
                        </a:rPr>
                        <a:t>2.1 </a:t>
                      </a:r>
                      <a:r>
                        <a:rPr lang="zh-CN" altLang="en-US" sz="1200" kern="100" dirty="0">
                          <a:solidFill>
                            <a:schemeClr val="tx1"/>
                          </a:solidFill>
                          <a:latin typeface="宋体" panose="02010600030101010101" pitchFamily="2" charset="-122"/>
                          <a:cs typeface="黑体" panose="02010609060101010101" charset="-122"/>
                        </a:rPr>
                        <a:t>能够运用自然科学和工程科学的基本原理对复杂工程问题的关键</a:t>
                      </a:r>
                      <a:r>
                        <a:rPr lang="zh-CN" altLang="en-US" sz="1200" kern="100" dirty="0" smtClean="0">
                          <a:solidFill>
                            <a:schemeClr val="tx1"/>
                          </a:solidFill>
                          <a:latin typeface="宋体" panose="02010600030101010101" pitchFamily="2" charset="-122"/>
                          <a:cs typeface="黑体" panose="02010609060101010101" charset="-122"/>
                        </a:rPr>
                        <a:t>环节</a:t>
                      </a:r>
                      <a:r>
                        <a:rPr lang="zh-CN" altLang="en-US" sz="1200" kern="100" dirty="0">
                          <a:solidFill>
                            <a:schemeClr val="tx1"/>
                          </a:solidFill>
                          <a:latin typeface="宋体" panose="02010600030101010101" pitchFamily="2" charset="-122"/>
                          <a:cs typeface="黑体" panose="02010609060101010101" charset="-122"/>
                        </a:rPr>
                        <a:t>进行识别和判断；</a:t>
                      </a:r>
                      <a:endParaRPr lang="zh-CN" altLang="en-US" sz="1200" kern="100" dirty="0">
                        <a:solidFill>
                          <a:schemeClr val="tx1"/>
                        </a:solidFill>
                        <a:latin typeface="Calibri" panose="020F0502020204030204"/>
                      </a:endParaRPr>
                    </a:p>
                    <a:p>
                      <a:pPr marL="0" marR="0" algn="l" fontAlgn="ctr">
                        <a:lnSpc>
                          <a:spcPct val="150000"/>
                        </a:lnSpc>
                        <a:spcBef>
                          <a:spcPts val="0"/>
                        </a:spcBef>
                        <a:spcAft>
                          <a:spcPts val="0"/>
                        </a:spcAft>
                      </a:pPr>
                      <a:r>
                        <a:rPr lang="en-US" altLang="zh-CN" sz="1200" kern="100" dirty="0">
                          <a:solidFill>
                            <a:schemeClr val="tx1"/>
                          </a:solidFill>
                          <a:latin typeface="宋体" panose="02010600030101010101" pitchFamily="2" charset="-122"/>
                          <a:cs typeface="黑体" panose="02010609060101010101" charset="-122"/>
                        </a:rPr>
                        <a:t>2.2 </a:t>
                      </a:r>
                      <a:r>
                        <a:rPr lang="zh-CN" altLang="en-US" sz="1200" kern="100" dirty="0">
                          <a:solidFill>
                            <a:schemeClr val="tx1"/>
                          </a:solidFill>
                          <a:latin typeface="宋体" panose="02010600030101010101" pitchFamily="2" charset="-122"/>
                          <a:cs typeface="黑体" panose="02010609060101010101" charset="-122"/>
                        </a:rPr>
                        <a:t>能够运用数学、自然科学和工程科学的基本原理对复杂工程问题</a:t>
                      </a:r>
                      <a:r>
                        <a:rPr lang="zh-CN" altLang="en-US" sz="1200" kern="100" dirty="0" smtClean="0">
                          <a:solidFill>
                            <a:schemeClr val="tx1"/>
                          </a:solidFill>
                          <a:latin typeface="宋体" panose="02010600030101010101" pitchFamily="2" charset="-122"/>
                          <a:cs typeface="黑体" panose="02010609060101010101" charset="-122"/>
                        </a:rPr>
                        <a:t>进行</a:t>
                      </a:r>
                      <a:r>
                        <a:rPr lang="zh-CN" altLang="en-US" sz="1200" kern="100" dirty="0">
                          <a:solidFill>
                            <a:schemeClr val="tx1"/>
                          </a:solidFill>
                          <a:latin typeface="宋体" panose="02010600030101010101" pitchFamily="2" charset="-122"/>
                          <a:cs typeface="黑体" panose="02010609060101010101" charset="-122"/>
                        </a:rPr>
                        <a:t>正确的表达；</a:t>
                      </a:r>
                      <a:endParaRPr lang="zh-CN" altLang="en-US" sz="1200" kern="100" dirty="0">
                        <a:solidFill>
                          <a:schemeClr val="tx1"/>
                        </a:solidFill>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86553">
                <a:tc>
                  <a:txBody>
                    <a:bodyPr/>
                    <a:lstStyle/>
                    <a:p>
                      <a:pPr marL="0" marR="0" algn="l" fontAlgn="ctr">
                        <a:lnSpc>
                          <a:spcPct val="150000"/>
                        </a:lnSpc>
                        <a:spcBef>
                          <a:spcPts val="0"/>
                        </a:spcBef>
                        <a:spcAft>
                          <a:spcPts val="0"/>
                        </a:spcAft>
                      </a:pPr>
                      <a:r>
                        <a:rPr lang="zh-CN" altLang="en-US" sz="1200" kern="0">
                          <a:solidFill>
                            <a:schemeClr val="tx1"/>
                          </a:solidFill>
                          <a:latin typeface="宋体" panose="02010600030101010101" pitchFamily="2" charset="-122"/>
                          <a:cs typeface="黑体" panose="02010609060101010101" charset="-122"/>
                        </a:rPr>
                        <a:t>目标</a:t>
                      </a:r>
                      <a:r>
                        <a:rPr lang="en-US" altLang="zh-CN" sz="1200" kern="0">
                          <a:solidFill>
                            <a:schemeClr val="tx1"/>
                          </a:solidFill>
                          <a:latin typeface="宋体" panose="02010600030101010101" pitchFamily="2" charset="-122"/>
                          <a:cs typeface="黑体" panose="02010609060101010101" charset="-122"/>
                        </a:rPr>
                        <a:t>4</a:t>
                      </a:r>
                      <a:r>
                        <a:rPr lang="zh-CN" altLang="en-US" sz="1200" kern="0">
                          <a:solidFill>
                            <a:schemeClr val="tx1"/>
                          </a:solidFill>
                          <a:latin typeface="宋体" panose="02010600030101010101" pitchFamily="2" charset="-122"/>
                          <a:cs typeface="黑体" panose="02010609060101010101" charset="-122"/>
                        </a:rPr>
                        <a:t>：</a:t>
                      </a:r>
                      <a:r>
                        <a:rPr lang="zh-CN" altLang="en-US" sz="1200" kern="100">
                          <a:solidFill>
                            <a:schemeClr val="tx1"/>
                          </a:solidFill>
                          <a:latin typeface="宋体" panose="02010600030101010101" pitchFamily="2" charset="-122"/>
                        </a:rPr>
                        <a:t>培养针对机械零件和工程结构对材料的性能要求，根据材料相变原理，合理选用材料、正确应用热处理工艺技术的能力。</a:t>
                      </a:r>
                      <a:endParaRPr lang="zh-CN" altLang="en-US" sz="1200" kern="100">
                        <a:solidFill>
                          <a:schemeClr val="tx1"/>
                        </a:solidFill>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fontAlgn="ctr">
                        <a:lnSpc>
                          <a:spcPct val="150000"/>
                        </a:lnSpc>
                        <a:spcBef>
                          <a:spcPts val="0"/>
                        </a:spcBef>
                        <a:spcAft>
                          <a:spcPts val="0"/>
                        </a:spcAft>
                      </a:pPr>
                      <a:r>
                        <a:rPr lang="en-US" altLang="zh-CN" sz="1200" kern="100" dirty="0">
                          <a:solidFill>
                            <a:schemeClr val="tx1"/>
                          </a:solidFill>
                          <a:latin typeface="宋体" panose="02010600030101010101" pitchFamily="2" charset="-122"/>
                          <a:cs typeface="黑体" panose="02010609060101010101" charset="-122"/>
                        </a:rPr>
                        <a:t>1.3 </a:t>
                      </a:r>
                      <a:r>
                        <a:rPr lang="zh-CN" altLang="en-US" sz="1200" kern="100" dirty="0">
                          <a:solidFill>
                            <a:schemeClr val="tx1"/>
                          </a:solidFill>
                          <a:latin typeface="宋体" panose="02010600030101010101" pitchFamily="2" charset="-122"/>
                          <a:cs typeface="黑体" panose="02010609060101010101" charset="-122"/>
                        </a:rPr>
                        <a:t>能够将相关知识和模型方法综合运用于智能化设计、智能智造和</a:t>
                      </a:r>
                      <a:r>
                        <a:rPr lang="zh-CN" altLang="en-US" sz="1200" kern="100" dirty="0" smtClean="0">
                          <a:solidFill>
                            <a:schemeClr val="tx1"/>
                          </a:solidFill>
                          <a:latin typeface="宋体" panose="02010600030101010101" pitchFamily="2" charset="-122"/>
                          <a:cs typeface="黑体" panose="02010609060101010101" charset="-122"/>
                        </a:rPr>
                        <a:t>智慧</a:t>
                      </a:r>
                      <a:r>
                        <a:rPr lang="zh-CN" altLang="en-US" sz="1200" kern="100" dirty="0">
                          <a:solidFill>
                            <a:schemeClr val="tx1"/>
                          </a:solidFill>
                          <a:latin typeface="宋体" panose="02010600030101010101" pitchFamily="2" charset="-122"/>
                          <a:cs typeface="黑体" panose="02010609060101010101" charset="-122"/>
                        </a:rPr>
                        <a:t>化管理等复杂工程问题解决方案的制定与比较。</a:t>
                      </a:r>
                      <a:endParaRPr lang="zh-CN" altLang="en-US" sz="1200" kern="100" dirty="0">
                        <a:solidFill>
                          <a:schemeClr val="tx1"/>
                        </a:solidFill>
                        <a:latin typeface="Calibri" panose="020F0502020204030204"/>
                      </a:endParaRPr>
                    </a:p>
                    <a:p>
                      <a:pPr marL="0" marR="0" algn="l" fontAlgn="ctr">
                        <a:lnSpc>
                          <a:spcPct val="150000"/>
                        </a:lnSpc>
                        <a:spcBef>
                          <a:spcPts val="0"/>
                        </a:spcBef>
                        <a:spcAft>
                          <a:spcPts val="0"/>
                        </a:spcAft>
                      </a:pPr>
                      <a:r>
                        <a:rPr lang="en-US" altLang="zh-CN" sz="1200" kern="100" dirty="0">
                          <a:solidFill>
                            <a:schemeClr val="tx1"/>
                          </a:solidFill>
                          <a:latin typeface="宋体" panose="02010600030101010101" pitchFamily="2" charset="-122"/>
                          <a:cs typeface="黑体" panose="02010609060101010101" charset="-122"/>
                        </a:rPr>
                        <a:t>3.1 </a:t>
                      </a:r>
                      <a:r>
                        <a:rPr lang="zh-CN" altLang="en-US" sz="1200" kern="100" dirty="0">
                          <a:solidFill>
                            <a:schemeClr val="tx1"/>
                          </a:solidFill>
                          <a:latin typeface="宋体" panose="02010600030101010101" pitchFamily="2" charset="-122"/>
                          <a:cs typeface="黑体" panose="02010609060101010101" charset="-122"/>
                        </a:rPr>
                        <a:t>能够针对制造过程中的复杂工程问题，综合运用专业知识和技术</a:t>
                      </a:r>
                      <a:r>
                        <a:rPr lang="zh-CN" altLang="en-US" sz="1200" kern="100" dirty="0" smtClean="0">
                          <a:solidFill>
                            <a:schemeClr val="tx1"/>
                          </a:solidFill>
                          <a:latin typeface="宋体" panose="02010600030101010101" pitchFamily="2" charset="-122"/>
                          <a:cs typeface="黑体" panose="02010609060101010101" charset="-122"/>
                        </a:rPr>
                        <a:t>手段</a:t>
                      </a:r>
                      <a:r>
                        <a:rPr lang="zh-CN" altLang="en-US" sz="1200" kern="100" dirty="0">
                          <a:solidFill>
                            <a:schemeClr val="tx1"/>
                          </a:solidFill>
                          <a:latin typeface="宋体" panose="02010600030101010101" pitchFamily="2" charset="-122"/>
                          <a:cs typeface="黑体" panose="02010609060101010101" charset="-122"/>
                        </a:rPr>
                        <a:t>设计（开发）满足制造工程特定需求的生产方案；</a:t>
                      </a:r>
                      <a:endParaRPr lang="zh-CN" altLang="en-US" sz="1200" kern="100" dirty="0">
                        <a:solidFill>
                          <a:schemeClr val="tx1"/>
                        </a:solidFill>
                        <a:latin typeface="Calibri" panose="020F0502020204030204"/>
                      </a:endParaRPr>
                    </a:p>
                  </a:txBody>
                  <a:tcPr marL="5813" marR="5813" marT="5813" marB="4185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8" name="矩形 7"/>
          <p:cNvSpPr/>
          <p:nvPr/>
        </p:nvSpPr>
        <p:spPr>
          <a:xfrm>
            <a:off x="714348" y="71420"/>
            <a:ext cx="1422184" cy="461665"/>
          </a:xfrm>
          <a:prstGeom prst="rect">
            <a:avLst/>
          </a:prstGeom>
        </p:spPr>
        <p:txBody>
          <a:bodyPr wrap="none">
            <a:spAutoFit/>
          </a:bodyPr>
          <a:lstStyle/>
          <a:p>
            <a:r>
              <a:rPr lang="zh-CN" altLang="en-US" sz="2400" b="1" dirty="0" smtClean="0">
                <a:solidFill>
                  <a:srgbClr val="000000"/>
                </a:solidFill>
              </a:rPr>
              <a:t>教学大纲</a:t>
            </a:r>
            <a:endParaRPr lang="zh-CN" altLang="en-US" sz="2400" b="1"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graphicFrame>
        <p:nvGraphicFramePr>
          <p:cNvPr id="7" name="表格 6"/>
          <p:cNvGraphicFramePr>
            <a:graphicFrameLocks noGrp="1"/>
          </p:cNvGraphicFramePr>
          <p:nvPr/>
        </p:nvGraphicFramePr>
        <p:xfrm>
          <a:off x="285720" y="785800"/>
          <a:ext cx="8715437" cy="3858386"/>
        </p:xfrm>
        <a:graphic>
          <a:graphicData uri="http://schemas.openxmlformats.org/drawingml/2006/table">
            <a:tbl>
              <a:tblPr/>
              <a:tblGrid>
                <a:gridCol w="857256"/>
                <a:gridCol w="79113"/>
                <a:gridCol w="1728682"/>
                <a:gridCol w="2121295"/>
                <a:gridCol w="1928826"/>
                <a:gridCol w="703755"/>
                <a:gridCol w="432171"/>
                <a:gridCol w="864339"/>
              </a:tblGrid>
              <a:tr h="318970">
                <a:tc gridSpan="6">
                  <a:txBody>
                    <a:bodyPr/>
                    <a:lstStyle/>
                    <a:p>
                      <a:pPr marL="0" marR="0" algn="ctr" fontAlgn="ctr">
                        <a:spcBef>
                          <a:spcPts val="0"/>
                        </a:spcBef>
                        <a:spcAft>
                          <a:spcPts val="0"/>
                        </a:spcAft>
                      </a:pPr>
                      <a:r>
                        <a:rPr lang="zh-CN" altLang="en-US" sz="1000" kern="0" dirty="0">
                          <a:solidFill>
                            <a:srgbClr val="000000"/>
                          </a:solidFill>
                          <a:latin typeface="黑体" panose="02010609060101010101" charset="-122"/>
                        </a:rPr>
                        <a:t>考核环节</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a:txBody>
                    <a:bodyPr/>
                    <a:lstStyle/>
                    <a:p>
                      <a:pPr marL="0" marR="0" algn="ctr" fontAlgn="ctr">
                        <a:spcBef>
                          <a:spcPts val="0"/>
                        </a:spcBef>
                        <a:spcAft>
                          <a:spcPts val="0"/>
                        </a:spcAft>
                      </a:pPr>
                      <a:r>
                        <a:rPr lang="zh-CN" altLang="en-US" sz="1000" kern="0" dirty="0">
                          <a:solidFill>
                            <a:srgbClr val="000000"/>
                          </a:solidFill>
                          <a:latin typeface="黑体" panose="02010609060101010101" charset="-122"/>
                        </a:rPr>
                        <a:t>总成绩</a:t>
                      </a:r>
                      <a:endParaRPr lang="zh-CN" altLang="en-US" sz="1000" kern="100" dirty="0">
                        <a:latin typeface="Calibri" panose="020F0502020204030204"/>
                      </a:endParaRPr>
                    </a:p>
                    <a:p>
                      <a:pPr marL="0" marR="0" algn="ctr" fontAlgn="ctr">
                        <a:spcBef>
                          <a:spcPts val="0"/>
                        </a:spcBef>
                        <a:spcAft>
                          <a:spcPts val="0"/>
                        </a:spcAft>
                      </a:pPr>
                      <a:r>
                        <a:rPr lang="zh-CN" altLang="en-US" sz="1000" kern="0" dirty="0">
                          <a:solidFill>
                            <a:srgbClr val="000000"/>
                          </a:solidFill>
                          <a:latin typeface="黑体" panose="02010609060101010101" charset="-122"/>
                        </a:rPr>
                        <a:t>占比</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zh-CN" altLang="en-US" sz="1000" kern="0" dirty="0">
                          <a:solidFill>
                            <a:srgbClr val="000000"/>
                          </a:solidFill>
                          <a:latin typeface="黑体" panose="02010609060101010101" charset="-122"/>
                        </a:rPr>
                        <a:t>支撑</a:t>
                      </a:r>
                      <a:endParaRPr lang="zh-CN" altLang="en-US" sz="1000" kern="100" dirty="0">
                        <a:latin typeface="Calibri" panose="020F0502020204030204"/>
                      </a:endParaRPr>
                    </a:p>
                    <a:p>
                      <a:pPr marL="0" marR="0" algn="ctr" fontAlgn="ctr">
                        <a:spcBef>
                          <a:spcPts val="0"/>
                        </a:spcBef>
                        <a:spcAft>
                          <a:spcPts val="0"/>
                        </a:spcAft>
                      </a:pPr>
                      <a:r>
                        <a:rPr lang="zh-CN" altLang="en-US" sz="1000" kern="0" dirty="0">
                          <a:solidFill>
                            <a:srgbClr val="000000"/>
                          </a:solidFill>
                          <a:latin typeface="黑体" panose="02010609060101010101" charset="-122"/>
                        </a:rPr>
                        <a:t>课程目标</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6061">
                <a:tc rowSpan="3" gridSpan="2">
                  <a:txBody>
                    <a:bodyPr/>
                    <a:lstStyle/>
                    <a:p>
                      <a:pPr marL="0" marR="0" algn="ctr" fontAlgn="ctr">
                        <a:spcBef>
                          <a:spcPts val="0"/>
                        </a:spcBef>
                        <a:spcAft>
                          <a:spcPts val="0"/>
                        </a:spcAft>
                      </a:pPr>
                      <a:r>
                        <a:rPr lang="zh-CN" altLang="en-US" sz="1000" kern="0" dirty="0">
                          <a:latin typeface="宋体" panose="02010600030101010101" pitchFamily="2" charset="-122"/>
                          <a:cs typeface="黑体" panose="02010609060101010101" charset="-122"/>
                        </a:rPr>
                        <a:t>平时作业</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hMerge="1">
                  <a:tcPr/>
                </a:tc>
                <a:tc gridSpan="4">
                  <a:txBody>
                    <a:bodyPr/>
                    <a:lstStyle/>
                    <a:p>
                      <a:pPr marL="0" marR="0" algn="just" fontAlgn="ctr">
                        <a:spcBef>
                          <a:spcPts val="0"/>
                        </a:spcBef>
                        <a:spcAft>
                          <a:spcPts val="0"/>
                        </a:spcAft>
                      </a:pPr>
                      <a:r>
                        <a:rPr lang="en-US" altLang="zh-CN" sz="1000" kern="0" dirty="0">
                          <a:latin typeface="宋体" panose="02010600030101010101" pitchFamily="2" charset="-122"/>
                          <a:cs typeface="黑体" panose="02010609060101010101" charset="-122"/>
                        </a:rPr>
                        <a:t>1</a:t>
                      </a:r>
                      <a:r>
                        <a:rPr lang="zh-CN" altLang="en-US" sz="1000" kern="0" dirty="0">
                          <a:latin typeface="宋体" panose="02010600030101010101" pitchFamily="2" charset="-122"/>
                          <a:cs typeface="黑体" panose="02010609060101010101" charset="-122"/>
                        </a:rPr>
                        <a:t>、每章布置</a:t>
                      </a:r>
                      <a:r>
                        <a:rPr lang="en-US" altLang="zh-CN" sz="1000" kern="0" dirty="0">
                          <a:latin typeface="宋体" panose="02010600030101010101" pitchFamily="2" charset="-122"/>
                          <a:cs typeface="黑体" panose="02010609060101010101" charset="-122"/>
                        </a:rPr>
                        <a:t>2-3</a:t>
                      </a:r>
                      <a:r>
                        <a:rPr lang="zh-CN" altLang="en-US" sz="1000" kern="0" dirty="0">
                          <a:latin typeface="宋体" panose="02010600030101010101" pitchFamily="2" charset="-122"/>
                          <a:cs typeface="黑体" panose="02010609060101010101" charset="-122"/>
                        </a:rPr>
                        <a:t>道题目。</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rowSpan="3">
                  <a:txBody>
                    <a:bodyPr/>
                    <a:lstStyle/>
                    <a:p>
                      <a:pPr marL="0" marR="0" algn="ctr" fontAlgn="ctr">
                        <a:spcBef>
                          <a:spcPts val="0"/>
                        </a:spcBef>
                        <a:spcAft>
                          <a:spcPts val="0"/>
                        </a:spcAft>
                      </a:pPr>
                      <a:r>
                        <a:rPr lang="en-US" altLang="zh-CN" sz="1000" kern="0" dirty="0">
                          <a:latin typeface="宋体" panose="02010600030101010101" pitchFamily="2" charset="-122"/>
                          <a:cs typeface="黑体" panose="02010609060101010101" charset="-122"/>
                        </a:rPr>
                        <a:t>30%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marL="0" marR="0" algn="just" fontAlgn="ctr">
                        <a:spcBef>
                          <a:spcPts val="0"/>
                        </a:spcBef>
                        <a:spcAft>
                          <a:spcPts val="0"/>
                        </a:spcAft>
                      </a:pPr>
                      <a:r>
                        <a:rPr lang="zh-CN" altLang="en-US" sz="1000" kern="0" dirty="0">
                          <a:latin typeface="宋体" panose="02010600030101010101" pitchFamily="2" charset="-122"/>
                          <a:cs typeface="黑体" panose="02010609060101010101" charset="-122"/>
                        </a:rPr>
                        <a:t>目标</a:t>
                      </a:r>
                      <a:r>
                        <a:rPr lang="en-US" altLang="zh-CN" sz="1000" kern="0" dirty="0">
                          <a:latin typeface="宋体" panose="02010600030101010101" pitchFamily="2" charset="-122"/>
                          <a:cs typeface="黑体" panose="02010609060101010101" charset="-122"/>
                        </a:rPr>
                        <a:t>1</a:t>
                      </a:r>
                      <a:r>
                        <a:rPr lang="en-US" altLang="zh-CN" sz="1000" kern="0" dirty="0">
                          <a:latin typeface="Times New Roman" panose="02020603050405020304"/>
                        </a:rPr>
                        <a:t>~</a:t>
                      </a:r>
                      <a:r>
                        <a:rPr lang="en-US" altLang="zh-CN" sz="1000" kern="0" dirty="0">
                          <a:latin typeface="宋体" panose="02010600030101010101" pitchFamily="2" charset="-122"/>
                          <a:cs typeface="黑体" panose="02010609060101010101" charset="-122"/>
                        </a:rPr>
                        <a:t>4</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6061">
                <a:tc vMerge="1" gridSpan="2">
                  <a:tcPr/>
                </a:tc>
                <a:tc vMerge="1" hMerge="1">
                  <a:tcPr/>
                </a:tc>
                <a:tc gridSpan="4">
                  <a:txBody>
                    <a:bodyPr/>
                    <a:lstStyle/>
                    <a:p>
                      <a:pPr marL="0" marR="0" algn="just" fontAlgn="ctr">
                        <a:spcBef>
                          <a:spcPts val="0"/>
                        </a:spcBef>
                        <a:spcAft>
                          <a:spcPts val="0"/>
                        </a:spcAft>
                      </a:pPr>
                      <a:r>
                        <a:rPr lang="en-US" altLang="zh-CN" sz="1000" kern="0" dirty="0">
                          <a:latin typeface="宋体" panose="02010600030101010101" pitchFamily="2" charset="-122"/>
                          <a:cs typeface="黑体" panose="02010609060101010101" charset="-122"/>
                        </a:rPr>
                        <a:t>2</a:t>
                      </a:r>
                      <a:r>
                        <a:rPr lang="zh-CN" altLang="en-US" sz="1000" kern="0" dirty="0">
                          <a:latin typeface="宋体" panose="02010600030101010101" pitchFamily="2" charset="-122"/>
                          <a:cs typeface="黑体" panose="02010609060101010101" charset="-122"/>
                        </a:rPr>
                        <a:t>、成绩采用百分制，根据作业完成准确性、是否按时上交、是否独立完成评分。</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vMerge="1">
                  <a:tcPr/>
                </a:tc>
                <a:tc vMerge="1">
                  <a:tcPr/>
                </a:tc>
              </a:tr>
              <a:tr h="166061">
                <a:tc vMerge="1" gridSpan="2">
                  <a:tcPr/>
                </a:tc>
                <a:tc vMerge="1" hMerge="1">
                  <a:tcPr/>
                </a:tc>
                <a:tc gridSpan="4">
                  <a:txBody>
                    <a:bodyPr/>
                    <a:lstStyle/>
                    <a:p>
                      <a:r>
                        <a:rPr lang="en-US" altLang="zh-CN" sz="1000" kern="0" dirty="0">
                          <a:latin typeface="宋体" panose="02010600030101010101" pitchFamily="2" charset="-122"/>
                          <a:cs typeface="黑体" panose="02010609060101010101" charset="-122"/>
                        </a:rPr>
                        <a:t>3</a:t>
                      </a:r>
                      <a:r>
                        <a:rPr lang="zh-CN" altLang="en-US" sz="1000" kern="0" dirty="0">
                          <a:latin typeface="宋体" panose="02010600030101010101" pitchFamily="2" charset="-122"/>
                          <a:cs typeface="黑体" panose="02010609060101010101" charset="-122"/>
                        </a:rPr>
                        <a:t>、考核学生对所学内容的掌握程度，学生综合运用所学知识分析问题、解决问题的能力，题型主要为问答题。</a:t>
                      </a:r>
                      <a:endParaRPr lang="zh-CN" altLang="en-US" sz="1000" dirty="0"/>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vMerge="1">
                  <a:tcPr/>
                </a:tc>
                <a:tc vMerge="1">
                  <a:tcPr/>
                </a:tc>
              </a:tr>
              <a:tr h="201752">
                <a:tc gridSpan="2">
                  <a:txBody>
                    <a:bodyPr/>
                    <a:lstStyle/>
                    <a:p>
                      <a:pPr marL="0" marR="0" algn="ctr" fontAlgn="ctr">
                        <a:spcBef>
                          <a:spcPts val="0"/>
                        </a:spcBef>
                        <a:spcAft>
                          <a:spcPts val="0"/>
                        </a:spcAft>
                      </a:pPr>
                      <a:r>
                        <a:rPr lang="zh-CN" altLang="en-US" sz="1000" kern="100" dirty="0">
                          <a:latin typeface="宋体" panose="02010600030101010101" pitchFamily="2" charset="-122"/>
                          <a:cs typeface="黑体" panose="02010609060101010101" charset="-122"/>
                        </a:rPr>
                        <a:t>平时表现</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gridSpan="4">
                  <a:txBody>
                    <a:bodyPr/>
                    <a:lstStyle/>
                    <a:p>
                      <a:pPr marL="0" marR="0" algn="just" fontAlgn="ctr">
                        <a:spcBef>
                          <a:spcPts val="0"/>
                        </a:spcBef>
                        <a:spcAft>
                          <a:spcPts val="0"/>
                        </a:spcAft>
                      </a:pPr>
                      <a:r>
                        <a:rPr lang="zh-CN" altLang="en-US" sz="1000" kern="100" dirty="0">
                          <a:latin typeface="宋体" panose="02010600030101010101" pitchFamily="2" charset="-122"/>
                          <a:cs typeface="黑体" panose="02010609060101010101" charset="-122"/>
                        </a:rPr>
                        <a:t>考核出勤、课堂互动、回答问题情况</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a:txBody>
                    <a:bodyPr/>
                    <a:lstStyle/>
                    <a:p>
                      <a:pPr marL="0" marR="0" algn="ctr" fontAlgn="ctr">
                        <a:spcBef>
                          <a:spcPts val="0"/>
                        </a:spcBef>
                        <a:spcAft>
                          <a:spcPts val="0"/>
                        </a:spcAft>
                      </a:pPr>
                      <a:r>
                        <a:rPr lang="en-US" altLang="zh-CN" sz="1000" kern="100" dirty="0">
                          <a:latin typeface="宋体" panose="02010600030101010101" pitchFamily="2" charset="-122"/>
                          <a:cs typeface="黑体" panose="02010609060101010101" charset="-122"/>
                        </a:rPr>
                        <a:t>10%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fontAlgn="ctr">
                        <a:spcBef>
                          <a:spcPts val="0"/>
                        </a:spcBef>
                        <a:spcAft>
                          <a:spcPts val="0"/>
                        </a:spcAft>
                      </a:pPr>
                      <a:r>
                        <a:rPr lang="zh-CN" altLang="en-US" sz="1000" kern="100" dirty="0">
                          <a:latin typeface="宋体" panose="02010600030101010101" pitchFamily="2" charset="-122"/>
                          <a:cs typeface="黑体" panose="02010609060101010101" charset="-122"/>
                        </a:rPr>
                        <a:t>目标</a:t>
                      </a:r>
                      <a:r>
                        <a:rPr lang="en-US" altLang="zh-CN" sz="1000" kern="0" dirty="0">
                          <a:latin typeface="宋体" panose="02010600030101010101" pitchFamily="2" charset="-122"/>
                          <a:cs typeface="黑体" panose="02010609060101010101" charset="-122"/>
                        </a:rPr>
                        <a:t>1</a:t>
                      </a:r>
                      <a:r>
                        <a:rPr lang="en-US" altLang="zh-CN" sz="1000" kern="0" dirty="0">
                          <a:latin typeface="Times New Roman" panose="02020603050405020304"/>
                        </a:rPr>
                        <a:t>~</a:t>
                      </a:r>
                      <a:r>
                        <a:rPr lang="en-US" altLang="zh-CN" sz="1000" kern="0" dirty="0">
                          <a:latin typeface="宋体" panose="02010600030101010101" pitchFamily="2" charset="-122"/>
                          <a:cs typeface="黑体" panose="02010609060101010101" charset="-122"/>
                        </a:rPr>
                        <a:t>4</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6061">
                <a:tc rowSpan="2" gridSpan="2">
                  <a:txBody>
                    <a:bodyPr/>
                    <a:lstStyle/>
                    <a:p>
                      <a:pPr marL="0" marR="0" algn="ctr" fontAlgn="ctr">
                        <a:spcBef>
                          <a:spcPts val="0"/>
                        </a:spcBef>
                        <a:spcAft>
                          <a:spcPts val="0"/>
                        </a:spcAft>
                      </a:pPr>
                      <a:r>
                        <a:rPr lang="zh-CN" altLang="en-US" sz="1000" kern="0" dirty="0">
                          <a:latin typeface="宋体" panose="02010600030101010101" pitchFamily="2" charset="-122"/>
                          <a:cs typeface="黑体" panose="02010609060101010101" charset="-122"/>
                        </a:rPr>
                        <a:t>期末考试</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cPr/>
                </a:tc>
                <a:tc gridSpan="4">
                  <a:txBody>
                    <a:bodyPr/>
                    <a:lstStyle/>
                    <a:p>
                      <a:pPr marL="0" marR="0" algn="just" fontAlgn="ctr">
                        <a:spcBef>
                          <a:spcPts val="0"/>
                        </a:spcBef>
                        <a:spcAft>
                          <a:spcPts val="0"/>
                        </a:spcAft>
                      </a:pPr>
                      <a:r>
                        <a:rPr lang="en-US" altLang="zh-CN" sz="1000" kern="0" dirty="0">
                          <a:latin typeface="宋体" panose="02010600030101010101" pitchFamily="2" charset="-122"/>
                          <a:cs typeface="黑体" panose="02010609060101010101" charset="-122"/>
                        </a:rPr>
                        <a:t>1</a:t>
                      </a:r>
                      <a:r>
                        <a:rPr lang="zh-CN" altLang="en-US" sz="1000" kern="0" dirty="0">
                          <a:latin typeface="宋体" panose="02010600030101010101" pitchFamily="2" charset="-122"/>
                          <a:cs typeface="黑体" panose="02010609060101010101" charset="-122"/>
                        </a:rPr>
                        <a:t>、闭卷考试，成绩采用百分制，卷面成绩总分</a:t>
                      </a:r>
                      <a:r>
                        <a:rPr lang="en-US" altLang="zh-CN" sz="1000" kern="0" dirty="0">
                          <a:latin typeface="宋体" panose="02010600030101010101" pitchFamily="2" charset="-122"/>
                          <a:cs typeface="黑体" panose="02010609060101010101" charset="-122"/>
                        </a:rPr>
                        <a:t>100</a:t>
                      </a:r>
                      <a:r>
                        <a:rPr lang="zh-CN" altLang="en-US" sz="1000" kern="0" dirty="0">
                          <a:latin typeface="宋体" panose="02010600030101010101" pitchFamily="2" charset="-122"/>
                          <a:cs typeface="黑体" panose="02010609060101010101" charset="-122"/>
                        </a:rPr>
                        <a:t>分。</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rowSpan="2">
                  <a:txBody>
                    <a:bodyPr/>
                    <a:lstStyle/>
                    <a:p>
                      <a:pPr marL="0" marR="0" algn="ctr" fontAlgn="ctr">
                        <a:spcBef>
                          <a:spcPts val="0"/>
                        </a:spcBef>
                        <a:spcAft>
                          <a:spcPts val="0"/>
                        </a:spcAft>
                      </a:pPr>
                      <a:r>
                        <a:rPr lang="en-US" altLang="zh-CN" sz="1000" kern="0" dirty="0">
                          <a:latin typeface="宋体" panose="02010600030101010101" pitchFamily="2" charset="-122"/>
                          <a:cs typeface="黑体" panose="02010609060101010101" charset="-122"/>
                        </a:rPr>
                        <a:t>60%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fontAlgn="ctr">
                        <a:spcBef>
                          <a:spcPts val="0"/>
                        </a:spcBef>
                        <a:spcAft>
                          <a:spcPts val="0"/>
                        </a:spcAft>
                      </a:pPr>
                      <a:r>
                        <a:rPr lang="zh-CN" altLang="en-US" sz="1000" kern="0" dirty="0">
                          <a:latin typeface="宋体" panose="02010600030101010101" pitchFamily="2" charset="-122"/>
                          <a:cs typeface="黑体" panose="02010609060101010101" charset="-122"/>
                        </a:rPr>
                        <a:t>目标</a:t>
                      </a:r>
                      <a:r>
                        <a:rPr lang="en-US" altLang="zh-CN" sz="1000" kern="0" dirty="0">
                          <a:latin typeface="宋体" panose="02010600030101010101" pitchFamily="2" charset="-122"/>
                          <a:cs typeface="黑体" panose="02010609060101010101" charset="-122"/>
                        </a:rPr>
                        <a:t>1</a:t>
                      </a:r>
                      <a:r>
                        <a:rPr lang="en-US" altLang="zh-CN" sz="1000" kern="0" dirty="0">
                          <a:latin typeface="Times New Roman" panose="02020603050405020304"/>
                        </a:rPr>
                        <a:t>~</a:t>
                      </a:r>
                      <a:r>
                        <a:rPr lang="en-US" altLang="zh-CN" sz="1000" kern="0" dirty="0">
                          <a:latin typeface="宋体" panose="02010600030101010101" pitchFamily="2" charset="-122"/>
                          <a:cs typeface="黑体" panose="02010609060101010101" charset="-122"/>
                        </a:rPr>
                        <a:t>4</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18970">
                <a:tc vMerge="1" gridSpan="2">
                  <a:tcPr/>
                </a:tc>
                <a:tc vMerge="1" hMerge="1">
                  <a:tcPr/>
                </a:tc>
                <a:tc gridSpan="4">
                  <a:txBody>
                    <a:bodyPr/>
                    <a:lstStyle/>
                    <a:p>
                      <a:pPr marL="0" marR="0" algn="just" fontAlgn="ctr">
                        <a:spcBef>
                          <a:spcPts val="0"/>
                        </a:spcBef>
                        <a:spcAft>
                          <a:spcPts val="0"/>
                        </a:spcAft>
                      </a:pPr>
                      <a:r>
                        <a:rPr lang="en-US" altLang="zh-CN" sz="1000" kern="0" dirty="0">
                          <a:latin typeface="宋体" panose="02010600030101010101" pitchFamily="2" charset="-122"/>
                          <a:cs typeface="黑体" panose="02010609060101010101" charset="-122"/>
                        </a:rPr>
                        <a:t>2</a:t>
                      </a:r>
                      <a:r>
                        <a:rPr lang="zh-CN" altLang="en-US" sz="1000" kern="0" dirty="0">
                          <a:latin typeface="宋体" panose="02010600030101010101" pitchFamily="2" charset="-122"/>
                          <a:cs typeface="黑体" panose="02010609060101010101" charset="-122"/>
                        </a:rPr>
                        <a:t>、主要考核学生对所学内容的掌握程度，学生综合运用所学知识分析问题、解决问题的能力。题型主要为选择题、判断题、填空题和问答题等。</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vMerge="1">
                  <a:tcPr/>
                </a:tc>
                <a:tc vMerge="1">
                  <a:tcPr/>
                </a:tc>
              </a:tr>
              <a:tr h="166061">
                <a:tc gridSpan="8">
                  <a:txBody>
                    <a:bodyPr/>
                    <a:lstStyle/>
                    <a:p>
                      <a:pPr marL="0" marR="0" algn="just" fontAlgn="ctr">
                        <a:spcBef>
                          <a:spcPts val="0"/>
                        </a:spcBef>
                        <a:spcAft>
                          <a:spcPts val="0"/>
                        </a:spcAft>
                      </a:pPr>
                      <a:r>
                        <a:rPr lang="zh-CN" altLang="en-US" sz="1000" kern="0" dirty="0">
                          <a:solidFill>
                            <a:srgbClr val="000000"/>
                          </a:solidFill>
                          <a:latin typeface="黑体" panose="02010609060101010101" charset="-122"/>
                        </a:rPr>
                        <a:t>评分标准</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c hMerge="1">
                  <a:tcPr/>
                </a:tc>
              </a:tr>
              <a:tr h="224132">
                <a:tc>
                  <a:txBody>
                    <a:bodyPr/>
                    <a:lstStyle/>
                    <a:p>
                      <a:pPr marL="0" marR="0" algn="ctr" fontAlgn="ctr">
                        <a:spcBef>
                          <a:spcPts val="0"/>
                        </a:spcBef>
                        <a:spcAft>
                          <a:spcPts val="0"/>
                        </a:spcAft>
                      </a:pPr>
                      <a:r>
                        <a:rPr lang="zh-CN" altLang="en-US" sz="1000" kern="0" dirty="0">
                          <a:solidFill>
                            <a:srgbClr val="000000"/>
                          </a:solidFill>
                          <a:latin typeface="黑体" panose="02010609060101010101" charset="-122"/>
                        </a:rPr>
                        <a:t>考核环节</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fontAlgn="ctr">
                        <a:spcBef>
                          <a:spcPts val="0"/>
                        </a:spcBef>
                        <a:spcAft>
                          <a:spcPts val="0"/>
                        </a:spcAft>
                      </a:pPr>
                      <a:r>
                        <a:rPr lang="en-US" altLang="zh-CN" sz="1000" kern="0" dirty="0">
                          <a:solidFill>
                            <a:srgbClr val="000000"/>
                          </a:solidFill>
                          <a:latin typeface="黑体" panose="02010609060101010101" charset="-122"/>
                        </a:rPr>
                        <a:t>&lt;60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altLang="zh-CN" sz="1000" kern="0">
                          <a:solidFill>
                            <a:srgbClr val="000000"/>
                          </a:solidFill>
                          <a:latin typeface="黑体" panose="02010609060101010101" charset="-122"/>
                        </a:rPr>
                        <a:t>60-75</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altLang="zh-CN" sz="1000" kern="0">
                          <a:solidFill>
                            <a:srgbClr val="000000"/>
                          </a:solidFill>
                          <a:latin typeface="黑体" panose="02010609060101010101" charset="-122"/>
                        </a:rPr>
                        <a:t>75-90</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ctr" fontAlgn="ctr">
                        <a:spcBef>
                          <a:spcPts val="0"/>
                        </a:spcBef>
                        <a:spcAft>
                          <a:spcPts val="0"/>
                        </a:spcAft>
                      </a:pPr>
                      <a:r>
                        <a:rPr lang="en-US" altLang="zh-CN" sz="1000" kern="0" dirty="0">
                          <a:solidFill>
                            <a:srgbClr val="000000"/>
                          </a:solidFill>
                          <a:latin typeface="黑体" panose="02010609060101010101" charset="-122"/>
                        </a:rPr>
                        <a:t>90-100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463325">
                <a:tc>
                  <a:txBody>
                    <a:bodyPr/>
                    <a:lstStyle/>
                    <a:p>
                      <a:pPr marL="0" marR="0" algn="ctr" fontAlgn="ctr">
                        <a:spcBef>
                          <a:spcPts val="0"/>
                        </a:spcBef>
                        <a:spcAft>
                          <a:spcPts val="0"/>
                        </a:spcAft>
                      </a:pPr>
                      <a:r>
                        <a:rPr lang="zh-CN" altLang="en-US" sz="1000" kern="0" dirty="0">
                          <a:latin typeface="宋体" panose="02010600030101010101" pitchFamily="2" charset="-122"/>
                          <a:cs typeface="黑体" panose="02010609060101010101" charset="-122"/>
                        </a:rPr>
                        <a:t>平时作业</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just" fontAlgn="ctr">
                        <a:spcBef>
                          <a:spcPts val="0"/>
                        </a:spcBef>
                        <a:spcAft>
                          <a:spcPts val="0"/>
                        </a:spcAft>
                      </a:pPr>
                      <a:r>
                        <a:rPr lang="zh-CN" altLang="en-US" sz="1000" kern="0" dirty="0">
                          <a:latin typeface="宋体" panose="02010600030101010101" pitchFamily="2" charset="-122"/>
                          <a:cs typeface="黑体" panose="02010609060101010101" charset="-122"/>
                        </a:rPr>
                        <a:t>作业抄袭，未能按时完成，答题不正确，答题思路混乱</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fontAlgn="ctr">
                        <a:spcBef>
                          <a:spcPts val="0"/>
                        </a:spcBef>
                        <a:spcAft>
                          <a:spcPts val="0"/>
                        </a:spcAft>
                      </a:pPr>
                      <a:r>
                        <a:rPr lang="zh-CN" altLang="en-US" sz="1000" kern="0" dirty="0">
                          <a:latin typeface="宋体" panose="02010600030101010101" pitchFamily="2" charset="-122"/>
                          <a:cs typeface="黑体" panose="02010609060101010101" charset="-122"/>
                        </a:rPr>
                        <a:t>独立思考、按时完成，答题思路比较清晰、回答要点比较完整、答案准确</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fontAlgn="ctr">
                        <a:spcBef>
                          <a:spcPts val="0"/>
                        </a:spcBef>
                        <a:spcAft>
                          <a:spcPts val="0"/>
                        </a:spcAft>
                      </a:pPr>
                      <a:r>
                        <a:rPr lang="zh-CN" altLang="en-US" sz="1000" kern="0">
                          <a:latin typeface="宋体" panose="02010600030101010101" pitchFamily="2" charset="-122"/>
                          <a:cs typeface="黑体" panose="02010609060101010101" charset="-122"/>
                        </a:rPr>
                        <a:t>独立思考、按时完成，答题思路比较清晰、回答要点完整、答案准确</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just" fontAlgn="ctr">
                        <a:spcBef>
                          <a:spcPts val="0"/>
                        </a:spcBef>
                        <a:spcAft>
                          <a:spcPts val="0"/>
                        </a:spcAft>
                      </a:pPr>
                      <a:r>
                        <a:rPr lang="zh-CN" altLang="en-US" sz="1000" kern="0">
                          <a:latin typeface="宋体" panose="02010600030101010101" pitchFamily="2" charset="-122"/>
                          <a:cs typeface="黑体" panose="02010609060101010101" charset="-122"/>
                        </a:rPr>
                        <a:t>独立思考、按时完成，答题思路清晰、回答要点完整、答案准确</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501735">
                <a:tc>
                  <a:txBody>
                    <a:bodyPr/>
                    <a:lstStyle/>
                    <a:p>
                      <a:pPr marL="0" marR="0" algn="ctr" fontAlgn="ctr">
                        <a:spcBef>
                          <a:spcPts val="0"/>
                        </a:spcBef>
                        <a:spcAft>
                          <a:spcPts val="0"/>
                        </a:spcAft>
                      </a:pPr>
                      <a:r>
                        <a:rPr lang="zh-CN" altLang="en-US" sz="1000" kern="0" dirty="0">
                          <a:latin typeface="宋体" panose="02010600030101010101" pitchFamily="2" charset="-122"/>
                          <a:cs typeface="黑体" panose="02010609060101010101" charset="-122"/>
                        </a:rPr>
                        <a:t>平时表现</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just" fontAlgn="ctr">
                        <a:spcBef>
                          <a:spcPts val="0"/>
                        </a:spcBef>
                        <a:spcAft>
                          <a:spcPts val="0"/>
                        </a:spcAft>
                      </a:pPr>
                      <a:r>
                        <a:rPr lang="zh-CN" altLang="en-US" sz="1000" kern="100">
                          <a:latin typeface="宋体" panose="02010600030101010101" pitchFamily="2" charset="-122"/>
                          <a:cs typeface="黑体" panose="02010609060101010101" charset="-122"/>
                        </a:rPr>
                        <a:t>经常旷课、迟到，上课不认真听讲，回答问题不积极，不自动</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fontAlgn="ctr">
                        <a:spcBef>
                          <a:spcPts val="0"/>
                        </a:spcBef>
                        <a:spcAft>
                          <a:spcPts val="0"/>
                        </a:spcAft>
                      </a:pPr>
                      <a:r>
                        <a:rPr lang="zh-CN" altLang="en-US" sz="1000" kern="100" dirty="0">
                          <a:latin typeface="宋体" panose="02010600030101010101" pitchFamily="2" charset="-122"/>
                          <a:cs typeface="黑体" panose="02010609060101010101" charset="-122"/>
                        </a:rPr>
                        <a:t>不旷课、偶尔迟到，上课较认真，回答问题较积极、自动</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fontAlgn="ctr">
                        <a:spcBef>
                          <a:spcPts val="0"/>
                        </a:spcBef>
                        <a:spcAft>
                          <a:spcPts val="0"/>
                        </a:spcAft>
                      </a:pPr>
                      <a:r>
                        <a:rPr lang="zh-CN" altLang="en-US" sz="1000" kern="100" dirty="0">
                          <a:latin typeface="宋体" panose="02010600030101010101" pitchFamily="2" charset="-122"/>
                          <a:cs typeface="黑体" panose="02010609060101010101" charset="-122"/>
                        </a:rPr>
                        <a:t>不旷课</a:t>
                      </a:r>
                      <a:r>
                        <a:rPr lang="zh-CN" altLang="en-US" sz="1000" kern="100" dirty="0" smtClean="0">
                          <a:latin typeface="宋体" panose="02010600030101010101" pitchFamily="2" charset="-122"/>
                          <a:cs typeface="黑体" panose="02010609060101010101" charset="-122"/>
                        </a:rPr>
                        <a:t>、偶尔迟到</a:t>
                      </a:r>
                      <a:r>
                        <a:rPr lang="zh-CN" altLang="en-US" sz="1000" kern="100" dirty="0">
                          <a:latin typeface="宋体" panose="02010600030101010101" pitchFamily="2" charset="-122"/>
                          <a:cs typeface="黑体" panose="02010609060101010101" charset="-122"/>
                        </a:rPr>
                        <a:t>，上课认真，回答问题较积极、自动</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just" fontAlgn="ctr">
                        <a:spcBef>
                          <a:spcPts val="0"/>
                        </a:spcBef>
                        <a:spcAft>
                          <a:spcPts val="0"/>
                        </a:spcAft>
                      </a:pPr>
                      <a:r>
                        <a:rPr lang="zh-CN" altLang="en-US" sz="1000" kern="100" dirty="0">
                          <a:latin typeface="宋体" panose="02010600030101010101" pitchFamily="2" charset="-122"/>
                          <a:cs typeface="黑体" panose="02010609060101010101" charset="-122"/>
                        </a:rPr>
                        <a:t>不旷课</a:t>
                      </a:r>
                      <a:r>
                        <a:rPr lang="zh-CN" altLang="en-US" sz="1000" kern="100" dirty="0" smtClean="0">
                          <a:latin typeface="宋体" panose="02010600030101010101" pitchFamily="2" charset="-122"/>
                          <a:cs typeface="黑体" panose="02010609060101010101" charset="-122"/>
                        </a:rPr>
                        <a:t>、不迟到</a:t>
                      </a:r>
                      <a:r>
                        <a:rPr lang="zh-CN" altLang="en-US" sz="1000" kern="100" dirty="0">
                          <a:latin typeface="宋体" panose="02010600030101010101" pitchFamily="2" charset="-122"/>
                          <a:cs typeface="黑体" panose="02010609060101010101" charset="-122"/>
                        </a:rPr>
                        <a:t>，上课认真，回答问题积极、自动</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166061">
                <a:tc gridSpan="8">
                  <a:txBody>
                    <a:bodyPr/>
                    <a:lstStyle/>
                    <a:p>
                      <a:pPr marL="0" marR="0" algn="ctr" fontAlgn="ctr">
                        <a:spcBef>
                          <a:spcPts val="0"/>
                        </a:spcBef>
                        <a:spcAft>
                          <a:spcPts val="0"/>
                        </a:spcAft>
                      </a:pPr>
                      <a:r>
                        <a:rPr lang="zh-CN" altLang="en-US" sz="1000" kern="0" dirty="0">
                          <a:solidFill>
                            <a:srgbClr val="000000"/>
                          </a:solidFill>
                          <a:latin typeface="黑体" panose="02010609060101010101" charset="-122"/>
                        </a:rPr>
                        <a:t>考核环节权重</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c hMerge="1">
                  <a:tcPr/>
                </a:tc>
                <a:tc hMerge="1">
                  <a:tcPr/>
                </a:tc>
                <a:tc hMerge="1">
                  <a:tcPr/>
                </a:tc>
                <a:tc hMerge="1">
                  <a:tcPr/>
                </a:tc>
                <a:tc hMerge="1">
                  <a:tcPr/>
                </a:tc>
              </a:tr>
              <a:tr h="318970">
                <a:tc>
                  <a:txBody>
                    <a:bodyPr/>
                    <a:lstStyle/>
                    <a:p>
                      <a:pPr marL="0" marR="0" algn="ctr" fontAlgn="ctr">
                        <a:spcBef>
                          <a:spcPts val="0"/>
                        </a:spcBef>
                        <a:spcAft>
                          <a:spcPts val="0"/>
                        </a:spcAft>
                      </a:pPr>
                      <a:r>
                        <a:rPr lang="zh-CN" altLang="en-US" sz="1000" kern="0" dirty="0">
                          <a:solidFill>
                            <a:srgbClr val="000000"/>
                          </a:solidFill>
                          <a:latin typeface="黑体" panose="02010609060101010101" charset="-122"/>
                        </a:rPr>
                        <a:t>考核环节</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fontAlgn="ctr">
                        <a:spcBef>
                          <a:spcPts val="0"/>
                        </a:spcBef>
                        <a:spcAft>
                          <a:spcPts val="0"/>
                        </a:spcAft>
                      </a:pPr>
                      <a:r>
                        <a:rPr lang="zh-CN" altLang="en-US" sz="1000" kern="0">
                          <a:solidFill>
                            <a:srgbClr val="000000"/>
                          </a:solidFill>
                          <a:latin typeface="黑体" panose="02010609060101010101" charset="-122"/>
                        </a:rPr>
                        <a:t>目标</a:t>
                      </a:r>
                      <a:r>
                        <a:rPr lang="en-US" altLang="zh-CN" sz="1000" kern="0">
                          <a:solidFill>
                            <a:srgbClr val="000000"/>
                          </a:solidFill>
                          <a:latin typeface="黑体" panose="02010609060101010101" charset="-122"/>
                        </a:rPr>
                        <a:t>1</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marL="0" marR="0" algn="ctr" fontAlgn="ctr">
                        <a:spcBef>
                          <a:spcPts val="0"/>
                        </a:spcBef>
                        <a:spcAft>
                          <a:spcPts val="0"/>
                        </a:spcAft>
                      </a:pPr>
                      <a:r>
                        <a:rPr lang="zh-CN" altLang="en-US" sz="1000" kern="0">
                          <a:solidFill>
                            <a:srgbClr val="000000"/>
                          </a:solidFill>
                          <a:latin typeface="黑体" panose="02010609060101010101" charset="-122"/>
                        </a:rPr>
                        <a:t>目标</a:t>
                      </a:r>
                      <a:r>
                        <a:rPr lang="en-US" altLang="zh-CN" sz="1000" kern="0">
                          <a:solidFill>
                            <a:srgbClr val="000000"/>
                          </a:solidFill>
                          <a:latin typeface="黑体" panose="02010609060101010101" charset="-122"/>
                        </a:rPr>
                        <a:t>2</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zh-CN" altLang="en-US" sz="1000" kern="0">
                          <a:solidFill>
                            <a:srgbClr val="000000"/>
                          </a:solidFill>
                          <a:latin typeface="黑体" panose="02010609060101010101" charset="-122"/>
                        </a:rPr>
                        <a:t>目标</a:t>
                      </a:r>
                      <a:r>
                        <a:rPr lang="en-US" altLang="zh-CN" sz="1000" kern="0">
                          <a:solidFill>
                            <a:srgbClr val="000000"/>
                          </a:solidFill>
                          <a:latin typeface="黑体" panose="02010609060101010101" charset="-122"/>
                        </a:rPr>
                        <a:t>3</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ctr" fontAlgn="ctr">
                        <a:spcBef>
                          <a:spcPts val="0"/>
                        </a:spcBef>
                        <a:spcAft>
                          <a:spcPts val="0"/>
                        </a:spcAft>
                      </a:pPr>
                      <a:r>
                        <a:rPr lang="zh-CN" altLang="en-US" sz="1000" kern="0" dirty="0">
                          <a:solidFill>
                            <a:srgbClr val="000000"/>
                          </a:solidFill>
                          <a:latin typeface="黑体" panose="02010609060101010101" charset="-122"/>
                        </a:rPr>
                        <a:t>目标</a:t>
                      </a:r>
                      <a:r>
                        <a:rPr lang="en-US" altLang="zh-CN" sz="1000" kern="0" dirty="0">
                          <a:solidFill>
                            <a:srgbClr val="000000"/>
                          </a:solidFill>
                          <a:latin typeface="黑体" panose="02010609060101010101" charset="-122"/>
                        </a:rPr>
                        <a:t>4</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166061">
                <a:tc>
                  <a:txBody>
                    <a:bodyPr/>
                    <a:lstStyle/>
                    <a:p>
                      <a:pPr marL="0" marR="0" algn="ctr" fontAlgn="ctr">
                        <a:spcBef>
                          <a:spcPts val="0"/>
                        </a:spcBef>
                        <a:spcAft>
                          <a:spcPts val="0"/>
                        </a:spcAft>
                      </a:pPr>
                      <a:r>
                        <a:rPr lang="zh-CN" altLang="en-US" sz="1000" kern="0" dirty="0">
                          <a:latin typeface="宋体" panose="02010600030101010101" pitchFamily="2" charset="-122"/>
                          <a:cs typeface="黑体" panose="02010609060101010101" charset="-122"/>
                        </a:rPr>
                        <a:t>平时表现</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fontAlgn="ctr">
                        <a:spcBef>
                          <a:spcPts val="0"/>
                        </a:spcBef>
                        <a:spcAft>
                          <a:spcPts val="0"/>
                        </a:spcAft>
                      </a:pPr>
                      <a:r>
                        <a:rPr lang="en-US" altLang="zh-CN" sz="1000" kern="100" dirty="0">
                          <a:latin typeface="宋体" panose="02010600030101010101" pitchFamily="2" charset="-122"/>
                          <a:cs typeface="黑体" panose="02010609060101010101" charset="-122"/>
                        </a:rPr>
                        <a:t>30%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marL="0" marR="0" algn="ctr" fontAlgn="ctr">
                        <a:spcBef>
                          <a:spcPts val="0"/>
                        </a:spcBef>
                        <a:spcAft>
                          <a:spcPts val="0"/>
                        </a:spcAft>
                      </a:pPr>
                      <a:r>
                        <a:rPr lang="en-US" altLang="zh-CN" sz="1000" kern="100">
                          <a:latin typeface="宋体" panose="02010600030101010101" pitchFamily="2" charset="-122"/>
                          <a:cs typeface="黑体" panose="02010609060101010101" charset="-122"/>
                        </a:rPr>
                        <a:t>30%</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altLang="zh-CN" sz="1000" kern="100">
                          <a:latin typeface="宋体" panose="02010600030101010101" pitchFamily="2" charset="-122"/>
                          <a:cs typeface="黑体" panose="02010609060101010101" charset="-122"/>
                        </a:rPr>
                        <a:t>70%</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ctr" fontAlgn="ctr">
                        <a:spcBef>
                          <a:spcPts val="0"/>
                        </a:spcBef>
                        <a:spcAft>
                          <a:spcPts val="0"/>
                        </a:spcAft>
                      </a:pPr>
                      <a:r>
                        <a:rPr lang="en-US" altLang="zh-CN" sz="1000" kern="100" dirty="0">
                          <a:latin typeface="宋体" panose="02010600030101010101" pitchFamily="2" charset="-122"/>
                          <a:cs typeface="黑体" panose="02010609060101010101" charset="-122"/>
                        </a:rPr>
                        <a:t>70%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166061">
                <a:tc>
                  <a:txBody>
                    <a:bodyPr/>
                    <a:lstStyle/>
                    <a:p>
                      <a:pPr marL="0" marR="0" algn="ctr" fontAlgn="ctr">
                        <a:spcBef>
                          <a:spcPts val="0"/>
                        </a:spcBef>
                        <a:spcAft>
                          <a:spcPts val="0"/>
                        </a:spcAft>
                      </a:pPr>
                      <a:r>
                        <a:rPr lang="zh-CN" altLang="en-US" sz="1000" kern="0" dirty="0">
                          <a:latin typeface="宋体" panose="02010600030101010101" pitchFamily="2" charset="-122"/>
                          <a:cs typeface="黑体" panose="02010609060101010101" charset="-122"/>
                        </a:rPr>
                        <a:t>期末考试</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spcBef>
                          <a:spcPts val="0"/>
                        </a:spcBef>
                        <a:spcAft>
                          <a:spcPts val="0"/>
                        </a:spcAft>
                      </a:pPr>
                      <a:r>
                        <a:rPr lang="en-US" altLang="zh-CN" sz="1000" kern="100">
                          <a:latin typeface="宋体" panose="02010600030101010101" pitchFamily="2" charset="-122"/>
                          <a:cs typeface="黑体" panose="02010609060101010101" charset="-122"/>
                        </a:rPr>
                        <a:t>70%</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marL="0" marR="0" algn="ctr">
                        <a:spcBef>
                          <a:spcPts val="0"/>
                        </a:spcBef>
                        <a:spcAft>
                          <a:spcPts val="0"/>
                        </a:spcAft>
                      </a:pPr>
                      <a:r>
                        <a:rPr lang="en-US" altLang="zh-CN" sz="1000" kern="100">
                          <a:latin typeface="宋体" panose="02010600030101010101" pitchFamily="2" charset="-122"/>
                          <a:cs typeface="黑体" panose="02010609060101010101" charset="-122"/>
                        </a:rPr>
                        <a:t>70%</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altLang="zh-CN" sz="1000" kern="100">
                          <a:latin typeface="宋体" panose="02010600030101010101" pitchFamily="2" charset="-122"/>
                          <a:cs typeface="黑体" panose="02010609060101010101" charset="-122"/>
                        </a:rPr>
                        <a:t>30%</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ctr">
                        <a:spcBef>
                          <a:spcPts val="0"/>
                        </a:spcBef>
                        <a:spcAft>
                          <a:spcPts val="0"/>
                        </a:spcAft>
                      </a:pPr>
                      <a:r>
                        <a:rPr lang="en-US" altLang="zh-CN" sz="1000" kern="100" dirty="0">
                          <a:latin typeface="宋体" panose="02010600030101010101" pitchFamily="2" charset="-122"/>
                          <a:cs typeface="黑体" panose="02010609060101010101" charset="-122"/>
                        </a:rPr>
                        <a:t>30%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r h="182044">
                <a:tc>
                  <a:txBody>
                    <a:bodyPr/>
                    <a:lstStyle/>
                    <a:p>
                      <a:pPr marL="0" marR="0" algn="ctr" fontAlgn="ctr">
                        <a:spcBef>
                          <a:spcPts val="0"/>
                        </a:spcBef>
                        <a:spcAft>
                          <a:spcPts val="0"/>
                        </a:spcAft>
                      </a:pPr>
                      <a:r>
                        <a:rPr lang="zh-CN" altLang="en-US" sz="1000" b="1" kern="0" dirty="0">
                          <a:latin typeface="宋体" panose="02010600030101010101" pitchFamily="2" charset="-122"/>
                          <a:cs typeface="黑体" panose="02010609060101010101" charset="-122"/>
                        </a:rPr>
                        <a:t>总权重</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fontAlgn="ctr">
                        <a:spcBef>
                          <a:spcPts val="0"/>
                        </a:spcBef>
                        <a:spcAft>
                          <a:spcPts val="0"/>
                        </a:spcAft>
                      </a:pPr>
                      <a:r>
                        <a:rPr lang="en-US" altLang="zh-CN" sz="1000" kern="0">
                          <a:latin typeface="宋体" panose="02010600030101010101" pitchFamily="2" charset="-122"/>
                          <a:cs typeface="黑体" panose="02010609060101010101" charset="-122"/>
                        </a:rPr>
                        <a:t>100%</a:t>
                      </a:r>
                      <a:endParaRPr lang="zh-CN" altLang="en-US" sz="1000" kern="10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a:txBody>
                    <a:bodyPr/>
                    <a:lstStyle/>
                    <a:p>
                      <a:pPr marL="0" marR="0" algn="ctr" fontAlgn="ctr">
                        <a:spcBef>
                          <a:spcPts val="0"/>
                        </a:spcBef>
                        <a:spcAft>
                          <a:spcPts val="0"/>
                        </a:spcAft>
                      </a:pPr>
                      <a:r>
                        <a:rPr lang="en-US" altLang="zh-CN" sz="1000" kern="0" dirty="0">
                          <a:latin typeface="宋体" panose="02010600030101010101" pitchFamily="2" charset="-122"/>
                          <a:cs typeface="黑体" panose="02010609060101010101" charset="-122"/>
                        </a:rPr>
                        <a:t>100%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fontAlgn="ctr">
                        <a:spcBef>
                          <a:spcPts val="0"/>
                        </a:spcBef>
                        <a:spcAft>
                          <a:spcPts val="0"/>
                        </a:spcAft>
                      </a:pPr>
                      <a:r>
                        <a:rPr lang="en-US" altLang="zh-CN" sz="1000" kern="0" dirty="0">
                          <a:latin typeface="宋体" panose="02010600030101010101" pitchFamily="2" charset="-122"/>
                          <a:cs typeface="黑体" panose="02010609060101010101" charset="-122"/>
                        </a:rPr>
                        <a:t>100%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ctr" fontAlgn="ctr">
                        <a:spcBef>
                          <a:spcPts val="0"/>
                        </a:spcBef>
                        <a:spcAft>
                          <a:spcPts val="0"/>
                        </a:spcAft>
                      </a:pPr>
                      <a:r>
                        <a:rPr lang="en-US" altLang="zh-CN" sz="1000" kern="0" dirty="0">
                          <a:latin typeface="宋体" panose="02010600030101010101" pitchFamily="2" charset="-122"/>
                          <a:cs typeface="黑体" panose="02010609060101010101" charset="-122"/>
                        </a:rPr>
                        <a:t>100%</a:t>
                      </a:r>
                      <a:endParaRPr lang="zh-CN" altLang="en-US" sz="1000" kern="100" dirty="0">
                        <a:latin typeface="Calibri" panose="020F0502020204030204"/>
                      </a:endParaRPr>
                    </a:p>
                  </a:txBody>
                  <a:tcPr marL="1599" marR="1599" marT="1599" marB="1151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a:tc>
                <a:tc hMerge="1">
                  <a:tcPr/>
                </a:tc>
              </a:tr>
            </a:tbl>
          </a:graphicData>
        </a:graphic>
      </p:graphicFrame>
      <p:sp>
        <p:nvSpPr>
          <p:cNvPr id="8" name="矩形 7"/>
          <p:cNvSpPr/>
          <p:nvPr/>
        </p:nvSpPr>
        <p:spPr>
          <a:xfrm>
            <a:off x="714348" y="71420"/>
            <a:ext cx="1422184" cy="461665"/>
          </a:xfrm>
          <a:prstGeom prst="rect">
            <a:avLst/>
          </a:prstGeom>
        </p:spPr>
        <p:txBody>
          <a:bodyPr wrap="none">
            <a:spAutoFit/>
          </a:bodyPr>
          <a:lstStyle/>
          <a:p>
            <a:r>
              <a:rPr lang="zh-CN" altLang="en-US" sz="2400" b="1" dirty="0" smtClean="0">
                <a:solidFill>
                  <a:srgbClr val="000000"/>
                </a:solidFill>
              </a:rPr>
              <a:t>教学大纲</a:t>
            </a:r>
            <a:endParaRPr lang="zh-CN" altLang="en-US" sz="2400" b="1"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4097" name="Rectangle 1"/>
          <p:cNvSpPr>
            <a:spLocks noChangeArrowheads="1"/>
          </p:cNvSpPr>
          <p:nvPr/>
        </p:nvSpPr>
        <p:spPr bwMode="auto">
          <a:xfrm>
            <a:off x="285720" y="785800"/>
            <a:ext cx="8715436" cy="3970318"/>
          </a:xfrm>
          <a:prstGeom prst="rect">
            <a:avLst/>
          </a:prstGeom>
          <a:noFill/>
          <a:ln w="19050">
            <a:solidFill>
              <a:schemeClr val="tx1"/>
            </a:solidFill>
            <a:prstDash val="dash"/>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Char char="u"/>
            </a:pPr>
            <a:r>
              <a:rPr kumimoji="0" lang="zh-CN" sz="2400" b="0" i="0" u="none" strike="noStrike" cap="none" normalizeH="0" baseline="0" dirty="0" smtClean="0">
                <a:ln>
                  <a:noFill/>
                </a:ln>
                <a:solidFill>
                  <a:schemeClr val="tx1"/>
                </a:solidFill>
                <a:effectLst/>
                <a:latin typeface="黑体" panose="02010609060101010101" charset="-122"/>
                <a:ea typeface="黑体" panose="02010609060101010101" charset="-122"/>
                <a:cs typeface="Times New Roman" panose="02020603050405020304" pitchFamily="18" charset="0"/>
              </a:rPr>
              <a:t>教材或参考资料</a:t>
            </a:r>
            <a:r>
              <a:rPr kumimoji="0" lang="zh-CN" sz="2400" b="0" i="0" u="none" strike="noStrike" cap="none" normalizeH="0" baseline="0" dirty="0" smtClean="0">
                <a:ln>
                  <a:noFill/>
                </a:ln>
                <a:solidFill>
                  <a:schemeClr val="tx1"/>
                </a:solidFill>
                <a:effectLst/>
                <a:latin typeface="黑体" panose="02010609060101010101" charset="-122"/>
                <a:ea typeface="黑体" panose="02010609060101010101" charset="-122"/>
                <a:cs typeface="宋体" panose="02010600030101010101" pitchFamily="2" charset="-122"/>
              </a:rPr>
              <a:t> （</a:t>
            </a:r>
            <a:r>
              <a:rPr kumimoji="0" lang="zh-CN"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charset="-122"/>
                <a:cs typeface="Times New Roman" panose="02020603050405020304" pitchFamily="18" charset="0"/>
              </a:rPr>
              <a:t>Textbooks &amp; Other Materials</a:t>
            </a:r>
            <a:r>
              <a:rPr kumimoji="0" lang="zh-CN" sz="2400" b="0" i="0" u="none" strike="noStrike" cap="none" normalizeH="0" baseline="0" dirty="0" smtClean="0">
                <a:ln>
                  <a:noFill/>
                </a:ln>
                <a:solidFill>
                  <a:schemeClr val="tx1"/>
                </a:solidFill>
                <a:effectLst/>
                <a:latin typeface="黑体" panose="02010609060101010101" charset="-122"/>
                <a:ea typeface="黑体" panose="02010609060101010101" charset="-122"/>
                <a:cs typeface="宋体" panose="02010600030101010101" pitchFamily="2" charset="-122"/>
              </a:rPr>
              <a:t>）</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1</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．刘宗昌，冯佃臣，李涛</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 </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金属热处理原理及工艺</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北京</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冶金工业出版社</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,2022</a:t>
            </a:r>
            <a:endParaRPr kumimoji="0" lang="zh-CN"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2.</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马春阳，于心泷，何富君等</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 </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金属热处理原理及工艺</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北京</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中国石化出版社</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,2021.</a:t>
            </a:r>
            <a:endParaRPr kumimoji="0" lang="zh-CN"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3.</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胡光立，谢希文</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钢的热处理</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原理和工艺</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西安</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a:t>
            </a:r>
            <a:r>
              <a:rPr kumimoji="0" 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西北工业大学出版社</a:t>
            </a:r>
            <a:r>
              <a:rPr kumimoji="0" lang="zh-CN"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宋体" panose="02010600030101010101" pitchFamily="2" charset="-122"/>
              </a:rPr>
              <a:t>,2016</a:t>
            </a:r>
            <a:endParaRPr kumimoji="0" lang="zh-CN"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8" name="矩形 7"/>
          <p:cNvSpPr/>
          <p:nvPr/>
        </p:nvSpPr>
        <p:spPr>
          <a:xfrm>
            <a:off x="714348" y="71420"/>
            <a:ext cx="1422184" cy="461665"/>
          </a:xfrm>
          <a:prstGeom prst="rect">
            <a:avLst/>
          </a:prstGeom>
        </p:spPr>
        <p:txBody>
          <a:bodyPr wrap="none">
            <a:spAutoFit/>
          </a:bodyPr>
          <a:lstStyle/>
          <a:p>
            <a:r>
              <a:rPr lang="zh-CN" altLang="en-US" sz="2400" b="1" dirty="0" smtClean="0">
                <a:solidFill>
                  <a:srgbClr val="000000"/>
                </a:solidFill>
              </a:rPr>
              <a:t>教学大纲</a:t>
            </a:r>
            <a:endParaRPr lang="zh-CN" altLang="en-US" sz="2400" b="1" dirty="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1——</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文本框 57358"/>
          <p:cNvSpPr txBox="1"/>
          <p:nvPr/>
        </p:nvSpPr>
        <p:spPr>
          <a:xfrm>
            <a:off x="428596" y="642924"/>
            <a:ext cx="8429684" cy="2286016"/>
          </a:xfrm>
          <a:prstGeom prst="rect">
            <a:avLst/>
          </a:prstGeom>
          <a:noFill/>
          <a:ln w="12700">
            <a:solidFill>
              <a:schemeClr val="tx1"/>
            </a:solidFill>
            <a:prstDash val="dash"/>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buFont typeface="Wingdings" panose="05000000000000000000" pitchFamily="2" charset="2"/>
              <a:buChar char="Ø"/>
            </a:pPr>
            <a:r>
              <a:rPr lang="zh-CN" altLang="en-US" sz="2400" b="1" u="none" dirty="0">
                <a:solidFill>
                  <a:srgbClr val="000000"/>
                </a:solidFill>
                <a:latin typeface="Arial" panose="020B0604020202020204" pitchFamily="34" charset="0"/>
                <a:ea typeface="隶书" panose="02010509060101010101" pitchFamily="49" charset="-122"/>
              </a:rPr>
              <a:t>金属晶体的结合键是金属键。</a:t>
            </a:r>
            <a:endParaRPr lang="zh-CN" altLang="en-US" sz="2400" b="1" u="none" dirty="0">
              <a:solidFill>
                <a:srgbClr val="000000"/>
              </a:solidFill>
              <a:latin typeface="Arial" panose="020B0604020202020204" pitchFamily="34" charset="0"/>
              <a:ea typeface="隶书" panose="02010509060101010101" pitchFamily="49" charset="-122"/>
            </a:endParaRPr>
          </a:p>
          <a:p>
            <a:pPr>
              <a:spcBef>
                <a:spcPct val="50000"/>
              </a:spcBef>
              <a:buFont typeface="Wingdings" panose="05000000000000000000" pitchFamily="2" charset="2"/>
              <a:buChar char="Ø"/>
            </a:pPr>
            <a:r>
              <a:rPr lang="zh-CN" altLang="en-US" sz="2400" b="1" u="none" dirty="0">
                <a:solidFill>
                  <a:srgbClr val="000000"/>
                </a:solidFill>
                <a:latin typeface="Arial" panose="020B0604020202020204" pitchFamily="34" charset="0"/>
                <a:ea typeface="隶书" panose="02010509060101010101" pitchFamily="49" charset="-122"/>
              </a:rPr>
              <a:t>金属键无饱和性和无方向性，使金属内部的原子趋于紧密排列，构成高度对称性的简单晶体结构；</a:t>
            </a:r>
            <a:endParaRPr lang="zh-CN" altLang="en-US" sz="2400" b="1" u="none" dirty="0">
              <a:solidFill>
                <a:srgbClr val="000000"/>
              </a:solidFill>
              <a:latin typeface="Arial" panose="020B0604020202020204" pitchFamily="34" charset="0"/>
              <a:ea typeface="隶书" panose="02010509060101010101" pitchFamily="49" charset="-122"/>
            </a:endParaRPr>
          </a:p>
          <a:p>
            <a:pPr>
              <a:spcBef>
                <a:spcPct val="50000"/>
              </a:spcBef>
              <a:buFont typeface="Wingdings" panose="05000000000000000000" pitchFamily="2" charset="2"/>
              <a:buChar char="Ø"/>
            </a:pPr>
            <a:r>
              <a:rPr lang="zh-CN" altLang="en-US" sz="2400" b="1" u="none" dirty="0">
                <a:solidFill>
                  <a:srgbClr val="000000"/>
                </a:solidFill>
                <a:latin typeface="Arial" panose="020B0604020202020204" pitchFamily="34" charset="0"/>
                <a:ea typeface="隶书" panose="02010509060101010101" pitchFamily="49" charset="-122"/>
              </a:rPr>
              <a:t>亚金属晶体的主要结合键为共价键，共价键有方向性，使其具有较复杂的晶体结构。</a:t>
            </a:r>
            <a:endParaRPr lang="zh-CN" altLang="en-US" sz="2400" b="1" u="none" dirty="0">
              <a:solidFill>
                <a:srgbClr val="000000"/>
              </a:solidFill>
              <a:latin typeface="Arial" panose="020B0604020202020204" pitchFamily="34" charset="0"/>
              <a:ea typeface="隶书" panose="02010509060101010101" pitchFamily="49" charset="-122"/>
            </a:endParaRPr>
          </a:p>
        </p:txBody>
      </p:sp>
      <p:sp>
        <p:nvSpPr>
          <p:cNvPr id="9" name="文本占位符 106500"/>
          <p:cNvSpPr>
            <a:spLocks noGrp="1"/>
          </p:cNvSpPr>
          <p:nvPr/>
        </p:nvSpPr>
        <p:spPr>
          <a:xfrm>
            <a:off x="428596" y="3000378"/>
            <a:ext cx="3000396" cy="2000264"/>
          </a:xfrm>
          <a:prstGeom prst="rect">
            <a:avLst/>
          </a:prstGeom>
          <a:noFill/>
          <a:ln w="19050">
            <a:solidFill>
              <a:schemeClr val="tx1"/>
            </a:solidFill>
            <a:prstDash val="dash"/>
          </a:ln>
        </p:spPr>
        <p:txBody>
          <a:bodyPr/>
          <a:lstStyle>
            <a:lvl1pPr marL="342900" lvl="0" indent="-3429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sz="28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tx1"/>
              </a:buClr>
              <a:buSzPct val="75000"/>
              <a:buFontTx/>
              <a:buChar char="–"/>
              <a:defRPr sz="24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sz="20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1"/>
              </a:buClr>
              <a:buSzPct val="80000"/>
              <a:buFontTx/>
              <a:buChar char="–"/>
              <a:defRPr sz="18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9pPr>
          </a:lstStyle>
          <a:p>
            <a:pPr>
              <a:buNone/>
            </a:pPr>
            <a:r>
              <a:rPr lang="zh-CN" altLang="en-US" sz="2400" b="1" dirty="0" smtClean="0">
                <a:solidFill>
                  <a:srgbClr val="000000"/>
                </a:solidFill>
                <a:latin typeface="Arial" panose="020B0604020202020204" pitchFamily="34" charset="0"/>
                <a:ea typeface="隶书" panose="02010509060101010101" pitchFamily="49" charset="-122"/>
              </a:rPr>
              <a:t>常见金属晶体结构：</a:t>
            </a:r>
            <a:endParaRPr lang="en-US" altLang="zh-CN" sz="2400" b="1" dirty="0" smtClean="0">
              <a:solidFill>
                <a:srgbClr val="000000"/>
              </a:solidFill>
              <a:latin typeface="Arial" panose="020B0604020202020204" pitchFamily="34" charset="0"/>
              <a:ea typeface="隶书" panose="02010509060101010101" pitchFamily="49" charset="-122"/>
            </a:endParaRPr>
          </a:p>
          <a:p>
            <a:pPr>
              <a:buFont typeface="Wingdings" panose="05000000000000000000" pitchFamily="2" charset="2"/>
              <a:buChar char="Ø"/>
            </a:pPr>
            <a:r>
              <a:rPr lang="zh-CN" altLang="en-US" sz="2400" b="1" dirty="0" smtClean="0">
                <a:solidFill>
                  <a:srgbClr val="000000"/>
                </a:solidFill>
                <a:latin typeface="Arial" panose="020B0604020202020204" pitchFamily="34" charset="0"/>
                <a:ea typeface="隶书" panose="02010509060101010101" pitchFamily="49" charset="-122"/>
              </a:rPr>
              <a:t>面</a:t>
            </a:r>
            <a:r>
              <a:rPr lang="zh-CN" altLang="en-US" sz="2400" b="1" dirty="0">
                <a:solidFill>
                  <a:srgbClr val="000000"/>
                </a:solidFill>
                <a:latin typeface="Arial" panose="020B0604020202020204" pitchFamily="34" charset="0"/>
                <a:ea typeface="隶书" panose="02010509060101010101" pitchFamily="49" charset="-122"/>
              </a:rPr>
              <a:t>心立方</a:t>
            </a:r>
            <a:r>
              <a:rPr lang="zh-CN" altLang="en-US" sz="2400" b="1" dirty="0" smtClean="0">
                <a:solidFill>
                  <a:srgbClr val="000000"/>
                </a:solidFill>
                <a:latin typeface="Arial" panose="020B0604020202020204" pitchFamily="34" charset="0"/>
                <a:ea typeface="隶书" panose="02010509060101010101" pitchFamily="49" charset="-122"/>
              </a:rPr>
              <a:t>结构</a:t>
            </a:r>
            <a:endParaRPr lang="en-US" altLang="zh-CN" sz="2400" b="1" dirty="0" smtClean="0">
              <a:solidFill>
                <a:srgbClr val="000000"/>
              </a:solidFill>
              <a:latin typeface="Arial" panose="020B0604020202020204" pitchFamily="34" charset="0"/>
              <a:ea typeface="隶书" panose="02010509060101010101" pitchFamily="49" charset="-122"/>
            </a:endParaRPr>
          </a:p>
          <a:p>
            <a:pPr>
              <a:buFont typeface="Wingdings" panose="05000000000000000000" pitchFamily="2" charset="2"/>
              <a:buChar char="Ø"/>
            </a:pPr>
            <a:r>
              <a:rPr lang="zh-CN" altLang="en-US" sz="2400" b="1" dirty="0" smtClean="0">
                <a:solidFill>
                  <a:srgbClr val="000000"/>
                </a:solidFill>
                <a:latin typeface="Arial" panose="020B0604020202020204" pitchFamily="34" charset="0"/>
                <a:ea typeface="隶书" panose="02010509060101010101" pitchFamily="49" charset="-122"/>
              </a:rPr>
              <a:t>体</a:t>
            </a:r>
            <a:r>
              <a:rPr lang="zh-CN" altLang="en-US" sz="2400" b="1" dirty="0">
                <a:solidFill>
                  <a:srgbClr val="000000"/>
                </a:solidFill>
                <a:latin typeface="Arial" panose="020B0604020202020204" pitchFamily="34" charset="0"/>
                <a:ea typeface="隶书" panose="02010509060101010101" pitchFamily="49" charset="-122"/>
              </a:rPr>
              <a:t>心立方</a:t>
            </a:r>
            <a:r>
              <a:rPr lang="zh-CN" altLang="en-US" sz="2400" b="1" dirty="0" smtClean="0">
                <a:solidFill>
                  <a:srgbClr val="000000"/>
                </a:solidFill>
                <a:latin typeface="Arial" panose="020B0604020202020204" pitchFamily="34" charset="0"/>
                <a:ea typeface="隶书" panose="02010509060101010101" pitchFamily="49" charset="-122"/>
              </a:rPr>
              <a:t>结构</a:t>
            </a:r>
            <a:endParaRPr lang="en-US" altLang="zh-CN" sz="2400" b="1" dirty="0" smtClean="0">
              <a:solidFill>
                <a:srgbClr val="000000"/>
              </a:solidFill>
              <a:latin typeface="Arial" panose="020B0604020202020204" pitchFamily="34" charset="0"/>
              <a:ea typeface="隶书" panose="02010509060101010101" pitchFamily="49" charset="-122"/>
            </a:endParaRPr>
          </a:p>
          <a:p>
            <a:pPr>
              <a:buFont typeface="Wingdings" panose="05000000000000000000" pitchFamily="2" charset="2"/>
              <a:buChar char="Ø"/>
            </a:pPr>
            <a:r>
              <a:rPr lang="zh-CN" altLang="en-US" sz="2400" b="1" dirty="0" smtClean="0">
                <a:solidFill>
                  <a:srgbClr val="000000"/>
                </a:solidFill>
                <a:latin typeface="Arial" panose="020B0604020202020204" pitchFamily="34" charset="0"/>
                <a:ea typeface="隶书" panose="02010509060101010101" pitchFamily="49" charset="-122"/>
              </a:rPr>
              <a:t>密排六方结构  </a:t>
            </a:r>
            <a:endParaRPr lang="zh-CN" altLang="en-US" sz="2400" b="1" dirty="0">
              <a:solidFill>
                <a:srgbClr val="000000"/>
              </a:solidFill>
              <a:latin typeface="Arial" panose="020B0604020202020204" pitchFamily="34" charset="0"/>
              <a:ea typeface="隶书" panose="02010509060101010101" pitchFamily="49" charset="-122"/>
            </a:endParaRPr>
          </a:p>
          <a:p>
            <a:pPr>
              <a:buNone/>
            </a:pPr>
            <a:r>
              <a:rPr lang="zh-CN" altLang="en-US" sz="2400" b="1" dirty="0"/>
              <a:t>          </a:t>
            </a:r>
            <a:endParaRPr lang="zh-CN" altLang="en-US" sz="2400" b="1" dirty="0"/>
          </a:p>
        </p:txBody>
      </p:sp>
      <p:sp>
        <p:nvSpPr>
          <p:cNvPr id="10" name="文本占位符 106500"/>
          <p:cNvSpPr>
            <a:spLocks noGrp="1"/>
          </p:cNvSpPr>
          <p:nvPr/>
        </p:nvSpPr>
        <p:spPr>
          <a:xfrm>
            <a:off x="3643306" y="3000378"/>
            <a:ext cx="5214974" cy="2000264"/>
          </a:xfrm>
          <a:prstGeom prst="rect">
            <a:avLst/>
          </a:prstGeom>
          <a:noFill/>
          <a:ln w="19050">
            <a:solidFill>
              <a:schemeClr val="tx1"/>
            </a:solidFill>
            <a:prstDash val="dash"/>
          </a:ln>
        </p:spPr>
        <p:txBody>
          <a:bodyPr/>
          <a:lstStyle>
            <a:lvl1pPr marL="342900" lvl="0" indent="-3429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sz="28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tx1"/>
              </a:buClr>
              <a:buSzPct val="75000"/>
              <a:buFontTx/>
              <a:buChar char="–"/>
              <a:defRPr sz="24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l"/>
              <a:defRPr sz="20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1"/>
              </a:buClr>
              <a:buSzPct val="80000"/>
              <a:buFontTx/>
              <a:buChar char="–"/>
              <a:defRPr sz="18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tx1"/>
              </a:buClr>
              <a:buSzPct val="65000"/>
              <a:buFont typeface="Wingdings" panose="05000000000000000000" pitchFamily="2" charset="2"/>
              <a:buChar char="l"/>
              <a:defRPr sz="1800" b="0" i="0" u="none" kern="1200" baseline="0">
                <a:solidFill>
                  <a:schemeClr val="tx1"/>
                </a:solidFill>
                <a:latin typeface="+mn-lt"/>
                <a:ea typeface="+mn-ea"/>
                <a:cs typeface="+mn-cs"/>
              </a:defRPr>
            </a:lvl9pPr>
          </a:lstStyle>
          <a:p>
            <a:pPr marL="0" algn="just">
              <a:lnSpc>
                <a:spcPct val="130000"/>
              </a:lnSpc>
              <a:buNone/>
            </a:pPr>
            <a:r>
              <a:rPr lang="zh-CN" altLang="en-US" sz="2400" b="1" dirty="0" smtClean="0">
                <a:solidFill>
                  <a:srgbClr val="FF0000"/>
                </a:solidFill>
                <a:latin typeface="Arial" panose="020B0604020202020204" pitchFamily="34" charset="0"/>
                <a:ea typeface="隶书" panose="02010509060101010101" pitchFamily="49" charset="-122"/>
              </a:rPr>
              <a:t>不同晶体结构的金属往往具有不同的性能</a:t>
            </a:r>
            <a:r>
              <a:rPr lang="zh-CN" altLang="en-US" sz="2400" b="1" dirty="0" smtClean="0">
                <a:solidFill>
                  <a:srgbClr val="000000"/>
                </a:solidFill>
                <a:latin typeface="Arial" panose="020B0604020202020204" pitchFamily="34" charset="0"/>
                <a:ea typeface="隶书" panose="02010509060101010101" pitchFamily="49" charset="-122"/>
              </a:rPr>
              <a:t>，这里主要</a:t>
            </a:r>
            <a:r>
              <a:rPr lang="zh-CN" altLang="en-US" sz="2400" b="1" dirty="0">
                <a:solidFill>
                  <a:srgbClr val="000000"/>
                </a:solidFill>
                <a:latin typeface="Arial" panose="020B0604020202020204" pitchFamily="34" charset="0"/>
                <a:ea typeface="隶书" panose="02010509060101010101" pitchFamily="49" charset="-122"/>
              </a:rPr>
              <a:t>讨论原子的排列方式、晶胞内原子数、点阵常数、原子半径、原子配位数、致密度和原子间隙大小</a:t>
            </a:r>
            <a:r>
              <a:rPr lang="zh-CN" altLang="en-US" sz="2400" b="1" dirty="0"/>
              <a:t>。</a:t>
            </a:r>
            <a:endParaRPr lang="zh-CN" altLang="en-US" sz="2400" b="1" dirty="0"/>
          </a:p>
          <a:p>
            <a:pPr>
              <a:buNone/>
            </a:pPr>
            <a:r>
              <a:rPr lang="zh-CN" altLang="en-US" sz="2400" b="1" dirty="0"/>
              <a:t>           </a:t>
            </a:r>
            <a:endParaRPr lang="zh-CN" altLang="en-U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1——</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标题 108545"/>
          <p:cNvSpPr>
            <a:spLocks noGrp="1"/>
          </p:cNvSpPr>
          <p:nvPr/>
        </p:nvSpPr>
        <p:spPr>
          <a:xfrm>
            <a:off x="571472" y="642924"/>
            <a:ext cx="7924800" cy="503237"/>
          </a:xfrm>
          <a:prstGeom prst="roundRect">
            <a:avLst>
              <a:gd name="adj" fmla="val 21667"/>
            </a:avLst>
          </a:prstGeom>
          <a:noFill/>
          <a:ln w="9525">
            <a:noFill/>
          </a:ln>
        </p:spPr>
        <p:txBody>
          <a:bodyPr anchor="b" anchorCtr="0"/>
          <a:lstStyle>
            <a:lvl1pPr marL="0" lvl="0" indent="0" algn="l" defTabSz="914400" rtl="0" eaLnBrk="1" fontAlgn="base" latinLnBrk="0" hangingPunct="1">
              <a:lnSpc>
                <a:spcPct val="90000"/>
              </a:lnSpc>
              <a:spcBef>
                <a:spcPct val="0"/>
              </a:spcBef>
              <a:spcAft>
                <a:spcPct val="0"/>
              </a:spcAft>
              <a:buNone/>
              <a:defRPr sz="3600" b="1" i="0" u="none" kern="1200" baseline="0">
                <a:solidFill>
                  <a:schemeClr val="tx2"/>
                </a:solidFill>
                <a:latin typeface="+mj-lt"/>
                <a:ea typeface="+mj-ea"/>
                <a:cs typeface="+mj-cs"/>
              </a:defRPr>
            </a:lvl1pPr>
          </a:lstStyle>
          <a:p>
            <a:r>
              <a:rPr lang="en-US" altLang="zh-CN" sz="3200" dirty="0">
                <a:solidFill>
                  <a:srgbClr val="000099"/>
                </a:solidFill>
              </a:rPr>
              <a:t>1</a:t>
            </a:r>
            <a:r>
              <a:rPr lang="zh-CN" altLang="en-US" sz="3200" dirty="0">
                <a:solidFill>
                  <a:srgbClr val="000099"/>
                </a:solidFill>
              </a:rPr>
              <a:t>、原子排列方式</a:t>
            </a:r>
            <a:endParaRPr lang="zh-CN" altLang="en-US" sz="3200" dirty="0">
              <a:solidFill>
                <a:srgbClr val="000099"/>
              </a:solidFill>
            </a:endParaRPr>
          </a:p>
        </p:txBody>
      </p:sp>
      <p:sp>
        <p:nvSpPr>
          <p:cNvPr id="9" name="矩形 8"/>
          <p:cNvSpPr/>
          <p:nvPr/>
        </p:nvSpPr>
        <p:spPr>
          <a:xfrm>
            <a:off x="1073124" y="2076443"/>
            <a:ext cx="7200900" cy="1295400"/>
          </a:xfrm>
          <a:prstGeom prst="rect">
            <a:avLst/>
          </a:prstGeom>
          <a:noFill/>
          <a:ln w="9525">
            <a:noFill/>
          </a:ln>
        </p:spPr>
        <p:txBody>
          <a:bodyPr lIns="92075" tIns="46038" rIns="92075" bIns="46038" anchor="ctr" anchorCtr="0"/>
          <a:lstStyle>
            <a:lvl1pPr marL="0" lvl="0" indent="0" algn="ctr" defTabSz="914400" rtl="0" eaLnBrk="1" fontAlgn="base" latinLnBrk="0" hangingPunct="1">
              <a:lnSpc>
                <a:spcPct val="90000"/>
              </a:lnSpc>
              <a:spcBef>
                <a:spcPct val="0"/>
              </a:spcBef>
              <a:spcAft>
                <a:spcPct val="0"/>
              </a:spcAft>
              <a:buClrTx/>
              <a:buSzTx/>
              <a:buFontTx/>
              <a:buNone/>
              <a:defRPr sz="3600" b="1" u="none" kern="1200" baseline="0">
                <a:solidFill>
                  <a:schemeClr val="tx1"/>
                </a:solidFill>
                <a:latin typeface="Arial" panose="020B0604020202020204" pitchFamily="34" charset="0"/>
                <a:ea typeface="宋体" panose="02010600030101010101" pitchFamily="2" charset="-122"/>
              </a:defRPr>
            </a:lvl1pPr>
          </a:lstStyle>
          <a:p>
            <a:pPr lvl="0" algn="l">
              <a:lnSpc>
                <a:spcPct val="150000"/>
              </a:lnSpc>
            </a:pPr>
            <a:r>
              <a:rPr lang="zh-CN" altLang="en-US" sz="2400" b="0" dirty="0">
                <a:latin typeface="隶书" panose="02010509060101010101" pitchFamily="49" charset="-122"/>
                <a:ea typeface="隶书" panose="02010509060101010101" pitchFamily="49" charset="-122"/>
              </a:rPr>
              <a:t>① </a:t>
            </a:r>
            <a:r>
              <a:rPr lang="zh-CN" altLang="en-US" sz="2400" dirty="0">
                <a:latin typeface="隶书" panose="02010509060101010101" pitchFamily="49" charset="-122"/>
                <a:ea typeface="隶书" panose="02010509060101010101" pitchFamily="49" charset="-122"/>
              </a:rPr>
              <a:t>单一质点的等大球体最紧密堆积，如纯金属晶体。</a:t>
            </a:r>
            <a:br>
              <a:rPr lang="zh-CN" altLang="en-US" sz="2400" dirty="0">
                <a:latin typeface="隶书" panose="02010509060101010101" pitchFamily="49" charset="-122"/>
                <a:ea typeface="隶书" panose="02010509060101010101" pitchFamily="49" charset="-122"/>
              </a:rPr>
            </a:br>
            <a:r>
              <a:rPr lang="zh-CN" altLang="en-US" sz="2400" b="0" dirty="0">
                <a:latin typeface="隶书" panose="02010509060101010101" pitchFamily="49" charset="-122"/>
                <a:ea typeface="隶书" panose="02010509060101010101" pitchFamily="49" charset="-122"/>
              </a:rPr>
              <a:t>②</a:t>
            </a:r>
            <a:r>
              <a:rPr lang="zh-CN" altLang="en-US" sz="2400" dirty="0">
                <a:latin typeface="隶书" panose="02010509060101010101" pitchFamily="49" charset="-122"/>
                <a:ea typeface="隶书" panose="02010509060101010101" pitchFamily="49" charset="-122"/>
              </a:rPr>
              <a:t> 几种质点的不等大球体的紧密堆积，如离子晶体。</a:t>
            </a:r>
            <a:endParaRPr lang="zh-CN" altLang="en-US" sz="2400" dirty="0">
              <a:latin typeface="隶书" panose="02010509060101010101" pitchFamily="49" charset="-122"/>
              <a:ea typeface="隶书" panose="02010509060101010101" pitchFamily="49" charset="-122"/>
            </a:endParaRPr>
          </a:p>
        </p:txBody>
      </p:sp>
      <p:sp>
        <p:nvSpPr>
          <p:cNvPr id="10" name="矩形 9"/>
          <p:cNvSpPr/>
          <p:nvPr/>
        </p:nvSpPr>
        <p:spPr>
          <a:xfrm>
            <a:off x="785786" y="1428742"/>
            <a:ext cx="5761038" cy="519113"/>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none" dirty="0">
                <a:solidFill>
                  <a:srgbClr val="FF0000"/>
                </a:solidFill>
                <a:latin typeface="Arial" panose="020B0604020202020204" pitchFamily="34" charset="0"/>
              </a:rPr>
              <a:t>1</a:t>
            </a:r>
            <a:r>
              <a:rPr lang="zh-CN" altLang="en-US" sz="2800" b="1" u="none" dirty="0">
                <a:solidFill>
                  <a:srgbClr val="FF0000"/>
                </a:solidFill>
                <a:latin typeface="Arial" panose="020B0604020202020204" pitchFamily="34" charset="0"/>
              </a:rPr>
              <a:t>） </a:t>
            </a:r>
            <a:r>
              <a:rPr lang="zh-CN" altLang="en-US" b="1" u="none" dirty="0">
                <a:solidFill>
                  <a:srgbClr val="FF0000"/>
                </a:solidFill>
                <a:latin typeface="Arial" panose="020B0604020202020204" pitchFamily="34" charset="0"/>
              </a:rPr>
              <a:t>   </a:t>
            </a:r>
            <a:r>
              <a:rPr lang="zh-CN" altLang="en-US" sz="2800" b="1" u="sng" dirty="0">
                <a:solidFill>
                  <a:srgbClr val="FF0000"/>
                </a:solidFill>
                <a:latin typeface="Arial" panose="020B0604020202020204" pitchFamily="34" charset="0"/>
              </a:rPr>
              <a:t>球体的紧密堆积</a:t>
            </a:r>
            <a:endParaRPr lang="zh-CN" altLang="en-US" sz="2800" b="1" u="sng" dirty="0">
              <a:solidFill>
                <a:srgbClr val="FF0000"/>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1——</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413544" y="1339056"/>
            <a:ext cx="5400675" cy="3414713"/>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nSpc>
                <a:spcPct val="130000"/>
              </a:lnSpc>
            </a:pPr>
            <a:r>
              <a:rPr lang="zh-CN" altLang="en-US" sz="2400" b="1" u="none" dirty="0">
                <a:latin typeface="Arial" panose="020B0604020202020204" pitchFamily="34" charset="0"/>
              </a:rPr>
              <a:t>等大球体的最紧密排列平面有如</a:t>
            </a:r>
            <a:br>
              <a:rPr lang="zh-CN" altLang="en-US" sz="2400" b="1" u="none" dirty="0">
                <a:latin typeface="Arial" panose="020B0604020202020204" pitchFamily="34" charset="0"/>
              </a:rPr>
            </a:br>
            <a:r>
              <a:rPr lang="zh-CN" altLang="en-US" sz="2400" b="1" u="none" dirty="0">
                <a:latin typeface="Arial" panose="020B0604020202020204" pitchFamily="34" charset="0"/>
              </a:rPr>
              <a:t>图的形式。在</a:t>
            </a:r>
            <a:r>
              <a:rPr lang="en-US" altLang="zh-CN" sz="2400" u="none" dirty="0">
                <a:latin typeface="Arial" panose="020B0604020202020204" pitchFamily="34" charset="0"/>
              </a:rPr>
              <a:t>A</a:t>
            </a:r>
            <a:r>
              <a:rPr lang="zh-CN" altLang="en-US" sz="2400" b="1" u="none" dirty="0">
                <a:latin typeface="Arial" panose="020B0604020202020204" pitchFamily="34" charset="0"/>
              </a:rPr>
              <a:t>球的周围有六个</a:t>
            </a:r>
            <a:br>
              <a:rPr lang="zh-CN" altLang="en-US" sz="2400" b="1" u="none" dirty="0">
                <a:latin typeface="Arial" panose="020B0604020202020204" pitchFamily="34" charset="0"/>
              </a:rPr>
            </a:br>
            <a:r>
              <a:rPr lang="zh-CN" altLang="en-US" sz="2400" b="1" u="none" dirty="0">
                <a:latin typeface="Arial" panose="020B0604020202020204" pitchFamily="34" charset="0"/>
              </a:rPr>
              <a:t>球相邻接触，每三个球围成一个</a:t>
            </a:r>
            <a:br>
              <a:rPr lang="zh-CN" altLang="en-US" sz="2400" b="1" u="none" dirty="0">
                <a:latin typeface="Arial" panose="020B0604020202020204" pitchFamily="34" charset="0"/>
              </a:rPr>
            </a:br>
            <a:r>
              <a:rPr lang="zh-CN" altLang="en-US" sz="2400" b="1" u="none" dirty="0">
                <a:latin typeface="Arial" panose="020B0604020202020204" pitchFamily="34" charset="0"/>
              </a:rPr>
              <a:t>空隙。其中一半是尖角向下的</a:t>
            </a:r>
            <a:r>
              <a:rPr lang="en-US" altLang="zh-CN" sz="2400" u="none" dirty="0">
                <a:latin typeface="Arial" panose="020B0604020202020204" pitchFamily="34" charset="0"/>
              </a:rPr>
              <a:t>B</a:t>
            </a:r>
            <a:br>
              <a:rPr lang="en-US" altLang="zh-CN" sz="2400" b="1" u="none" dirty="0">
                <a:latin typeface="Arial" panose="020B0604020202020204" pitchFamily="34" charset="0"/>
              </a:rPr>
            </a:br>
            <a:r>
              <a:rPr lang="zh-CN" altLang="en-US" sz="2400" b="1" u="none" dirty="0">
                <a:latin typeface="Arial" panose="020B0604020202020204" pitchFamily="34" charset="0"/>
              </a:rPr>
              <a:t>空隙，另一半是尖角向上的</a:t>
            </a:r>
            <a:r>
              <a:rPr lang="en-US" altLang="zh-CN" sz="2400" u="none" dirty="0">
                <a:latin typeface="Arial" panose="020B0604020202020204" pitchFamily="34" charset="0"/>
              </a:rPr>
              <a:t>C</a:t>
            </a:r>
            <a:r>
              <a:rPr lang="zh-CN" altLang="en-US" sz="2400" b="1" u="none" dirty="0">
                <a:latin typeface="Arial" panose="020B0604020202020204" pitchFamily="34" charset="0"/>
              </a:rPr>
              <a:t>空</a:t>
            </a:r>
            <a:br>
              <a:rPr lang="zh-CN" altLang="en-US" sz="2400" b="1" u="none" dirty="0">
                <a:latin typeface="Arial" panose="020B0604020202020204" pitchFamily="34" charset="0"/>
              </a:rPr>
            </a:br>
            <a:r>
              <a:rPr lang="zh-CN" altLang="en-US" sz="2400" b="1" u="none" dirty="0">
                <a:latin typeface="Arial" panose="020B0604020202020204" pitchFamily="34" charset="0"/>
              </a:rPr>
              <a:t>隙，两种空隙相间分布。 </a:t>
            </a:r>
            <a:br>
              <a:rPr lang="zh-CN" altLang="en-US" sz="2400" b="1" u="none" dirty="0">
                <a:latin typeface="Arial" panose="020B0604020202020204" pitchFamily="34" charset="0"/>
              </a:rPr>
            </a:br>
            <a:endParaRPr lang="zh-CN" altLang="en-US" sz="2400" b="1" u="none" dirty="0">
              <a:latin typeface="Arial" panose="020B0604020202020204" pitchFamily="34" charset="0"/>
            </a:endParaRPr>
          </a:p>
        </p:txBody>
      </p:sp>
      <p:sp>
        <p:nvSpPr>
          <p:cNvPr id="9" name="矩形 8"/>
          <p:cNvSpPr/>
          <p:nvPr/>
        </p:nvSpPr>
        <p:spPr>
          <a:xfrm>
            <a:off x="500034" y="785800"/>
            <a:ext cx="4608512"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sng" dirty="0">
                <a:solidFill>
                  <a:srgbClr val="FF0000"/>
                </a:solidFill>
                <a:latin typeface="Arial" panose="020B0604020202020204" pitchFamily="34" charset="0"/>
              </a:rPr>
              <a:t>A</a:t>
            </a:r>
            <a:r>
              <a:rPr lang="zh-CN" altLang="en-US" sz="2800" b="1" u="none" dirty="0">
                <a:solidFill>
                  <a:srgbClr val="FF0000"/>
                </a:solidFill>
                <a:latin typeface="Arial" panose="020B0604020202020204" pitchFamily="34" charset="0"/>
              </a:rPr>
              <a:t>．</a:t>
            </a:r>
            <a:r>
              <a:rPr lang="zh-CN" altLang="en-US" sz="2800" b="1" u="sng" dirty="0">
                <a:solidFill>
                  <a:srgbClr val="FF0000"/>
                </a:solidFill>
                <a:latin typeface="Arial" panose="020B0604020202020204" pitchFamily="34" charset="0"/>
              </a:rPr>
              <a:t>等大球体的最紧密堆积</a:t>
            </a:r>
            <a:endParaRPr lang="zh-CN" altLang="en-US" sz="2800" b="1" u="sng" dirty="0">
              <a:solidFill>
                <a:srgbClr val="FF0000"/>
              </a:solidFill>
              <a:latin typeface="Arial" panose="020B0604020202020204" pitchFamily="34" charset="0"/>
            </a:endParaRPr>
          </a:p>
        </p:txBody>
      </p:sp>
      <p:grpSp>
        <p:nvGrpSpPr>
          <p:cNvPr id="10" name="组合 9"/>
          <p:cNvGrpSpPr/>
          <p:nvPr/>
        </p:nvGrpSpPr>
        <p:grpSpPr>
          <a:xfrm>
            <a:off x="5139531" y="1123156"/>
            <a:ext cx="3590925" cy="3905251"/>
            <a:chOff x="2160" y="1494"/>
            <a:chExt cx="2700" cy="3066"/>
          </a:xfrm>
        </p:grpSpPr>
        <p:pic>
          <p:nvPicPr>
            <p:cNvPr id="11" name="图片 10"/>
            <p:cNvPicPr>
              <a:picLocks noChangeAspect="1"/>
            </p:cNvPicPr>
            <p:nvPr/>
          </p:nvPicPr>
          <p:blipFill>
            <a:blip r:embed="rId3" cstate="print"/>
            <a:stretch>
              <a:fillRect/>
            </a:stretch>
          </p:blipFill>
          <p:spPr>
            <a:xfrm>
              <a:off x="2325" y="1494"/>
              <a:ext cx="2295" cy="2130"/>
            </a:xfrm>
            <a:prstGeom prst="rect">
              <a:avLst/>
            </a:prstGeom>
            <a:noFill/>
            <a:ln w="9525">
              <a:noFill/>
            </a:ln>
          </p:spPr>
        </p:pic>
        <p:sp>
          <p:nvSpPr>
            <p:cNvPr id="13" name="矩形 12"/>
            <p:cNvSpPr/>
            <p:nvPr/>
          </p:nvSpPr>
          <p:spPr>
            <a:xfrm>
              <a:off x="2160" y="3780"/>
              <a:ext cx="2700" cy="780"/>
            </a:xfrm>
            <a:prstGeom prst="rect">
              <a:avLst/>
            </a:prstGeom>
            <a:no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eaLnBrk="0" hangingPunct="0"/>
              <a:r>
                <a:rPr lang="zh-CN" altLang="en-US" u="none" dirty="0">
                  <a:latin typeface="隶书" panose="02010509060101010101" pitchFamily="49" charset="-122"/>
                  <a:ea typeface="隶书" panose="02010509060101010101" pitchFamily="49" charset="-122"/>
                </a:rPr>
                <a:t>等大球体平面内的最</a:t>
              </a:r>
              <a:endParaRPr lang="zh-CN" altLang="en-US" u="none" dirty="0">
                <a:latin typeface="隶书" panose="02010509060101010101" pitchFamily="49" charset="-122"/>
                <a:ea typeface="隶书" panose="02010509060101010101" pitchFamily="49" charset="-122"/>
              </a:endParaRPr>
            </a:p>
            <a:p>
              <a:pPr algn="ctr" eaLnBrk="0" hangingPunct="0"/>
              <a:r>
                <a:rPr lang="zh-CN" altLang="en-US" u="none" dirty="0">
                  <a:latin typeface="隶书" panose="02010509060101010101" pitchFamily="49" charset="-122"/>
                  <a:ea typeface="隶书" panose="02010509060101010101" pitchFamily="49" charset="-122"/>
                </a:rPr>
                <a:t>紧密排列及空隙</a:t>
              </a:r>
              <a:endParaRPr lang="zh-CN" altLang="en-US" u="none" dirty="0">
                <a:latin typeface="隶书" panose="02010509060101010101" pitchFamily="49" charset="-122"/>
                <a:ea typeface="隶书" panose="02010509060101010101" pitchFamily="49"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1——</a:t>
            </a:r>
            <a:r>
              <a:rPr lang="zh-CN" altLang="en-US" sz="2400" b="1" dirty="0" smtClean="0">
                <a:solidFill>
                  <a:srgbClr val="000000"/>
                </a:solidFill>
              </a:rPr>
              <a:t>金属的晶体结构</a:t>
            </a:r>
            <a:endParaRPr lang="zh-CN" altLang="en-US" sz="2400" b="1" dirty="0">
              <a:solidFill>
                <a:srgbClr val="000000"/>
              </a:solidFill>
            </a:endParaRPr>
          </a:p>
        </p:txBody>
      </p:sp>
      <p:sp>
        <p:nvSpPr>
          <p:cNvPr id="9" name="矩形 8"/>
          <p:cNvSpPr/>
          <p:nvPr/>
        </p:nvSpPr>
        <p:spPr>
          <a:xfrm>
            <a:off x="571472" y="642924"/>
            <a:ext cx="3398837" cy="5191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sng" dirty="0">
                <a:solidFill>
                  <a:srgbClr val="FF3399"/>
                </a:solidFill>
                <a:latin typeface="Arial" panose="020B0604020202020204" pitchFamily="34" charset="0"/>
                <a:ea typeface="黑体" panose="02010609060101010101" charset="-122"/>
              </a:rPr>
              <a:t>第二层堆积的特征</a:t>
            </a:r>
            <a:r>
              <a:rPr lang="zh-CN" altLang="en-US" sz="2800" b="1" u="none" dirty="0">
                <a:solidFill>
                  <a:srgbClr val="FF3399"/>
                </a:solidFill>
                <a:latin typeface="Arial" panose="020B0604020202020204" pitchFamily="34" charset="0"/>
                <a:ea typeface="黑体" panose="02010609060101010101" charset="-122"/>
              </a:rPr>
              <a:t>：</a:t>
            </a:r>
            <a:endParaRPr lang="zh-CN" altLang="en-US" sz="2800" b="1" u="none" dirty="0">
              <a:solidFill>
                <a:srgbClr val="FF3399"/>
              </a:solidFill>
              <a:latin typeface="Arial" panose="020B0604020202020204" pitchFamily="34" charset="0"/>
              <a:ea typeface="黑体" panose="02010609060101010101" charset="-122"/>
            </a:endParaRPr>
          </a:p>
        </p:txBody>
      </p:sp>
      <p:sp>
        <p:nvSpPr>
          <p:cNvPr id="10" name="矩形 9"/>
          <p:cNvSpPr/>
          <p:nvPr/>
        </p:nvSpPr>
        <p:spPr>
          <a:xfrm>
            <a:off x="571472" y="1214428"/>
            <a:ext cx="4643469" cy="3416320"/>
          </a:xfrm>
          <a:prstGeom prst="rect">
            <a:avLst/>
          </a:prstGeom>
          <a:noFill/>
          <a:ln w="12700">
            <a:noFill/>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u="none" dirty="0">
                <a:latin typeface="隶书" panose="02010509060101010101" pitchFamily="49" charset="-122"/>
                <a:ea typeface="隶书" panose="02010509060101010101" pitchFamily="49" charset="-122"/>
              </a:rPr>
              <a:t>● </a:t>
            </a:r>
            <a:r>
              <a:rPr lang="zh-CN" altLang="en-US" sz="2400" b="1" u="none" dirty="0">
                <a:latin typeface="隶书" panose="02010509060101010101" pitchFamily="49" charset="-122"/>
                <a:ea typeface="隶书" panose="02010509060101010101" pitchFamily="49" charset="-122"/>
              </a:rPr>
              <a:t>第二层的每个球均与第一层中的三个球体相邻接触，</a:t>
            </a:r>
            <a:r>
              <a:rPr lang="zh-CN" altLang="en-US" sz="2400" b="1" u="none" dirty="0" smtClean="0">
                <a:latin typeface="隶书" panose="02010509060101010101" pitchFamily="49" charset="-122"/>
                <a:ea typeface="隶书" panose="02010509060101010101" pitchFamily="49" charset="-122"/>
              </a:rPr>
              <a:t>且要</a:t>
            </a:r>
            <a:r>
              <a:rPr lang="zh-CN" altLang="en-US" sz="2400" b="1" u="none" dirty="0">
                <a:latin typeface="隶书" panose="02010509060101010101" pitchFamily="49" charset="-122"/>
                <a:ea typeface="隶书" panose="02010509060101010101" pitchFamily="49" charset="-122"/>
              </a:rPr>
              <a:t>落在同一类三角形空隙的位置上，如</a:t>
            </a:r>
            <a:r>
              <a:rPr lang="en-US" altLang="zh-CN" sz="2400" u="none" dirty="0">
                <a:latin typeface="隶书" panose="02010509060101010101" pitchFamily="49" charset="-122"/>
                <a:ea typeface="隶书" panose="02010509060101010101" pitchFamily="49" charset="-122"/>
              </a:rPr>
              <a:t>B</a:t>
            </a:r>
            <a:r>
              <a:rPr lang="zh-CN" altLang="en-US" sz="2400" b="1" u="none" dirty="0">
                <a:latin typeface="隶书" panose="02010509060101010101" pitchFamily="49" charset="-122"/>
                <a:ea typeface="隶书" panose="02010509060101010101" pitchFamily="49" charset="-122"/>
              </a:rPr>
              <a:t>空隙位置或</a:t>
            </a:r>
            <a:r>
              <a:rPr lang="en-US" altLang="zh-CN" sz="2400" u="none" dirty="0">
                <a:latin typeface="隶书" panose="02010509060101010101" pitchFamily="49" charset="-122"/>
                <a:ea typeface="隶书" panose="02010509060101010101" pitchFamily="49" charset="-122"/>
              </a:rPr>
              <a:t>C</a:t>
            </a:r>
            <a:r>
              <a:rPr lang="zh-CN" altLang="en-US" sz="2400" b="1" u="none" dirty="0" smtClean="0">
                <a:latin typeface="隶书" panose="02010509060101010101" pitchFamily="49" charset="-122"/>
                <a:ea typeface="隶书" panose="02010509060101010101" pitchFamily="49" charset="-122"/>
              </a:rPr>
              <a:t>空隙</a:t>
            </a:r>
            <a:r>
              <a:rPr lang="zh-CN" altLang="en-US" sz="2400" b="1" u="none" dirty="0">
                <a:latin typeface="隶书" panose="02010509060101010101" pitchFamily="49" charset="-122"/>
                <a:ea typeface="隶书" panose="02010509060101010101" pitchFamily="49" charset="-122"/>
              </a:rPr>
              <a:t>位置，但其结果并不引起本质的差别。</a:t>
            </a:r>
            <a:endParaRPr lang="zh-CN" altLang="en-US" sz="2400" b="1" u="none" dirty="0">
              <a:latin typeface="隶书" panose="02010509060101010101" pitchFamily="49" charset="-122"/>
              <a:ea typeface="隶书" panose="02010509060101010101" pitchFamily="49" charset="-122"/>
            </a:endParaRPr>
          </a:p>
          <a:p>
            <a:r>
              <a:rPr lang="zh-CN" altLang="en-US" sz="2400" u="none" dirty="0">
                <a:solidFill>
                  <a:srgbClr val="FF3399"/>
                </a:solidFill>
                <a:latin typeface="隶书" panose="02010509060101010101" pitchFamily="49" charset="-122"/>
                <a:ea typeface="隶书" panose="02010509060101010101" pitchFamily="49" charset="-122"/>
              </a:rPr>
              <a:t>● </a:t>
            </a:r>
            <a:r>
              <a:rPr lang="zh-CN" altLang="en-US" sz="2400" b="1" u="sng" dirty="0">
                <a:solidFill>
                  <a:srgbClr val="FF3399"/>
                </a:solidFill>
                <a:latin typeface="隶书" panose="02010509060101010101" pitchFamily="49" charset="-122"/>
                <a:ea typeface="隶书" panose="02010509060101010101" pitchFamily="49" charset="-122"/>
              </a:rPr>
              <a:t>第二层上存在着两类不同的空隙，一类是连续穿透两</a:t>
            </a:r>
            <a:r>
              <a:rPr lang="zh-CN" altLang="en-US" sz="2400" b="1" u="sng" dirty="0" smtClean="0">
                <a:solidFill>
                  <a:srgbClr val="FF3399"/>
                </a:solidFill>
                <a:latin typeface="隶书" panose="02010509060101010101" pitchFamily="49" charset="-122"/>
                <a:ea typeface="隶书" panose="02010509060101010101" pitchFamily="49" charset="-122"/>
              </a:rPr>
              <a:t>层的</a:t>
            </a:r>
            <a:r>
              <a:rPr lang="zh-CN" altLang="en-US" sz="2400" b="1" u="sng" dirty="0">
                <a:solidFill>
                  <a:srgbClr val="FF3399"/>
                </a:solidFill>
                <a:latin typeface="隶书" panose="02010509060101010101" pitchFamily="49" charset="-122"/>
                <a:ea typeface="隶书" panose="02010509060101010101" pitchFamily="49" charset="-122"/>
              </a:rPr>
              <a:t>双层空隙，另一类是未穿透两层的单层空隙</a:t>
            </a:r>
            <a:r>
              <a:rPr lang="zh-CN" altLang="en-US" sz="2400" b="1" u="none" dirty="0">
                <a:solidFill>
                  <a:srgbClr val="FF3399"/>
                </a:solidFill>
                <a:latin typeface="隶书" panose="02010509060101010101" pitchFamily="49" charset="-122"/>
                <a:ea typeface="隶书" panose="02010509060101010101" pitchFamily="49" charset="-122"/>
              </a:rPr>
              <a:t>。</a:t>
            </a:r>
            <a:endParaRPr lang="zh-CN" altLang="en-US" sz="2400" b="1" u="none" dirty="0">
              <a:solidFill>
                <a:srgbClr val="FF3399"/>
              </a:solidFill>
              <a:latin typeface="隶书" panose="02010509060101010101" pitchFamily="49" charset="-122"/>
              <a:ea typeface="隶书" panose="02010509060101010101" pitchFamily="49" charset="-122"/>
            </a:endParaRPr>
          </a:p>
        </p:txBody>
      </p:sp>
      <p:pic>
        <p:nvPicPr>
          <p:cNvPr id="1026" name="Picture 2"/>
          <p:cNvPicPr>
            <a:picLocks noChangeAspect="1" noChangeArrowheads="1"/>
          </p:cNvPicPr>
          <p:nvPr/>
        </p:nvPicPr>
        <p:blipFill>
          <a:blip r:embed="rId3" cstate="print"/>
          <a:srcRect/>
          <a:stretch>
            <a:fillRect/>
          </a:stretch>
        </p:blipFill>
        <p:spPr bwMode="auto">
          <a:xfrm>
            <a:off x="5225816" y="1139791"/>
            <a:ext cx="3952875" cy="328612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1——</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文本框 125170"/>
          <p:cNvSpPr txBox="1"/>
          <p:nvPr/>
        </p:nvSpPr>
        <p:spPr>
          <a:xfrm>
            <a:off x="357158" y="1111627"/>
            <a:ext cx="4500594" cy="4031873"/>
          </a:xfrm>
          <a:prstGeom prst="rect">
            <a:avLst/>
          </a:prstGeom>
          <a:noFill/>
          <a:ln w="12700">
            <a:noFill/>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zh-CN" altLang="en-US" sz="2800" b="1" u="none" dirty="0">
                <a:latin typeface="隶书" panose="02010509060101010101" pitchFamily="49" charset="-122"/>
                <a:ea typeface="隶书" panose="02010509060101010101" pitchFamily="49" charset="-122"/>
              </a:rPr>
              <a:t>有两种完全不同的堆积方式。</a:t>
            </a:r>
            <a:br>
              <a:rPr lang="zh-CN" altLang="en-US" sz="2800" b="1" u="none" dirty="0">
                <a:latin typeface="隶书" panose="02010509060101010101" pitchFamily="49" charset="-122"/>
                <a:ea typeface="隶书" panose="02010509060101010101" pitchFamily="49" charset="-122"/>
              </a:rPr>
            </a:br>
            <a:r>
              <a:rPr lang="zh-CN" altLang="en-US" sz="2800" b="1" u="none" dirty="0">
                <a:latin typeface="隶书" panose="02010509060101010101" pitchFamily="49" charset="-122"/>
                <a:ea typeface="隶书" panose="02010509060101010101" pitchFamily="49" charset="-122"/>
              </a:rPr>
              <a:t> </a:t>
            </a:r>
            <a:r>
              <a:rPr lang="en-US" altLang="zh-CN" sz="3200" b="1" u="none" dirty="0">
                <a:solidFill>
                  <a:schemeClr val="accent1"/>
                </a:solidFill>
                <a:latin typeface="隶书" panose="02010509060101010101" pitchFamily="49" charset="-122"/>
                <a:ea typeface="隶书" panose="02010509060101010101" pitchFamily="49" charset="-122"/>
              </a:rPr>
              <a:t>a.</a:t>
            </a:r>
            <a:r>
              <a:rPr lang="zh-CN" altLang="en-US" sz="2800" b="1" u="none" dirty="0">
                <a:solidFill>
                  <a:schemeClr val="accent1"/>
                </a:solidFill>
                <a:latin typeface="隶书" panose="02010509060101010101" pitchFamily="49" charset="-122"/>
                <a:ea typeface="隶书" panose="02010509060101010101" pitchFamily="49" charset="-122"/>
              </a:rPr>
              <a:t> 堆积在单层空隙位置</a:t>
            </a:r>
            <a:br>
              <a:rPr lang="zh-CN" altLang="en-US" sz="2800" b="1" u="none" dirty="0">
                <a:latin typeface="隶书" panose="02010509060101010101" pitchFamily="49" charset="-122"/>
                <a:ea typeface="隶书" panose="02010509060101010101" pitchFamily="49" charset="-122"/>
              </a:rPr>
            </a:br>
            <a:r>
              <a:rPr lang="zh-CN" altLang="en-US" sz="2800" b="1" u="none" dirty="0">
                <a:latin typeface="隶书" panose="02010509060101010101" pitchFamily="49" charset="-122"/>
                <a:ea typeface="隶书" panose="02010509060101010101" pitchFamily="49" charset="-122"/>
              </a:rPr>
              <a:t>从垂直图面的方向观察，第三层球的位置正好与第一层相重复。如果继续堆第四层，其又与第二层重复，第五层与第三层重复，如此继续下去，这种紧密堆积方式用</a:t>
            </a:r>
            <a:r>
              <a:rPr lang="en-US" altLang="zh-CN" sz="2800" b="1" u="none" dirty="0">
                <a:solidFill>
                  <a:schemeClr val="accent1"/>
                </a:solidFill>
                <a:latin typeface="隶书" panose="02010509060101010101" pitchFamily="49" charset="-122"/>
                <a:ea typeface="隶书" panose="02010509060101010101" pitchFamily="49" charset="-122"/>
              </a:rPr>
              <a:t>ABABAB</a:t>
            </a:r>
            <a:r>
              <a:rPr lang="en-US" altLang="zh-CN" sz="2800" b="1" u="none" dirty="0">
                <a:solidFill>
                  <a:schemeClr val="accent1"/>
                </a:solidFill>
                <a:latin typeface="Arial" panose="020B0604020202020204" pitchFamily="34" charset="0"/>
                <a:ea typeface="隶书" panose="02010509060101010101" pitchFamily="49" charset="-122"/>
              </a:rPr>
              <a:t>…</a:t>
            </a:r>
            <a:r>
              <a:rPr lang="en-US" altLang="zh-CN" sz="2800" b="1" u="none" dirty="0">
                <a:latin typeface="Arial" panose="020B0604020202020204" pitchFamily="34" charset="0"/>
                <a:ea typeface="隶书" panose="02010509060101010101" pitchFamily="49" charset="-122"/>
              </a:rPr>
              <a:t>…</a:t>
            </a:r>
            <a:r>
              <a:rPr lang="zh-CN" altLang="en-US" sz="2800" b="1" u="none" dirty="0">
                <a:latin typeface="隶书" panose="02010509060101010101" pitchFamily="49" charset="-122"/>
                <a:ea typeface="隶书" panose="02010509060101010101" pitchFamily="49" charset="-122"/>
              </a:rPr>
              <a:t>的记号表示。</a:t>
            </a:r>
            <a:endParaRPr lang="zh-CN" altLang="en-US" sz="2800" b="1" u="none" dirty="0">
              <a:latin typeface="隶书" panose="02010509060101010101" pitchFamily="49" charset="-122"/>
              <a:ea typeface="隶书" panose="02010509060101010101" pitchFamily="49" charset="-122"/>
            </a:endParaRPr>
          </a:p>
        </p:txBody>
      </p:sp>
      <p:sp>
        <p:nvSpPr>
          <p:cNvPr id="9" name="矩形 8"/>
          <p:cNvSpPr/>
          <p:nvPr/>
        </p:nvSpPr>
        <p:spPr>
          <a:xfrm>
            <a:off x="541312" y="628641"/>
            <a:ext cx="3398837" cy="5191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sng" dirty="0">
                <a:solidFill>
                  <a:srgbClr val="FF3399"/>
                </a:solidFill>
                <a:latin typeface="Arial" panose="020B0604020202020204" pitchFamily="34" charset="0"/>
                <a:ea typeface="黑体" panose="02010609060101010101" charset="-122"/>
              </a:rPr>
              <a:t>第三层堆积的特征：</a:t>
            </a:r>
            <a:endParaRPr lang="zh-CN" altLang="en-US" sz="2800" b="1" u="sng" dirty="0">
              <a:solidFill>
                <a:srgbClr val="FF3399"/>
              </a:solidFill>
              <a:latin typeface="Arial" panose="020B0604020202020204" pitchFamily="34" charset="0"/>
              <a:ea typeface="黑体" panose="02010609060101010101" charset="-122"/>
            </a:endParaRPr>
          </a:p>
        </p:txBody>
      </p:sp>
      <p:pic>
        <p:nvPicPr>
          <p:cNvPr id="2050" name="Picture 2"/>
          <p:cNvPicPr>
            <a:picLocks noChangeAspect="1" noChangeArrowheads="1"/>
          </p:cNvPicPr>
          <p:nvPr/>
        </p:nvPicPr>
        <p:blipFill>
          <a:blip r:embed="rId3" cstate="print"/>
          <a:srcRect/>
          <a:stretch>
            <a:fillRect/>
          </a:stretch>
        </p:blipFill>
        <p:spPr bwMode="auto">
          <a:xfrm>
            <a:off x="5000628" y="1285866"/>
            <a:ext cx="3952875" cy="329565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1——</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标题 70830"/>
          <p:cNvSpPr>
            <a:spLocks noGrp="1"/>
          </p:cNvSpPr>
          <p:nvPr/>
        </p:nvSpPr>
        <p:spPr>
          <a:xfrm>
            <a:off x="571472" y="571486"/>
            <a:ext cx="7924800" cy="630238"/>
          </a:xfrm>
          <a:prstGeom prst="roundRect">
            <a:avLst>
              <a:gd name="adj" fmla="val 21667"/>
            </a:avLst>
          </a:prstGeom>
          <a:noFill/>
          <a:ln w="9525">
            <a:noFill/>
          </a:ln>
        </p:spPr>
        <p:txBody>
          <a:bodyPr anchor="b" anchorCtr="0"/>
          <a:lstStyle>
            <a:lvl1pPr marL="0" lvl="0" indent="0" algn="l" defTabSz="914400" rtl="0" eaLnBrk="1" fontAlgn="base" latinLnBrk="0" hangingPunct="1">
              <a:lnSpc>
                <a:spcPct val="90000"/>
              </a:lnSpc>
              <a:spcBef>
                <a:spcPct val="0"/>
              </a:spcBef>
              <a:spcAft>
                <a:spcPct val="0"/>
              </a:spcAft>
              <a:buNone/>
              <a:defRPr sz="3600" b="1" i="0" u="none" kern="1200" baseline="0">
                <a:solidFill>
                  <a:schemeClr val="tx2"/>
                </a:solidFill>
                <a:latin typeface="+mj-lt"/>
                <a:ea typeface="+mj-ea"/>
                <a:cs typeface="+mj-cs"/>
              </a:defRPr>
            </a:lvl1pPr>
          </a:lstStyle>
          <a:p>
            <a:r>
              <a:rPr lang="zh-CN" altLang="en-US" sz="2800" dirty="0">
                <a:solidFill>
                  <a:srgbClr val="FF0000"/>
                </a:solidFill>
                <a:latin typeface="隶书" panose="02010509060101010101" pitchFamily="49" charset="-122"/>
                <a:ea typeface="隶书" panose="02010509060101010101" pitchFamily="49" charset="-122"/>
              </a:rPr>
              <a:t>六方紧密堆积</a:t>
            </a:r>
            <a:r>
              <a:rPr lang="en-US" altLang="zh-CN" sz="2800" dirty="0" err="1">
                <a:solidFill>
                  <a:srgbClr val="FF0000"/>
                </a:solidFill>
                <a:latin typeface="隶书" panose="02010509060101010101" pitchFamily="49" charset="-122"/>
                <a:ea typeface="隶书" panose="02010509060101010101" pitchFamily="49" charset="-122"/>
              </a:rPr>
              <a:t>hcp</a:t>
            </a:r>
            <a:r>
              <a:rPr lang="en-US" altLang="zh-CN" sz="2800">
                <a:solidFill>
                  <a:srgbClr val="FF0000"/>
                </a:solidFill>
                <a:latin typeface="隶书" panose="02010509060101010101" pitchFamily="49" charset="-122"/>
                <a:ea typeface="隶书" panose="02010509060101010101" pitchFamily="49" charset="-122"/>
              </a:rPr>
              <a:t> </a:t>
            </a:r>
            <a:r>
              <a:rPr lang="zh-CN" altLang="en-US" sz="2800">
                <a:solidFill>
                  <a:srgbClr val="FF0000"/>
                </a:solidFill>
                <a:latin typeface="隶书" panose="02010509060101010101" pitchFamily="49" charset="-122"/>
                <a:ea typeface="隶书" panose="02010509060101010101" pitchFamily="49" charset="-122"/>
              </a:rPr>
              <a:t>(</a:t>
            </a:r>
            <a:r>
              <a:rPr lang="en-US" altLang="zh-CN" sz="2800" dirty="0">
                <a:solidFill>
                  <a:srgbClr val="FF0000"/>
                </a:solidFill>
                <a:latin typeface="隶书" panose="02010509060101010101" pitchFamily="49" charset="-122"/>
                <a:ea typeface="隶书" panose="02010509060101010101" pitchFamily="49" charset="-122"/>
              </a:rPr>
              <a:t>ABAB</a:t>
            </a:r>
            <a:r>
              <a:rPr lang="en-US" altLang="zh-CN" sz="2800" dirty="0">
                <a:solidFill>
                  <a:srgbClr val="FF0000"/>
                </a:solidFill>
                <a:latin typeface="Arial" panose="020B0604020202020204" pitchFamily="34" charset="0"/>
                <a:ea typeface="隶书" panose="02010509060101010101" pitchFamily="49" charset="-122"/>
              </a:rPr>
              <a:t>…</a:t>
            </a:r>
            <a:r>
              <a:rPr lang="en-US" altLang="zh-CN" sz="2800" dirty="0">
                <a:solidFill>
                  <a:srgbClr val="FF0000"/>
                </a:solidFill>
                <a:latin typeface="隶书" panose="02010509060101010101" pitchFamily="49" charset="-122"/>
                <a:ea typeface="隶书" panose="02010509060101010101" pitchFamily="49" charset="-122"/>
              </a:rPr>
              <a:t>)</a:t>
            </a:r>
            <a:endParaRPr lang="zh-CN" altLang="en-US" sz="2800">
              <a:solidFill>
                <a:srgbClr val="FF0000"/>
              </a:solidFill>
              <a:latin typeface="隶书" panose="02010509060101010101" pitchFamily="49" charset="-122"/>
              <a:ea typeface="隶书" panose="02010509060101010101" pitchFamily="49" charset="-122"/>
            </a:endParaRPr>
          </a:p>
        </p:txBody>
      </p:sp>
      <p:sp>
        <p:nvSpPr>
          <p:cNvPr id="9" name="矩形 8"/>
          <p:cNvSpPr/>
          <p:nvPr/>
        </p:nvSpPr>
        <p:spPr>
          <a:xfrm>
            <a:off x="642910" y="1214428"/>
            <a:ext cx="5445125" cy="151606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nSpc>
                <a:spcPct val="130000"/>
              </a:lnSpc>
            </a:pPr>
            <a:r>
              <a:rPr lang="zh-CN" altLang="en-US" sz="2400" b="1" u="none" dirty="0">
                <a:latin typeface="Arial" panose="020B0604020202020204" pitchFamily="34" charset="0"/>
              </a:rPr>
              <a:t>对应</a:t>
            </a:r>
            <a:r>
              <a:rPr lang="en-US" altLang="zh-CN" sz="2400" b="1" u="none" dirty="0">
                <a:solidFill>
                  <a:srgbClr val="6600FF"/>
                </a:solidFill>
                <a:latin typeface="Arial" panose="020B0604020202020204" pitchFamily="34" charset="0"/>
              </a:rPr>
              <a:t>ABAB……</a:t>
            </a:r>
            <a:r>
              <a:rPr lang="zh-CN" altLang="en-US" sz="2400" b="1" u="none" dirty="0">
                <a:latin typeface="Arial" panose="020B0604020202020204" pitchFamily="34" charset="0"/>
              </a:rPr>
              <a:t>紧密堆积方式，其球体在空间的分布与空间格子中的六方格子相同，其最</a:t>
            </a:r>
            <a:r>
              <a:rPr lang="zh-CN" altLang="en-US" sz="2400" b="1" u="none" dirty="0">
                <a:solidFill>
                  <a:srgbClr val="6600FF"/>
                </a:solidFill>
                <a:latin typeface="Arial" panose="020B0604020202020204" pitchFamily="34" charset="0"/>
              </a:rPr>
              <a:t>紧密排列层</a:t>
            </a:r>
            <a:r>
              <a:rPr lang="zh-CN" altLang="en-US" sz="2400" b="1" u="none" dirty="0">
                <a:latin typeface="Arial" panose="020B0604020202020204" pitchFamily="34" charset="0"/>
              </a:rPr>
              <a:t>平行</a:t>
            </a:r>
            <a:r>
              <a:rPr lang="en-US" altLang="zh-CN" sz="2400" b="1" u="none" dirty="0">
                <a:solidFill>
                  <a:srgbClr val="6600FF"/>
                </a:solidFill>
                <a:latin typeface="Arial" panose="020B0604020202020204" pitchFamily="34" charset="0"/>
              </a:rPr>
              <a:t>(0001)</a:t>
            </a:r>
            <a:r>
              <a:rPr lang="zh-CN" altLang="en-US" sz="2400" b="1" u="none" dirty="0">
                <a:solidFill>
                  <a:srgbClr val="6600FF"/>
                </a:solidFill>
                <a:latin typeface="Arial" panose="020B0604020202020204" pitchFamily="34" charset="0"/>
              </a:rPr>
              <a:t>面</a:t>
            </a:r>
            <a:r>
              <a:rPr lang="zh-CN" altLang="en-US" sz="2400" b="1" u="none" dirty="0">
                <a:latin typeface="Arial" panose="020B0604020202020204" pitchFamily="34" charset="0"/>
              </a:rPr>
              <a:t>。</a:t>
            </a:r>
            <a:endParaRPr lang="zh-CN" altLang="en-US" sz="2400" b="1" u="none" dirty="0">
              <a:latin typeface="Arial" panose="020B0604020202020204" pitchFamily="34" charset="0"/>
            </a:endParaRPr>
          </a:p>
        </p:txBody>
      </p:sp>
      <p:pic>
        <p:nvPicPr>
          <p:cNvPr id="3074" name="Picture 2"/>
          <p:cNvPicPr>
            <a:picLocks noChangeAspect="1" noChangeArrowheads="1"/>
          </p:cNvPicPr>
          <p:nvPr/>
        </p:nvPicPr>
        <p:blipFill>
          <a:blip r:embed="rId3" cstate="print"/>
          <a:srcRect/>
          <a:stretch>
            <a:fillRect/>
          </a:stretch>
        </p:blipFill>
        <p:spPr bwMode="auto">
          <a:xfrm>
            <a:off x="1357291" y="2650174"/>
            <a:ext cx="4286280" cy="2493326"/>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cstate="print"/>
          <a:srcRect/>
          <a:stretch>
            <a:fillRect/>
          </a:stretch>
        </p:blipFill>
        <p:spPr bwMode="auto">
          <a:xfrm>
            <a:off x="6000760" y="500048"/>
            <a:ext cx="2357454" cy="4119896"/>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1——</a:t>
            </a:r>
            <a:r>
              <a:rPr lang="zh-CN" altLang="en-US" sz="2400" b="1" dirty="0" smtClean="0">
                <a:solidFill>
                  <a:srgbClr val="000000"/>
                </a:solidFill>
              </a:rPr>
              <a:t>金属的晶体结构</a:t>
            </a:r>
            <a:endParaRPr lang="zh-CN" altLang="en-US" sz="2400" b="1" dirty="0">
              <a:solidFill>
                <a:srgbClr val="000000"/>
              </a:solidFill>
            </a:endParaRPr>
          </a:p>
        </p:txBody>
      </p:sp>
      <p:pic>
        <p:nvPicPr>
          <p:cNvPr id="8" name="图片 7" descr="Du2"/>
          <p:cNvPicPr>
            <a:picLocks noChangeAspect="1"/>
          </p:cNvPicPr>
          <p:nvPr/>
        </p:nvPicPr>
        <p:blipFill>
          <a:blip r:embed="rId3" cstate="print"/>
          <a:srcRect l="53481" b="-826"/>
          <a:stretch>
            <a:fillRect/>
          </a:stretch>
        </p:blipFill>
        <p:spPr>
          <a:xfrm>
            <a:off x="5090319" y="600075"/>
            <a:ext cx="2397125" cy="3598863"/>
          </a:xfrm>
          <a:prstGeom prst="rect">
            <a:avLst/>
          </a:prstGeom>
          <a:noFill/>
          <a:ln w="9525">
            <a:noFill/>
          </a:ln>
        </p:spPr>
      </p:pic>
      <p:sp>
        <p:nvSpPr>
          <p:cNvPr id="9" name="矩形 8"/>
          <p:cNvSpPr/>
          <p:nvPr/>
        </p:nvSpPr>
        <p:spPr>
          <a:xfrm>
            <a:off x="4909344" y="4110038"/>
            <a:ext cx="3240087" cy="387350"/>
          </a:xfrm>
          <a:prstGeom prst="rect">
            <a:avLst/>
          </a:prstGeom>
          <a:no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u="none" dirty="0">
                <a:latin typeface="隶书" panose="02010509060101010101" pitchFamily="49" charset="-122"/>
                <a:ea typeface="隶书" panose="02010509060101010101" pitchFamily="49" charset="-122"/>
              </a:rPr>
              <a:t>（</a:t>
            </a:r>
            <a:r>
              <a:rPr lang="en-US" altLang="zh-CN" b="1" u="none">
                <a:latin typeface="隶书" panose="02010509060101010101" pitchFamily="49" charset="-122"/>
                <a:ea typeface="隶书" panose="02010509060101010101" pitchFamily="49" charset="-122"/>
              </a:rPr>
              <a:t>B</a:t>
            </a:r>
            <a:r>
              <a:rPr lang="zh-CN" altLang="en-US" u="none">
                <a:latin typeface="隶书" panose="02010509060101010101" pitchFamily="49" charset="-122"/>
                <a:ea typeface="隶书" panose="02010509060101010101" pitchFamily="49" charset="-122"/>
              </a:rPr>
              <a:t>）</a:t>
            </a:r>
            <a:r>
              <a:rPr lang="zh-CN" altLang="en-US" u="none" dirty="0">
                <a:latin typeface="隶书" panose="02010509060101010101" pitchFamily="49" charset="-122"/>
                <a:ea typeface="隶书" panose="02010509060101010101" pitchFamily="49" charset="-122"/>
              </a:rPr>
              <a:t>六方紧密堆积侧视图</a:t>
            </a:r>
            <a:endParaRPr lang="zh-CN" altLang="en-US" u="none" dirty="0">
              <a:latin typeface="隶书" panose="02010509060101010101" pitchFamily="49" charset="-122"/>
              <a:ea typeface="隶书" panose="02010509060101010101" pitchFamily="49" charset="-122"/>
            </a:endParaRPr>
          </a:p>
        </p:txBody>
      </p:sp>
      <p:sp>
        <p:nvSpPr>
          <p:cNvPr id="10" name="矩形 9"/>
          <p:cNvSpPr/>
          <p:nvPr/>
        </p:nvSpPr>
        <p:spPr>
          <a:xfrm>
            <a:off x="994569" y="4156075"/>
            <a:ext cx="3240087" cy="387350"/>
          </a:xfrm>
          <a:prstGeom prst="rect">
            <a:avLst/>
          </a:prstGeom>
          <a:no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u="none" dirty="0">
                <a:latin typeface="隶书" panose="02010509060101010101" pitchFamily="49" charset="-122"/>
                <a:ea typeface="隶书" panose="02010509060101010101" pitchFamily="49" charset="-122"/>
              </a:rPr>
              <a:t>（</a:t>
            </a:r>
            <a:r>
              <a:rPr lang="en-US" altLang="zh-CN" b="1" u="none" dirty="0">
                <a:latin typeface="隶书" panose="02010509060101010101" pitchFamily="49" charset="-122"/>
                <a:ea typeface="隶书" panose="02010509060101010101" pitchFamily="49" charset="-122"/>
              </a:rPr>
              <a:t>A</a:t>
            </a:r>
            <a:r>
              <a:rPr lang="zh-CN" altLang="en-US" u="none" dirty="0">
                <a:latin typeface="隶书" panose="02010509060101010101" pitchFamily="49" charset="-122"/>
                <a:ea typeface="隶书" panose="02010509060101010101" pitchFamily="49" charset="-122"/>
              </a:rPr>
              <a:t>）六方紧密堆积俯视图</a:t>
            </a:r>
            <a:endParaRPr lang="zh-CN" altLang="en-US" u="none" dirty="0">
              <a:latin typeface="隶书" panose="02010509060101010101" pitchFamily="49" charset="-122"/>
              <a:ea typeface="隶书" panose="02010509060101010101" pitchFamily="49" charset="-122"/>
            </a:endParaRPr>
          </a:p>
        </p:txBody>
      </p:sp>
      <p:grpSp>
        <p:nvGrpSpPr>
          <p:cNvPr id="11" name="组合 10"/>
          <p:cNvGrpSpPr/>
          <p:nvPr/>
        </p:nvGrpSpPr>
        <p:grpSpPr>
          <a:xfrm>
            <a:off x="1085056" y="690564"/>
            <a:ext cx="3103563" cy="3060701"/>
            <a:chOff x="584" y="686"/>
            <a:chExt cx="1955" cy="1928"/>
          </a:xfrm>
        </p:grpSpPr>
        <p:pic>
          <p:nvPicPr>
            <p:cNvPr id="13" name="图片 12" descr="Du1"/>
            <p:cNvPicPr>
              <a:picLocks noChangeAspect="1"/>
            </p:cNvPicPr>
            <p:nvPr/>
          </p:nvPicPr>
          <p:blipFill>
            <a:blip r:embed="rId4" cstate="print"/>
            <a:srcRect l="51443" t="10820"/>
            <a:stretch>
              <a:fillRect/>
            </a:stretch>
          </p:blipFill>
          <p:spPr>
            <a:xfrm>
              <a:off x="640" y="743"/>
              <a:ext cx="1899" cy="1871"/>
            </a:xfrm>
            <a:prstGeom prst="rect">
              <a:avLst/>
            </a:prstGeom>
            <a:noFill/>
            <a:ln w="9525">
              <a:noFill/>
            </a:ln>
          </p:spPr>
        </p:pic>
        <p:sp>
          <p:nvSpPr>
            <p:cNvPr id="15" name="文本框 122891"/>
            <p:cNvSpPr txBox="1"/>
            <p:nvPr/>
          </p:nvSpPr>
          <p:spPr>
            <a:xfrm>
              <a:off x="584" y="686"/>
              <a:ext cx="170" cy="212"/>
            </a:xfrm>
            <a:prstGeom prst="rect">
              <a:avLst/>
            </a:prstGeom>
            <a:solidFill>
              <a:schemeClr val="bg1">
                <a:alpha val="89999"/>
              </a:schemeClr>
            </a:solid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en-US" altLang="zh-CN" sz="1600" b="1" u="none" dirty="0">
                  <a:solidFill>
                    <a:srgbClr val="000000"/>
                  </a:solidFill>
                  <a:latin typeface="Times New Roman" panose="02020603050405020304" pitchFamily="18" charset="0"/>
                </a:rPr>
                <a:t>A</a:t>
              </a:r>
              <a:endParaRPr lang="en-US" altLang="zh-CN" sz="1600" b="1" u="none" dirty="0">
                <a:solidFill>
                  <a:srgbClr val="000000"/>
                </a:solidFill>
                <a:latin typeface="Times New Roman" panose="02020603050405020304" pitchFamily="18"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文本框 126195"/>
          <p:cNvSpPr txBox="1"/>
          <p:nvPr/>
        </p:nvSpPr>
        <p:spPr>
          <a:xfrm>
            <a:off x="500034" y="571486"/>
            <a:ext cx="4357717" cy="4247317"/>
          </a:xfrm>
          <a:prstGeom prst="rect">
            <a:avLst/>
          </a:prstGeom>
          <a:noFill/>
          <a:ln w="12700">
            <a:noFill/>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en-US" altLang="zh-CN" sz="3200" b="1" u="none" dirty="0">
                <a:solidFill>
                  <a:schemeClr val="accent1"/>
                </a:solidFill>
                <a:latin typeface="隶书" panose="02010509060101010101" pitchFamily="49" charset="-122"/>
                <a:ea typeface="隶书" panose="02010509060101010101" pitchFamily="49" charset="-122"/>
              </a:rPr>
              <a:t>b.</a:t>
            </a:r>
            <a:r>
              <a:rPr lang="en-US" altLang="zh-CN" sz="2800" b="1" u="none" dirty="0">
                <a:solidFill>
                  <a:schemeClr val="accent1"/>
                </a:solidFill>
                <a:latin typeface="隶书" panose="02010509060101010101" pitchFamily="49" charset="-122"/>
                <a:ea typeface="隶书" panose="02010509060101010101" pitchFamily="49" charset="-122"/>
              </a:rPr>
              <a:t> </a:t>
            </a:r>
            <a:r>
              <a:rPr lang="zh-CN" altLang="en-US" sz="2800" b="1" u="none" dirty="0">
                <a:solidFill>
                  <a:schemeClr val="accent1"/>
                </a:solidFill>
                <a:latin typeface="隶书" panose="02010509060101010101" pitchFamily="49" charset="-122"/>
                <a:ea typeface="隶书" panose="02010509060101010101" pitchFamily="49" charset="-122"/>
              </a:rPr>
              <a:t>堆积在穿透一、二层的双层空隙位置</a:t>
            </a:r>
            <a:endParaRPr lang="zh-CN" altLang="en-US" sz="2800" b="1" u="none" dirty="0">
              <a:latin typeface="隶书" panose="02010509060101010101" pitchFamily="49" charset="-122"/>
              <a:ea typeface="隶书" panose="02010509060101010101" pitchFamily="49" charset="-122"/>
            </a:endParaRPr>
          </a:p>
          <a:p>
            <a:pPr>
              <a:spcBef>
                <a:spcPct val="50000"/>
              </a:spcBef>
            </a:pPr>
            <a:r>
              <a:rPr lang="zh-CN" altLang="en-US" sz="2800" b="1" u="none" dirty="0" smtClean="0">
                <a:latin typeface="隶书" panose="02010509060101010101" pitchFamily="49" charset="-122"/>
                <a:ea typeface="隶书" panose="02010509060101010101" pitchFamily="49" charset="-122"/>
              </a:rPr>
              <a:t>此时</a:t>
            </a:r>
            <a:r>
              <a:rPr lang="zh-CN" altLang="en-US" sz="2800" b="1" u="none" dirty="0">
                <a:latin typeface="隶书" panose="02010509060101010101" pitchFamily="49" charset="-122"/>
                <a:ea typeface="隶书" panose="02010509060101010101" pitchFamily="49" charset="-122"/>
              </a:rPr>
              <a:t>第三层和第一、二层都不同。在叠置第四层时，才与第一层重复，第五层与第二层重复，第六层与第三层重复，这种紧密堆积方式用</a:t>
            </a:r>
            <a:r>
              <a:rPr lang="en-US" altLang="zh-CN" sz="2800" b="1" u="none" dirty="0">
                <a:solidFill>
                  <a:schemeClr val="accent1"/>
                </a:solidFill>
                <a:latin typeface="隶书" panose="02010509060101010101" pitchFamily="49" charset="-122"/>
                <a:ea typeface="隶书" panose="02010509060101010101" pitchFamily="49" charset="-122"/>
              </a:rPr>
              <a:t>ABCABC</a:t>
            </a:r>
            <a:r>
              <a:rPr lang="en-US" altLang="zh-CN" sz="2800" b="1" u="none" dirty="0">
                <a:solidFill>
                  <a:schemeClr val="accent1"/>
                </a:solidFill>
                <a:latin typeface="Arial" panose="020B0604020202020204" pitchFamily="34" charset="0"/>
                <a:ea typeface="隶书" panose="02010509060101010101" pitchFamily="49" charset="-122"/>
              </a:rPr>
              <a:t>……</a:t>
            </a:r>
            <a:r>
              <a:rPr lang="zh-CN" altLang="en-US" sz="2800" b="1" u="none" dirty="0">
                <a:latin typeface="隶书" panose="02010509060101010101" pitchFamily="49" charset="-122"/>
                <a:ea typeface="隶书" panose="02010509060101010101" pitchFamily="49" charset="-122"/>
              </a:rPr>
              <a:t>的记号表示。</a:t>
            </a:r>
            <a:endParaRPr lang="zh-CN" altLang="en-US" sz="2800" b="1" u="none" dirty="0">
              <a:latin typeface="隶书" panose="02010509060101010101" pitchFamily="49" charset="-122"/>
              <a:ea typeface="隶书" panose="02010509060101010101" pitchFamily="49" charset="-122"/>
            </a:endParaRPr>
          </a:p>
        </p:txBody>
      </p:sp>
      <p:pic>
        <p:nvPicPr>
          <p:cNvPr id="4098" name="Picture 2"/>
          <p:cNvPicPr>
            <a:picLocks noChangeAspect="1" noChangeArrowheads="1"/>
          </p:cNvPicPr>
          <p:nvPr/>
        </p:nvPicPr>
        <p:blipFill>
          <a:blip r:embed="rId3" cstate="print"/>
          <a:srcRect/>
          <a:stretch>
            <a:fillRect/>
          </a:stretch>
        </p:blipFill>
        <p:spPr bwMode="auto">
          <a:xfrm>
            <a:off x="5000628" y="857238"/>
            <a:ext cx="3914775" cy="371475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圆角矩形 7"/>
          <p:cNvSpPr/>
          <p:nvPr/>
        </p:nvSpPr>
        <p:spPr>
          <a:xfrm>
            <a:off x="500034" y="428610"/>
            <a:ext cx="5357850" cy="714380"/>
          </a:xfrm>
          <a:prstGeom prst="roundRect">
            <a:avLst>
              <a:gd name="adj" fmla="val 21667"/>
            </a:avLst>
          </a:prstGeom>
          <a:noFill/>
          <a:ln w="9525">
            <a:noFill/>
          </a:ln>
        </p:spPr>
        <p:txBody>
          <a:bodyPr anchor="b" anchorCtr="0"/>
          <a:lstStyle>
            <a:lvl1pPr marL="0" lvl="0" indent="0" algn="l" defTabSz="914400" rtl="0" eaLnBrk="1" fontAlgn="base" latinLnBrk="0" hangingPunct="1">
              <a:lnSpc>
                <a:spcPct val="90000"/>
              </a:lnSpc>
              <a:spcBef>
                <a:spcPct val="0"/>
              </a:spcBef>
              <a:spcAft>
                <a:spcPct val="0"/>
              </a:spcAft>
              <a:buNone/>
              <a:defRPr sz="3600" b="1" u="none" kern="1200" baseline="0">
                <a:solidFill>
                  <a:schemeClr val="tx2"/>
                </a:solidFill>
                <a:latin typeface="Arial" panose="020B0604020202020204" pitchFamily="34" charset="0"/>
                <a:ea typeface="宋体" panose="02010600030101010101" pitchFamily="2" charset="-122"/>
              </a:defRPr>
            </a:lvl1pPr>
          </a:lstStyle>
          <a:p>
            <a:pPr lvl="0"/>
            <a:r>
              <a:rPr lang="zh-CN" altLang="en-US" sz="2800" dirty="0">
                <a:solidFill>
                  <a:srgbClr val="FF0000"/>
                </a:solidFill>
                <a:latin typeface="隶书" panose="02010509060101010101" pitchFamily="49" charset="-122"/>
                <a:ea typeface="隶书" panose="02010509060101010101" pitchFamily="49" charset="-122"/>
              </a:rPr>
              <a:t>立方紧密堆积</a:t>
            </a:r>
            <a:r>
              <a:rPr lang="en-US" altLang="zh-CN" sz="2800" dirty="0">
                <a:solidFill>
                  <a:srgbClr val="FF0000"/>
                </a:solidFill>
                <a:latin typeface="隶书" panose="02010509060101010101" pitchFamily="49" charset="-122"/>
                <a:ea typeface="隶书" panose="02010509060101010101" pitchFamily="49" charset="-122"/>
              </a:rPr>
              <a:t>fcp </a:t>
            </a:r>
            <a:r>
              <a:rPr lang="zh-CN" altLang="en-US" sz="2800" dirty="0">
                <a:solidFill>
                  <a:srgbClr val="FF0000"/>
                </a:solidFill>
                <a:latin typeface="隶书" panose="02010509060101010101" pitchFamily="49" charset="-122"/>
                <a:ea typeface="隶书" panose="02010509060101010101" pitchFamily="49" charset="-122"/>
              </a:rPr>
              <a:t>(</a:t>
            </a:r>
            <a:r>
              <a:rPr lang="en-US" altLang="zh-CN" sz="2800" dirty="0">
                <a:solidFill>
                  <a:srgbClr val="FF0000"/>
                </a:solidFill>
                <a:latin typeface="隶书" panose="02010509060101010101" pitchFamily="49" charset="-122"/>
                <a:ea typeface="隶书" panose="02010509060101010101" pitchFamily="49" charset="-122"/>
              </a:rPr>
              <a:t>ABCABC</a:t>
            </a:r>
            <a:r>
              <a:rPr lang="en-US" altLang="zh-CN" sz="2800" dirty="0">
                <a:solidFill>
                  <a:srgbClr val="FF0000"/>
                </a:solidFill>
                <a:latin typeface="Arial" panose="020B0604020202020204" pitchFamily="34" charset="0"/>
                <a:ea typeface="隶书" panose="02010509060101010101" pitchFamily="49" charset="-122"/>
              </a:rPr>
              <a:t>…</a:t>
            </a:r>
            <a:r>
              <a:rPr lang="en-US" altLang="zh-CN" sz="2800" dirty="0">
                <a:solidFill>
                  <a:srgbClr val="FF0000"/>
                </a:solidFill>
                <a:latin typeface="隶书" panose="02010509060101010101" pitchFamily="49" charset="-122"/>
                <a:ea typeface="隶书" panose="02010509060101010101" pitchFamily="49" charset="-122"/>
              </a:rPr>
              <a:t>)</a:t>
            </a:r>
            <a:endParaRPr lang="zh-CN" altLang="en-US" sz="2800" dirty="0">
              <a:solidFill>
                <a:srgbClr val="FF0000"/>
              </a:solidFill>
              <a:latin typeface="隶书" panose="02010509060101010101" pitchFamily="49" charset="-122"/>
              <a:ea typeface="隶书" panose="02010509060101010101" pitchFamily="49" charset="-122"/>
            </a:endParaRPr>
          </a:p>
        </p:txBody>
      </p:sp>
      <p:sp>
        <p:nvSpPr>
          <p:cNvPr id="9" name="文本框 69879"/>
          <p:cNvSpPr txBox="1"/>
          <p:nvPr/>
        </p:nvSpPr>
        <p:spPr>
          <a:xfrm>
            <a:off x="500035" y="1071552"/>
            <a:ext cx="2714643" cy="3453253"/>
          </a:xfrm>
          <a:prstGeom prst="rect">
            <a:avLst/>
          </a:prstGeom>
          <a:noFill/>
          <a:ln w="12700">
            <a:noFill/>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nSpc>
                <a:spcPct val="130000"/>
              </a:lnSpc>
            </a:pPr>
            <a:r>
              <a:rPr lang="zh-CN" altLang="en-US" sz="2400" b="1" u="none" dirty="0" smtClean="0">
                <a:latin typeface="Arial" panose="020B0604020202020204" pitchFamily="34" charset="0"/>
              </a:rPr>
              <a:t>对</a:t>
            </a:r>
            <a:r>
              <a:rPr lang="en-US" altLang="zh-CN" sz="2400" b="1" u="none" dirty="0" smtClean="0">
                <a:solidFill>
                  <a:srgbClr val="6600FF"/>
                </a:solidFill>
                <a:latin typeface="Arial" panose="020B0604020202020204" pitchFamily="34" charset="0"/>
              </a:rPr>
              <a:t>ABCABC</a:t>
            </a:r>
            <a:r>
              <a:rPr lang="en-US" altLang="zh-CN" sz="2400" b="1" u="none" dirty="0">
                <a:solidFill>
                  <a:srgbClr val="6600FF"/>
                </a:solidFill>
                <a:latin typeface="Arial" panose="020B0604020202020204" pitchFamily="34" charset="0"/>
              </a:rPr>
              <a:t>……</a:t>
            </a:r>
            <a:r>
              <a:rPr lang="zh-CN" altLang="en-US" sz="2400" b="1" u="none" dirty="0">
                <a:latin typeface="Arial" panose="020B0604020202020204" pitchFamily="34" charset="0"/>
              </a:rPr>
              <a:t>紧密堆积方式，其球体在空间的分布与空间格子中的立方面心格子相同，其最</a:t>
            </a:r>
            <a:r>
              <a:rPr lang="zh-CN" altLang="en-US" sz="2400" b="1" u="none" dirty="0">
                <a:solidFill>
                  <a:srgbClr val="6600FF"/>
                </a:solidFill>
                <a:latin typeface="Arial" panose="020B0604020202020204" pitchFamily="34" charset="0"/>
              </a:rPr>
              <a:t>紧密排列层</a:t>
            </a:r>
            <a:r>
              <a:rPr lang="zh-CN" altLang="en-US" sz="2400" b="1" u="none" dirty="0">
                <a:latin typeface="Arial" panose="020B0604020202020204" pitchFamily="34" charset="0"/>
              </a:rPr>
              <a:t>平行</a:t>
            </a:r>
            <a:r>
              <a:rPr lang="en-US" altLang="zh-CN" sz="2400" b="1" u="none" dirty="0">
                <a:solidFill>
                  <a:srgbClr val="6600FF"/>
                </a:solidFill>
                <a:latin typeface="Arial" panose="020B0604020202020204" pitchFamily="34" charset="0"/>
              </a:rPr>
              <a:t>(111)</a:t>
            </a:r>
            <a:r>
              <a:rPr lang="zh-CN" altLang="en-US" sz="2400" b="1" u="none" dirty="0">
                <a:solidFill>
                  <a:srgbClr val="6600FF"/>
                </a:solidFill>
                <a:latin typeface="Arial" panose="020B0604020202020204" pitchFamily="34" charset="0"/>
              </a:rPr>
              <a:t>面</a:t>
            </a:r>
            <a:r>
              <a:rPr lang="zh-CN" altLang="en-US" sz="2400" b="1" u="none" dirty="0">
                <a:latin typeface="Arial" panose="020B0604020202020204" pitchFamily="34" charset="0"/>
              </a:rPr>
              <a:t>。</a:t>
            </a:r>
            <a:endParaRPr lang="zh-CN" altLang="en-US" sz="2400" b="1" u="none" dirty="0">
              <a:latin typeface="Arial" panose="020B0604020202020204" pitchFamily="34" charset="0"/>
            </a:endParaRPr>
          </a:p>
        </p:txBody>
      </p:sp>
      <p:pic>
        <p:nvPicPr>
          <p:cNvPr id="5122" name="Picture 2"/>
          <p:cNvPicPr>
            <a:picLocks noChangeAspect="1" noChangeArrowheads="1"/>
          </p:cNvPicPr>
          <p:nvPr/>
        </p:nvPicPr>
        <p:blipFill>
          <a:blip r:embed="rId3" cstate="print"/>
          <a:srcRect/>
          <a:stretch>
            <a:fillRect/>
          </a:stretch>
        </p:blipFill>
        <p:spPr bwMode="auto">
          <a:xfrm>
            <a:off x="4929190" y="3071816"/>
            <a:ext cx="2095366" cy="1857388"/>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cstate="print"/>
          <a:srcRect/>
          <a:stretch>
            <a:fillRect/>
          </a:stretch>
        </p:blipFill>
        <p:spPr bwMode="auto">
          <a:xfrm>
            <a:off x="3428992" y="1000114"/>
            <a:ext cx="4714908" cy="2169241"/>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grpSp>
        <p:nvGrpSpPr>
          <p:cNvPr id="7" name="组合 6"/>
          <p:cNvGrpSpPr/>
          <p:nvPr/>
        </p:nvGrpSpPr>
        <p:grpSpPr>
          <a:xfrm>
            <a:off x="812800" y="691357"/>
            <a:ext cx="3825875" cy="3779837"/>
            <a:chOff x="158" y="601"/>
            <a:chExt cx="2410" cy="2381"/>
          </a:xfrm>
        </p:grpSpPr>
        <p:pic>
          <p:nvPicPr>
            <p:cNvPr id="13" name="图片 12" descr="Du1"/>
            <p:cNvPicPr>
              <a:picLocks noChangeAspect="1"/>
            </p:cNvPicPr>
            <p:nvPr/>
          </p:nvPicPr>
          <p:blipFill>
            <a:blip r:embed="rId3" cstate="print"/>
            <a:srcRect r="49988" b="-4051"/>
            <a:stretch>
              <a:fillRect/>
            </a:stretch>
          </p:blipFill>
          <p:spPr>
            <a:xfrm>
              <a:off x="612" y="601"/>
              <a:ext cx="1956" cy="2183"/>
            </a:xfrm>
            <a:prstGeom prst="rect">
              <a:avLst/>
            </a:prstGeom>
            <a:noFill/>
            <a:ln w="9525">
              <a:noFill/>
            </a:ln>
          </p:spPr>
        </p:pic>
        <p:sp>
          <p:nvSpPr>
            <p:cNvPr id="15" name="矩形 14"/>
            <p:cNvSpPr/>
            <p:nvPr/>
          </p:nvSpPr>
          <p:spPr>
            <a:xfrm>
              <a:off x="158" y="2727"/>
              <a:ext cx="2410" cy="255"/>
            </a:xfrm>
            <a:prstGeom prst="rect">
              <a:avLst/>
            </a:prstGeom>
            <a:no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u="none" dirty="0">
                  <a:latin typeface="隶书" panose="02010509060101010101" pitchFamily="49" charset="-122"/>
                  <a:ea typeface="隶书" panose="02010509060101010101" pitchFamily="49" charset="-122"/>
                </a:rPr>
                <a:t>      （</a:t>
              </a:r>
              <a:r>
                <a:rPr lang="en-US" altLang="zh-CN" b="1" u="none">
                  <a:latin typeface="隶书" panose="02010509060101010101" pitchFamily="49" charset="-122"/>
                  <a:ea typeface="隶书" panose="02010509060101010101" pitchFamily="49" charset="-122"/>
                </a:rPr>
                <a:t>A</a:t>
              </a:r>
              <a:r>
                <a:rPr lang="zh-CN" altLang="en-US" u="none">
                  <a:latin typeface="隶书" panose="02010509060101010101" pitchFamily="49" charset="-122"/>
                  <a:ea typeface="隶书" panose="02010509060101010101" pitchFamily="49" charset="-122"/>
                </a:rPr>
                <a:t>）</a:t>
              </a:r>
              <a:r>
                <a:rPr lang="zh-CN" altLang="en-US" u="none" dirty="0">
                  <a:latin typeface="隶书" panose="02010509060101010101" pitchFamily="49" charset="-122"/>
                  <a:ea typeface="隶书" panose="02010509060101010101" pitchFamily="49" charset="-122"/>
                </a:rPr>
                <a:t>立方紧密堆积俯视图</a:t>
              </a:r>
              <a:endParaRPr lang="zh-CN" altLang="en-US" u="none" dirty="0">
                <a:latin typeface="隶书" panose="02010509060101010101" pitchFamily="49" charset="-122"/>
                <a:ea typeface="隶书" panose="02010509060101010101" pitchFamily="49" charset="-122"/>
              </a:endParaRPr>
            </a:p>
          </p:txBody>
        </p:sp>
      </p:grpSp>
      <p:grpSp>
        <p:nvGrpSpPr>
          <p:cNvPr id="8" name="组合 7"/>
          <p:cNvGrpSpPr/>
          <p:nvPr/>
        </p:nvGrpSpPr>
        <p:grpSpPr>
          <a:xfrm>
            <a:off x="5089526" y="645319"/>
            <a:ext cx="3241675" cy="3852863"/>
            <a:chOff x="2852" y="572"/>
            <a:chExt cx="2042" cy="2427"/>
          </a:xfrm>
        </p:grpSpPr>
        <p:pic>
          <p:nvPicPr>
            <p:cNvPr id="9" name="图片 8" descr="Du2"/>
            <p:cNvPicPr>
              <a:picLocks noChangeAspect="1"/>
            </p:cNvPicPr>
            <p:nvPr/>
          </p:nvPicPr>
          <p:blipFill>
            <a:blip r:embed="rId4" cstate="print"/>
            <a:srcRect r="44342" b="-876"/>
            <a:stretch>
              <a:fillRect/>
            </a:stretch>
          </p:blipFill>
          <p:spPr>
            <a:xfrm>
              <a:off x="2965" y="572"/>
              <a:ext cx="1694" cy="2127"/>
            </a:xfrm>
            <a:prstGeom prst="rect">
              <a:avLst/>
            </a:prstGeom>
            <a:noFill/>
            <a:ln w="9525">
              <a:noFill/>
            </a:ln>
          </p:spPr>
        </p:pic>
        <p:sp>
          <p:nvSpPr>
            <p:cNvPr id="10" name="矩形 9"/>
            <p:cNvSpPr/>
            <p:nvPr/>
          </p:nvSpPr>
          <p:spPr>
            <a:xfrm>
              <a:off x="2852" y="2755"/>
              <a:ext cx="2042" cy="244"/>
            </a:xfrm>
            <a:prstGeom prst="rect">
              <a:avLst/>
            </a:prstGeom>
            <a:no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u="none" dirty="0">
                  <a:latin typeface="隶书" panose="02010509060101010101" pitchFamily="49" charset="-122"/>
                  <a:ea typeface="隶书" panose="02010509060101010101" pitchFamily="49" charset="-122"/>
                </a:rPr>
                <a:t>（</a:t>
              </a:r>
              <a:r>
                <a:rPr lang="en-US" altLang="zh-CN" b="1" u="none">
                  <a:latin typeface="隶书" panose="02010509060101010101" pitchFamily="49" charset="-122"/>
                  <a:ea typeface="隶书" panose="02010509060101010101" pitchFamily="49" charset="-122"/>
                </a:rPr>
                <a:t>B</a:t>
              </a:r>
              <a:r>
                <a:rPr lang="zh-CN" altLang="en-US" u="none" dirty="0">
                  <a:latin typeface="隶书" panose="02010509060101010101" pitchFamily="49" charset="-122"/>
                  <a:ea typeface="隶书" panose="02010509060101010101" pitchFamily="49" charset="-122"/>
                </a:rPr>
                <a:t>）立方紧密堆积侧视图</a:t>
              </a:r>
              <a:endParaRPr lang="zh-CN" altLang="en-US" u="none" dirty="0">
                <a:latin typeface="隶书" panose="02010509060101010101" pitchFamily="49" charset="-122"/>
                <a:ea typeface="隶书" panose="02010509060101010101" pitchFamily="49" charset="-122"/>
              </a:endParaRPr>
            </a:p>
          </p:txBody>
        </p:sp>
        <p:sp>
          <p:nvSpPr>
            <p:cNvPr id="11" name="文本框 119819"/>
            <p:cNvSpPr txBox="1"/>
            <p:nvPr/>
          </p:nvSpPr>
          <p:spPr>
            <a:xfrm>
              <a:off x="3249" y="629"/>
              <a:ext cx="228" cy="212"/>
            </a:xfrm>
            <a:prstGeom prst="rect">
              <a:avLst/>
            </a:prstGeom>
            <a:solidFill>
              <a:schemeClr val="bg1">
                <a:alpha val="89999"/>
              </a:schemeClr>
            </a:solid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en-US" altLang="zh-CN" sz="1600" b="1" u="none" dirty="0">
                  <a:solidFill>
                    <a:srgbClr val="000000"/>
                  </a:solidFill>
                  <a:latin typeface="Arial" panose="020B0604020202020204" pitchFamily="34" charset="0"/>
                </a:rPr>
                <a:t>B</a:t>
              </a:r>
              <a:endParaRPr lang="en-US" altLang="zh-CN" sz="1600" b="1" u="none" dirty="0">
                <a:solidFill>
                  <a:srgbClr val="000000"/>
                </a:solidFill>
                <a:latin typeface="Arial" panose="020B0604020202020204" pitchFamily="34" charset="0"/>
              </a:endParaRPr>
            </a:p>
          </p:txBody>
        </p:sp>
      </p:grpSp>
      <p:sp>
        <p:nvSpPr>
          <p:cNvPr id="16" name="矩形 15"/>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pic>
        <p:nvPicPr>
          <p:cNvPr id="6146" name="Picture 2"/>
          <p:cNvPicPr>
            <a:picLocks noChangeAspect="1" noChangeArrowheads="1"/>
          </p:cNvPicPr>
          <p:nvPr/>
        </p:nvPicPr>
        <p:blipFill>
          <a:blip r:embed="rId3" cstate="print">
            <a:lum bright="3000" contrast="32000"/>
          </a:blip>
          <a:srcRect/>
          <a:stretch>
            <a:fillRect/>
          </a:stretch>
        </p:blipFill>
        <p:spPr bwMode="auto">
          <a:xfrm>
            <a:off x="4714876" y="1000114"/>
            <a:ext cx="3504052" cy="3367973"/>
          </a:xfrm>
          <a:prstGeom prst="rect">
            <a:avLst/>
          </a:prstGeom>
          <a:noFill/>
          <a:ln w="9525">
            <a:noFill/>
            <a:miter lim="800000"/>
            <a:headEnd/>
            <a:tailEnd/>
          </a:ln>
          <a:effectLst/>
        </p:spPr>
      </p:pic>
      <p:pic>
        <p:nvPicPr>
          <p:cNvPr id="6147" name="Picture 3"/>
          <p:cNvPicPr>
            <a:picLocks noChangeAspect="1" noChangeArrowheads="1"/>
          </p:cNvPicPr>
          <p:nvPr/>
        </p:nvPicPr>
        <p:blipFill>
          <a:blip r:embed="rId4" cstate="print"/>
          <a:srcRect/>
          <a:stretch>
            <a:fillRect/>
          </a:stretch>
        </p:blipFill>
        <p:spPr bwMode="auto">
          <a:xfrm>
            <a:off x="642910" y="1000114"/>
            <a:ext cx="3857652" cy="3359735"/>
          </a:xfrm>
          <a:prstGeom prst="rect">
            <a:avLst/>
          </a:prstGeom>
          <a:noFill/>
          <a:ln w="9525">
            <a:noFill/>
            <a:miter lim="800000"/>
            <a:headEnd/>
            <a:tailEnd/>
          </a:ln>
          <a:effectLst/>
        </p:spPr>
      </p:pic>
      <p:sp>
        <p:nvSpPr>
          <p:cNvPr id="9" name="矩形 8"/>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440532" y="699294"/>
            <a:ext cx="5113337"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sng" dirty="0">
                <a:solidFill>
                  <a:srgbClr val="FF0000"/>
                </a:solidFill>
                <a:latin typeface="Arial" panose="020B0604020202020204" pitchFamily="34" charset="0"/>
              </a:rPr>
              <a:t>B.</a:t>
            </a:r>
            <a:r>
              <a:rPr lang="en-US" altLang="zh-CN" sz="2800" b="1" u="none" dirty="0">
                <a:solidFill>
                  <a:srgbClr val="FF0000"/>
                </a:solidFill>
                <a:latin typeface="Arial" panose="020B0604020202020204" pitchFamily="34" charset="0"/>
              </a:rPr>
              <a:t>   </a:t>
            </a:r>
            <a:r>
              <a:rPr lang="zh-CN" altLang="en-US" sz="2800" b="1" u="sng" dirty="0">
                <a:solidFill>
                  <a:srgbClr val="FF0000"/>
                </a:solidFill>
                <a:latin typeface="Arial" panose="020B0604020202020204" pitchFamily="34" charset="0"/>
              </a:rPr>
              <a:t>等大球体的其它堆积方式</a:t>
            </a:r>
            <a:endParaRPr lang="zh-CN" altLang="en-US" sz="2800" b="1" u="sng" dirty="0">
              <a:solidFill>
                <a:srgbClr val="FF0000"/>
              </a:solidFill>
              <a:latin typeface="Arial" panose="020B0604020202020204" pitchFamily="34" charset="0"/>
            </a:endParaRPr>
          </a:p>
        </p:txBody>
      </p:sp>
      <p:sp>
        <p:nvSpPr>
          <p:cNvPr id="8" name="文本框 130053"/>
          <p:cNvSpPr txBox="1"/>
          <p:nvPr/>
        </p:nvSpPr>
        <p:spPr>
          <a:xfrm>
            <a:off x="500034" y="1714494"/>
            <a:ext cx="8351837" cy="2574925"/>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zh-CN" altLang="en-US" sz="2400" b="1" u="none" dirty="0">
                <a:latin typeface="隶书" panose="02010509060101010101" pitchFamily="49" charset="-122"/>
                <a:ea typeface="隶书" panose="02010509060101010101" pitchFamily="49" charset="-122"/>
              </a:rPr>
              <a:t>● </a:t>
            </a:r>
            <a:r>
              <a:rPr lang="zh-CN" altLang="en-US" sz="2400" b="1" u="none" dirty="0">
                <a:solidFill>
                  <a:srgbClr val="FF3399"/>
                </a:solidFill>
                <a:latin typeface="隶书" panose="02010509060101010101" pitchFamily="49" charset="-122"/>
                <a:ea typeface="隶书" panose="02010509060101010101" pitchFamily="49" charset="-122"/>
              </a:rPr>
              <a:t>等大球体</a:t>
            </a:r>
            <a:r>
              <a:rPr lang="zh-CN" altLang="en-US" sz="2400" b="1" u="none" dirty="0">
                <a:latin typeface="隶书" panose="02010509060101010101" pitchFamily="49" charset="-122"/>
                <a:ea typeface="隶书" panose="02010509060101010101" pitchFamily="49" charset="-122"/>
              </a:rPr>
              <a:t>还有</a:t>
            </a:r>
            <a:r>
              <a:rPr lang="zh-CN" altLang="en-US" sz="2400" b="1" u="none" dirty="0">
                <a:solidFill>
                  <a:srgbClr val="FF3399"/>
                </a:solidFill>
                <a:latin typeface="隶书" panose="02010509060101010101" pitchFamily="49" charset="-122"/>
                <a:ea typeface="隶书" panose="02010509060101010101" pitchFamily="49" charset="-122"/>
              </a:rPr>
              <a:t>其它堆积方式</a:t>
            </a:r>
            <a:r>
              <a:rPr lang="zh-CN" altLang="en-US" sz="2400" b="1" u="none" dirty="0">
                <a:latin typeface="隶书" panose="02010509060101010101" pitchFamily="49" charset="-122"/>
                <a:ea typeface="隶书" panose="02010509060101010101" pitchFamily="49" charset="-122"/>
              </a:rPr>
              <a:t>，但</a:t>
            </a:r>
            <a:r>
              <a:rPr lang="zh-CN" altLang="en-US" sz="2400" b="1" u="none" dirty="0">
                <a:solidFill>
                  <a:srgbClr val="FF3399"/>
                </a:solidFill>
                <a:latin typeface="隶书" panose="02010509060101010101" pitchFamily="49" charset="-122"/>
                <a:ea typeface="隶书" panose="02010509060101010101" pitchFamily="49" charset="-122"/>
              </a:rPr>
              <a:t>不是最紧密堆积</a:t>
            </a:r>
            <a:r>
              <a:rPr lang="zh-CN" altLang="en-US" sz="2400" b="1" u="none" dirty="0">
                <a:latin typeface="隶书" panose="02010509060101010101" pitchFamily="49" charset="-122"/>
                <a:ea typeface="隶书" panose="02010509060101010101" pitchFamily="49" charset="-122"/>
              </a:rPr>
              <a:t>，</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如体心立方堆积、简单立方堆积、简单六方堆积、</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体心四方堆积、四面体堆积等。</a:t>
            </a:r>
            <a:endParaRPr lang="zh-CN" altLang="en-US" sz="2400" b="1" u="none" dirty="0">
              <a:latin typeface="隶书" panose="02010509060101010101" pitchFamily="49" charset="-122"/>
              <a:ea typeface="隶书" panose="02010509060101010101" pitchFamily="49" charset="-122"/>
            </a:endParaRPr>
          </a:p>
          <a:p>
            <a:pPr>
              <a:spcBef>
                <a:spcPct val="80000"/>
              </a:spcBef>
            </a:pPr>
            <a:r>
              <a:rPr lang="zh-CN" altLang="en-US" sz="2400" b="1" u="none" dirty="0">
                <a:latin typeface="隶书" panose="02010509060101010101" pitchFamily="49" charset="-122"/>
                <a:ea typeface="隶书" panose="02010509060101010101" pitchFamily="49" charset="-122"/>
              </a:rPr>
              <a:t>● 球体密堆积方式还可能有诸如</a:t>
            </a:r>
            <a:r>
              <a:rPr lang="en-US" altLang="zh-CN" sz="2400" b="1" u="none" dirty="0">
                <a:latin typeface="隶书" panose="02010509060101010101" pitchFamily="49" charset="-122"/>
                <a:ea typeface="隶书" panose="02010509060101010101" pitchFamily="49" charset="-122"/>
              </a:rPr>
              <a:t>ABCBABCB</a:t>
            </a:r>
            <a:r>
              <a:rPr lang="en-US" altLang="zh-CN" sz="2400" b="1" u="none" dirty="0">
                <a:latin typeface="Arial" panose="020B0604020202020204" pitchFamily="34" charset="0"/>
                <a:ea typeface="隶书" panose="02010509060101010101" pitchFamily="49" charset="-122"/>
              </a:rPr>
              <a:t>……</a:t>
            </a:r>
            <a:r>
              <a:rPr lang="zh-CN" altLang="en-US" sz="2400" b="1" u="none" dirty="0">
                <a:latin typeface="隶书" panose="02010509060101010101" pitchFamily="49" charset="-122"/>
                <a:ea typeface="隶书" panose="02010509060101010101" pitchFamily="49" charset="-122"/>
              </a:rPr>
              <a:t>等一系列</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不同方式，但在晶体构造中出现很少。六方密堆积和</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立方密堆积是晶体构造中最常见的两种方式。</a:t>
            </a:r>
            <a:endParaRPr lang="zh-CN" altLang="en-US" sz="2400" b="1" u="none" dirty="0">
              <a:latin typeface="隶书" panose="02010509060101010101" pitchFamily="49" charset="-122"/>
              <a:ea typeface="隶书" panose="02010509060101010101" pitchFamily="49" charset="-122"/>
            </a:endParaRPr>
          </a:p>
        </p:txBody>
      </p:sp>
      <p:sp>
        <p:nvSpPr>
          <p:cNvPr id="9" name="矩形 8"/>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571472" y="571486"/>
            <a:ext cx="4546600" cy="946150"/>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sng" dirty="0">
                <a:solidFill>
                  <a:srgbClr val="FF0000"/>
                </a:solidFill>
                <a:latin typeface="Arial" panose="020B0604020202020204" pitchFamily="34" charset="0"/>
              </a:rPr>
              <a:t>C.</a:t>
            </a:r>
            <a:r>
              <a:rPr lang="en-US" altLang="zh-CN" sz="2800" b="1" u="none" dirty="0">
                <a:solidFill>
                  <a:srgbClr val="FF0000"/>
                </a:solidFill>
                <a:latin typeface="Arial" panose="020B0604020202020204" pitchFamily="34" charset="0"/>
              </a:rPr>
              <a:t>  </a:t>
            </a:r>
            <a:r>
              <a:rPr lang="zh-CN" altLang="en-US" sz="2800" b="1" u="sng" dirty="0">
                <a:solidFill>
                  <a:srgbClr val="FF0000"/>
                </a:solidFill>
                <a:latin typeface="Arial" panose="020B0604020202020204" pitchFamily="34" charset="0"/>
              </a:rPr>
              <a:t>不等大球体的紧密堆积</a:t>
            </a:r>
            <a:br>
              <a:rPr lang="zh-CN" altLang="en-US" sz="2800" b="1" u="sng" dirty="0">
                <a:solidFill>
                  <a:srgbClr val="FF0000"/>
                </a:solidFill>
                <a:latin typeface="Arial" panose="020B0604020202020204" pitchFamily="34" charset="0"/>
              </a:rPr>
            </a:br>
            <a:endParaRPr lang="zh-CN" altLang="en-US" sz="2800" b="1" u="sng" dirty="0">
              <a:solidFill>
                <a:srgbClr val="FF0000"/>
              </a:solidFill>
              <a:latin typeface="Arial" panose="020B0604020202020204" pitchFamily="34" charset="0"/>
            </a:endParaRPr>
          </a:p>
        </p:txBody>
      </p:sp>
      <p:sp>
        <p:nvSpPr>
          <p:cNvPr id="9" name="矩形 8"/>
          <p:cNvSpPr/>
          <p:nvPr/>
        </p:nvSpPr>
        <p:spPr>
          <a:xfrm>
            <a:off x="419100" y="1184275"/>
            <a:ext cx="8305800" cy="4035425"/>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400" b="1" u="none" dirty="0">
                <a:latin typeface="隶书" panose="02010509060101010101" pitchFamily="49" charset="-122"/>
                <a:ea typeface="隶书" panose="02010509060101010101" pitchFamily="49" charset="-122"/>
              </a:rPr>
              <a:t>● 对不等大球体堆积，可看成较大的球体作等大球体的</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密堆积，而较小的球按其大小，充填在八面体或四面体</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空隙中，形成不等大球体的紧密堆积。</a:t>
            </a:r>
            <a:endParaRPr lang="zh-CN" altLang="en-US" sz="2400" b="1" u="none" dirty="0">
              <a:latin typeface="隶书" panose="02010509060101010101" pitchFamily="49" charset="-122"/>
              <a:ea typeface="隶书" panose="02010509060101010101" pitchFamily="49" charset="-122"/>
            </a:endParaRPr>
          </a:p>
          <a:p>
            <a:pPr>
              <a:spcBef>
                <a:spcPct val="40000"/>
              </a:spcBef>
            </a:pPr>
            <a:r>
              <a:rPr lang="zh-CN" altLang="en-US" sz="2400" b="1" u="none" dirty="0">
                <a:latin typeface="隶书" panose="02010509060101010101" pitchFamily="49" charset="-122"/>
                <a:ea typeface="隶书" panose="02010509060101010101" pitchFamily="49" charset="-122"/>
              </a:rPr>
              <a:t>● 这种堆积方式，在离子晶体构造中相当于半径较大的</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阴离子作密堆积，半径较小的阳离子充填于空隙中。</a:t>
            </a:r>
            <a:endParaRPr lang="zh-CN" altLang="en-US" sz="2400" b="1" u="none" dirty="0">
              <a:latin typeface="隶书" panose="02010509060101010101" pitchFamily="49" charset="-122"/>
              <a:ea typeface="隶书" panose="02010509060101010101" pitchFamily="49" charset="-122"/>
            </a:endParaRPr>
          </a:p>
          <a:p>
            <a:pPr>
              <a:spcBef>
                <a:spcPct val="40000"/>
              </a:spcBef>
            </a:pPr>
            <a:r>
              <a:rPr lang="zh-CN" altLang="en-US" sz="2400" b="1" u="none" dirty="0">
                <a:latin typeface="隶书" panose="02010509060101010101" pitchFamily="49" charset="-122"/>
                <a:ea typeface="隶书" panose="02010509060101010101" pitchFamily="49" charset="-122"/>
              </a:rPr>
              <a:t>● 在实际晶体中，阳离子的大小不一定无间隙地充填在</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空隙中，当阳离子的尺寸稍大于空隙，将会略微“撑开”</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阴离子堆积。当阳离子的尺寸较小，填充在阴离子空隙</a:t>
            </a:r>
            <a:endParaRPr lang="zh-CN" altLang="en-US" sz="2400" b="1" u="none" dirty="0">
              <a:latin typeface="隶书" panose="02010509060101010101" pitchFamily="49" charset="-122"/>
              <a:ea typeface="隶书" panose="02010509060101010101" pitchFamily="49" charset="-122"/>
            </a:endParaRPr>
          </a:p>
          <a:p>
            <a:r>
              <a:rPr lang="zh-CN" altLang="en-US" sz="2400" b="1" u="none" dirty="0">
                <a:latin typeface="隶书" panose="02010509060101010101" pitchFamily="49" charset="-122"/>
                <a:ea typeface="隶书" panose="02010509060101010101" pitchFamily="49" charset="-122"/>
              </a:rPr>
              <a:t>   内有余量。这两种结果都将对晶体结构及性能产生影响。</a:t>
            </a:r>
            <a:br>
              <a:rPr lang="zh-CN" altLang="en-US" sz="2400" b="1" u="none" dirty="0">
                <a:latin typeface="隶书" panose="02010509060101010101" pitchFamily="49" charset="-122"/>
                <a:ea typeface="隶书" panose="02010509060101010101" pitchFamily="49" charset="-122"/>
              </a:rPr>
            </a:br>
            <a:endParaRPr lang="zh-CN" altLang="en-US" sz="2400" b="1" u="none" dirty="0">
              <a:latin typeface="隶书" panose="02010509060101010101" pitchFamily="49" charset="-122"/>
              <a:ea typeface="隶书" panose="020105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标题 115716"/>
          <p:cNvSpPr>
            <a:spLocks noGrp="1"/>
          </p:cNvSpPr>
          <p:nvPr/>
        </p:nvSpPr>
        <p:spPr>
          <a:xfrm>
            <a:off x="571472" y="714362"/>
            <a:ext cx="7924800" cy="503237"/>
          </a:xfrm>
          <a:prstGeom prst="roundRect">
            <a:avLst>
              <a:gd name="adj" fmla="val 21667"/>
            </a:avLst>
          </a:prstGeom>
          <a:noFill/>
          <a:ln w="9525">
            <a:noFill/>
          </a:ln>
        </p:spPr>
        <p:txBody>
          <a:bodyPr vert="horz" wrap="square" lIns="91440" tIns="45720" rIns="91440" bIns="45720" anchor="b" anchorCtr="0"/>
          <a:lstStyle>
            <a:lvl1pPr marL="0" lvl="0" indent="0" algn="l" defTabSz="914400" rtl="0" eaLnBrk="1" fontAlgn="base" latinLnBrk="0" hangingPunct="1">
              <a:lnSpc>
                <a:spcPct val="90000"/>
              </a:lnSpc>
              <a:spcBef>
                <a:spcPct val="0"/>
              </a:spcBef>
              <a:spcAft>
                <a:spcPct val="0"/>
              </a:spcAft>
              <a:buNone/>
              <a:defRPr sz="3600" b="1" i="0" u="none" kern="1200" baseline="0">
                <a:solidFill>
                  <a:schemeClr val="tx2"/>
                </a:solidFill>
                <a:latin typeface="+mj-lt"/>
                <a:ea typeface="+mj-ea"/>
                <a:cs typeface="+mj-cs"/>
              </a:defRPr>
            </a:lvl1pPr>
          </a:lstStyle>
          <a:p>
            <a:r>
              <a:rPr lang="en-US" altLang="zh-CN" sz="3200" dirty="0">
                <a:solidFill>
                  <a:srgbClr val="000099"/>
                </a:solidFill>
              </a:rPr>
              <a:t>2</a:t>
            </a:r>
            <a:r>
              <a:rPr lang="zh-CN" altLang="en-US" sz="3200" dirty="0">
                <a:solidFill>
                  <a:srgbClr val="000099"/>
                </a:solidFill>
              </a:rPr>
              <a:t>、金属的三种典型结构</a:t>
            </a:r>
            <a:endParaRPr lang="en-US" altLang="zh-CN" sz="3200" dirty="0">
              <a:solidFill>
                <a:srgbClr val="000099"/>
              </a:solidFill>
            </a:endParaRPr>
          </a:p>
        </p:txBody>
      </p:sp>
      <p:sp>
        <p:nvSpPr>
          <p:cNvPr id="9" name="矩形 8"/>
          <p:cNvSpPr/>
          <p:nvPr/>
        </p:nvSpPr>
        <p:spPr>
          <a:xfrm>
            <a:off x="925513" y="1526382"/>
            <a:ext cx="2997200" cy="5191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1)</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面心立方结构</a:t>
            </a:r>
            <a:endParaRPr lang="zh-CN" altLang="en-US" sz="2800" b="1" u="none" dirty="0">
              <a:solidFill>
                <a:srgbClr val="FF0000"/>
              </a:solidFill>
              <a:latin typeface="Arial" panose="020B0604020202020204" pitchFamily="34" charset="0"/>
            </a:endParaRPr>
          </a:p>
        </p:txBody>
      </p:sp>
      <p:sp>
        <p:nvSpPr>
          <p:cNvPr id="10" name="文本框 115718"/>
          <p:cNvSpPr txBox="1"/>
          <p:nvPr/>
        </p:nvSpPr>
        <p:spPr>
          <a:xfrm>
            <a:off x="714348" y="2357436"/>
            <a:ext cx="6767513" cy="222726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000099"/>
                </a:solidFill>
                <a:latin typeface="隶书" panose="02010509060101010101" pitchFamily="49" charset="-122"/>
                <a:ea typeface="隶书" panose="02010509060101010101" pitchFamily="49" charset="-122"/>
              </a:rPr>
              <a:t>以</a:t>
            </a:r>
            <a:r>
              <a:rPr lang="en-US" altLang="zh-CN" sz="2800" b="1" u="none" dirty="0">
                <a:solidFill>
                  <a:srgbClr val="FF0000"/>
                </a:solidFill>
                <a:latin typeface="隶书" panose="02010509060101010101" pitchFamily="49" charset="-122"/>
                <a:ea typeface="隶书" panose="02010509060101010101" pitchFamily="49" charset="-122"/>
              </a:rPr>
              <a:t>ABCABCABC</a:t>
            </a:r>
            <a:r>
              <a:rPr lang="en-US" altLang="zh-CN" sz="2800" b="1" u="none" dirty="0">
                <a:solidFill>
                  <a:srgbClr val="FF0000"/>
                </a:solidFill>
                <a:latin typeface="Arial" panose="020B0604020202020204" pitchFamily="34" charset="0"/>
                <a:ea typeface="隶书" panose="02010509060101010101" pitchFamily="49" charset="-122"/>
              </a:rPr>
              <a:t>…</a:t>
            </a:r>
            <a:r>
              <a:rPr lang="zh-CN" altLang="en-US" sz="2800" b="1" u="none" dirty="0">
                <a:solidFill>
                  <a:srgbClr val="000099"/>
                </a:solidFill>
                <a:latin typeface="隶书" panose="02010509060101010101" pitchFamily="49" charset="-122"/>
                <a:ea typeface="隶书" panose="02010509060101010101" pitchFamily="49" charset="-122"/>
              </a:rPr>
              <a:t>的堆积方式，</a:t>
            </a:r>
            <a:endParaRPr lang="zh-CN" altLang="en-US" sz="2800" b="1" u="none" dirty="0">
              <a:solidFill>
                <a:srgbClr val="000099"/>
              </a:solidFill>
              <a:latin typeface="隶书" panose="02010509060101010101" pitchFamily="49" charset="-122"/>
              <a:ea typeface="隶书" panose="02010509060101010101" pitchFamily="49" charset="-122"/>
            </a:endParaRPr>
          </a:p>
          <a:p>
            <a:r>
              <a:rPr lang="zh-CN" altLang="en-US" sz="2800" b="1" u="none" dirty="0">
                <a:solidFill>
                  <a:srgbClr val="000099"/>
                </a:solidFill>
                <a:latin typeface="隶书" panose="02010509060101010101" pitchFamily="49" charset="-122"/>
                <a:ea typeface="隶书" panose="02010509060101010101" pitchFamily="49" charset="-122"/>
              </a:rPr>
              <a:t>从结构中可分析出</a:t>
            </a:r>
            <a:r>
              <a:rPr lang="zh-CN" altLang="en-US" sz="2800" b="1" u="none" dirty="0">
                <a:solidFill>
                  <a:srgbClr val="FF0000"/>
                </a:solidFill>
                <a:latin typeface="隶书" panose="02010509060101010101" pitchFamily="49" charset="-122"/>
                <a:ea typeface="隶书" panose="02010509060101010101" pitchFamily="49" charset="-122"/>
              </a:rPr>
              <a:t>面心立方</a:t>
            </a:r>
            <a:r>
              <a:rPr lang="zh-CN" altLang="en-US" sz="2800" b="1" u="none" dirty="0">
                <a:solidFill>
                  <a:srgbClr val="000099"/>
                </a:solidFill>
                <a:latin typeface="隶书" panose="02010509060101010101" pitchFamily="49" charset="-122"/>
                <a:ea typeface="隶书" panose="02010509060101010101" pitchFamily="49" charset="-122"/>
              </a:rPr>
              <a:t>晶胞。</a:t>
            </a:r>
            <a:endParaRPr lang="zh-CN" altLang="en-US" sz="2800" b="1" u="none" dirty="0">
              <a:solidFill>
                <a:srgbClr val="000099"/>
              </a:solidFill>
              <a:latin typeface="隶书" panose="02010509060101010101" pitchFamily="49" charset="-122"/>
              <a:ea typeface="隶书" panose="02010509060101010101" pitchFamily="49" charset="-122"/>
            </a:endParaRPr>
          </a:p>
          <a:p>
            <a:endParaRPr lang="zh-CN" altLang="en-US" sz="2800" b="1" u="none" dirty="0">
              <a:solidFill>
                <a:srgbClr val="000099"/>
              </a:solidFill>
              <a:latin typeface="隶书" panose="02010509060101010101" pitchFamily="49" charset="-122"/>
              <a:ea typeface="隶书" panose="02010509060101010101" pitchFamily="49" charset="-122"/>
            </a:endParaRPr>
          </a:p>
          <a:p>
            <a:r>
              <a:rPr lang="zh-CN" altLang="en-US" sz="2800" b="1" u="none" dirty="0">
                <a:solidFill>
                  <a:srgbClr val="000099"/>
                </a:solidFill>
                <a:latin typeface="隶书" panose="02010509060101010101" pitchFamily="49" charset="-122"/>
                <a:ea typeface="隶书" panose="02010509060101010101" pitchFamily="49" charset="-122"/>
              </a:rPr>
              <a:t>具有这种结构的金属：</a:t>
            </a:r>
            <a:r>
              <a:rPr lang="en-US" altLang="zh-CN" sz="2800" b="1" u="none" dirty="0">
                <a:solidFill>
                  <a:srgbClr val="000099"/>
                </a:solidFill>
                <a:latin typeface="隶书" panose="02010509060101010101" pitchFamily="49" charset="-122"/>
                <a:ea typeface="隶书" panose="02010509060101010101" pitchFamily="49" charset="-122"/>
              </a:rPr>
              <a:t>Al</a:t>
            </a:r>
            <a:r>
              <a:rPr lang="zh-CN" altLang="en-US" sz="2800" b="1" u="none" dirty="0">
                <a:solidFill>
                  <a:srgbClr val="000099"/>
                </a:solidFill>
                <a:latin typeface="隶书" panose="02010509060101010101" pitchFamily="49" charset="-122"/>
                <a:ea typeface="隶书" panose="02010509060101010101" pitchFamily="49" charset="-122"/>
              </a:rPr>
              <a:t>、</a:t>
            </a:r>
            <a:r>
              <a:rPr lang="zh-CN" altLang="en-US" sz="2800" b="1" u="none" dirty="0">
                <a:solidFill>
                  <a:srgbClr val="000099"/>
                </a:solidFill>
                <a:latin typeface="隶书" panose="02010509060101010101" pitchFamily="49" charset="-122"/>
                <a:ea typeface="隶书" panose="02010509060101010101" pitchFamily="49" charset="-122"/>
                <a:sym typeface="Symbol" panose="05050102010706020507" pitchFamily="18" charset="2"/>
              </a:rPr>
              <a:t></a:t>
            </a:r>
            <a:r>
              <a:rPr lang="en-US" altLang="zh-CN" sz="2800" b="1" u="none" dirty="0">
                <a:solidFill>
                  <a:srgbClr val="000099"/>
                </a:solidFill>
                <a:latin typeface="隶书" panose="02010509060101010101" pitchFamily="49" charset="-122"/>
                <a:ea typeface="隶书" panose="02010509060101010101" pitchFamily="49" charset="-122"/>
              </a:rPr>
              <a:t>-Fe</a:t>
            </a:r>
            <a:r>
              <a:rPr lang="zh-CN" altLang="en-US" sz="2800" b="1" u="none" dirty="0">
                <a:solidFill>
                  <a:srgbClr val="000099"/>
                </a:solidFill>
                <a:latin typeface="隶书" panose="02010509060101010101" pitchFamily="49" charset="-122"/>
                <a:ea typeface="隶书" panose="02010509060101010101" pitchFamily="49" charset="-122"/>
              </a:rPr>
              <a:t>、</a:t>
            </a:r>
            <a:r>
              <a:rPr lang="en-US" altLang="zh-CN" sz="2800" b="1" u="none" dirty="0">
                <a:solidFill>
                  <a:srgbClr val="000099"/>
                </a:solidFill>
                <a:latin typeface="隶书" panose="02010509060101010101" pitchFamily="49" charset="-122"/>
                <a:ea typeface="隶书" panose="02010509060101010101" pitchFamily="49" charset="-122"/>
              </a:rPr>
              <a:t>Ni</a:t>
            </a:r>
            <a:r>
              <a:rPr lang="zh-CN" altLang="en-US" sz="2800" b="1" u="none" dirty="0">
                <a:solidFill>
                  <a:srgbClr val="000099"/>
                </a:solidFill>
                <a:latin typeface="隶书" panose="02010509060101010101" pitchFamily="49" charset="-122"/>
                <a:ea typeface="隶书" panose="02010509060101010101" pitchFamily="49" charset="-122"/>
              </a:rPr>
              <a:t>、</a:t>
            </a:r>
            <a:r>
              <a:rPr lang="en-US" altLang="zh-CN" sz="2800" b="1" u="none" dirty="0">
                <a:solidFill>
                  <a:srgbClr val="000099"/>
                </a:solidFill>
                <a:latin typeface="隶书" panose="02010509060101010101" pitchFamily="49" charset="-122"/>
                <a:ea typeface="隶书" panose="02010509060101010101" pitchFamily="49" charset="-122"/>
              </a:rPr>
              <a:t>Cu</a:t>
            </a:r>
            <a:r>
              <a:rPr lang="zh-CN" altLang="en-US" sz="2800" b="1" u="none" dirty="0">
                <a:solidFill>
                  <a:srgbClr val="000099"/>
                </a:solidFill>
                <a:latin typeface="隶书" panose="02010509060101010101" pitchFamily="49" charset="-122"/>
                <a:ea typeface="隶书" panose="02010509060101010101" pitchFamily="49" charset="-122"/>
              </a:rPr>
              <a:t>、          </a:t>
            </a:r>
            <a:endParaRPr lang="zh-CN" altLang="en-US" sz="2800" b="1" u="none" dirty="0">
              <a:solidFill>
                <a:srgbClr val="000099"/>
              </a:solidFill>
              <a:latin typeface="隶书" panose="02010509060101010101" pitchFamily="49" charset="-122"/>
              <a:ea typeface="隶书" panose="02010509060101010101" pitchFamily="49" charset="-122"/>
            </a:endParaRPr>
          </a:p>
          <a:p>
            <a:r>
              <a:rPr lang="en-US" altLang="zh-CN" sz="2800" b="1" u="none" dirty="0">
                <a:solidFill>
                  <a:srgbClr val="000099"/>
                </a:solidFill>
                <a:latin typeface="隶书" panose="02010509060101010101" pitchFamily="49" charset="-122"/>
                <a:ea typeface="隶书" panose="02010509060101010101" pitchFamily="49" charset="-122"/>
              </a:rPr>
              <a:t>                    Rh</a:t>
            </a:r>
            <a:r>
              <a:rPr lang="zh-CN" altLang="en-US" sz="2800" b="1" u="none" dirty="0">
                <a:solidFill>
                  <a:srgbClr val="000099"/>
                </a:solidFill>
                <a:latin typeface="隶书" panose="02010509060101010101" pitchFamily="49" charset="-122"/>
                <a:ea typeface="隶书" panose="02010509060101010101" pitchFamily="49" charset="-122"/>
              </a:rPr>
              <a:t>、</a:t>
            </a:r>
            <a:r>
              <a:rPr lang="en-US" altLang="zh-CN" sz="2800" b="1" u="none" dirty="0">
                <a:solidFill>
                  <a:srgbClr val="000099"/>
                </a:solidFill>
                <a:latin typeface="隶书" panose="02010509060101010101" pitchFamily="49" charset="-122"/>
                <a:ea typeface="隶书" panose="02010509060101010101" pitchFamily="49" charset="-122"/>
              </a:rPr>
              <a:t>Pt</a:t>
            </a:r>
            <a:r>
              <a:rPr lang="zh-CN" altLang="en-US" sz="2800" b="1" u="none" dirty="0">
                <a:solidFill>
                  <a:srgbClr val="000099"/>
                </a:solidFill>
                <a:latin typeface="隶书" panose="02010509060101010101" pitchFamily="49" charset="-122"/>
                <a:ea typeface="隶书" panose="02010509060101010101" pitchFamily="49" charset="-122"/>
              </a:rPr>
              <a:t>、</a:t>
            </a:r>
            <a:r>
              <a:rPr lang="en-US" altLang="zh-CN" sz="2800" b="1" u="none" dirty="0">
                <a:solidFill>
                  <a:srgbClr val="000099"/>
                </a:solidFill>
                <a:latin typeface="隶书" panose="02010509060101010101" pitchFamily="49" charset="-122"/>
                <a:ea typeface="隶书" panose="02010509060101010101" pitchFamily="49" charset="-122"/>
              </a:rPr>
              <a:t>Ag</a:t>
            </a:r>
            <a:r>
              <a:rPr lang="zh-CN" altLang="en-US" sz="2800" b="1" u="none" dirty="0">
                <a:solidFill>
                  <a:srgbClr val="000099"/>
                </a:solidFill>
                <a:latin typeface="隶书" panose="02010509060101010101" pitchFamily="49" charset="-122"/>
                <a:ea typeface="隶书" panose="02010509060101010101" pitchFamily="49" charset="-122"/>
              </a:rPr>
              <a:t>和</a:t>
            </a:r>
            <a:r>
              <a:rPr lang="en-US" altLang="zh-CN" sz="2800" b="1" u="none" dirty="0">
                <a:solidFill>
                  <a:srgbClr val="000099"/>
                </a:solidFill>
                <a:latin typeface="隶书" panose="02010509060101010101" pitchFamily="49" charset="-122"/>
                <a:ea typeface="隶书" panose="02010509060101010101" pitchFamily="49" charset="-122"/>
              </a:rPr>
              <a:t>Au</a:t>
            </a:r>
            <a:r>
              <a:rPr lang="zh-CN" altLang="en-US" sz="2800" b="1" u="none" dirty="0">
                <a:solidFill>
                  <a:srgbClr val="000099"/>
                </a:solidFill>
                <a:latin typeface="隶书" panose="02010509060101010101" pitchFamily="49" charset="-122"/>
                <a:ea typeface="隶书" panose="02010509060101010101" pitchFamily="49" charset="-122"/>
              </a:rPr>
              <a:t>。</a:t>
            </a:r>
            <a:endParaRPr lang="zh-CN" altLang="en-US" sz="2800" b="1" u="none" dirty="0">
              <a:solidFill>
                <a:srgbClr val="000099"/>
              </a:solidFill>
              <a:latin typeface="隶书" panose="02010509060101010101" pitchFamily="49" charset="-122"/>
              <a:ea typeface="隶书" panose="02010509060101010101" pitchFamily="49" charset="-122"/>
            </a:endParaRPr>
          </a:p>
        </p:txBody>
      </p:sp>
      <p:pic>
        <p:nvPicPr>
          <p:cNvPr id="11" name="图片 10"/>
          <p:cNvPicPr>
            <a:picLocks noChangeAspect="1"/>
          </p:cNvPicPr>
          <p:nvPr/>
        </p:nvPicPr>
        <p:blipFill>
          <a:blip r:embed="rId3" cstate="print"/>
          <a:stretch>
            <a:fillRect/>
          </a:stretch>
        </p:blipFill>
        <p:spPr>
          <a:xfrm>
            <a:off x="4278005" y="1142990"/>
            <a:ext cx="4549563" cy="1357322"/>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pic>
        <p:nvPicPr>
          <p:cNvPr id="8" name="图片 7"/>
          <p:cNvPicPr>
            <a:picLocks noChangeAspect="1"/>
          </p:cNvPicPr>
          <p:nvPr/>
        </p:nvPicPr>
        <p:blipFill>
          <a:blip r:embed="rId3" cstate="print"/>
          <a:stretch>
            <a:fillRect/>
          </a:stretch>
        </p:blipFill>
        <p:spPr>
          <a:xfrm>
            <a:off x="1785918" y="2786064"/>
            <a:ext cx="5279792" cy="1948297"/>
          </a:xfrm>
          <a:prstGeom prst="rect">
            <a:avLst/>
          </a:prstGeom>
          <a:noFill/>
          <a:ln w="9525">
            <a:noFill/>
          </a:ln>
        </p:spPr>
      </p:pic>
      <p:sp>
        <p:nvSpPr>
          <p:cNvPr id="9" name="矩形 8"/>
          <p:cNvSpPr/>
          <p:nvPr/>
        </p:nvSpPr>
        <p:spPr>
          <a:xfrm>
            <a:off x="785786" y="642924"/>
            <a:ext cx="2997200" cy="5191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2)</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密排六方结构</a:t>
            </a:r>
            <a:endParaRPr lang="zh-CN" altLang="en-US" sz="2800" b="1" u="none" dirty="0">
              <a:solidFill>
                <a:srgbClr val="FF0000"/>
              </a:solidFill>
              <a:latin typeface="Arial" panose="020B0604020202020204" pitchFamily="34" charset="0"/>
            </a:endParaRPr>
          </a:p>
        </p:txBody>
      </p:sp>
      <p:sp>
        <p:nvSpPr>
          <p:cNvPr id="10" name="文本框 109574"/>
          <p:cNvSpPr txBox="1"/>
          <p:nvPr/>
        </p:nvSpPr>
        <p:spPr>
          <a:xfrm>
            <a:off x="642878" y="1214428"/>
            <a:ext cx="8143964" cy="2357454"/>
          </a:xfrm>
          <a:prstGeom prst="rect">
            <a:avLst/>
          </a:prstGeom>
          <a:noFill/>
          <a:ln w="12700">
            <a:noFill/>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20000"/>
              </a:spcBef>
              <a:buClr>
                <a:schemeClr val="tx1"/>
              </a:buClr>
              <a:buSzPct val="75000"/>
              <a:buFont typeface="Wingdings" panose="05000000000000000000" pitchFamily="2" charset="2"/>
            </a:pPr>
            <a:r>
              <a:rPr lang="zh-CN" altLang="en-US" sz="2800" b="1" u="none" dirty="0">
                <a:solidFill>
                  <a:srgbClr val="000099"/>
                </a:solidFill>
                <a:latin typeface="隶书" panose="02010509060101010101" pitchFamily="49" charset="-122"/>
                <a:ea typeface="隶书" panose="02010509060101010101" pitchFamily="49" charset="-122"/>
              </a:rPr>
              <a:t>属于六方紧密堆积，以</a:t>
            </a:r>
            <a:r>
              <a:rPr lang="en-US" altLang="zh-CN" sz="2800" b="1" u="none" dirty="0">
                <a:solidFill>
                  <a:srgbClr val="FF0000"/>
                </a:solidFill>
                <a:latin typeface="隶书" panose="02010509060101010101" pitchFamily="49" charset="-122"/>
                <a:ea typeface="隶书" panose="02010509060101010101" pitchFamily="49" charset="-122"/>
              </a:rPr>
              <a:t>ABABAB</a:t>
            </a:r>
            <a:r>
              <a:rPr lang="en-US" altLang="zh-CN" sz="2800" b="1" u="none" dirty="0">
                <a:solidFill>
                  <a:srgbClr val="FF0000"/>
                </a:solidFill>
                <a:latin typeface="Arial" panose="020B0604020202020204" pitchFamily="34" charset="0"/>
                <a:ea typeface="隶书" panose="02010509060101010101" pitchFamily="49" charset="-122"/>
              </a:rPr>
              <a:t>…</a:t>
            </a:r>
            <a:r>
              <a:rPr lang="zh-CN" altLang="en-US" sz="2800" b="1" u="none" dirty="0">
                <a:solidFill>
                  <a:srgbClr val="000099"/>
                </a:solidFill>
                <a:latin typeface="隶书" panose="02010509060101010101" pitchFamily="49" charset="-122"/>
                <a:ea typeface="隶书" panose="02010509060101010101" pitchFamily="49" charset="-122"/>
              </a:rPr>
              <a:t>的方式堆积</a:t>
            </a:r>
            <a:r>
              <a:rPr lang="zh-CN" altLang="en-US" sz="2800" b="1" u="none" dirty="0" smtClean="0">
                <a:solidFill>
                  <a:srgbClr val="000099"/>
                </a:solidFill>
                <a:latin typeface="隶书" panose="02010509060101010101" pitchFamily="49" charset="-122"/>
                <a:ea typeface="隶书" panose="02010509060101010101" pitchFamily="49" charset="-122"/>
              </a:rPr>
              <a:t>，从</a:t>
            </a:r>
            <a:r>
              <a:rPr lang="zh-CN" altLang="en-US" sz="2800" b="1" u="none" dirty="0">
                <a:solidFill>
                  <a:srgbClr val="000099"/>
                </a:solidFill>
                <a:latin typeface="隶书" panose="02010509060101010101" pitchFamily="49" charset="-122"/>
                <a:ea typeface="隶书" panose="02010509060101010101" pitchFamily="49" charset="-122"/>
              </a:rPr>
              <a:t>结构中可分析出</a:t>
            </a:r>
            <a:r>
              <a:rPr lang="zh-CN" altLang="en-US" sz="2800" b="1" u="none" dirty="0">
                <a:solidFill>
                  <a:srgbClr val="FF0000"/>
                </a:solidFill>
                <a:latin typeface="隶书" panose="02010509060101010101" pitchFamily="49" charset="-122"/>
                <a:ea typeface="隶书" panose="02010509060101010101" pitchFamily="49" charset="-122"/>
              </a:rPr>
              <a:t>六方</a:t>
            </a:r>
            <a:r>
              <a:rPr lang="zh-CN" altLang="en-US" sz="2800" b="1" u="none" dirty="0">
                <a:solidFill>
                  <a:srgbClr val="000099"/>
                </a:solidFill>
                <a:latin typeface="隶书" panose="02010509060101010101" pitchFamily="49" charset="-122"/>
                <a:ea typeface="隶书" panose="02010509060101010101" pitchFamily="49" charset="-122"/>
              </a:rPr>
              <a:t>晶胞。</a:t>
            </a:r>
            <a:endParaRPr lang="zh-CN" altLang="en-US" sz="2800" b="1" u="none" dirty="0">
              <a:solidFill>
                <a:srgbClr val="000099"/>
              </a:solidFill>
              <a:latin typeface="隶书" panose="02010509060101010101" pitchFamily="49" charset="-122"/>
              <a:ea typeface="隶书" panose="02010509060101010101" pitchFamily="49" charset="-122"/>
            </a:endParaRPr>
          </a:p>
          <a:p>
            <a:pPr>
              <a:spcBef>
                <a:spcPct val="80000"/>
              </a:spcBef>
              <a:buClr>
                <a:schemeClr val="tx1"/>
              </a:buClr>
              <a:buSzPct val="75000"/>
              <a:buFont typeface="Wingdings" panose="05000000000000000000" pitchFamily="2" charset="2"/>
            </a:pPr>
            <a:r>
              <a:rPr lang="zh-CN" altLang="en-US" sz="2800" b="1" u="none" dirty="0">
                <a:solidFill>
                  <a:srgbClr val="000099"/>
                </a:solidFill>
                <a:latin typeface="隶书" panose="02010509060101010101" pitchFamily="49" charset="-122"/>
                <a:ea typeface="隶书" panose="02010509060101010101" pitchFamily="49" charset="-122"/>
              </a:rPr>
              <a:t>具有这种结构的金属：</a:t>
            </a:r>
            <a:r>
              <a:rPr lang="en-US" altLang="zh-CN" sz="2400" b="1" u="none" dirty="0">
                <a:solidFill>
                  <a:srgbClr val="000099"/>
                </a:solidFill>
                <a:latin typeface="隶书" panose="02010509060101010101" pitchFamily="49" charset="-122"/>
                <a:ea typeface="隶书" panose="02010509060101010101" pitchFamily="49" charset="-122"/>
              </a:rPr>
              <a:t>Be</a:t>
            </a:r>
            <a:r>
              <a:rPr lang="zh-CN" altLang="en-US" sz="2400" b="1" u="none" dirty="0">
                <a:solidFill>
                  <a:srgbClr val="000099"/>
                </a:solidFill>
                <a:latin typeface="隶书" panose="02010509060101010101" pitchFamily="49" charset="-122"/>
                <a:ea typeface="隶书" panose="02010509060101010101" pitchFamily="49" charset="-122"/>
              </a:rPr>
              <a:t>、</a:t>
            </a:r>
            <a:r>
              <a:rPr lang="en-US" altLang="zh-CN" sz="2400" b="1" u="none" dirty="0">
                <a:solidFill>
                  <a:srgbClr val="000099"/>
                </a:solidFill>
                <a:latin typeface="隶书" panose="02010509060101010101" pitchFamily="49" charset="-122"/>
                <a:ea typeface="隶书" panose="02010509060101010101" pitchFamily="49" charset="-122"/>
              </a:rPr>
              <a:t>Mg</a:t>
            </a:r>
            <a:r>
              <a:rPr lang="zh-CN" altLang="en-US" sz="2400" b="1" u="none" dirty="0">
                <a:solidFill>
                  <a:srgbClr val="000099"/>
                </a:solidFill>
                <a:latin typeface="隶书" panose="02010509060101010101" pitchFamily="49" charset="-122"/>
                <a:ea typeface="隶书" panose="02010509060101010101" pitchFamily="49" charset="-122"/>
              </a:rPr>
              <a:t>、</a:t>
            </a:r>
            <a:r>
              <a:rPr lang="en-US" altLang="zh-CN" sz="2400" b="1" u="none" dirty="0">
                <a:solidFill>
                  <a:srgbClr val="000099"/>
                </a:solidFill>
                <a:latin typeface="隶书" panose="02010509060101010101" pitchFamily="49" charset="-122"/>
                <a:ea typeface="隶书" panose="02010509060101010101" pitchFamily="49" charset="-122"/>
              </a:rPr>
              <a:t>Zn</a:t>
            </a:r>
            <a:r>
              <a:rPr lang="zh-CN" altLang="en-US" sz="2400" b="1" u="none" dirty="0">
                <a:solidFill>
                  <a:srgbClr val="000099"/>
                </a:solidFill>
                <a:latin typeface="隶书" panose="02010509060101010101" pitchFamily="49" charset="-122"/>
                <a:ea typeface="隶书" panose="02010509060101010101" pitchFamily="49" charset="-122"/>
              </a:rPr>
              <a:t>、</a:t>
            </a:r>
            <a:r>
              <a:rPr lang="en-US" altLang="zh-CN" sz="2400" b="1" u="none" dirty="0" err="1">
                <a:solidFill>
                  <a:srgbClr val="000099"/>
                </a:solidFill>
                <a:latin typeface="隶书" panose="02010509060101010101" pitchFamily="49" charset="-122"/>
                <a:ea typeface="隶书" panose="02010509060101010101" pitchFamily="49" charset="-122"/>
              </a:rPr>
              <a:t>Cd</a:t>
            </a:r>
            <a:r>
              <a:rPr lang="zh-CN" altLang="en-US" sz="2400" b="1" u="none" dirty="0" smtClean="0">
                <a:solidFill>
                  <a:srgbClr val="000099"/>
                </a:solidFill>
                <a:latin typeface="隶书" panose="02010509060101010101" pitchFamily="49" charset="-122"/>
                <a:ea typeface="隶书" panose="02010509060101010101" pitchFamily="49" charset="-122"/>
              </a:rPr>
              <a:t>、</a:t>
            </a:r>
            <a:r>
              <a:rPr lang="zh-CN" altLang="en-US" sz="2400" b="1" u="none" dirty="0" smtClean="0">
                <a:solidFill>
                  <a:srgbClr val="000099"/>
                </a:solidFill>
                <a:latin typeface="隶书" panose="02010509060101010101" pitchFamily="49" charset="-122"/>
                <a:ea typeface="隶书" panose="02010509060101010101" pitchFamily="49" charset="-122"/>
                <a:sym typeface="Symbol" panose="05050102010706020507" pitchFamily="18" charset="2"/>
              </a:rPr>
              <a:t></a:t>
            </a:r>
            <a:r>
              <a:rPr lang="en-US" altLang="zh-CN" sz="2400" b="1" u="none" dirty="0">
                <a:solidFill>
                  <a:srgbClr val="000099"/>
                </a:solidFill>
                <a:latin typeface="隶书" panose="02010509060101010101" pitchFamily="49" charset="-122"/>
                <a:ea typeface="隶书" panose="02010509060101010101" pitchFamily="49" charset="-122"/>
              </a:rPr>
              <a:t>-Ti</a:t>
            </a:r>
            <a:r>
              <a:rPr lang="zh-CN" altLang="en-US" sz="2400" b="1" u="none" dirty="0">
                <a:solidFill>
                  <a:srgbClr val="000099"/>
                </a:solidFill>
                <a:latin typeface="隶书" panose="02010509060101010101" pitchFamily="49" charset="-122"/>
                <a:ea typeface="隶书" panose="02010509060101010101" pitchFamily="49" charset="-122"/>
              </a:rPr>
              <a:t>和</a:t>
            </a:r>
            <a:r>
              <a:rPr lang="zh-CN" altLang="en-US" sz="2400" b="1" u="none" dirty="0">
                <a:solidFill>
                  <a:srgbClr val="000099"/>
                </a:solidFill>
                <a:latin typeface="隶书" panose="02010509060101010101" pitchFamily="49" charset="-122"/>
                <a:ea typeface="隶书" panose="02010509060101010101" pitchFamily="49" charset="-122"/>
                <a:sym typeface="Symbol" panose="05050102010706020507" pitchFamily="18" charset="2"/>
              </a:rPr>
              <a:t></a:t>
            </a:r>
            <a:r>
              <a:rPr lang="en-US" altLang="zh-CN" sz="2400" b="1" u="none" dirty="0">
                <a:solidFill>
                  <a:srgbClr val="000099"/>
                </a:solidFill>
                <a:latin typeface="隶书" panose="02010509060101010101" pitchFamily="49" charset="-122"/>
                <a:ea typeface="隶书" panose="02010509060101010101" pitchFamily="49" charset="-122"/>
              </a:rPr>
              <a:t>-Co</a:t>
            </a:r>
            <a:r>
              <a:rPr lang="zh-CN" altLang="en-US" sz="2800" b="1" u="none" dirty="0">
                <a:solidFill>
                  <a:srgbClr val="000099"/>
                </a:solidFill>
                <a:latin typeface="隶书" panose="02010509060101010101" pitchFamily="49" charset="-122"/>
                <a:ea typeface="隶书" panose="02010509060101010101" pitchFamily="49" charset="-122"/>
              </a:rPr>
              <a:t>。</a:t>
            </a:r>
            <a:endParaRPr lang="zh-CN" altLang="en-US" sz="2800" b="1" u="none" dirty="0">
              <a:solidFill>
                <a:srgbClr val="000099"/>
              </a:solidFill>
              <a:latin typeface="隶书" panose="02010509060101010101" pitchFamily="49" charset="-122"/>
              <a:ea typeface="隶书" panose="02010509060101010101" pitchFamily="49" charset="-122"/>
            </a:endParaRPr>
          </a:p>
          <a:p>
            <a:pPr>
              <a:spcBef>
                <a:spcPct val="50000"/>
              </a:spcBef>
            </a:pPr>
            <a:endParaRPr lang="zh-CN" altLang="en-US" sz="2800" u="none" dirty="0">
              <a:latin typeface="隶书" panose="02010509060101010101" pitchFamily="49" charset="-122"/>
              <a:ea typeface="隶书" panose="020105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pic>
        <p:nvPicPr>
          <p:cNvPr id="7" name="图片 6"/>
          <p:cNvPicPr>
            <a:picLocks noChangeAspect="1"/>
          </p:cNvPicPr>
          <p:nvPr/>
        </p:nvPicPr>
        <p:blipFill>
          <a:blip r:embed="rId3" cstate="print"/>
          <a:stretch>
            <a:fillRect/>
          </a:stretch>
        </p:blipFill>
        <p:spPr>
          <a:xfrm>
            <a:off x="1039019" y="2977356"/>
            <a:ext cx="7327900" cy="2159000"/>
          </a:xfrm>
          <a:prstGeom prst="rect">
            <a:avLst/>
          </a:prstGeom>
          <a:noFill/>
          <a:ln w="9525">
            <a:noFill/>
          </a:ln>
        </p:spPr>
      </p:pic>
      <p:sp>
        <p:nvSpPr>
          <p:cNvPr id="8" name="矩形 7"/>
          <p:cNvSpPr/>
          <p:nvPr/>
        </p:nvSpPr>
        <p:spPr>
          <a:xfrm>
            <a:off x="714348" y="642924"/>
            <a:ext cx="2997200" cy="5191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3)</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体心立方结构</a:t>
            </a:r>
            <a:endParaRPr lang="zh-CN" altLang="en-US" sz="2800" b="1" u="none" dirty="0">
              <a:solidFill>
                <a:srgbClr val="FF0000"/>
              </a:solidFill>
              <a:latin typeface="Arial" panose="020B0604020202020204" pitchFamily="34" charset="0"/>
            </a:endParaRPr>
          </a:p>
        </p:txBody>
      </p:sp>
      <p:sp>
        <p:nvSpPr>
          <p:cNvPr id="9" name="文本框 110598"/>
          <p:cNvSpPr txBox="1"/>
          <p:nvPr/>
        </p:nvSpPr>
        <p:spPr>
          <a:xfrm>
            <a:off x="928662" y="1071552"/>
            <a:ext cx="7696200" cy="2141538"/>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buClr>
                <a:schemeClr val="tx1"/>
              </a:buClr>
              <a:buSzPct val="75000"/>
              <a:buFont typeface="Wingdings" panose="05000000000000000000" pitchFamily="2" charset="2"/>
            </a:pPr>
            <a:r>
              <a:rPr lang="zh-CN" altLang="en-US" sz="2800" b="1" u="none" dirty="0">
                <a:solidFill>
                  <a:srgbClr val="000099"/>
                </a:solidFill>
                <a:latin typeface="隶书" panose="02010509060101010101" pitchFamily="49" charset="-122"/>
                <a:ea typeface="隶书" panose="02010509060101010101" pitchFamily="49" charset="-122"/>
              </a:rPr>
              <a:t>属于体心立方紧密堆积，原子是以</a:t>
            </a:r>
            <a:r>
              <a:rPr lang="zh-CN" altLang="en-US" sz="2800" b="1" u="none" dirty="0">
                <a:solidFill>
                  <a:srgbClr val="FF0000"/>
                </a:solidFill>
                <a:latin typeface="隶书" panose="02010509060101010101" pitchFamily="49" charset="-122"/>
                <a:ea typeface="隶书" panose="02010509060101010101" pitchFamily="49" charset="-122"/>
              </a:rPr>
              <a:t>体心立方</a:t>
            </a:r>
            <a:r>
              <a:rPr lang="zh-CN" altLang="en-US" sz="2800" b="1" u="none" dirty="0">
                <a:solidFill>
                  <a:srgbClr val="000099"/>
                </a:solidFill>
                <a:latin typeface="隶书" panose="02010509060101010101" pitchFamily="49" charset="-122"/>
                <a:ea typeface="隶书" panose="02010509060101010101" pitchFamily="49" charset="-122"/>
              </a:rPr>
              <a:t>空间点阵的形式排列，可分析出</a:t>
            </a:r>
            <a:r>
              <a:rPr lang="zh-CN" altLang="en-US" sz="2800" b="1" u="none" dirty="0">
                <a:solidFill>
                  <a:srgbClr val="FF0000"/>
                </a:solidFill>
                <a:latin typeface="隶书" panose="02010509060101010101" pitchFamily="49" charset="-122"/>
                <a:ea typeface="隶书" panose="02010509060101010101" pitchFamily="49" charset="-122"/>
              </a:rPr>
              <a:t>体心立方</a:t>
            </a:r>
            <a:r>
              <a:rPr lang="zh-CN" altLang="en-US" sz="2800" b="1" u="none" dirty="0">
                <a:solidFill>
                  <a:srgbClr val="000099"/>
                </a:solidFill>
                <a:latin typeface="隶书" panose="02010509060101010101" pitchFamily="49" charset="-122"/>
                <a:ea typeface="隶书" panose="02010509060101010101" pitchFamily="49" charset="-122"/>
              </a:rPr>
              <a:t>晶胞。</a:t>
            </a:r>
            <a:endParaRPr lang="zh-CN" altLang="en-US" sz="2800" b="1" u="none" dirty="0">
              <a:solidFill>
                <a:srgbClr val="000099"/>
              </a:solidFill>
              <a:latin typeface="隶书" panose="02010509060101010101" pitchFamily="49" charset="-122"/>
              <a:ea typeface="隶书" panose="02010509060101010101" pitchFamily="49" charset="-122"/>
            </a:endParaRPr>
          </a:p>
          <a:p>
            <a:pPr>
              <a:spcBef>
                <a:spcPct val="80000"/>
              </a:spcBef>
              <a:buClr>
                <a:schemeClr val="tx1"/>
              </a:buClr>
              <a:buSzPct val="75000"/>
              <a:buFont typeface="Wingdings" panose="05000000000000000000" pitchFamily="2" charset="2"/>
            </a:pPr>
            <a:r>
              <a:rPr lang="zh-CN" altLang="en-US" sz="2800" b="1" u="none" dirty="0">
                <a:solidFill>
                  <a:srgbClr val="000099"/>
                </a:solidFill>
                <a:latin typeface="隶书" panose="02010509060101010101" pitchFamily="49" charset="-122"/>
                <a:ea typeface="隶书" panose="02010509060101010101" pitchFamily="49" charset="-122"/>
              </a:rPr>
              <a:t>具有这种结构的金属：</a:t>
            </a:r>
            <a:r>
              <a:rPr lang="en-US" altLang="zh-CN" sz="2800" b="1" u="none" dirty="0">
                <a:solidFill>
                  <a:srgbClr val="000099"/>
                </a:solidFill>
                <a:latin typeface="隶书" panose="02010509060101010101" pitchFamily="49" charset="-122"/>
                <a:ea typeface="隶书" panose="02010509060101010101" pitchFamily="49" charset="-122"/>
              </a:rPr>
              <a:t>V</a:t>
            </a:r>
            <a:r>
              <a:rPr lang="zh-CN" altLang="en-US" sz="2800" b="1" u="none" dirty="0">
                <a:solidFill>
                  <a:srgbClr val="000099"/>
                </a:solidFill>
                <a:latin typeface="隶书" panose="02010509060101010101" pitchFamily="49" charset="-122"/>
                <a:ea typeface="隶书" panose="02010509060101010101" pitchFamily="49" charset="-122"/>
              </a:rPr>
              <a:t>、</a:t>
            </a:r>
            <a:r>
              <a:rPr lang="zh-CN" altLang="en-US" sz="2800" b="1" u="none" dirty="0">
                <a:solidFill>
                  <a:srgbClr val="000099"/>
                </a:solidFill>
                <a:latin typeface="隶书" panose="02010509060101010101" pitchFamily="49" charset="-122"/>
                <a:ea typeface="隶书" panose="02010509060101010101" pitchFamily="49" charset="-122"/>
                <a:sym typeface="Symbol" panose="05050102010706020507" pitchFamily="18" charset="2"/>
              </a:rPr>
              <a:t></a:t>
            </a:r>
            <a:r>
              <a:rPr lang="en-US" altLang="zh-CN" sz="2800" b="1" u="none" dirty="0">
                <a:solidFill>
                  <a:srgbClr val="000099"/>
                </a:solidFill>
                <a:latin typeface="隶书" panose="02010509060101010101" pitchFamily="49" charset="-122"/>
                <a:ea typeface="隶书" panose="02010509060101010101" pitchFamily="49" charset="-122"/>
              </a:rPr>
              <a:t>-Fe</a:t>
            </a:r>
            <a:r>
              <a:rPr lang="zh-CN" altLang="en-US" sz="2800" b="1" u="none" dirty="0">
                <a:solidFill>
                  <a:srgbClr val="000099"/>
                </a:solidFill>
                <a:latin typeface="隶书" panose="02010509060101010101" pitchFamily="49" charset="-122"/>
                <a:ea typeface="隶书" panose="02010509060101010101" pitchFamily="49" charset="-122"/>
              </a:rPr>
              <a:t>、</a:t>
            </a:r>
            <a:r>
              <a:rPr lang="en-US" altLang="zh-CN" sz="2800" b="1" u="none" dirty="0">
                <a:solidFill>
                  <a:srgbClr val="000099"/>
                </a:solidFill>
                <a:latin typeface="隶书" panose="02010509060101010101" pitchFamily="49" charset="-122"/>
                <a:ea typeface="隶书" panose="02010509060101010101" pitchFamily="49" charset="-122"/>
              </a:rPr>
              <a:t>Nb</a:t>
            </a:r>
            <a:r>
              <a:rPr lang="zh-CN" altLang="en-US" sz="2800" b="1" u="none" dirty="0">
                <a:solidFill>
                  <a:srgbClr val="000099"/>
                </a:solidFill>
                <a:latin typeface="隶书" panose="02010509060101010101" pitchFamily="49" charset="-122"/>
                <a:ea typeface="隶书" panose="02010509060101010101" pitchFamily="49" charset="-122"/>
              </a:rPr>
              <a:t>、</a:t>
            </a:r>
            <a:r>
              <a:rPr lang="en-US" altLang="zh-CN" sz="2800" b="1" u="none" dirty="0">
                <a:solidFill>
                  <a:srgbClr val="000099"/>
                </a:solidFill>
                <a:latin typeface="隶书" panose="02010509060101010101" pitchFamily="49" charset="-122"/>
                <a:ea typeface="隶书" panose="02010509060101010101" pitchFamily="49" charset="-122"/>
              </a:rPr>
              <a:t>Mo</a:t>
            </a:r>
            <a:r>
              <a:rPr lang="zh-CN" altLang="en-US" sz="2800" b="1" u="none" dirty="0">
                <a:solidFill>
                  <a:srgbClr val="000099"/>
                </a:solidFill>
                <a:latin typeface="隶书" panose="02010509060101010101" pitchFamily="49" charset="-122"/>
                <a:ea typeface="隶书" panose="02010509060101010101" pitchFamily="49" charset="-122"/>
              </a:rPr>
              <a:t>、</a:t>
            </a:r>
            <a:endParaRPr lang="zh-CN" altLang="en-US" sz="2800" b="1" u="none" dirty="0">
              <a:solidFill>
                <a:srgbClr val="000099"/>
              </a:solidFill>
              <a:latin typeface="隶书" panose="02010509060101010101" pitchFamily="49" charset="-122"/>
              <a:ea typeface="隶书" panose="02010509060101010101" pitchFamily="49" charset="-122"/>
            </a:endParaRPr>
          </a:p>
          <a:p>
            <a:pPr>
              <a:buClr>
                <a:schemeClr val="tx1"/>
              </a:buClr>
              <a:buSzPct val="75000"/>
              <a:buFont typeface="Wingdings" panose="05000000000000000000" pitchFamily="2" charset="2"/>
            </a:pPr>
            <a:r>
              <a:rPr lang="en-US" altLang="zh-CN" sz="2800" b="1" u="none" dirty="0">
                <a:solidFill>
                  <a:srgbClr val="000099"/>
                </a:solidFill>
                <a:latin typeface="隶书" panose="02010509060101010101" pitchFamily="49" charset="-122"/>
                <a:ea typeface="隶书" panose="02010509060101010101" pitchFamily="49" charset="-122"/>
              </a:rPr>
              <a:t>                    Cr</a:t>
            </a:r>
            <a:r>
              <a:rPr lang="zh-CN" altLang="en-US" sz="2800" b="1" u="none" dirty="0">
                <a:solidFill>
                  <a:srgbClr val="000099"/>
                </a:solidFill>
                <a:latin typeface="隶书" panose="02010509060101010101" pitchFamily="49" charset="-122"/>
                <a:ea typeface="隶书" panose="02010509060101010101" pitchFamily="49" charset="-122"/>
              </a:rPr>
              <a:t>和</a:t>
            </a:r>
            <a:r>
              <a:rPr lang="en-US" altLang="zh-CN" sz="2800" b="1" u="none" dirty="0">
                <a:solidFill>
                  <a:srgbClr val="000099"/>
                </a:solidFill>
                <a:latin typeface="隶书" panose="02010509060101010101" pitchFamily="49" charset="-122"/>
                <a:ea typeface="隶书" panose="02010509060101010101" pitchFamily="49" charset="-122"/>
              </a:rPr>
              <a:t>W</a:t>
            </a:r>
            <a:r>
              <a:rPr lang="zh-CN" altLang="en-US" sz="2800" b="1" u="none" dirty="0">
                <a:solidFill>
                  <a:srgbClr val="000099"/>
                </a:solidFill>
                <a:latin typeface="隶书" panose="02010509060101010101" pitchFamily="49" charset="-122"/>
                <a:ea typeface="隶书" panose="02010509060101010101" pitchFamily="49" charset="-122"/>
              </a:rPr>
              <a:t>。</a:t>
            </a:r>
            <a:endParaRPr lang="zh-CN" altLang="en-US" sz="2800" b="1" u="none" dirty="0">
              <a:solidFill>
                <a:srgbClr val="000099"/>
              </a:solidFill>
              <a:latin typeface="隶书" panose="02010509060101010101" pitchFamily="49" charset="-122"/>
              <a:ea typeface="隶书" panose="02010509060101010101" pitchFamily="49" charset="-122"/>
            </a:endParaRPr>
          </a:p>
        </p:txBody>
      </p:sp>
      <p:sp>
        <p:nvSpPr>
          <p:cNvPr id="10" name="矩形 9"/>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grpSp>
        <p:nvGrpSpPr>
          <p:cNvPr id="8" name="组合 7"/>
          <p:cNvGrpSpPr/>
          <p:nvPr/>
        </p:nvGrpSpPr>
        <p:grpSpPr>
          <a:xfrm>
            <a:off x="4071934" y="2643188"/>
            <a:ext cx="1785937" cy="1857376"/>
            <a:chOff x="4206" y="402"/>
            <a:chExt cx="1323" cy="1255"/>
          </a:xfrm>
        </p:grpSpPr>
        <p:grpSp>
          <p:nvGrpSpPr>
            <p:cNvPr id="37" name="组合 36"/>
            <p:cNvGrpSpPr/>
            <p:nvPr/>
          </p:nvGrpSpPr>
          <p:grpSpPr>
            <a:xfrm>
              <a:off x="4427" y="857"/>
              <a:ext cx="645" cy="617"/>
              <a:chOff x="3467" y="817"/>
              <a:chExt cx="645" cy="617"/>
            </a:xfrm>
          </p:grpSpPr>
          <p:sp>
            <p:nvSpPr>
              <p:cNvPr id="67" name="任意多边形 66"/>
              <p:cNvSpPr/>
              <p:nvPr/>
            </p:nvSpPr>
            <p:spPr>
              <a:xfrm flipH="1" flipV="1">
                <a:off x="3663" y="819"/>
                <a:ext cx="447" cy="465"/>
              </a:xfrm>
              <a:custGeom>
                <a:avLst/>
                <a:gdLst>
                  <a:gd name="txL" fmla="*/ 0 w 21745"/>
                  <a:gd name="txT" fmla="*/ 0 h 21740"/>
                  <a:gd name="txR" fmla="*/ 21745 w 21745"/>
                  <a:gd name="txB" fmla="*/ 21740 h 21740"/>
                </a:gdLst>
                <a:ahLst/>
                <a:cxnLst>
                  <a:cxn ang="0">
                    <a:pos x="21745" y="21739"/>
                  </a:cxn>
                  <a:cxn ang="270">
                    <a:pos x="0" y="0"/>
                  </a:cxn>
                  <a:cxn ang="0">
                    <a:pos x="21600" y="140"/>
                  </a:cxn>
                </a:cxnLst>
                <a:rect l="txL" t="txT" r="txR" b="txB"/>
                <a:pathLst>
                  <a:path w="21745" h="21740" fill="none">
                    <a:moveTo>
                      <a:pt x="21745" y="21739"/>
                    </a:moveTo>
                    <a:arcTo wR="21600" hR="21600" stAng="-16223078" swAng="5445360"/>
                  </a:path>
                  <a:path w="21745" h="21740" stroke="0">
                    <a:moveTo>
                      <a:pt x="21745" y="21739"/>
                    </a:moveTo>
                    <a:arcTo wR="21600" hR="21600" stAng="-16223078" swAng="5445360"/>
                    <a:lnTo>
                      <a:pt x="21600" y="140"/>
                    </a:lnTo>
                    <a:close/>
                  </a:path>
                </a:pathLst>
              </a:custGeom>
              <a:gradFill rotWithShape="1">
                <a:gsLst>
                  <a:gs pos="0">
                    <a:srgbClr val="0099FF"/>
                  </a:gs>
                  <a:gs pos="100000">
                    <a:srgbClr val="0099FF">
                      <a:gamma/>
                      <a:tint val="13725"/>
                      <a:invGamma/>
                    </a:srgbClr>
                  </a:gs>
                </a:gsLst>
                <a:lin ang="189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8" name="任意多边形 67"/>
              <p:cNvSpPr/>
              <p:nvPr/>
            </p:nvSpPr>
            <p:spPr>
              <a:xfrm rot="5400000" flipH="1">
                <a:off x="3269" y="1015"/>
                <a:ext cx="600" cy="203"/>
              </a:xfrm>
              <a:custGeom>
                <a:avLst/>
                <a:gdLst>
                  <a:gd name="txL" fmla="*/ 0 w 28746"/>
                  <a:gd name="txT" fmla="*/ 0 h 21600"/>
                  <a:gd name="txR" fmla="*/ 28746 w 28746"/>
                  <a:gd name="txB" fmla="*/ 21600 h 21600"/>
                </a:gdLst>
                <a:ahLst/>
                <a:cxnLst>
                  <a:cxn ang="0">
                    <a:pos x="28745" y="482"/>
                  </a:cxn>
                  <a:cxn ang="180">
                    <a:pos x="0" y="20382"/>
                  </a:cxn>
                  <a:cxn ang="270">
                    <a:pos x="7151" y="0"/>
                  </a:cxn>
                </a:cxnLst>
                <a:rect l="txL" t="txT" r="txR" b="txB"/>
                <a:pathLst>
                  <a:path w="28746" h="21600" fill="none">
                    <a:moveTo>
                      <a:pt x="28745" y="482"/>
                    </a:moveTo>
                    <a:arcTo wR="21600" hR="21600" stAng="-21523279" swAng="6483280"/>
                  </a:path>
                  <a:path w="28746" h="21600" stroke="0">
                    <a:moveTo>
                      <a:pt x="28745" y="482"/>
                    </a:moveTo>
                    <a:arcTo wR="21600" hR="21600" stAng="-21523279" swAng="6483280"/>
                    <a:lnTo>
                      <a:pt x="7151" y="0"/>
                    </a:lnTo>
                    <a:close/>
                  </a:path>
                </a:pathLst>
              </a:custGeom>
              <a:gradFill rotWithShape="1">
                <a:gsLst>
                  <a:gs pos="0">
                    <a:srgbClr val="0099FF">
                      <a:gamma/>
                      <a:tint val="20000"/>
                      <a:invGamma/>
                    </a:srgbClr>
                  </a:gs>
                  <a:gs pos="100000">
                    <a:srgbClr val="0099FF"/>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9" name="任意多边形 68"/>
              <p:cNvSpPr/>
              <p:nvPr/>
            </p:nvSpPr>
            <p:spPr>
              <a:xfrm>
                <a:off x="3476" y="1268"/>
                <a:ext cx="636" cy="166"/>
              </a:xfrm>
              <a:custGeom>
                <a:avLst/>
                <a:gdLst>
                  <a:gd name="txL" fmla="*/ 0 w 30373"/>
                  <a:gd name="txT" fmla="*/ 0 h 21600"/>
                  <a:gd name="txR" fmla="*/ 30373 w 30373"/>
                  <a:gd name="txB" fmla="*/ 21600 h 21600"/>
                </a:gdLst>
                <a:ahLst/>
                <a:cxnLst>
                  <a:cxn ang="0">
                    <a:pos x="30372" y="315"/>
                  </a:cxn>
                  <a:cxn ang="180">
                    <a:pos x="0" y="19737"/>
                  </a:cxn>
                  <a:cxn ang="270">
                    <a:pos x="8775" y="0"/>
                  </a:cxn>
                </a:cxnLst>
                <a:rect l="txL" t="txT" r="txR" b="txB"/>
                <a:pathLst>
                  <a:path w="30373" h="21600" fill="none">
                    <a:moveTo>
                      <a:pt x="30372" y="315"/>
                    </a:moveTo>
                    <a:arcTo wR="21600" hR="21600" stAng="-21549863" swAng="6788048"/>
                  </a:path>
                  <a:path w="30373" h="21600" stroke="0">
                    <a:moveTo>
                      <a:pt x="30372" y="315"/>
                    </a:moveTo>
                    <a:arcTo wR="21600" hR="21600" stAng="-21549863" swAng="6788048"/>
                    <a:lnTo>
                      <a:pt x="8775" y="0"/>
                    </a:lnTo>
                    <a:close/>
                  </a:path>
                </a:pathLst>
              </a:custGeom>
              <a:gradFill rotWithShape="1">
                <a:gsLst>
                  <a:gs pos="0">
                    <a:srgbClr val="0099FF">
                      <a:gamma/>
                      <a:tint val="13725"/>
                      <a:invGamma/>
                    </a:srgbClr>
                  </a:gs>
                  <a:gs pos="100000">
                    <a:srgbClr val="0099FF"/>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38" name="组合 37"/>
            <p:cNvGrpSpPr/>
            <p:nvPr/>
          </p:nvGrpSpPr>
          <p:grpSpPr>
            <a:xfrm>
              <a:off x="5085" y="867"/>
              <a:ext cx="444" cy="728"/>
              <a:chOff x="5085" y="867"/>
              <a:chExt cx="444" cy="728"/>
            </a:xfrm>
          </p:grpSpPr>
          <p:sp>
            <p:nvSpPr>
              <p:cNvPr id="65" name="任意多边形 64"/>
              <p:cNvSpPr/>
              <p:nvPr/>
            </p:nvSpPr>
            <p:spPr>
              <a:xfrm flipV="1">
                <a:off x="5085" y="867"/>
                <a:ext cx="444" cy="728"/>
              </a:xfrm>
              <a:custGeom>
                <a:avLst/>
                <a:gdLst>
                  <a:gd name="txL" fmla="*/ 0 w 21600"/>
                  <a:gd name="txT" fmla="*/ 0 h 34463"/>
                  <a:gd name="txR" fmla="*/ 21600 w 21600"/>
                  <a:gd name="txB" fmla="*/ 34463 h 34463"/>
                </a:gdLst>
                <a:ahLst/>
                <a:cxnLst>
                  <a:cxn ang="90">
                    <a:pos x="21127" y="34462"/>
                  </a:cxn>
                  <a:cxn ang="270">
                    <a:pos x="4251" y="0"/>
                  </a:cxn>
                  <a:cxn ang="0">
                    <a:pos x="21600" y="12868"/>
                  </a:cxn>
                </a:cxnLst>
                <a:rect l="txL" t="txT" r="txR" b="txB"/>
                <a:pathLst>
                  <a:path w="21600" h="34463" fill="none">
                    <a:moveTo>
                      <a:pt x="21127" y="34462"/>
                    </a:moveTo>
                    <a:arcTo wR="21600" hR="21600" stAng="-16124711" swAng="7518602"/>
                  </a:path>
                  <a:path w="21600" h="34463" stroke="0">
                    <a:moveTo>
                      <a:pt x="21127" y="34462"/>
                    </a:moveTo>
                    <a:arcTo wR="21600" hR="21600" stAng="-16124711" swAng="7518602"/>
                    <a:lnTo>
                      <a:pt x="21600" y="12868"/>
                    </a:lnTo>
                    <a:close/>
                  </a:path>
                </a:pathLst>
              </a:custGeom>
              <a:gradFill rotWithShape="1">
                <a:gsLst>
                  <a:gs pos="0">
                    <a:srgbClr val="0099FF"/>
                  </a:gs>
                  <a:gs pos="100000">
                    <a:srgbClr val="0099FF">
                      <a:gamma/>
                      <a:tint val="13725"/>
                      <a:invGamma/>
                    </a:srgbClr>
                  </a:gs>
                </a:gsLst>
                <a:lin ang="189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6" name="任意多边形 65"/>
              <p:cNvSpPr/>
              <p:nvPr/>
            </p:nvSpPr>
            <p:spPr>
              <a:xfrm rot="5400000" flipH="1">
                <a:off x="5123" y="1069"/>
                <a:ext cx="600" cy="195"/>
              </a:xfrm>
              <a:custGeom>
                <a:avLst/>
                <a:gdLst>
                  <a:gd name="txL" fmla="*/ 0 w 28751"/>
                  <a:gd name="txT" fmla="*/ 0 h 21600"/>
                  <a:gd name="txR" fmla="*/ 28751 w 28751"/>
                  <a:gd name="txB" fmla="*/ 21600 h 21600"/>
                </a:gdLst>
                <a:ahLst/>
                <a:cxnLst>
                  <a:cxn ang="0">
                    <a:pos x="28751" y="0"/>
                  </a:cxn>
                  <a:cxn ang="180">
                    <a:pos x="0" y="20382"/>
                  </a:cxn>
                  <a:cxn ang="270">
                    <a:pos x="7151" y="0"/>
                  </a:cxn>
                </a:cxnLst>
                <a:rect l="txL" t="txT" r="txR" b="txB"/>
                <a:pathLst>
                  <a:path w="28751" h="21600" fill="none">
                    <a:moveTo>
                      <a:pt x="28751" y="0"/>
                    </a:moveTo>
                    <a:arcTo wR="21600" hR="21600" stAng="0" swAng="6560002"/>
                  </a:path>
                  <a:path w="28751" h="21600" stroke="0">
                    <a:moveTo>
                      <a:pt x="28751" y="0"/>
                    </a:moveTo>
                    <a:arcTo wR="21600" hR="21600" stAng="0" swAng="6560002"/>
                    <a:lnTo>
                      <a:pt x="7151" y="0"/>
                    </a:lnTo>
                    <a:close/>
                  </a:path>
                </a:pathLst>
              </a:custGeom>
              <a:gradFill rotWithShape="1">
                <a:gsLst>
                  <a:gs pos="0">
                    <a:srgbClr val="0099FF">
                      <a:gamma/>
                      <a:tint val="20000"/>
                      <a:invGamma/>
                    </a:srgbClr>
                  </a:gs>
                  <a:gs pos="100000">
                    <a:srgbClr val="0099FF"/>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39" name="组合 38"/>
            <p:cNvGrpSpPr/>
            <p:nvPr/>
          </p:nvGrpSpPr>
          <p:grpSpPr>
            <a:xfrm>
              <a:off x="5081" y="402"/>
              <a:ext cx="447" cy="460"/>
              <a:chOff x="5081" y="402"/>
              <a:chExt cx="447" cy="460"/>
            </a:xfrm>
          </p:grpSpPr>
          <p:sp>
            <p:nvSpPr>
              <p:cNvPr id="62" name="任意多边形 61"/>
              <p:cNvSpPr/>
              <p:nvPr/>
            </p:nvSpPr>
            <p:spPr>
              <a:xfrm flipV="1">
                <a:off x="5084" y="406"/>
                <a:ext cx="444" cy="456"/>
              </a:xfrm>
              <a:custGeom>
                <a:avLst/>
                <a:gdLst>
                  <a:gd name="txL" fmla="*/ 0 w 21600"/>
                  <a:gd name="txT" fmla="*/ 0 h 21600"/>
                  <a:gd name="txR" fmla="*/ 21600 w 21600"/>
                  <a:gd name="txB" fmla="*/ 21600 h 21600"/>
                </a:gdLst>
                <a:ahLst/>
                <a:cxnLst>
                  <a:cxn ang="90">
                    <a:pos x="0" y="21600"/>
                  </a:cxn>
                  <a:cxn ang="270">
                    <a:pos x="21453" y="0"/>
                  </a:cxn>
                  <a:cxn ang="90">
                    <a:pos x="21600" y="21600"/>
                  </a:cxn>
                </a:cxnLst>
                <a:rect l="txL" t="txT" r="txR" b="txB"/>
                <a:pathLst>
                  <a:path w="21600" h="21600" fill="none">
                    <a:moveTo>
                      <a:pt x="0" y="21600"/>
                    </a:moveTo>
                    <a:arcTo wR="21600" hR="21600" stAng="-10800000" swAng="5376605"/>
                  </a:path>
                  <a:path w="21600" h="21600" stroke="0">
                    <a:moveTo>
                      <a:pt x="0" y="21600"/>
                    </a:moveTo>
                    <a:arcTo wR="21600" hR="21600" stAng="-10800000" swAng="5376605"/>
                    <a:lnTo>
                      <a:pt x="21600" y="21600"/>
                    </a:lnTo>
                    <a:close/>
                  </a:path>
                </a:pathLst>
              </a:custGeom>
              <a:gradFill rotWithShape="1">
                <a:gsLst>
                  <a:gs pos="0">
                    <a:srgbClr val="0099FF"/>
                  </a:gs>
                  <a:gs pos="100000">
                    <a:srgbClr val="0099FF">
                      <a:gamma/>
                      <a:tint val="13725"/>
                      <a:invGamma/>
                    </a:srgbClr>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3" name="任意多边形 62"/>
              <p:cNvSpPr/>
              <p:nvPr/>
            </p:nvSpPr>
            <p:spPr>
              <a:xfrm flipH="1">
                <a:off x="5081" y="402"/>
                <a:ext cx="440" cy="160"/>
              </a:xfrm>
              <a:custGeom>
                <a:avLst/>
                <a:gdLst>
                  <a:gd name="txL" fmla="*/ 0 w 21598"/>
                  <a:gd name="txT" fmla="*/ 0 h 19444"/>
                  <a:gd name="txR" fmla="*/ 21598 w 21598"/>
                  <a:gd name="txB" fmla="*/ 19444 h 19444"/>
                </a:gdLst>
                <a:ahLst/>
                <a:cxnLst>
                  <a:cxn ang="0">
                    <a:pos x="21597" y="315"/>
                  </a:cxn>
                  <a:cxn ang="90">
                    <a:pos x="9406" y="19444"/>
                  </a:cxn>
                  <a:cxn ang="270">
                    <a:pos x="0" y="0"/>
                  </a:cxn>
                </a:cxnLst>
                <a:rect l="txL" t="txT" r="txR" b="txB"/>
                <a:pathLst>
                  <a:path w="21598" h="19444" fill="none">
                    <a:moveTo>
                      <a:pt x="21597" y="315"/>
                    </a:moveTo>
                    <a:arcTo wR="21600" hR="21600" stAng="-21549863" swAng="3800945"/>
                  </a:path>
                  <a:path w="21598" h="19444" stroke="0">
                    <a:moveTo>
                      <a:pt x="21597" y="315"/>
                    </a:moveTo>
                    <a:arcTo wR="21600" hR="21600" stAng="-21549863" swAng="3800945"/>
                    <a:lnTo>
                      <a:pt x="0" y="0"/>
                    </a:lnTo>
                    <a:close/>
                  </a:path>
                </a:pathLst>
              </a:custGeom>
              <a:gradFill rotWithShape="1">
                <a:gsLst>
                  <a:gs pos="0">
                    <a:srgbClr val="0099FF">
                      <a:gamma/>
                      <a:tint val="13725"/>
                      <a:invGamma/>
                    </a:srgbClr>
                  </a:gs>
                  <a:gs pos="100000">
                    <a:srgbClr val="0099FF"/>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4" name="任意多边形 63"/>
              <p:cNvSpPr>
                <a:spLocks noChangeAspect="1"/>
              </p:cNvSpPr>
              <p:nvPr/>
            </p:nvSpPr>
            <p:spPr>
              <a:xfrm rot="5400000" flipH="1">
                <a:off x="5198" y="537"/>
                <a:ext cx="456" cy="192"/>
              </a:xfrm>
              <a:custGeom>
                <a:avLst/>
                <a:gdLst>
                  <a:gd name="txL" fmla="*/ 0 w 21600"/>
                  <a:gd name="txT" fmla="*/ 0 h 20809"/>
                  <a:gd name="txR" fmla="*/ 21600 w 21600"/>
                  <a:gd name="txB" fmla="*/ 20809 h 20809"/>
                </a:gdLst>
                <a:ahLst/>
                <a:cxnLst>
                  <a:cxn ang="90">
                    <a:pos x="14301" y="20808"/>
                  </a:cxn>
                  <a:cxn ang="270">
                    <a:pos x="5" y="0"/>
                  </a:cxn>
                  <a:cxn ang="0">
                    <a:pos x="21600" y="479"/>
                  </a:cxn>
                </a:cxnLst>
                <a:rect l="txL" t="txT" r="txR" b="txB"/>
                <a:pathLst>
                  <a:path w="21600" h="20809" fill="none">
                    <a:moveTo>
                      <a:pt x="14301" y="20808"/>
                    </a:moveTo>
                    <a:arcTo wR="21600" hR="21600" stAng="-15014979" swAng="4291219"/>
                  </a:path>
                  <a:path w="21600" h="20809" stroke="0">
                    <a:moveTo>
                      <a:pt x="14301" y="20808"/>
                    </a:moveTo>
                    <a:arcTo wR="21600" hR="21600" stAng="-15014979" swAng="4291219"/>
                    <a:lnTo>
                      <a:pt x="21600" y="479"/>
                    </a:lnTo>
                    <a:close/>
                  </a:path>
                </a:pathLst>
              </a:custGeom>
              <a:gradFill rotWithShape="1">
                <a:gsLst>
                  <a:gs pos="0">
                    <a:srgbClr val="0099FF"/>
                  </a:gs>
                  <a:gs pos="100000">
                    <a:srgbClr val="0099FF">
                      <a:gamma/>
                      <a:tint val="20000"/>
                      <a:invGamma/>
                    </a:srgbClr>
                  </a:gs>
                </a:gsLst>
                <a:lin ang="189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40" name="组合 39"/>
            <p:cNvGrpSpPr/>
            <p:nvPr/>
          </p:nvGrpSpPr>
          <p:grpSpPr>
            <a:xfrm>
              <a:off x="4262" y="403"/>
              <a:ext cx="811" cy="457"/>
              <a:chOff x="3062" y="2329"/>
              <a:chExt cx="811" cy="457"/>
            </a:xfrm>
          </p:grpSpPr>
          <p:sp>
            <p:nvSpPr>
              <p:cNvPr id="60" name="任意多边形 59"/>
              <p:cNvSpPr/>
              <p:nvPr/>
            </p:nvSpPr>
            <p:spPr>
              <a:xfrm flipH="1" flipV="1">
                <a:off x="3062" y="2330"/>
                <a:ext cx="811" cy="456"/>
              </a:xfrm>
              <a:custGeom>
                <a:avLst/>
                <a:gdLst>
                  <a:gd name="txL" fmla="*/ 0 w 38401"/>
                  <a:gd name="txT" fmla="*/ 0 h 21600"/>
                  <a:gd name="txR" fmla="*/ 38401 w 38401"/>
                  <a:gd name="txB" fmla="*/ 21600 h 21600"/>
                </a:gdLst>
                <a:ahLst/>
                <a:cxnLst>
                  <a:cxn ang="90">
                    <a:pos x="0" y="21600"/>
                  </a:cxn>
                  <a:cxn ang="0">
                    <a:pos x="38400" y="8024"/>
                  </a:cxn>
                  <a:cxn ang="90">
                    <a:pos x="21600" y="21600"/>
                  </a:cxn>
                </a:cxnLst>
                <a:rect l="txL" t="txT" r="txR" b="txB"/>
                <a:pathLst>
                  <a:path w="38401" h="21600" fill="none">
                    <a:moveTo>
                      <a:pt x="0" y="21600"/>
                    </a:moveTo>
                    <a:arcTo wR="21600" hR="21600" stAng="-10800000" swAng="8463509"/>
                  </a:path>
                  <a:path w="38401" h="21600" stroke="0">
                    <a:moveTo>
                      <a:pt x="0" y="21600"/>
                    </a:moveTo>
                    <a:arcTo wR="21600" hR="21600" stAng="-10800000" swAng="8463509"/>
                    <a:lnTo>
                      <a:pt x="21600" y="21600"/>
                    </a:lnTo>
                    <a:close/>
                  </a:path>
                </a:pathLst>
              </a:custGeom>
              <a:gradFill rotWithShape="1">
                <a:gsLst>
                  <a:gs pos="0">
                    <a:srgbClr val="0099FF"/>
                  </a:gs>
                  <a:gs pos="100000">
                    <a:srgbClr val="0099FF">
                      <a:gamma/>
                      <a:tint val="13725"/>
                      <a:invGamma/>
                    </a:srgbClr>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1" name="任意多边形 60"/>
              <p:cNvSpPr/>
              <p:nvPr/>
            </p:nvSpPr>
            <p:spPr>
              <a:xfrm>
                <a:off x="3235" y="2329"/>
                <a:ext cx="636" cy="166"/>
              </a:xfrm>
              <a:custGeom>
                <a:avLst/>
                <a:gdLst>
                  <a:gd name="txL" fmla="*/ 0 w 30373"/>
                  <a:gd name="txT" fmla="*/ 0 h 21600"/>
                  <a:gd name="txR" fmla="*/ 30373 w 30373"/>
                  <a:gd name="txB" fmla="*/ 21600 h 21600"/>
                </a:gdLst>
                <a:ahLst/>
                <a:cxnLst>
                  <a:cxn ang="0">
                    <a:pos x="30372" y="315"/>
                  </a:cxn>
                  <a:cxn ang="180">
                    <a:pos x="0" y="19737"/>
                  </a:cxn>
                  <a:cxn ang="270">
                    <a:pos x="8775" y="0"/>
                  </a:cxn>
                </a:cxnLst>
                <a:rect l="txL" t="txT" r="txR" b="txB"/>
                <a:pathLst>
                  <a:path w="30373" h="21600" fill="none">
                    <a:moveTo>
                      <a:pt x="30372" y="315"/>
                    </a:moveTo>
                    <a:arcTo wR="21600" hR="21600" stAng="-21549863" swAng="6788048"/>
                  </a:path>
                  <a:path w="30373" h="21600" stroke="0">
                    <a:moveTo>
                      <a:pt x="30372" y="315"/>
                    </a:moveTo>
                    <a:arcTo wR="21600" hR="21600" stAng="-21549863" swAng="6788048"/>
                    <a:lnTo>
                      <a:pt x="8775" y="0"/>
                    </a:lnTo>
                    <a:close/>
                  </a:path>
                </a:pathLst>
              </a:custGeom>
              <a:gradFill rotWithShape="1">
                <a:gsLst>
                  <a:gs pos="0">
                    <a:srgbClr val="0099FF">
                      <a:gamma/>
                      <a:tint val="13725"/>
                      <a:invGamma/>
                    </a:srgbClr>
                  </a:gs>
                  <a:gs pos="100000">
                    <a:srgbClr val="0099FF"/>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41" name="直接连接符 40"/>
            <p:cNvSpPr>
              <a:spLocks noChangeAspect="1"/>
            </p:cNvSpPr>
            <p:nvPr/>
          </p:nvSpPr>
          <p:spPr>
            <a:xfrm rot="-5400000">
              <a:off x="4157" y="861"/>
              <a:ext cx="912" cy="0"/>
            </a:xfrm>
            <a:prstGeom prst="line">
              <a:avLst/>
            </a:prstGeom>
            <a:ln w="3175" cap="flat" cmpd="sng">
              <a:solidFill>
                <a:schemeClr val="tx1"/>
              </a:solidFill>
              <a:prstDash val="lgDash"/>
              <a:headEnd type="none" w="med" len="med"/>
              <a:tailEnd type="none" w="med" len="med"/>
            </a:ln>
          </p:spPr>
        </p:sp>
        <p:grpSp>
          <p:nvGrpSpPr>
            <p:cNvPr id="42" name="组合 41"/>
            <p:cNvGrpSpPr/>
            <p:nvPr/>
          </p:nvGrpSpPr>
          <p:grpSpPr>
            <a:xfrm>
              <a:off x="4213" y="564"/>
              <a:ext cx="459" cy="616"/>
              <a:chOff x="4213" y="564"/>
              <a:chExt cx="459" cy="616"/>
            </a:xfrm>
          </p:grpSpPr>
          <p:sp>
            <p:nvSpPr>
              <p:cNvPr id="58" name="任意多边形 57"/>
              <p:cNvSpPr>
                <a:spLocks noChangeAspect="1"/>
              </p:cNvSpPr>
              <p:nvPr/>
            </p:nvSpPr>
            <p:spPr>
              <a:xfrm rot="-5400000">
                <a:off x="4213" y="724"/>
                <a:ext cx="456" cy="456"/>
              </a:xfrm>
              <a:custGeom>
                <a:avLst/>
                <a:gdLst>
                  <a:gd name="txL" fmla="*/ 0 w 21600"/>
                  <a:gd name="txT" fmla="*/ 0 h 21600"/>
                  <a:gd name="txR" fmla="*/ 21600 w 21600"/>
                  <a:gd name="txB" fmla="*/ 21600 h 21600"/>
                </a:gdLst>
                <a:ahLst/>
                <a:cxnLst>
                  <a:cxn ang="90">
                    <a:pos x="21487" y="21599"/>
                  </a:cxn>
                  <a:cxn ang="180">
                    <a:pos x="0" y="89"/>
                  </a:cxn>
                  <a:cxn ang="270">
                    <a:pos x="21600" y="0"/>
                  </a:cxn>
                </a:cxnLst>
                <a:rect l="txL" t="txT" r="txR" b="txB"/>
                <a:pathLst>
                  <a:path w="21600" h="21600" fill="none">
                    <a:moveTo>
                      <a:pt x="21487" y="21599"/>
                    </a:moveTo>
                    <a:arcTo wR="21600" hR="21600" stAng="-16182015" swAng="5367850"/>
                  </a:path>
                  <a:path w="21600" h="21600" stroke="0">
                    <a:moveTo>
                      <a:pt x="21487" y="21599"/>
                    </a:moveTo>
                    <a:arcTo wR="21600" hR="21600" stAng="-16182015" swAng="5367850"/>
                    <a:lnTo>
                      <a:pt x="21600" y="0"/>
                    </a:lnTo>
                    <a:close/>
                  </a:path>
                </a:pathLst>
              </a:custGeom>
              <a:gradFill rotWithShape="1">
                <a:gsLst>
                  <a:gs pos="0">
                    <a:srgbClr val="0099FF"/>
                  </a:gs>
                  <a:gs pos="100000">
                    <a:srgbClr val="0099FF">
                      <a:gamma/>
                      <a:tint val="20000"/>
                      <a:invGamma/>
                    </a:srgbClr>
                  </a:gs>
                </a:gsLst>
                <a:lin ang="18900000" scaled="1"/>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9" name="任意多边形 58"/>
              <p:cNvSpPr>
                <a:spLocks noChangeAspect="1"/>
              </p:cNvSpPr>
              <p:nvPr/>
            </p:nvSpPr>
            <p:spPr>
              <a:xfrm flipH="1">
                <a:off x="4216" y="564"/>
                <a:ext cx="456" cy="169"/>
              </a:xfrm>
              <a:custGeom>
                <a:avLst/>
                <a:gdLst>
                  <a:gd name="txL" fmla="*/ 0 w 21600"/>
                  <a:gd name="txT" fmla="*/ 0 h 19340"/>
                  <a:gd name="txR" fmla="*/ 21600 w 21600"/>
                  <a:gd name="txB" fmla="*/ 19340 h 19340"/>
                </a:gdLst>
                <a:ahLst/>
                <a:cxnLst>
                  <a:cxn ang="180">
                    <a:pos x="0" y="19340"/>
                  </a:cxn>
                  <a:cxn ang="270">
                    <a:pos x="11943" y="0"/>
                  </a:cxn>
                  <a:cxn ang="0">
                    <a:pos x="21600" y="19321"/>
                  </a:cxn>
                </a:cxnLst>
                <a:rect l="txL" t="txT" r="txR" b="txB"/>
                <a:pathLst>
                  <a:path w="21600" h="19340" fill="none">
                    <a:moveTo>
                      <a:pt x="0" y="19340"/>
                    </a:moveTo>
                    <a:arcTo wR="21600" hR="21600" stAng="-10803024" swAng="3809619"/>
                  </a:path>
                  <a:path w="21600" h="19340" stroke="0">
                    <a:moveTo>
                      <a:pt x="0" y="19340"/>
                    </a:moveTo>
                    <a:arcTo wR="21600" hR="21600" stAng="-10803024" swAng="3809619"/>
                    <a:lnTo>
                      <a:pt x="21600" y="19321"/>
                    </a:lnTo>
                    <a:close/>
                  </a:path>
                </a:pathLst>
              </a:custGeom>
              <a:gradFill rotWithShape="1">
                <a:gsLst>
                  <a:gs pos="0">
                    <a:srgbClr val="0099FF"/>
                  </a:gs>
                  <a:gs pos="100000">
                    <a:srgbClr val="0099FF">
                      <a:gamma/>
                      <a:tint val="13725"/>
                      <a:invGamma/>
                    </a:srgbClr>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43" name="直接连接符 42"/>
            <p:cNvSpPr>
              <a:spLocks noChangeAspect="1"/>
            </p:cNvSpPr>
            <p:nvPr/>
          </p:nvSpPr>
          <p:spPr>
            <a:xfrm flipV="1">
              <a:off x="4206" y="407"/>
              <a:ext cx="405" cy="330"/>
            </a:xfrm>
            <a:prstGeom prst="line">
              <a:avLst/>
            </a:prstGeom>
            <a:ln w="12700" cap="flat" cmpd="sng">
              <a:solidFill>
                <a:schemeClr val="tx1"/>
              </a:solidFill>
              <a:prstDash val="solid"/>
              <a:headEnd type="none" w="med" len="med"/>
              <a:tailEnd type="none" w="med" len="med"/>
            </a:ln>
          </p:spPr>
        </p:sp>
        <p:sp>
          <p:nvSpPr>
            <p:cNvPr id="44" name="直接连接符 43"/>
            <p:cNvSpPr>
              <a:spLocks noChangeAspect="1"/>
            </p:cNvSpPr>
            <p:nvPr/>
          </p:nvSpPr>
          <p:spPr>
            <a:xfrm>
              <a:off x="4608" y="405"/>
              <a:ext cx="912" cy="0"/>
            </a:xfrm>
            <a:prstGeom prst="line">
              <a:avLst/>
            </a:prstGeom>
            <a:ln w="12700" cap="flat" cmpd="sng">
              <a:solidFill>
                <a:schemeClr val="tx1"/>
              </a:solidFill>
              <a:prstDash val="solid"/>
              <a:headEnd type="none" w="med" len="med"/>
              <a:tailEnd type="none" w="med" len="med"/>
            </a:ln>
          </p:spPr>
        </p:sp>
        <p:grpSp>
          <p:nvGrpSpPr>
            <p:cNvPr id="45" name="组合 44"/>
            <p:cNvGrpSpPr/>
            <p:nvPr/>
          </p:nvGrpSpPr>
          <p:grpSpPr>
            <a:xfrm>
              <a:off x="4668" y="555"/>
              <a:ext cx="677" cy="639"/>
              <a:chOff x="4668" y="555"/>
              <a:chExt cx="677" cy="639"/>
            </a:xfrm>
          </p:grpSpPr>
          <p:sp>
            <p:nvSpPr>
              <p:cNvPr id="55" name="任意多边形 54"/>
              <p:cNvSpPr>
                <a:spLocks noChangeAspect="1"/>
              </p:cNvSpPr>
              <p:nvPr/>
            </p:nvSpPr>
            <p:spPr>
              <a:xfrm rot="-5400000">
                <a:off x="4668" y="738"/>
                <a:ext cx="456" cy="456"/>
              </a:xfrm>
              <a:custGeom>
                <a:avLst/>
                <a:gdLst>
                  <a:gd name="txL" fmla="*/ 0 w 21600"/>
                  <a:gd name="txT" fmla="*/ 0 h 21600"/>
                  <a:gd name="txR" fmla="*/ 21600 w 21600"/>
                  <a:gd name="txB" fmla="*/ 21600 h 21600"/>
                </a:gdLst>
                <a:ahLst/>
                <a:cxnLst>
                  <a:cxn ang="90">
                    <a:pos x="0" y="21600"/>
                  </a:cxn>
                  <a:cxn ang="270">
                    <a:pos x="21599" y="0"/>
                  </a:cxn>
                  <a:cxn ang="90">
                    <a:pos x="21600" y="21600"/>
                  </a:cxn>
                </a:cxnLst>
                <a:rect l="txL" t="txT" r="txR" b="txB"/>
                <a:pathLst>
                  <a:path w="21600" h="21600" fill="none">
                    <a:moveTo>
                      <a:pt x="0" y="21600"/>
                    </a:moveTo>
                    <a:arcTo wR="21600" hR="21600" stAng="-10800000" swAng="5399841"/>
                  </a:path>
                  <a:path w="21600" h="21600" stroke="0">
                    <a:moveTo>
                      <a:pt x="0" y="21600"/>
                    </a:moveTo>
                    <a:arcTo wR="21600" hR="21600" stAng="-10800000" swAng="5399841"/>
                    <a:lnTo>
                      <a:pt x="21600" y="21600"/>
                    </a:lnTo>
                    <a:close/>
                  </a:path>
                </a:pathLst>
              </a:custGeom>
              <a:gradFill rotWithShape="1">
                <a:gsLst>
                  <a:gs pos="0">
                    <a:srgbClr val="0099FF"/>
                  </a:gs>
                  <a:gs pos="100000">
                    <a:srgbClr val="0099FF">
                      <a:gamma/>
                      <a:tint val="20000"/>
                      <a:invGamma/>
                    </a:srgbClr>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6" name="任意多边形 55"/>
              <p:cNvSpPr>
                <a:spLocks noChangeAspect="1"/>
              </p:cNvSpPr>
              <p:nvPr/>
            </p:nvSpPr>
            <p:spPr>
              <a:xfrm rot="-5400000">
                <a:off x="4920" y="764"/>
                <a:ext cx="620" cy="230"/>
              </a:xfrm>
              <a:custGeom>
                <a:avLst/>
                <a:gdLst>
                  <a:gd name="txL" fmla="*/ 0 w 29714"/>
                  <a:gd name="txT" fmla="*/ 0 h 21600"/>
                  <a:gd name="txR" fmla="*/ 29714 w 29714"/>
                  <a:gd name="txB" fmla="*/ 21600 h 21600"/>
                </a:gdLst>
                <a:ahLst/>
                <a:cxnLst>
                  <a:cxn ang="0">
                    <a:pos x="29714" y="20012"/>
                  </a:cxn>
                  <a:cxn ang="180">
                    <a:pos x="0" y="779"/>
                  </a:cxn>
                  <a:cxn ang="270">
                    <a:pos x="21586" y="0"/>
                  </a:cxn>
                </a:cxnLst>
                <a:rect l="txL" t="txT" r="txR" b="txB"/>
                <a:pathLst>
                  <a:path w="29714" h="21600" fill="none">
                    <a:moveTo>
                      <a:pt x="29714" y="20012"/>
                    </a:moveTo>
                    <a:arcTo wR="21600" hR="21600" stAng="-17526290" swAng="6602282"/>
                  </a:path>
                  <a:path w="29714" h="21600" stroke="0">
                    <a:moveTo>
                      <a:pt x="29714" y="20012"/>
                    </a:moveTo>
                    <a:arcTo wR="21600" hR="21600" stAng="-17526290" swAng="6602282"/>
                    <a:lnTo>
                      <a:pt x="21586" y="0"/>
                    </a:lnTo>
                    <a:close/>
                  </a:path>
                </a:pathLst>
              </a:custGeom>
              <a:gradFill rotWithShape="1">
                <a:gsLst>
                  <a:gs pos="0">
                    <a:srgbClr val="0099FF"/>
                  </a:gs>
                  <a:gs pos="100000">
                    <a:srgbClr val="0099FF">
                      <a:gamma/>
                      <a:tint val="20000"/>
                      <a:invGamma/>
                    </a:srgbClr>
                  </a:gs>
                </a:gsLst>
                <a:lin ang="189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7" name="任意多边形 56"/>
              <p:cNvSpPr>
                <a:spLocks noChangeAspect="1"/>
              </p:cNvSpPr>
              <p:nvPr/>
            </p:nvSpPr>
            <p:spPr>
              <a:xfrm>
                <a:off x="4670" y="555"/>
                <a:ext cx="659" cy="190"/>
              </a:xfrm>
              <a:custGeom>
                <a:avLst/>
                <a:gdLst>
                  <a:gd name="txL" fmla="*/ 0 w 31213"/>
                  <a:gd name="txT" fmla="*/ 0 h 21741"/>
                  <a:gd name="txR" fmla="*/ 31213 w 31213"/>
                  <a:gd name="txB" fmla="*/ 21741 h 21741"/>
                </a:gdLst>
                <a:ahLst/>
                <a:cxnLst>
                  <a:cxn ang="90">
                    <a:pos x="0" y="21741"/>
                  </a:cxn>
                  <a:cxn ang="0">
                    <a:pos x="31212" y="2256"/>
                  </a:cxn>
                  <a:cxn ang="90">
                    <a:pos x="21600" y="21600"/>
                  </a:cxn>
                </a:cxnLst>
                <a:rect l="txL" t="txT" r="txR" b="txB"/>
                <a:pathLst>
                  <a:path w="31213" h="21741" fill="none">
                    <a:moveTo>
                      <a:pt x="0" y="21741"/>
                    </a:moveTo>
                    <a:arcTo wR="21600" hR="21600" stAng="-10822441" swAng="7007803"/>
                  </a:path>
                  <a:path w="31213" h="21741" stroke="0">
                    <a:moveTo>
                      <a:pt x="0" y="21741"/>
                    </a:moveTo>
                    <a:arcTo wR="21600" hR="21600" stAng="-10822441" swAng="7007803"/>
                    <a:lnTo>
                      <a:pt x="21600" y="21600"/>
                    </a:lnTo>
                    <a:close/>
                  </a:path>
                </a:pathLst>
              </a:custGeom>
              <a:gradFill rotWithShape="1">
                <a:gsLst>
                  <a:gs pos="0">
                    <a:srgbClr val="0099FF"/>
                  </a:gs>
                  <a:gs pos="100000">
                    <a:srgbClr val="0099FF">
                      <a:gamma/>
                      <a:tint val="13725"/>
                      <a:invGamma/>
                    </a:srgbClr>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46" name="任意多边形 45"/>
            <p:cNvSpPr>
              <a:spLocks noChangeAspect="1"/>
            </p:cNvSpPr>
            <p:nvPr/>
          </p:nvSpPr>
          <p:spPr>
            <a:xfrm flipV="1">
              <a:off x="4211" y="1201"/>
              <a:ext cx="456" cy="456"/>
            </a:xfrm>
            <a:custGeom>
              <a:avLst/>
              <a:gdLst>
                <a:gd name="txL" fmla="*/ 0 w 21889"/>
                <a:gd name="txT" fmla="*/ 0 h 21736"/>
                <a:gd name="txR" fmla="*/ 21889 w 21889"/>
                <a:gd name="txB" fmla="*/ 21736 h 21736"/>
              </a:gdLst>
              <a:ahLst/>
              <a:cxnLst>
                <a:cxn ang="0">
                  <a:pos x="21888" y="0"/>
                </a:cxn>
                <a:cxn ang="90">
                  <a:pos x="0" y="21734"/>
                </a:cxn>
                <a:cxn ang="270">
                  <a:pos x="289" y="136"/>
                </a:cxn>
              </a:cxnLst>
              <a:rect l="txL" t="txT" r="txR" b="txB"/>
              <a:pathLst>
                <a:path w="21889" h="21736" fill="none">
                  <a:moveTo>
                    <a:pt x="21888" y="0"/>
                  </a:moveTo>
                  <a:arcTo wR="21600" hR="21600" stAng="-21646" swAng="5467643"/>
                </a:path>
                <a:path w="21889" h="21736" stroke="0">
                  <a:moveTo>
                    <a:pt x="21888" y="0"/>
                  </a:moveTo>
                  <a:arcTo wR="21600" hR="21600" stAng="-21646" swAng="5467643"/>
                  <a:lnTo>
                    <a:pt x="289" y="136"/>
                  </a:lnTo>
                  <a:close/>
                </a:path>
              </a:pathLst>
            </a:custGeom>
            <a:gradFill rotWithShape="1">
              <a:gsLst>
                <a:gs pos="0">
                  <a:srgbClr val="0099FF">
                    <a:gamma/>
                    <a:tint val="13725"/>
                    <a:invGamma/>
                  </a:srgbClr>
                </a:gs>
                <a:gs pos="100000">
                  <a:srgbClr val="0099FF"/>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7" name="任意多边形 46"/>
            <p:cNvSpPr>
              <a:spLocks noChangeAspect="1"/>
            </p:cNvSpPr>
            <p:nvPr/>
          </p:nvSpPr>
          <p:spPr>
            <a:xfrm rot="-5400000">
              <a:off x="5003" y="1315"/>
              <a:ext cx="452" cy="207"/>
            </a:xfrm>
            <a:custGeom>
              <a:avLst/>
              <a:gdLst>
                <a:gd name="txL" fmla="*/ 0 w 21600"/>
                <a:gd name="txT" fmla="*/ 0 h 20087"/>
                <a:gd name="txR" fmla="*/ 21600 w 21600"/>
                <a:gd name="txB" fmla="*/ 20087 h 20087"/>
              </a:gdLst>
              <a:ahLst/>
              <a:cxnLst>
                <a:cxn ang="270">
                  <a:pos x="21599" y="0"/>
                </a:cxn>
                <a:cxn ang="90">
                  <a:pos x="7944" y="20086"/>
                </a:cxn>
                <a:cxn ang="180">
                  <a:pos x="0" y="1"/>
                </a:cxn>
              </a:cxnLst>
              <a:rect l="txL" t="txT" r="txR" b="txB"/>
              <a:pathLst>
                <a:path w="21600" h="20087" fill="none">
                  <a:moveTo>
                    <a:pt x="21599" y="0"/>
                  </a:moveTo>
                  <a:arcTo wR="21600" hR="21600" stAng="-159" swAng="4105375"/>
                </a:path>
                <a:path w="21600" h="20087" stroke="0">
                  <a:moveTo>
                    <a:pt x="21599" y="0"/>
                  </a:moveTo>
                  <a:arcTo wR="21600" hR="21600" stAng="-159" swAng="4105375"/>
                  <a:lnTo>
                    <a:pt x="0" y="1"/>
                  </a:lnTo>
                  <a:close/>
                </a:path>
              </a:pathLst>
            </a:custGeom>
            <a:gradFill rotWithShape="1">
              <a:gsLst>
                <a:gs pos="0">
                  <a:srgbClr val="0099FF">
                    <a:gamma/>
                    <a:tint val="13725"/>
                    <a:invGamma/>
                  </a:srgbClr>
                </a:gs>
                <a:gs pos="100000">
                  <a:srgbClr val="0099FF">
                    <a:alpha val="80000"/>
                  </a:srgbClr>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8" name="任意多边形 47"/>
            <p:cNvSpPr>
              <a:spLocks noChangeAspect="1"/>
            </p:cNvSpPr>
            <p:nvPr/>
          </p:nvSpPr>
          <p:spPr>
            <a:xfrm flipH="1" flipV="1">
              <a:off x="4670" y="1192"/>
              <a:ext cx="456" cy="456"/>
            </a:xfrm>
            <a:custGeom>
              <a:avLst/>
              <a:gdLst>
                <a:gd name="txL" fmla="*/ 0 w 21889"/>
                <a:gd name="txT" fmla="*/ 0 h 21736"/>
                <a:gd name="txR" fmla="*/ 21889 w 21889"/>
                <a:gd name="txB" fmla="*/ 21736 h 21736"/>
              </a:gdLst>
              <a:ahLst/>
              <a:cxnLst>
                <a:cxn ang="0">
                  <a:pos x="21888" y="0"/>
                </a:cxn>
                <a:cxn ang="90">
                  <a:pos x="0" y="21734"/>
                </a:cxn>
                <a:cxn ang="270">
                  <a:pos x="289" y="136"/>
                </a:cxn>
              </a:cxnLst>
              <a:rect l="txL" t="txT" r="txR" b="txB"/>
              <a:pathLst>
                <a:path w="21889" h="21736" fill="none">
                  <a:moveTo>
                    <a:pt x="21888" y="0"/>
                  </a:moveTo>
                  <a:arcTo wR="21600" hR="21600" stAng="-21646" swAng="5467643"/>
                </a:path>
                <a:path w="21889" h="21736" stroke="0">
                  <a:moveTo>
                    <a:pt x="21888" y="0"/>
                  </a:moveTo>
                  <a:arcTo wR="21600" hR="21600" stAng="-21646" swAng="5467643"/>
                  <a:lnTo>
                    <a:pt x="289" y="136"/>
                  </a:lnTo>
                  <a:close/>
                </a:path>
              </a:pathLst>
            </a:custGeom>
            <a:gradFill rotWithShape="1">
              <a:gsLst>
                <a:gs pos="0">
                  <a:srgbClr val="0099FF">
                    <a:gamma/>
                    <a:tint val="13725"/>
                    <a:invGamma/>
                  </a:srgbClr>
                </a:gs>
                <a:gs pos="100000">
                  <a:srgbClr val="0099FF"/>
                </a:gs>
              </a:gsLst>
              <a:lin ang="2700000" scaled="1"/>
              <a:tileRect/>
            </a:gradFill>
            <a:ln w="1270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9" name="矩形 48"/>
            <p:cNvSpPr>
              <a:spLocks noChangeAspect="1"/>
            </p:cNvSpPr>
            <p:nvPr/>
          </p:nvSpPr>
          <p:spPr>
            <a:xfrm>
              <a:off x="4212" y="738"/>
              <a:ext cx="911" cy="911"/>
            </a:xfrm>
            <a:prstGeom prst="rect">
              <a:avLst/>
            </a:prstGeom>
            <a:noFill/>
            <a:ln w="12700" cap="flat" cmpd="sng">
              <a:solidFill>
                <a:schemeClr val="tx1"/>
              </a:solidFill>
              <a:prstDash val="solid"/>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0" name="直接连接符 49"/>
            <p:cNvSpPr>
              <a:spLocks noChangeAspect="1"/>
            </p:cNvSpPr>
            <p:nvPr/>
          </p:nvSpPr>
          <p:spPr>
            <a:xfrm flipV="1">
              <a:off x="5124" y="1319"/>
              <a:ext cx="405" cy="330"/>
            </a:xfrm>
            <a:prstGeom prst="line">
              <a:avLst/>
            </a:prstGeom>
            <a:ln w="12700" cap="flat" cmpd="sng">
              <a:solidFill>
                <a:schemeClr val="tx1"/>
              </a:solidFill>
              <a:prstDash val="solid"/>
              <a:headEnd type="none" w="med" len="med"/>
              <a:tailEnd type="none" w="med" len="med"/>
            </a:ln>
          </p:spPr>
        </p:sp>
        <p:sp>
          <p:nvSpPr>
            <p:cNvPr id="51" name="直接连接符 50"/>
            <p:cNvSpPr>
              <a:spLocks noChangeAspect="1"/>
            </p:cNvSpPr>
            <p:nvPr/>
          </p:nvSpPr>
          <p:spPr>
            <a:xfrm flipV="1">
              <a:off x="5117" y="406"/>
              <a:ext cx="405" cy="330"/>
            </a:xfrm>
            <a:prstGeom prst="line">
              <a:avLst/>
            </a:prstGeom>
            <a:ln w="12700" cap="flat" cmpd="sng">
              <a:solidFill>
                <a:schemeClr val="tx1"/>
              </a:solidFill>
              <a:prstDash val="solid"/>
              <a:headEnd type="none" w="med" len="med"/>
              <a:tailEnd type="none" w="med" len="med"/>
            </a:ln>
          </p:spPr>
        </p:sp>
        <p:sp>
          <p:nvSpPr>
            <p:cNvPr id="52" name="直接连接符 51"/>
            <p:cNvSpPr>
              <a:spLocks noChangeAspect="1"/>
            </p:cNvSpPr>
            <p:nvPr/>
          </p:nvSpPr>
          <p:spPr>
            <a:xfrm rot="-5400000">
              <a:off x="5066" y="867"/>
              <a:ext cx="912" cy="0"/>
            </a:xfrm>
            <a:prstGeom prst="line">
              <a:avLst/>
            </a:prstGeom>
            <a:ln w="12700" cap="flat" cmpd="sng">
              <a:solidFill>
                <a:schemeClr val="tx1"/>
              </a:solidFill>
              <a:prstDash val="solid"/>
              <a:headEnd type="none" w="med" len="med"/>
              <a:tailEnd type="none" w="med" len="med"/>
            </a:ln>
          </p:spPr>
        </p:sp>
        <p:sp>
          <p:nvSpPr>
            <p:cNvPr id="53" name="直接连接符 52"/>
            <p:cNvSpPr>
              <a:spLocks noChangeAspect="1"/>
            </p:cNvSpPr>
            <p:nvPr/>
          </p:nvSpPr>
          <p:spPr>
            <a:xfrm flipV="1">
              <a:off x="4211" y="1318"/>
              <a:ext cx="405" cy="330"/>
            </a:xfrm>
            <a:prstGeom prst="line">
              <a:avLst/>
            </a:prstGeom>
            <a:ln w="3175" cap="flat" cmpd="sng">
              <a:solidFill>
                <a:schemeClr val="tx1"/>
              </a:solidFill>
              <a:prstDash val="lgDash"/>
              <a:headEnd type="none" w="med" len="med"/>
              <a:tailEnd type="none" w="med" len="med"/>
            </a:ln>
          </p:spPr>
        </p:sp>
        <p:sp>
          <p:nvSpPr>
            <p:cNvPr id="54" name="直接连接符 53"/>
            <p:cNvSpPr>
              <a:spLocks noChangeAspect="1"/>
            </p:cNvSpPr>
            <p:nvPr/>
          </p:nvSpPr>
          <p:spPr>
            <a:xfrm>
              <a:off x="4607" y="1317"/>
              <a:ext cx="912" cy="0"/>
            </a:xfrm>
            <a:prstGeom prst="line">
              <a:avLst/>
            </a:prstGeom>
            <a:ln w="3175" cap="flat" cmpd="sng">
              <a:solidFill>
                <a:schemeClr val="tx1"/>
              </a:solidFill>
              <a:prstDash val="lgDash"/>
              <a:headEnd type="none" w="med" len="med"/>
              <a:tailEnd type="none" w="med" len="med"/>
            </a:ln>
          </p:spPr>
        </p:sp>
      </p:grpSp>
      <p:grpSp>
        <p:nvGrpSpPr>
          <p:cNvPr id="9" name="组合 8"/>
          <p:cNvGrpSpPr/>
          <p:nvPr/>
        </p:nvGrpSpPr>
        <p:grpSpPr>
          <a:xfrm>
            <a:off x="831846" y="2238375"/>
            <a:ext cx="2106613" cy="2501900"/>
            <a:chOff x="165" y="1472"/>
            <a:chExt cx="2193" cy="2168"/>
          </a:xfrm>
        </p:grpSpPr>
        <p:grpSp>
          <p:nvGrpSpPr>
            <p:cNvPr id="16" name="组合 15"/>
            <p:cNvGrpSpPr/>
            <p:nvPr/>
          </p:nvGrpSpPr>
          <p:grpSpPr>
            <a:xfrm>
              <a:off x="534" y="1472"/>
              <a:ext cx="1824" cy="1836"/>
              <a:chOff x="436" y="1380"/>
              <a:chExt cx="1824" cy="1836"/>
            </a:xfrm>
          </p:grpSpPr>
          <p:sp>
            <p:nvSpPr>
              <p:cNvPr id="33" name="椭圆 32"/>
              <p:cNvSpPr>
                <a:spLocks noChangeAspect="1"/>
              </p:cNvSpPr>
              <p:nvPr/>
            </p:nvSpPr>
            <p:spPr>
              <a:xfrm rot="2700000">
                <a:off x="1346" y="1383"/>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4" name="椭圆 33"/>
              <p:cNvSpPr>
                <a:spLocks noChangeAspect="1"/>
              </p:cNvSpPr>
              <p:nvPr/>
            </p:nvSpPr>
            <p:spPr>
              <a:xfrm rot="2700000">
                <a:off x="436" y="1380"/>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5" name="椭圆 34"/>
              <p:cNvSpPr>
                <a:spLocks noChangeAspect="1"/>
              </p:cNvSpPr>
              <p:nvPr/>
            </p:nvSpPr>
            <p:spPr>
              <a:xfrm rot="2700000">
                <a:off x="1349" y="2305"/>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6" name="椭圆 35"/>
              <p:cNvSpPr>
                <a:spLocks noChangeAspect="1"/>
              </p:cNvSpPr>
              <p:nvPr/>
            </p:nvSpPr>
            <p:spPr>
              <a:xfrm rot="2700000">
                <a:off x="439" y="2302"/>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18" name="组合 17"/>
            <p:cNvGrpSpPr/>
            <p:nvPr/>
          </p:nvGrpSpPr>
          <p:grpSpPr>
            <a:xfrm>
              <a:off x="165" y="1804"/>
              <a:ext cx="1824" cy="1836"/>
              <a:chOff x="436" y="1380"/>
              <a:chExt cx="1824" cy="1836"/>
            </a:xfrm>
          </p:grpSpPr>
          <p:sp>
            <p:nvSpPr>
              <p:cNvPr id="29" name="椭圆 28"/>
              <p:cNvSpPr>
                <a:spLocks noChangeAspect="1"/>
              </p:cNvSpPr>
              <p:nvPr/>
            </p:nvSpPr>
            <p:spPr>
              <a:xfrm rot="2700000">
                <a:off x="1346" y="1383"/>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0" name="椭圆 29"/>
              <p:cNvSpPr>
                <a:spLocks noChangeAspect="1"/>
              </p:cNvSpPr>
              <p:nvPr/>
            </p:nvSpPr>
            <p:spPr>
              <a:xfrm rot="2700000">
                <a:off x="436" y="1380"/>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1" name="椭圆 30"/>
              <p:cNvSpPr>
                <a:spLocks noChangeAspect="1"/>
              </p:cNvSpPr>
              <p:nvPr/>
            </p:nvSpPr>
            <p:spPr>
              <a:xfrm rot="2700000">
                <a:off x="1349" y="2305"/>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2" name="椭圆 31"/>
              <p:cNvSpPr>
                <a:spLocks noChangeAspect="1"/>
              </p:cNvSpPr>
              <p:nvPr/>
            </p:nvSpPr>
            <p:spPr>
              <a:xfrm rot="2700000">
                <a:off x="439" y="2302"/>
                <a:ext cx="911" cy="911"/>
              </a:xfrm>
              <a:prstGeom prst="ellipse">
                <a:avLst/>
              </a:prstGeom>
              <a:gradFill rotWithShape="1">
                <a:gsLst>
                  <a:gs pos="0">
                    <a:srgbClr val="0099CC">
                      <a:gamma/>
                      <a:tint val="13725"/>
                      <a:invGamma/>
                    </a:srgbClr>
                  </a:gs>
                  <a:gs pos="100000">
                    <a:srgbClr val="0099CC">
                      <a:alpha val="80000"/>
                    </a:srgbClr>
                  </a:gs>
                </a:gsLst>
                <a:path path="shape">
                  <a:fillToRect l="50000" t="50000" r="50000" b="50000"/>
                </a:path>
                <a:tileRect/>
              </a:gradFill>
              <a:ln w="19050" cap="flat" cmpd="sng">
                <a:solidFill>
                  <a:schemeClr val="tx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20" name="直接连接符 19"/>
            <p:cNvSpPr>
              <a:spLocks noChangeAspect="1"/>
            </p:cNvSpPr>
            <p:nvPr/>
          </p:nvSpPr>
          <p:spPr>
            <a:xfrm rot="-5400000">
              <a:off x="562" y="2373"/>
              <a:ext cx="912" cy="0"/>
            </a:xfrm>
            <a:prstGeom prst="line">
              <a:avLst/>
            </a:prstGeom>
            <a:ln w="3175" cap="flat" cmpd="sng">
              <a:solidFill>
                <a:schemeClr val="tx1"/>
              </a:solidFill>
              <a:prstDash val="lgDash"/>
              <a:headEnd type="none" w="med" len="med"/>
              <a:tailEnd type="none" w="med" len="med"/>
            </a:ln>
          </p:spPr>
        </p:sp>
        <p:sp>
          <p:nvSpPr>
            <p:cNvPr id="21" name="直接连接符 20"/>
            <p:cNvSpPr>
              <a:spLocks noChangeAspect="1"/>
            </p:cNvSpPr>
            <p:nvPr/>
          </p:nvSpPr>
          <p:spPr>
            <a:xfrm>
              <a:off x="1012" y="2823"/>
              <a:ext cx="912" cy="0"/>
            </a:xfrm>
            <a:prstGeom prst="line">
              <a:avLst/>
            </a:prstGeom>
            <a:ln w="3175" cap="flat" cmpd="sng">
              <a:solidFill>
                <a:schemeClr val="tx1"/>
              </a:solidFill>
              <a:prstDash val="lgDash"/>
              <a:headEnd type="none" w="med" len="med"/>
              <a:tailEnd type="none" w="med" len="med"/>
            </a:ln>
          </p:spPr>
        </p:sp>
        <p:sp>
          <p:nvSpPr>
            <p:cNvPr id="22" name="直接连接符 21"/>
            <p:cNvSpPr>
              <a:spLocks noChangeAspect="1"/>
            </p:cNvSpPr>
            <p:nvPr/>
          </p:nvSpPr>
          <p:spPr>
            <a:xfrm flipV="1">
              <a:off x="617" y="1919"/>
              <a:ext cx="405" cy="330"/>
            </a:xfrm>
            <a:prstGeom prst="line">
              <a:avLst/>
            </a:prstGeom>
            <a:ln w="12700" cap="flat" cmpd="sng">
              <a:solidFill>
                <a:schemeClr val="tx1"/>
              </a:solidFill>
              <a:prstDash val="lgDash"/>
              <a:headEnd type="none" w="med" len="med"/>
              <a:tailEnd type="none" w="med" len="med"/>
            </a:ln>
          </p:spPr>
        </p:sp>
        <p:sp>
          <p:nvSpPr>
            <p:cNvPr id="23" name="直接连接符 22"/>
            <p:cNvSpPr>
              <a:spLocks noChangeAspect="1"/>
            </p:cNvSpPr>
            <p:nvPr/>
          </p:nvSpPr>
          <p:spPr>
            <a:xfrm>
              <a:off x="1013" y="1917"/>
              <a:ext cx="907" cy="1"/>
            </a:xfrm>
            <a:prstGeom prst="line">
              <a:avLst/>
            </a:prstGeom>
            <a:ln w="12700" cap="flat" cmpd="sng">
              <a:solidFill>
                <a:schemeClr val="tx1"/>
              </a:solidFill>
              <a:prstDash val="lgDash"/>
              <a:headEnd type="none" w="med" len="med"/>
              <a:tailEnd type="none" w="med" len="med"/>
            </a:ln>
          </p:spPr>
        </p:sp>
        <p:sp>
          <p:nvSpPr>
            <p:cNvPr id="24" name="直接连接符 23"/>
            <p:cNvSpPr>
              <a:spLocks noChangeAspect="1"/>
            </p:cNvSpPr>
            <p:nvPr/>
          </p:nvSpPr>
          <p:spPr>
            <a:xfrm rot="-5400000">
              <a:off x="1471" y="2379"/>
              <a:ext cx="912" cy="0"/>
            </a:xfrm>
            <a:prstGeom prst="line">
              <a:avLst/>
            </a:prstGeom>
            <a:ln w="12700" cap="flat" cmpd="sng">
              <a:solidFill>
                <a:schemeClr val="tx1"/>
              </a:solidFill>
              <a:prstDash val="lgDash"/>
              <a:headEnd type="none" w="med" len="med"/>
              <a:tailEnd type="none" w="med" len="med"/>
            </a:ln>
          </p:spPr>
        </p:sp>
        <p:sp>
          <p:nvSpPr>
            <p:cNvPr id="25" name="直接连接符 24"/>
            <p:cNvSpPr>
              <a:spLocks noChangeAspect="1"/>
            </p:cNvSpPr>
            <p:nvPr/>
          </p:nvSpPr>
          <p:spPr>
            <a:xfrm flipV="1">
              <a:off x="1521" y="2835"/>
              <a:ext cx="405" cy="330"/>
            </a:xfrm>
            <a:prstGeom prst="line">
              <a:avLst/>
            </a:prstGeom>
            <a:ln w="12700" cap="flat" cmpd="sng">
              <a:solidFill>
                <a:schemeClr val="tx1"/>
              </a:solidFill>
              <a:prstDash val="lgDash"/>
              <a:headEnd type="none" w="med" len="med"/>
              <a:tailEnd type="none" w="med" len="med"/>
            </a:ln>
          </p:spPr>
        </p:sp>
        <p:sp>
          <p:nvSpPr>
            <p:cNvPr id="26" name="直接连接符 25"/>
            <p:cNvSpPr>
              <a:spLocks noChangeAspect="1"/>
            </p:cNvSpPr>
            <p:nvPr/>
          </p:nvSpPr>
          <p:spPr>
            <a:xfrm flipV="1">
              <a:off x="616" y="2824"/>
              <a:ext cx="405" cy="330"/>
            </a:xfrm>
            <a:prstGeom prst="line">
              <a:avLst/>
            </a:prstGeom>
            <a:ln w="3175" cap="flat" cmpd="sng">
              <a:solidFill>
                <a:schemeClr val="tx1"/>
              </a:solidFill>
              <a:prstDash val="lgDash"/>
              <a:headEnd type="none" w="med" len="med"/>
              <a:tailEnd type="none" w="med" len="med"/>
            </a:ln>
          </p:spPr>
        </p:sp>
        <p:sp>
          <p:nvSpPr>
            <p:cNvPr id="27" name="矩形 26"/>
            <p:cNvSpPr>
              <a:spLocks noChangeAspect="1"/>
            </p:cNvSpPr>
            <p:nvPr/>
          </p:nvSpPr>
          <p:spPr>
            <a:xfrm>
              <a:off x="617" y="2250"/>
              <a:ext cx="911" cy="911"/>
            </a:xfrm>
            <a:prstGeom prst="rect">
              <a:avLst/>
            </a:prstGeom>
            <a:noFill/>
            <a:ln w="12700" cap="flat" cmpd="sng">
              <a:solidFill>
                <a:schemeClr val="tx1"/>
              </a:solidFill>
              <a:prstDash val="lgDash"/>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8" name="直接连接符 27"/>
            <p:cNvSpPr>
              <a:spLocks noChangeAspect="1"/>
            </p:cNvSpPr>
            <p:nvPr/>
          </p:nvSpPr>
          <p:spPr>
            <a:xfrm flipV="1">
              <a:off x="1522" y="1918"/>
              <a:ext cx="405" cy="330"/>
            </a:xfrm>
            <a:prstGeom prst="line">
              <a:avLst/>
            </a:prstGeom>
            <a:ln w="12700" cap="flat" cmpd="sng">
              <a:solidFill>
                <a:schemeClr val="tx1"/>
              </a:solidFill>
              <a:prstDash val="lgDash"/>
              <a:headEnd type="none" w="med" len="med"/>
              <a:tailEnd type="none" w="med" len="med"/>
            </a:ln>
          </p:spPr>
        </p:sp>
      </p:grpSp>
      <p:pic>
        <p:nvPicPr>
          <p:cNvPr id="10" name="对象 42052"/>
          <p:cNvPicPr/>
          <p:nvPr/>
        </p:nvPicPr>
        <p:blipFill>
          <a:blip r:embed="rId3" cstate="print"/>
          <a:stretch>
            <a:fillRect/>
          </a:stretch>
        </p:blipFill>
        <p:spPr>
          <a:xfrm>
            <a:off x="6816721" y="3003550"/>
            <a:ext cx="1744663" cy="989013"/>
          </a:xfrm>
          <a:prstGeom prst="rect">
            <a:avLst/>
          </a:prstGeom>
          <a:solidFill>
            <a:srgbClr val="FFFF00"/>
          </a:solidFill>
          <a:ln w="38100">
            <a:noFill/>
            <a:miter/>
          </a:ln>
        </p:spPr>
      </p:pic>
      <p:sp>
        <p:nvSpPr>
          <p:cNvPr id="11" name="右箭头 10"/>
          <p:cNvSpPr/>
          <p:nvPr/>
        </p:nvSpPr>
        <p:spPr>
          <a:xfrm>
            <a:off x="3262309" y="3228975"/>
            <a:ext cx="696912" cy="465138"/>
          </a:xfrm>
          <a:prstGeom prst="rightArrow">
            <a:avLst>
              <a:gd name="adj1" fmla="val 50000"/>
              <a:gd name="adj2" fmla="val 37457"/>
            </a:avLst>
          </a:prstGeom>
          <a:solidFill>
            <a:srgbClr val="FF0066"/>
          </a:solidFill>
          <a:ln w="12700" cap="flat" cmpd="sng">
            <a:solidFill>
              <a:schemeClr val="bg1"/>
            </a:solidFill>
            <a:prstDash val="solid"/>
            <a:miter/>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13" name="圆角矩形 12"/>
          <p:cNvSpPr/>
          <p:nvPr/>
        </p:nvSpPr>
        <p:spPr>
          <a:xfrm>
            <a:off x="571472" y="714362"/>
            <a:ext cx="7924800" cy="503237"/>
          </a:xfrm>
          <a:prstGeom prst="roundRect">
            <a:avLst>
              <a:gd name="adj" fmla="val 21667"/>
            </a:avLst>
          </a:prstGeom>
          <a:noFill/>
          <a:ln w="9525">
            <a:noFill/>
          </a:ln>
        </p:spPr>
        <p:txBody>
          <a:bodyPr anchor="b" anchorCtr="0"/>
          <a:lstStyle>
            <a:lvl1pPr marL="0" lvl="0" indent="0" algn="l" defTabSz="914400" rtl="0" eaLnBrk="1" fontAlgn="base" latinLnBrk="0" hangingPunct="1">
              <a:lnSpc>
                <a:spcPct val="90000"/>
              </a:lnSpc>
              <a:spcBef>
                <a:spcPct val="0"/>
              </a:spcBef>
              <a:spcAft>
                <a:spcPct val="0"/>
              </a:spcAft>
              <a:buNone/>
              <a:defRPr sz="3600" b="1"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dirty="0">
                <a:solidFill>
                  <a:srgbClr val="000099"/>
                </a:solidFill>
              </a:rPr>
              <a:t>3</a:t>
            </a:r>
            <a:r>
              <a:rPr lang="zh-CN" altLang="en-US" sz="3200" dirty="0">
                <a:solidFill>
                  <a:srgbClr val="000099"/>
                </a:solidFill>
              </a:rPr>
              <a:t>、晶胞中的原子数</a:t>
            </a:r>
            <a:endParaRPr lang="en-US" altLang="zh-CN" sz="3200" dirty="0">
              <a:solidFill>
                <a:srgbClr val="000099"/>
              </a:solidFill>
            </a:endParaRPr>
          </a:p>
        </p:txBody>
      </p:sp>
      <p:sp>
        <p:nvSpPr>
          <p:cNvPr id="15" name="矩形 14"/>
          <p:cNvSpPr/>
          <p:nvPr/>
        </p:nvSpPr>
        <p:spPr>
          <a:xfrm>
            <a:off x="879475" y="1410494"/>
            <a:ext cx="6884987"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1)   </a:t>
            </a:r>
            <a:r>
              <a:rPr lang="zh-CN" altLang="en-US" sz="2800" b="1" u="none" dirty="0">
                <a:solidFill>
                  <a:srgbClr val="FF0000"/>
                </a:solidFill>
                <a:latin typeface="Arial" panose="020B0604020202020204" pitchFamily="34" charset="0"/>
              </a:rPr>
              <a:t>简单立方结构   </a:t>
            </a:r>
            <a:r>
              <a:rPr lang="en-US" altLang="zh-CN" sz="2400" b="1" u="none" dirty="0">
                <a:solidFill>
                  <a:srgbClr val="FF0000"/>
                </a:solidFill>
                <a:latin typeface="Arial" panose="020B0604020202020204" pitchFamily="34" charset="0"/>
              </a:rPr>
              <a:t>(SC / Simple cubic)</a:t>
            </a:r>
            <a:endParaRPr lang="en-US" altLang="zh-CN" sz="2400" b="1" u="none" dirty="0">
              <a:solidFill>
                <a:srgbClr val="FF0000"/>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文本框 40970"/>
          <p:cNvSpPr txBox="1"/>
          <p:nvPr/>
        </p:nvSpPr>
        <p:spPr>
          <a:xfrm>
            <a:off x="4929190" y="571486"/>
            <a:ext cx="4029075" cy="1030288"/>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u="none" dirty="0">
                <a:latin typeface="宋体" panose="02010600030101010101" pitchFamily="2" charset="-122"/>
              </a:rPr>
              <a:t> </a:t>
            </a:r>
            <a:r>
              <a:rPr lang="en-US" altLang="zh-CN" sz="2800" b="1" u="none" dirty="0">
                <a:solidFill>
                  <a:srgbClr val="FF0000"/>
                </a:solidFill>
                <a:latin typeface="宋体" panose="02010600030101010101" pitchFamily="2" charset="-122"/>
              </a:rPr>
              <a:t>3)</a:t>
            </a:r>
            <a:r>
              <a:rPr lang="en-US" altLang="zh-CN" sz="2800" b="1" u="none" dirty="0">
                <a:latin typeface="宋体" panose="02010600030101010101" pitchFamily="2" charset="-122"/>
              </a:rPr>
              <a:t> </a:t>
            </a:r>
            <a:r>
              <a:rPr lang="zh-CN" altLang="en-US" sz="2800" b="1" u="none" dirty="0">
                <a:solidFill>
                  <a:srgbClr val="FF0000"/>
                </a:solidFill>
                <a:latin typeface="宋体" panose="02010600030101010101" pitchFamily="2" charset="-122"/>
              </a:rPr>
              <a:t>面心立方结构</a:t>
            </a:r>
            <a:r>
              <a:rPr lang="zh-CN" altLang="en-US" u="none" dirty="0">
                <a:latin typeface="Arial" panose="020B0604020202020204" pitchFamily="34" charset="0"/>
              </a:rPr>
              <a:t> </a:t>
            </a:r>
            <a:endParaRPr lang="zh-CN" altLang="en-US" u="none" dirty="0">
              <a:latin typeface="Arial" panose="020B0604020202020204" pitchFamily="34" charset="0"/>
            </a:endParaRPr>
          </a:p>
          <a:p>
            <a:pPr>
              <a:spcBef>
                <a:spcPct val="40000"/>
              </a:spcBef>
            </a:pPr>
            <a:r>
              <a:rPr lang="en-US" altLang="zh-CN" sz="2400" b="1" u="none" dirty="0">
                <a:solidFill>
                  <a:srgbClr val="FF0000"/>
                </a:solidFill>
                <a:latin typeface="Arial" panose="020B0604020202020204" pitchFamily="34" charset="0"/>
              </a:rPr>
              <a:t>(fcc / Face-centered cubic)</a:t>
            </a:r>
            <a:endParaRPr lang="en-US" altLang="zh-CN" sz="2400" b="1" u="none" dirty="0">
              <a:solidFill>
                <a:srgbClr val="FF0000"/>
              </a:solidFill>
              <a:latin typeface="Arial" panose="020B0604020202020204" pitchFamily="34" charset="0"/>
            </a:endParaRPr>
          </a:p>
        </p:txBody>
      </p:sp>
      <p:grpSp>
        <p:nvGrpSpPr>
          <p:cNvPr id="9" name="组合 8"/>
          <p:cNvGrpSpPr/>
          <p:nvPr/>
        </p:nvGrpSpPr>
        <p:grpSpPr>
          <a:xfrm>
            <a:off x="714348" y="1571618"/>
            <a:ext cx="2959091" cy="2582078"/>
            <a:chOff x="305" y="997"/>
            <a:chExt cx="2004" cy="1913"/>
          </a:xfrm>
        </p:grpSpPr>
        <p:grpSp>
          <p:nvGrpSpPr>
            <p:cNvPr id="48" name="组合 47"/>
            <p:cNvGrpSpPr/>
            <p:nvPr/>
          </p:nvGrpSpPr>
          <p:grpSpPr>
            <a:xfrm>
              <a:off x="305" y="997"/>
              <a:ext cx="2004" cy="1913"/>
              <a:chOff x="305" y="997"/>
              <a:chExt cx="2004" cy="1913"/>
            </a:xfrm>
          </p:grpSpPr>
          <p:sp>
            <p:nvSpPr>
              <p:cNvPr id="60" name="椭圆 59"/>
              <p:cNvSpPr>
                <a:spLocks noChangeAspect="1"/>
              </p:cNvSpPr>
              <p:nvPr/>
            </p:nvSpPr>
            <p:spPr>
              <a:xfrm>
                <a:off x="1520" y="997"/>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61" name="椭圆 60"/>
              <p:cNvSpPr>
                <a:spLocks noChangeAspect="1"/>
              </p:cNvSpPr>
              <p:nvPr/>
            </p:nvSpPr>
            <p:spPr>
              <a:xfrm>
                <a:off x="692" y="997"/>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62" name="椭圆 61"/>
              <p:cNvSpPr>
                <a:spLocks noChangeAspect="1"/>
              </p:cNvSpPr>
              <p:nvPr/>
            </p:nvSpPr>
            <p:spPr>
              <a:xfrm>
                <a:off x="1520" y="1864"/>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63" name="椭圆 62"/>
              <p:cNvSpPr>
                <a:spLocks noChangeAspect="1"/>
              </p:cNvSpPr>
              <p:nvPr/>
            </p:nvSpPr>
            <p:spPr>
              <a:xfrm>
                <a:off x="584" y="1877"/>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64" name="椭圆 63"/>
              <p:cNvSpPr>
                <a:spLocks noChangeAspect="1"/>
              </p:cNvSpPr>
              <p:nvPr/>
            </p:nvSpPr>
            <p:spPr>
              <a:xfrm>
                <a:off x="957" y="1583"/>
                <a:ext cx="789" cy="789"/>
              </a:xfrm>
              <a:prstGeom prst="ellipse">
                <a:avLst/>
              </a:prstGeom>
              <a:gradFill rotWithShape="1">
                <a:gsLst>
                  <a:gs pos="0">
                    <a:srgbClr val="FF00FF">
                      <a:gamma/>
                      <a:tint val="13725"/>
                      <a:invGamma/>
                    </a:srgbClr>
                  </a:gs>
                  <a:gs pos="100000">
                    <a:srgbClr val="FF00FF"/>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65" name="椭圆 64"/>
              <p:cNvSpPr>
                <a:spLocks noChangeAspect="1"/>
              </p:cNvSpPr>
              <p:nvPr/>
            </p:nvSpPr>
            <p:spPr>
              <a:xfrm>
                <a:off x="1193" y="2109"/>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66" name="椭圆 65"/>
              <p:cNvSpPr>
                <a:spLocks noChangeAspect="1"/>
              </p:cNvSpPr>
              <p:nvPr/>
            </p:nvSpPr>
            <p:spPr>
              <a:xfrm>
                <a:off x="341" y="2121"/>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67" name="椭圆 66"/>
              <p:cNvSpPr>
                <a:spLocks noChangeAspect="1"/>
              </p:cNvSpPr>
              <p:nvPr/>
            </p:nvSpPr>
            <p:spPr>
              <a:xfrm>
                <a:off x="305" y="1258"/>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grpSp>
        <p:grpSp>
          <p:nvGrpSpPr>
            <p:cNvPr id="49" name="组合 48"/>
            <p:cNvGrpSpPr/>
            <p:nvPr/>
          </p:nvGrpSpPr>
          <p:grpSpPr>
            <a:xfrm>
              <a:off x="725" y="1310"/>
              <a:ext cx="1244" cy="1273"/>
              <a:chOff x="718" y="1258"/>
              <a:chExt cx="1244" cy="1273"/>
            </a:xfrm>
          </p:grpSpPr>
          <p:sp>
            <p:nvSpPr>
              <p:cNvPr id="50" name="椭圆 49"/>
              <p:cNvSpPr>
                <a:spLocks noChangeAspect="1"/>
              </p:cNvSpPr>
              <p:nvPr/>
            </p:nvSpPr>
            <p:spPr>
              <a:xfrm>
                <a:off x="1173" y="1258"/>
                <a:ext cx="789" cy="78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51" name="直接连接符 50"/>
              <p:cNvSpPr>
                <a:spLocks noChangeAspect="1"/>
              </p:cNvSpPr>
              <p:nvPr/>
            </p:nvSpPr>
            <p:spPr>
              <a:xfrm flipV="1">
                <a:off x="718" y="2225"/>
                <a:ext cx="377" cy="300"/>
              </a:xfrm>
              <a:prstGeom prst="line">
                <a:avLst/>
              </a:prstGeom>
              <a:ln w="3175" cap="flat" cmpd="sng">
                <a:solidFill>
                  <a:schemeClr val="bg1"/>
                </a:solidFill>
                <a:prstDash val="lgDash"/>
                <a:headEnd type="none" w="med" len="med"/>
                <a:tailEnd type="none" w="med" len="med"/>
              </a:ln>
            </p:spPr>
          </p:sp>
          <p:sp>
            <p:nvSpPr>
              <p:cNvPr id="52" name="直接连接符 51"/>
              <p:cNvSpPr>
                <a:spLocks noChangeAspect="1"/>
              </p:cNvSpPr>
              <p:nvPr/>
            </p:nvSpPr>
            <p:spPr>
              <a:xfrm rot="-5400000">
                <a:off x="678" y="1805"/>
                <a:ext cx="828" cy="0"/>
              </a:xfrm>
              <a:prstGeom prst="line">
                <a:avLst/>
              </a:prstGeom>
              <a:ln w="3175" cap="flat" cmpd="sng">
                <a:solidFill>
                  <a:schemeClr val="bg1"/>
                </a:solidFill>
                <a:prstDash val="lgDash"/>
                <a:headEnd type="none" w="med" len="med"/>
                <a:tailEnd type="none" w="med" len="med"/>
              </a:ln>
            </p:spPr>
          </p:sp>
          <p:sp>
            <p:nvSpPr>
              <p:cNvPr id="53" name="直接连接符 52"/>
              <p:cNvSpPr>
                <a:spLocks noChangeAspect="1"/>
              </p:cNvSpPr>
              <p:nvPr/>
            </p:nvSpPr>
            <p:spPr>
              <a:xfrm flipV="1">
                <a:off x="719" y="1404"/>
                <a:ext cx="377" cy="299"/>
              </a:xfrm>
              <a:prstGeom prst="line">
                <a:avLst/>
              </a:prstGeom>
              <a:ln w="12700" cap="flat" cmpd="sng">
                <a:solidFill>
                  <a:schemeClr val="bg1"/>
                </a:solidFill>
                <a:prstDash val="lgDash"/>
                <a:headEnd type="none" w="med" len="med"/>
                <a:tailEnd type="none" w="med" len="med"/>
              </a:ln>
            </p:spPr>
          </p:sp>
          <p:sp>
            <p:nvSpPr>
              <p:cNvPr id="54" name="直接连接符 53"/>
              <p:cNvSpPr>
                <a:spLocks noChangeAspect="1"/>
              </p:cNvSpPr>
              <p:nvPr/>
            </p:nvSpPr>
            <p:spPr>
              <a:xfrm>
                <a:off x="1087" y="1402"/>
                <a:ext cx="848" cy="0"/>
              </a:xfrm>
              <a:prstGeom prst="line">
                <a:avLst/>
              </a:prstGeom>
              <a:ln w="12700" cap="flat" cmpd="sng">
                <a:solidFill>
                  <a:schemeClr val="bg1"/>
                </a:solidFill>
                <a:prstDash val="lgDash"/>
                <a:headEnd type="none" w="med" len="med"/>
                <a:tailEnd type="none" w="med" len="med"/>
              </a:ln>
            </p:spPr>
          </p:sp>
          <p:sp>
            <p:nvSpPr>
              <p:cNvPr id="55" name="直接连接符 54"/>
              <p:cNvSpPr>
                <a:spLocks noChangeAspect="1"/>
              </p:cNvSpPr>
              <p:nvPr/>
            </p:nvSpPr>
            <p:spPr>
              <a:xfrm rot="-5400000">
                <a:off x="1523" y="1810"/>
                <a:ext cx="828" cy="0"/>
              </a:xfrm>
              <a:prstGeom prst="line">
                <a:avLst/>
              </a:prstGeom>
              <a:ln w="12700" cap="flat" cmpd="sng">
                <a:solidFill>
                  <a:schemeClr val="bg1"/>
                </a:solidFill>
                <a:prstDash val="lgDash"/>
                <a:headEnd type="none" w="med" len="med"/>
                <a:tailEnd type="none" w="med" len="med"/>
              </a:ln>
            </p:spPr>
          </p:sp>
          <p:sp>
            <p:nvSpPr>
              <p:cNvPr id="56" name="直接连接符 55"/>
              <p:cNvSpPr>
                <a:spLocks noChangeAspect="1"/>
              </p:cNvSpPr>
              <p:nvPr/>
            </p:nvSpPr>
            <p:spPr>
              <a:xfrm flipV="1">
                <a:off x="1560" y="2224"/>
                <a:ext cx="376" cy="300"/>
              </a:xfrm>
              <a:prstGeom prst="line">
                <a:avLst/>
              </a:prstGeom>
              <a:ln w="12700" cap="flat" cmpd="sng">
                <a:solidFill>
                  <a:schemeClr val="bg1"/>
                </a:solidFill>
                <a:prstDash val="lgDash"/>
                <a:headEnd type="none" w="med" len="med"/>
                <a:tailEnd type="none" w="med" len="med"/>
              </a:ln>
            </p:spPr>
          </p:sp>
          <p:sp>
            <p:nvSpPr>
              <p:cNvPr id="57" name="直接连接符 56"/>
              <p:cNvSpPr>
                <a:spLocks noChangeAspect="1"/>
              </p:cNvSpPr>
              <p:nvPr/>
            </p:nvSpPr>
            <p:spPr>
              <a:xfrm flipV="1">
                <a:off x="1560" y="1403"/>
                <a:ext cx="377" cy="299"/>
              </a:xfrm>
              <a:prstGeom prst="line">
                <a:avLst/>
              </a:prstGeom>
              <a:ln w="12700" cap="flat" cmpd="sng">
                <a:solidFill>
                  <a:schemeClr val="bg1"/>
                </a:solidFill>
                <a:prstDash val="lgDash"/>
                <a:headEnd type="none" w="med" len="med"/>
                <a:tailEnd type="none" w="med" len="med"/>
              </a:ln>
            </p:spPr>
          </p:sp>
          <p:sp>
            <p:nvSpPr>
              <p:cNvPr id="58" name="矩形 57"/>
              <p:cNvSpPr>
                <a:spLocks noChangeAspect="1"/>
              </p:cNvSpPr>
              <p:nvPr/>
            </p:nvSpPr>
            <p:spPr>
              <a:xfrm>
                <a:off x="719" y="1704"/>
                <a:ext cx="847" cy="827"/>
              </a:xfrm>
              <a:prstGeom prst="rect">
                <a:avLst/>
              </a:prstGeom>
              <a:noFill/>
              <a:ln w="12700" cap="flat" cmpd="sng">
                <a:solidFill>
                  <a:schemeClr val="bg1"/>
                </a:solidFill>
                <a:prstDash val="lgDash"/>
                <a:miter/>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59" name="直接连接符 58"/>
              <p:cNvSpPr>
                <a:spLocks noChangeAspect="1"/>
              </p:cNvSpPr>
              <p:nvPr/>
            </p:nvSpPr>
            <p:spPr>
              <a:xfrm>
                <a:off x="1087" y="2230"/>
                <a:ext cx="848" cy="0"/>
              </a:xfrm>
              <a:prstGeom prst="line">
                <a:avLst/>
              </a:prstGeom>
              <a:ln w="12700" cap="flat" cmpd="sng">
                <a:solidFill>
                  <a:schemeClr val="bg1"/>
                </a:solidFill>
                <a:prstDash val="lgDash"/>
                <a:headEnd type="none" w="med" len="med"/>
                <a:tailEnd type="none" w="med" len="med"/>
              </a:ln>
            </p:spPr>
          </p:sp>
        </p:grpSp>
      </p:grpSp>
      <p:grpSp>
        <p:nvGrpSpPr>
          <p:cNvPr id="10" name="组合 9"/>
          <p:cNvGrpSpPr/>
          <p:nvPr/>
        </p:nvGrpSpPr>
        <p:grpSpPr>
          <a:xfrm>
            <a:off x="5214942" y="1571618"/>
            <a:ext cx="2670198" cy="2428892"/>
            <a:chOff x="3277" y="916"/>
            <a:chExt cx="1808" cy="1720"/>
          </a:xfrm>
        </p:grpSpPr>
        <p:grpSp>
          <p:nvGrpSpPr>
            <p:cNvPr id="16" name="组合 15"/>
            <p:cNvGrpSpPr/>
            <p:nvPr/>
          </p:nvGrpSpPr>
          <p:grpSpPr>
            <a:xfrm>
              <a:off x="3277" y="916"/>
              <a:ext cx="1808" cy="1720"/>
              <a:chOff x="3277" y="916"/>
              <a:chExt cx="1808" cy="1720"/>
            </a:xfrm>
          </p:grpSpPr>
          <p:grpSp>
            <p:nvGrpSpPr>
              <p:cNvPr id="31" name="组合 30"/>
              <p:cNvGrpSpPr/>
              <p:nvPr/>
            </p:nvGrpSpPr>
            <p:grpSpPr>
              <a:xfrm>
                <a:off x="3335" y="916"/>
                <a:ext cx="1750" cy="1713"/>
                <a:chOff x="3335" y="916"/>
                <a:chExt cx="1750" cy="1713"/>
              </a:xfrm>
            </p:grpSpPr>
            <p:sp>
              <p:nvSpPr>
                <p:cNvPr id="41" name="椭圆 40"/>
                <p:cNvSpPr>
                  <a:spLocks noChangeAspect="1"/>
                </p:cNvSpPr>
                <p:nvPr/>
              </p:nvSpPr>
              <p:spPr>
                <a:xfrm>
                  <a:off x="3534" y="922"/>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42" name="椭圆 41"/>
                <p:cNvSpPr>
                  <a:spLocks noChangeAspect="1"/>
                </p:cNvSpPr>
                <p:nvPr/>
              </p:nvSpPr>
              <p:spPr>
                <a:xfrm>
                  <a:off x="3540" y="1825"/>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43" name="椭圆 42"/>
                <p:cNvSpPr>
                  <a:spLocks noChangeAspect="1"/>
                </p:cNvSpPr>
                <p:nvPr/>
              </p:nvSpPr>
              <p:spPr>
                <a:xfrm>
                  <a:off x="3335" y="1539"/>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44" name="椭圆 43"/>
                <p:cNvSpPr>
                  <a:spLocks noChangeAspect="1"/>
                </p:cNvSpPr>
                <p:nvPr/>
              </p:nvSpPr>
              <p:spPr>
                <a:xfrm>
                  <a:off x="3995" y="1381"/>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45" name="椭圆 44"/>
                <p:cNvSpPr>
                  <a:spLocks noChangeAspect="1"/>
                </p:cNvSpPr>
                <p:nvPr/>
              </p:nvSpPr>
              <p:spPr>
                <a:xfrm>
                  <a:off x="3768" y="1985"/>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46" name="椭圆 45"/>
                <p:cNvSpPr>
                  <a:spLocks noChangeAspect="1"/>
                </p:cNvSpPr>
                <p:nvPr/>
              </p:nvSpPr>
              <p:spPr>
                <a:xfrm>
                  <a:off x="4431" y="916"/>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47" name="椭圆 46"/>
                <p:cNvSpPr>
                  <a:spLocks noChangeAspect="1"/>
                </p:cNvSpPr>
                <p:nvPr/>
              </p:nvSpPr>
              <p:spPr>
                <a:xfrm>
                  <a:off x="4441" y="1828"/>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grpSp>
          <p:grpSp>
            <p:nvGrpSpPr>
              <p:cNvPr id="32" name="组合 31"/>
              <p:cNvGrpSpPr/>
              <p:nvPr/>
            </p:nvGrpSpPr>
            <p:grpSpPr>
              <a:xfrm>
                <a:off x="3277" y="941"/>
                <a:ext cx="1754" cy="1695"/>
                <a:chOff x="3135" y="1119"/>
                <a:chExt cx="1754" cy="1695"/>
              </a:xfrm>
            </p:grpSpPr>
            <p:sp>
              <p:nvSpPr>
                <p:cNvPr id="33" name="椭圆 32"/>
                <p:cNvSpPr>
                  <a:spLocks noChangeAspect="1"/>
                </p:cNvSpPr>
                <p:nvPr/>
              </p:nvSpPr>
              <p:spPr>
                <a:xfrm>
                  <a:off x="3135" y="2166"/>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grpSp>
              <p:nvGrpSpPr>
                <p:cNvPr id="34" name="组合 33"/>
                <p:cNvGrpSpPr/>
                <p:nvPr/>
              </p:nvGrpSpPr>
              <p:grpSpPr>
                <a:xfrm>
                  <a:off x="3147" y="1119"/>
                  <a:ext cx="1742" cy="1695"/>
                  <a:chOff x="3147" y="1119"/>
                  <a:chExt cx="1742" cy="1695"/>
                </a:xfrm>
              </p:grpSpPr>
              <p:sp>
                <p:nvSpPr>
                  <p:cNvPr id="35" name="椭圆 34"/>
                  <p:cNvSpPr>
                    <a:spLocks noChangeAspect="1"/>
                  </p:cNvSpPr>
                  <p:nvPr/>
                </p:nvSpPr>
                <p:spPr>
                  <a:xfrm>
                    <a:off x="3791" y="1119"/>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36" name="椭圆 35"/>
                  <p:cNvSpPr>
                    <a:spLocks noChangeAspect="1"/>
                  </p:cNvSpPr>
                  <p:nvPr/>
                </p:nvSpPr>
                <p:spPr>
                  <a:xfrm>
                    <a:off x="3147" y="1270"/>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37" name="椭圆 36"/>
                  <p:cNvSpPr>
                    <a:spLocks noChangeAspect="1"/>
                  </p:cNvSpPr>
                  <p:nvPr/>
                </p:nvSpPr>
                <p:spPr>
                  <a:xfrm>
                    <a:off x="4059" y="2170"/>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38" name="椭圆 37"/>
                  <p:cNvSpPr>
                    <a:spLocks noChangeAspect="1"/>
                  </p:cNvSpPr>
                  <p:nvPr/>
                </p:nvSpPr>
                <p:spPr>
                  <a:xfrm>
                    <a:off x="3608" y="1728"/>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39" name="椭圆 38"/>
                  <p:cNvSpPr>
                    <a:spLocks noChangeAspect="1"/>
                  </p:cNvSpPr>
                  <p:nvPr/>
                </p:nvSpPr>
                <p:spPr>
                  <a:xfrm>
                    <a:off x="4245" y="1549"/>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
                <p:nvSpPr>
                  <p:cNvPr id="40" name="椭圆 39"/>
                  <p:cNvSpPr>
                    <a:spLocks noChangeAspect="1"/>
                  </p:cNvSpPr>
                  <p:nvPr/>
                </p:nvSpPr>
                <p:spPr>
                  <a:xfrm>
                    <a:off x="4043" y="1266"/>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grpSp>
          </p:grpSp>
        </p:grpSp>
        <p:grpSp>
          <p:nvGrpSpPr>
            <p:cNvPr id="18" name="组合 17"/>
            <p:cNvGrpSpPr/>
            <p:nvPr/>
          </p:nvGrpSpPr>
          <p:grpSpPr>
            <a:xfrm>
              <a:off x="3475" y="1168"/>
              <a:ext cx="1311" cy="1256"/>
              <a:chOff x="3458" y="1614"/>
              <a:chExt cx="1311" cy="1256"/>
            </a:xfrm>
          </p:grpSpPr>
          <p:grpSp>
            <p:nvGrpSpPr>
              <p:cNvPr id="20" name="组合 19"/>
              <p:cNvGrpSpPr/>
              <p:nvPr/>
            </p:nvGrpSpPr>
            <p:grpSpPr>
              <a:xfrm>
                <a:off x="3458" y="1614"/>
                <a:ext cx="1311" cy="1256"/>
                <a:chOff x="3458" y="1614"/>
                <a:chExt cx="1311" cy="1256"/>
              </a:xfrm>
            </p:grpSpPr>
            <p:sp>
              <p:nvSpPr>
                <p:cNvPr id="22" name="直接连接符 21"/>
                <p:cNvSpPr>
                  <a:spLocks noChangeAspect="1"/>
                </p:cNvSpPr>
                <p:nvPr/>
              </p:nvSpPr>
              <p:spPr>
                <a:xfrm flipV="1">
                  <a:off x="3458" y="2533"/>
                  <a:ext cx="405" cy="330"/>
                </a:xfrm>
                <a:prstGeom prst="line">
                  <a:avLst/>
                </a:prstGeom>
                <a:ln w="3175" cap="flat" cmpd="sng">
                  <a:solidFill>
                    <a:schemeClr val="bg1"/>
                  </a:solidFill>
                  <a:prstDash val="lgDash"/>
                  <a:headEnd type="none" w="med" len="med"/>
                  <a:tailEnd type="none" w="med" len="med"/>
                </a:ln>
              </p:spPr>
            </p:sp>
            <p:grpSp>
              <p:nvGrpSpPr>
                <p:cNvPr id="23" name="组合 22"/>
                <p:cNvGrpSpPr/>
                <p:nvPr/>
              </p:nvGrpSpPr>
              <p:grpSpPr>
                <a:xfrm>
                  <a:off x="3459" y="1614"/>
                  <a:ext cx="1310" cy="1256"/>
                  <a:chOff x="3459" y="1614"/>
                  <a:chExt cx="1310" cy="1256"/>
                </a:xfrm>
              </p:grpSpPr>
              <p:sp>
                <p:nvSpPr>
                  <p:cNvPr id="24" name="直接连接符 23"/>
                  <p:cNvSpPr>
                    <a:spLocks noChangeAspect="1"/>
                  </p:cNvSpPr>
                  <p:nvPr/>
                </p:nvSpPr>
                <p:spPr>
                  <a:xfrm rot="-5400000">
                    <a:off x="3404" y="2070"/>
                    <a:ext cx="912" cy="0"/>
                  </a:xfrm>
                  <a:prstGeom prst="line">
                    <a:avLst/>
                  </a:prstGeom>
                  <a:ln w="3175" cap="flat" cmpd="sng">
                    <a:solidFill>
                      <a:schemeClr val="bg1"/>
                    </a:solidFill>
                    <a:prstDash val="lgDash"/>
                    <a:headEnd type="none" w="med" len="med"/>
                    <a:tailEnd type="none" w="med" len="med"/>
                  </a:ln>
                </p:spPr>
              </p:sp>
              <p:sp>
                <p:nvSpPr>
                  <p:cNvPr id="25" name="直接连接符 24"/>
                  <p:cNvSpPr>
                    <a:spLocks noChangeAspect="1"/>
                  </p:cNvSpPr>
                  <p:nvPr/>
                </p:nvSpPr>
                <p:spPr>
                  <a:xfrm flipV="1">
                    <a:off x="3459" y="1628"/>
                    <a:ext cx="405" cy="330"/>
                  </a:xfrm>
                  <a:prstGeom prst="line">
                    <a:avLst/>
                  </a:prstGeom>
                  <a:ln w="12700" cap="flat" cmpd="sng">
                    <a:solidFill>
                      <a:schemeClr val="bg1"/>
                    </a:solidFill>
                    <a:prstDash val="lgDash"/>
                    <a:headEnd type="none" w="med" len="med"/>
                    <a:tailEnd type="none" w="med" len="med"/>
                  </a:ln>
                </p:spPr>
              </p:sp>
              <p:sp>
                <p:nvSpPr>
                  <p:cNvPr id="26" name="直接连接符 25"/>
                  <p:cNvSpPr>
                    <a:spLocks noChangeAspect="1"/>
                  </p:cNvSpPr>
                  <p:nvPr/>
                </p:nvSpPr>
                <p:spPr>
                  <a:xfrm>
                    <a:off x="3855" y="1626"/>
                    <a:ext cx="912" cy="0"/>
                  </a:xfrm>
                  <a:prstGeom prst="line">
                    <a:avLst/>
                  </a:prstGeom>
                  <a:ln w="12700" cap="flat" cmpd="sng">
                    <a:solidFill>
                      <a:schemeClr val="bg1"/>
                    </a:solidFill>
                    <a:prstDash val="lgDash"/>
                    <a:headEnd type="none" w="med" len="med"/>
                    <a:tailEnd type="none" w="med" len="med"/>
                  </a:ln>
                </p:spPr>
              </p:sp>
              <p:sp>
                <p:nvSpPr>
                  <p:cNvPr id="27" name="直接连接符 26"/>
                  <p:cNvSpPr>
                    <a:spLocks noChangeAspect="1"/>
                  </p:cNvSpPr>
                  <p:nvPr/>
                </p:nvSpPr>
                <p:spPr>
                  <a:xfrm rot="-5400000">
                    <a:off x="4313" y="2076"/>
                    <a:ext cx="912" cy="0"/>
                  </a:xfrm>
                  <a:prstGeom prst="line">
                    <a:avLst/>
                  </a:prstGeom>
                  <a:ln w="12700" cap="flat" cmpd="sng">
                    <a:solidFill>
                      <a:schemeClr val="bg1"/>
                    </a:solidFill>
                    <a:prstDash val="lgDash"/>
                    <a:headEnd type="none" w="med" len="med"/>
                    <a:tailEnd type="none" w="med" len="med"/>
                  </a:ln>
                </p:spPr>
              </p:sp>
              <p:sp>
                <p:nvSpPr>
                  <p:cNvPr id="28" name="直接连接符 27"/>
                  <p:cNvSpPr>
                    <a:spLocks noChangeAspect="1"/>
                  </p:cNvSpPr>
                  <p:nvPr/>
                </p:nvSpPr>
                <p:spPr>
                  <a:xfrm flipV="1">
                    <a:off x="4363" y="2532"/>
                    <a:ext cx="405" cy="330"/>
                  </a:xfrm>
                  <a:prstGeom prst="line">
                    <a:avLst/>
                  </a:prstGeom>
                  <a:ln w="12700" cap="flat" cmpd="sng">
                    <a:solidFill>
                      <a:schemeClr val="bg1"/>
                    </a:solidFill>
                    <a:prstDash val="lgDash"/>
                    <a:headEnd type="none" w="med" len="med"/>
                    <a:tailEnd type="none" w="med" len="med"/>
                  </a:ln>
                </p:spPr>
              </p:sp>
              <p:sp>
                <p:nvSpPr>
                  <p:cNvPr id="29" name="直接连接符 28"/>
                  <p:cNvSpPr>
                    <a:spLocks noChangeAspect="1"/>
                  </p:cNvSpPr>
                  <p:nvPr/>
                </p:nvSpPr>
                <p:spPr>
                  <a:xfrm flipV="1">
                    <a:off x="4364" y="1627"/>
                    <a:ext cx="405" cy="330"/>
                  </a:xfrm>
                  <a:prstGeom prst="line">
                    <a:avLst/>
                  </a:prstGeom>
                  <a:ln w="12700" cap="flat" cmpd="sng">
                    <a:solidFill>
                      <a:schemeClr val="bg1"/>
                    </a:solidFill>
                    <a:prstDash val="lgDash"/>
                    <a:headEnd type="none" w="med" len="med"/>
                    <a:tailEnd type="none" w="med" len="med"/>
                  </a:ln>
                </p:spPr>
              </p:sp>
              <p:sp>
                <p:nvSpPr>
                  <p:cNvPr id="30" name="矩形 29"/>
                  <p:cNvSpPr>
                    <a:spLocks noChangeAspect="1"/>
                  </p:cNvSpPr>
                  <p:nvPr/>
                </p:nvSpPr>
                <p:spPr>
                  <a:xfrm>
                    <a:off x="3459" y="1959"/>
                    <a:ext cx="911" cy="911"/>
                  </a:xfrm>
                  <a:prstGeom prst="rect">
                    <a:avLst/>
                  </a:prstGeom>
                  <a:noFill/>
                  <a:ln w="12700" cap="flat" cmpd="sng">
                    <a:solidFill>
                      <a:schemeClr val="bg1"/>
                    </a:solidFill>
                    <a:prstDash val="lgDash"/>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sp>
            <p:nvSpPr>
              <p:cNvPr id="21" name="直接连接符 20"/>
              <p:cNvSpPr>
                <a:spLocks noChangeAspect="1"/>
              </p:cNvSpPr>
              <p:nvPr/>
            </p:nvSpPr>
            <p:spPr>
              <a:xfrm>
                <a:off x="3855" y="2538"/>
                <a:ext cx="912" cy="0"/>
              </a:xfrm>
              <a:prstGeom prst="line">
                <a:avLst/>
              </a:prstGeom>
              <a:ln w="12700" cap="flat" cmpd="sng">
                <a:solidFill>
                  <a:schemeClr val="bg1"/>
                </a:solidFill>
                <a:prstDash val="lgDash"/>
                <a:headEnd type="none" w="med" len="med"/>
                <a:tailEnd type="none" w="med" len="med"/>
              </a:ln>
            </p:spPr>
          </p:sp>
        </p:grpSp>
      </p:grpSp>
      <p:pic>
        <p:nvPicPr>
          <p:cNvPr id="11" name="对象 41007"/>
          <p:cNvPicPr/>
          <p:nvPr/>
        </p:nvPicPr>
        <p:blipFill>
          <a:blip r:embed="rId3" cstate="print"/>
          <a:stretch>
            <a:fillRect/>
          </a:stretch>
        </p:blipFill>
        <p:spPr>
          <a:xfrm>
            <a:off x="1142976" y="4286262"/>
            <a:ext cx="1928826" cy="696911"/>
          </a:xfrm>
          <a:prstGeom prst="rect">
            <a:avLst/>
          </a:prstGeom>
          <a:solidFill>
            <a:srgbClr val="FFFF00"/>
          </a:solidFill>
          <a:ln w="38100">
            <a:noFill/>
            <a:miter/>
          </a:ln>
        </p:spPr>
      </p:pic>
      <p:pic>
        <p:nvPicPr>
          <p:cNvPr id="13" name="对象 41008"/>
          <p:cNvPicPr/>
          <p:nvPr/>
        </p:nvPicPr>
        <p:blipFill>
          <a:blip r:embed="rId4" cstate="print"/>
          <a:stretch>
            <a:fillRect/>
          </a:stretch>
        </p:blipFill>
        <p:spPr>
          <a:xfrm>
            <a:off x="5429256" y="4143386"/>
            <a:ext cx="2571768" cy="739774"/>
          </a:xfrm>
          <a:prstGeom prst="rect">
            <a:avLst/>
          </a:prstGeom>
          <a:solidFill>
            <a:srgbClr val="FFFF00"/>
          </a:solidFill>
          <a:ln w="38100">
            <a:noFill/>
            <a:miter/>
          </a:ln>
        </p:spPr>
      </p:pic>
      <p:sp>
        <p:nvSpPr>
          <p:cNvPr id="15" name="矩形 14"/>
          <p:cNvSpPr/>
          <p:nvPr/>
        </p:nvSpPr>
        <p:spPr>
          <a:xfrm>
            <a:off x="214282" y="500048"/>
            <a:ext cx="4186237" cy="1066800"/>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2)</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体心立方结构 </a:t>
            </a:r>
            <a:endParaRPr lang="zh-CN" altLang="en-US" sz="2800" b="1" u="none" dirty="0">
              <a:solidFill>
                <a:srgbClr val="FF0000"/>
              </a:solidFill>
              <a:latin typeface="Arial" panose="020B0604020202020204" pitchFamily="34" charset="0"/>
            </a:endParaRPr>
          </a:p>
          <a:p>
            <a:pPr>
              <a:spcBef>
                <a:spcPct val="50000"/>
              </a:spcBef>
            </a:pPr>
            <a:r>
              <a:rPr lang="en-US" altLang="zh-CN" sz="2400" b="1" u="none" dirty="0">
                <a:solidFill>
                  <a:srgbClr val="FF0000"/>
                </a:solidFill>
                <a:latin typeface="Arial" panose="020B0604020202020204" pitchFamily="34" charset="0"/>
              </a:rPr>
              <a:t>(bcc / Body-centered cubic)</a:t>
            </a:r>
            <a:endParaRPr lang="en-US" altLang="zh-CN" sz="2800" b="1" u="none" dirty="0">
              <a:solidFill>
                <a:srgbClr val="FF000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1" cstate="print"/>
          <a:srcRect/>
          <a:stretch>
            <a:fillRect/>
          </a:stretch>
        </p:blipFill>
        <p:spPr bwMode="auto">
          <a:xfrm>
            <a:off x="5857884" y="634492"/>
            <a:ext cx="3071834" cy="4125264"/>
          </a:xfrm>
          <a:prstGeom prst="rect">
            <a:avLst/>
          </a:prstGeom>
          <a:noFill/>
          <a:ln w="9525">
            <a:noFill/>
            <a:miter lim="800000"/>
            <a:headEnd/>
            <a:tailEnd/>
          </a:ln>
          <a:effectLst/>
        </p:spPr>
      </p:pic>
      <p:pic>
        <p:nvPicPr>
          <p:cNvPr id="1027" name="Picture 3"/>
          <p:cNvPicPr>
            <a:picLocks noChangeAspect="1" noChangeArrowheads="1"/>
          </p:cNvPicPr>
          <p:nvPr/>
        </p:nvPicPr>
        <p:blipFill>
          <a:blip r:embed="rId2"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3"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192" name="矩形 191"/>
          <p:cNvSpPr/>
          <p:nvPr/>
        </p:nvSpPr>
        <p:spPr>
          <a:xfrm>
            <a:off x="642910" y="571486"/>
            <a:ext cx="5805487" cy="1066800"/>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4)</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密排六方结构 </a:t>
            </a:r>
            <a:endParaRPr lang="zh-CN" altLang="en-US" sz="2800" b="1" u="none" dirty="0">
              <a:solidFill>
                <a:srgbClr val="FF0000"/>
              </a:solidFill>
              <a:latin typeface="Arial" panose="020B0604020202020204" pitchFamily="34" charset="0"/>
            </a:endParaRPr>
          </a:p>
          <a:p>
            <a:pPr>
              <a:spcBef>
                <a:spcPct val="50000"/>
              </a:spcBef>
            </a:pPr>
            <a:r>
              <a:rPr lang="en-US" altLang="zh-CN" sz="2400" b="1" u="none" dirty="0">
                <a:solidFill>
                  <a:srgbClr val="FF0000"/>
                </a:solidFill>
                <a:latin typeface="Arial" panose="020B0604020202020204" pitchFamily="34" charset="0"/>
              </a:rPr>
              <a:t>        (hcp </a:t>
            </a:r>
            <a:r>
              <a:rPr lang="en-US" altLang="zh-CN" sz="2400" u="none" dirty="0">
                <a:solidFill>
                  <a:srgbClr val="FF0000"/>
                </a:solidFill>
                <a:latin typeface="Arial" panose="020B0604020202020204" pitchFamily="34" charset="0"/>
              </a:rPr>
              <a:t>/ hexagonal Close-packed)</a:t>
            </a:r>
            <a:endParaRPr lang="en-US" altLang="zh-CN" sz="2400" u="none" dirty="0">
              <a:solidFill>
                <a:srgbClr val="FF0000"/>
              </a:solidFill>
              <a:latin typeface="Arial" panose="020B0604020202020204" pitchFamily="34" charset="0"/>
            </a:endParaRPr>
          </a:p>
        </p:txBody>
      </p:sp>
      <p:pic>
        <p:nvPicPr>
          <p:cNvPr id="7170" name="Picture 2"/>
          <p:cNvPicPr>
            <a:picLocks noChangeAspect="1" noChangeArrowheads="1"/>
          </p:cNvPicPr>
          <p:nvPr/>
        </p:nvPicPr>
        <p:blipFill>
          <a:blip r:embed="rId4" cstate="print"/>
          <a:srcRect/>
          <a:stretch>
            <a:fillRect/>
          </a:stretch>
        </p:blipFill>
        <p:spPr bwMode="auto">
          <a:xfrm>
            <a:off x="1785918" y="2357436"/>
            <a:ext cx="2638425" cy="1285875"/>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圆角矩形 7"/>
          <p:cNvSpPr/>
          <p:nvPr/>
        </p:nvSpPr>
        <p:spPr>
          <a:xfrm>
            <a:off x="498449" y="801686"/>
            <a:ext cx="7924800" cy="503237"/>
          </a:xfrm>
          <a:prstGeom prst="roundRect">
            <a:avLst>
              <a:gd name="adj" fmla="val 21667"/>
            </a:avLst>
          </a:prstGeom>
          <a:noFill/>
          <a:ln w="9525">
            <a:noFill/>
          </a:ln>
        </p:spPr>
        <p:txBody>
          <a:bodyPr anchor="b" anchorCtr="0"/>
          <a:lstStyle>
            <a:lvl1pPr marL="0" lvl="0" indent="0" algn="l" defTabSz="914400" rtl="0" eaLnBrk="1" fontAlgn="base" latinLnBrk="0" hangingPunct="1">
              <a:lnSpc>
                <a:spcPct val="90000"/>
              </a:lnSpc>
              <a:spcBef>
                <a:spcPct val="0"/>
              </a:spcBef>
              <a:spcAft>
                <a:spcPct val="0"/>
              </a:spcAft>
              <a:buNone/>
              <a:defRPr sz="3600" b="1"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dirty="0">
                <a:solidFill>
                  <a:srgbClr val="000099"/>
                </a:solidFill>
              </a:rPr>
              <a:t>4</a:t>
            </a:r>
            <a:r>
              <a:rPr lang="zh-CN" altLang="en-US" sz="3200" dirty="0">
                <a:solidFill>
                  <a:srgbClr val="000099"/>
                </a:solidFill>
              </a:rPr>
              <a:t>、点阵常数与原子半径</a:t>
            </a:r>
            <a:endParaRPr lang="en-US" altLang="zh-CN" sz="3200" dirty="0">
              <a:solidFill>
                <a:srgbClr val="000099"/>
              </a:solidFill>
            </a:endParaRPr>
          </a:p>
        </p:txBody>
      </p:sp>
      <p:sp>
        <p:nvSpPr>
          <p:cNvPr id="9" name="文本框 113706"/>
          <p:cNvSpPr txBox="1"/>
          <p:nvPr/>
        </p:nvSpPr>
        <p:spPr>
          <a:xfrm>
            <a:off x="928662" y="1928808"/>
            <a:ext cx="7381875" cy="2014538"/>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zh-CN" altLang="en-US" sz="2800" b="1" u="none" dirty="0">
                <a:latin typeface="Arial" panose="020B0604020202020204" pitchFamily="34" charset="0"/>
                <a:ea typeface="隶书" panose="02010509060101010101" pitchFamily="49" charset="-122"/>
              </a:rPr>
              <a:t>晶胞的大小一般是由晶胞的</a:t>
            </a:r>
            <a:r>
              <a:rPr lang="zh-CN" altLang="en-US" sz="2800" b="1" u="none" dirty="0">
                <a:solidFill>
                  <a:srgbClr val="FF0000"/>
                </a:solidFill>
                <a:latin typeface="Arial" panose="020B0604020202020204" pitchFamily="34" charset="0"/>
                <a:ea typeface="隶书" panose="02010509060101010101" pitchFamily="49" charset="-122"/>
              </a:rPr>
              <a:t>棱边长度</a:t>
            </a:r>
            <a:r>
              <a:rPr lang="en-US" altLang="zh-CN" sz="2800" b="1" u="none" dirty="0">
                <a:solidFill>
                  <a:srgbClr val="FF0000"/>
                </a:solidFill>
                <a:latin typeface="Arial" panose="020B0604020202020204" pitchFamily="34" charset="0"/>
                <a:ea typeface="隶书" panose="02010509060101010101" pitchFamily="49" charset="-122"/>
              </a:rPr>
              <a:t>(a,b,c</a:t>
            </a:r>
            <a:r>
              <a:rPr lang="zh-CN" altLang="en-US" sz="2800" b="1" u="none" dirty="0">
                <a:solidFill>
                  <a:srgbClr val="FF0000"/>
                </a:solidFill>
                <a:latin typeface="Arial" panose="020B0604020202020204" pitchFamily="34" charset="0"/>
                <a:ea typeface="隶书" panose="02010509060101010101" pitchFamily="49" charset="-122"/>
              </a:rPr>
              <a:t>）</a:t>
            </a:r>
            <a:r>
              <a:rPr lang="zh-CN" altLang="en-US" sz="2800" b="1" u="none" dirty="0">
                <a:latin typeface="Arial" panose="020B0604020202020204" pitchFamily="34" charset="0"/>
                <a:ea typeface="隶书" panose="02010509060101010101" pitchFamily="49" charset="-122"/>
              </a:rPr>
              <a:t>即</a:t>
            </a:r>
            <a:r>
              <a:rPr lang="zh-CN" altLang="en-US" sz="2800" b="1" u="none" dirty="0">
                <a:solidFill>
                  <a:srgbClr val="FF0000"/>
                </a:solidFill>
                <a:latin typeface="Arial" panose="020B0604020202020204" pitchFamily="34" charset="0"/>
                <a:ea typeface="隶书" panose="02010509060101010101" pitchFamily="49" charset="-122"/>
              </a:rPr>
              <a:t>点阵常数</a:t>
            </a:r>
            <a:r>
              <a:rPr lang="zh-CN" altLang="en-US" sz="2800" b="1" u="none" dirty="0">
                <a:latin typeface="Arial" panose="020B0604020202020204" pitchFamily="34" charset="0"/>
                <a:ea typeface="隶书" panose="02010509060101010101" pitchFamily="49" charset="-122"/>
              </a:rPr>
              <a:t>（或称</a:t>
            </a:r>
            <a:r>
              <a:rPr lang="zh-CN" altLang="en-US" sz="2800" b="1" u="none" dirty="0">
                <a:solidFill>
                  <a:srgbClr val="FF0000"/>
                </a:solidFill>
                <a:latin typeface="Arial" panose="020B0604020202020204" pitchFamily="34" charset="0"/>
                <a:ea typeface="隶书" panose="02010509060101010101" pitchFamily="49" charset="-122"/>
              </a:rPr>
              <a:t>晶格常数</a:t>
            </a:r>
            <a:r>
              <a:rPr lang="zh-CN" altLang="en-US" sz="2800" b="1" u="none" dirty="0">
                <a:latin typeface="Arial" panose="020B0604020202020204" pitchFamily="34" charset="0"/>
                <a:ea typeface="隶书" panose="02010509060101010101" pitchFamily="49" charset="-122"/>
              </a:rPr>
              <a:t>）衡量，它是表征晶体结构的一个重要基本参数。</a:t>
            </a:r>
            <a:endParaRPr lang="zh-CN" altLang="en-US" sz="2800" b="1" u="none" dirty="0">
              <a:latin typeface="Arial" panose="020B0604020202020204" pitchFamily="34" charset="0"/>
              <a:ea typeface="隶书" panose="02010509060101010101" pitchFamily="49" charset="-122"/>
            </a:endParaRPr>
          </a:p>
          <a:p>
            <a:pPr>
              <a:spcBef>
                <a:spcPct val="50000"/>
              </a:spcBef>
            </a:pPr>
            <a:r>
              <a:rPr lang="zh-CN" altLang="en-US" sz="2800" b="1" u="none" dirty="0">
                <a:latin typeface="Arial" panose="020B0604020202020204" pitchFamily="34" charset="0"/>
                <a:ea typeface="隶书" panose="02010509060101010101" pitchFamily="49" charset="-122"/>
              </a:rPr>
              <a:t>点阵常数主要通过</a:t>
            </a:r>
            <a:r>
              <a:rPr lang="en-US" altLang="zh-CN" sz="2800" b="1" u="none" dirty="0">
                <a:solidFill>
                  <a:srgbClr val="FF0000"/>
                </a:solidFill>
                <a:latin typeface="Arial" panose="020B0604020202020204" pitchFamily="34" charset="0"/>
                <a:ea typeface="隶书" panose="02010509060101010101" pitchFamily="49" charset="-122"/>
              </a:rPr>
              <a:t>X</a:t>
            </a:r>
            <a:r>
              <a:rPr lang="zh-CN" altLang="en-US" sz="2800" b="1" u="none" dirty="0">
                <a:solidFill>
                  <a:srgbClr val="FF0000"/>
                </a:solidFill>
                <a:latin typeface="Arial" panose="020B0604020202020204" pitchFamily="34" charset="0"/>
                <a:ea typeface="隶书" panose="02010509060101010101" pitchFamily="49" charset="-122"/>
              </a:rPr>
              <a:t>射线衍射</a:t>
            </a:r>
            <a:r>
              <a:rPr lang="zh-CN" altLang="en-US" sz="2800" b="1" u="none" dirty="0">
                <a:latin typeface="Arial" panose="020B0604020202020204" pitchFamily="34" charset="0"/>
                <a:ea typeface="隶书" panose="02010509060101010101" pitchFamily="49" charset="-122"/>
              </a:rPr>
              <a:t>分析求得。</a:t>
            </a:r>
            <a:endParaRPr lang="zh-CN" altLang="en-US" sz="2800" b="1" u="none" dirty="0">
              <a:latin typeface="Arial" panose="020B0604020202020204" pitchFamily="34" charset="0"/>
              <a:ea typeface="隶书" panose="020105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grpSp>
        <p:nvGrpSpPr>
          <p:cNvPr id="8" name="组合 7"/>
          <p:cNvGrpSpPr/>
          <p:nvPr/>
        </p:nvGrpSpPr>
        <p:grpSpPr>
          <a:xfrm>
            <a:off x="852487" y="2020095"/>
            <a:ext cx="2295526" cy="2339975"/>
            <a:chOff x="24" y="1719"/>
            <a:chExt cx="1579" cy="1548"/>
          </a:xfrm>
        </p:grpSpPr>
        <p:sp>
          <p:nvSpPr>
            <p:cNvPr id="30" name="椭圆 29"/>
            <p:cNvSpPr>
              <a:spLocks noChangeAspect="1"/>
            </p:cNvSpPr>
            <p:nvPr/>
          </p:nvSpPr>
          <p:spPr>
            <a:xfrm>
              <a:off x="954" y="2358"/>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1" name="椭圆 30"/>
            <p:cNvSpPr>
              <a:spLocks noChangeAspect="1"/>
            </p:cNvSpPr>
            <p:nvPr/>
          </p:nvSpPr>
          <p:spPr>
            <a:xfrm>
              <a:off x="314" y="2368"/>
              <a:ext cx="648"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2" name="椭圆 31"/>
            <p:cNvSpPr>
              <a:spLocks noChangeAspect="1"/>
            </p:cNvSpPr>
            <p:nvPr/>
          </p:nvSpPr>
          <p:spPr>
            <a:xfrm>
              <a:off x="284" y="1719"/>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3" name="椭圆 32"/>
            <p:cNvSpPr>
              <a:spLocks noChangeAspect="1"/>
            </p:cNvSpPr>
            <p:nvPr/>
          </p:nvSpPr>
          <p:spPr>
            <a:xfrm>
              <a:off x="938" y="1719"/>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4" name="椭圆 33"/>
            <p:cNvSpPr>
              <a:spLocks noChangeAspect="1"/>
            </p:cNvSpPr>
            <p:nvPr/>
          </p:nvSpPr>
          <p:spPr>
            <a:xfrm>
              <a:off x="694" y="2608"/>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5" name="椭圆 34"/>
            <p:cNvSpPr>
              <a:spLocks noChangeAspect="1"/>
            </p:cNvSpPr>
            <p:nvPr/>
          </p:nvSpPr>
          <p:spPr>
            <a:xfrm>
              <a:off x="54" y="2618"/>
              <a:ext cx="648"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6" name="椭圆 35"/>
            <p:cNvSpPr>
              <a:spLocks noChangeAspect="1"/>
            </p:cNvSpPr>
            <p:nvPr/>
          </p:nvSpPr>
          <p:spPr>
            <a:xfrm>
              <a:off x="24" y="1969"/>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7" name="椭圆 36"/>
            <p:cNvSpPr>
              <a:spLocks noChangeAspect="1"/>
            </p:cNvSpPr>
            <p:nvPr/>
          </p:nvSpPr>
          <p:spPr>
            <a:xfrm>
              <a:off x="678" y="1969"/>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nvGrpSpPr>
            <p:cNvPr id="38" name="组合 37"/>
            <p:cNvGrpSpPr/>
            <p:nvPr/>
          </p:nvGrpSpPr>
          <p:grpSpPr>
            <a:xfrm>
              <a:off x="304" y="2017"/>
              <a:ext cx="992" cy="938"/>
              <a:chOff x="340" y="1921"/>
              <a:chExt cx="1002" cy="938"/>
            </a:xfrm>
          </p:grpSpPr>
          <p:sp>
            <p:nvSpPr>
              <p:cNvPr id="39" name="直接连接符 38"/>
              <p:cNvSpPr>
                <a:spLocks noChangeAspect="1"/>
              </p:cNvSpPr>
              <p:nvPr/>
            </p:nvSpPr>
            <p:spPr>
              <a:xfrm flipV="1">
                <a:off x="340" y="2608"/>
                <a:ext cx="310" cy="246"/>
              </a:xfrm>
              <a:prstGeom prst="line">
                <a:avLst/>
              </a:prstGeom>
              <a:ln w="3175" cap="flat" cmpd="sng">
                <a:solidFill>
                  <a:schemeClr val="bg1"/>
                </a:solidFill>
                <a:prstDash val="lgDash"/>
                <a:headEnd type="none" w="med" len="med"/>
                <a:tailEnd type="none" w="med" len="med"/>
              </a:ln>
            </p:spPr>
          </p:sp>
          <p:sp>
            <p:nvSpPr>
              <p:cNvPr id="40" name="直接连接符 39"/>
              <p:cNvSpPr>
                <a:spLocks noChangeAspect="1"/>
              </p:cNvSpPr>
              <p:nvPr/>
            </p:nvSpPr>
            <p:spPr>
              <a:xfrm rot="-5400000">
                <a:off x="306" y="2262"/>
                <a:ext cx="681" cy="0"/>
              </a:xfrm>
              <a:prstGeom prst="line">
                <a:avLst/>
              </a:prstGeom>
              <a:ln w="3175" cap="flat" cmpd="sng">
                <a:solidFill>
                  <a:schemeClr val="bg1"/>
                </a:solidFill>
                <a:prstDash val="lgDash"/>
                <a:headEnd type="none" w="med" len="med"/>
                <a:tailEnd type="none" w="med" len="med"/>
              </a:ln>
            </p:spPr>
          </p:sp>
          <p:sp>
            <p:nvSpPr>
              <p:cNvPr id="41" name="直接连接符 40"/>
              <p:cNvSpPr>
                <a:spLocks noChangeAspect="1"/>
              </p:cNvSpPr>
              <p:nvPr/>
            </p:nvSpPr>
            <p:spPr>
              <a:xfrm flipV="1">
                <a:off x="340" y="1933"/>
                <a:ext cx="310" cy="246"/>
              </a:xfrm>
              <a:prstGeom prst="line">
                <a:avLst/>
              </a:prstGeom>
              <a:ln w="12700" cap="flat" cmpd="sng">
                <a:solidFill>
                  <a:schemeClr val="bg1"/>
                </a:solidFill>
                <a:prstDash val="lgDash"/>
                <a:headEnd type="none" w="med" len="med"/>
                <a:tailEnd type="none" w="med" len="med"/>
              </a:ln>
            </p:spPr>
          </p:sp>
          <p:sp>
            <p:nvSpPr>
              <p:cNvPr id="42" name="直接连接符 41"/>
              <p:cNvSpPr>
                <a:spLocks noChangeAspect="1"/>
              </p:cNvSpPr>
              <p:nvPr/>
            </p:nvSpPr>
            <p:spPr>
              <a:xfrm>
                <a:off x="643" y="1931"/>
                <a:ext cx="697" cy="0"/>
              </a:xfrm>
              <a:prstGeom prst="line">
                <a:avLst/>
              </a:prstGeom>
              <a:ln w="12700" cap="flat" cmpd="sng">
                <a:solidFill>
                  <a:schemeClr val="bg1"/>
                </a:solidFill>
                <a:prstDash val="lgDash"/>
                <a:headEnd type="none" w="med" len="med"/>
                <a:tailEnd type="none" w="med" len="med"/>
              </a:ln>
            </p:spPr>
          </p:sp>
          <p:sp>
            <p:nvSpPr>
              <p:cNvPr id="43" name="直接连接符 42"/>
              <p:cNvSpPr>
                <a:spLocks noChangeAspect="1"/>
              </p:cNvSpPr>
              <p:nvPr/>
            </p:nvSpPr>
            <p:spPr>
              <a:xfrm rot="-5400000">
                <a:off x="1001" y="2266"/>
                <a:ext cx="681" cy="0"/>
              </a:xfrm>
              <a:prstGeom prst="line">
                <a:avLst/>
              </a:prstGeom>
              <a:ln w="12700" cap="flat" cmpd="sng">
                <a:solidFill>
                  <a:schemeClr val="bg1"/>
                </a:solidFill>
                <a:prstDash val="lgDash"/>
                <a:headEnd type="none" w="med" len="med"/>
                <a:tailEnd type="none" w="med" len="med"/>
              </a:ln>
            </p:spPr>
          </p:sp>
          <p:sp>
            <p:nvSpPr>
              <p:cNvPr id="44" name="直接连接符 43"/>
              <p:cNvSpPr>
                <a:spLocks noChangeAspect="1"/>
              </p:cNvSpPr>
              <p:nvPr/>
            </p:nvSpPr>
            <p:spPr>
              <a:xfrm flipV="1">
                <a:off x="1032" y="2607"/>
                <a:ext cx="309" cy="247"/>
              </a:xfrm>
              <a:prstGeom prst="line">
                <a:avLst/>
              </a:prstGeom>
              <a:ln w="12700" cap="flat" cmpd="sng">
                <a:solidFill>
                  <a:schemeClr val="bg1"/>
                </a:solidFill>
                <a:prstDash val="lgDash"/>
                <a:headEnd type="none" w="med" len="med"/>
                <a:tailEnd type="none" w="med" len="med"/>
              </a:ln>
            </p:spPr>
          </p:sp>
          <p:sp>
            <p:nvSpPr>
              <p:cNvPr id="45" name="直接连接符 44"/>
              <p:cNvSpPr>
                <a:spLocks noChangeAspect="1"/>
              </p:cNvSpPr>
              <p:nvPr/>
            </p:nvSpPr>
            <p:spPr>
              <a:xfrm flipV="1">
                <a:off x="1032" y="1932"/>
                <a:ext cx="310" cy="246"/>
              </a:xfrm>
              <a:prstGeom prst="line">
                <a:avLst/>
              </a:prstGeom>
              <a:ln w="12700" cap="flat" cmpd="sng">
                <a:solidFill>
                  <a:schemeClr val="bg1"/>
                </a:solidFill>
                <a:prstDash val="lgDash"/>
                <a:headEnd type="none" w="med" len="med"/>
                <a:tailEnd type="none" w="med" len="med"/>
              </a:ln>
            </p:spPr>
          </p:sp>
          <p:sp>
            <p:nvSpPr>
              <p:cNvPr id="46" name="矩形 45"/>
              <p:cNvSpPr>
                <a:spLocks noChangeAspect="1"/>
              </p:cNvSpPr>
              <p:nvPr/>
            </p:nvSpPr>
            <p:spPr>
              <a:xfrm>
                <a:off x="340" y="2179"/>
                <a:ext cx="697" cy="680"/>
              </a:xfrm>
              <a:prstGeom prst="rect">
                <a:avLst/>
              </a:prstGeom>
              <a:noFill/>
              <a:ln w="12700" cap="flat" cmpd="sng">
                <a:solidFill>
                  <a:schemeClr val="bg1"/>
                </a:solidFill>
                <a:prstDash val="lgDash"/>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7" name="直接连接符 46"/>
              <p:cNvSpPr>
                <a:spLocks noChangeAspect="1"/>
              </p:cNvSpPr>
              <p:nvPr/>
            </p:nvSpPr>
            <p:spPr>
              <a:xfrm>
                <a:off x="643" y="2612"/>
                <a:ext cx="697" cy="0"/>
              </a:xfrm>
              <a:prstGeom prst="line">
                <a:avLst/>
              </a:prstGeom>
              <a:ln w="12700" cap="flat" cmpd="sng">
                <a:solidFill>
                  <a:schemeClr val="bg1"/>
                </a:solidFill>
                <a:prstDash val="lgDash"/>
                <a:headEnd type="none" w="med" len="med"/>
                <a:tailEnd type="none" w="med" len="med"/>
              </a:ln>
            </p:spPr>
          </p:sp>
        </p:grpSp>
      </p:grpSp>
      <p:grpSp>
        <p:nvGrpSpPr>
          <p:cNvPr id="9" name="组合 8"/>
          <p:cNvGrpSpPr/>
          <p:nvPr/>
        </p:nvGrpSpPr>
        <p:grpSpPr>
          <a:xfrm>
            <a:off x="4048125" y="2223294"/>
            <a:ext cx="1933576" cy="2317749"/>
            <a:chOff x="60" y="224"/>
            <a:chExt cx="1331" cy="1613"/>
          </a:xfrm>
        </p:grpSpPr>
        <p:sp>
          <p:nvSpPr>
            <p:cNvPr id="15" name="椭圆 14"/>
            <p:cNvSpPr>
              <a:spLocks noChangeAspect="1"/>
            </p:cNvSpPr>
            <p:nvPr/>
          </p:nvSpPr>
          <p:spPr>
            <a:xfrm>
              <a:off x="742" y="875"/>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16" name="椭圆 15"/>
            <p:cNvSpPr>
              <a:spLocks noChangeAspect="1"/>
            </p:cNvSpPr>
            <p:nvPr/>
          </p:nvSpPr>
          <p:spPr>
            <a:xfrm>
              <a:off x="78" y="885"/>
              <a:ext cx="648"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18" name="椭圆 17"/>
            <p:cNvSpPr>
              <a:spLocks noChangeAspect="1"/>
            </p:cNvSpPr>
            <p:nvPr/>
          </p:nvSpPr>
          <p:spPr>
            <a:xfrm>
              <a:off x="60" y="224"/>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0" name="椭圆 19"/>
            <p:cNvSpPr>
              <a:spLocks noChangeAspect="1"/>
            </p:cNvSpPr>
            <p:nvPr/>
          </p:nvSpPr>
          <p:spPr>
            <a:xfrm>
              <a:off x="726" y="224"/>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1" name="矩形 20"/>
            <p:cNvSpPr>
              <a:spLocks noChangeAspect="1"/>
            </p:cNvSpPr>
            <p:nvPr/>
          </p:nvSpPr>
          <p:spPr>
            <a:xfrm>
              <a:off x="374" y="554"/>
              <a:ext cx="648" cy="648"/>
            </a:xfrm>
            <a:prstGeom prst="rect">
              <a:avLst/>
            </a:prstGeom>
            <a:noFill/>
            <a:ln w="12700" cap="flat" cmpd="sng">
              <a:solidFill>
                <a:srgbClr val="FF0000"/>
              </a:solidFill>
              <a:prstDash val="solid"/>
              <a:miter/>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sng" dirty="0">
                <a:solidFill>
                  <a:srgbClr val="FF0000"/>
                </a:solidFill>
                <a:latin typeface="Arial" panose="020B0604020202020204" pitchFamily="34" charset="0"/>
              </a:endParaRPr>
            </a:p>
          </p:txBody>
        </p:sp>
        <p:sp>
          <p:nvSpPr>
            <p:cNvPr id="22" name="文本框 120863"/>
            <p:cNvSpPr txBox="1"/>
            <p:nvPr/>
          </p:nvSpPr>
          <p:spPr>
            <a:xfrm>
              <a:off x="734" y="953"/>
              <a:ext cx="279" cy="318"/>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u="none">
                  <a:solidFill>
                    <a:srgbClr val="FF3399"/>
                  </a:solidFill>
                  <a:latin typeface="Times New Roman" panose="02020603050405020304" pitchFamily="18" charset="0"/>
                </a:rPr>
                <a:t>R</a:t>
              </a:r>
              <a:endParaRPr lang="en-US" altLang="zh-CN" sz="2400" b="1" u="none">
                <a:solidFill>
                  <a:srgbClr val="FF3399"/>
                </a:solidFill>
                <a:latin typeface="Times New Roman" panose="02020603050405020304" pitchFamily="18" charset="0"/>
              </a:endParaRPr>
            </a:p>
          </p:txBody>
        </p:sp>
        <p:sp>
          <p:nvSpPr>
            <p:cNvPr id="23" name="文本框 120864"/>
            <p:cNvSpPr txBox="1"/>
            <p:nvPr/>
          </p:nvSpPr>
          <p:spPr>
            <a:xfrm>
              <a:off x="493" y="954"/>
              <a:ext cx="266" cy="318"/>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b="1" i="1" u="none">
                  <a:solidFill>
                    <a:srgbClr val="FF3399"/>
                  </a:solidFill>
                  <a:latin typeface="Times New Roman" panose="02020603050405020304" pitchFamily="18" charset="0"/>
                </a:rPr>
                <a:t>R</a:t>
              </a:r>
              <a:endParaRPr lang="en-US" altLang="zh-CN" sz="2400" b="1" i="1" u="none">
                <a:solidFill>
                  <a:srgbClr val="FF3399"/>
                </a:solidFill>
                <a:latin typeface="Times New Roman" panose="02020603050405020304" pitchFamily="18" charset="0"/>
              </a:endParaRPr>
            </a:p>
          </p:txBody>
        </p:sp>
        <p:grpSp>
          <p:nvGrpSpPr>
            <p:cNvPr id="24" name="组合 23"/>
            <p:cNvGrpSpPr/>
            <p:nvPr/>
          </p:nvGrpSpPr>
          <p:grpSpPr>
            <a:xfrm>
              <a:off x="364" y="1561"/>
              <a:ext cx="667" cy="276"/>
              <a:chOff x="472" y="1597"/>
              <a:chExt cx="667" cy="276"/>
            </a:xfrm>
          </p:grpSpPr>
          <p:grpSp>
            <p:nvGrpSpPr>
              <p:cNvPr id="25" name="组合 24"/>
              <p:cNvGrpSpPr/>
              <p:nvPr/>
            </p:nvGrpSpPr>
            <p:grpSpPr>
              <a:xfrm>
                <a:off x="484" y="1659"/>
                <a:ext cx="641" cy="208"/>
                <a:chOff x="484" y="1472"/>
                <a:chExt cx="641" cy="311"/>
              </a:xfrm>
            </p:grpSpPr>
            <p:sp>
              <p:nvSpPr>
                <p:cNvPr id="28" name="直接连接符 27"/>
                <p:cNvSpPr>
                  <a:spLocks noChangeAspect="1"/>
                </p:cNvSpPr>
                <p:nvPr/>
              </p:nvSpPr>
              <p:spPr>
                <a:xfrm>
                  <a:off x="484" y="1472"/>
                  <a:ext cx="0" cy="311"/>
                </a:xfrm>
                <a:prstGeom prst="line">
                  <a:avLst/>
                </a:prstGeom>
                <a:ln w="3175" cap="flat" cmpd="sng">
                  <a:solidFill>
                    <a:schemeClr val="bg1"/>
                  </a:solidFill>
                  <a:prstDash val="solid"/>
                  <a:headEnd type="none" w="med" len="med"/>
                  <a:tailEnd type="none" w="med" len="med"/>
                </a:ln>
              </p:spPr>
            </p:sp>
            <p:sp>
              <p:nvSpPr>
                <p:cNvPr id="29" name="直接连接符 28"/>
                <p:cNvSpPr>
                  <a:spLocks noChangeAspect="1"/>
                </p:cNvSpPr>
                <p:nvPr/>
              </p:nvSpPr>
              <p:spPr>
                <a:xfrm>
                  <a:off x="1125" y="1472"/>
                  <a:ext cx="0" cy="311"/>
                </a:xfrm>
                <a:prstGeom prst="line">
                  <a:avLst/>
                </a:prstGeom>
                <a:ln w="3175" cap="flat" cmpd="sng">
                  <a:solidFill>
                    <a:schemeClr val="bg1"/>
                  </a:solidFill>
                  <a:prstDash val="solid"/>
                  <a:headEnd type="none" w="med" len="med"/>
                  <a:tailEnd type="none" w="med" len="med"/>
                </a:ln>
              </p:spPr>
            </p:sp>
          </p:grpSp>
          <p:sp>
            <p:nvSpPr>
              <p:cNvPr id="26" name="直接连接符 25"/>
              <p:cNvSpPr>
                <a:spLocks noChangeAspect="1"/>
              </p:cNvSpPr>
              <p:nvPr/>
            </p:nvSpPr>
            <p:spPr>
              <a:xfrm>
                <a:off x="472" y="1754"/>
                <a:ext cx="667" cy="0"/>
              </a:xfrm>
              <a:prstGeom prst="line">
                <a:avLst/>
              </a:prstGeom>
              <a:ln w="3175" cap="flat" cmpd="sng">
                <a:solidFill>
                  <a:schemeClr val="bg1"/>
                </a:solidFill>
                <a:prstDash val="solid"/>
                <a:headEnd type="stealth" w="sm" len="lg"/>
                <a:tailEnd type="stealth" w="sm" len="lg"/>
              </a:ln>
            </p:spPr>
          </p:sp>
          <p:sp>
            <p:nvSpPr>
              <p:cNvPr id="27" name="文本框 120870"/>
              <p:cNvSpPr txBox="1"/>
              <p:nvPr/>
            </p:nvSpPr>
            <p:spPr>
              <a:xfrm>
                <a:off x="700" y="1597"/>
                <a:ext cx="214" cy="276"/>
              </a:xfrm>
              <a:prstGeom prst="rect">
                <a:avLst/>
              </a:prstGeom>
              <a:solidFill>
                <a:srgbClr val="003366"/>
              </a:solid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000" i="1" u="none" dirty="0">
                    <a:solidFill>
                      <a:srgbClr val="FF3300"/>
                    </a:solidFill>
                    <a:latin typeface="Times New Roman" panose="02020603050405020304" pitchFamily="18" charset="0"/>
                  </a:rPr>
                  <a:t>a</a:t>
                </a:r>
                <a:endParaRPr lang="en-US" altLang="zh-CN" sz="2000" u="none">
                  <a:solidFill>
                    <a:srgbClr val="FF3300"/>
                  </a:solidFill>
                  <a:latin typeface="Times New Roman" panose="02020603050405020304" pitchFamily="18" charset="0"/>
                </a:endParaRPr>
              </a:p>
            </p:txBody>
          </p:sp>
        </p:grpSp>
      </p:grpSp>
      <p:pic>
        <p:nvPicPr>
          <p:cNvPr id="10" name="对象 120871"/>
          <p:cNvPicPr/>
          <p:nvPr/>
        </p:nvPicPr>
        <p:blipFill>
          <a:blip r:embed="rId3" cstate="print"/>
          <a:stretch>
            <a:fillRect/>
          </a:stretch>
        </p:blipFill>
        <p:spPr>
          <a:xfrm>
            <a:off x="7153275" y="2905919"/>
            <a:ext cx="1138237" cy="528637"/>
          </a:xfrm>
          <a:prstGeom prst="rect">
            <a:avLst/>
          </a:prstGeom>
          <a:solidFill>
            <a:srgbClr val="FFFF00"/>
          </a:solidFill>
          <a:ln w="38100">
            <a:noFill/>
            <a:miter/>
          </a:ln>
        </p:spPr>
      </p:pic>
      <p:sp>
        <p:nvSpPr>
          <p:cNvPr id="11" name="矩形 10"/>
          <p:cNvSpPr/>
          <p:nvPr/>
        </p:nvSpPr>
        <p:spPr>
          <a:xfrm>
            <a:off x="987425" y="602456"/>
            <a:ext cx="6884987" cy="519113"/>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1)   </a:t>
            </a:r>
            <a:r>
              <a:rPr lang="zh-CN" altLang="en-US" sz="2800" b="1" u="none" dirty="0">
                <a:solidFill>
                  <a:srgbClr val="FF0000"/>
                </a:solidFill>
                <a:latin typeface="Arial" panose="020B0604020202020204" pitchFamily="34" charset="0"/>
              </a:rPr>
              <a:t>简单立方结构 </a:t>
            </a:r>
            <a:r>
              <a:rPr lang="en-US" altLang="zh-CN" sz="2400" b="1" u="none" dirty="0">
                <a:solidFill>
                  <a:srgbClr val="FF0000"/>
                </a:solidFill>
                <a:latin typeface="Arial" panose="020B0604020202020204" pitchFamily="34" charset="0"/>
              </a:rPr>
              <a:t>(SC)</a:t>
            </a:r>
            <a:endParaRPr lang="en-US" altLang="zh-CN" sz="2400" b="1" u="none" dirty="0">
              <a:solidFill>
                <a:srgbClr val="FF0000"/>
              </a:solidFill>
              <a:latin typeface="Arial" panose="020B0604020202020204" pitchFamily="34" charset="0"/>
            </a:endParaRPr>
          </a:p>
        </p:txBody>
      </p:sp>
      <p:sp>
        <p:nvSpPr>
          <p:cNvPr id="13" name="右箭头 12"/>
          <p:cNvSpPr/>
          <p:nvPr/>
        </p:nvSpPr>
        <p:spPr>
          <a:xfrm>
            <a:off x="3194050" y="2829719"/>
            <a:ext cx="696912" cy="465137"/>
          </a:xfrm>
          <a:prstGeom prst="rightArrow">
            <a:avLst>
              <a:gd name="adj1" fmla="val 50000"/>
              <a:gd name="adj2" fmla="val 37457"/>
            </a:avLst>
          </a:prstGeom>
          <a:solidFill>
            <a:srgbClr val="FF0066"/>
          </a:solidFill>
          <a:ln w="12700" cap="flat" cmpd="sng">
            <a:solidFill>
              <a:schemeClr val="bg1"/>
            </a:solidFill>
            <a:prstDash val="solid"/>
            <a:miter/>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642910" y="642924"/>
            <a:ext cx="5356225" cy="519113"/>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2)</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体心立方结构 </a:t>
            </a:r>
            <a:r>
              <a:rPr lang="en-US" altLang="zh-CN" sz="2400" b="1" u="none" dirty="0">
                <a:solidFill>
                  <a:srgbClr val="FF0000"/>
                </a:solidFill>
                <a:latin typeface="Arial" panose="020B0604020202020204" pitchFamily="34" charset="0"/>
              </a:rPr>
              <a:t>(bcc )</a:t>
            </a:r>
            <a:endParaRPr lang="en-US" altLang="zh-CN" sz="2800" b="1" u="none" dirty="0">
              <a:solidFill>
                <a:srgbClr val="FF0000"/>
              </a:solidFill>
              <a:latin typeface="Arial" panose="020B0604020202020204" pitchFamily="34" charset="0"/>
            </a:endParaRPr>
          </a:p>
        </p:txBody>
      </p:sp>
      <p:grpSp>
        <p:nvGrpSpPr>
          <p:cNvPr id="9" name="组合 8"/>
          <p:cNvGrpSpPr/>
          <p:nvPr/>
        </p:nvGrpSpPr>
        <p:grpSpPr>
          <a:xfrm>
            <a:off x="455584" y="1792269"/>
            <a:ext cx="2635250" cy="2776537"/>
            <a:chOff x="1863" y="2607"/>
            <a:chExt cx="1660" cy="1749"/>
          </a:xfrm>
        </p:grpSpPr>
        <p:grpSp>
          <p:nvGrpSpPr>
            <p:cNvPr id="40" name="组合 39"/>
            <p:cNvGrpSpPr/>
            <p:nvPr/>
          </p:nvGrpSpPr>
          <p:grpSpPr>
            <a:xfrm>
              <a:off x="1863" y="2607"/>
              <a:ext cx="1660" cy="1573"/>
              <a:chOff x="1863" y="2151"/>
              <a:chExt cx="1660" cy="1573"/>
            </a:xfrm>
          </p:grpSpPr>
          <p:sp>
            <p:nvSpPr>
              <p:cNvPr id="42" name="椭圆 41"/>
              <p:cNvSpPr>
                <a:spLocks noChangeAspect="1"/>
              </p:cNvSpPr>
              <p:nvPr/>
            </p:nvSpPr>
            <p:spPr>
              <a:xfrm>
                <a:off x="2874" y="2151"/>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3" name="椭圆 42"/>
              <p:cNvSpPr>
                <a:spLocks noChangeAspect="1"/>
              </p:cNvSpPr>
              <p:nvPr/>
            </p:nvSpPr>
            <p:spPr>
              <a:xfrm>
                <a:off x="2193" y="2151"/>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4" name="椭圆 43"/>
              <p:cNvSpPr>
                <a:spLocks noChangeAspect="1"/>
              </p:cNvSpPr>
              <p:nvPr/>
            </p:nvSpPr>
            <p:spPr>
              <a:xfrm>
                <a:off x="2874" y="2864"/>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5" name="椭圆 44"/>
              <p:cNvSpPr>
                <a:spLocks noChangeAspect="1"/>
              </p:cNvSpPr>
              <p:nvPr/>
            </p:nvSpPr>
            <p:spPr>
              <a:xfrm>
                <a:off x="2109" y="2864"/>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6" name="椭圆 45"/>
              <p:cNvSpPr>
                <a:spLocks noChangeAspect="1"/>
              </p:cNvSpPr>
              <p:nvPr/>
            </p:nvSpPr>
            <p:spPr>
              <a:xfrm>
                <a:off x="2411" y="2633"/>
                <a:ext cx="649" cy="649"/>
              </a:xfrm>
              <a:prstGeom prst="ellipse">
                <a:avLst/>
              </a:prstGeom>
              <a:gradFill rotWithShape="1">
                <a:gsLst>
                  <a:gs pos="0">
                    <a:srgbClr val="FF00FF">
                      <a:gamma/>
                      <a:tint val="13725"/>
                      <a:invGamma/>
                    </a:srgbClr>
                  </a:gs>
                  <a:gs pos="100000">
                    <a:srgbClr val="FF00FF"/>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7" name="椭圆 46"/>
              <p:cNvSpPr>
                <a:spLocks noChangeAspect="1"/>
              </p:cNvSpPr>
              <p:nvPr/>
            </p:nvSpPr>
            <p:spPr>
              <a:xfrm>
                <a:off x="2605" y="3065"/>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8" name="椭圆 47"/>
              <p:cNvSpPr>
                <a:spLocks noChangeAspect="1"/>
              </p:cNvSpPr>
              <p:nvPr/>
            </p:nvSpPr>
            <p:spPr>
              <a:xfrm>
                <a:off x="1893" y="3075"/>
                <a:ext cx="648"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9" name="椭圆 48"/>
              <p:cNvSpPr>
                <a:spLocks noChangeAspect="1"/>
              </p:cNvSpPr>
              <p:nvPr/>
            </p:nvSpPr>
            <p:spPr>
              <a:xfrm>
                <a:off x="1863" y="2366"/>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0" name="椭圆 49"/>
              <p:cNvSpPr>
                <a:spLocks noChangeAspect="1"/>
              </p:cNvSpPr>
              <p:nvPr/>
            </p:nvSpPr>
            <p:spPr>
              <a:xfrm>
                <a:off x="2589" y="2366"/>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1" name="直接连接符 50"/>
              <p:cNvSpPr>
                <a:spLocks noChangeAspect="1"/>
              </p:cNvSpPr>
              <p:nvPr/>
            </p:nvSpPr>
            <p:spPr>
              <a:xfrm flipV="1">
                <a:off x="2215" y="3161"/>
                <a:ext cx="310" cy="246"/>
              </a:xfrm>
              <a:prstGeom prst="line">
                <a:avLst/>
              </a:prstGeom>
              <a:ln w="3175" cap="flat" cmpd="sng">
                <a:solidFill>
                  <a:schemeClr val="bg1"/>
                </a:solidFill>
                <a:prstDash val="lgDash"/>
                <a:headEnd type="none" w="med" len="med"/>
                <a:tailEnd type="none" w="med" len="med"/>
              </a:ln>
            </p:spPr>
          </p:sp>
          <p:sp>
            <p:nvSpPr>
              <p:cNvPr id="52" name="直接连接符 51"/>
              <p:cNvSpPr>
                <a:spLocks noChangeAspect="1"/>
              </p:cNvSpPr>
              <p:nvPr/>
            </p:nvSpPr>
            <p:spPr>
              <a:xfrm rot="-5400000">
                <a:off x="2181" y="2815"/>
                <a:ext cx="681" cy="0"/>
              </a:xfrm>
              <a:prstGeom prst="line">
                <a:avLst/>
              </a:prstGeom>
              <a:ln w="3175" cap="flat" cmpd="sng">
                <a:solidFill>
                  <a:schemeClr val="bg1"/>
                </a:solidFill>
                <a:prstDash val="lgDash"/>
                <a:headEnd type="none" w="med" len="med"/>
                <a:tailEnd type="none" w="med" len="med"/>
              </a:ln>
            </p:spPr>
          </p:sp>
          <p:sp>
            <p:nvSpPr>
              <p:cNvPr id="53" name="直接连接符 52"/>
              <p:cNvSpPr>
                <a:spLocks noChangeAspect="1"/>
              </p:cNvSpPr>
              <p:nvPr/>
            </p:nvSpPr>
            <p:spPr>
              <a:xfrm flipV="1">
                <a:off x="2215" y="2486"/>
                <a:ext cx="310" cy="246"/>
              </a:xfrm>
              <a:prstGeom prst="line">
                <a:avLst/>
              </a:prstGeom>
              <a:ln w="12700" cap="flat" cmpd="sng">
                <a:solidFill>
                  <a:schemeClr val="bg1"/>
                </a:solidFill>
                <a:prstDash val="lgDash"/>
                <a:headEnd type="none" w="med" len="med"/>
                <a:tailEnd type="none" w="med" len="med"/>
              </a:ln>
            </p:spPr>
          </p:sp>
          <p:sp>
            <p:nvSpPr>
              <p:cNvPr id="54" name="直接连接符 53"/>
              <p:cNvSpPr>
                <a:spLocks noChangeAspect="1"/>
              </p:cNvSpPr>
              <p:nvPr/>
            </p:nvSpPr>
            <p:spPr>
              <a:xfrm>
                <a:off x="2518" y="2484"/>
                <a:ext cx="697" cy="0"/>
              </a:xfrm>
              <a:prstGeom prst="line">
                <a:avLst/>
              </a:prstGeom>
              <a:ln w="12700" cap="flat" cmpd="sng">
                <a:solidFill>
                  <a:schemeClr val="bg1"/>
                </a:solidFill>
                <a:prstDash val="lgDash"/>
                <a:headEnd type="none" w="med" len="med"/>
                <a:tailEnd type="none" w="med" len="med"/>
              </a:ln>
            </p:spPr>
          </p:sp>
          <p:sp>
            <p:nvSpPr>
              <p:cNvPr id="55" name="直接连接符 54"/>
              <p:cNvSpPr>
                <a:spLocks noChangeAspect="1"/>
              </p:cNvSpPr>
              <p:nvPr/>
            </p:nvSpPr>
            <p:spPr>
              <a:xfrm rot="-5400000">
                <a:off x="2876" y="2819"/>
                <a:ext cx="681" cy="0"/>
              </a:xfrm>
              <a:prstGeom prst="line">
                <a:avLst/>
              </a:prstGeom>
              <a:ln w="12700" cap="flat" cmpd="sng">
                <a:solidFill>
                  <a:schemeClr val="bg1"/>
                </a:solidFill>
                <a:prstDash val="lgDash"/>
                <a:headEnd type="none" w="med" len="med"/>
                <a:tailEnd type="none" w="med" len="med"/>
              </a:ln>
            </p:spPr>
          </p:sp>
          <p:sp>
            <p:nvSpPr>
              <p:cNvPr id="56" name="直接连接符 55"/>
              <p:cNvSpPr>
                <a:spLocks noChangeAspect="1"/>
              </p:cNvSpPr>
              <p:nvPr/>
            </p:nvSpPr>
            <p:spPr>
              <a:xfrm flipV="1">
                <a:off x="2907" y="3160"/>
                <a:ext cx="309" cy="247"/>
              </a:xfrm>
              <a:prstGeom prst="line">
                <a:avLst/>
              </a:prstGeom>
              <a:ln w="12700" cap="flat" cmpd="sng">
                <a:solidFill>
                  <a:schemeClr val="bg1"/>
                </a:solidFill>
                <a:prstDash val="lgDash"/>
                <a:headEnd type="none" w="med" len="med"/>
                <a:tailEnd type="none" w="med" len="med"/>
              </a:ln>
            </p:spPr>
          </p:sp>
          <p:sp>
            <p:nvSpPr>
              <p:cNvPr id="57" name="直接连接符 56"/>
              <p:cNvSpPr>
                <a:spLocks noChangeAspect="1"/>
              </p:cNvSpPr>
              <p:nvPr/>
            </p:nvSpPr>
            <p:spPr>
              <a:xfrm flipV="1">
                <a:off x="2907" y="2485"/>
                <a:ext cx="310" cy="246"/>
              </a:xfrm>
              <a:prstGeom prst="line">
                <a:avLst/>
              </a:prstGeom>
              <a:ln w="12700" cap="flat" cmpd="sng">
                <a:solidFill>
                  <a:schemeClr val="bg1"/>
                </a:solidFill>
                <a:prstDash val="lgDash"/>
                <a:headEnd type="none" w="med" len="med"/>
                <a:tailEnd type="none" w="med" len="med"/>
              </a:ln>
            </p:spPr>
          </p:sp>
          <p:sp>
            <p:nvSpPr>
              <p:cNvPr id="58" name="矩形 57"/>
              <p:cNvSpPr>
                <a:spLocks noChangeAspect="1"/>
              </p:cNvSpPr>
              <p:nvPr/>
            </p:nvSpPr>
            <p:spPr>
              <a:xfrm>
                <a:off x="2215" y="2732"/>
                <a:ext cx="697" cy="680"/>
              </a:xfrm>
              <a:prstGeom prst="rect">
                <a:avLst/>
              </a:prstGeom>
              <a:noFill/>
              <a:ln w="12700" cap="flat" cmpd="sng">
                <a:solidFill>
                  <a:schemeClr val="bg1"/>
                </a:solidFill>
                <a:prstDash val="lgDash"/>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9" name="直接连接符 58"/>
              <p:cNvSpPr>
                <a:spLocks noChangeAspect="1"/>
              </p:cNvSpPr>
              <p:nvPr/>
            </p:nvSpPr>
            <p:spPr>
              <a:xfrm>
                <a:off x="2518" y="3165"/>
                <a:ext cx="697" cy="0"/>
              </a:xfrm>
              <a:prstGeom prst="line">
                <a:avLst/>
              </a:prstGeom>
              <a:ln w="12700" cap="flat" cmpd="sng">
                <a:solidFill>
                  <a:schemeClr val="bg1"/>
                </a:solidFill>
                <a:prstDash val="lgDash"/>
                <a:headEnd type="none" w="med" len="med"/>
                <a:tailEnd type="none" w="med" len="med"/>
              </a:ln>
            </p:spPr>
          </p:sp>
        </p:grpSp>
        <p:sp>
          <p:nvSpPr>
            <p:cNvPr id="41" name="文本框 118867"/>
            <p:cNvSpPr txBox="1"/>
            <p:nvPr/>
          </p:nvSpPr>
          <p:spPr>
            <a:xfrm>
              <a:off x="2351" y="4068"/>
              <a:ext cx="500" cy="288"/>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u="none">
                  <a:solidFill>
                    <a:schemeClr val="bg1"/>
                  </a:solidFill>
                  <a:latin typeface="Times New Roman" panose="02020603050405020304" pitchFamily="18" charset="0"/>
                </a:rPr>
                <a:t>BCC</a:t>
              </a:r>
              <a:endParaRPr lang="en-US" altLang="zh-CN" sz="2400" u="none">
                <a:solidFill>
                  <a:schemeClr val="bg1"/>
                </a:solidFill>
                <a:latin typeface="Times New Roman" panose="02020603050405020304" pitchFamily="18" charset="0"/>
              </a:endParaRPr>
            </a:p>
          </p:txBody>
        </p:sp>
      </p:grpSp>
      <p:grpSp>
        <p:nvGrpSpPr>
          <p:cNvPr id="10" name="组合 9"/>
          <p:cNvGrpSpPr/>
          <p:nvPr/>
        </p:nvGrpSpPr>
        <p:grpSpPr>
          <a:xfrm>
            <a:off x="4009997" y="1657331"/>
            <a:ext cx="2616201" cy="2847977"/>
            <a:chOff x="1793" y="58"/>
            <a:chExt cx="1648" cy="1794"/>
          </a:xfrm>
        </p:grpSpPr>
        <p:sp>
          <p:nvSpPr>
            <p:cNvPr id="15" name="椭圆 14"/>
            <p:cNvSpPr>
              <a:spLocks noChangeAspect="1"/>
            </p:cNvSpPr>
            <p:nvPr/>
          </p:nvSpPr>
          <p:spPr>
            <a:xfrm>
              <a:off x="2780" y="58"/>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16" name="椭圆 15"/>
            <p:cNvSpPr>
              <a:spLocks noChangeAspect="1"/>
            </p:cNvSpPr>
            <p:nvPr/>
          </p:nvSpPr>
          <p:spPr>
            <a:xfrm>
              <a:off x="2792" y="759"/>
              <a:ext cx="649"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18" name="椭圆 17"/>
            <p:cNvSpPr>
              <a:spLocks noChangeAspect="1"/>
            </p:cNvSpPr>
            <p:nvPr/>
          </p:nvSpPr>
          <p:spPr>
            <a:xfrm>
              <a:off x="2305" y="516"/>
              <a:ext cx="649" cy="649"/>
            </a:xfrm>
            <a:prstGeom prst="ellipse">
              <a:avLst/>
            </a:prstGeom>
            <a:gradFill rotWithShape="1">
              <a:gsLst>
                <a:gs pos="0">
                  <a:srgbClr val="FF00FF">
                    <a:gamma/>
                    <a:tint val="13725"/>
                    <a:invGamma/>
                  </a:srgbClr>
                </a:gs>
                <a:gs pos="100000">
                  <a:srgbClr val="FF00FF"/>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0" name="椭圆 19"/>
            <p:cNvSpPr>
              <a:spLocks noChangeAspect="1"/>
            </p:cNvSpPr>
            <p:nvPr/>
          </p:nvSpPr>
          <p:spPr>
            <a:xfrm>
              <a:off x="1823" y="970"/>
              <a:ext cx="648" cy="649"/>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1" name="椭圆 20"/>
            <p:cNvSpPr>
              <a:spLocks noChangeAspect="1"/>
            </p:cNvSpPr>
            <p:nvPr/>
          </p:nvSpPr>
          <p:spPr>
            <a:xfrm>
              <a:off x="1793" y="261"/>
              <a:ext cx="649" cy="648"/>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2" name="直接连接符 21"/>
            <p:cNvSpPr>
              <a:spLocks noChangeAspect="1"/>
            </p:cNvSpPr>
            <p:nvPr/>
          </p:nvSpPr>
          <p:spPr>
            <a:xfrm flipV="1">
              <a:off x="2133" y="1056"/>
              <a:ext cx="310" cy="246"/>
            </a:xfrm>
            <a:prstGeom prst="line">
              <a:avLst/>
            </a:prstGeom>
            <a:ln w="3175" cap="flat" cmpd="sng">
              <a:solidFill>
                <a:srgbClr val="0000FF"/>
              </a:solidFill>
              <a:prstDash val="solid"/>
              <a:headEnd type="none" w="med" len="med"/>
              <a:tailEnd type="none" w="med" len="med"/>
            </a:ln>
          </p:spPr>
        </p:sp>
        <p:sp>
          <p:nvSpPr>
            <p:cNvPr id="23" name="直接连接符 22"/>
            <p:cNvSpPr>
              <a:spLocks noChangeAspect="1"/>
            </p:cNvSpPr>
            <p:nvPr/>
          </p:nvSpPr>
          <p:spPr>
            <a:xfrm rot="-5400000">
              <a:off x="2099" y="710"/>
              <a:ext cx="681" cy="0"/>
            </a:xfrm>
            <a:prstGeom prst="line">
              <a:avLst/>
            </a:prstGeom>
            <a:ln w="3175" cap="flat" cmpd="sng">
              <a:solidFill>
                <a:srgbClr val="0000FF"/>
              </a:solidFill>
              <a:prstDash val="solid"/>
              <a:headEnd type="none" w="med" len="med"/>
              <a:tailEnd type="none" w="med" len="med"/>
            </a:ln>
          </p:spPr>
        </p:sp>
        <p:sp>
          <p:nvSpPr>
            <p:cNvPr id="24" name="直接连接符 23"/>
            <p:cNvSpPr>
              <a:spLocks noChangeAspect="1"/>
            </p:cNvSpPr>
            <p:nvPr/>
          </p:nvSpPr>
          <p:spPr>
            <a:xfrm flipV="1">
              <a:off x="2121" y="381"/>
              <a:ext cx="310" cy="246"/>
            </a:xfrm>
            <a:prstGeom prst="line">
              <a:avLst/>
            </a:prstGeom>
            <a:ln w="12700" cap="flat" cmpd="sng">
              <a:solidFill>
                <a:srgbClr val="0000FF"/>
              </a:solidFill>
              <a:prstDash val="solid"/>
              <a:headEnd type="none" w="med" len="med"/>
              <a:tailEnd type="none" w="med" len="med"/>
            </a:ln>
          </p:spPr>
        </p:sp>
        <p:sp>
          <p:nvSpPr>
            <p:cNvPr id="25" name="直接连接符 24"/>
            <p:cNvSpPr>
              <a:spLocks noChangeAspect="1"/>
            </p:cNvSpPr>
            <p:nvPr/>
          </p:nvSpPr>
          <p:spPr>
            <a:xfrm>
              <a:off x="2436" y="367"/>
              <a:ext cx="697" cy="0"/>
            </a:xfrm>
            <a:prstGeom prst="line">
              <a:avLst/>
            </a:prstGeom>
            <a:ln w="12700" cap="flat" cmpd="sng">
              <a:solidFill>
                <a:srgbClr val="0000FF"/>
              </a:solidFill>
              <a:prstDash val="solid"/>
              <a:headEnd type="none" w="med" len="med"/>
              <a:tailEnd type="none" w="med" len="med"/>
            </a:ln>
          </p:spPr>
        </p:sp>
        <p:sp>
          <p:nvSpPr>
            <p:cNvPr id="26" name="直接连接符 25"/>
            <p:cNvSpPr>
              <a:spLocks noChangeAspect="1"/>
            </p:cNvSpPr>
            <p:nvPr/>
          </p:nvSpPr>
          <p:spPr>
            <a:xfrm rot="-5400000">
              <a:off x="2794" y="714"/>
              <a:ext cx="681" cy="0"/>
            </a:xfrm>
            <a:prstGeom prst="line">
              <a:avLst/>
            </a:prstGeom>
            <a:ln w="12700" cap="flat" cmpd="sng">
              <a:solidFill>
                <a:srgbClr val="0000FF"/>
              </a:solidFill>
              <a:prstDash val="solid"/>
              <a:headEnd type="none" w="med" len="med"/>
              <a:tailEnd type="none" w="med" len="med"/>
            </a:ln>
          </p:spPr>
        </p:sp>
        <p:sp>
          <p:nvSpPr>
            <p:cNvPr id="27" name="直接连接符 26"/>
            <p:cNvSpPr>
              <a:spLocks noChangeAspect="1"/>
            </p:cNvSpPr>
            <p:nvPr/>
          </p:nvSpPr>
          <p:spPr>
            <a:xfrm flipV="1">
              <a:off x="2825" y="1055"/>
              <a:ext cx="309" cy="247"/>
            </a:xfrm>
            <a:prstGeom prst="line">
              <a:avLst/>
            </a:prstGeom>
            <a:ln w="12700" cap="flat" cmpd="sng">
              <a:solidFill>
                <a:srgbClr val="0000FF"/>
              </a:solidFill>
              <a:prstDash val="solid"/>
              <a:headEnd type="none" w="med" len="med"/>
              <a:tailEnd type="none" w="med" len="med"/>
            </a:ln>
          </p:spPr>
        </p:sp>
        <p:sp>
          <p:nvSpPr>
            <p:cNvPr id="28" name="直接连接符 27"/>
            <p:cNvSpPr>
              <a:spLocks noChangeAspect="1"/>
            </p:cNvSpPr>
            <p:nvPr/>
          </p:nvSpPr>
          <p:spPr>
            <a:xfrm flipV="1">
              <a:off x="2825" y="380"/>
              <a:ext cx="310" cy="246"/>
            </a:xfrm>
            <a:prstGeom prst="line">
              <a:avLst/>
            </a:prstGeom>
            <a:ln w="12700" cap="flat" cmpd="sng">
              <a:solidFill>
                <a:schemeClr val="bg1"/>
              </a:solidFill>
              <a:prstDash val="solid"/>
              <a:headEnd type="none" w="med" len="med"/>
              <a:tailEnd type="none" w="med" len="med"/>
            </a:ln>
          </p:spPr>
        </p:sp>
        <p:sp>
          <p:nvSpPr>
            <p:cNvPr id="29" name="矩形 28"/>
            <p:cNvSpPr>
              <a:spLocks noChangeAspect="1"/>
            </p:cNvSpPr>
            <p:nvPr/>
          </p:nvSpPr>
          <p:spPr>
            <a:xfrm>
              <a:off x="2133" y="604"/>
              <a:ext cx="743" cy="703"/>
            </a:xfrm>
            <a:prstGeom prst="rect">
              <a:avLst/>
            </a:prstGeom>
            <a:noFill/>
            <a:ln w="12700" cap="flat" cmpd="sng">
              <a:solidFill>
                <a:srgbClr val="0000FF"/>
              </a:solidFill>
              <a:prstDash val="solid"/>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0" name="直接连接符 29"/>
            <p:cNvSpPr>
              <a:spLocks noChangeAspect="1"/>
            </p:cNvSpPr>
            <p:nvPr/>
          </p:nvSpPr>
          <p:spPr>
            <a:xfrm>
              <a:off x="2436" y="1060"/>
              <a:ext cx="697" cy="0"/>
            </a:xfrm>
            <a:prstGeom prst="line">
              <a:avLst/>
            </a:prstGeom>
            <a:ln w="12700" cap="flat" cmpd="sng">
              <a:solidFill>
                <a:srgbClr val="0000FF"/>
              </a:solidFill>
              <a:prstDash val="solid"/>
              <a:headEnd type="none" w="med" len="med"/>
              <a:tailEnd type="none" w="med" len="med"/>
            </a:ln>
          </p:spPr>
        </p:sp>
        <p:sp>
          <p:nvSpPr>
            <p:cNvPr id="31" name="直接连接符 30"/>
            <p:cNvSpPr/>
            <p:nvPr/>
          </p:nvSpPr>
          <p:spPr>
            <a:xfrm flipV="1">
              <a:off x="2127" y="366"/>
              <a:ext cx="1011" cy="929"/>
            </a:xfrm>
            <a:prstGeom prst="line">
              <a:avLst/>
            </a:prstGeom>
            <a:ln w="3175" cap="flat" cmpd="sng">
              <a:solidFill>
                <a:srgbClr val="0000FF"/>
              </a:solidFill>
              <a:prstDash val="lgDash"/>
              <a:headEnd type="none" w="med" len="med"/>
              <a:tailEnd type="none" w="med" len="med"/>
            </a:ln>
          </p:spPr>
        </p:sp>
        <p:sp>
          <p:nvSpPr>
            <p:cNvPr id="32" name="文本框 118884"/>
            <p:cNvSpPr txBox="1"/>
            <p:nvPr/>
          </p:nvSpPr>
          <p:spPr>
            <a:xfrm>
              <a:off x="2138" y="979"/>
              <a:ext cx="194" cy="2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1600" i="1" u="none">
                  <a:solidFill>
                    <a:srgbClr val="FF0000"/>
                  </a:solidFill>
                  <a:latin typeface="Times New Roman" panose="02020603050405020304" pitchFamily="18" charset="0"/>
                </a:rPr>
                <a:t>R</a:t>
              </a:r>
              <a:endParaRPr lang="en-US" altLang="zh-CN" sz="1600" i="1" u="none">
                <a:solidFill>
                  <a:srgbClr val="FF0000"/>
                </a:solidFill>
                <a:latin typeface="Times New Roman" panose="02020603050405020304" pitchFamily="18" charset="0"/>
              </a:endParaRPr>
            </a:p>
          </p:txBody>
        </p:sp>
        <p:sp>
          <p:nvSpPr>
            <p:cNvPr id="33" name="文本框 118885"/>
            <p:cNvSpPr txBox="1"/>
            <p:nvPr/>
          </p:nvSpPr>
          <p:spPr>
            <a:xfrm>
              <a:off x="2791" y="357"/>
              <a:ext cx="194" cy="2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1600" i="1" u="none">
                  <a:solidFill>
                    <a:srgbClr val="FF0000"/>
                  </a:solidFill>
                  <a:latin typeface="Times New Roman" panose="02020603050405020304" pitchFamily="18" charset="0"/>
                </a:rPr>
                <a:t>R</a:t>
              </a:r>
              <a:endParaRPr lang="en-US" altLang="zh-CN" sz="1600" i="1" u="none">
                <a:solidFill>
                  <a:srgbClr val="FF0000"/>
                </a:solidFill>
                <a:latin typeface="Times New Roman" panose="02020603050405020304" pitchFamily="18" charset="0"/>
              </a:endParaRPr>
            </a:p>
          </p:txBody>
        </p:sp>
        <p:sp>
          <p:nvSpPr>
            <p:cNvPr id="34" name="文本框 118886"/>
            <p:cNvSpPr txBox="1"/>
            <p:nvPr/>
          </p:nvSpPr>
          <p:spPr>
            <a:xfrm>
              <a:off x="2438" y="659"/>
              <a:ext cx="258" cy="21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1600" u="none">
                  <a:solidFill>
                    <a:srgbClr val="FF0000"/>
                  </a:solidFill>
                  <a:latin typeface="Times New Roman" panose="02020603050405020304" pitchFamily="18" charset="0"/>
                </a:rPr>
                <a:t>2</a:t>
              </a:r>
              <a:r>
                <a:rPr lang="en-US" altLang="zh-CN" sz="1600" i="1" u="none">
                  <a:solidFill>
                    <a:srgbClr val="FF0000"/>
                  </a:solidFill>
                  <a:latin typeface="Times New Roman" panose="02020603050405020304" pitchFamily="18" charset="0"/>
                </a:rPr>
                <a:t>R</a:t>
              </a:r>
              <a:endParaRPr lang="en-US" altLang="zh-CN" sz="1600" i="1" u="none">
                <a:solidFill>
                  <a:srgbClr val="FF0000"/>
                </a:solidFill>
                <a:latin typeface="Times New Roman" panose="02020603050405020304" pitchFamily="18" charset="0"/>
              </a:endParaRPr>
            </a:p>
          </p:txBody>
        </p:sp>
        <p:grpSp>
          <p:nvGrpSpPr>
            <p:cNvPr id="35" name="组合 34"/>
            <p:cNvGrpSpPr/>
            <p:nvPr/>
          </p:nvGrpSpPr>
          <p:grpSpPr>
            <a:xfrm>
              <a:off x="2163" y="1582"/>
              <a:ext cx="725" cy="270"/>
              <a:chOff x="2163" y="1618"/>
              <a:chExt cx="725" cy="270"/>
            </a:xfrm>
          </p:grpSpPr>
          <p:sp>
            <p:nvSpPr>
              <p:cNvPr id="36" name="直接连接符 35"/>
              <p:cNvSpPr>
                <a:spLocks noChangeAspect="1"/>
              </p:cNvSpPr>
              <p:nvPr/>
            </p:nvSpPr>
            <p:spPr>
              <a:xfrm>
                <a:off x="2175" y="1680"/>
                <a:ext cx="0" cy="208"/>
              </a:xfrm>
              <a:prstGeom prst="line">
                <a:avLst/>
              </a:prstGeom>
              <a:ln w="3175" cap="flat" cmpd="sng">
                <a:solidFill>
                  <a:schemeClr val="bg1"/>
                </a:solidFill>
                <a:prstDash val="solid"/>
                <a:headEnd type="none" w="med" len="med"/>
                <a:tailEnd type="none" w="med" len="med"/>
              </a:ln>
            </p:spPr>
          </p:sp>
          <p:sp>
            <p:nvSpPr>
              <p:cNvPr id="37" name="直接连接符 36"/>
              <p:cNvSpPr>
                <a:spLocks noChangeAspect="1"/>
              </p:cNvSpPr>
              <p:nvPr/>
            </p:nvSpPr>
            <p:spPr>
              <a:xfrm>
                <a:off x="2876" y="1680"/>
                <a:ext cx="0" cy="208"/>
              </a:xfrm>
              <a:prstGeom prst="line">
                <a:avLst/>
              </a:prstGeom>
              <a:ln w="3175" cap="flat" cmpd="sng">
                <a:solidFill>
                  <a:schemeClr val="bg1"/>
                </a:solidFill>
                <a:prstDash val="solid"/>
                <a:headEnd type="none" w="med" len="med"/>
                <a:tailEnd type="none" w="med" len="med"/>
              </a:ln>
            </p:spPr>
          </p:sp>
          <p:sp>
            <p:nvSpPr>
              <p:cNvPr id="38" name="直接连接符 37"/>
              <p:cNvSpPr>
                <a:spLocks noChangeAspect="1"/>
              </p:cNvSpPr>
              <p:nvPr/>
            </p:nvSpPr>
            <p:spPr>
              <a:xfrm>
                <a:off x="2163" y="1775"/>
                <a:ext cx="725" cy="0"/>
              </a:xfrm>
              <a:prstGeom prst="line">
                <a:avLst/>
              </a:prstGeom>
              <a:ln w="3175" cap="flat" cmpd="sng">
                <a:solidFill>
                  <a:schemeClr val="bg1"/>
                </a:solidFill>
                <a:prstDash val="solid"/>
                <a:headEnd type="stealth" w="sm" len="lg"/>
                <a:tailEnd type="stealth" w="sm" len="lg"/>
              </a:ln>
            </p:spPr>
          </p:sp>
          <p:sp>
            <p:nvSpPr>
              <p:cNvPr id="39" name="文本框 118891"/>
              <p:cNvSpPr txBox="1"/>
              <p:nvPr/>
            </p:nvSpPr>
            <p:spPr>
              <a:xfrm>
                <a:off x="2427" y="1618"/>
                <a:ext cx="196" cy="250"/>
              </a:xfrm>
              <a:prstGeom prst="rect">
                <a:avLst/>
              </a:prstGeom>
              <a:solidFill>
                <a:srgbClr val="003366"/>
              </a:solid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000" i="1" u="none" dirty="0">
                    <a:solidFill>
                      <a:srgbClr val="FF0066"/>
                    </a:solidFill>
                    <a:latin typeface="Times New Roman" panose="02020603050405020304" pitchFamily="18" charset="0"/>
                  </a:rPr>
                  <a:t>a</a:t>
                </a:r>
                <a:endParaRPr lang="en-US" altLang="zh-CN" sz="2000" u="none">
                  <a:solidFill>
                    <a:srgbClr val="FF0066"/>
                  </a:solidFill>
                  <a:latin typeface="Times New Roman" panose="02020603050405020304" pitchFamily="18" charset="0"/>
                </a:endParaRPr>
              </a:p>
            </p:txBody>
          </p:sp>
        </p:grpSp>
      </p:grpSp>
      <p:pic>
        <p:nvPicPr>
          <p:cNvPr id="11" name="对象 118892"/>
          <p:cNvPicPr/>
          <p:nvPr/>
        </p:nvPicPr>
        <p:blipFill>
          <a:blip r:embed="rId3" cstate="print"/>
          <a:stretch>
            <a:fillRect/>
          </a:stretch>
        </p:blipFill>
        <p:spPr>
          <a:xfrm>
            <a:off x="7048471" y="2193906"/>
            <a:ext cx="1690688" cy="1403350"/>
          </a:xfrm>
          <a:prstGeom prst="rect">
            <a:avLst/>
          </a:prstGeom>
          <a:solidFill>
            <a:srgbClr val="FFFF00"/>
          </a:solidFill>
          <a:ln w="38100">
            <a:noFill/>
            <a:miter/>
          </a:ln>
        </p:spPr>
      </p:pic>
      <p:sp>
        <p:nvSpPr>
          <p:cNvPr id="13" name="右箭头 12"/>
          <p:cNvSpPr/>
          <p:nvPr/>
        </p:nvSpPr>
        <p:spPr>
          <a:xfrm>
            <a:off x="3290859" y="2781281"/>
            <a:ext cx="696912" cy="465138"/>
          </a:xfrm>
          <a:prstGeom prst="rightArrow">
            <a:avLst>
              <a:gd name="adj1" fmla="val 50000"/>
              <a:gd name="adj2" fmla="val 37457"/>
            </a:avLst>
          </a:prstGeom>
          <a:solidFill>
            <a:srgbClr val="FF0066"/>
          </a:solidFill>
          <a:ln w="12700" cap="flat" cmpd="sng">
            <a:solidFill>
              <a:schemeClr val="bg1"/>
            </a:solidFill>
            <a:prstDash val="solid"/>
            <a:miter/>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grpSp>
        <p:nvGrpSpPr>
          <p:cNvPr id="8" name="组合 7"/>
          <p:cNvGrpSpPr/>
          <p:nvPr/>
        </p:nvGrpSpPr>
        <p:grpSpPr>
          <a:xfrm>
            <a:off x="415925" y="1751012"/>
            <a:ext cx="3073400" cy="2946399"/>
            <a:chOff x="3690" y="2400"/>
            <a:chExt cx="2098" cy="1946"/>
          </a:xfrm>
        </p:grpSpPr>
        <p:sp>
          <p:nvSpPr>
            <p:cNvPr id="33" name="文本框 22531"/>
            <p:cNvSpPr txBox="1"/>
            <p:nvPr/>
          </p:nvSpPr>
          <p:spPr>
            <a:xfrm>
              <a:off x="5269" y="4044"/>
              <a:ext cx="519" cy="302"/>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u="none">
                  <a:solidFill>
                    <a:schemeClr val="bg1"/>
                  </a:solidFill>
                  <a:latin typeface="Times New Roman" panose="02020603050405020304" pitchFamily="18" charset="0"/>
                </a:rPr>
                <a:t>FCC</a:t>
              </a:r>
              <a:endParaRPr lang="en-US" altLang="zh-CN" sz="2400" u="none">
                <a:solidFill>
                  <a:schemeClr val="bg1"/>
                </a:solidFill>
                <a:latin typeface="Times New Roman" panose="02020603050405020304" pitchFamily="18" charset="0"/>
              </a:endParaRPr>
            </a:p>
          </p:txBody>
        </p:sp>
        <p:grpSp>
          <p:nvGrpSpPr>
            <p:cNvPr id="34" name="组合 33"/>
            <p:cNvGrpSpPr/>
            <p:nvPr/>
          </p:nvGrpSpPr>
          <p:grpSpPr>
            <a:xfrm>
              <a:off x="3690" y="2400"/>
              <a:ext cx="1950" cy="1898"/>
              <a:chOff x="3135" y="1300"/>
              <a:chExt cx="1950" cy="1898"/>
            </a:xfrm>
          </p:grpSpPr>
          <p:sp>
            <p:nvSpPr>
              <p:cNvPr id="35" name="椭圆 34"/>
              <p:cNvSpPr>
                <a:spLocks noChangeAspect="1"/>
              </p:cNvSpPr>
              <p:nvPr/>
            </p:nvSpPr>
            <p:spPr>
              <a:xfrm>
                <a:off x="3534" y="1306"/>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6" name="椭圆 35"/>
              <p:cNvSpPr>
                <a:spLocks noChangeAspect="1"/>
              </p:cNvSpPr>
              <p:nvPr/>
            </p:nvSpPr>
            <p:spPr>
              <a:xfrm>
                <a:off x="3540" y="2209"/>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7" name="椭圆 36"/>
              <p:cNvSpPr>
                <a:spLocks noChangeAspect="1"/>
              </p:cNvSpPr>
              <p:nvPr/>
            </p:nvSpPr>
            <p:spPr>
              <a:xfrm>
                <a:off x="3335" y="1923"/>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8" name="椭圆 37"/>
              <p:cNvSpPr>
                <a:spLocks noChangeAspect="1"/>
              </p:cNvSpPr>
              <p:nvPr/>
            </p:nvSpPr>
            <p:spPr>
              <a:xfrm>
                <a:off x="3995" y="1765"/>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9" name="椭圆 38"/>
              <p:cNvSpPr>
                <a:spLocks noChangeAspect="1"/>
              </p:cNvSpPr>
              <p:nvPr/>
            </p:nvSpPr>
            <p:spPr>
              <a:xfrm>
                <a:off x="3791" y="1491"/>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0" name="椭圆 39"/>
              <p:cNvSpPr>
                <a:spLocks noChangeAspect="1"/>
              </p:cNvSpPr>
              <p:nvPr/>
            </p:nvSpPr>
            <p:spPr>
              <a:xfrm>
                <a:off x="3768" y="2369"/>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1" name="椭圆 40"/>
              <p:cNvSpPr>
                <a:spLocks noChangeAspect="1"/>
              </p:cNvSpPr>
              <p:nvPr/>
            </p:nvSpPr>
            <p:spPr>
              <a:xfrm>
                <a:off x="4431" y="1300"/>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2" name="椭圆 41"/>
              <p:cNvSpPr>
                <a:spLocks noChangeAspect="1"/>
              </p:cNvSpPr>
              <p:nvPr/>
            </p:nvSpPr>
            <p:spPr>
              <a:xfrm>
                <a:off x="4441" y="2212"/>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3" name="椭圆 42"/>
              <p:cNvSpPr>
                <a:spLocks noChangeAspect="1"/>
              </p:cNvSpPr>
              <p:nvPr/>
            </p:nvSpPr>
            <p:spPr>
              <a:xfrm>
                <a:off x="3135" y="1654"/>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4" name="椭圆 43"/>
              <p:cNvSpPr>
                <a:spLocks noChangeAspect="1"/>
              </p:cNvSpPr>
              <p:nvPr/>
            </p:nvSpPr>
            <p:spPr>
              <a:xfrm>
                <a:off x="4059" y="2554"/>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5" name="椭圆 44"/>
              <p:cNvSpPr>
                <a:spLocks noChangeAspect="1"/>
              </p:cNvSpPr>
              <p:nvPr/>
            </p:nvSpPr>
            <p:spPr>
              <a:xfrm>
                <a:off x="3135" y="2550"/>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6" name="椭圆 45"/>
              <p:cNvSpPr>
                <a:spLocks noChangeAspect="1"/>
              </p:cNvSpPr>
              <p:nvPr/>
            </p:nvSpPr>
            <p:spPr>
              <a:xfrm>
                <a:off x="3608" y="2112"/>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7" name="椭圆 46"/>
              <p:cNvSpPr>
                <a:spLocks noChangeAspect="1"/>
              </p:cNvSpPr>
              <p:nvPr/>
            </p:nvSpPr>
            <p:spPr>
              <a:xfrm>
                <a:off x="4245" y="1933"/>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8" name="椭圆 47"/>
              <p:cNvSpPr>
                <a:spLocks noChangeAspect="1"/>
              </p:cNvSpPr>
              <p:nvPr/>
            </p:nvSpPr>
            <p:spPr>
              <a:xfrm>
                <a:off x="4043" y="1650"/>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nvGrpSpPr>
              <p:cNvPr id="49" name="组合 48"/>
              <p:cNvGrpSpPr/>
              <p:nvPr/>
            </p:nvGrpSpPr>
            <p:grpSpPr>
              <a:xfrm>
                <a:off x="3459" y="1627"/>
                <a:ext cx="1311" cy="1256"/>
                <a:chOff x="3458" y="1614"/>
                <a:chExt cx="1311" cy="1256"/>
              </a:xfrm>
            </p:grpSpPr>
            <p:grpSp>
              <p:nvGrpSpPr>
                <p:cNvPr id="50" name="组合 49"/>
                <p:cNvGrpSpPr/>
                <p:nvPr/>
              </p:nvGrpSpPr>
              <p:grpSpPr>
                <a:xfrm>
                  <a:off x="3458" y="1614"/>
                  <a:ext cx="1311" cy="1256"/>
                  <a:chOff x="3458" y="1614"/>
                  <a:chExt cx="1311" cy="1256"/>
                </a:xfrm>
              </p:grpSpPr>
              <p:sp>
                <p:nvSpPr>
                  <p:cNvPr id="52" name="直接连接符 51"/>
                  <p:cNvSpPr>
                    <a:spLocks noChangeAspect="1"/>
                  </p:cNvSpPr>
                  <p:nvPr/>
                </p:nvSpPr>
                <p:spPr>
                  <a:xfrm flipV="1">
                    <a:off x="3458" y="2533"/>
                    <a:ext cx="405" cy="330"/>
                  </a:xfrm>
                  <a:prstGeom prst="line">
                    <a:avLst/>
                  </a:prstGeom>
                  <a:ln w="3175" cap="flat" cmpd="sng">
                    <a:solidFill>
                      <a:schemeClr val="bg1"/>
                    </a:solidFill>
                    <a:prstDash val="lgDash"/>
                    <a:headEnd type="none" w="med" len="med"/>
                    <a:tailEnd type="none" w="med" len="med"/>
                  </a:ln>
                </p:spPr>
              </p:sp>
              <p:grpSp>
                <p:nvGrpSpPr>
                  <p:cNvPr id="53" name="组合 52"/>
                  <p:cNvGrpSpPr/>
                  <p:nvPr/>
                </p:nvGrpSpPr>
                <p:grpSpPr>
                  <a:xfrm>
                    <a:off x="3459" y="1614"/>
                    <a:ext cx="1310" cy="1256"/>
                    <a:chOff x="3459" y="1614"/>
                    <a:chExt cx="1310" cy="1256"/>
                  </a:xfrm>
                </p:grpSpPr>
                <p:sp>
                  <p:nvSpPr>
                    <p:cNvPr id="54" name="直接连接符 53"/>
                    <p:cNvSpPr>
                      <a:spLocks noChangeAspect="1"/>
                    </p:cNvSpPr>
                    <p:nvPr/>
                  </p:nvSpPr>
                  <p:spPr>
                    <a:xfrm rot="-5400000">
                      <a:off x="3404" y="2070"/>
                      <a:ext cx="912" cy="0"/>
                    </a:xfrm>
                    <a:prstGeom prst="line">
                      <a:avLst/>
                    </a:prstGeom>
                    <a:ln w="3175" cap="flat" cmpd="sng">
                      <a:solidFill>
                        <a:schemeClr val="bg1"/>
                      </a:solidFill>
                      <a:prstDash val="lgDash"/>
                      <a:headEnd type="none" w="med" len="med"/>
                      <a:tailEnd type="none" w="med" len="med"/>
                    </a:ln>
                  </p:spPr>
                </p:sp>
                <p:sp>
                  <p:nvSpPr>
                    <p:cNvPr id="55" name="直接连接符 54"/>
                    <p:cNvSpPr>
                      <a:spLocks noChangeAspect="1"/>
                    </p:cNvSpPr>
                    <p:nvPr/>
                  </p:nvSpPr>
                  <p:spPr>
                    <a:xfrm flipV="1">
                      <a:off x="3459" y="1628"/>
                      <a:ext cx="405" cy="330"/>
                    </a:xfrm>
                    <a:prstGeom prst="line">
                      <a:avLst/>
                    </a:prstGeom>
                    <a:ln w="12700" cap="flat" cmpd="sng">
                      <a:solidFill>
                        <a:schemeClr val="bg1"/>
                      </a:solidFill>
                      <a:prstDash val="lgDash"/>
                      <a:headEnd type="none" w="med" len="med"/>
                      <a:tailEnd type="none" w="med" len="med"/>
                    </a:ln>
                  </p:spPr>
                </p:sp>
                <p:sp>
                  <p:nvSpPr>
                    <p:cNvPr id="56" name="直接连接符 55"/>
                    <p:cNvSpPr>
                      <a:spLocks noChangeAspect="1"/>
                    </p:cNvSpPr>
                    <p:nvPr/>
                  </p:nvSpPr>
                  <p:spPr>
                    <a:xfrm>
                      <a:off x="3855" y="1626"/>
                      <a:ext cx="912" cy="0"/>
                    </a:xfrm>
                    <a:prstGeom prst="line">
                      <a:avLst/>
                    </a:prstGeom>
                    <a:ln w="12700" cap="flat" cmpd="sng">
                      <a:solidFill>
                        <a:schemeClr val="bg1"/>
                      </a:solidFill>
                      <a:prstDash val="lgDash"/>
                      <a:headEnd type="none" w="med" len="med"/>
                      <a:tailEnd type="none" w="med" len="med"/>
                    </a:ln>
                  </p:spPr>
                </p:sp>
                <p:sp>
                  <p:nvSpPr>
                    <p:cNvPr id="57" name="直接连接符 56"/>
                    <p:cNvSpPr>
                      <a:spLocks noChangeAspect="1"/>
                    </p:cNvSpPr>
                    <p:nvPr/>
                  </p:nvSpPr>
                  <p:spPr>
                    <a:xfrm rot="-5400000">
                      <a:off x="4313" y="2076"/>
                      <a:ext cx="912" cy="0"/>
                    </a:xfrm>
                    <a:prstGeom prst="line">
                      <a:avLst/>
                    </a:prstGeom>
                    <a:ln w="12700" cap="flat" cmpd="sng">
                      <a:solidFill>
                        <a:schemeClr val="bg1"/>
                      </a:solidFill>
                      <a:prstDash val="lgDash"/>
                      <a:headEnd type="none" w="med" len="med"/>
                      <a:tailEnd type="none" w="med" len="med"/>
                    </a:ln>
                  </p:spPr>
                </p:sp>
                <p:sp>
                  <p:nvSpPr>
                    <p:cNvPr id="58" name="直接连接符 57"/>
                    <p:cNvSpPr>
                      <a:spLocks noChangeAspect="1"/>
                    </p:cNvSpPr>
                    <p:nvPr/>
                  </p:nvSpPr>
                  <p:spPr>
                    <a:xfrm flipV="1">
                      <a:off x="4363" y="2532"/>
                      <a:ext cx="405" cy="330"/>
                    </a:xfrm>
                    <a:prstGeom prst="line">
                      <a:avLst/>
                    </a:prstGeom>
                    <a:ln w="12700" cap="flat" cmpd="sng">
                      <a:solidFill>
                        <a:schemeClr val="bg1"/>
                      </a:solidFill>
                      <a:prstDash val="lgDash"/>
                      <a:headEnd type="none" w="med" len="med"/>
                      <a:tailEnd type="none" w="med" len="med"/>
                    </a:ln>
                  </p:spPr>
                </p:sp>
                <p:sp>
                  <p:nvSpPr>
                    <p:cNvPr id="59" name="直接连接符 58"/>
                    <p:cNvSpPr>
                      <a:spLocks noChangeAspect="1"/>
                    </p:cNvSpPr>
                    <p:nvPr/>
                  </p:nvSpPr>
                  <p:spPr>
                    <a:xfrm flipV="1">
                      <a:off x="4364" y="1627"/>
                      <a:ext cx="405" cy="330"/>
                    </a:xfrm>
                    <a:prstGeom prst="line">
                      <a:avLst/>
                    </a:prstGeom>
                    <a:ln w="12700" cap="flat" cmpd="sng">
                      <a:solidFill>
                        <a:schemeClr val="bg1"/>
                      </a:solidFill>
                      <a:prstDash val="lgDash"/>
                      <a:headEnd type="none" w="med" len="med"/>
                      <a:tailEnd type="none" w="med" len="med"/>
                    </a:ln>
                  </p:spPr>
                </p:sp>
                <p:sp>
                  <p:nvSpPr>
                    <p:cNvPr id="60" name="矩形 59"/>
                    <p:cNvSpPr>
                      <a:spLocks noChangeAspect="1"/>
                    </p:cNvSpPr>
                    <p:nvPr/>
                  </p:nvSpPr>
                  <p:spPr>
                    <a:xfrm>
                      <a:off x="3459" y="1959"/>
                      <a:ext cx="911" cy="911"/>
                    </a:xfrm>
                    <a:prstGeom prst="rect">
                      <a:avLst/>
                    </a:prstGeom>
                    <a:noFill/>
                    <a:ln w="12700" cap="flat" cmpd="sng">
                      <a:solidFill>
                        <a:schemeClr val="bg1"/>
                      </a:solidFill>
                      <a:prstDash val="lgDash"/>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sp>
              <p:nvSpPr>
                <p:cNvPr id="51" name="直接连接符 50"/>
                <p:cNvSpPr>
                  <a:spLocks noChangeAspect="1"/>
                </p:cNvSpPr>
                <p:nvPr/>
              </p:nvSpPr>
              <p:spPr>
                <a:xfrm>
                  <a:off x="3855" y="2538"/>
                  <a:ext cx="912" cy="0"/>
                </a:xfrm>
                <a:prstGeom prst="line">
                  <a:avLst/>
                </a:prstGeom>
                <a:ln w="12700" cap="flat" cmpd="sng">
                  <a:solidFill>
                    <a:schemeClr val="bg1"/>
                  </a:solidFill>
                  <a:prstDash val="lgDash"/>
                  <a:headEnd type="none" w="med" len="med"/>
                  <a:tailEnd type="none" w="med" len="med"/>
                </a:ln>
              </p:spPr>
            </p:sp>
          </p:grpSp>
        </p:grpSp>
      </p:grpSp>
      <p:grpSp>
        <p:nvGrpSpPr>
          <p:cNvPr id="9" name="组合 8"/>
          <p:cNvGrpSpPr/>
          <p:nvPr/>
        </p:nvGrpSpPr>
        <p:grpSpPr>
          <a:xfrm>
            <a:off x="4330700" y="1885950"/>
            <a:ext cx="2295525" cy="2700338"/>
            <a:chOff x="3905" y="11"/>
            <a:chExt cx="1568" cy="1802"/>
          </a:xfrm>
        </p:grpSpPr>
        <p:grpSp>
          <p:nvGrpSpPr>
            <p:cNvPr id="15" name="组合 14"/>
            <p:cNvGrpSpPr/>
            <p:nvPr/>
          </p:nvGrpSpPr>
          <p:grpSpPr>
            <a:xfrm>
              <a:off x="3905" y="11"/>
              <a:ext cx="1568" cy="1548"/>
              <a:chOff x="3857" y="83"/>
              <a:chExt cx="1568" cy="1548"/>
            </a:xfrm>
          </p:grpSpPr>
          <p:sp>
            <p:nvSpPr>
              <p:cNvPr id="27" name="椭圆 26"/>
              <p:cNvSpPr>
                <a:spLocks noChangeAspect="1"/>
              </p:cNvSpPr>
              <p:nvPr/>
            </p:nvSpPr>
            <p:spPr>
              <a:xfrm>
                <a:off x="3857" y="87"/>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8" name="椭圆 27"/>
              <p:cNvSpPr>
                <a:spLocks noChangeAspect="1"/>
              </p:cNvSpPr>
              <p:nvPr/>
            </p:nvSpPr>
            <p:spPr>
              <a:xfrm>
                <a:off x="4781" y="987"/>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9" name="椭圆 28"/>
              <p:cNvSpPr>
                <a:spLocks noChangeAspect="1"/>
              </p:cNvSpPr>
              <p:nvPr/>
            </p:nvSpPr>
            <p:spPr>
              <a:xfrm>
                <a:off x="3857" y="983"/>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0" name="椭圆 29"/>
              <p:cNvSpPr>
                <a:spLocks noChangeAspect="1"/>
              </p:cNvSpPr>
              <p:nvPr/>
            </p:nvSpPr>
            <p:spPr>
              <a:xfrm>
                <a:off x="4318" y="545"/>
                <a:ext cx="644" cy="644"/>
              </a:xfrm>
              <a:prstGeom prst="ellipse">
                <a:avLst/>
              </a:prstGeom>
              <a:gradFill rotWithShape="1">
                <a:gsLst>
                  <a:gs pos="0">
                    <a:srgbClr val="FF0066">
                      <a:gamma/>
                      <a:tint val="13725"/>
                      <a:invGamma/>
                    </a:srgbClr>
                  </a:gs>
                  <a:gs pos="100000">
                    <a:srgbClr val="FF0066"/>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1" name="椭圆 30"/>
              <p:cNvSpPr>
                <a:spLocks noChangeAspect="1"/>
              </p:cNvSpPr>
              <p:nvPr/>
            </p:nvSpPr>
            <p:spPr>
              <a:xfrm>
                <a:off x="4765" y="83"/>
                <a:ext cx="644" cy="644"/>
              </a:xfrm>
              <a:prstGeom prst="ellipse">
                <a:avLst/>
              </a:prstGeom>
              <a:gradFill rotWithShape="1">
                <a:gsLst>
                  <a:gs pos="0">
                    <a:srgbClr val="0099CC">
                      <a:gamma/>
                      <a:tint val="13725"/>
                      <a:invGamma/>
                    </a:srgbClr>
                  </a:gs>
                  <a:gs pos="100000">
                    <a:srgbClr val="0099CC"/>
                  </a:gs>
                </a:gsLst>
                <a:path path="shape">
                  <a:fillToRect l="50000" t="50000" r="50000" b="50000"/>
                </a:path>
                <a:tileRect/>
              </a:gradFill>
              <a:ln w="1905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2" name="矩形 31"/>
              <p:cNvSpPr>
                <a:spLocks noChangeAspect="1"/>
              </p:cNvSpPr>
              <p:nvPr/>
            </p:nvSpPr>
            <p:spPr>
              <a:xfrm>
                <a:off x="4182" y="405"/>
                <a:ext cx="911" cy="911"/>
              </a:xfrm>
              <a:prstGeom prst="rect">
                <a:avLst/>
              </a:prstGeom>
              <a:noFill/>
              <a:ln w="12700" cap="flat" cmpd="sng">
                <a:solidFill>
                  <a:srgbClr val="0000FF"/>
                </a:solidFill>
                <a:prstDash val="solid"/>
                <a:miter/>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16" name="直接连接符 15"/>
            <p:cNvSpPr>
              <a:spLocks noChangeAspect="1"/>
            </p:cNvSpPr>
            <p:nvPr/>
          </p:nvSpPr>
          <p:spPr>
            <a:xfrm flipV="1">
              <a:off x="4228" y="327"/>
              <a:ext cx="910" cy="910"/>
            </a:xfrm>
            <a:prstGeom prst="line">
              <a:avLst/>
            </a:prstGeom>
            <a:ln w="12700" cap="flat" cmpd="sng">
              <a:solidFill>
                <a:srgbClr val="0000FF"/>
              </a:solidFill>
              <a:prstDash val="lgDash"/>
              <a:headEnd type="none" w="med" len="med"/>
              <a:tailEnd type="none" w="med" len="med"/>
            </a:ln>
          </p:spPr>
        </p:sp>
        <p:sp>
          <p:nvSpPr>
            <p:cNvPr id="18" name="文本框 22646"/>
            <p:cNvSpPr txBox="1"/>
            <p:nvPr/>
          </p:nvSpPr>
          <p:spPr>
            <a:xfrm>
              <a:off x="4346" y="1018"/>
              <a:ext cx="211" cy="225"/>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1600" i="1" u="none">
                  <a:solidFill>
                    <a:srgbClr val="FF0000"/>
                  </a:solidFill>
                  <a:latin typeface="Times New Roman" panose="02020603050405020304" pitchFamily="18" charset="0"/>
                </a:rPr>
                <a:t>R</a:t>
              </a:r>
              <a:endParaRPr lang="en-US" altLang="zh-CN" sz="1600" i="1" u="none">
                <a:solidFill>
                  <a:srgbClr val="FF0000"/>
                </a:solidFill>
                <a:latin typeface="Times New Roman" panose="02020603050405020304" pitchFamily="18" charset="0"/>
              </a:endParaRPr>
            </a:p>
          </p:txBody>
        </p:sp>
        <p:sp>
          <p:nvSpPr>
            <p:cNvPr id="20" name="文本框 22647"/>
            <p:cNvSpPr txBox="1"/>
            <p:nvPr/>
          </p:nvSpPr>
          <p:spPr>
            <a:xfrm>
              <a:off x="4812" y="334"/>
              <a:ext cx="210" cy="225"/>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1600" i="1" u="none">
                  <a:solidFill>
                    <a:srgbClr val="FF0000"/>
                  </a:solidFill>
                  <a:latin typeface="Times New Roman" panose="02020603050405020304" pitchFamily="18" charset="0"/>
                </a:rPr>
                <a:t>R</a:t>
              </a:r>
              <a:endParaRPr lang="en-US" altLang="zh-CN" sz="1600" i="1" u="none">
                <a:solidFill>
                  <a:srgbClr val="FF0000"/>
                </a:solidFill>
                <a:latin typeface="Times New Roman" panose="02020603050405020304" pitchFamily="18" charset="0"/>
              </a:endParaRPr>
            </a:p>
          </p:txBody>
        </p:sp>
        <p:sp>
          <p:nvSpPr>
            <p:cNvPr id="21" name="文本框 22648"/>
            <p:cNvSpPr txBox="1"/>
            <p:nvPr/>
          </p:nvSpPr>
          <p:spPr>
            <a:xfrm>
              <a:off x="4516" y="589"/>
              <a:ext cx="279" cy="225"/>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1600" u="none">
                  <a:solidFill>
                    <a:srgbClr val="FF0000"/>
                  </a:solidFill>
                  <a:latin typeface="Times New Roman" panose="02020603050405020304" pitchFamily="18" charset="0"/>
                </a:rPr>
                <a:t>2</a:t>
              </a:r>
              <a:r>
                <a:rPr lang="en-US" altLang="zh-CN" sz="1600" i="1" u="none">
                  <a:solidFill>
                    <a:srgbClr val="FF0000"/>
                  </a:solidFill>
                  <a:latin typeface="Times New Roman" panose="02020603050405020304" pitchFamily="18" charset="0"/>
                </a:rPr>
                <a:t>R</a:t>
              </a:r>
              <a:endParaRPr lang="en-US" altLang="zh-CN" sz="1600" i="1" u="none">
                <a:solidFill>
                  <a:srgbClr val="FF0000"/>
                </a:solidFill>
                <a:latin typeface="Times New Roman" panose="02020603050405020304" pitchFamily="18" charset="0"/>
              </a:endParaRPr>
            </a:p>
          </p:txBody>
        </p:sp>
        <p:grpSp>
          <p:nvGrpSpPr>
            <p:cNvPr id="22" name="组合 21"/>
            <p:cNvGrpSpPr/>
            <p:nvPr/>
          </p:nvGrpSpPr>
          <p:grpSpPr>
            <a:xfrm>
              <a:off x="4250" y="1543"/>
              <a:ext cx="920" cy="270"/>
              <a:chOff x="4250" y="1687"/>
              <a:chExt cx="920" cy="270"/>
            </a:xfrm>
          </p:grpSpPr>
          <p:sp>
            <p:nvSpPr>
              <p:cNvPr id="23" name="直接连接符 22"/>
              <p:cNvSpPr>
                <a:spLocks noChangeAspect="1"/>
              </p:cNvSpPr>
              <p:nvPr/>
            </p:nvSpPr>
            <p:spPr>
              <a:xfrm>
                <a:off x="4262" y="1749"/>
                <a:ext cx="0" cy="208"/>
              </a:xfrm>
              <a:prstGeom prst="line">
                <a:avLst/>
              </a:prstGeom>
              <a:ln w="3175" cap="flat" cmpd="sng">
                <a:solidFill>
                  <a:schemeClr val="bg1"/>
                </a:solidFill>
                <a:prstDash val="solid"/>
                <a:headEnd type="none" w="med" len="med"/>
                <a:tailEnd type="none" w="med" len="med"/>
              </a:ln>
            </p:spPr>
          </p:sp>
          <p:sp>
            <p:nvSpPr>
              <p:cNvPr id="24" name="直接连接符 23"/>
              <p:cNvSpPr>
                <a:spLocks noChangeAspect="1"/>
              </p:cNvSpPr>
              <p:nvPr/>
            </p:nvSpPr>
            <p:spPr>
              <a:xfrm>
                <a:off x="5143" y="1749"/>
                <a:ext cx="0" cy="208"/>
              </a:xfrm>
              <a:prstGeom prst="line">
                <a:avLst/>
              </a:prstGeom>
              <a:ln w="3175" cap="flat" cmpd="sng">
                <a:solidFill>
                  <a:schemeClr val="bg1"/>
                </a:solidFill>
                <a:prstDash val="solid"/>
                <a:headEnd type="none" w="med" len="med"/>
                <a:tailEnd type="none" w="med" len="med"/>
              </a:ln>
            </p:spPr>
          </p:sp>
          <p:sp>
            <p:nvSpPr>
              <p:cNvPr id="25" name="直接连接符 24"/>
              <p:cNvSpPr>
                <a:spLocks noChangeAspect="1"/>
              </p:cNvSpPr>
              <p:nvPr/>
            </p:nvSpPr>
            <p:spPr>
              <a:xfrm>
                <a:off x="4250" y="1844"/>
                <a:ext cx="920" cy="0"/>
              </a:xfrm>
              <a:prstGeom prst="line">
                <a:avLst/>
              </a:prstGeom>
              <a:ln w="3175" cap="flat" cmpd="sng">
                <a:solidFill>
                  <a:schemeClr val="bg1"/>
                </a:solidFill>
                <a:prstDash val="solid"/>
                <a:headEnd type="stealth" w="sm" len="lg"/>
                <a:tailEnd type="stealth" w="sm" len="lg"/>
              </a:ln>
            </p:spPr>
          </p:sp>
          <p:sp>
            <p:nvSpPr>
              <p:cNvPr id="26" name="文本框 22653"/>
              <p:cNvSpPr txBox="1"/>
              <p:nvPr/>
            </p:nvSpPr>
            <p:spPr>
              <a:xfrm>
                <a:off x="4610" y="1687"/>
                <a:ext cx="212" cy="265"/>
              </a:xfrm>
              <a:prstGeom prst="rect">
                <a:avLst/>
              </a:prstGeom>
              <a:solidFill>
                <a:srgbClr val="003366"/>
              </a:solid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000" i="1" u="none" dirty="0">
                    <a:solidFill>
                      <a:srgbClr val="FF3300"/>
                    </a:solidFill>
                    <a:latin typeface="Times New Roman" panose="02020603050405020304" pitchFamily="18" charset="0"/>
                  </a:rPr>
                  <a:t>a</a:t>
                </a:r>
                <a:endParaRPr lang="en-US" altLang="zh-CN" sz="2000" u="none">
                  <a:solidFill>
                    <a:srgbClr val="FF3300"/>
                  </a:solidFill>
                  <a:latin typeface="Times New Roman" panose="02020603050405020304" pitchFamily="18" charset="0"/>
                </a:endParaRPr>
              </a:p>
            </p:txBody>
          </p:sp>
        </p:grpSp>
      </p:grpSp>
      <p:pic>
        <p:nvPicPr>
          <p:cNvPr id="10" name="对象 22656"/>
          <p:cNvPicPr/>
          <p:nvPr/>
        </p:nvPicPr>
        <p:blipFill>
          <a:blip r:embed="rId3" cstate="print"/>
          <a:stretch>
            <a:fillRect/>
          </a:stretch>
        </p:blipFill>
        <p:spPr>
          <a:xfrm>
            <a:off x="7404100" y="2560638"/>
            <a:ext cx="1323975" cy="1401762"/>
          </a:xfrm>
          <a:prstGeom prst="rect">
            <a:avLst/>
          </a:prstGeom>
          <a:solidFill>
            <a:srgbClr val="FFFF00"/>
          </a:solidFill>
          <a:ln w="38100">
            <a:noFill/>
            <a:miter/>
          </a:ln>
        </p:spPr>
      </p:pic>
      <p:sp>
        <p:nvSpPr>
          <p:cNvPr id="11" name="文本框 22659"/>
          <p:cNvSpPr txBox="1"/>
          <p:nvPr/>
        </p:nvSpPr>
        <p:spPr>
          <a:xfrm>
            <a:off x="500034" y="714362"/>
            <a:ext cx="4635500"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u="none" dirty="0">
                <a:latin typeface="宋体" panose="02010600030101010101" pitchFamily="2" charset="-122"/>
              </a:rPr>
              <a:t> </a:t>
            </a:r>
            <a:r>
              <a:rPr lang="en-US" altLang="zh-CN" sz="2800" b="1" u="none" dirty="0">
                <a:solidFill>
                  <a:srgbClr val="FF0000"/>
                </a:solidFill>
                <a:latin typeface="宋体" panose="02010600030101010101" pitchFamily="2" charset="-122"/>
              </a:rPr>
              <a:t>3)</a:t>
            </a:r>
            <a:r>
              <a:rPr lang="en-US" altLang="zh-CN" sz="2800" b="1" u="none" dirty="0">
                <a:latin typeface="宋体" panose="02010600030101010101" pitchFamily="2" charset="-122"/>
              </a:rPr>
              <a:t> </a:t>
            </a:r>
            <a:r>
              <a:rPr lang="zh-CN" altLang="en-US" sz="2800" b="1" u="none" dirty="0">
                <a:solidFill>
                  <a:srgbClr val="FF0000"/>
                </a:solidFill>
                <a:latin typeface="宋体" panose="02010600030101010101" pitchFamily="2" charset="-122"/>
              </a:rPr>
              <a:t>面心立方结构</a:t>
            </a:r>
            <a:r>
              <a:rPr lang="zh-CN" altLang="en-US" u="none" dirty="0">
                <a:latin typeface="Arial" panose="020B0604020202020204" pitchFamily="34" charset="0"/>
              </a:rPr>
              <a:t>   </a:t>
            </a:r>
            <a:r>
              <a:rPr lang="en-US" altLang="zh-CN" sz="2400" b="1" u="none" dirty="0">
                <a:solidFill>
                  <a:srgbClr val="FF0000"/>
                </a:solidFill>
                <a:latin typeface="Arial" panose="020B0604020202020204" pitchFamily="34" charset="0"/>
              </a:rPr>
              <a:t>(fcc)</a:t>
            </a:r>
            <a:endParaRPr lang="en-US" altLang="zh-CN" sz="2400" b="1" u="none" dirty="0">
              <a:solidFill>
                <a:srgbClr val="FF0000"/>
              </a:solidFill>
              <a:latin typeface="Arial" panose="020B0604020202020204" pitchFamily="34" charset="0"/>
            </a:endParaRPr>
          </a:p>
        </p:txBody>
      </p:sp>
      <p:sp>
        <p:nvSpPr>
          <p:cNvPr id="13" name="右箭头 12"/>
          <p:cNvSpPr/>
          <p:nvPr/>
        </p:nvSpPr>
        <p:spPr>
          <a:xfrm>
            <a:off x="3475038" y="2876550"/>
            <a:ext cx="696912" cy="465138"/>
          </a:xfrm>
          <a:prstGeom prst="rightArrow">
            <a:avLst>
              <a:gd name="adj1" fmla="val 50000"/>
              <a:gd name="adj2" fmla="val 37457"/>
            </a:avLst>
          </a:prstGeom>
          <a:solidFill>
            <a:srgbClr val="FF0066"/>
          </a:solidFill>
          <a:ln w="12700" cap="flat" cmpd="sng">
            <a:solidFill>
              <a:schemeClr val="bg1"/>
            </a:solidFill>
            <a:prstDash val="solid"/>
            <a:miter/>
            <a:headEnd type="none" w="med" len="med"/>
            <a:tailEnd type="none" w="med" len="med"/>
          </a:ln>
        </p:spPr>
        <p:txBody>
          <a:bodyPr wrap="none" anchor="ctr" anchorCtr="0"/>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endParaRPr lang="zh-CN" altLang="en-US" u="none"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642910" y="571486"/>
            <a:ext cx="5805487" cy="519113"/>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4)</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密排六方结构 </a:t>
            </a:r>
            <a:r>
              <a:rPr lang="en-US" altLang="zh-CN" sz="2400" b="1" u="none" dirty="0">
                <a:solidFill>
                  <a:srgbClr val="FF0000"/>
                </a:solidFill>
                <a:latin typeface="Arial" panose="020B0604020202020204" pitchFamily="34" charset="0"/>
              </a:rPr>
              <a:t> (hcp</a:t>
            </a:r>
            <a:r>
              <a:rPr lang="en-US" altLang="zh-CN" sz="2400" u="none" dirty="0">
                <a:solidFill>
                  <a:srgbClr val="FF0000"/>
                </a:solidFill>
                <a:latin typeface="Arial" panose="020B0604020202020204" pitchFamily="34" charset="0"/>
              </a:rPr>
              <a:t>)</a:t>
            </a:r>
            <a:endParaRPr lang="en-US" altLang="zh-CN" sz="2400" u="none" dirty="0">
              <a:solidFill>
                <a:srgbClr val="FF0000"/>
              </a:solidFill>
              <a:latin typeface="Arial" panose="020B0604020202020204" pitchFamily="34" charset="0"/>
            </a:endParaRPr>
          </a:p>
        </p:txBody>
      </p:sp>
      <p:pic>
        <p:nvPicPr>
          <p:cNvPr id="8194" name="Picture 2"/>
          <p:cNvPicPr>
            <a:picLocks noChangeAspect="1" noChangeArrowheads="1"/>
          </p:cNvPicPr>
          <p:nvPr/>
        </p:nvPicPr>
        <p:blipFill>
          <a:blip r:embed="rId3" cstate="print"/>
          <a:srcRect/>
          <a:stretch>
            <a:fillRect/>
          </a:stretch>
        </p:blipFill>
        <p:spPr bwMode="auto">
          <a:xfrm>
            <a:off x="1142976" y="1071552"/>
            <a:ext cx="6215106" cy="3935585"/>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圆角矩形 7"/>
          <p:cNvSpPr/>
          <p:nvPr/>
        </p:nvSpPr>
        <p:spPr>
          <a:xfrm>
            <a:off x="571472" y="642924"/>
            <a:ext cx="7924800" cy="503237"/>
          </a:xfrm>
          <a:prstGeom prst="roundRect">
            <a:avLst>
              <a:gd name="adj" fmla="val 21667"/>
            </a:avLst>
          </a:prstGeom>
          <a:noFill/>
          <a:ln w="9525">
            <a:noFill/>
          </a:ln>
        </p:spPr>
        <p:txBody>
          <a:bodyPr anchor="b" anchorCtr="0"/>
          <a:lstStyle>
            <a:lvl1pPr marL="0" lvl="0" indent="0" algn="l" defTabSz="914400" rtl="0" eaLnBrk="1" fontAlgn="base" latinLnBrk="0" hangingPunct="1">
              <a:lnSpc>
                <a:spcPct val="90000"/>
              </a:lnSpc>
              <a:spcBef>
                <a:spcPct val="0"/>
              </a:spcBef>
              <a:spcAft>
                <a:spcPct val="0"/>
              </a:spcAft>
              <a:buNone/>
              <a:defRPr sz="3600" b="1"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dirty="0">
                <a:solidFill>
                  <a:srgbClr val="000099"/>
                </a:solidFill>
              </a:rPr>
              <a:t>5</a:t>
            </a:r>
            <a:r>
              <a:rPr lang="zh-CN" altLang="en-US" sz="3200" dirty="0">
                <a:solidFill>
                  <a:srgbClr val="000099"/>
                </a:solidFill>
              </a:rPr>
              <a:t>、配位数和致密度</a:t>
            </a:r>
            <a:endParaRPr lang="en-US" altLang="zh-CN" sz="3200" dirty="0">
              <a:solidFill>
                <a:srgbClr val="000099"/>
              </a:solidFill>
            </a:endParaRPr>
          </a:p>
        </p:txBody>
      </p:sp>
      <p:sp>
        <p:nvSpPr>
          <p:cNvPr id="9" name="文本框 131077"/>
          <p:cNvSpPr txBox="1"/>
          <p:nvPr/>
        </p:nvSpPr>
        <p:spPr>
          <a:xfrm>
            <a:off x="1014412" y="1289050"/>
            <a:ext cx="7291388" cy="2014537"/>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zh-CN" altLang="en-US" sz="2800" b="1" u="none" dirty="0">
                <a:solidFill>
                  <a:srgbClr val="FF0000"/>
                </a:solidFill>
                <a:latin typeface="Arial" panose="020B0604020202020204" pitchFamily="34" charset="0"/>
                <a:ea typeface="隶书" panose="02010509060101010101" pitchFamily="49" charset="-122"/>
              </a:rPr>
              <a:t>配位数</a:t>
            </a:r>
            <a:r>
              <a:rPr lang="en-US" altLang="zh-CN" sz="2800" b="1" u="none" dirty="0">
                <a:solidFill>
                  <a:srgbClr val="FF0000"/>
                </a:solidFill>
                <a:latin typeface="Arial" panose="020B0604020202020204" pitchFamily="34" charset="0"/>
                <a:ea typeface="隶书" panose="02010509060101010101" pitchFamily="49" charset="-122"/>
              </a:rPr>
              <a:t>(CN)</a:t>
            </a:r>
            <a:r>
              <a:rPr lang="zh-CN" altLang="en-US" sz="2800" b="1" u="none" dirty="0">
                <a:latin typeface="Arial" panose="020B0604020202020204" pitchFamily="34" charset="0"/>
                <a:ea typeface="隶书" panose="02010509060101010101" pitchFamily="49" charset="-122"/>
              </a:rPr>
              <a:t>是指晶体结构中任一原子周围</a:t>
            </a:r>
            <a:endParaRPr lang="zh-CN" altLang="en-US" sz="2800" b="1" u="none" dirty="0">
              <a:latin typeface="Arial" panose="020B0604020202020204" pitchFamily="34" charset="0"/>
              <a:ea typeface="隶书" panose="02010509060101010101" pitchFamily="49" charset="-122"/>
            </a:endParaRPr>
          </a:p>
          <a:p>
            <a:r>
              <a:rPr lang="zh-CN" altLang="en-US" sz="2800" b="1" u="none" dirty="0">
                <a:latin typeface="Arial" panose="020B0604020202020204" pitchFamily="34" charset="0"/>
                <a:ea typeface="隶书" panose="02010509060101010101" pitchFamily="49" charset="-122"/>
              </a:rPr>
              <a:t>                      最近邻且等距离的</a:t>
            </a:r>
            <a:r>
              <a:rPr lang="zh-CN" altLang="en-US" sz="2800" b="1" u="none" dirty="0">
                <a:solidFill>
                  <a:srgbClr val="FF0000"/>
                </a:solidFill>
                <a:latin typeface="Arial" panose="020B0604020202020204" pitchFamily="34" charset="0"/>
                <a:ea typeface="隶书" panose="02010509060101010101" pitchFamily="49" charset="-122"/>
              </a:rPr>
              <a:t>原子数</a:t>
            </a:r>
            <a:r>
              <a:rPr lang="en-US" altLang="zh-CN" sz="2800" b="1" u="none" dirty="0">
                <a:latin typeface="Arial" panose="020B0604020202020204" pitchFamily="34" charset="0"/>
                <a:ea typeface="隶书" panose="02010509060101010101" pitchFamily="49" charset="-122"/>
              </a:rPr>
              <a:t>.</a:t>
            </a:r>
            <a:endParaRPr lang="en-US" altLang="zh-CN" sz="2800" b="1" u="none" dirty="0">
              <a:latin typeface="Arial" panose="020B0604020202020204" pitchFamily="34" charset="0"/>
              <a:ea typeface="隶书" panose="02010509060101010101" pitchFamily="49" charset="-122"/>
            </a:endParaRPr>
          </a:p>
          <a:p>
            <a:pPr>
              <a:spcBef>
                <a:spcPct val="50000"/>
              </a:spcBef>
            </a:pPr>
            <a:r>
              <a:rPr lang="zh-CN" altLang="en-US" sz="2800" b="1" u="none" dirty="0">
                <a:solidFill>
                  <a:srgbClr val="FF0000"/>
                </a:solidFill>
                <a:latin typeface="Arial" panose="020B0604020202020204" pitchFamily="34" charset="0"/>
                <a:ea typeface="隶书" panose="02010509060101010101" pitchFamily="49" charset="-122"/>
              </a:rPr>
              <a:t>致密度</a:t>
            </a:r>
            <a:r>
              <a:rPr lang="en-US" altLang="zh-CN" sz="2800" b="1" u="none" dirty="0">
                <a:solidFill>
                  <a:srgbClr val="FF0000"/>
                </a:solidFill>
                <a:latin typeface="Arial" panose="020B0604020202020204" pitchFamily="34" charset="0"/>
                <a:ea typeface="隶书" panose="02010509060101010101" pitchFamily="49" charset="-122"/>
              </a:rPr>
              <a:t>(K)</a:t>
            </a:r>
            <a:r>
              <a:rPr lang="zh-CN" altLang="en-US" sz="2800" b="1" u="none" dirty="0">
                <a:latin typeface="Arial" panose="020B0604020202020204" pitchFamily="34" charset="0"/>
                <a:ea typeface="隶书" panose="02010509060101010101" pitchFamily="49" charset="-122"/>
              </a:rPr>
              <a:t>是指晶体结构中原子体积占总体积</a:t>
            </a:r>
            <a:endParaRPr lang="zh-CN" altLang="en-US" sz="2800" b="1" u="none" dirty="0">
              <a:latin typeface="Arial" panose="020B0604020202020204" pitchFamily="34" charset="0"/>
              <a:ea typeface="隶书" panose="02010509060101010101" pitchFamily="49" charset="-122"/>
            </a:endParaRPr>
          </a:p>
          <a:p>
            <a:r>
              <a:rPr lang="zh-CN" altLang="en-US" sz="2800" b="1" u="none" dirty="0">
                <a:latin typeface="Arial" panose="020B0604020202020204" pitchFamily="34" charset="0"/>
                <a:ea typeface="隶书" panose="02010509060101010101" pitchFamily="49" charset="-122"/>
              </a:rPr>
              <a:t>                    的</a:t>
            </a:r>
            <a:r>
              <a:rPr lang="zh-CN" altLang="en-US" sz="2800" b="1" u="none" dirty="0">
                <a:solidFill>
                  <a:srgbClr val="FF0000"/>
                </a:solidFill>
                <a:latin typeface="Arial" panose="020B0604020202020204" pitchFamily="34" charset="0"/>
                <a:ea typeface="隶书" panose="02010509060101010101" pitchFamily="49" charset="-122"/>
              </a:rPr>
              <a:t>百分数</a:t>
            </a:r>
            <a:r>
              <a:rPr lang="en-US" altLang="zh-CN" sz="2800" b="1" u="none" dirty="0">
                <a:latin typeface="Arial" panose="020B0604020202020204" pitchFamily="34" charset="0"/>
                <a:ea typeface="隶书" panose="02010509060101010101" pitchFamily="49" charset="-122"/>
              </a:rPr>
              <a:t>.</a:t>
            </a:r>
            <a:endParaRPr lang="en-US" altLang="zh-CN" sz="2800" b="1" u="none" dirty="0">
              <a:latin typeface="Arial" panose="020B0604020202020204" pitchFamily="34" charset="0"/>
              <a:ea typeface="隶书" panose="02010509060101010101" pitchFamily="49" charset="-122"/>
            </a:endParaRPr>
          </a:p>
        </p:txBody>
      </p:sp>
      <p:pic>
        <p:nvPicPr>
          <p:cNvPr id="10" name="内容占位符 131078"/>
          <p:cNvPicPr/>
          <p:nvPr/>
        </p:nvPicPr>
        <p:blipFill>
          <a:blip r:embed="rId3" cstate="print"/>
          <a:stretch>
            <a:fillRect/>
          </a:stretch>
        </p:blipFill>
        <p:spPr>
          <a:xfrm>
            <a:off x="1571604" y="3429006"/>
            <a:ext cx="2249487" cy="1270000"/>
          </a:xfrm>
          <a:prstGeom prst="rect">
            <a:avLst/>
          </a:prstGeom>
          <a:noFill/>
          <a:ln w="38100">
            <a:noFill/>
            <a:miter/>
          </a:ln>
        </p:spPr>
      </p:pic>
      <p:sp>
        <p:nvSpPr>
          <p:cNvPr id="11" name="文本框 131080"/>
          <p:cNvSpPr txBox="1"/>
          <p:nvPr/>
        </p:nvSpPr>
        <p:spPr>
          <a:xfrm>
            <a:off x="4572000" y="3857634"/>
            <a:ext cx="3554412" cy="854075"/>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en-US" altLang="zh-CN" sz="2000" b="1" u="none" dirty="0">
                <a:solidFill>
                  <a:srgbClr val="000000"/>
                </a:solidFill>
                <a:latin typeface="Arial" panose="020B0604020202020204" pitchFamily="34" charset="0"/>
              </a:rPr>
              <a:t>n</a:t>
            </a:r>
            <a:r>
              <a:rPr lang="zh-CN" altLang="en-US" sz="2000" b="1" u="none" dirty="0">
                <a:solidFill>
                  <a:srgbClr val="000000"/>
                </a:solidFill>
                <a:latin typeface="Arial" panose="020B0604020202020204" pitchFamily="34" charset="0"/>
              </a:rPr>
              <a:t>为一个晶胞占有原子的数目</a:t>
            </a:r>
            <a:r>
              <a:rPr lang="en-US" altLang="zh-CN" sz="2000" b="1" u="none" dirty="0">
                <a:solidFill>
                  <a:srgbClr val="000000"/>
                </a:solidFill>
                <a:latin typeface="Arial" panose="020B0604020202020204" pitchFamily="34" charset="0"/>
              </a:rPr>
              <a:t>.</a:t>
            </a:r>
            <a:endParaRPr lang="en-US" altLang="zh-CN" sz="2000" b="1" u="none" dirty="0">
              <a:solidFill>
                <a:srgbClr val="000000"/>
              </a:solidFill>
              <a:latin typeface="Arial" panose="020B0604020202020204" pitchFamily="34" charset="0"/>
            </a:endParaRPr>
          </a:p>
          <a:p>
            <a:pPr>
              <a:spcBef>
                <a:spcPct val="50000"/>
              </a:spcBef>
            </a:pPr>
            <a:r>
              <a:rPr lang="en-US" altLang="zh-CN" sz="2000" b="1" u="none" dirty="0">
                <a:solidFill>
                  <a:srgbClr val="000000"/>
                </a:solidFill>
                <a:latin typeface="Arial" panose="020B0604020202020204" pitchFamily="34" charset="0"/>
              </a:rPr>
              <a:t>V</a:t>
            </a:r>
            <a:r>
              <a:rPr lang="en-US" altLang="zh-CN" sz="2000" b="1" u="none" baseline="-25000" dirty="0">
                <a:solidFill>
                  <a:srgbClr val="000000"/>
                </a:solidFill>
                <a:latin typeface="Arial" panose="020B0604020202020204" pitchFamily="34" charset="0"/>
              </a:rPr>
              <a:t>0</a:t>
            </a:r>
            <a:r>
              <a:rPr lang="zh-CN" altLang="en-US" sz="2000" b="1" u="none" dirty="0">
                <a:solidFill>
                  <a:srgbClr val="000000"/>
                </a:solidFill>
                <a:latin typeface="Arial" panose="020B0604020202020204" pitchFamily="34" charset="0"/>
              </a:rPr>
              <a:t>为一个晶胞的体积</a:t>
            </a:r>
            <a:r>
              <a:rPr lang="en-US" altLang="zh-CN" sz="2000" b="1" u="none" dirty="0">
                <a:solidFill>
                  <a:srgbClr val="000000"/>
                </a:solidFill>
                <a:latin typeface="Arial" panose="020B0604020202020204" pitchFamily="34" charset="0"/>
              </a:rPr>
              <a:t>.</a:t>
            </a:r>
            <a:endParaRPr lang="en-US" altLang="zh-CN" sz="2000" b="1" u="none" dirty="0">
              <a:solidFill>
                <a:srgbClr val="000000"/>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1000100" y="571486"/>
            <a:ext cx="6884988"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1)   </a:t>
            </a:r>
            <a:r>
              <a:rPr lang="zh-CN" altLang="en-US" sz="2800" b="1" u="none" dirty="0">
                <a:solidFill>
                  <a:srgbClr val="FF0000"/>
                </a:solidFill>
                <a:latin typeface="Arial" panose="020B0604020202020204" pitchFamily="34" charset="0"/>
              </a:rPr>
              <a:t>简单立方结构 </a:t>
            </a:r>
            <a:r>
              <a:rPr lang="en-US" altLang="zh-CN" sz="2400" b="1" u="none" dirty="0">
                <a:solidFill>
                  <a:srgbClr val="FF0000"/>
                </a:solidFill>
                <a:latin typeface="Arial" panose="020B0604020202020204" pitchFamily="34" charset="0"/>
              </a:rPr>
              <a:t>(SC)</a:t>
            </a:r>
            <a:endParaRPr lang="en-US" altLang="zh-CN" sz="2400" b="1" u="none" dirty="0">
              <a:solidFill>
                <a:srgbClr val="FF0000"/>
              </a:solidFill>
              <a:latin typeface="Arial" panose="020B0604020202020204" pitchFamily="34" charset="0"/>
            </a:endParaRPr>
          </a:p>
        </p:txBody>
      </p:sp>
      <p:pic>
        <p:nvPicPr>
          <p:cNvPr id="9" name="图片 8" descr="fig 03_15"/>
          <p:cNvPicPr>
            <a:picLocks noChangeAspect="1"/>
          </p:cNvPicPr>
          <p:nvPr/>
        </p:nvPicPr>
        <p:blipFill>
          <a:blip r:embed="rId3" cstate="print"/>
          <a:srcRect l="-1292" r="46355" b="10239"/>
          <a:stretch>
            <a:fillRect/>
          </a:stretch>
        </p:blipFill>
        <p:spPr>
          <a:xfrm>
            <a:off x="1377156" y="1243807"/>
            <a:ext cx="3779837" cy="3465512"/>
          </a:xfrm>
          <a:prstGeom prst="rect">
            <a:avLst/>
          </a:prstGeom>
          <a:noFill/>
          <a:ln w="9525">
            <a:noFill/>
          </a:ln>
        </p:spPr>
      </p:pic>
      <p:sp>
        <p:nvSpPr>
          <p:cNvPr id="10" name="矩形 9"/>
          <p:cNvSpPr/>
          <p:nvPr/>
        </p:nvSpPr>
        <p:spPr>
          <a:xfrm>
            <a:off x="5831681" y="1648619"/>
            <a:ext cx="2251075" cy="1441450"/>
          </a:xfrm>
          <a:prstGeom prst="rect">
            <a:avLst/>
          </a:prstGeom>
          <a:solidFill>
            <a:srgbClr val="FFFF00"/>
          </a:solid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none" dirty="0">
                <a:solidFill>
                  <a:srgbClr val="000000"/>
                </a:solidFill>
                <a:latin typeface="Arial" panose="020B0604020202020204" pitchFamily="34" charset="0"/>
              </a:rPr>
              <a:t>CN = 6</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K  = 0.53</a:t>
            </a:r>
            <a:endParaRPr lang="en-US" altLang="zh-CN" sz="2800" b="1" u="none" dirty="0">
              <a:solidFill>
                <a:srgbClr val="000000"/>
              </a:solidFill>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pic>
        <p:nvPicPr>
          <p:cNvPr id="8" name="图片 7" descr="fig 03_15"/>
          <p:cNvPicPr>
            <a:picLocks noChangeAspect="1"/>
          </p:cNvPicPr>
          <p:nvPr/>
        </p:nvPicPr>
        <p:blipFill>
          <a:blip r:embed="rId3" cstate="print"/>
          <a:srcRect l="59790" t="1797" b="9027"/>
          <a:stretch>
            <a:fillRect/>
          </a:stretch>
        </p:blipFill>
        <p:spPr>
          <a:xfrm>
            <a:off x="1377156" y="1333500"/>
            <a:ext cx="2784475" cy="3465512"/>
          </a:xfrm>
          <a:prstGeom prst="rect">
            <a:avLst/>
          </a:prstGeom>
          <a:noFill/>
          <a:ln w="9525">
            <a:noFill/>
          </a:ln>
        </p:spPr>
      </p:pic>
      <p:sp>
        <p:nvSpPr>
          <p:cNvPr id="9" name="矩形 8"/>
          <p:cNvSpPr/>
          <p:nvPr/>
        </p:nvSpPr>
        <p:spPr>
          <a:xfrm>
            <a:off x="785786" y="714362"/>
            <a:ext cx="5356225" cy="519113"/>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2)</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体心立方结构 </a:t>
            </a:r>
            <a:r>
              <a:rPr lang="en-US" altLang="zh-CN" sz="2400" b="1" u="none" dirty="0">
                <a:solidFill>
                  <a:srgbClr val="FF0000"/>
                </a:solidFill>
                <a:latin typeface="Arial" panose="020B0604020202020204" pitchFamily="34" charset="0"/>
              </a:rPr>
              <a:t>(bcc )</a:t>
            </a:r>
            <a:endParaRPr lang="en-US" altLang="zh-CN" sz="2800" b="1" u="none" dirty="0">
              <a:solidFill>
                <a:srgbClr val="FF0000"/>
              </a:solidFill>
              <a:latin typeface="Arial" panose="020B0604020202020204" pitchFamily="34" charset="0"/>
            </a:endParaRPr>
          </a:p>
        </p:txBody>
      </p:sp>
      <p:sp>
        <p:nvSpPr>
          <p:cNvPr id="10" name="矩形 9"/>
          <p:cNvSpPr/>
          <p:nvPr/>
        </p:nvSpPr>
        <p:spPr>
          <a:xfrm>
            <a:off x="5696744" y="1738312"/>
            <a:ext cx="2655887" cy="1441450"/>
          </a:xfrm>
          <a:prstGeom prst="rect">
            <a:avLst/>
          </a:prstGeom>
          <a:solidFill>
            <a:srgbClr val="FFFF00"/>
          </a:solid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none" dirty="0">
                <a:solidFill>
                  <a:srgbClr val="000000"/>
                </a:solidFill>
                <a:latin typeface="Arial" panose="020B0604020202020204" pitchFamily="34" charset="0"/>
              </a:rPr>
              <a:t>CN = 8</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K  = 0.68</a:t>
            </a:r>
            <a:endParaRPr lang="en-US" altLang="zh-CN" sz="2800" b="1" u="none" dirty="0">
              <a:solidFill>
                <a:srgbClr val="000000"/>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文本框 133123"/>
          <p:cNvSpPr txBox="1"/>
          <p:nvPr/>
        </p:nvSpPr>
        <p:spPr>
          <a:xfrm>
            <a:off x="714348" y="642924"/>
            <a:ext cx="4635500"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u="none" dirty="0">
                <a:latin typeface="宋体" panose="02010600030101010101" pitchFamily="2" charset="-122"/>
              </a:rPr>
              <a:t> </a:t>
            </a:r>
            <a:r>
              <a:rPr lang="en-US" altLang="zh-CN" sz="2800" b="1" u="none" dirty="0">
                <a:solidFill>
                  <a:srgbClr val="FF0000"/>
                </a:solidFill>
                <a:latin typeface="宋体" panose="02010600030101010101" pitchFamily="2" charset="-122"/>
              </a:rPr>
              <a:t>3)</a:t>
            </a:r>
            <a:r>
              <a:rPr lang="en-US" altLang="zh-CN" sz="2800" b="1" u="none" dirty="0">
                <a:latin typeface="宋体" panose="02010600030101010101" pitchFamily="2" charset="-122"/>
              </a:rPr>
              <a:t> </a:t>
            </a:r>
            <a:r>
              <a:rPr lang="zh-CN" altLang="en-US" sz="2800" b="1" u="none" dirty="0">
                <a:solidFill>
                  <a:srgbClr val="FF0000"/>
                </a:solidFill>
                <a:latin typeface="宋体" panose="02010600030101010101" pitchFamily="2" charset="-122"/>
              </a:rPr>
              <a:t>面心立方结构</a:t>
            </a:r>
            <a:r>
              <a:rPr lang="zh-CN" altLang="en-US" u="none" dirty="0">
                <a:latin typeface="Arial" panose="020B0604020202020204" pitchFamily="34" charset="0"/>
              </a:rPr>
              <a:t>   </a:t>
            </a:r>
            <a:r>
              <a:rPr lang="en-US" altLang="zh-CN" sz="2400" b="1" u="none" dirty="0">
                <a:solidFill>
                  <a:srgbClr val="FF0000"/>
                </a:solidFill>
                <a:latin typeface="Arial" panose="020B0604020202020204" pitchFamily="34" charset="0"/>
              </a:rPr>
              <a:t>(fcc)</a:t>
            </a:r>
            <a:endParaRPr lang="en-US" altLang="zh-CN" sz="2400" b="1" u="none">
              <a:solidFill>
                <a:srgbClr val="FF0000"/>
              </a:solidFill>
              <a:latin typeface="Arial" panose="020B0604020202020204" pitchFamily="34" charset="0"/>
            </a:endParaRPr>
          </a:p>
        </p:txBody>
      </p:sp>
      <p:sp>
        <p:nvSpPr>
          <p:cNvPr id="9" name="矩形 8"/>
          <p:cNvSpPr/>
          <p:nvPr/>
        </p:nvSpPr>
        <p:spPr>
          <a:xfrm>
            <a:off x="5000628" y="2000246"/>
            <a:ext cx="2611437" cy="1441450"/>
          </a:xfrm>
          <a:prstGeom prst="rect">
            <a:avLst/>
          </a:prstGeom>
          <a:solidFill>
            <a:srgbClr val="FFFF00"/>
          </a:solid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none" dirty="0">
                <a:solidFill>
                  <a:srgbClr val="000000"/>
                </a:solidFill>
                <a:latin typeface="Arial" panose="020B0604020202020204" pitchFamily="34" charset="0"/>
              </a:rPr>
              <a:t>CN = 12</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K  = 0.74</a:t>
            </a:r>
            <a:endParaRPr lang="en-US" altLang="zh-CN" sz="2800" b="1" u="none" dirty="0">
              <a:solidFill>
                <a:srgbClr val="000000"/>
              </a:solidFill>
              <a:latin typeface="Arial" panose="020B0604020202020204" pitchFamily="34" charset="0"/>
            </a:endParaRPr>
          </a:p>
        </p:txBody>
      </p:sp>
      <p:pic>
        <p:nvPicPr>
          <p:cNvPr id="9218" name="Picture 2"/>
          <p:cNvPicPr>
            <a:picLocks noChangeAspect="1" noChangeArrowheads="1"/>
          </p:cNvPicPr>
          <p:nvPr/>
        </p:nvPicPr>
        <p:blipFill>
          <a:blip r:embed="rId3" cstate="print"/>
          <a:srcRect/>
          <a:stretch>
            <a:fillRect/>
          </a:stretch>
        </p:blipFill>
        <p:spPr bwMode="auto">
          <a:xfrm>
            <a:off x="1643042" y="1285866"/>
            <a:ext cx="2418836" cy="3195642"/>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642910" y="571486"/>
            <a:ext cx="5805487"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b="1" u="none" dirty="0">
                <a:solidFill>
                  <a:srgbClr val="FF0000"/>
                </a:solidFill>
                <a:latin typeface="Arial" panose="020B0604020202020204" pitchFamily="34" charset="0"/>
              </a:rPr>
              <a:t> </a:t>
            </a:r>
            <a:r>
              <a:rPr lang="en-US" altLang="zh-CN" sz="2800" b="1" u="none" dirty="0">
                <a:solidFill>
                  <a:srgbClr val="FF0000"/>
                </a:solidFill>
                <a:latin typeface="Arial" panose="020B0604020202020204" pitchFamily="34" charset="0"/>
              </a:rPr>
              <a:t>4)</a:t>
            </a:r>
            <a:r>
              <a:rPr lang="en-US" altLang="zh-CN" b="1" u="none" dirty="0">
                <a:latin typeface="Arial" panose="020B0604020202020204" pitchFamily="34" charset="0"/>
              </a:rPr>
              <a:t>    </a:t>
            </a:r>
            <a:r>
              <a:rPr lang="zh-CN" altLang="en-US" sz="2800" b="1" u="none" dirty="0">
                <a:solidFill>
                  <a:srgbClr val="FF0000"/>
                </a:solidFill>
                <a:latin typeface="Arial" panose="020B0604020202020204" pitchFamily="34" charset="0"/>
              </a:rPr>
              <a:t>密排六方结构 </a:t>
            </a:r>
            <a:r>
              <a:rPr lang="en-US" altLang="zh-CN" sz="2400" b="1" u="none" dirty="0">
                <a:solidFill>
                  <a:srgbClr val="FF0000"/>
                </a:solidFill>
                <a:latin typeface="Arial" panose="020B0604020202020204" pitchFamily="34" charset="0"/>
              </a:rPr>
              <a:t> (hcp</a:t>
            </a:r>
            <a:r>
              <a:rPr lang="en-US" altLang="zh-CN" sz="2400" u="none" dirty="0">
                <a:solidFill>
                  <a:srgbClr val="FF0000"/>
                </a:solidFill>
                <a:latin typeface="Arial" panose="020B0604020202020204" pitchFamily="34" charset="0"/>
              </a:rPr>
              <a:t>)</a:t>
            </a:r>
            <a:endParaRPr lang="en-US" altLang="zh-CN" sz="2400" u="none" dirty="0">
              <a:solidFill>
                <a:srgbClr val="FF0000"/>
              </a:solidFill>
              <a:latin typeface="Arial" panose="020B0604020202020204" pitchFamily="34" charset="0"/>
            </a:endParaRPr>
          </a:p>
        </p:txBody>
      </p:sp>
      <p:sp>
        <p:nvSpPr>
          <p:cNvPr id="9" name="矩形 8"/>
          <p:cNvSpPr/>
          <p:nvPr/>
        </p:nvSpPr>
        <p:spPr>
          <a:xfrm>
            <a:off x="4786314" y="2000246"/>
            <a:ext cx="3375025" cy="1441450"/>
          </a:xfrm>
          <a:prstGeom prst="rect">
            <a:avLst/>
          </a:prstGeom>
          <a:solidFill>
            <a:srgbClr val="FFFF00"/>
          </a:solidFill>
          <a:ln w="9525">
            <a:noFill/>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800" b="1" u="none" dirty="0">
                <a:solidFill>
                  <a:srgbClr val="000000"/>
                </a:solidFill>
                <a:latin typeface="Arial" panose="020B0604020202020204" pitchFamily="34" charset="0"/>
              </a:rPr>
              <a:t>CN = 12 </a:t>
            </a:r>
            <a:r>
              <a:rPr lang="zh-CN" altLang="en-US" sz="2800" b="1" u="none" dirty="0">
                <a:solidFill>
                  <a:srgbClr val="000000"/>
                </a:solidFill>
                <a:latin typeface="Arial" panose="020B0604020202020204" pitchFamily="34" charset="0"/>
              </a:rPr>
              <a:t>或</a:t>
            </a:r>
            <a:r>
              <a:rPr lang="en-US" altLang="zh-CN" sz="2800" b="1" u="none" dirty="0">
                <a:solidFill>
                  <a:srgbClr val="000000"/>
                </a:solidFill>
                <a:latin typeface="Arial" panose="020B0604020202020204" pitchFamily="34" charset="0"/>
              </a:rPr>
              <a:t>(6+6)</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a:t>
            </a:r>
            <a:endParaRPr lang="en-US" altLang="zh-CN" sz="2800" b="1" u="none" dirty="0">
              <a:solidFill>
                <a:srgbClr val="000000"/>
              </a:solidFill>
              <a:latin typeface="Arial" panose="020B0604020202020204" pitchFamily="34" charset="0"/>
            </a:endParaRPr>
          </a:p>
          <a:p>
            <a:r>
              <a:rPr lang="en-US" altLang="zh-CN" sz="2800" b="1" u="none" dirty="0">
                <a:solidFill>
                  <a:srgbClr val="000000"/>
                </a:solidFill>
                <a:latin typeface="Arial" panose="020B0604020202020204" pitchFamily="34" charset="0"/>
              </a:rPr>
              <a:t>  K  = 0.74</a:t>
            </a:r>
            <a:endParaRPr lang="en-US" altLang="zh-CN" sz="2800" b="1" u="none" dirty="0">
              <a:solidFill>
                <a:srgbClr val="000000"/>
              </a:solidFill>
              <a:latin typeface="Arial" panose="020B0604020202020204" pitchFamily="34" charset="0"/>
            </a:endParaRPr>
          </a:p>
        </p:txBody>
      </p:sp>
      <p:pic>
        <p:nvPicPr>
          <p:cNvPr id="10243" name="Picture 3"/>
          <p:cNvPicPr>
            <a:picLocks noChangeAspect="1" noChangeArrowheads="1"/>
          </p:cNvPicPr>
          <p:nvPr/>
        </p:nvPicPr>
        <p:blipFill>
          <a:blip r:embed="rId3" cstate="print"/>
          <a:srcRect/>
          <a:stretch>
            <a:fillRect/>
          </a:stretch>
        </p:blipFill>
        <p:spPr bwMode="auto">
          <a:xfrm>
            <a:off x="1928794" y="1142989"/>
            <a:ext cx="1785950" cy="384510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文本框 136195"/>
          <p:cNvSpPr txBox="1"/>
          <p:nvPr/>
        </p:nvSpPr>
        <p:spPr>
          <a:xfrm>
            <a:off x="544513" y="496094"/>
            <a:ext cx="8054975" cy="4151313"/>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zh-CN" altLang="en-US" sz="2800" b="1" u="none" dirty="0">
                <a:latin typeface="隶书" panose="02010509060101010101" pitchFamily="49" charset="-122"/>
                <a:ea typeface="隶书" panose="02010509060101010101" pitchFamily="49" charset="-122"/>
              </a:rPr>
              <a:t>从前面可知：</a:t>
            </a:r>
            <a:endParaRPr lang="zh-CN" altLang="en-US" sz="2800" b="1" u="none" dirty="0">
              <a:latin typeface="隶书" panose="02010509060101010101" pitchFamily="49" charset="-122"/>
              <a:ea typeface="隶书" panose="02010509060101010101" pitchFamily="49" charset="-122"/>
            </a:endParaRPr>
          </a:p>
          <a:p>
            <a:pPr>
              <a:spcBef>
                <a:spcPct val="50000"/>
              </a:spcBef>
            </a:pPr>
            <a:r>
              <a:rPr lang="zh-CN" altLang="en-US" sz="2800" b="1" u="none" dirty="0">
                <a:solidFill>
                  <a:srgbClr val="FF0000"/>
                </a:solidFill>
                <a:latin typeface="隶书" panose="02010509060101010101" pitchFamily="49" charset="-122"/>
                <a:ea typeface="隶书" panose="02010509060101010101" pitchFamily="49" charset="-122"/>
              </a:rPr>
              <a:t>    面心立方</a:t>
            </a:r>
            <a:r>
              <a:rPr lang="zh-CN" altLang="en-US" sz="2800" b="1" u="none" dirty="0">
                <a:latin typeface="隶书" panose="02010509060101010101" pitchFamily="49" charset="-122"/>
                <a:ea typeface="隶书" panose="02010509060101010101" pitchFamily="49" charset="-122"/>
              </a:rPr>
              <a:t>和</a:t>
            </a:r>
            <a:r>
              <a:rPr lang="zh-CN" altLang="en-US" sz="2800" b="1" u="none" dirty="0">
                <a:solidFill>
                  <a:srgbClr val="FF0000"/>
                </a:solidFill>
                <a:latin typeface="隶书" panose="02010509060101010101" pitchFamily="49" charset="-122"/>
                <a:ea typeface="隶书" panose="02010509060101010101" pitchFamily="49" charset="-122"/>
              </a:rPr>
              <a:t>密排六方</a:t>
            </a:r>
            <a:r>
              <a:rPr lang="zh-CN" altLang="en-US" sz="2800" b="1" u="none" dirty="0">
                <a:latin typeface="隶书" panose="02010509060101010101" pitchFamily="49" charset="-122"/>
                <a:ea typeface="隶书" panose="02010509060101010101" pitchFamily="49" charset="-122"/>
              </a:rPr>
              <a:t>结构的致密度均为</a:t>
            </a:r>
            <a:r>
              <a:rPr lang="en-US" altLang="zh-CN" sz="2800" b="1" u="none" dirty="0">
                <a:latin typeface="隶书" panose="02010509060101010101" pitchFamily="49" charset="-122"/>
                <a:ea typeface="隶书" panose="02010509060101010101" pitchFamily="49" charset="-122"/>
              </a:rPr>
              <a:t>0.74</a:t>
            </a:r>
            <a:r>
              <a:rPr lang="zh-CN" altLang="en-US" sz="2800" b="1" u="none" dirty="0">
                <a:latin typeface="隶书" panose="02010509060101010101" pitchFamily="49" charset="-122"/>
                <a:ea typeface="隶书" panose="02010509060101010101" pitchFamily="49" charset="-122"/>
              </a:rPr>
              <a:t>；是纯金属中</a:t>
            </a:r>
            <a:r>
              <a:rPr lang="zh-CN" altLang="en-US" sz="2800" b="1" u="none" dirty="0">
                <a:solidFill>
                  <a:srgbClr val="FF0000"/>
                </a:solidFill>
                <a:latin typeface="隶书" panose="02010509060101010101" pitchFamily="49" charset="-122"/>
                <a:ea typeface="隶书" panose="02010509060101010101" pitchFamily="49" charset="-122"/>
              </a:rPr>
              <a:t>最密集的结构</a:t>
            </a:r>
            <a:r>
              <a:rPr lang="zh-CN" altLang="en-US" sz="2800" b="1" u="none" dirty="0">
                <a:latin typeface="隶书" panose="02010509060101010101" pitchFamily="49" charset="-122"/>
                <a:ea typeface="隶书" panose="02010509060101010101" pitchFamily="49" charset="-122"/>
              </a:rPr>
              <a:t>。</a:t>
            </a:r>
            <a:endParaRPr lang="zh-CN" altLang="en-US" sz="2800" b="1" u="none" dirty="0">
              <a:latin typeface="隶书" panose="02010509060101010101" pitchFamily="49" charset="-122"/>
              <a:ea typeface="隶书" panose="02010509060101010101" pitchFamily="49" charset="-122"/>
            </a:endParaRPr>
          </a:p>
          <a:p>
            <a:pPr>
              <a:spcBef>
                <a:spcPct val="50000"/>
              </a:spcBef>
            </a:pPr>
            <a:r>
              <a:rPr lang="zh-CN" altLang="en-US" sz="2800" b="1" u="none" dirty="0">
                <a:latin typeface="隶书" panose="02010509060101010101" pitchFamily="49" charset="-122"/>
                <a:ea typeface="隶书" panose="02010509060101010101" pitchFamily="49" charset="-122"/>
              </a:rPr>
              <a:t>    因为在面心立方和密排六方结构中，密排面上每个原子和最近邻的原子之间都是相切的；</a:t>
            </a:r>
            <a:endParaRPr lang="zh-CN" altLang="en-US" sz="2800" b="1" u="none" dirty="0">
              <a:latin typeface="隶书" panose="02010509060101010101" pitchFamily="49" charset="-122"/>
              <a:ea typeface="隶书" panose="02010509060101010101" pitchFamily="49" charset="-122"/>
            </a:endParaRPr>
          </a:p>
          <a:p>
            <a:pPr>
              <a:spcBef>
                <a:spcPct val="50000"/>
              </a:spcBef>
            </a:pPr>
            <a:r>
              <a:rPr lang="zh-CN" altLang="en-US" sz="2800" b="1" u="none" dirty="0">
                <a:latin typeface="隶书" panose="02010509060101010101" pitchFamily="49" charset="-122"/>
                <a:ea typeface="隶书" panose="02010509060101010101" pitchFamily="49" charset="-122"/>
              </a:rPr>
              <a:t>    而在体心立方结构中，除位于体心的原子与位于顶角上的</a:t>
            </a:r>
            <a:r>
              <a:rPr lang="en-US" altLang="zh-CN" sz="2800" b="1" u="none" dirty="0">
                <a:latin typeface="隶书" panose="02010509060101010101" pitchFamily="49" charset="-122"/>
                <a:ea typeface="隶书" panose="02010509060101010101" pitchFamily="49" charset="-122"/>
              </a:rPr>
              <a:t>8</a:t>
            </a:r>
            <a:r>
              <a:rPr lang="zh-CN" altLang="en-US" sz="2800" b="1" u="none" dirty="0">
                <a:latin typeface="隶书" panose="02010509060101010101" pitchFamily="49" charset="-122"/>
                <a:ea typeface="隶书" panose="02010509060101010101" pitchFamily="49" charset="-122"/>
              </a:rPr>
              <a:t>个原子相切外，</a:t>
            </a:r>
            <a:r>
              <a:rPr lang="en-US" altLang="zh-CN" sz="2800" b="1" u="none" dirty="0">
                <a:latin typeface="隶书" panose="02010509060101010101" pitchFamily="49" charset="-122"/>
                <a:ea typeface="隶书" panose="02010509060101010101" pitchFamily="49" charset="-122"/>
              </a:rPr>
              <a:t>8</a:t>
            </a:r>
            <a:r>
              <a:rPr lang="zh-CN" altLang="en-US" sz="2800" b="1" u="none" dirty="0">
                <a:latin typeface="隶书" panose="02010509060101010101" pitchFamily="49" charset="-122"/>
                <a:ea typeface="隶书" panose="02010509060101010101" pitchFamily="49" charset="-122"/>
              </a:rPr>
              <a:t>个顶角原子之间并不相切，故其致密度没有前者大。</a:t>
            </a:r>
            <a:endParaRPr lang="zh-CN" altLang="en-US" sz="2800" b="1" u="none" dirty="0">
              <a:latin typeface="隶书" panose="02010509060101010101" pitchFamily="49" charset="-122"/>
              <a:ea typeface="隶书" panose="020105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圆角矩形 7"/>
          <p:cNvSpPr/>
          <p:nvPr/>
        </p:nvSpPr>
        <p:spPr>
          <a:xfrm>
            <a:off x="214282" y="714362"/>
            <a:ext cx="7924800" cy="503237"/>
          </a:xfrm>
          <a:prstGeom prst="roundRect">
            <a:avLst>
              <a:gd name="adj" fmla="val 21667"/>
            </a:avLst>
          </a:prstGeom>
          <a:noFill/>
          <a:ln w="9525">
            <a:noFill/>
          </a:ln>
        </p:spPr>
        <p:txBody>
          <a:bodyPr anchor="b" anchorCtr="0"/>
          <a:lstStyle>
            <a:lvl1pPr marL="0" lvl="0" indent="0" algn="l" defTabSz="914400" rtl="0" eaLnBrk="1" fontAlgn="base" latinLnBrk="0" hangingPunct="1">
              <a:lnSpc>
                <a:spcPct val="90000"/>
              </a:lnSpc>
              <a:spcBef>
                <a:spcPct val="0"/>
              </a:spcBef>
              <a:spcAft>
                <a:spcPct val="0"/>
              </a:spcAft>
              <a:buNone/>
              <a:defRPr sz="3600" b="1" u="none" kern="1200" baseline="0">
                <a:solidFill>
                  <a:schemeClr val="tx2"/>
                </a:solidFill>
                <a:latin typeface="Arial" panose="020B0604020202020204" pitchFamily="34" charset="0"/>
                <a:ea typeface="宋体" panose="02010600030101010101" pitchFamily="2" charset="-122"/>
              </a:defRPr>
            </a:lvl1pPr>
          </a:lstStyle>
          <a:p>
            <a:pPr lvl="0"/>
            <a:r>
              <a:rPr lang="en-US" altLang="zh-CN" sz="3200" dirty="0">
                <a:solidFill>
                  <a:srgbClr val="000099"/>
                </a:solidFill>
              </a:rPr>
              <a:t>6</a:t>
            </a:r>
            <a:r>
              <a:rPr lang="zh-CN" altLang="en-US" sz="3200" dirty="0">
                <a:solidFill>
                  <a:srgbClr val="000099"/>
                </a:solidFill>
              </a:rPr>
              <a:t>、晶体结构中的间隙</a:t>
            </a:r>
            <a:endParaRPr lang="en-US" altLang="zh-CN" sz="3200" dirty="0">
              <a:solidFill>
                <a:srgbClr val="000099"/>
              </a:solidFill>
            </a:endParaRPr>
          </a:p>
        </p:txBody>
      </p:sp>
      <p:sp>
        <p:nvSpPr>
          <p:cNvPr id="9" name="文本框 135172"/>
          <p:cNvSpPr txBox="1"/>
          <p:nvPr/>
        </p:nvSpPr>
        <p:spPr>
          <a:xfrm>
            <a:off x="686594" y="1406207"/>
            <a:ext cx="7885934" cy="1879923"/>
          </a:xfrm>
          <a:prstGeom prst="rect">
            <a:avLst/>
          </a:prstGeom>
          <a:noFill/>
          <a:ln w="12700">
            <a:noFill/>
          </a:ln>
        </p:spPr>
        <p:txBody>
          <a:bodyPr wrap="square">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zh-CN" altLang="en-US" sz="2800" b="1" u="none" dirty="0" smtClean="0">
                <a:solidFill>
                  <a:srgbClr val="000000"/>
                </a:solidFill>
                <a:latin typeface="隶书" panose="02010509060101010101" pitchFamily="49" charset="-122"/>
                <a:ea typeface="隶书" panose="02010509060101010101" pitchFamily="49" charset="-122"/>
              </a:rPr>
              <a:t>从</a:t>
            </a:r>
            <a:r>
              <a:rPr lang="zh-CN" altLang="en-US" sz="2800" b="1" u="none" dirty="0">
                <a:solidFill>
                  <a:srgbClr val="000000"/>
                </a:solidFill>
                <a:latin typeface="隶书" panose="02010509060101010101" pitchFamily="49" charset="-122"/>
                <a:ea typeface="隶书" panose="02010509060101010101" pitchFamily="49" charset="-122"/>
              </a:rPr>
              <a:t>晶体中原子排列的刚性模型和对致密度的分析可以看出，金属晶体存在许多间隙，这种间隙对金属的性能、合金相结构和扩散、相变等都有重要影响。</a:t>
            </a:r>
            <a:endParaRPr lang="zh-CN" altLang="en-US" sz="2800" b="1" u="none" dirty="0">
              <a:solidFill>
                <a:srgbClr val="000000"/>
              </a:solidFill>
              <a:latin typeface="隶书" panose="02010509060101010101" pitchFamily="49" charset="-122"/>
              <a:ea typeface="隶书" panose="02010509060101010101" pitchFamily="49" charset="-122"/>
            </a:endParaRPr>
          </a:p>
        </p:txBody>
      </p:sp>
      <p:sp>
        <p:nvSpPr>
          <p:cNvPr id="10" name="文本框 135173"/>
          <p:cNvSpPr txBox="1"/>
          <p:nvPr/>
        </p:nvSpPr>
        <p:spPr>
          <a:xfrm>
            <a:off x="385763" y="3571882"/>
            <a:ext cx="8758237" cy="1160463"/>
          </a:xfrm>
          <a:prstGeom prst="rect">
            <a:avLst/>
          </a:prstGeom>
          <a:solidFill>
            <a:schemeClr val="bg1">
              <a:alpha val="89999"/>
            </a:schemeClr>
          </a:solid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spcBef>
                <a:spcPct val="50000"/>
              </a:spcBef>
            </a:pPr>
            <a:r>
              <a:rPr lang="zh-CN" altLang="en-US" sz="2800" b="1" u="none" dirty="0">
                <a:latin typeface="楷体_GB2312" pitchFamily="49" charset="-122"/>
                <a:ea typeface="楷体_GB2312" pitchFamily="49" charset="-122"/>
              </a:rPr>
              <a:t>位于</a:t>
            </a:r>
            <a:r>
              <a:rPr lang="en-US" altLang="zh-CN" sz="2800" b="1" u="none" dirty="0">
                <a:latin typeface="楷体_GB2312" pitchFamily="49" charset="-122"/>
                <a:ea typeface="楷体_GB2312" pitchFamily="49" charset="-122"/>
              </a:rPr>
              <a:t>6</a:t>
            </a:r>
            <a:r>
              <a:rPr lang="zh-CN" altLang="en-US" sz="2800" b="1" u="none" dirty="0">
                <a:latin typeface="楷体_GB2312" pitchFamily="49" charset="-122"/>
                <a:ea typeface="楷体_GB2312" pitchFamily="49" charset="-122"/>
              </a:rPr>
              <a:t>个原子组成的八面体中间的间隙称</a:t>
            </a:r>
            <a:r>
              <a:rPr lang="zh-CN" altLang="en-US" sz="2800" b="1" u="none" dirty="0">
                <a:solidFill>
                  <a:srgbClr val="FF0000"/>
                </a:solidFill>
                <a:latin typeface="楷体_GB2312" pitchFamily="49" charset="-122"/>
                <a:ea typeface="楷体_GB2312" pitchFamily="49" charset="-122"/>
              </a:rPr>
              <a:t>八面体间隙</a:t>
            </a:r>
            <a:r>
              <a:rPr lang="zh-CN" altLang="en-US" sz="2800" b="1" u="none" dirty="0">
                <a:latin typeface="楷体_GB2312" pitchFamily="49" charset="-122"/>
                <a:ea typeface="楷体_GB2312" pitchFamily="49" charset="-122"/>
              </a:rPr>
              <a:t>；</a:t>
            </a:r>
            <a:endParaRPr lang="zh-CN" altLang="en-US" sz="2800" b="1" u="none" dirty="0">
              <a:latin typeface="楷体_GB2312" pitchFamily="49" charset="-122"/>
              <a:ea typeface="楷体_GB2312" pitchFamily="49" charset="-122"/>
            </a:endParaRPr>
          </a:p>
          <a:p>
            <a:pPr>
              <a:spcBef>
                <a:spcPct val="50000"/>
              </a:spcBef>
            </a:pPr>
            <a:r>
              <a:rPr lang="zh-CN" altLang="en-US" sz="2800" b="1" u="none" dirty="0">
                <a:latin typeface="楷体_GB2312" pitchFamily="49" charset="-122"/>
                <a:ea typeface="楷体_GB2312" pitchFamily="49" charset="-122"/>
              </a:rPr>
              <a:t>位于</a:t>
            </a:r>
            <a:r>
              <a:rPr lang="en-US" altLang="zh-CN" sz="2800" b="1" u="none" dirty="0">
                <a:latin typeface="楷体_GB2312" pitchFamily="49" charset="-122"/>
                <a:ea typeface="楷体_GB2312" pitchFamily="49" charset="-122"/>
              </a:rPr>
              <a:t>4</a:t>
            </a:r>
            <a:r>
              <a:rPr lang="zh-CN" altLang="en-US" sz="2800" b="1" u="none" dirty="0">
                <a:latin typeface="楷体_GB2312" pitchFamily="49" charset="-122"/>
                <a:ea typeface="楷体_GB2312" pitchFamily="49" charset="-122"/>
              </a:rPr>
              <a:t>个原子组成的四面体中间的间隙称</a:t>
            </a:r>
            <a:r>
              <a:rPr lang="zh-CN" altLang="en-US" sz="2800" b="1" u="none" dirty="0">
                <a:solidFill>
                  <a:srgbClr val="FF0000"/>
                </a:solidFill>
                <a:latin typeface="楷体_GB2312" pitchFamily="49" charset="-122"/>
                <a:ea typeface="楷体_GB2312" pitchFamily="49" charset="-122"/>
              </a:rPr>
              <a:t>四面体间隙</a:t>
            </a:r>
            <a:r>
              <a:rPr lang="zh-CN" altLang="en-US" sz="2800" b="1" u="none" dirty="0">
                <a:latin typeface="楷体_GB2312" pitchFamily="49" charset="-122"/>
                <a:ea typeface="楷体_GB2312" pitchFamily="49" charset="-122"/>
              </a:rPr>
              <a:t>。</a:t>
            </a:r>
            <a:endParaRPr lang="zh-CN" altLang="en-US" sz="2800" b="1" u="none" dirty="0">
              <a:latin typeface="楷体_GB2312" pitchFamily="49" charset="-122"/>
              <a:ea typeface="楷体_GB2312"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571500" y="-533400"/>
            <a:ext cx="8001000" cy="6210300"/>
          </a:xfrm>
          <a:prstGeom prst="rect">
            <a:avLst/>
          </a:prstGeom>
          <a:noFill/>
          <a:ln w="9525">
            <a:noFill/>
          </a:ln>
        </p:spPr>
        <p:txBody>
          <a:bodyPr lIns="92075" tIns="46038" rIns="92075" bIns="46038" anchor="ctr" anchorCtr="0"/>
          <a:lstStyle>
            <a:lvl1pPr marL="0" lvl="0" indent="0" algn="ctr" defTabSz="914400" rtl="0" eaLnBrk="1" fontAlgn="base" latinLnBrk="0" hangingPunct="1">
              <a:lnSpc>
                <a:spcPct val="90000"/>
              </a:lnSpc>
              <a:spcBef>
                <a:spcPct val="0"/>
              </a:spcBef>
              <a:spcAft>
                <a:spcPct val="0"/>
              </a:spcAft>
              <a:buClrTx/>
              <a:buSzTx/>
              <a:buFontTx/>
              <a:buNone/>
              <a:defRPr sz="3600" b="1" u="none" kern="1200" baseline="0">
                <a:solidFill>
                  <a:schemeClr val="tx1"/>
                </a:solidFill>
                <a:latin typeface="Arial" panose="020B0604020202020204" pitchFamily="34" charset="0"/>
                <a:ea typeface="宋体" panose="02010600030101010101" pitchFamily="2" charset="-122"/>
              </a:defRPr>
            </a:lvl1pPr>
          </a:lstStyle>
          <a:p>
            <a:pPr lvl="0" algn="l">
              <a:lnSpc>
                <a:spcPct val="150000"/>
              </a:lnSpc>
            </a:pPr>
            <a:r>
              <a:rPr lang="zh-CN" altLang="en-US" sz="2800" u="sng" dirty="0">
                <a:solidFill>
                  <a:srgbClr val="FF0000"/>
                </a:solidFill>
                <a:latin typeface="隶书" panose="02010509060101010101" pitchFamily="49" charset="-122"/>
                <a:ea typeface="隶书" panose="02010509060101010101" pitchFamily="49" charset="-122"/>
              </a:rPr>
              <a:t>等大球体密堆积中的两种空隙</a:t>
            </a:r>
            <a:br>
              <a:rPr lang="zh-CN" altLang="en-US" sz="2800" dirty="0">
                <a:latin typeface="隶书" panose="02010509060101010101" pitchFamily="49" charset="-122"/>
                <a:ea typeface="隶书" panose="02010509060101010101" pitchFamily="49" charset="-122"/>
              </a:rPr>
            </a:br>
            <a:r>
              <a:rPr lang="zh-CN" altLang="en-US" sz="2400" dirty="0">
                <a:solidFill>
                  <a:srgbClr val="6600FF"/>
                </a:solidFill>
                <a:cs typeface="Times New Roman" panose="02020603050405020304" pitchFamily="18" charset="0"/>
              </a:rPr>
              <a:t>● </a:t>
            </a:r>
            <a:r>
              <a:rPr lang="zh-CN" altLang="en-US" sz="2400" dirty="0">
                <a:solidFill>
                  <a:srgbClr val="6600FF"/>
                </a:solidFill>
                <a:latin typeface="隶书" panose="02010509060101010101" pitchFamily="49" charset="-122"/>
                <a:ea typeface="隶书" panose="02010509060101010101" pitchFamily="49" charset="-122"/>
              </a:rPr>
              <a:t>四面体空隙：</a:t>
            </a:r>
            <a:r>
              <a:rPr lang="zh-CN" altLang="en-US" sz="2400" dirty="0">
                <a:solidFill>
                  <a:srgbClr val="000000"/>
                </a:solidFill>
                <a:latin typeface="隶书" panose="02010509060101010101" pitchFamily="49" charset="-122"/>
                <a:ea typeface="隶书" panose="02010509060101010101" pitchFamily="49" charset="-122"/>
              </a:rPr>
              <a:t>是上述未穿透两层的、由四个球体所围的</a:t>
            </a:r>
            <a:br>
              <a:rPr lang="zh-CN" altLang="en-US" sz="2400" dirty="0">
                <a:solidFill>
                  <a:srgbClr val="000000"/>
                </a:solidFill>
                <a:latin typeface="隶书" panose="02010509060101010101" pitchFamily="49" charset="-122"/>
                <a:ea typeface="隶书" panose="02010509060101010101" pitchFamily="49" charset="-122"/>
              </a:rPr>
            </a:br>
            <a:r>
              <a:rPr lang="zh-CN" altLang="en-US" sz="2400" dirty="0">
                <a:solidFill>
                  <a:srgbClr val="000000"/>
                </a:solidFill>
                <a:latin typeface="隶书" panose="02010509060101010101" pitchFamily="49" charset="-122"/>
                <a:ea typeface="隶书" panose="02010509060101010101" pitchFamily="49" charset="-122"/>
              </a:rPr>
              <a:t>  空隙。四个球体中心之联线恰成一四面体形状。</a:t>
            </a:r>
            <a:br>
              <a:rPr lang="zh-CN" altLang="en-US" sz="2400" dirty="0">
                <a:latin typeface="隶书" panose="02010509060101010101" pitchFamily="49" charset="-122"/>
                <a:ea typeface="隶书" panose="02010509060101010101" pitchFamily="49" charset="-122"/>
              </a:rPr>
            </a:br>
            <a:r>
              <a:rPr lang="zh-CN" altLang="en-US" sz="2400" dirty="0">
                <a:solidFill>
                  <a:srgbClr val="6600FF"/>
                </a:solidFill>
                <a:cs typeface="Times New Roman" panose="02020603050405020304" pitchFamily="18" charset="0"/>
              </a:rPr>
              <a:t>● </a:t>
            </a:r>
            <a:r>
              <a:rPr lang="zh-CN" altLang="en-US" sz="2400" dirty="0">
                <a:solidFill>
                  <a:srgbClr val="6600FF"/>
                </a:solidFill>
                <a:latin typeface="隶书" panose="02010509060101010101" pitchFamily="49" charset="-122"/>
                <a:ea typeface="隶书" panose="02010509060101010101" pitchFamily="49" charset="-122"/>
              </a:rPr>
              <a:t>八面体空隙：</a:t>
            </a:r>
            <a:r>
              <a:rPr lang="zh-CN" altLang="en-US" sz="2400" dirty="0">
                <a:solidFill>
                  <a:srgbClr val="000000"/>
                </a:solidFill>
                <a:latin typeface="隶书" panose="02010509060101010101" pitchFamily="49" charset="-122"/>
                <a:ea typeface="隶书" panose="02010509060101010101" pitchFamily="49" charset="-122"/>
              </a:rPr>
              <a:t>是上述连续穿透两层的、由六个球体所围</a:t>
            </a:r>
            <a:br>
              <a:rPr lang="zh-CN" altLang="en-US" sz="2400" dirty="0">
                <a:solidFill>
                  <a:srgbClr val="000000"/>
                </a:solidFill>
                <a:latin typeface="隶书" panose="02010509060101010101" pitchFamily="49" charset="-122"/>
                <a:ea typeface="隶书" panose="02010509060101010101" pitchFamily="49" charset="-122"/>
              </a:rPr>
            </a:br>
            <a:r>
              <a:rPr lang="zh-CN" altLang="en-US" sz="2400" dirty="0">
                <a:solidFill>
                  <a:srgbClr val="000000"/>
                </a:solidFill>
                <a:latin typeface="隶书" panose="02010509060101010101" pitchFamily="49" charset="-122"/>
                <a:ea typeface="隶书" panose="02010509060101010101" pitchFamily="49" charset="-122"/>
              </a:rPr>
              <a:t>  的空隙。六个球体中心之联线恰成一八面体形状。</a:t>
            </a:r>
            <a:br>
              <a:rPr lang="zh-CN" altLang="en-US" sz="2400" dirty="0">
                <a:latin typeface="隶书" panose="02010509060101010101" pitchFamily="49" charset="-122"/>
                <a:ea typeface="隶书" panose="02010509060101010101" pitchFamily="49" charset="-122"/>
              </a:rPr>
            </a:br>
            <a:r>
              <a:rPr lang="zh-CN" altLang="en-US" sz="2400" u="sng" dirty="0">
                <a:solidFill>
                  <a:srgbClr val="6600FF"/>
                </a:solidFill>
                <a:latin typeface="隶书" panose="02010509060101010101" pitchFamily="49" charset="-122"/>
                <a:ea typeface="隶书" panose="02010509060101010101" pitchFamily="49" charset="-122"/>
              </a:rPr>
              <a:t>八面体空隙的空间大于四面体空隙的空间</a:t>
            </a:r>
            <a:r>
              <a:rPr lang="zh-CN" altLang="en-US" sz="2400" dirty="0" smtClean="0">
                <a:solidFill>
                  <a:srgbClr val="6600FF"/>
                </a:solidFill>
                <a:latin typeface="隶书" panose="02010509060101010101" pitchFamily="49" charset="-122"/>
                <a:ea typeface="隶书" panose="02010509060101010101" pitchFamily="49" charset="-122"/>
              </a:rPr>
              <a:t>。</a:t>
            </a:r>
            <a:endParaRPr lang="zh-CN" altLang="en-US" sz="2400" dirty="0">
              <a:latin typeface="隶书" panose="02010509060101010101" pitchFamily="49" charset="-122"/>
              <a:ea typeface="隶书" panose="020105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矩形 7"/>
          <p:cNvSpPr/>
          <p:nvPr/>
        </p:nvSpPr>
        <p:spPr>
          <a:xfrm>
            <a:off x="714348" y="571486"/>
            <a:ext cx="8143932" cy="4524315"/>
          </a:xfrm>
          <a:prstGeom prst="rect">
            <a:avLst/>
          </a:prstGeom>
        </p:spPr>
        <p:txBody>
          <a:bodyPr wrap="square">
            <a:spAutoFit/>
          </a:bodyPr>
          <a:lstStyle/>
          <a:p>
            <a:r>
              <a:rPr lang="zh-CN" altLang="en-US" sz="2400" b="1" dirty="0" smtClean="0">
                <a:solidFill>
                  <a:srgbClr val="FF0000"/>
                </a:solidFill>
                <a:latin typeface="隶书" panose="02010509060101010101" pitchFamily="49" charset="-122"/>
                <a:ea typeface="隶书" panose="02010509060101010101" pitchFamily="49" charset="-122"/>
                <a:cs typeface="Times New Roman" panose="02020603050405020304" pitchFamily="18" charset="0"/>
              </a:rPr>
              <a:t>● </a:t>
            </a:r>
            <a:r>
              <a:rPr lang="zh-CN" altLang="en-US" sz="2400" b="1" dirty="0" smtClean="0">
                <a:solidFill>
                  <a:srgbClr val="FF0000"/>
                </a:solidFill>
                <a:latin typeface="隶书" panose="02010509060101010101" pitchFamily="49" charset="-122"/>
                <a:ea typeface="隶书" panose="02010509060101010101" pitchFamily="49" charset="-122"/>
              </a:rPr>
              <a:t>球数和两种空隙数间的关系：</a:t>
            </a:r>
            <a:br>
              <a:rPr lang="zh-CN" altLang="en-US" sz="2400" b="1" dirty="0" smtClean="0">
                <a:latin typeface="隶书" panose="02010509060101010101" pitchFamily="49" charset="-122"/>
                <a:ea typeface="隶书" panose="02010509060101010101" pitchFamily="49" charset="-122"/>
              </a:rPr>
            </a:br>
            <a:r>
              <a:rPr lang="zh-CN" altLang="en-US" sz="2400" b="1" dirty="0" smtClean="0">
                <a:latin typeface="隶书" panose="02010509060101010101" pitchFamily="49" charset="-122"/>
                <a:ea typeface="隶书" panose="02010509060101010101" pitchFamily="49" charset="-122"/>
              </a:rPr>
              <a:t>   </a:t>
            </a:r>
            <a:r>
              <a:rPr lang="zh-CN" altLang="en-US" sz="2400" b="1" dirty="0" smtClean="0">
                <a:solidFill>
                  <a:srgbClr val="000000"/>
                </a:solidFill>
                <a:latin typeface="隶书" panose="02010509060101010101" pitchFamily="49" charset="-122"/>
                <a:ea typeface="隶书" panose="02010509060101010101" pitchFamily="49" charset="-122"/>
              </a:rPr>
              <a:t>按六方密堆中任一第二层球考虑，一、二层间有紧靠它的</a:t>
            </a:r>
            <a:r>
              <a:rPr lang="en-US" altLang="zh-CN" sz="2400" b="1" dirty="0" smtClean="0">
                <a:solidFill>
                  <a:srgbClr val="000000"/>
                </a:solidFill>
                <a:latin typeface="隶书" panose="02010509060101010101" pitchFamily="49" charset="-122"/>
                <a:ea typeface="隶书" panose="02010509060101010101" pitchFamily="49" charset="-122"/>
              </a:rPr>
              <a:t>3</a:t>
            </a:r>
            <a:r>
              <a:rPr lang="zh-CN" altLang="en-US" sz="2400" b="1" dirty="0" smtClean="0">
                <a:solidFill>
                  <a:srgbClr val="000000"/>
                </a:solidFill>
                <a:latin typeface="隶书" panose="02010509060101010101" pitchFamily="49" charset="-122"/>
                <a:ea typeface="隶书" panose="02010509060101010101" pitchFamily="49" charset="-122"/>
              </a:rPr>
              <a:t>个八面体空隙和</a:t>
            </a:r>
            <a:r>
              <a:rPr lang="en-US" altLang="zh-CN" sz="2400" b="1" dirty="0" smtClean="0">
                <a:solidFill>
                  <a:srgbClr val="000000"/>
                </a:solidFill>
                <a:latin typeface="隶书" panose="02010509060101010101" pitchFamily="49" charset="-122"/>
                <a:ea typeface="隶书" panose="02010509060101010101" pitchFamily="49" charset="-122"/>
              </a:rPr>
              <a:t>4</a:t>
            </a:r>
            <a:r>
              <a:rPr lang="zh-CN" altLang="en-US" sz="2400" b="1" dirty="0" smtClean="0">
                <a:solidFill>
                  <a:srgbClr val="000000"/>
                </a:solidFill>
                <a:latin typeface="隶书" panose="02010509060101010101" pitchFamily="49" charset="-122"/>
                <a:ea typeface="隶书" panose="02010509060101010101" pitchFamily="49" charset="-122"/>
              </a:rPr>
              <a:t>个四面体空隙。二、三层间也有紧靠它的</a:t>
            </a:r>
            <a:r>
              <a:rPr lang="en-US" altLang="zh-CN" sz="2400" b="1" dirty="0" smtClean="0">
                <a:solidFill>
                  <a:srgbClr val="000000"/>
                </a:solidFill>
                <a:latin typeface="隶书" panose="02010509060101010101" pitchFamily="49" charset="-122"/>
                <a:ea typeface="隶书" panose="02010509060101010101" pitchFamily="49" charset="-122"/>
              </a:rPr>
              <a:t>3</a:t>
            </a:r>
            <a:r>
              <a:rPr lang="zh-CN" altLang="en-US" sz="2400" b="1" dirty="0" smtClean="0">
                <a:solidFill>
                  <a:srgbClr val="000000"/>
                </a:solidFill>
                <a:latin typeface="隶书" panose="02010509060101010101" pitchFamily="49" charset="-122"/>
                <a:ea typeface="隶书" panose="02010509060101010101" pitchFamily="49" charset="-122"/>
              </a:rPr>
              <a:t>个八面体空隙和</a:t>
            </a:r>
            <a:r>
              <a:rPr lang="en-US" altLang="zh-CN" sz="2400" b="1" dirty="0" smtClean="0">
                <a:solidFill>
                  <a:srgbClr val="000000"/>
                </a:solidFill>
                <a:latin typeface="隶书" panose="02010509060101010101" pitchFamily="49" charset="-122"/>
                <a:ea typeface="隶书" panose="02010509060101010101" pitchFamily="49" charset="-122"/>
              </a:rPr>
              <a:t>4</a:t>
            </a:r>
            <a:r>
              <a:rPr lang="zh-CN" altLang="en-US" sz="2400" b="1" dirty="0" smtClean="0">
                <a:solidFill>
                  <a:srgbClr val="000000"/>
                </a:solidFill>
                <a:latin typeface="隶书" panose="02010509060101010101" pitchFamily="49" charset="-122"/>
                <a:ea typeface="隶书" panose="02010509060101010101" pitchFamily="49" charset="-122"/>
              </a:rPr>
              <a:t>个四面体空隙。即每一个球的周围共有</a:t>
            </a:r>
            <a:r>
              <a:rPr lang="en-US" altLang="zh-CN" sz="2400" b="1" dirty="0" smtClean="0">
                <a:solidFill>
                  <a:srgbClr val="000000"/>
                </a:solidFill>
                <a:latin typeface="隶书" panose="02010509060101010101" pitchFamily="49" charset="-122"/>
                <a:ea typeface="隶书" panose="02010509060101010101" pitchFamily="49" charset="-122"/>
              </a:rPr>
              <a:t>6</a:t>
            </a:r>
            <a:r>
              <a:rPr lang="zh-CN" altLang="en-US" sz="2400" b="1" dirty="0" smtClean="0">
                <a:solidFill>
                  <a:srgbClr val="000000"/>
                </a:solidFill>
                <a:latin typeface="隶书" panose="02010509060101010101" pitchFamily="49" charset="-122"/>
                <a:ea typeface="隶书" panose="02010509060101010101" pitchFamily="49" charset="-122"/>
              </a:rPr>
              <a:t>个八面体空隙和</a:t>
            </a:r>
            <a:r>
              <a:rPr lang="en-US" altLang="zh-CN" sz="2400" b="1" dirty="0" smtClean="0">
                <a:solidFill>
                  <a:srgbClr val="000000"/>
                </a:solidFill>
                <a:latin typeface="隶书" panose="02010509060101010101" pitchFamily="49" charset="-122"/>
                <a:ea typeface="隶书" panose="02010509060101010101" pitchFamily="49" charset="-122"/>
              </a:rPr>
              <a:t>8</a:t>
            </a:r>
            <a:r>
              <a:rPr lang="zh-CN" altLang="en-US" sz="2400" b="1" dirty="0" smtClean="0">
                <a:solidFill>
                  <a:srgbClr val="000000"/>
                </a:solidFill>
                <a:latin typeface="隶书" panose="02010509060101010101" pitchFamily="49" charset="-122"/>
                <a:ea typeface="隶书" panose="02010509060101010101" pitchFamily="49" charset="-122"/>
              </a:rPr>
              <a:t>个四面体空隙。</a:t>
            </a:r>
            <a:br>
              <a:rPr lang="zh-CN" altLang="en-US" sz="2400" b="1" dirty="0" smtClean="0">
                <a:latin typeface="隶书" panose="02010509060101010101" pitchFamily="49" charset="-122"/>
                <a:ea typeface="隶书" panose="02010509060101010101" pitchFamily="49" charset="-122"/>
              </a:rPr>
            </a:br>
            <a:r>
              <a:rPr lang="zh-CN" altLang="en-US" sz="2400" b="1" dirty="0" smtClean="0">
                <a:solidFill>
                  <a:srgbClr val="6600FF"/>
                </a:solidFill>
                <a:latin typeface="隶书" panose="02010509060101010101" pitchFamily="49" charset="-122"/>
                <a:ea typeface="隶书" panose="02010509060101010101" pitchFamily="49" charset="-122"/>
              </a:rPr>
              <a:t>属于一个球的八面体空隙为：</a:t>
            </a:r>
            <a:r>
              <a:rPr lang="en-US" altLang="zh-CN" sz="2400" b="1" dirty="0" smtClean="0">
                <a:solidFill>
                  <a:srgbClr val="6600FF"/>
                </a:solidFill>
                <a:latin typeface="隶书" panose="02010509060101010101" pitchFamily="49" charset="-122"/>
                <a:ea typeface="隶书" panose="02010509060101010101" pitchFamily="49" charset="-122"/>
              </a:rPr>
              <a:t>6×1/6 = 1 </a:t>
            </a:r>
            <a:r>
              <a:rPr lang="zh-CN" altLang="en-US" sz="2400" b="1" dirty="0" smtClean="0">
                <a:solidFill>
                  <a:srgbClr val="6600FF"/>
                </a:solidFill>
                <a:latin typeface="隶书" panose="02010509060101010101" pitchFamily="49" charset="-122"/>
                <a:ea typeface="隶书" panose="02010509060101010101" pitchFamily="49" charset="-122"/>
              </a:rPr>
              <a:t>个；</a:t>
            </a:r>
            <a:br>
              <a:rPr lang="zh-CN" altLang="en-US" sz="2400" b="1" dirty="0" smtClean="0">
                <a:solidFill>
                  <a:srgbClr val="6600FF"/>
                </a:solidFill>
                <a:latin typeface="隶书" panose="02010509060101010101" pitchFamily="49" charset="-122"/>
                <a:ea typeface="隶书" panose="02010509060101010101" pitchFamily="49" charset="-122"/>
              </a:rPr>
            </a:br>
            <a:r>
              <a:rPr lang="zh-CN" altLang="en-US" sz="2400" b="1" dirty="0" smtClean="0">
                <a:solidFill>
                  <a:srgbClr val="6600FF"/>
                </a:solidFill>
                <a:latin typeface="隶书" panose="02010509060101010101" pitchFamily="49" charset="-122"/>
                <a:ea typeface="隶书" panose="02010509060101010101" pitchFamily="49" charset="-122"/>
              </a:rPr>
              <a:t>            四面体空隙为：</a:t>
            </a:r>
            <a:r>
              <a:rPr lang="en-US" altLang="zh-CN" sz="2400" b="1" dirty="0" smtClean="0">
                <a:solidFill>
                  <a:srgbClr val="6600FF"/>
                </a:solidFill>
                <a:latin typeface="隶书" panose="02010509060101010101" pitchFamily="49" charset="-122"/>
                <a:ea typeface="隶书" panose="02010509060101010101" pitchFamily="49" charset="-122"/>
              </a:rPr>
              <a:t>8×1/4 = 2 </a:t>
            </a:r>
            <a:r>
              <a:rPr lang="zh-CN" altLang="en-US" sz="2400" b="1" dirty="0" smtClean="0">
                <a:solidFill>
                  <a:srgbClr val="6600FF"/>
                </a:solidFill>
                <a:latin typeface="隶书" panose="02010509060101010101" pitchFamily="49" charset="-122"/>
                <a:ea typeface="隶书" panose="02010509060101010101" pitchFamily="49" charset="-122"/>
              </a:rPr>
              <a:t>个。</a:t>
            </a:r>
            <a:br>
              <a:rPr lang="zh-CN" altLang="en-US" sz="2400" b="1" dirty="0" smtClean="0">
                <a:solidFill>
                  <a:srgbClr val="6600FF"/>
                </a:solidFill>
                <a:latin typeface="隶书" panose="02010509060101010101" pitchFamily="49" charset="-122"/>
                <a:ea typeface="隶书" panose="02010509060101010101" pitchFamily="49" charset="-122"/>
              </a:rPr>
            </a:br>
            <a:br>
              <a:rPr lang="zh-CN" altLang="en-US" sz="2400" b="1" dirty="0" smtClean="0">
                <a:solidFill>
                  <a:srgbClr val="6600FF"/>
                </a:solidFill>
                <a:latin typeface="隶书" panose="02010509060101010101" pitchFamily="49" charset="-122"/>
                <a:ea typeface="隶书" panose="02010509060101010101" pitchFamily="49" charset="-122"/>
              </a:rPr>
            </a:br>
            <a:r>
              <a:rPr lang="zh-CN" altLang="en-US" sz="2400" b="1" u="sng" dirty="0" smtClean="0">
                <a:solidFill>
                  <a:srgbClr val="FF0000"/>
                </a:solidFill>
                <a:latin typeface="隶书" panose="02010509060101010101" pitchFamily="49" charset="-122"/>
                <a:ea typeface="隶书" panose="02010509060101010101" pitchFamily="49" charset="-122"/>
              </a:rPr>
              <a:t>推广结论：若有</a:t>
            </a:r>
            <a:r>
              <a:rPr lang="en-US" altLang="zh-CN" sz="2400" b="1" u="sng" dirty="0" smtClean="0">
                <a:solidFill>
                  <a:srgbClr val="FF0000"/>
                </a:solidFill>
                <a:latin typeface="隶书" panose="02010509060101010101" pitchFamily="49" charset="-122"/>
                <a:ea typeface="隶书" panose="02010509060101010101" pitchFamily="49" charset="-122"/>
              </a:rPr>
              <a:t>n</a:t>
            </a:r>
            <a:r>
              <a:rPr lang="zh-CN" altLang="en-US" sz="2400" b="1" u="sng" dirty="0" smtClean="0">
                <a:solidFill>
                  <a:srgbClr val="FF0000"/>
                </a:solidFill>
                <a:latin typeface="隶书" panose="02010509060101010101" pitchFamily="49" charset="-122"/>
                <a:ea typeface="隶书" panose="02010509060101010101" pitchFamily="49" charset="-122"/>
              </a:rPr>
              <a:t>个等大球体作最紧密堆积，将有</a:t>
            </a:r>
            <a:r>
              <a:rPr lang="en-US" altLang="zh-CN" sz="2400" b="1" u="sng" dirty="0" smtClean="0">
                <a:solidFill>
                  <a:srgbClr val="FF0000"/>
                </a:solidFill>
                <a:latin typeface="隶书" panose="02010509060101010101" pitchFamily="49" charset="-122"/>
                <a:ea typeface="隶书" panose="02010509060101010101" pitchFamily="49" charset="-122"/>
              </a:rPr>
              <a:t>n</a:t>
            </a:r>
            <a:r>
              <a:rPr lang="zh-CN" altLang="en-US" sz="2400" b="1" u="sng" dirty="0" smtClean="0">
                <a:solidFill>
                  <a:srgbClr val="FF0000"/>
                </a:solidFill>
                <a:latin typeface="隶书" panose="02010509060101010101" pitchFamily="49" charset="-122"/>
                <a:ea typeface="隶书" panose="02010509060101010101" pitchFamily="49" charset="-122"/>
              </a:rPr>
              <a:t>个八面体空隙和</a:t>
            </a:r>
            <a:r>
              <a:rPr lang="en-US" altLang="zh-CN" sz="2400" b="1" u="sng" dirty="0" smtClean="0">
                <a:solidFill>
                  <a:srgbClr val="FF0000"/>
                </a:solidFill>
                <a:latin typeface="隶书" panose="02010509060101010101" pitchFamily="49" charset="-122"/>
                <a:ea typeface="隶书" panose="02010509060101010101" pitchFamily="49" charset="-122"/>
              </a:rPr>
              <a:t>2n</a:t>
            </a:r>
            <a:r>
              <a:rPr lang="zh-CN" altLang="en-US" sz="2400" b="1" u="sng" dirty="0" smtClean="0">
                <a:solidFill>
                  <a:srgbClr val="FF0000"/>
                </a:solidFill>
                <a:latin typeface="隶书" panose="02010509060101010101" pitchFamily="49" charset="-122"/>
                <a:ea typeface="隶书" panose="02010509060101010101" pitchFamily="49" charset="-122"/>
              </a:rPr>
              <a:t>个四面体空隙存在</a:t>
            </a:r>
            <a:r>
              <a:rPr lang="zh-CN" altLang="en-US" sz="2400" b="1" dirty="0" smtClean="0">
                <a:solidFill>
                  <a:srgbClr val="FF0000"/>
                </a:solidFill>
                <a:latin typeface="隶书" panose="02010509060101010101" pitchFamily="49" charset="-122"/>
                <a:ea typeface="隶书" panose="02010509060101010101" pitchFamily="49" charset="-122"/>
              </a:rPr>
              <a:t>。</a:t>
            </a:r>
            <a:br>
              <a:rPr lang="zh-CN" altLang="en-US" sz="2400" b="1" dirty="0" smtClean="0">
                <a:solidFill>
                  <a:srgbClr val="FF0000"/>
                </a:solidFill>
                <a:latin typeface="隶书" panose="02010509060101010101" pitchFamily="49" charset="-122"/>
                <a:ea typeface="隶书" panose="02010509060101010101" pitchFamily="49" charset="-122"/>
              </a:rPr>
            </a:br>
            <a:br>
              <a:rPr lang="zh-CN" altLang="en-US" sz="2400" b="1" dirty="0" smtClean="0">
                <a:solidFill>
                  <a:schemeClr val="accent2"/>
                </a:solidFill>
                <a:latin typeface="隶书" panose="02010509060101010101" pitchFamily="49" charset="-122"/>
                <a:ea typeface="隶书" panose="02010509060101010101" pitchFamily="49" charset="-122"/>
              </a:rPr>
            </a:br>
            <a:r>
              <a:rPr lang="zh-CN" altLang="en-US" sz="2400" b="1" u="sng" dirty="0" smtClean="0">
                <a:solidFill>
                  <a:srgbClr val="6600FF"/>
                </a:solidFill>
                <a:latin typeface="隶书" panose="02010509060101010101" pitchFamily="49" charset="-122"/>
                <a:ea typeface="隶书" panose="02010509060101010101" pitchFamily="49" charset="-122"/>
              </a:rPr>
              <a:t>对立方紧密堆积，结论相同</a:t>
            </a:r>
            <a:r>
              <a:rPr lang="zh-CN" altLang="en-US" sz="2400" b="1" dirty="0" smtClean="0">
                <a:solidFill>
                  <a:srgbClr val="6600FF"/>
                </a:solidFill>
                <a:latin typeface="隶书" panose="02010509060101010101" pitchFamily="49" charset="-122"/>
                <a:ea typeface="隶书" panose="02010509060101010101" pitchFamily="49" charset="-122"/>
              </a:rPr>
              <a:t>。</a:t>
            </a:r>
            <a:r>
              <a:rPr lang="zh-CN" altLang="en-US" dirty="0" smtClean="0">
                <a:latin typeface="隶书" panose="02010509060101010101" pitchFamily="49" charset="-122"/>
                <a:ea typeface="隶书" panose="02010509060101010101" pitchFamily="49" charset="-122"/>
              </a:rPr>
              <a:t> </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8" name="文本框 30786"/>
          <p:cNvSpPr txBox="1"/>
          <p:nvPr/>
        </p:nvSpPr>
        <p:spPr>
          <a:xfrm>
            <a:off x="1142976" y="1142990"/>
            <a:ext cx="1716087" cy="762000"/>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r>
              <a:rPr lang="zh-CN" altLang="en-US" sz="2400" b="1" u="none" dirty="0">
                <a:solidFill>
                  <a:srgbClr val="000000"/>
                </a:solidFill>
                <a:latin typeface="Times New Roman" panose="02020603050405020304" pitchFamily="18" charset="0"/>
              </a:rPr>
              <a:t>八面体间隙</a:t>
            </a:r>
            <a:endParaRPr lang="zh-CN" altLang="en-US" sz="2400" b="1" u="none" dirty="0">
              <a:solidFill>
                <a:srgbClr val="000000"/>
              </a:solidFill>
              <a:latin typeface="Times New Roman" panose="02020603050405020304" pitchFamily="18" charset="0"/>
            </a:endParaRPr>
          </a:p>
          <a:p>
            <a:pPr algn="ctr"/>
            <a:endParaRPr lang="en-US" altLang="zh-CN" sz="2000" b="1" u="none" dirty="0">
              <a:solidFill>
                <a:srgbClr val="000000"/>
              </a:solidFill>
              <a:latin typeface="Times New Roman" panose="02020603050405020304" pitchFamily="18" charset="0"/>
              <a:ea typeface="楷体_GB2312" pitchFamily="49" charset="-122"/>
            </a:endParaRPr>
          </a:p>
        </p:txBody>
      </p:sp>
      <p:sp>
        <p:nvSpPr>
          <p:cNvPr id="9" name="文本框 30787"/>
          <p:cNvSpPr txBox="1"/>
          <p:nvPr/>
        </p:nvSpPr>
        <p:spPr>
          <a:xfrm>
            <a:off x="3929058" y="1071552"/>
            <a:ext cx="5040312" cy="762000"/>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r>
              <a:rPr lang="zh-CN" altLang="en-US" sz="2400" b="1" u="none" dirty="0">
                <a:solidFill>
                  <a:srgbClr val="000000"/>
                </a:solidFill>
                <a:latin typeface="Times New Roman" panose="02020603050405020304" pitchFamily="18" charset="0"/>
              </a:rPr>
              <a:t>四面体间隙</a:t>
            </a:r>
            <a:endParaRPr lang="zh-CN" altLang="en-US" sz="2400" b="1" u="none" dirty="0">
              <a:solidFill>
                <a:srgbClr val="000000"/>
              </a:solidFill>
              <a:latin typeface="Times New Roman" panose="02020603050405020304" pitchFamily="18" charset="0"/>
            </a:endParaRPr>
          </a:p>
          <a:p>
            <a:pPr algn="ctr"/>
            <a:r>
              <a:rPr lang="zh-CN" altLang="en-US" sz="2000" b="1" u="none" dirty="0">
                <a:solidFill>
                  <a:srgbClr val="000000"/>
                </a:solidFill>
                <a:latin typeface="Times New Roman" panose="02020603050405020304" pitchFamily="18" charset="0"/>
                <a:ea typeface="楷体_GB2312" pitchFamily="49" charset="-122"/>
              </a:rPr>
              <a:t>（三个相邻面心与顶角组成的四面体中心）</a:t>
            </a:r>
            <a:endParaRPr lang="zh-CN" altLang="en-US" sz="2000" b="1" u="none" dirty="0">
              <a:solidFill>
                <a:srgbClr val="000000"/>
              </a:solidFill>
              <a:latin typeface="Times New Roman" panose="02020603050405020304" pitchFamily="18" charset="0"/>
              <a:ea typeface="楷体_GB2312" pitchFamily="49" charset="-122"/>
            </a:endParaRPr>
          </a:p>
        </p:txBody>
      </p:sp>
      <p:sp>
        <p:nvSpPr>
          <p:cNvPr id="10" name="文本框 30832"/>
          <p:cNvSpPr txBox="1"/>
          <p:nvPr/>
        </p:nvSpPr>
        <p:spPr>
          <a:xfrm>
            <a:off x="503238" y="571486"/>
            <a:ext cx="4635500" cy="519112"/>
          </a:xfrm>
          <a:prstGeom prst="rect">
            <a:avLst/>
          </a:prstGeom>
          <a:noFill/>
          <a:ln w="12700">
            <a:noFill/>
          </a:ln>
        </p:spPr>
        <p:txBody>
          <a:bodyPr>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800" u="none" dirty="0">
                <a:latin typeface="宋体" panose="02010600030101010101" pitchFamily="2" charset="-122"/>
              </a:rPr>
              <a:t> </a:t>
            </a:r>
            <a:r>
              <a:rPr lang="en-US" altLang="zh-CN" sz="2800" b="1" u="none" dirty="0">
                <a:solidFill>
                  <a:srgbClr val="FF0000"/>
                </a:solidFill>
                <a:latin typeface="宋体" panose="02010600030101010101" pitchFamily="2" charset="-122"/>
              </a:rPr>
              <a:t>1)</a:t>
            </a:r>
            <a:r>
              <a:rPr lang="en-US" altLang="zh-CN" sz="2800" b="1" u="none" dirty="0">
                <a:latin typeface="宋体" panose="02010600030101010101" pitchFamily="2" charset="-122"/>
              </a:rPr>
              <a:t> </a:t>
            </a:r>
            <a:r>
              <a:rPr lang="zh-CN" altLang="en-US" sz="2800" b="1" u="none" dirty="0">
                <a:solidFill>
                  <a:srgbClr val="FF0000"/>
                </a:solidFill>
                <a:latin typeface="宋体" panose="02010600030101010101" pitchFamily="2" charset="-122"/>
              </a:rPr>
              <a:t>面心立方结构</a:t>
            </a:r>
            <a:r>
              <a:rPr lang="zh-CN" altLang="en-US" u="none" dirty="0">
                <a:latin typeface="Arial" panose="020B0604020202020204" pitchFamily="34" charset="0"/>
              </a:rPr>
              <a:t>   </a:t>
            </a:r>
            <a:r>
              <a:rPr lang="en-US" altLang="zh-CN" sz="2400" b="1" u="none" dirty="0">
                <a:solidFill>
                  <a:srgbClr val="FF0000"/>
                </a:solidFill>
                <a:latin typeface="Arial" panose="020B0604020202020204" pitchFamily="34" charset="0"/>
              </a:rPr>
              <a:t>(fcc)</a:t>
            </a:r>
            <a:endParaRPr lang="en-US" altLang="zh-CN" sz="2400" b="1" u="none">
              <a:solidFill>
                <a:srgbClr val="FF0000"/>
              </a:solidFill>
              <a:latin typeface="Arial" panose="020B0604020202020204" pitchFamily="34" charset="0"/>
            </a:endParaRPr>
          </a:p>
        </p:txBody>
      </p:sp>
      <p:pic>
        <p:nvPicPr>
          <p:cNvPr id="11266" name="Picture 2"/>
          <p:cNvPicPr>
            <a:picLocks noChangeAspect="1" noChangeArrowheads="1"/>
          </p:cNvPicPr>
          <p:nvPr/>
        </p:nvPicPr>
        <p:blipFill>
          <a:blip r:embed="rId3" cstate="print">
            <a:lum contrast="-5000"/>
          </a:blip>
          <a:srcRect/>
          <a:stretch>
            <a:fillRect/>
          </a:stretch>
        </p:blipFill>
        <p:spPr bwMode="auto">
          <a:xfrm>
            <a:off x="714348" y="1692066"/>
            <a:ext cx="2786082" cy="3081079"/>
          </a:xfrm>
          <a:prstGeom prst="rect">
            <a:avLst/>
          </a:prstGeom>
          <a:noFill/>
          <a:ln w="9525">
            <a:noFill/>
            <a:miter lim="800000"/>
            <a:headEnd/>
            <a:tailEnd/>
          </a:ln>
          <a:effectLst/>
        </p:spPr>
      </p:pic>
      <p:pic>
        <p:nvPicPr>
          <p:cNvPr id="11267" name="Picture 3"/>
          <p:cNvPicPr>
            <a:picLocks noChangeAspect="1" noChangeArrowheads="1"/>
          </p:cNvPicPr>
          <p:nvPr/>
        </p:nvPicPr>
        <p:blipFill>
          <a:blip r:embed="rId4" cstate="print"/>
          <a:srcRect/>
          <a:stretch>
            <a:fillRect/>
          </a:stretch>
        </p:blipFill>
        <p:spPr bwMode="auto">
          <a:xfrm>
            <a:off x="5000628" y="1785932"/>
            <a:ext cx="2928958" cy="314639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pic>
        <p:nvPicPr>
          <p:cNvPr id="37" name="对象 34820"/>
          <p:cNvPicPr>
            <a:picLocks noChangeAspect="1"/>
          </p:cNvPicPr>
          <p:nvPr/>
        </p:nvPicPr>
        <p:blipFill>
          <a:blip r:embed="rId3" cstate="print"/>
          <a:stretch>
            <a:fillRect/>
          </a:stretch>
        </p:blipFill>
        <p:spPr>
          <a:xfrm>
            <a:off x="5572132" y="1142990"/>
            <a:ext cx="3095625" cy="751840"/>
          </a:xfrm>
          <a:prstGeom prst="rect">
            <a:avLst/>
          </a:prstGeom>
          <a:solidFill>
            <a:srgbClr val="DDDDDD"/>
          </a:solidFill>
          <a:ln w="38100">
            <a:noFill/>
            <a:miter/>
          </a:ln>
        </p:spPr>
      </p:pic>
      <p:sp>
        <p:nvSpPr>
          <p:cNvPr id="38" name="文本框 34821"/>
          <p:cNvSpPr txBox="1">
            <a:spLocks noChangeAspect="1"/>
          </p:cNvSpPr>
          <p:nvPr/>
        </p:nvSpPr>
        <p:spPr>
          <a:xfrm>
            <a:off x="1285852" y="714362"/>
            <a:ext cx="2328862" cy="365760"/>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r>
              <a:rPr lang="zh-CN" altLang="en-US" sz="2400" b="1" u="none" dirty="0">
                <a:solidFill>
                  <a:srgbClr val="000000"/>
                </a:solidFill>
                <a:latin typeface="Times New Roman" panose="02020603050405020304" pitchFamily="18" charset="0"/>
                <a:ea typeface="楷体_GB2312" pitchFamily="49" charset="-122"/>
              </a:rPr>
              <a:t>四面体间隙大小</a:t>
            </a:r>
            <a:endParaRPr lang="zh-CN" altLang="en-US" sz="2400" b="1" u="none" dirty="0">
              <a:solidFill>
                <a:srgbClr val="000000"/>
              </a:solidFill>
              <a:latin typeface="Times New Roman" panose="02020603050405020304" pitchFamily="18" charset="0"/>
              <a:ea typeface="楷体_GB2312" pitchFamily="49" charset="-122"/>
            </a:endParaRPr>
          </a:p>
        </p:txBody>
      </p:sp>
      <p:sp>
        <p:nvSpPr>
          <p:cNvPr id="39" name="文本框 34823"/>
          <p:cNvSpPr txBox="1">
            <a:spLocks noChangeAspect="1"/>
          </p:cNvSpPr>
          <p:nvPr/>
        </p:nvSpPr>
        <p:spPr>
          <a:xfrm>
            <a:off x="4286248" y="1785932"/>
            <a:ext cx="3857652" cy="1069332"/>
          </a:xfrm>
          <a:prstGeom prst="rect">
            <a:avLst/>
          </a:prstGeom>
          <a:noFill/>
          <a:ln w="19050">
            <a:noFill/>
          </a:ln>
        </p:spPr>
        <p:txBody>
          <a:bodyPr wrap="squar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nSpc>
                <a:spcPct val="140000"/>
              </a:lnSpc>
            </a:pPr>
            <a:r>
              <a:rPr lang="en-US" altLang="zh-CN" sz="2400" u="none" dirty="0">
                <a:solidFill>
                  <a:srgbClr val="000000"/>
                </a:solidFill>
                <a:latin typeface="Times New Roman" panose="02020603050405020304" pitchFamily="18" charset="0"/>
              </a:rPr>
              <a:t>Center of tetrahedron, o,</a:t>
            </a:r>
            <a:endParaRPr lang="en-US" altLang="zh-CN" sz="2400" u="none" dirty="0">
              <a:solidFill>
                <a:srgbClr val="000000"/>
              </a:solidFill>
              <a:latin typeface="Times New Roman" panose="02020603050405020304" pitchFamily="18" charset="0"/>
            </a:endParaRPr>
          </a:p>
          <a:p>
            <a:pPr>
              <a:lnSpc>
                <a:spcPct val="140000"/>
              </a:lnSpc>
            </a:pPr>
            <a:r>
              <a:rPr lang="en-US" altLang="zh-CN" sz="2400" u="none" dirty="0">
                <a:solidFill>
                  <a:srgbClr val="000000"/>
                </a:solidFill>
                <a:latin typeface="Times New Roman" panose="02020603050405020304" pitchFamily="18" charset="0"/>
              </a:rPr>
              <a:t>          </a:t>
            </a:r>
            <a:r>
              <a:rPr lang="en-US" altLang="zh-CN" sz="2400" u="none" dirty="0" err="1">
                <a:solidFill>
                  <a:srgbClr val="000000"/>
                </a:solidFill>
                <a:latin typeface="Times New Roman" panose="02020603050405020304" pitchFamily="18" charset="0"/>
              </a:rPr>
              <a:t>o</a:t>
            </a:r>
            <a:r>
              <a:rPr lang="en-US" altLang="zh-CN" sz="2400" i="1" u="none" dirty="0" err="1">
                <a:solidFill>
                  <a:srgbClr val="000000"/>
                </a:solidFill>
                <a:latin typeface="Times New Roman" panose="02020603050405020304" pitchFamily="18" charset="0"/>
              </a:rPr>
              <a:t>D</a:t>
            </a:r>
            <a:r>
              <a:rPr lang="en-US" altLang="zh-CN" sz="2400" i="1" u="none" dirty="0">
                <a:solidFill>
                  <a:srgbClr val="000000"/>
                </a:solidFill>
                <a:latin typeface="Times New Roman" panose="02020603050405020304" pitchFamily="18" charset="0"/>
              </a:rPr>
              <a:t> </a:t>
            </a:r>
            <a:r>
              <a:rPr lang="en-US" altLang="zh-CN" sz="2400" u="none" dirty="0">
                <a:solidFill>
                  <a:srgbClr val="000000"/>
                </a:solidFill>
                <a:latin typeface="Times New Roman" panose="02020603050405020304" pitchFamily="18" charset="0"/>
              </a:rPr>
              <a:t>= (3/4)DE </a:t>
            </a:r>
            <a:endParaRPr lang="en-US" altLang="zh-CN" sz="2400" u="none" dirty="0">
              <a:solidFill>
                <a:srgbClr val="000000"/>
              </a:solidFill>
              <a:latin typeface="Times New Roman" panose="02020603050405020304" pitchFamily="18" charset="0"/>
            </a:endParaRPr>
          </a:p>
        </p:txBody>
      </p:sp>
      <p:pic>
        <p:nvPicPr>
          <p:cNvPr id="40" name="对象 34843"/>
          <p:cNvPicPr>
            <a:picLocks noChangeAspect="1"/>
          </p:cNvPicPr>
          <p:nvPr/>
        </p:nvPicPr>
        <p:blipFill>
          <a:blip r:embed="rId4" cstate="print"/>
          <a:stretch>
            <a:fillRect/>
          </a:stretch>
        </p:blipFill>
        <p:spPr>
          <a:xfrm>
            <a:off x="4429124" y="2857502"/>
            <a:ext cx="3643338" cy="659381"/>
          </a:xfrm>
          <a:prstGeom prst="rect">
            <a:avLst/>
          </a:prstGeom>
          <a:solidFill>
            <a:srgbClr val="DDDDDD"/>
          </a:solidFill>
          <a:ln w="38100">
            <a:noFill/>
            <a:miter/>
          </a:ln>
        </p:spPr>
      </p:pic>
      <p:pic>
        <p:nvPicPr>
          <p:cNvPr id="41" name="对象 34844"/>
          <p:cNvPicPr>
            <a:picLocks noChangeAspect="1"/>
          </p:cNvPicPr>
          <p:nvPr/>
        </p:nvPicPr>
        <p:blipFill>
          <a:blip r:embed="rId5" cstate="print"/>
          <a:stretch>
            <a:fillRect/>
          </a:stretch>
        </p:blipFill>
        <p:spPr>
          <a:xfrm>
            <a:off x="4143372" y="3571882"/>
            <a:ext cx="4500594" cy="657283"/>
          </a:xfrm>
          <a:prstGeom prst="rect">
            <a:avLst/>
          </a:prstGeom>
          <a:solidFill>
            <a:srgbClr val="DDDDDD"/>
          </a:solidFill>
          <a:ln w="38100">
            <a:noFill/>
            <a:miter/>
          </a:ln>
        </p:spPr>
      </p:pic>
      <p:pic>
        <p:nvPicPr>
          <p:cNvPr id="42" name="对象 34845"/>
          <p:cNvPicPr>
            <a:picLocks noChangeAspect="1"/>
          </p:cNvPicPr>
          <p:nvPr/>
        </p:nvPicPr>
        <p:blipFill>
          <a:blip r:embed="rId6" cstate="print"/>
          <a:stretch>
            <a:fillRect/>
          </a:stretch>
        </p:blipFill>
        <p:spPr>
          <a:xfrm>
            <a:off x="3428992" y="1357304"/>
            <a:ext cx="1684338" cy="441960"/>
          </a:xfrm>
          <a:prstGeom prst="rect">
            <a:avLst/>
          </a:prstGeom>
          <a:solidFill>
            <a:srgbClr val="DDDDDD"/>
          </a:solidFill>
          <a:ln w="38100">
            <a:noFill/>
            <a:miter/>
          </a:ln>
        </p:spPr>
      </p:pic>
      <p:pic>
        <p:nvPicPr>
          <p:cNvPr id="43" name="对象 34854"/>
          <p:cNvPicPr>
            <a:picLocks noChangeAspect="1"/>
          </p:cNvPicPr>
          <p:nvPr/>
        </p:nvPicPr>
        <p:blipFill>
          <a:blip r:embed="rId7" cstate="print"/>
          <a:stretch>
            <a:fillRect/>
          </a:stretch>
        </p:blipFill>
        <p:spPr>
          <a:xfrm>
            <a:off x="4786314" y="4286262"/>
            <a:ext cx="3106247" cy="788352"/>
          </a:xfrm>
          <a:prstGeom prst="rect">
            <a:avLst/>
          </a:prstGeom>
          <a:solidFill>
            <a:srgbClr val="FFFF66"/>
          </a:solidFill>
          <a:ln w="19050" cap="flat" cmpd="sng">
            <a:solidFill>
              <a:srgbClr val="FF0000"/>
            </a:solidFill>
            <a:prstDash val="solid"/>
            <a:miter/>
            <a:headEnd type="none" w="med" len="med"/>
            <a:tailEnd type="none" w="med" len="med"/>
          </a:ln>
        </p:spPr>
      </p:pic>
      <p:sp>
        <p:nvSpPr>
          <p:cNvPr id="44" name="文本框 34856"/>
          <p:cNvSpPr txBox="1">
            <a:spLocks noChangeAspect="1"/>
          </p:cNvSpPr>
          <p:nvPr/>
        </p:nvSpPr>
        <p:spPr>
          <a:xfrm>
            <a:off x="700064" y="623875"/>
            <a:ext cx="681038" cy="463550"/>
          </a:xfrm>
          <a:prstGeom prst="rect">
            <a:avLst/>
          </a:prstGeom>
          <a:noFill/>
          <a:ln w="1905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3200" u="none" dirty="0">
                <a:solidFill>
                  <a:srgbClr val="3333CC"/>
                </a:solidFill>
                <a:latin typeface="Times New Roman" panose="02020603050405020304" pitchFamily="18" charset="0"/>
              </a:rPr>
              <a:t>fcc</a:t>
            </a:r>
            <a:endParaRPr lang="en-US" altLang="zh-CN" sz="3200" u="none" dirty="0">
              <a:solidFill>
                <a:srgbClr val="3333CC"/>
              </a:solidFill>
              <a:latin typeface="Times New Roman" panose="02020603050405020304" pitchFamily="18" charset="0"/>
            </a:endParaRPr>
          </a:p>
        </p:txBody>
      </p:sp>
      <p:pic>
        <p:nvPicPr>
          <p:cNvPr id="12290" name="Picture 2"/>
          <p:cNvPicPr>
            <a:picLocks noChangeAspect="1" noChangeArrowheads="1"/>
          </p:cNvPicPr>
          <p:nvPr/>
        </p:nvPicPr>
        <p:blipFill>
          <a:blip r:embed="rId8" cstate="print"/>
          <a:srcRect/>
          <a:stretch>
            <a:fillRect/>
          </a:stretch>
        </p:blipFill>
        <p:spPr bwMode="auto">
          <a:xfrm>
            <a:off x="1214414" y="3214692"/>
            <a:ext cx="1857388" cy="1698183"/>
          </a:xfrm>
          <a:prstGeom prst="rect">
            <a:avLst/>
          </a:prstGeom>
          <a:noFill/>
          <a:ln w="9525">
            <a:noFill/>
            <a:miter lim="800000"/>
            <a:headEnd/>
            <a:tailEnd/>
          </a:ln>
          <a:effectLst/>
        </p:spPr>
      </p:pic>
      <p:pic>
        <p:nvPicPr>
          <p:cNvPr id="12291" name="Picture 3"/>
          <p:cNvPicPr>
            <a:picLocks noChangeAspect="1" noChangeArrowheads="1"/>
          </p:cNvPicPr>
          <p:nvPr/>
        </p:nvPicPr>
        <p:blipFill>
          <a:blip r:embed="rId9" cstate="print"/>
          <a:srcRect/>
          <a:stretch>
            <a:fillRect/>
          </a:stretch>
        </p:blipFill>
        <p:spPr bwMode="auto">
          <a:xfrm>
            <a:off x="1071538" y="1142990"/>
            <a:ext cx="2209547" cy="2071703"/>
          </a:xfrm>
          <a:prstGeom prst="rect">
            <a:avLst/>
          </a:prstGeom>
          <a:noFill/>
          <a:ln w="9525">
            <a:noFill/>
            <a:miter lim="800000"/>
            <a:headEnd/>
            <a:tailEnd/>
          </a:ln>
          <a:effectLst/>
        </p:spPr>
      </p:pic>
      <p:sp>
        <p:nvSpPr>
          <p:cNvPr id="2" name="文本框 1"/>
          <p:cNvSpPr txBox="1"/>
          <p:nvPr/>
        </p:nvSpPr>
        <p:spPr>
          <a:xfrm>
            <a:off x="8404225" y="2626995"/>
            <a:ext cx="3048000" cy="368300"/>
          </a:xfrm>
          <a:prstGeom prst="rect">
            <a:avLst/>
          </a:prstGeom>
          <a:noFill/>
        </p:spPr>
        <p:txBody>
          <a:bodyPr wrap="square" rtlCol="0">
            <a:spAutoFit/>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pic>
        <p:nvPicPr>
          <p:cNvPr id="13315" name="Picture 3"/>
          <p:cNvPicPr>
            <a:picLocks noChangeAspect="1" noChangeArrowheads="1"/>
          </p:cNvPicPr>
          <p:nvPr/>
        </p:nvPicPr>
        <p:blipFill>
          <a:blip r:embed="rId3" cstate="print"/>
          <a:srcRect/>
          <a:stretch>
            <a:fillRect/>
          </a:stretch>
        </p:blipFill>
        <p:spPr bwMode="auto">
          <a:xfrm>
            <a:off x="4643438" y="642924"/>
            <a:ext cx="4124325" cy="1343025"/>
          </a:xfrm>
          <a:prstGeom prst="rect">
            <a:avLst/>
          </a:prstGeom>
          <a:noFill/>
          <a:ln w="9525">
            <a:noFill/>
            <a:miter lim="800000"/>
            <a:headEnd/>
            <a:tailEnd/>
          </a:ln>
          <a:effectLst/>
        </p:spPr>
      </p:pic>
      <p:grpSp>
        <p:nvGrpSpPr>
          <p:cNvPr id="11" name="组合 10"/>
          <p:cNvGrpSpPr/>
          <p:nvPr/>
        </p:nvGrpSpPr>
        <p:grpSpPr>
          <a:xfrm>
            <a:off x="5072066" y="2071684"/>
            <a:ext cx="3270253" cy="547688"/>
            <a:chOff x="1270" y="1177"/>
            <a:chExt cx="2060" cy="345"/>
          </a:xfrm>
        </p:grpSpPr>
        <p:sp>
          <p:nvSpPr>
            <p:cNvPr id="48" name="椭圆 47"/>
            <p:cNvSpPr>
              <a:spLocks noChangeAspect="1"/>
            </p:cNvSpPr>
            <p:nvPr/>
          </p:nvSpPr>
          <p:spPr>
            <a:xfrm>
              <a:off x="1270"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9" name="椭圆 48"/>
            <p:cNvSpPr>
              <a:spLocks noChangeAspect="1"/>
            </p:cNvSpPr>
            <p:nvPr/>
          </p:nvSpPr>
          <p:spPr>
            <a:xfrm>
              <a:off x="1613"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0" name="椭圆 49"/>
            <p:cNvSpPr>
              <a:spLocks noChangeAspect="1"/>
            </p:cNvSpPr>
            <p:nvPr/>
          </p:nvSpPr>
          <p:spPr>
            <a:xfrm>
              <a:off x="1956"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1" name="椭圆 50"/>
            <p:cNvSpPr>
              <a:spLocks noChangeAspect="1"/>
            </p:cNvSpPr>
            <p:nvPr/>
          </p:nvSpPr>
          <p:spPr>
            <a:xfrm>
              <a:off x="2299"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2" name="椭圆 51"/>
            <p:cNvSpPr>
              <a:spLocks noChangeAspect="1"/>
            </p:cNvSpPr>
            <p:nvPr/>
          </p:nvSpPr>
          <p:spPr>
            <a:xfrm>
              <a:off x="2642"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3" name="椭圆 52"/>
            <p:cNvSpPr>
              <a:spLocks noChangeAspect="1"/>
            </p:cNvSpPr>
            <p:nvPr/>
          </p:nvSpPr>
          <p:spPr>
            <a:xfrm>
              <a:off x="2985"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13" name="组合 12"/>
          <p:cNvGrpSpPr/>
          <p:nvPr/>
        </p:nvGrpSpPr>
        <p:grpSpPr>
          <a:xfrm>
            <a:off x="5086353" y="2617784"/>
            <a:ext cx="3270253" cy="547688"/>
            <a:chOff x="1270" y="1177"/>
            <a:chExt cx="2060" cy="345"/>
          </a:xfrm>
        </p:grpSpPr>
        <p:sp>
          <p:nvSpPr>
            <p:cNvPr id="42" name="椭圆 41"/>
            <p:cNvSpPr>
              <a:spLocks noChangeAspect="1"/>
            </p:cNvSpPr>
            <p:nvPr/>
          </p:nvSpPr>
          <p:spPr>
            <a:xfrm>
              <a:off x="1270"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3" name="椭圆 42"/>
            <p:cNvSpPr>
              <a:spLocks noChangeAspect="1"/>
            </p:cNvSpPr>
            <p:nvPr/>
          </p:nvSpPr>
          <p:spPr>
            <a:xfrm>
              <a:off x="1613"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4" name="椭圆 43"/>
            <p:cNvSpPr>
              <a:spLocks noChangeAspect="1"/>
            </p:cNvSpPr>
            <p:nvPr/>
          </p:nvSpPr>
          <p:spPr>
            <a:xfrm>
              <a:off x="1956"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5" name="椭圆 44"/>
            <p:cNvSpPr>
              <a:spLocks noChangeAspect="1"/>
            </p:cNvSpPr>
            <p:nvPr/>
          </p:nvSpPr>
          <p:spPr>
            <a:xfrm>
              <a:off x="2299"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6" name="椭圆 45"/>
            <p:cNvSpPr>
              <a:spLocks noChangeAspect="1"/>
            </p:cNvSpPr>
            <p:nvPr/>
          </p:nvSpPr>
          <p:spPr>
            <a:xfrm>
              <a:off x="2642"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7" name="椭圆 46"/>
            <p:cNvSpPr>
              <a:spLocks noChangeAspect="1"/>
            </p:cNvSpPr>
            <p:nvPr/>
          </p:nvSpPr>
          <p:spPr>
            <a:xfrm>
              <a:off x="2985"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15" name="组合 14"/>
          <p:cNvGrpSpPr/>
          <p:nvPr/>
        </p:nvGrpSpPr>
        <p:grpSpPr>
          <a:xfrm>
            <a:off x="5094291" y="3159122"/>
            <a:ext cx="3270253" cy="547687"/>
            <a:chOff x="1270" y="1177"/>
            <a:chExt cx="2060" cy="345"/>
          </a:xfrm>
        </p:grpSpPr>
        <p:sp>
          <p:nvSpPr>
            <p:cNvPr id="36" name="椭圆 35"/>
            <p:cNvSpPr>
              <a:spLocks noChangeAspect="1"/>
            </p:cNvSpPr>
            <p:nvPr/>
          </p:nvSpPr>
          <p:spPr>
            <a:xfrm>
              <a:off x="1270"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7" name="椭圆 36"/>
            <p:cNvSpPr>
              <a:spLocks noChangeAspect="1"/>
            </p:cNvSpPr>
            <p:nvPr/>
          </p:nvSpPr>
          <p:spPr>
            <a:xfrm>
              <a:off x="1613"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8" name="椭圆 37"/>
            <p:cNvSpPr>
              <a:spLocks noChangeAspect="1"/>
            </p:cNvSpPr>
            <p:nvPr/>
          </p:nvSpPr>
          <p:spPr>
            <a:xfrm>
              <a:off x="1956"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9" name="椭圆 38"/>
            <p:cNvSpPr>
              <a:spLocks noChangeAspect="1"/>
            </p:cNvSpPr>
            <p:nvPr/>
          </p:nvSpPr>
          <p:spPr>
            <a:xfrm>
              <a:off x="2299"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0" name="椭圆 39"/>
            <p:cNvSpPr>
              <a:spLocks noChangeAspect="1"/>
            </p:cNvSpPr>
            <p:nvPr/>
          </p:nvSpPr>
          <p:spPr>
            <a:xfrm>
              <a:off x="2642"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1" name="椭圆 40"/>
            <p:cNvSpPr>
              <a:spLocks noChangeAspect="1"/>
            </p:cNvSpPr>
            <p:nvPr/>
          </p:nvSpPr>
          <p:spPr>
            <a:xfrm>
              <a:off x="2985"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16" name="组合 15"/>
          <p:cNvGrpSpPr/>
          <p:nvPr/>
        </p:nvGrpSpPr>
        <p:grpSpPr>
          <a:xfrm>
            <a:off x="5102228" y="3700459"/>
            <a:ext cx="3270253" cy="547688"/>
            <a:chOff x="1270" y="1177"/>
            <a:chExt cx="2060" cy="345"/>
          </a:xfrm>
        </p:grpSpPr>
        <p:sp>
          <p:nvSpPr>
            <p:cNvPr id="30" name="椭圆 29"/>
            <p:cNvSpPr>
              <a:spLocks noChangeAspect="1"/>
            </p:cNvSpPr>
            <p:nvPr/>
          </p:nvSpPr>
          <p:spPr>
            <a:xfrm>
              <a:off x="1270"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1" name="椭圆 30"/>
            <p:cNvSpPr>
              <a:spLocks noChangeAspect="1"/>
            </p:cNvSpPr>
            <p:nvPr/>
          </p:nvSpPr>
          <p:spPr>
            <a:xfrm>
              <a:off x="1613"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2" name="椭圆 31"/>
            <p:cNvSpPr>
              <a:spLocks noChangeAspect="1"/>
            </p:cNvSpPr>
            <p:nvPr/>
          </p:nvSpPr>
          <p:spPr>
            <a:xfrm>
              <a:off x="1956"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3" name="椭圆 32"/>
            <p:cNvSpPr>
              <a:spLocks noChangeAspect="1"/>
            </p:cNvSpPr>
            <p:nvPr/>
          </p:nvSpPr>
          <p:spPr>
            <a:xfrm>
              <a:off x="2299"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4" name="椭圆 33"/>
            <p:cNvSpPr>
              <a:spLocks noChangeAspect="1"/>
            </p:cNvSpPr>
            <p:nvPr/>
          </p:nvSpPr>
          <p:spPr>
            <a:xfrm>
              <a:off x="2642"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35" name="椭圆 34"/>
            <p:cNvSpPr>
              <a:spLocks noChangeAspect="1"/>
            </p:cNvSpPr>
            <p:nvPr/>
          </p:nvSpPr>
          <p:spPr>
            <a:xfrm>
              <a:off x="2985"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18" name="组合 17"/>
          <p:cNvGrpSpPr/>
          <p:nvPr/>
        </p:nvGrpSpPr>
        <p:grpSpPr>
          <a:xfrm>
            <a:off x="5110166" y="4241797"/>
            <a:ext cx="3270253" cy="547687"/>
            <a:chOff x="1270" y="1177"/>
            <a:chExt cx="2060" cy="345"/>
          </a:xfrm>
        </p:grpSpPr>
        <p:sp>
          <p:nvSpPr>
            <p:cNvPr id="24" name="椭圆 23"/>
            <p:cNvSpPr>
              <a:spLocks noChangeAspect="1"/>
            </p:cNvSpPr>
            <p:nvPr/>
          </p:nvSpPr>
          <p:spPr>
            <a:xfrm>
              <a:off x="1270"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5" name="椭圆 24"/>
            <p:cNvSpPr>
              <a:spLocks noChangeAspect="1"/>
            </p:cNvSpPr>
            <p:nvPr/>
          </p:nvSpPr>
          <p:spPr>
            <a:xfrm>
              <a:off x="1613"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6" name="椭圆 25"/>
            <p:cNvSpPr>
              <a:spLocks noChangeAspect="1"/>
            </p:cNvSpPr>
            <p:nvPr/>
          </p:nvSpPr>
          <p:spPr>
            <a:xfrm>
              <a:off x="1956"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7" name="椭圆 26"/>
            <p:cNvSpPr>
              <a:spLocks noChangeAspect="1"/>
            </p:cNvSpPr>
            <p:nvPr/>
          </p:nvSpPr>
          <p:spPr>
            <a:xfrm>
              <a:off x="2299"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8" name="椭圆 27"/>
            <p:cNvSpPr>
              <a:spLocks noChangeAspect="1"/>
            </p:cNvSpPr>
            <p:nvPr/>
          </p:nvSpPr>
          <p:spPr>
            <a:xfrm>
              <a:off x="2642"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9" name="椭圆 28"/>
            <p:cNvSpPr>
              <a:spLocks noChangeAspect="1"/>
            </p:cNvSpPr>
            <p:nvPr/>
          </p:nvSpPr>
          <p:spPr>
            <a:xfrm>
              <a:off x="2985" y="1177"/>
              <a:ext cx="345" cy="345"/>
            </a:xfrm>
            <a:prstGeom prst="ellipse">
              <a:avLst/>
            </a:prstGeom>
            <a:solidFill>
              <a:schemeClr val="accent1"/>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20" name="椭圆 19"/>
          <p:cNvSpPr>
            <a:spLocks noChangeAspect="1"/>
          </p:cNvSpPr>
          <p:nvPr/>
        </p:nvSpPr>
        <p:spPr>
          <a:xfrm>
            <a:off x="5505451" y="2508247"/>
            <a:ext cx="215900" cy="215900"/>
          </a:xfrm>
          <a:prstGeom prst="ellipse">
            <a:avLst/>
          </a:prstGeom>
          <a:solidFill>
            <a:srgbClr val="FFCCFF"/>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1" name="椭圆 20"/>
          <p:cNvSpPr>
            <a:spLocks noChangeAspect="1"/>
          </p:cNvSpPr>
          <p:nvPr/>
        </p:nvSpPr>
        <p:spPr>
          <a:xfrm>
            <a:off x="6048376" y="2505072"/>
            <a:ext cx="215900" cy="215900"/>
          </a:xfrm>
          <a:prstGeom prst="ellipse">
            <a:avLst/>
          </a:prstGeom>
          <a:solidFill>
            <a:srgbClr val="FFCCFF"/>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2" name="椭圆 21"/>
          <p:cNvSpPr>
            <a:spLocks noChangeAspect="1"/>
          </p:cNvSpPr>
          <p:nvPr/>
        </p:nvSpPr>
        <p:spPr>
          <a:xfrm>
            <a:off x="5532439" y="3049584"/>
            <a:ext cx="215900" cy="215900"/>
          </a:xfrm>
          <a:prstGeom prst="ellipse">
            <a:avLst/>
          </a:prstGeom>
          <a:solidFill>
            <a:srgbClr val="FFCCFF"/>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23" name="椭圆 22"/>
          <p:cNvSpPr>
            <a:spLocks noChangeAspect="1"/>
          </p:cNvSpPr>
          <p:nvPr/>
        </p:nvSpPr>
        <p:spPr>
          <a:xfrm>
            <a:off x="6075364" y="3046409"/>
            <a:ext cx="215900" cy="215900"/>
          </a:xfrm>
          <a:prstGeom prst="ellipse">
            <a:avLst/>
          </a:prstGeom>
          <a:solidFill>
            <a:srgbClr val="FFCCFF"/>
          </a:solidFill>
          <a:ln w="12700" cap="flat" cmpd="sng">
            <a:solidFill>
              <a:schemeClr val="bg1"/>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pic>
        <p:nvPicPr>
          <p:cNvPr id="13316" name="Picture 4"/>
          <p:cNvPicPr>
            <a:picLocks noChangeAspect="1" noChangeArrowheads="1"/>
          </p:cNvPicPr>
          <p:nvPr/>
        </p:nvPicPr>
        <p:blipFill>
          <a:blip r:embed="rId4" cstate="print"/>
          <a:srcRect/>
          <a:stretch>
            <a:fillRect/>
          </a:stretch>
        </p:blipFill>
        <p:spPr bwMode="auto">
          <a:xfrm>
            <a:off x="857224" y="928676"/>
            <a:ext cx="3286148" cy="3844867"/>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pic>
        <p:nvPicPr>
          <p:cNvPr id="14338" name="Picture 2"/>
          <p:cNvPicPr>
            <a:picLocks noChangeAspect="1" noChangeArrowheads="1"/>
          </p:cNvPicPr>
          <p:nvPr/>
        </p:nvPicPr>
        <p:blipFill>
          <a:blip r:embed="rId3" cstate="print"/>
          <a:srcRect/>
          <a:stretch>
            <a:fillRect/>
          </a:stretch>
        </p:blipFill>
        <p:spPr bwMode="auto">
          <a:xfrm>
            <a:off x="1500166" y="644340"/>
            <a:ext cx="6000791" cy="4499160"/>
          </a:xfrm>
          <a:prstGeom prst="rect">
            <a:avLst/>
          </a:prstGeom>
          <a:noFill/>
          <a:ln w="9525">
            <a:noFill/>
            <a:miter lim="800000"/>
            <a:headEnd/>
            <a:tailEnd/>
          </a:ln>
          <a:effectLst/>
        </p:spPr>
      </p:pic>
      <p:sp>
        <p:nvSpPr>
          <p:cNvPr id="10" name="矩形 9"/>
          <p:cNvSpPr/>
          <p:nvPr/>
        </p:nvSpPr>
        <p:spPr>
          <a:xfrm>
            <a:off x="7429520" y="642924"/>
            <a:ext cx="1714480" cy="4500576"/>
          </a:xfrm>
          <a:prstGeom prst="rect">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642924"/>
            <a:ext cx="1571604" cy="4500576"/>
          </a:xfrm>
          <a:prstGeom prst="rect">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13" name="矩形 12"/>
          <p:cNvSpPr/>
          <p:nvPr/>
        </p:nvSpPr>
        <p:spPr>
          <a:xfrm>
            <a:off x="3214678" y="4071948"/>
            <a:ext cx="4149726" cy="523220"/>
          </a:xfrm>
          <a:prstGeom prst="rect">
            <a:avLst/>
          </a:prstGeom>
          <a:noFill/>
          <a:ln w="12700">
            <a:noFill/>
          </a:ln>
        </p:spPr>
        <p:txBody>
          <a:bodyPr wrap="squar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r>
              <a:rPr lang="zh-CN" altLang="en-US" sz="2800" b="1" u="none" dirty="0" smtClean="0">
                <a:solidFill>
                  <a:srgbClr val="000000"/>
                </a:solidFill>
                <a:latin typeface="Times New Roman" panose="02020603050405020304" pitchFamily="18" charset="0"/>
                <a:ea typeface="楷体_GB2312" pitchFamily="49" charset="-122"/>
              </a:rPr>
              <a:t>    侧面</a:t>
            </a:r>
            <a:r>
              <a:rPr lang="zh-CN" altLang="en-US" sz="2800" b="1" u="none" dirty="0">
                <a:solidFill>
                  <a:srgbClr val="000000"/>
                </a:solidFill>
                <a:latin typeface="Times New Roman" panose="02020603050405020304" pitchFamily="18" charset="0"/>
                <a:ea typeface="楷体_GB2312" pitchFamily="49" charset="-122"/>
              </a:rPr>
              <a:t>中心线</a:t>
            </a:r>
            <a:r>
              <a:rPr lang="en-US" altLang="zh-CN" sz="2800" b="1" u="none" dirty="0">
                <a:solidFill>
                  <a:srgbClr val="000000"/>
                </a:solidFill>
                <a:latin typeface="Times New Roman" panose="02020603050405020304" pitchFamily="18" charset="0"/>
                <a:ea typeface="楷体_GB2312" pitchFamily="49" charset="-122"/>
              </a:rPr>
              <a:t>1/4</a:t>
            </a:r>
            <a:r>
              <a:rPr lang="zh-CN" altLang="en-US" sz="2800" b="1" u="none" dirty="0">
                <a:solidFill>
                  <a:srgbClr val="000000"/>
                </a:solidFill>
                <a:latin typeface="Times New Roman" panose="02020603050405020304" pitchFamily="18" charset="0"/>
                <a:ea typeface="楷体_GB2312" pitchFamily="49" charset="-122"/>
              </a:rPr>
              <a:t>和</a:t>
            </a:r>
            <a:r>
              <a:rPr lang="en-US" altLang="zh-CN" sz="2800" b="1" u="none" dirty="0">
                <a:solidFill>
                  <a:srgbClr val="000000"/>
                </a:solidFill>
                <a:latin typeface="Times New Roman" panose="02020603050405020304" pitchFamily="18" charset="0"/>
                <a:ea typeface="楷体_GB2312" pitchFamily="49" charset="-122"/>
              </a:rPr>
              <a:t>3/4</a:t>
            </a:r>
            <a:r>
              <a:rPr lang="zh-CN" altLang="en-US" sz="2800" b="1" u="none" dirty="0">
                <a:solidFill>
                  <a:srgbClr val="000000"/>
                </a:solidFill>
                <a:latin typeface="Times New Roman" panose="02020603050405020304" pitchFamily="18" charset="0"/>
                <a:ea typeface="楷体_GB2312" pitchFamily="49" charset="-122"/>
              </a:rPr>
              <a:t>处</a:t>
            </a:r>
            <a:endParaRPr lang="zh-CN" altLang="en-US" sz="2800" b="1" u="none" dirty="0">
              <a:solidFill>
                <a:srgbClr val="000000"/>
              </a:solidFill>
              <a:latin typeface="Times New Roman" panose="02020603050405020304" pitchFamily="18" charset="0"/>
              <a:ea typeface="楷体_GB2312" pitchFamily="49" charset="-122"/>
            </a:endParaRPr>
          </a:p>
        </p:txBody>
      </p:sp>
      <p:pic>
        <p:nvPicPr>
          <p:cNvPr id="9" name="对象 36914"/>
          <p:cNvPicPr/>
          <p:nvPr/>
        </p:nvPicPr>
        <p:blipFill>
          <a:blip r:embed="rId3" cstate="print"/>
          <a:stretch>
            <a:fillRect/>
          </a:stretch>
        </p:blipFill>
        <p:spPr>
          <a:xfrm>
            <a:off x="3929058" y="3071816"/>
            <a:ext cx="1714512" cy="779460"/>
          </a:xfrm>
          <a:prstGeom prst="rect">
            <a:avLst/>
          </a:prstGeom>
          <a:solidFill>
            <a:srgbClr val="CCECFF"/>
          </a:solidFill>
          <a:ln w="38100">
            <a:noFill/>
            <a:miter/>
          </a:ln>
        </p:spPr>
      </p:pic>
      <p:pic>
        <p:nvPicPr>
          <p:cNvPr id="15363" name="Picture 3"/>
          <p:cNvPicPr>
            <a:picLocks noChangeAspect="1" noChangeArrowheads="1"/>
          </p:cNvPicPr>
          <p:nvPr/>
        </p:nvPicPr>
        <p:blipFill>
          <a:blip r:embed="rId4" cstate="print"/>
          <a:srcRect/>
          <a:stretch>
            <a:fillRect/>
          </a:stretch>
        </p:blipFill>
        <p:spPr bwMode="auto">
          <a:xfrm>
            <a:off x="571472" y="928676"/>
            <a:ext cx="2351920" cy="3571900"/>
          </a:xfrm>
          <a:prstGeom prst="rect">
            <a:avLst/>
          </a:prstGeom>
          <a:noFill/>
          <a:ln w="9525">
            <a:noFill/>
            <a:miter lim="800000"/>
            <a:headEnd/>
            <a:tailEnd/>
          </a:ln>
          <a:effectLst/>
        </p:spPr>
      </p:pic>
      <p:pic>
        <p:nvPicPr>
          <p:cNvPr id="15364" name="Picture 4"/>
          <p:cNvPicPr>
            <a:picLocks noChangeAspect="1" noChangeArrowheads="1"/>
          </p:cNvPicPr>
          <p:nvPr/>
        </p:nvPicPr>
        <p:blipFill>
          <a:blip r:embed="rId5" cstate="print"/>
          <a:srcRect/>
          <a:stretch>
            <a:fillRect/>
          </a:stretch>
        </p:blipFill>
        <p:spPr bwMode="auto">
          <a:xfrm>
            <a:off x="3929058" y="928676"/>
            <a:ext cx="1671067" cy="2043116"/>
          </a:xfrm>
          <a:prstGeom prst="rect">
            <a:avLst/>
          </a:prstGeom>
          <a:noFill/>
          <a:ln w="9525">
            <a:noFill/>
            <a:miter lim="800000"/>
            <a:headEnd/>
            <a:tailEnd/>
          </a:ln>
          <a:effectLst/>
        </p:spPr>
      </p:pic>
      <p:pic>
        <p:nvPicPr>
          <p:cNvPr id="15365" name="Picture 5"/>
          <p:cNvPicPr>
            <a:picLocks noChangeAspect="1" noChangeArrowheads="1"/>
          </p:cNvPicPr>
          <p:nvPr/>
        </p:nvPicPr>
        <p:blipFill>
          <a:blip r:embed="rId6" cstate="print"/>
          <a:srcRect/>
          <a:stretch>
            <a:fillRect/>
          </a:stretch>
        </p:blipFill>
        <p:spPr bwMode="auto">
          <a:xfrm>
            <a:off x="6143636" y="928676"/>
            <a:ext cx="2419350" cy="2733675"/>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grpSp>
        <p:nvGrpSpPr>
          <p:cNvPr id="63" name="组合 62"/>
          <p:cNvGrpSpPr>
            <a:grpSpLocks noChangeAspect="1"/>
          </p:cNvGrpSpPr>
          <p:nvPr/>
        </p:nvGrpSpPr>
        <p:grpSpPr>
          <a:xfrm>
            <a:off x="928662" y="357172"/>
            <a:ext cx="6876834" cy="4644000"/>
            <a:chOff x="286544" y="-322262"/>
            <a:chExt cx="8570912" cy="5788025"/>
          </a:xfrm>
        </p:grpSpPr>
        <p:sp>
          <p:nvSpPr>
            <p:cNvPr id="39" name="椭圆 38"/>
            <p:cNvSpPr>
              <a:spLocks noChangeAspect="1"/>
            </p:cNvSpPr>
            <p:nvPr/>
          </p:nvSpPr>
          <p:spPr>
            <a:xfrm>
              <a:off x="1888331" y="2600325"/>
              <a:ext cx="1760538" cy="1760538"/>
            </a:xfrm>
            <a:prstGeom prst="ellipse">
              <a:avLst/>
            </a:prstGeom>
            <a:gradFill rotWithShape="1">
              <a:gsLst>
                <a:gs pos="0">
                  <a:srgbClr val="0099CC">
                    <a:gamma/>
                    <a:tint val="0"/>
                    <a:invGamma/>
                    <a:alpha val="80000"/>
                  </a:srgbClr>
                </a:gs>
                <a:gs pos="100000">
                  <a:srgbClr val="0099CC">
                    <a:alpha val="80000"/>
                  </a:srgbClr>
                </a:gs>
              </a:gsLst>
              <a:path path="shape">
                <a:fillToRect l="50000" t="50000" r="50000" b="50000"/>
              </a:path>
              <a:tileRect/>
            </a:gradFill>
            <a:ln w="3175" cap="flat" cmpd="sng">
              <a:solidFill>
                <a:schemeClr val="accent2"/>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nvGrpSpPr>
            <p:cNvPr id="40" name="组合 39"/>
            <p:cNvGrpSpPr/>
            <p:nvPr/>
          </p:nvGrpSpPr>
          <p:grpSpPr>
            <a:xfrm>
              <a:off x="872331" y="1577975"/>
              <a:ext cx="3790951" cy="3805239"/>
              <a:chOff x="748" y="1458"/>
              <a:chExt cx="2388" cy="2397"/>
            </a:xfrm>
          </p:grpSpPr>
          <p:sp>
            <p:nvSpPr>
              <p:cNvPr id="59" name="椭圆 58"/>
              <p:cNvSpPr>
                <a:spLocks noChangeAspect="1"/>
              </p:cNvSpPr>
              <p:nvPr/>
            </p:nvSpPr>
            <p:spPr>
              <a:xfrm>
                <a:off x="748" y="1458"/>
                <a:ext cx="1109" cy="1109"/>
              </a:xfrm>
              <a:prstGeom prst="ellipse">
                <a:avLst/>
              </a:prstGeom>
              <a:solidFill>
                <a:srgbClr val="DDDDDD">
                  <a:alpha val="80000"/>
                </a:srgbClr>
              </a:solidFill>
              <a:ln w="3175" cap="flat" cmpd="sng">
                <a:solidFill>
                  <a:schemeClr val="accent2"/>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0" name="椭圆 59"/>
              <p:cNvSpPr>
                <a:spLocks noChangeAspect="1"/>
              </p:cNvSpPr>
              <p:nvPr/>
            </p:nvSpPr>
            <p:spPr>
              <a:xfrm>
                <a:off x="2027" y="1458"/>
                <a:ext cx="1109" cy="1109"/>
              </a:xfrm>
              <a:prstGeom prst="ellipse">
                <a:avLst/>
              </a:prstGeom>
              <a:solidFill>
                <a:srgbClr val="C0C0C0">
                  <a:alpha val="80000"/>
                </a:srgbClr>
              </a:solidFill>
              <a:ln w="3175" cap="flat" cmpd="sng">
                <a:solidFill>
                  <a:schemeClr val="accent2"/>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1" name="椭圆 60"/>
              <p:cNvSpPr>
                <a:spLocks noChangeAspect="1"/>
              </p:cNvSpPr>
              <p:nvPr/>
            </p:nvSpPr>
            <p:spPr>
              <a:xfrm>
                <a:off x="748" y="2746"/>
                <a:ext cx="1109" cy="1109"/>
              </a:xfrm>
              <a:prstGeom prst="ellipse">
                <a:avLst/>
              </a:prstGeom>
              <a:solidFill>
                <a:srgbClr val="FFFFFF">
                  <a:alpha val="80000"/>
                </a:srgbClr>
              </a:solidFill>
              <a:ln w="3175" cap="flat" cmpd="sng">
                <a:solidFill>
                  <a:schemeClr val="accent2"/>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62" name="椭圆 61"/>
              <p:cNvSpPr>
                <a:spLocks noChangeAspect="1"/>
              </p:cNvSpPr>
              <p:nvPr/>
            </p:nvSpPr>
            <p:spPr>
              <a:xfrm>
                <a:off x="2027" y="2746"/>
                <a:ext cx="1109" cy="1109"/>
              </a:xfrm>
              <a:prstGeom prst="ellipse">
                <a:avLst/>
              </a:prstGeom>
              <a:solidFill>
                <a:srgbClr val="FFFFFF">
                  <a:alpha val="80000"/>
                </a:srgbClr>
              </a:solidFill>
              <a:ln w="3175" cap="flat" cmpd="sng">
                <a:solidFill>
                  <a:schemeClr val="accent2"/>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sp>
          <p:nvSpPr>
            <p:cNvPr id="41" name="椭圆 40"/>
            <p:cNvSpPr>
              <a:spLocks noChangeAspect="1"/>
            </p:cNvSpPr>
            <p:nvPr/>
          </p:nvSpPr>
          <p:spPr>
            <a:xfrm>
              <a:off x="2524919" y="3759200"/>
              <a:ext cx="485775" cy="485775"/>
            </a:xfrm>
            <a:prstGeom prst="ellipse">
              <a:avLst/>
            </a:prstGeom>
            <a:gradFill rotWithShape="1">
              <a:gsLst>
                <a:gs pos="0">
                  <a:srgbClr val="FF3399">
                    <a:gamma/>
                    <a:tint val="20392"/>
                    <a:invGamma/>
                    <a:alpha val="80000"/>
                  </a:srgbClr>
                </a:gs>
                <a:gs pos="100000">
                  <a:srgbClr val="FF3399">
                    <a:alpha val="80000"/>
                  </a:srgbClr>
                </a:gs>
              </a:gsLst>
              <a:path path="shape">
                <a:fillToRect l="50000" t="50000" r="50000" b="50000"/>
              </a:path>
              <a:tileRect/>
            </a:gradFill>
            <a:ln w="3175" cap="flat" cmpd="sng">
              <a:solidFill>
                <a:srgbClr val="CC3399"/>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42" name="直接连接符 41"/>
            <p:cNvSpPr>
              <a:spLocks noChangeAspect="1"/>
            </p:cNvSpPr>
            <p:nvPr/>
          </p:nvSpPr>
          <p:spPr>
            <a:xfrm flipV="1">
              <a:off x="408781" y="4002088"/>
              <a:ext cx="2798763" cy="0"/>
            </a:xfrm>
            <a:prstGeom prst="line">
              <a:avLst/>
            </a:prstGeom>
            <a:ln w="3175" cap="flat" cmpd="sng">
              <a:solidFill>
                <a:schemeClr val="bg1"/>
              </a:solidFill>
              <a:prstDash val="solid"/>
              <a:headEnd type="none" w="med" len="med"/>
              <a:tailEnd type="none" w="med" len="med"/>
            </a:ln>
          </p:spPr>
        </p:sp>
        <p:sp>
          <p:nvSpPr>
            <p:cNvPr id="43" name="文本框 78866"/>
            <p:cNvSpPr txBox="1"/>
            <p:nvPr/>
          </p:nvSpPr>
          <p:spPr>
            <a:xfrm>
              <a:off x="286544" y="-322262"/>
              <a:ext cx="749300" cy="579437"/>
            </a:xfrm>
            <a:prstGeom prst="rect">
              <a:avLst/>
            </a:prstGeom>
            <a:noFill/>
            <a:ln w="1905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3200" u="none">
                  <a:solidFill>
                    <a:srgbClr val="3333CC"/>
                  </a:solidFill>
                  <a:latin typeface="Times New Roman" panose="02020603050405020304" pitchFamily="18" charset="0"/>
                </a:rPr>
                <a:t>bcc</a:t>
              </a:r>
              <a:endParaRPr lang="en-US" altLang="zh-CN" sz="3200" u="none">
                <a:solidFill>
                  <a:srgbClr val="3333CC"/>
                </a:solidFill>
                <a:latin typeface="Times New Roman" panose="02020603050405020304" pitchFamily="18" charset="0"/>
              </a:endParaRPr>
            </a:p>
          </p:txBody>
        </p:sp>
        <p:pic>
          <p:nvPicPr>
            <p:cNvPr id="44" name="对象 78867"/>
            <p:cNvPicPr/>
            <p:nvPr/>
          </p:nvPicPr>
          <p:blipFill>
            <a:blip r:embed="rId3" cstate="print"/>
            <a:stretch>
              <a:fillRect/>
            </a:stretch>
          </p:blipFill>
          <p:spPr>
            <a:xfrm>
              <a:off x="5380831" y="1536700"/>
              <a:ext cx="2708275" cy="1038225"/>
            </a:xfrm>
            <a:prstGeom prst="rect">
              <a:avLst/>
            </a:prstGeom>
            <a:solidFill>
              <a:srgbClr val="CCFFFF"/>
            </a:solidFill>
            <a:ln w="38100">
              <a:noFill/>
              <a:miter/>
            </a:ln>
          </p:spPr>
        </p:pic>
        <p:pic>
          <p:nvPicPr>
            <p:cNvPr id="45" name="对象 78868"/>
            <p:cNvPicPr/>
            <p:nvPr/>
          </p:nvPicPr>
          <p:blipFill>
            <a:blip r:embed="rId4" cstate="print"/>
            <a:stretch>
              <a:fillRect/>
            </a:stretch>
          </p:blipFill>
          <p:spPr>
            <a:xfrm>
              <a:off x="4583906" y="152400"/>
              <a:ext cx="4273550" cy="946150"/>
            </a:xfrm>
            <a:prstGeom prst="rect">
              <a:avLst/>
            </a:prstGeom>
            <a:solidFill>
              <a:srgbClr val="FFFF99"/>
            </a:solidFill>
            <a:ln w="38100">
              <a:noFill/>
              <a:miter/>
            </a:ln>
          </p:spPr>
        </p:pic>
        <p:grpSp>
          <p:nvGrpSpPr>
            <p:cNvPr id="46" name="组合 45"/>
            <p:cNvGrpSpPr/>
            <p:nvPr/>
          </p:nvGrpSpPr>
          <p:grpSpPr>
            <a:xfrm>
              <a:off x="1996281" y="2728920"/>
              <a:ext cx="1544638" cy="995364"/>
              <a:chOff x="1264" y="2183"/>
              <a:chExt cx="973" cy="627"/>
            </a:xfrm>
          </p:grpSpPr>
          <p:sp>
            <p:nvSpPr>
              <p:cNvPr id="56" name="椭圆 55"/>
              <p:cNvSpPr>
                <a:spLocks noChangeAspect="1"/>
              </p:cNvSpPr>
              <p:nvPr/>
            </p:nvSpPr>
            <p:spPr>
              <a:xfrm>
                <a:off x="1931" y="2503"/>
                <a:ext cx="306" cy="306"/>
              </a:xfrm>
              <a:prstGeom prst="ellipse">
                <a:avLst/>
              </a:prstGeom>
              <a:gradFill rotWithShape="1">
                <a:gsLst>
                  <a:gs pos="0">
                    <a:srgbClr val="FF3399">
                      <a:gamma/>
                      <a:tint val="20392"/>
                      <a:invGamma/>
                      <a:alpha val="80000"/>
                    </a:srgbClr>
                  </a:gs>
                  <a:gs pos="100000">
                    <a:srgbClr val="FF3399">
                      <a:alpha val="80000"/>
                    </a:srgbClr>
                  </a:gs>
                </a:gsLst>
                <a:path path="shape">
                  <a:fillToRect l="50000" t="50000" r="50000" b="50000"/>
                </a:path>
                <a:tileRect/>
              </a:gradFill>
              <a:ln w="3175" cap="flat" cmpd="sng">
                <a:solidFill>
                  <a:srgbClr val="CC3399"/>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7" name="椭圆 56"/>
              <p:cNvSpPr>
                <a:spLocks noChangeAspect="1"/>
              </p:cNvSpPr>
              <p:nvPr/>
            </p:nvSpPr>
            <p:spPr>
              <a:xfrm>
                <a:off x="1264" y="2504"/>
                <a:ext cx="306" cy="306"/>
              </a:xfrm>
              <a:prstGeom prst="ellipse">
                <a:avLst/>
              </a:prstGeom>
              <a:gradFill rotWithShape="1">
                <a:gsLst>
                  <a:gs pos="0">
                    <a:srgbClr val="FF3399">
                      <a:gamma/>
                      <a:tint val="20392"/>
                      <a:invGamma/>
                      <a:alpha val="80000"/>
                    </a:srgbClr>
                  </a:gs>
                  <a:gs pos="100000">
                    <a:srgbClr val="FF3399">
                      <a:alpha val="80000"/>
                    </a:srgbClr>
                  </a:gs>
                </a:gsLst>
                <a:path path="shape">
                  <a:fillToRect l="50000" t="50000" r="50000" b="50000"/>
                </a:path>
                <a:tileRect/>
              </a:gradFill>
              <a:ln w="3175" cap="flat" cmpd="sng">
                <a:solidFill>
                  <a:srgbClr val="CC3399"/>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
            <p:nvSpPr>
              <p:cNvPr id="58" name="椭圆 57"/>
              <p:cNvSpPr>
                <a:spLocks noChangeAspect="1"/>
              </p:cNvSpPr>
              <p:nvPr/>
            </p:nvSpPr>
            <p:spPr>
              <a:xfrm>
                <a:off x="1597" y="2183"/>
                <a:ext cx="306" cy="306"/>
              </a:xfrm>
              <a:prstGeom prst="ellipse">
                <a:avLst/>
              </a:prstGeom>
              <a:gradFill rotWithShape="1">
                <a:gsLst>
                  <a:gs pos="0">
                    <a:srgbClr val="FF3399">
                      <a:gamma/>
                      <a:tint val="20392"/>
                      <a:invGamma/>
                      <a:alpha val="80000"/>
                    </a:srgbClr>
                  </a:gs>
                  <a:gs pos="100000">
                    <a:srgbClr val="FF3399">
                      <a:alpha val="80000"/>
                    </a:srgbClr>
                  </a:gs>
                </a:gsLst>
                <a:path path="shape">
                  <a:fillToRect l="50000" t="50000" r="50000" b="50000"/>
                </a:path>
                <a:tileRect/>
              </a:gradFill>
              <a:ln w="3175" cap="flat" cmpd="sng">
                <a:solidFill>
                  <a:srgbClr val="CC3399"/>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grpSp>
        <p:grpSp>
          <p:nvGrpSpPr>
            <p:cNvPr id="47" name="组合 46"/>
            <p:cNvGrpSpPr/>
            <p:nvPr/>
          </p:nvGrpSpPr>
          <p:grpSpPr>
            <a:xfrm>
              <a:off x="1742282" y="3994150"/>
              <a:ext cx="1035051" cy="509588"/>
              <a:chOff x="1104" y="2980"/>
              <a:chExt cx="652" cy="321"/>
            </a:xfrm>
          </p:grpSpPr>
          <p:sp>
            <p:nvSpPr>
              <p:cNvPr id="53" name="直接连接符 52"/>
              <p:cNvSpPr/>
              <p:nvPr/>
            </p:nvSpPr>
            <p:spPr>
              <a:xfrm flipV="1">
                <a:off x="1111" y="2980"/>
                <a:ext cx="645" cy="321"/>
              </a:xfrm>
              <a:prstGeom prst="line">
                <a:avLst/>
              </a:prstGeom>
              <a:ln w="12700" cap="flat" cmpd="sng">
                <a:solidFill>
                  <a:schemeClr val="tx1"/>
                </a:solidFill>
                <a:prstDash val="solid"/>
                <a:headEnd type="none" w="med" len="med"/>
                <a:tailEnd type="none" w="med" len="med"/>
              </a:ln>
            </p:spPr>
          </p:sp>
          <p:sp>
            <p:nvSpPr>
              <p:cNvPr id="54" name="直接连接符 53"/>
              <p:cNvSpPr>
                <a:spLocks noChangeAspect="1"/>
              </p:cNvSpPr>
              <p:nvPr/>
            </p:nvSpPr>
            <p:spPr>
              <a:xfrm>
                <a:off x="1104" y="3300"/>
                <a:ext cx="648" cy="0"/>
              </a:xfrm>
              <a:prstGeom prst="line">
                <a:avLst/>
              </a:prstGeom>
              <a:ln w="12700" cap="flat" cmpd="sng">
                <a:solidFill>
                  <a:schemeClr val="tx1"/>
                </a:solidFill>
                <a:prstDash val="solid"/>
                <a:headEnd type="none" w="med" len="med"/>
                <a:tailEnd type="none" w="med" len="med"/>
              </a:ln>
            </p:spPr>
          </p:sp>
          <p:sp>
            <p:nvSpPr>
              <p:cNvPr id="55" name="直接连接符 54"/>
              <p:cNvSpPr>
                <a:spLocks noChangeAspect="1"/>
              </p:cNvSpPr>
              <p:nvPr/>
            </p:nvSpPr>
            <p:spPr>
              <a:xfrm flipV="1">
                <a:off x="1752" y="2982"/>
                <a:ext cx="0" cy="318"/>
              </a:xfrm>
              <a:prstGeom prst="line">
                <a:avLst/>
              </a:prstGeom>
              <a:ln w="12700" cap="flat" cmpd="sng">
                <a:solidFill>
                  <a:schemeClr val="tx1"/>
                </a:solidFill>
                <a:prstDash val="solid"/>
                <a:headEnd type="none" w="med" len="med"/>
                <a:tailEnd type="none" w="med" len="med"/>
              </a:ln>
            </p:spPr>
          </p:sp>
        </p:grpSp>
        <p:sp>
          <p:nvSpPr>
            <p:cNvPr id="48" name="文本框 78877"/>
            <p:cNvSpPr txBox="1"/>
            <p:nvPr/>
          </p:nvSpPr>
          <p:spPr>
            <a:xfrm>
              <a:off x="2380456" y="3551238"/>
              <a:ext cx="461963" cy="457200"/>
            </a:xfrm>
            <a:prstGeom prst="rect">
              <a:avLst/>
            </a:prstGeom>
            <a:noFill/>
            <a:ln w="1905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r>
                <a:rPr lang="en-US" altLang="zh-CN" sz="2400" i="1" u="none" dirty="0" err="1">
                  <a:solidFill>
                    <a:schemeClr val="bg1"/>
                  </a:solidFill>
                  <a:latin typeface="Times New Roman" panose="02020603050405020304" pitchFamily="18" charset="0"/>
                </a:rPr>
                <a:t>r</a:t>
              </a:r>
              <a:r>
                <a:rPr lang="en-US" altLang="zh-CN" sz="2400" u="none" baseline="-25000" dirty="0" err="1">
                  <a:solidFill>
                    <a:schemeClr val="bg1"/>
                  </a:solidFill>
                  <a:latin typeface="Times New Roman" panose="02020603050405020304" pitchFamily="18" charset="0"/>
                </a:rPr>
                <a:t>in</a:t>
              </a:r>
              <a:endParaRPr lang="en-US" altLang="zh-CN" sz="2400" u="none">
                <a:solidFill>
                  <a:schemeClr val="bg1"/>
                </a:solidFill>
                <a:latin typeface="Times New Roman" panose="02020603050405020304" pitchFamily="18" charset="0"/>
              </a:endParaRPr>
            </a:p>
          </p:txBody>
        </p:sp>
        <p:pic>
          <p:nvPicPr>
            <p:cNvPr id="49" name="对象 78879"/>
            <p:cNvPicPr/>
            <p:nvPr/>
          </p:nvPicPr>
          <p:blipFill>
            <a:blip r:embed="rId5" cstate="print"/>
            <a:stretch>
              <a:fillRect/>
            </a:stretch>
          </p:blipFill>
          <p:spPr>
            <a:xfrm>
              <a:off x="5288756" y="4318000"/>
              <a:ext cx="3355975" cy="1147763"/>
            </a:xfrm>
            <a:prstGeom prst="rect">
              <a:avLst/>
            </a:prstGeom>
            <a:solidFill>
              <a:srgbClr val="FFCC99"/>
            </a:solidFill>
            <a:ln w="38100">
              <a:noFill/>
              <a:miter/>
            </a:ln>
          </p:spPr>
        </p:pic>
        <p:sp>
          <p:nvSpPr>
            <p:cNvPr id="50" name="文本框 78880"/>
            <p:cNvSpPr txBox="1"/>
            <p:nvPr/>
          </p:nvSpPr>
          <p:spPr>
            <a:xfrm>
              <a:off x="1265945" y="-144189"/>
              <a:ext cx="2328863" cy="457200"/>
            </a:xfrm>
            <a:prstGeom prst="rect">
              <a:avLst/>
            </a:prstGeom>
            <a:noFill/>
            <a:ln w="12700">
              <a:noFill/>
            </a:ln>
          </p:spPr>
          <p:txBody>
            <a:bodyPr wrap="none" anchor="t" anchorCtr="0">
              <a:spAutoFit/>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pPr algn="ctr"/>
              <a:r>
                <a:rPr lang="zh-CN" altLang="en-US" sz="2400" b="1" u="none" dirty="0">
                  <a:solidFill>
                    <a:srgbClr val="000000"/>
                  </a:solidFill>
                  <a:latin typeface="Times New Roman" panose="02020603050405020304" pitchFamily="18" charset="0"/>
                </a:rPr>
                <a:t>四面体间隙大小</a:t>
              </a:r>
              <a:endParaRPr lang="zh-CN" altLang="en-US" sz="2400" b="1" u="none" dirty="0">
                <a:solidFill>
                  <a:srgbClr val="000000"/>
                </a:solidFill>
                <a:latin typeface="Times New Roman" panose="02020603050405020304" pitchFamily="18" charset="0"/>
              </a:endParaRPr>
            </a:p>
          </p:txBody>
        </p:sp>
        <p:pic>
          <p:nvPicPr>
            <p:cNvPr id="51" name="对象 78881"/>
            <p:cNvPicPr/>
            <p:nvPr/>
          </p:nvPicPr>
          <p:blipFill>
            <a:blip r:embed="rId6" cstate="print"/>
            <a:stretch>
              <a:fillRect/>
            </a:stretch>
          </p:blipFill>
          <p:spPr>
            <a:xfrm>
              <a:off x="1466056" y="463550"/>
              <a:ext cx="2105025" cy="657225"/>
            </a:xfrm>
            <a:prstGeom prst="rect">
              <a:avLst/>
            </a:prstGeom>
            <a:solidFill>
              <a:srgbClr val="FFFF99"/>
            </a:solidFill>
            <a:ln w="38100">
              <a:noFill/>
              <a:miter/>
            </a:ln>
          </p:spPr>
        </p:pic>
        <p:pic>
          <p:nvPicPr>
            <p:cNvPr id="52" name="对象 78882"/>
            <p:cNvPicPr/>
            <p:nvPr/>
          </p:nvPicPr>
          <p:blipFill>
            <a:blip r:embed="rId7" cstate="print"/>
            <a:stretch>
              <a:fillRect/>
            </a:stretch>
          </p:blipFill>
          <p:spPr>
            <a:xfrm>
              <a:off x="5498306" y="2979738"/>
              <a:ext cx="2447925" cy="1068387"/>
            </a:xfrm>
            <a:prstGeom prst="rect">
              <a:avLst/>
            </a:prstGeom>
            <a:solidFill>
              <a:srgbClr val="CCFFFF"/>
            </a:solidFill>
            <a:ln w="38100">
              <a:noFill/>
              <a:miter/>
            </a:ln>
          </p:spPr>
        </p:pic>
      </p:grpSp>
      <p:sp>
        <p:nvSpPr>
          <p:cNvPr id="64" name="椭圆 63"/>
          <p:cNvSpPr>
            <a:spLocks noChangeAspect="1"/>
          </p:cNvSpPr>
          <p:nvPr/>
        </p:nvSpPr>
        <p:spPr>
          <a:xfrm>
            <a:off x="4421187" y="2420938"/>
            <a:ext cx="301625" cy="301625"/>
          </a:xfrm>
          <a:prstGeom prst="ellipse">
            <a:avLst/>
          </a:prstGeom>
          <a:gradFill rotWithShape="1">
            <a:gsLst>
              <a:gs pos="0">
                <a:schemeClr val="folHlink">
                  <a:gamma/>
                  <a:tint val="10588"/>
                  <a:invGamma/>
                  <a:alpha val="80000"/>
                </a:schemeClr>
              </a:gs>
              <a:gs pos="100000">
                <a:schemeClr val="folHlink">
                  <a:alpha val="80000"/>
                </a:schemeClr>
              </a:gs>
            </a:gsLst>
            <a:path path="shape">
              <a:fillToRect l="50000" t="50000" r="50000" b="50000"/>
            </a:path>
            <a:tileRect/>
          </a:gradFill>
          <a:ln w="3175" cap="flat" cmpd="sng">
            <a:solidFill>
              <a:srgbClr val="008080"/>
            </a:solidFill>
            <a:prstDash val="solid"/>
            <a:headEnd type="none" w="med" len="med"/>
            <a:tailEnd type="none" w="med" len="med"/>
          </a:ln>
        </p:spPr>
        <p:txBody>
          <a:bodyPr/>
          <a:lstStyle>
            <a:defPPr>
              <a:defRPr lang="en-US"/>
            </a:defPPr>
            <a:lvl1pPr marL="0" lvl="0"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sng" kern="1200" baseline="0">
                <a:solidFill>
                  <a:schemeClr val="tx1"/>
                </a:solidFill>
                <a:latin typeface="Arial" panose="020B0604020202020204" pitchFamily="34" charset="0"/>
                <a:ea typeface="宋体" panose="02010600030101010101" pitchFamily="2" charset="-122"/>
                <a:cs typeface="+mn-cs"/>
              </a:defRPr>
            </a:lvl9pPr>
          </a:lstStyle>
          <a:p>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pic>
        <p:nvPicPr>
          <p:cNvPr id="1026" name="Picture 2"/>
          <p:cNvPicPr>
            <a:picLocks noChangeAspect="1" noChangeArrowheads="1"/>
          </p:cNvPicPr>
          <p:nvPr/>
        </p:nvPicPr>
        <p:blipFill>
          <a:blip r:embed="rId3" cstate="print"/>
          <a:srcRect/>
          <a:stretch>
            <a:fillRect/>
          </a:stretch>
        </p:blipFill>
        <p:spPr bwMode="auto">
          <a:xfrm>
            <a:off x="1357290" y="571486"/>
            <a:ext cx="6000768" cy="4500576"/>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1252" name="直接连接符 51251"/>
          <p:cNvSpPr>
            <a:spLocks noChangeAspect="1"/>
          </p:cNvSpPr>
          <p:nvPr/>
        </p:nvSpPr>
        <p:spPr>
          <a:xfrm>
            <a:off x="2875360" y="1395413"/>
            <a:ext cx="0" cy="1959769"/>
          </a:xfrm>
          <a:prstGeom prst="line">
            <a:avLst/>
          </a:prstGeom>
          <a:ln w="12700" cap="flat" cmpd="sng">
            <a:solidFill>
              <a:schemeClr val="bg1"/>
            </a:solidFill>
            <a:prstDash val="lgDash"/>
            <a:headEnd type="none" w="med" len="med"/>
            <a:tailEnd type="none" w="med" len="med"/>
          </a:ln>
        </p:spPr>
      </p:sp>
      <p:sp>
        <p:nvSpPr>
          <p:cNvPr id="51212" name="椭圆 51211"/>
          <p:cNvSpPr>
            <a:spLocks noChangeAspect="1"/>
          </p:cNvSpPr>
          <p:nvPr/>
        </p:nvSpPr>
        <p:spPr>
          <a:xfrm>
            <a:off x="3087291" y="2908697"/>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21" name="椭圆 51220"/>
          <p:cNvSpPr>
            <a:spLocks noChangeAspect="1"/>
          </p:cNvSpPr>
          <p:nvPr/>
        </p:nvSpPr>
        <p:spPr>
          <a:xfrm>
            <a:off x="2731294" y="3263504"/>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1224" name="椭圆 51223"/>
          <p:cNvSpPr>
            <a:spLocks noChangeAspect="1"/>
          </p:cNvSpPr>
          <p:nvPr/>
        </p:nvSpPr>
        <p:spPr>
          <a:xfrm>
            <a:off x="3492104" y="4090988"/>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28" name="直接连接符 51227"/>
          <p:cNvSpPr>
            <a:spLocks noChangeAspect="1"/>
          </p:cNvSpPr>
          <p:nvPr/>
        </p:nvSpPr>
        <p:spPr>
          <a:xfrm>
            <a:off x="2871788" y="3357563"/>
            <a:ext cx="957263" cy="0"/>
          </a:xfrm>
          <a:prstGeom prst="line">
            <a:avLst/>
          </a:prstGeom>
          <a:ln w="12700" cap="flat" cmpd="sng">
            <a:solidFill>
              <a:schemeClr val="bg1"/>
            </a:solidFill>
            <a:prstDash val="solid"/>
            <a:headEnd type="none" w="med" len="med"/>
            <a:tailEnd type="none" w="med" len="med"/>
          </a:ln>
        </p:spPr>
      </p:sp>
      <p:sp>
        <p:nvSpPr>
          <p:cNvPr id="51231" name="直接连接符 51230"/>
          <p:cNvSpPr>
            <a:spLocks noChangeAspect="1"/>
          </p:cNvSpPr>
          <p:nvPr/>
        </p:nvSpPr>
        <p:spPr>
          <a:xfrm>
            <a:off x="2817019" y="4157663"/>
            <a:ext cx="792956" cy="0"/>
          </a:xfrm>
          <a:prstGeom prst="line">
            <a:avLst/>
          </a:prstGeom>
          <a:ln w="12700" cap="flat" cmpd="sng">
            <a:solidFill>
              <a:schemeClr val="bg1"/>
            </a:solidFill>
            <a:prstDash val="solid"/>
            <a:headEnd type="none" w="med" len="med"/>
            <a:tailEnd type="none" w="med" len="med"/>
          </a:ln>
        </p:spPr>
      </p:sp>
      <p:sp>
        <p:nvSpPr>
          <p:cNvPr id="51238" name="椭圆 51237"/>
          <p:cNvSpPr>
            <a:spLocks noChangeAspect="1"/>
          </p:cNvSpPr>
          <p:nvPr/>
        </p:nvSpPr>
        <p:spPr>
          <a:xfrm>
            <a:off x="2715816" y="2538413"/>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60" name="文本框 51259"/>
          <p:cNvSpPr txBox="1"/>
          <p:nvPr/>
        </p:nvSpPr>
        <p:spPr>
          <a:xfrm>
            <a:off x="1115894" y="987346"/>
            <a:ext cx="1389380" cy="368300"/>
          </a:xfrm>
          <a:prstGeom prst="rect">
            <a:avLst/>
          </a:prstGeom>
          <a:noFill/>
          <a:ln w="12700">
            <a:noFill/>
          </a:ln>
        </p:spPr>
        <p:txBody>
          <a:bodyPr wrap="none" anchor="t" anchorCtr="0">
            <a:spAutoFit/>
          </a:bodyPr>
          <a:lstStyle/>
          <a:p>
            <a:pPr algn="ctr"/>
            <a:r>
              <a:rPr lang="zh-CN" altLang="en-US" b="1" u="none" dirty="0">
                <a:solidFill>
                  <a:srgbClr val="000000"/>
                </a:solidFill>
                <a:latin typeface="Times New Roman" panose="02020603050405020304" pitchFamily="18" charset="0"/>
              </a:rPr>
              <a:t>八面体间隙 </a:t>
            </a:r>
            <a:endParaRPr lang="zh-CN" altLang="en-US" b="1" u="none" dirty="0">
              <a:solidFill>
                <a:srgbClr val="000000"/>
              </a:solidFill>
              <a:latin typeface="Times New Roman" panose="02020603050405020304" pitchFamily="18" charset="0"/>
            </a:endParaRPr>
          </a:p>
        </p:txBody>
      </p:sp>
      <p:sp>
        <p:nvSpPr>
          <p:cNvPr id="51261" name="矩形 51260"/>
          <p:cNvSpPr/>
          <p:nvPr/>
        </p:nvSpPr>
        <p:spPr>
          <a:xfrm>
            <a:off x="3428841" y="-26194"/>
            <a:ext cx="309880" cy="598805"/>
          </a:xfrm>
          <a:prstGeom prst="rect">
            <a:avLst/>
          </a:prstGeom>
          <a:noFill/>
          <a:ln w="12700">
            <a:noFill/>
          </a:ln>
        </p:spPr>
        <p:txBody>
          <a:bodyPr wrap="none" anchor="t" anchorCtr="0">
            <a:spAutoFit/>
          </a:bodyPr>
          <a:lstStyle/>
          <a:p>
            <a:pPr algn="ctr"/>
            <a:endParaRPr lang="zh-CN" altLang="en-US" sz="3300" u="none" dirty="0">
              <a:solidFill>
                <a:schemeClr val="bg1"/>
              </a:solidFill>
              <a:latin typeface="Times New Roman" panose="02020603050405020304" pitchFamily="18" charset="0"/>
            </a:endParaRPr>
          </a:p>
        </p:txBody>
      </p:sp>
      <p:sp>
        <p:nvSpPr>
          <p:cNvPr id="51226" name="直接连接符 51225"/>
          <p:cNvSpPr>
            <a:spLocks noChangeAspect="1"/>
          </p:cNvSpPr>
          <p:nvPr/>
        </p:nvSpPr>
        <p:spPr>
          <a:xfrm flipV="1">
            <a:off x="2107406" y="3355181"/>
            <a:ext cx="767954" cy="447675"/>
          </a:xfrm>
          <a:prstGeom prst="line">
            <a:avLst/>
          </a:prstGeom>
          <a:ln w="12700" cap="flat" cmpd="sng">
            <a:solidFill>
              <a:schemeClr val="bg1"/>
            </a:solidFill>
            <a:prstDash val="solid"/>
            <a:headEnd type="none" w="med" len="med"/>
            <a:tailEnd type="none" w="med" len="med"/>
          </a:ln>
        </p:spPr>
      </p:sp>
      <p:sp>
        <p:nvSpPr>
          <p:cNvPr id="51229" name="直接连接符 51228"/>
          <p:cNvSpPr>
            <a:spLocks noChangeAspect="1"/>
          </p:cNvSpPr>
          <p:nvPr/>
        </p:nvSpPr>
        <p:spPr>
          <a:xfrm>
            <a:off x="3863579" y="3415904"/>
            <a:ext cx="513159" cy="326231"/>
          </a:xfrm>
          <a:prstGeom prst="line">
            <a:avLst/>
          </a:prstGeom>
          <a:ln w="12700" cap="flat" cmpd="sng">
            <a:solidFill>
              <a:schemeClr val="bg1"/>
            </a:solidFill>
            <a:prstDash val="solid"/>
            <a:headEnd type="none" w="med" len="med"/>
            <a:tailEnd type="none" w="med" len="med"/>
          </a:ln>
        </p:spPr>
      </p:sp>
      <p:sp>
        <p:nvSpPr>
          <p:cNvPr id="51225" name="椭圆 51224"/>
          <p:cNvSpPr>
            <a:spLocks noChangeAspect="1"/>
          </p:cNvSpPr>
          <p:nvPr/>
        </p:nvSpPr>
        <p:spPr>
          <a:xfrm>
            <a:off x="3153966" y="3686175"/>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78" name="直接连接符 51277"/>
          <p:cNvSpPr/>
          <p:nvPr/>
        </p:nvSpPr>
        <p:spPr>
          <a:xfrm>
            <a:off x="2107406" y="3820716"/>
            <a:ext cx="2262188" cy="0"/>
          </a:xfrm>
          <a:prstGeom prst="line">
            <a:avLst/>
          </a:prstGeom>
          <a:ln w="12700" cap="flat" cmpd="sng">
            <a:solidFill>
              <a:schemeClr val="bg1"/>
            </a:solidFill>
            <a:prstDash val="lgDash"/>
            <a:headEnd type="none" w="med" len="med"/>
            <a:tailEnd type="none" w="med" len="med"/>
          </a:ln>
        </p:spPr>
      </p:sp>
      <p:sp>
        <p:nvSpPr>
          <p:cNvPr id="51218" name="椭圆 51217"/>
          <p:cNvSpPr>
            <a:spLocks noChangeAspect="1"/>
          </p:cNvSpPr>
          <p:nvPr/>
        </p:nvSpPr>
        <p:spPr>
          <a:xfrm>
            <a:off x="3593306" y="2538413"/>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grpSp>
        <p:nvGrpSpPr>
          <p:cNvPr id="51313" name="组合 51312"/>
          <p:cNvGrpSpPr/>
          <p:nvPr/>
        </p:nvGrpSpPr>
        <p:grpSpPr>
          <a:xfrm>
            <a:off x="1972866" y="1727597"/>
            <a:ext cx="279797" cy="2227659"/>
            <a:chOff x="867" y="1338"/>
            <a:chExt cx="235" cy="1897"/>
          </a:xfrm>
        </p:grpSpPr>
        <p:sp>
          <p:nvSpPr>
            <p:cNvPr id="51220" name="椭圆 51219"/>
            <p:cNvSpPr>
              <a:spLocks noChangeAspect="1"/>
            </p:cNvSpPr>
            <p:nvPr/>
          </p:nvSpPr>
          <p:spPr>
            <a:xfrm>
              <a:off x="867" y="3039"/>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32" name="直接连接符 51231"/>
            <p:cNvSpPr>
              <a:spLocks noChangeAspect="1"/>
            </p:cNvSpPr>
            <p:nvPr/>
          </p:nvSpPr>
          <p:spPr>
            <a:xfrm>
              <a:off x="985" y="1446"/>
              <a:ext cx="0" cy="1646"/>
            </a:xfrm>
            <a:prstGeom prst="line">
              <a:avLst/>
            </a:prstGeom>
            <a:ln w="12700" cap="flat" cmpd="sng">
              <a:solidFill>
                <a:schemeClr val="bg1"/>
              </a:solidFill>
              <a:prstDash val="solid"/>
              <a:headEnd type="none" w="med" len="med"/>
              <a:tailEnd type="none" w="med" len="med"/>
            </a:ln>
          </p:spPr>
        </p:sp>
        <p:sp>
          <p:nvSpPr>
            <p:cNvPr id="51240" name="椭圆 51239"/>
            <p:cNvSpPr>
              <a:spLocks noChangeAspect="1"/>
            </p:cNvSpPr>
            <p:nvPr/>
          </p:nvSpPr>
          <p:spPr>
            <a:xfrm>
              <a:off x="867" y="1338"/>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grpSp>
      <p:sp>
        <p:nvSpPr>
          <p:cNvPr id="51241" name="椭圆 51240"/>
          <p:cNvSpPr>
            <a:spLocks noChangeAspect="1"/>
          </p:cNvSpPr>
          <p:nvPr/>
        </p:nvSpPr>
        <p:spPr>
          <a:xfrm>
            <a:off x="2734866" y="1301354"/>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grpSp>
        <p:nvGrpSpPr>
          <p:cNvPr id="51309" name="组合 51308"/>
          <p:cNvGrpSpPr/>
          <p:nvPr/>
        </p:nvGrpSpPr>
        <p:grpSpPr>
          <a:xfrm>
            <a:off x="4268391" y="1694260"/>
            <a:ext cx="279797" cy="2262188"/>
            <a:chOff x="2370" y="1338"/>
            <a:chExt cx="235" cy="1897"/>
          </a:xfrm>
        </p:grpSpPr>
        <p:sp>
          <p:nvSpPr>
            <p:cNvPr id="51208" name="直接连接符 51207"/>
            <p:cNvSpPr>
              <a:spLocks noChangeAspect="1"/>
            </p:cNvSpPr>
            <p:nvPr/>
          </p:nvSpPr>
          <p:spPr>
            <a:xfrm>
              <a:off x="2471" y="1448"/>
              <a:ext cx="0" cy="1686"/>
            </a:xfrm>
            <a:prstGeom prst="line">
              <a:avLst/>
            </a:prstGeom>
            <a:ln w="12700" cap="flat" cmpd="sng">
              <a:solidFill>
                <a:schemeClr val="bg1"/>
              </a:solidFill>
              <a:prstDash val="solid"/>
              <a:headEnd type="none" w="med" len="med"/>
              <a:tailEnd type="none" w="med" len="med"/>
            </a:ln>
          </p:spPr>
        </p:sp>
        <p:sp>
          <p:nvSpPr>
            <p:cNvPr id="51222" name="椭圆 51221"/>
            <p:cNvSpPr>
              <a:spLocks noChangeAspect="1"/>
            </p:cNvSpPr>
            <p:nvPr/>
          </p:nvSpPr>
          <p:spPr>
            <a:xfrm>
              <a:off x="2370" y="3039"/>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42" name="椭圆 51241"/>
            <p:cNvSpPr>
              <a:spLocks noChangeAspect="1"/>
            </p:cNvSpPr>
            <p:nvPr/>
          </p:nvSpPr>
          <p:spPr>
            <a:xfrm>
              <a:off x="2370" y="1338"/>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grpSp>
      <p:grpSp>
        <p:nvGrpSpPr>
          <p:cNvPr id="51310" name="组合 51309"/>
          <p:cNvGrpSpPr/>
          <p:nvPr/>
        </p:nvGrpSpPr>
        <p:grpSpPr>
          <a:xfrm>
            <a:off x="3694510" y="1289447"/>
            <a:ext cx="283369" cy="2195513"/>
            <a:chOff x="1923" y="1054"/>
            <a:chExt cx="238" cy="1844"/>
          </a:xfrm>
        </p:grpSpPr>
        <p:sp>
          <p:nvSpPr>
            <p:cNvPr id="51223" name="椭圆 51222"/>
            <p:cNvSpPr>
              <a:spLocks noChangeAspect="1"/>
            </p:cNvSpPr>
            <p:nvPr/>
          </p:nvSpPr>
          <p:spPr>
            <a:xfrm>
              <a:off x="1923" y="2702"/>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03" name="直接连接符 51202"/>
            <p:cNvSpPr/>
            <p:nvPr/>
          </p:nvSpPr>
          <p:spPr>
            <a:xfrm>
              <a:off x="2067" y="1154"/>
              <a:ext cx="0" cy="1680"/>
            </a:xfrm>
            <a:prstGeom prst="line">
              <a:avLst/>
            </a:prstGeom>
            <a:ln w="12700" cap="flat" cmpd="sng">
              <a:solidFill>
                <a:schemeClr val="bg1"/>
              </a:solidFill>
              <a:prstDash val="lgDash"/>
              <a:headEnd type="none" w="med" len="med"/>
              <a:tailEnd type="none" w="med" len="med"/>
            </a:ln>
          </p:spPr>
        </p:sp>
        <p:sp>
          <p:nvSpPr>
            <p:cNvPr id="51243" name="椭圆 51242"/>
            <p:cNvSpPr>
              <a:spLocks noChangeAspect="1"/>
            </p:cNvSpPr>
            <p:nvPr/>
          </p:nvSpPr>
          <p:spPr>
            <a:xfrm>
              <a:off x="1926" y="1054"/>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grpSp>
      <p:sp>
        <p:nvSpPr>
          <p:cNvPr id="51244" name="椭圆 51243"/>
          <p:cNvSpPr>
            <a:spLocks noChangeAspect="1"/>
          </p:cNvSpPr>
          <p:nvPr/>
        </p:nvSpPr>
        <p:spPr>
          <a:xfrm>
            <a:off x="3482579" y="2095500"/>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45" name="椭圆 51244"/>
          <p:cNvSpPr>
            <a:spLocks noChangeAspect="1"/>
          </p:cNvSpPr>
          <p:nvPr/>
        </p:nvSpPr>
        <p:spPr>
          <a:xfrm>
            <a:off x="3153966" y="1694260"/>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248" name="直接连接符 51247"/>
          <p:cNvSpPr>
            <a:spLocks noChangeAspect="1"/>
          </p:cNvSpPr>
          <p:nvPr/>
        </p:nvSpPr>
        <p:spPr>
          <a:xfrm>
            <a:off x="2875360" y="1395413"/>
            <a:ext cx="953690" cy="0"/>
          </a:xfrm>
          <a:prstGeom prst="line">
            <a:avLst/>
          </a:prstGeom>
          <a:ln w="12700" cap="flat" cmpd="sng">
            <a:solidFill>
              <a:schemeClr val="bg1"/>
            </a:solidFill>
            <a:prstDash val="solid"/>
            <a:headEnd type="none" w="med" len="med"/>
            <a:tailEnd type="none" w="med" len="med"/>
          </a:ln>
        </p:spPr>
      </p:sp>
      <p:sp>
        <p:nvSpPr>
          <p:cNvPr id="51251" name="直接连接符 51250"/>
          <p:cNvSpPr>
            <a:spLocks noChangeAspect="1"/>
          </p:cNvSpPr>
          <p:nvPr/>
        </p:nvSpPr>
        <p:spPr>
          <a:xfrm>
            <a:off x="2884885" y="2188369"/>
            <a:ext cx="736997" cy="0"/>
          </a:xfrm>
          <a:prstGeom prst="line">
            <a:avLst/>
          </a:prstGeom>
          <a:ln w="12700" cap="flat" cmpd="sng">
            <a:solidFill>
              <a:schemeClr val="bg1"/>
            </a:solidFill>
            <a:prstDash val="solid"/>
            <a:headEnd type="none" w="med" len="med"/>
            <a:tailEnd type="none" w="med" len="med"/>
          </a:ln>
        </p:spPr>
      </p:sp>
      <p:sp>
        <p:nvSpPr>
          <p:cNvPr id="51279" name="直接连接符 51278"/>
          <p:cNvSpPr/>
          <p:nvPr/>
        </p:nvSpPr>
        <p:spPr>
          <a:xfrm flipH="1">
            <a:off x="2861072" y="3381375"/>
            <a:ext cx="934640" cy="731044"/>
          </a:xfrm>
          <a:prstGeom prst="line">
            <a:avLst/>
          </a:prstGeom>
          <a:ln w="12700" cap="flat" cmpd="sng">
            <a:solidFill>
              <a:schemeClr val="bg1"/>
            </a:solidFill>
            <a:prstDash val="lgDash"/>
            <a:headEnd type="none" w="med" len="med"/>
            <a:tailEnd type="none" w="med" len="med"/>
          </a:ln>
        </p:spPr>
      </p:sp>
      <p:sp>
        <p:nvSpPr>
          <p:cNvPr id="51280" name="直接连接符 51279"/>
          <p:cNvSpPr/>
          <p:nvPr/>
        </p:nvSpPr>
        <p:spPr>
          <a:xfrm>
            <a:off x="2850356" y="3314700"/>
            <a:ext cx="776288" cy="776288"/>
          </a:xfrm>
          <a:prstGeom prst="line">
            <a:avLst/>
          </a:prstGeom>
          <a:ln w="12700" cap="flat" cmpd="sng">
            <a:solidFill>
              <a:schemeClr val="bg1"/>
            </a:solidFill>
            <a:prstDash val="lgDash"/>
            <a:headEnd type="none" w="med" len="med"/>
            <a:tailEnd type="none" w="med" len="med"/>
          </a:ln>
        </p:spPr>
      </p:sp>
      <p:sp>
        <p:nvSpPr>
          <p:cNvPr id="51291" name="文本框 51290"/>
          <p:cNvSpPr txBox="1"/>
          <p:nvPr/>
        </p:nvSpPr>
        <p:spPr>
          <a:xfrm>
            <a:off x="5829300" y="1600200"/>
            <a:ext cx="1143000" cy="434579"/>
          </a:xfrm>
          <a:prstGeom prst="rect">
            <a:avLst/>
          </a:prstGeom>
          <a:solidFill>
            <a:srgbClr val="FFFF00"/>
          </a:solidFill>
          <a:ln w="9525">
            <a:noFill/>
          </a:ln>
        </p:spPr>
        <p:txBody>
          <a:bodyPr/>
          <a:lstStyle/>
          <a:p>
            <a:pPr algn="ctr">
              <a:spcBef>
                <a:spcPct val="50000"/>
              </a:spcBef>
            </a:pPr>
            <a:r>
              <a:rPr lang="zh-CN" altLang="en-US" sz="2400" b="1" u="none" dirty="0">
                <a:solidFill>
                  <a:srgbClr val="000000"/>
                </a:solidFill>
                <a:latin typeface="黑体" panose="02010609060101010101" charset="-122"/>
                <a:ea typeface="黑体" panose="02010609060101010101" charset="-122"/>
              </a:rPr>
              <a:t>6</a:t>
            </a:r>
            <a:endParaRPr lang="zh-CN" altLang="en-US" sz="2400" b="1" u="none" dirty="0">
              <a:solidFill>
                <a:srgbClr val="000000"/>
              </a:solidFill>
              <a:latin typeface="黑体" panose="02010609060101010101" charset="-122"/>
              <a:ea typeface="黑体" panose="02010609060101010101" charset="-122"/>
            </a:endParaRPr>
          </a:p>
        </p:txBody>
      </p:sp>
      <p:sp>
        <p:nvSpPr>
          <p:cNvPr id="51292" name="标题 51291"/>
          <p:cNvSpPr>
            <a:spLocks noGrp="1"/>
          </p:cNvSpPr>
          <p:nvPr>
            <p:ph type="title" idx="4294967295"/>
          </p:nvPr>
        </p:nvSpPr>
        <p:spPr>
          <a:xfrm>
            <a:off x="95012" y="572532"/>
            <a:ext cx="5775722" cy="446468"/>
          </a:xfrm>
          <a:ln w="12700"/>
        </p:spPr>
        <p:txBody>
          <a:bodyPr vert="horz" wrap="square" lIns="68580" tIns="34290" rIns="68580" bIns="34290" anchor="t" anchorCtr="0">
            <a:spAutoFit/>
          </a:bodyPr>
          <a:lstStyle/>
          <a:p>
            <a:pPr>
              <a:lnSpc>
                <a:spcPct val="100000"/>
              </a:lnSpc>
            </a:pPr>
            <a:r>
              <a:rPr lang="en-US" altLang="zh-CN" sz="2100" dirty="0">
                <a:solidFill>
                  <a:srgbClr val="FF0000"/>
                </a:solidFill>
                <a:latin typeface="宋体" panose="02010600030101010101" pitchFamily="2" charset="-122"/>
              </a:rPr>
              <a:t>3) </a:t>
            </a:r>
            <a:r>
              <a:rPr lang="zh-CN" altLang="en-US" sz="2100" dirty="0">
                <a:solidFill>
                  <a:srgbClr val="FF0000"/>
                </a:solidFill>
                <a:latin typeface="宋体" panose="02010600030101010101" pitchFamily="2" charset="-122"/>
              </a:rPr>
              <a:t>密排六方结构 </a:t>
            </a:r>
            <a:r>
              <a:rPr lang="en-US" altLang="zh-CN" sz="2100" dirty="0">
                <a:solidFill>
                  <a:srgbClr val="FF0000"/>
                </a:solidFill>
                <a:latin typeface="宋体" panose="02010600030101010101" pitchFamily="2" charset="-122"/>
              </a:rPr>
              <a:t>(hcp)</a:t>
            </a:r>
            <a:endParaRPr lang="en-US" altLang="zh-CN" sz="2100" dirty="0">
              <a:solidFill>
                <a:srgbClr val="FF0000"/>
              </a:solidFill>
              <a:latin typeface="宋体" panose="02010600030101010101" pitchFamily="2" charset="-122"/>
            </a:endParaRPr>
          </a:p>
        </p:txBody>
      </p:sp>
      <p:sp>
        <p:nvSpPr>
          <p:cNvPr id="51311" name="直接连接符 51310"/>
          <p:cNvSpPr/>
          <p:nvPr/>
        </p:nvSpPr>
        <p:spPr>
          <a:xfrm flipV="1">
            <a:off x="3626644" y="1795463"/>
            <a:ext cx="776288" cy="404813"/>
          </a:xfrm>
          <a:prstGeom prst="line">
            <a:avLst/>
          </a:prstGeom>
          <a:ln w="12700" cap="flat" cmpd="sng">
            <a:solidFill>
              <a:schemeClr val="bg1">
                <a:alpha val="70000"/>
              </a:schemeClr>
            </a:solidFill>
            <a:prstDash val="solid"/>
            <a:headEnd type="none" w="med" len="med"/>
            <a:tailEnd type="none" w="med" len="med"/>
          </a:ln>
        </p:spPr>
      </p:sp>
      <p:sp>
        <p:nvSpPr>
          <p:cNvPr id="51312" name="直接连接符 51311"/>
          <p:cNvSpPr/>
          <p:nvPr/>
        </p:nvSpPr>
        <p:spPr>
          <a:xfrm>
            <a:off x="3863579" y="1457325"/>
            <a:ext cx="539353" cy="338138"/>
          </a:xfrm>
          <a:prstGeom prst="line">
            <a:avLst/>
          </a:prstGeom>
          <a:ln w="12700" cap="flat" cmpd="sng">
            <a:solidFill>
              <a:schemeClr val="bg1">
                <a:alpha val="70000"/>
              </a:schemeClr>
            </a:solidFill>
            <a:prstDash val="solid"/>
            <a:headEnd type="none" w="med" len="med"/>
            <a:tailEnd type="none" w="med" len="med"/>
          </a:ln>
        </p:spPr>
      </p:sp>
      <p:sp>
        <p:nvSpPr>
          <p:cNvPr id="51314" name="直接连接符 51313"/>
          <p:cNvSpPr/>
          <p:nvPr/>
        </p:nvSpPr>
        <p:spPr>
          <a:xfrm flipV="1">
            <a:off x="2107406" y="1390650"/>
            <a:ext cx="776288" cy="472679"/>
          </a:xfrm>
          <a:prstGeom prst="line">
            <a:avLst/>
          </a:prstGeom>
          <a:ln w="12700" cap="flat" cmpd="sng">
            <a:solidFill>
              <a:schemeClr val="bg1">
                <a:alpha val="70000"/>
              </a:schemeClr>
            </a:solidFill>
            <a:prstDash val="solid"/>
            <a:headEnd type="none" w="med" len="med"/>
            <a:tailEnd type="none" w="med" len="med"/>
          </a:ln>
        </p:spPr>
      </p:sp>
      <p:sp>
        <p:nvSpPr>
          <p:cNvPr id="51315" name="直接连接符 51314"/>
          <p:cNvSpPr/>
          <p:nvPr/>
        </p:nvSpPr>
        <p:spPr>
          <a:xfrm>
            <a:off x="2107406" y="1863329"/>
            <a:ext cx="641747" cy="336947"/>
          </a:xfrm>
          <a:prstGeom prst="line">
            <a:avLst/>
          </a:prstGeom>
          <a:ln w="12700" cap="flat" cmpd="sng">
            <a:solidFill>
              <a:schemeClr val="bg1">
                <a:alpha val="70000"/>
              </a:schemeClr>
            </a:solidFill>
            <a:prstDash val="solid"/>
            <a:headEnd type="none" w="med" len="med"/>
            <a:tailEnd type="none" w="med" len="med"/>
          </a:ln>
        </p:spPr>
      </p:sp>
      <p:sp>
        <p:nvSpPr>
          <p:cNvPr id="51318" name="椭圆 51317"/>
          <p:cNvSpPr>
            <a:spLocks noChangeAspect="1"/>
          </p:cNvSpPr>
          <p:nvPr/>
        </p:nvSpPr>
        <p:spPr>
          <a:xfrm>
            <a:off x="2647950" y="4090988"/>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319" name="直接连接符 51318"/>
          <p:cNvSpPr>
            <a:spLocks noChangeAspect="1"/>
          </p:cNvSpPr>
          <p:nvPr/>
        </p:nvSpPr>
        <p:spPr>
          <a:xfrm>
            <a:off x="2788444" y="2194322"/>
            <a:ext cx="0" cy="1997869"/>
          </a:xfrm>
          <a:prstGeom prst="line">
            <a:avLst/>
          </a:prstGeom>
          <a:ln w="12700" cap="flat" cmpd="sng">
            <a:solidFill>
              <a:schemeClr val="bg1"/>
            </a:solidFill>
            <a:prstDash val="solid"/>
            <a:headEnd type="none" w="med" len="med"/>
            <a:tailEnd type="none" w="med" len="med"/>
          </a:ln>
        </p:spPr>
      </p:sp>
      <p:sp>
        <p:nvSpPr>
          <p:cNvPr id="51320" name="椭圆 51319"/>
          <p:cNvSpPr>
            <a:spLocks noChangeAspect="1"/>
          </p:cNvSpPr>
          <p:nvPr/>
        </p:nvSpPr>
        <p:spPr>
          <a:xfrm>
            <a:off x="2647950" y="2099072"/>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wrap="none" anchor="ctr" anchorCtr="0"/>
          <a:lstStyle/>
          <a:p>
            <a:pPr algn="ctr"/>
            <a:endParaRPr lang="zh-CN" altLang="en-US" sz="1350" u="sng" dirty="0">
              <a:latin typeface="Arial" panose="020B0604020202020204" pitchFamily="34" charset="0"/>
            </a:endParaRPr>
          </a:p>
        </p:txBody>
      </p:sp>
      <p:sp>
        <p:nvSpPr>
          <p:cNvPr id="51322" name="直接连接符 51321"/>
          <p:cNvSpPr/>
          <p:nvPr/>
        </p:nvSpPr>
        <p:spPr>
          <a:xfrm>
            <a:off x="2107406" y="3820716"/>
            <a:ext cx="641747" cy="336947"/>
          </a:xfrm>
          <a:prstGeom prst="line">
            <a:avLst/>
          </a:prstGeom>
          <a:ln w="12700" cap="flat" cmpd="sng">
            <a:solidFill>
              <a:schemeClr val="tx1">
                <a:alpha val="70000"/>
              </a:schemeClr>
            </a:solidFill>
            <a:prstDash val="solid"/>
            <a:headEnd type="none" w="med" len="med"/>
            <a:tailEnd type="none" w="med" len="med"/>
          </a:ln>
        </p:spPr>
      </p:sp>
      <p:sp>
        <p:nvSpPr>
          <p:cNvPr id="51323" name="直接连接符 51322"/>
          <p:cNvSpPr/>
          <p:nvPr/>
        </p:nvSpPr>
        <p:spPr>
          <a:xfrm flipV="1">
            <a:off x="3626644" y="3719513"/>
            <a:ext cx="776288" cy="472679"/>
          </a:xfrm>
          <a:prstGeom prst="line">
            <a:avLst/>
          </a:prstGeom>
          <a:ln w="12700" cap="flat" cmpd="sng">
            <a:solidFill>
              <a:schemeClr val="tx1">
                <a:alpha val="70000"/>
              </a:schemeClr>
            </a:solidFill>
            <a:prstDash val="solid"/>
            <a:headEnd type="none" w="med" len="med"/>
            <a:tailEnd type="none" w="med" len="med"/>
          </a:ln>
        </p:spPr>
      </p:sp>
      <p:sp>
        <p:nvSpPr>
          <p:cNvPr id="51215" name="直接连接符 51214"/>
          <p:cNvSpPr>
            <a:spLocks noChangeAspect="1"/>
          </p:cNvSpPr>
          <p:nvPr/>
        </p:nvSpPr>
        <p:spPr>
          <a:xfrm>
            <a:off x="3618310" y="2190750"/>
            <a:ext cx="0" cy="2034779"/>
          </a:xfrm>
          <a:prstGeom prst="line">
            <a:avLst/>
          </a:prstGeom>
          <a:ln w="12700" cap="flat" cmpd="sng">
            <a:solidFill>
              <a:schemeClr val="bg1"/>
            </a:solidFill>
            <a:prstDash val="solid"/>
            <a:headEnd type="none" w="med" len="med"/>
            <a:tailEnd type="none" w="med" len="med"/>
          </a:ln>
        </p:spPr>
      </p:sp>
      <p:sp>
        <p:nvSpPr>
          <p:cNvPr id="51325" name="直接连接符 51324"/>
          <p:cNvSpPr/>
          <p:nvPr/>
        </p:nvSpPr>
        <p:spPr>
          <a:xfrm flipH="1">
            <a:off x="2850356" y="1491854"/>
            <a:ext cx="934641" cy="731044"/>
          </a:xfrm>
          <a:prstGeom prst="line">
            <a:avLst/>
          </a:prstGeom>
          <a:ln w="12700" cap="flat" cmpd="sng">
            <a:solidFill>
              <a:schemeClr val="bg1"/>
            </a:solidFill>
            <a:prstDash val="solid"/>
            <a:headEnd type="none" w="med" len="med"/>
            <a:tailEnd type="none" w="med" len="med"/>
          </a:ln>
        </p:spPr>
      </p:sp>
      <p:sp>
        <p:nvSpPr>
          <p:cNvPr id="51326" name="直接连接符 51325"/>
          <p:cNvSpPr/>
          <p:nvPr/>
        </p:nvSpPr>
        <p:spPr>
          <a:xfrm>
            <a:off x="2884885" y="1390650"/>
            <a:ext cx="776288" cy="776288"/>
          </a:xfrm>
          <a:prstGeom prst="line">
            <a:avLst/>
          </a:prstGeom>
          <a:ln w="12700" cap="flat" cmpd="sng">
            <a:solidFill>
              <a:schemeClr val="bg1"/>
            </a:solidFill>
            <a:prstDash val="solid"/>
            <a:headEnd type="none" w="med" len="med"/>
            <a:tailEnd type="none" w="med" len="med"/>
          </a:ln>
        </p:spPr>
      </p:sp>
      <p:sp>
        <p:nvSpPr>
          <p:cNvPr id="51324" name="直接连接符 51323"/>
          <p:cNvSpPr/>
          <p:nvPr/>
        </p:nvSpPr>
        <p:spPr>
          <a:xfrm flipV="1">
            <a:off x="2107406" y="1795463"/>
            <a:ext cx="2262188" cy="33338"/>
          </a:xfrm>
          <a:prstGeom prst="line">
            <a:avLst/>
          </a:prstGeom>
          <a:ln w="12700" cap="flat" cmpd="sng">
            <a:solidFill>
              <a:schemeClr val="bg1"/>
            </a:solidFill>
            <a:prstDash val="solid"/>
            <a:headEnd type="none" w="med" len="med"/>
            <a:tailEnd type="none" w="med" len="med"/>
          </a:ln>
        </p:spPr>
      </p:sp>
      <p:grpSp>
        <p:nvGrpSpPr>
          <p:cNvPr id="51337" name="组合 51336"/>
          <p:cNvGrpSpPr/>
          <p:nvPr/>
        </p:nvGrpSpPr>
        <p:grpSpPr>
          <a:xfrm>
            <a:off x="1803797" y="1828800"/>
            <a:ext cx="1476375" cy="1351360"/>
            <a:chOff x="555" y="1536"/>
            <a:chExt cx="1240" cy="1135"/>
          </a:xfrm>
        </p:grpSpPr>
        <p:sp>
          <p:nvSpPr>
            <p:cNvPr id="51273" name="矩形 51272"/>
            <p:cNvSpPr/>
            <p:nvPr/>
          </p:nvSpPr>
          <p:spPr>
            <a:xfrm>
              <a:off x="1132" y="1905"/>
              <a:ext cx="347" cy="309"/>
            </a:xfrm>
            <a:prstGeom prst="rect">
              <a:avLst/>
            </a:prstGeom>
            <a:noFill/>
            <a:ln w="12700">
              <a:noFill/>
            </a:ln>
          </p:spPr>
          <p:txBody>
            <a:bodyPr wrap="none" anchor="t" anchorCtr="0">
              <a:spAutoFit/>
            </a:bodyPr>
            <a:lstStyle/>
            <a:p>
              <a:pPr algn="ctr"/>
              <a:r>
                <a:rPr lang="zh-CN" altLang="en-US" b="1" u="none" dirty="0">
                  <a:solidFill>
                    <a:srgbClr val="FF3399"/>
                  </a:solidFill>
                  <a:effectLst>
                    <a:outerShdw blurRad="38100" dist="38100" dir="2700000">
                      <a:srgbClr val="000000"/>
                    </a:outerShdw>
                  </a:effectLst>
                  <a:latin typeface="Times New Roman" panose="02020603050405020304" pitchFamily="18" charset="0"/>
                  <a:ea typeface="黑体" panose="02010609060101010101" charset="-122"/>
                </a:rPr>
                <a:t>×</a:t>
              </a:r>
              <a:endParaRPr lang="zh-CN" altLang="en-US" b="1" u="none" dirty="0">
                <a:solidFill>
                  <a:srgbClr val="FF3399"/>
                </a:solidFill>
                <a:effectLst>
                  <a:outerShdw blurRad="38100" dist="38100" dir="2700000">
                    <a:srgbClr val="000000"/>
                  </a:outerShdw>
                </a:effectLst>
                <a:latin typeface="Times New Roman" panose="02020603050405020304" pitchFamily="18" charset="0"/>
                <a:ea typeface="黑体" panose="02010609060101010101" charset="-122"/>
              </a:endParaRPr>
            </a:p>
          </p:txBody>
        </p:sp>
        <p:grpSp>
          <p:nvGrpSpPr>
            <p:cNvPr id="51336" name="组合 51335"/>
            <p:cNvGrpSpPr/>
            <p:nvPr/>
          </p:nvGrpSpPr>
          <p:grpSpPr>
            <a:xfrm>
              <a:off x="555" y="1536"/>
              <a:ext cx="1240" cy="1135"/>
              <a:chOff x="555" y="1536"/>
              <a:chExt cx="1240" cy="1135"/>
            </a:xfrm>
          </p:grpSpPr>
          <p:grpSp>
            <p:nvGrpSpPr>
              <p:cNvPr id="51334" name="组合 51333"/>
              <p:cNvGrpSpPr/>
              <p:nvPr/>
            </p:nvGrpSpPr>
            <p:grpSpPr>
              <a:xfrm>
                <a:off x="555" y="1536"/>
                <a:ext cx="1240" cy="1135"/>
                <a:chOff x="555" y="1528"/>
                <a:chExt cx="1240" cy="1135"/>
              </a:xfrm>
            </p:grpSpPr>
            <p:grpSp>
              <p:nvGrpSpPr>
                <p:cNvPr id="51332" name="组合 51331"/>
                <p:cNvGrpSpPr/>
                <p:nvPr/>
              </p:nvGrpSpPr>
              <p:grpSpPr>
                <a:xfrm>
                  <a:off x="555" y="1528"/>
                  <a:ext cx="1240" cy="1135"/>
                  <a:chOff x="555" y="1528"/>
                  <a:chExt cx="1240" cy="1135"/>
                </a:xfrm>
              </p:grpSpPr>
              <p:sp>
                <p:nvSpPr>
                  <p:cNvPr id="51265" name="直接连接符 51264"/>
                  <p:cNvSpPr/>
                  <p:nvPr/>
                </p:nvSpPr>
                <p:spPr>
                  <a:xfrm rot="-204847">
                    <a:off x="876" y="1528"/>
                    <a:ext cx="861" cy="48"/>
                  </a:xfrm>
                  <a:prstGeom prst="line">
                    <a:avLst/>
                  </a:prstGeom>
                  <a:ln w="12700" cap="flat" cmpd="sng">
                    <a:solidFill>
                      <a:srgbClr val="FF0000"/>
                    </a:solidFill>
                    <a:prstDash val="solid"/>
                    <a:headEnd type="none" w="med" len="med"/>
                    <a:tailEnd type="none" w="med" len="med"/>
                  </a:ln>
                </p:spPr>
              </p:sp>
              <p:sp>
                <p:nvSpPr>
                  <p:cNvPr id="51271" name="直接连接符 51270"/>
                  <p:cNvSpPr/>
                  <p:nvPr/>
                </p:nvSpPr>
                <p:spPr>
                  <a:xfrm rot="-204847">
                    <a:off x="866" y="1542"/>
                    <a:ext cx="456" cy="720"/>
                  </a:xfrm>
                  <a:prstGeom prst="line">
                    <a:avLst/>
                  </a:prstGeom>
                  <a:ln w="12700" cap="flat" cmpd="sng">
                    <a:solidFill>
                      <a:srgbClr val="FF0000"/>
                    </a:solidFill>
                    <a:prstDash val="dash"/>
                    <a:headEnd type="none" w="med" len="med"/>
                    <a:tailEnd type="none" w="med" len="med"/>
                  </a:ln>
                </p:spPr>
              </p:sp>
              <p:sp>
                <p:nvSpPr>
                  <p:cNvPr id="51266" name="直接连接符 51265"/>
                  <p:cNvSpPr/>
                  <p:nvPr/>
                </p:nvSpPr>
                <p:spPr>
                  <a:xfrm rot="-204847" flipH="1">
                    <a:off x="1343" y="1562"/>
                    <a:ext cx="405" cy="336"/>
                  </a:xfrm>
                  <a:prstGeom prst="line">
                    <a:avLst/>
                  </a:prstGeom>
                  <a:ln w="12700" cap="flat" cmpd="sng">
                    <a:solidFill>
                      <a:srgbClr val="FF0000"/>
                    </a:solidFill>
                    <a:prstDash val="solid"/>
                    <a:headEnd type="none" w="med" len="med"/>
                    <a:tailEnd type="none" w="med" len="med"/>
                  </a:ln>
                </p:spPr>
              </p:sp>
              <p:sp>
                <p:nvSpPr>
                  <p:cNvPr id="51270" name="直接连接符 51269"/>
                  <p:cNvSpPr/>
                  <p:nvPr/>
                </p:nvSpPr>
                <p:spPr>
                  <a:xfrm rot="-204847">
                    <a:off x="1381" y="2233"/>
                    <a:ext cx="405" cy="288"/>
                  </a:xfrm>
                  <a:prstGeom prst="line">
                    <a:avLst/>
                  </a:prstGeom>
                  <a:ln w="12700" cap="flat" cmpd="sng">
                    <a:solidFill>
                      <a:srgbClr val="FF0000"/>
                    </a:solidFill>
                    <a:prstDash val="dash"/>
                    <a:headEnd type="none" w="med" len="med"/>
                    <a:tailEnd type="none" w="med" len="med"/>
                  </a:ln>
                </p:spPr>
              </p:sp>
              <p:sp>
                <p:nvSpPr>
                  <p:cNvPr id="51262" name="椭圆 51261"/>
                  <p:cNvSpPr>
                    <a:spLocks noChangeAspect="1"/>
                  </p:cNvSpPr>
                  <p:nvPr/>
                </p:nvSpPr>
                <p:spPr>
                  <a:xfrm>
                    <a:off x="555" y="2500"/>
                    <a:ext cx="218" cy="1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a:noFill/>
                  </a:ln>
                </p:spPr>
                <p:txBody>
                  <a:bodyPr wrap="none" anchor="ctr" anchorCtr="0"/>
                  <a:lstStyle/>
                  <a:p>
                    <a:pPr algn="ctr"/>
                    <a:endParaRPr lang="zh-CN" altLang="en-US" sz="1350" u="sng" dirty="0">
                      <a:latin typeface="Arial" panose="020B0604020202020204" pitchFamily="34" charset="0"/>
                    </a:endParaRPr>
                  </a:p>
                </p:txBody>
              </p:sp>
              <p:sp>
                <p:nvSpPr>
                  <p:cNvPr id="51268" name="直接连接符 51267"/>
                  <p:cNvSpPr/>
                  <p:nvPr/>
                </p:nvSpPr>
                <p:spPr>
                  <a:xfrm rot="-204847">
                    <a:off x="725" y="2536"/>
                    <a:ext cx="1070" cy="5"/>
                  </a:xfrm>
                  <a:prstGeom prst="line">
                    <a:avLst/>
                  </a:prstGeom>
                  <a:ln w="12700" cap="flat" cmpd="sng">
                    <a:solidFill>
                      <a:srgbClr val="FF0000"/>
                    </a:solidFill>
                    <a:prstDash val="solid"/>
                    <a:headEnd type="none" w="med" len="med"/>
                    <a:tailEnd type="none" w="med" len="med"/>
                  </a:ln>
                </p:spPr>
              </p:sp>
              <p:sp>
                <p:nvSpPr>
                  <p:cNvPr id="51272" name="直接连接符 51271"/>
                  <p:cNvSpPr/>
                  <p:nvPr/>
                </p:nvSpPr>
                <p:spPr>
                  <a:xfrm rot="-204847">
                    <a:off x="1395" y="1893"/>
                    <a:ext cx="384" cy="626"/>
                  </a:xfrm>
                  <a:prstGeom prst="line">
                    <a:avLst/>
                  </a:prstGeom>
                  <a:ln w="12700" cap="rnd" cmpd="sng">
                    <a:solidFill>
                      <a:srgbClr val="FF0000"/>
                    </a:solidFill>
                    <a:prstDash val="sysDot"/>
                    <a:headEnd type="none" w="med" len="med"/>
                    <a:tailEnd type="none" w="med" len="med"/>
                  </a:ln>
                </p:spPr>
              </p:sp>
              <p:sp>
                <p:nvSpPr>
                  <p:cNvPr id="51293" name="直接连接符 51292"/>
                  <p:cNvSpPr/>
                  <p:nvPr/>
                </p:nvSpPr>
                <p:spPr>
                  <a:xfrm rot="-204847">
                    <a:off x="1773" y="1597"/>
                    <a:ext cx="0" cy="879"/>
                  </a:xfrm>
                  <a:prstGeom prst="line">
                    <a:avLst/>
                  </a:prstGeom>
                  <a:ln w="12700" cap="flat" cmpd="sng">
                    <a:solidFill>
                      <a:srgbClr val="FF0000">
                        <a:alpha val="70000"/>
                      </a:srgbClr>
                    </a:solidFill>
                    <a:prstDash val="solid"/>
                    <a:headEnd type="none" w="med" len="med"/>
                    <a:tailEnd type="none" w="med" len="med"/>
                  </a:ln>
                </p:spPr>
              </p:sp>
              <p:sp>
                <p:nvSpPr>
                  <p:cNvPr id="51303" name="直接连接符 51302"/>
                  <p:cNvSpPr/>
                  <p:nvPr/>
                </p:nvSpPr>
                <p:spPr>
                  <a:xfrm rot="-204847" flipH="1">
                    <a:off x="696" y="1571"/>
                    <a:ext cx="180" cy="964"/>
                  </a:xfrm>
                  <a:prstGeom prst="line">
                    <a:avLst/>
                  </a:prstGeom>
                  <a:ln w="12700" cap="flat" cmpd="sng">
                    <a:solidFill>
                      <a:srgbClr val="FF0000">
                        <a:alpha val="70000"/>
                      </a:srgbClr>
                    </a:solidFill>
                    <a:prstDash val="solid"/>
                    <a:headEnd type="none" w="med" len="med"/>
                    <a:tailEnd type="none" w="med" len="med"/>
                  </a:ln>
                </p:spPr>
              </p:sp>
              <p:sp>
                <p:nvSpPr>
                  <p:cNvPr id="51304" name="直接连接符 51303"/>
                  <p:cNvSpPr/>
                  <p:nvPr/>
                </p:nvSpPr>
                <p:spPr>
                  <a:xfrm rot="-204847" flipH="1">
                    <a:off x="707" y="1955"/>
                    <a:ext cx="629" cy="567"/>
                  </a:xfrm>
                  <a:prstGeom prst="line">
                    <a:avLst/>
                  </a:prstGeom>
                  <a:ln w="12700" cap="flat" cmpd="sng">
                    <a:solidFill>
                      <a:srgbClr val="FF0000">
                        <a:alpha val="70000"/>
                      </a:srgbClr>
                    </a:solidFill>
                    <a:prstDash val="solid"/>
                    <a:headEnd type="none" w="med" len="med"/>
                    <a:tailEnd type="none" w="med" len="med"/>
                  </a:ln>
                </p:spPr>
              </p:sp>
            </p:grpSp>
            <p:grpSp>
              <p:nvGrpSpPr>
                <p:cNvPr id="51333" name="组合 51332"/>
                <p:cNvGrpSpPr/>
                <p:nvPr/>
              </p:nvGrpSpPr>
              <p:grpSpPr>
                <a:xfrm>
                  <a:off x="717" y="1565"/>
                  <a:ext cx="634" cy="984"/>
                  <a:chOff x="717" y="1565"/>
                  <a:chExt cx="634" cy="984"/>
                </a:xfrm>
              </p:grpSpPr>
              <p:sp>
                <p:nvSpPr>
                  <p:cNvPr id="51269" name="直接连接符 51268"/>
                  <p:cNvSpPr/>
                  <p:nvPr/>
                </p:nvSpPr>
                <p:spPr>
                  <a:xfrm rot="-204847" flipH="1">
                    <a:off x="717" y="2266"/>
                    <a:ext cx="634" cy="283"/>
                  </a:xfrm>
                  <a:prstGeom prst="line">
                    <a:avLst/>
                  </a:prstGeom>
                  <a:ln w="12700" cap="flat" cmpd="sng">
                    <a:solidFill>
                      <a:srgbClr val="FF0000"/>
                    </a:solidFill>
                    <a:prstDash val="dash"/>
                    <a:headEnd type="none" w="med" len="med"/>
                    <a:tailEnd type="none" w="med" len="med"/>
                  </a:ln>
                </p:spPr>
              </p:sp>
              <p:sp>
                <p:nvSpPr>
                  <p:cNvPr id="51329" name="直接连接符 51328"/>
                  <p:cNvSpPr/>
                  <p:nvPr/>
                </p:nvSpPr>
                <p:spPr>
                  <a:xfrm>
                    <a:off x="839" y="1565"/>
                    <a:ext cx="482" cy="255"/>
                  </a:xfrm>
                  <a:prstGeom prst="line">
                    <a:avLst/>
                  </a:prstGeom>
                  <a:ln w="12700" cap="flat" cmpd="sng">
                    <a:solidFill>
                      <a:srgbClr val="FF0000">
                        <a:alpha val="70000"/>
                      </a:srgbClr>
                    </a:solidFill>
                    <a:prstDash val="solid"/>
                    <a:headEnd type="none" w="med" len="med"/>
                    <a:tailEnd type="none" w="med" len="med"/>
                  </a:ln>
                </p:spPr>
              </p:sp>
            </p:grpSp>
          </p:grpSp>
          <p:sp>
            <p:nvSpPr>
              <p:cNvPr id="51335" name="直接连接符 51334"/>
              <p:cNvSpPr/>
              <p:nvPr/>
            </p:nvSpPr>
            <p:spPr>
              <a:xfrm flipV="1">
                <a:off x="1434" y="1565"/>
                <a:ext cx="312" cy="680"/>
              </a:xfrm>
              <a:prstGeom prst="line">
                <a:avLst/>
              </a:prstGeom>
              <a:ln w="12700" cap="flat" cmpd="sng">
                <a:solidFill>
                  <a:srgbClr val="FF0000">
                    <a:alpha val="70000"/>
                  </a:srgbClr>
                </a:solidFill>
                <a:prstDash val="dash"/>
                <a:headEnd type="none" w="med" len="med"/>
                <a:tailEnd type="none" w="med" len="med"/>
              </a:ln>
            </p:spPr>
          </p:sp>
        </p:grpSp>
      </p:grpSp>
      <p:grpSp>
        <p:nvGrpSpPr>
          <p:cNvPr id="3" name="组合 2"/>
          <p:cNvGrpSpPr/>
          <p:nvPr/>
        </p:nvGrpSpPr>
        <p:grpSpPr>
          <a:xfrm>
            <a:off x="0" y="0"/>
            <a:ext cx="9144000" cy="642620"/>
            <a:chOff x="0" y="0"/>
            <a:chExt cx="14400" cy="1012"/>
          </a:xfrm>
        </p:grpSpPr>
        <p:pic>
          <p:nvPicPr>
            <p:cNvPr id="4" name="Picture 3"/>
            <p:cNvPicPr>
              <a:picLocks noChangeAspect="1" noChangeArrowheads="1"/>
            </p:cNvPicPr>
            <p:nvPr/>
          </p:nvPicPr>
          <p:blipFill>
            <a:blip r:embed="rId1" cstate="print"/>
            <a:srcRect/>
            <a:stretch>
              <a:fillRect/>
            </a:stretch>
          </p:blipFill>
          <p:spPr bwMode="auto">
            <a:xfrm>
              <a:off x="0" y="0"/>
              <a:ext cx="1045" cy="1012"/>
            </a:xfrm>
            <a:prstGeom prst="rect">
              <a:avLst/>
            </a:prstGeom>
            <a:noFill/>
            <a:ln w="9525">
              <a:noFill/>
              <a:miter lim="800000"/>
              <a:headEnd/>
              <a:tailEnd/>
            </a:ln>
            <a:effectLst/>
          </p:spPr>
        </p:pic>
        <p:pic>
          <p:nvPicPr>
            <p:cNvPr id="5" name="图片 4" descr="5.jpg"/>
            <p:cNvPicPr>
              <a:picLocks noChangeAspect="1"/>
            </p:cNvPicPr>
            <p:nvPr/>
          </p:nvPicPr>
          <p:blipFill>
            <a:blip r:embed="rId2" cstate="print"/>
            <a:stretch>
              <a:fillRect/>
            </a:stretch>
          </p:blipFill>
          <p:spPr>
            <a:xfrm>
              <a:off x="11138" y="112"/>
              <a:ext cx="2925" cy="665"/>
            </a:xfrm>
            <a:prstGeom prst="rect">
              <a:avLst/>
            </a:prstGeom>
          </p:spPr>
        </p:pic>
        <p:cxnSp>
          <p:nvCxnSpPr>
            <p:cNvPr id="6" name="直接连接符 5"/>
            <p:cNvCxnSpPr/>
            <p:nvPr/>
          </p:nvCxnSpPr>
          <p:spPr>
            <a:xfrm>
              <a:off x="1012" y="787"/>
              <a:ext cx="10125"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1138" y="787"/>
              <a:ext cx="3262"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25" y="112"/>
              <a:ext cx="6817" cy="72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337"/>
                                        </p:tgtEl>
                                        <p:attrNameLst>
                                          <p:attrName>style.visibility</p:attrName>
                                        </p:attrNameLst>
                                      </p:cBhvr>
                                      <p:to>
                                        <p:strVal val="visible"/>
                                      </p:to>
                                    </p:set>
                                    <p:anim calcmode="lin" valueType="num">
                                      <p:cBhvr additive="base">
                                        <p:cTn id="7" dur="500" fill="hold"/>
                                        <p:tgtEl>
                                          <p:spTgt spid="51337"/>
                                        </p:tgtEl>
                                        <p:attrNameLst>
                                          <p:attrName>ppt_x</p:attrName>
                                        </p:attrNameLst>
                                      </p:cBhvr>
                                      <p:tavLst>
                                        <p:tav tm="0">
                                          <p:val>
                                            <p:strVal val="#ppt_x"/>
                                          </p:val>
                                        </p:tav>
                                        <p:tav tm="100000">
                                          <p:val>
                                            <p:strVal val="#ppt_x"/>
                                          </p:val>
                                        </p:tav>
                                      </p:tavLst>
                                    </p:anim>
                                    <p:anim calcmode="lin" valueType="num">
                                      <p:cBhvr additive="base">
                                        <p:cTn id="8" dur="500" fill="hold"/>
                                        <p:tgtEl>
                                          <p:spTgt spid="513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0237" name="矩形 50236"/>
          <p:cNvSpPr/>
          <p:nvPr/>
        </p:nvSpPr>
        <p:spPr>
          <a:xfrm>
            <a:off x="1485583" y="843360"/>
            <a:ext cx="567690" cy="414020"/>
          </a:xfrm>
          <a:prstGeom prst="rect">
            <a:avLst/>
          </a:prstGeom>
          <a:noFill/>
          <a:ln w="12700">
            <a:noFill/>
          </a:ln>
        </p:spPr>
        <p:txBody>
          <a:bodyPr wrap="none" anchor="t" anchorCtr="0">
            <a:spAutoFit/>
          </a:bodyPr>
          <a:lstStyle/>
          <a:p>
            <a:r>
              <a:rPr lang="en-US" altLang="zh-CN" sz="2100" u="none" dirty="0">
                <a:solidFill>
                  <a:srgbClr val="6600FF"/>
                </a:solidFill>
                <a:latin typeface="Times New Roman" panose="02020603050405020304" pitchFamily="18" charset="0"/>
              </a:rPr>
              <a:t>hcp</a:t>
            </a:r>
            <a:endParaRPr lang="zh-CN" altLang="en-US" sz="2100" u="none">
              <a:solidFill>
                <a:srgbClr val="6600FF"/>
              </a:solidFill>
              <a:latin typeface="Times New Roman" panose="02020603050405020304" pitchFamily="18" charset="0"/>
            </a:endParaRPr>
          </a:p>
        </p:txBody>
      </p:sp>
      <p:sp>
        <p:nvSpPr>
          <p:cNvPr id="50238" name="文本框 50237"/>
          <p:cNvSpPr txBox="1"/>
          <p:nvPr/>
        </p:nvSpPr>
        <p:spPr>
          <a:xfrm>
            <a:off x="2134831" y="843519"/>
            <a:ext cx="1522730" cy="414020"/>
          </a:xfrm>
          <a:prstGeom prst="rect">
            <a:avLst/>
          </a:prstGeom>
          <a:noFill/>
          <a:ln w="12700">
            <a:noFill/>
          </a:ln>
        </p:spPr>
        <p:txBody>
          <a:bodyPr wrap="none" anchor="t" anchorCtr="0">
            <a:spAutoFit/>
          </a:bodyPr>
          <a:lstStyle/>
          <a:p>
            <a:pPr algn="ctr"/>
            <a:r>
              <a:rPr lang="zh-CN" altLang="en-US" sz="2100" b="1" u="none" dirty="0">
                <a:solidFill>
                  <a:srgbClr val="000000"/>
                </a:solidFill>
                <a:latin typeface="Times New Roman" panose="02020603050405020304" pitchFamily="18" charset="0"/>
                <a:ea typeface="楷体_GB2312" pitchFamily="49" charset="-122"/>
              </a:rPr>
              <a:t>四面体间隙</a:t>
            </a:r>
            <a:endParaRPr lang="zh-CN" altLang="en-US" sz="2100" b="1" u="none" dirty="0">
              <a:solidFill>
                <a:srgbClr val="000000"/>
              </a:solidFill>
              <a:latin typeface="Times New Roman" panose="02020603050405020304" pitchFamily="18" charset="0"/>
              <a:ea typeface="楷体_GB2312" pitchFamily="49" charset="-122"/>
            </a:endParaRPr>
          </a:p>
        </p:txBody>
      </p:sp>
      <p:sp>
        <p:nvSpPr>
          <p:cNvPr id="50253" name="直接连接符 50252"/>
          <p:cNvSpPr/>
          <p:nvPr/>
        </p:nvSpPr>
        <p:spPr>
          <a:xfrm>
            <a:off x="3143250" y="1776413"/>
            <a:ext cx="0" cy="2000250"/>
          </a:xfrm>
          <a:prstGeom prst="line">
            <a:avLst/>
          </a:prstGeom>
          <a:ln w="12700" cap="flat" cmpd="sng">
            <a:solidFill>
              <a:schemeClr val="bg1"/>
            </a:solidFill>
            <a:prstDash val="lgDash"/>
            <a:headEnd type="none" w="med" len="med"/>
            <a:tailEnd type="none" w="med" len="med"/>
          </a:ln>
        </p:spPr>
      </p:sp>
      <p:sp>
        <p:nvSpPr>
          <p:cNvPr id="50256" name="椭圆 50255"/>
          <p:cNvSpPr>
            <a:spLocks noChangeAspect="1"/>
          </p:cNvSpPr>
          <p:nvPr/>
        </p:nvSpPr>
        <p:spPr>
          <a:xfrm>
            <a:off x="2227660" y="2450306"/>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60" name="直接连接符 50259"/>
          <p:cNvSpPr>
            <a:spLocks noChangeAspect="1"/>
          </p:cNvSpPr>
          <p:nvPr/>
        </p:nvSpPr>
        <p:spPr>
          <a:xfrm flipV="1">
            <a:off x="1854994" y="2731294"/>
            <a:ext cx="559594" cy="372666"/>
          </a:xfrm>
          <a:prstGeom prst="line">
            <a:avLst/>
          </a:prstGeom>
          <a:ln w="12700" cap="flat" cmpd="sng">
            <a:solidFill>
              <a:schemeClr val="bg1"/>
            </a:solidFill>
            <a:prstDash val="lgDash"/>
            <a:headEnd type="none" w="med" len="med"/>
            <a:tailEnd type="none" w="med" len="med"/>
          </a:ln>
        </p:spPr>
      </p:sp>
      <p:sp>
        <p:nvSpPr>
          <p:cNvPr id="50262" name="椭圆 50261"/>
          <p:cNvSpPr>
            <a:spLocks noChangeAspect="1"/>
          </p:cNvSpPr>
          <p:nvPr/>
        </p:nvSpPr>
        <p:spPr>
          <a:xfrm>
            <a:off x="2694385" y="3198019"/>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64" name="直接连接符 50263"/>
          <p:cNvSpPr>
            <a:spLocks noChangeAspect="1"/>
          </p:cNvSpPr>
          <p:nvPr/>
        </p:nvSpPr>
        <p:spPr>
          <a:xfrm>
            <a:off x="2368154" y="2590800"/>
            <a:ext cx="0" cy="1959769"/>
          </a:xfrm>
          <a:prstGeom prst="line">
            <a:avLst/>
          </a:prstGeom>
          <a:ln w="12700" cap="flat" cmpd="sng">
            <a:solidFill>
              <a:schemeClr val="bg1"/>
            </a:solidFill>
            <a:prstDash val="solid"/>
            <a:headEnd type="none" w="med" len="med"/>
            <a:tailEnd type="none" w="med" len="med"/>
          </a:ln>
        </p:spPr>
      </p:sp>
      <p:sp>
        <p:nvSpPr>
          <p:cNvPr id="50266" name="直接连接符 50265"/>
          <p:cNvSpPr>
            <a:spLocks noChangeAspect="1"/>
          </p:cNvSpPr>
          <p:nvPr/>
        </p:nvSpPr>
        <p:spPr>
          <a:xfrm flipV="1">
            <a:off x="2834879" y="3057525"/>
            <a:ext cx="792956" cy="46435"/>
          </a:xfrm>
          <a:prstGeom prst="line">
            <a:avLst/>
          </a:prstGeom>
          <a:ln w="12700" cap="flat" cmpd="sng">
            <a:solidFill>
              <a:schemeClr val="bg1"/>
            </a:solidFill>
            <a:prstDash val="lgDash"/>
            <a:headEnd type="none" w="med" len="med"/>
            <a:tailEnd type="none" w="med" len="med"/>
          </a:ln>
        </p:spPr>
      </p:sp>
      <p:sp>
        <p:nvSpPr>
          <p:cNvPr id="50270" name="椭圆 50269"/>
          <p:cNvSpPr>
            <a:spLocks noChangeAspect="1"/>
          </p:cNvSpPr>
          <p:nvPr/>
        </p:nvSpPr>
        <p:spPr>
          <a:xfrm>
            <a:off x="1771650" y="4000500"/>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71" name="椭圆 50270"/>
          <p:cNvSpPr>
            <a:spLocks noChangeAspect="1"/>
          </p:cNvSpPr>
          <p:nvPr/>
        </p:nvSpPr>
        <p:spPr>
          <a:xfrm>
            <a:off x="2274094" y="3663554"/>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78" name="直接连接符 50277"/>
          <p:cNvSpPr>
            <a:spLocks noChangeAspect="1"/>
          </p:cNvSpPr>
          <p:nvPr/>
        </p:nvSpPr>
        <p:spPr>
          <a:xfrm>
            <a:off x="2414588" y="3757613"/>
            <a:ext cx="746522" cy="0"/>
          </a:xfrm>
          <a:prstGeom prst="line">
            <a:avLst/>
          </a:prstGeom>
          <a:ln w="12700" cap="flat" cmpd="sng">
            <a:solidFill>
              <a:schemeClr val="bg1"/>
            </a:solidFill>
            <a:prstDash val="solid"/>
            <a:headEnd type="none" w="med" len="med"/>
            <a:tailEnd type="none" w="med" len="med"/>
          </a:ln>
        </p:spPr>
      </p:sp>
      <p:sp>
        <p:nvSpPr>
          <p:cNvPr id="50279" name="直接连接符 50278"/>
          <p:cNvSpPr>
            <a:spLocks noChangeAspect="1"/>
          </p:cNvSpPr>
          <p:nvPr/>
        </p:nvSpPr>
        <p:spPr>
          <a:xfrm>
            <a:off x="3114675" y="3757613"/>
            <a:ext cx="513160" cy="326231"/>
          </a:xfrm>
          <a:prstGeom prst="line">
            <a:avLst/>
          </a:prstGeom>
          <a:ln w="12700" cap="flat" cmpd="sng">
            <a:solidFill>
              <a:schemeClr val="bg1"/>
            </a:solidFill>
            <a:prstDash val="solid"/>
            <a:headEnd type="none" w="med" len="med"/>
            <a:tailEnd type="none" w="med" len="med"/>
          </a:ln>
        </p:spPr>
      </p:sp>
      <p:sp>
        <p:nvSpPr>
          <p:cNvPr id="50280" name="直接连接符 50279"/>
          <p:cNvSpPr>
            <a:spLocks noChangeAspect="1"/>
          </p:cNvSpPr>
          <p:nvPr/>
        </p:nvSpPr>
        <p:spPr>
          <a:xfrm flipH="1">
            <a:off x="3161110" y="4083844"/>
            <a:ext cx="466725" cy="466725"/>
          </a:xfrm>
          <a:prstGeom prst="line">
            <a:avLst/>
          </a:prstGeom>
          <a:ln w="12700" cap="flat" cmpd="sng">
            <a:solidFill>
              <a:schemeClr val="bg1"/>
            </a:solidFill>
            <a:prstDash val="solid"/>
            <a:headEnd type="none" w="med" len="med"/>
            <a:tailEnd type="none" w="med" len="med"/>
          </a:ln>
        </p:spPr>
      </p:sp>
      <p:sp>
        <p:nvSpPr>
          <p:cNvPr id="50281" name="直接连接符 50280"/>
          <p:cNvSpPr>
            <a:spLocks noChangeAspect="1"/>
          </p:cNvSpPr>
          <p:nvPr/>
        </p:nvSpPr>
        <p:spPr>
          <a:xfrm>
            <a:off x="2368154" y="4550569"/>
            <a:ext cx="792956" cy="0"/>
          </a:xfrm>
          <a:prstGeom prst="line">
            <a:avLst/>
          </a:prstGeom>
          <a:ln w="12700" cap="flat" cmpd="sng">
            <a:solidFill>
              <a:schemeClr val="bg1"/>
            </a:solidFill>
            <a:prstDash val="solid"/>
            <a:headEnd type="none" w="med" len="med"/>
            <a:tailEnd type="none" w="med" len="med"/>
          </a:ln>
        </p:spPr>
      </p:sp>
      <p:sp>
        <p:nvSpPr>
          <p:cNvPr id="50282" name="直接连接符 50281"/>
          <p:cNvSpPr>
            <a:spLocks noChangeAspect="1"/>
          </p:cNvSpPr>
          <p:nvPr/>
        </p:nvSpPr>
        <p:spPr>
          <a:xfrm>
            <a:off x="1885950" y="2171700"/>
            <a:ext cx="0" cy="1959769"/>
          </a:xfrm>
          <a:prstGeom prst="line">
            <a:avLst/>
          </a:prstGeom>
          <a:ln w="12700" cap="flat" cmpd="sng">
            <a:solidFill>
              <a:schemeClr val="bg1"/>
            </a:solidFill>
            <a:prstDash val="solid"/>
            <a:headEnd type="none" w="med" len="med"/>
            <a:tailEnd type="none" w="med" len="med"/>
          </a:ln>
        </p:spPr>
      </p:sp>
      <p:sp>
        <p:nvSpPr>
          <p:cNvPr id="50283" name="直接连接符 50282"/>
          <p:cNvSpPr>
            <a:spLocks noChangeAspect="1"/>
          </p:cNvSpPr>
          <p:nvPr/>
        </p:nvSpPr>
        <p:spPr>
          <a:xfrm flipV="1">
            <a:off x="2368154" y="3103960"/>
            <a:ext cx="466725" cy="373856"/>
          </a:xfrm>
          <a:prstGeom prst="line">
            <a:avLst/>
          </a:prstGeom>
          <a:ln w="12700" cap="flat" cmpd="sng">
            <a:solidFill>
              <a:schemeClr val="bg1"/>
            </a:solidFill>
            <a:prstDash val="lgDash"/>
            <a:headEnd type="none" w="med" len="med"/>
            <a:tailEnd type="none" w="med" len="med"/>
          </a:ln>
        </p:spPr>
      </p:sp>
      <p:sp>
        <p:nvSpPr>
          <p:cNvPr id="50284" name="直接连接符 50283"/>
          <p:cNvSpPr>
            <a:spLocks noChangeAspect="1"/>
          </p:cNvSpPr>
          <p:nvPr/>
        </p:nvSpPr>
        <p:spPr>
          <a:xfrm>
            <a:off x="2834879" y="3103960"/>
            <a:ext cx="326231" cy="373856"/>
          </a:xfrm>
          <a:prstGeom prst="line">
            <a:avLst/>
          </a:prstGeom>
          <a:ln w="12700" cap="flat" cmpd="sng">
            <a:solidFill>
              <a:schemeClr val="bg1"/>
            </a:solidFill>
            <a:prstDash val="lgDash"/>
            <a:headEnd type="none" w="med" len="med"/>
            <a:tailEnd type="none" w="med" len="med"/>
          </a:ln>
        </p:spPr>
      </p:sp>
      <p:sp>
        <p:nvSpPr>
          <p:cNvPr id="50285" name="直接连接符 50284"/>
          <p:cNvSpPr>
            <a:spLocks noChangeAspect="1"/>
          </p:cNvSpPr>
          <p:nvPr/>
        </p:nvSpPr>
        <p:spPr>
          <a:xfrm flipH="1" flipV="1">
            <a:off x="1854994" y="3103960"/>
            <a:ext cx="513160" cy="373856"/>
          </a:xfrm>
          <a:prstGeom prst="line">
            <a:avLst/>
          </a:prstGeom>
          <a:ln w="12700" cap="flat" cmpd="sng">
            <a:solidFill>
              <a:schemeClr val="bg1"/>
            </a:solidFill>
            <a:prstDash val="lgDash"/>
            <a:headEnd type="none" w="med" len="med"/>
            <a:tailEnd type="none" w="med" len="med"/>
          </a:ln>
        </p:spPr>
      </p:sp>
      <p:sp>
        <p:nvSpPr>
          <p:cNvPr id="50286" name="直接连接符 50285"/>
          <p:cNvSpPr>
            <a:spLocks noChangeAspect="1"/>
          </p:cNvSpPr>
          <p:nvPr/>
        </p:nvSpPr>
        <p:spPr>
          <a:xfrm>
            <a:off x="2414588" y="2731294"/>
            <a:ext cx="420291" cy="372666"/>
          </a:xfrm>
          <a:prstGeom prst="line">
            <a:avLst/>
          </a:prstGeom>
          <a:ln w="12700" cap="flat" cmpd="sng">
            <a:solidFill>
              <a:schemeClr val="bg1"/>
            </a:solidFill>
            <a:prstDash val="lgDash"/>
            <a:headEnd type="none" w="med" len="med"/>
            <a:tailEnd type="none" w="med" len="med"/>
          </a:ln>
        </p:spPr>
      </p:sp>
      <p:sp>
        <p:nvSpPr>
          <p:cNvPr id="50288" name="椭圆 50287"/>
          <p:cNvSpPr>
            <a:spLocks noChangeAspect="1"/>
          </p:cNvSpPr>
          <p:nvPr/>
        </p:nvSpPr>
        <p:spPr>
          <a:xfrm>
            <a:off x="2274094" y="2824163"/>
            <a:ext cx="280988"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90" name="椭圆 50289"/>
          <p:cNvSpPr>
            <a:spLocks noChangeAspect="1"/>
          </p:cNvSpPr>
          <p:nvPr/>
        </p:nvSpPr>
        <p:spPr>
          <a:xfrm>
            <a:off x="1714500" y="1984772"/>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94" name="椭圆 50293"/>
          <p:cNvSpPr>
            <a:spLocks noChangeAspect="1"/>
          </p:cNvSpPr>
          <p:nvPr/>
        </p:nvSpPr>
        <p:spPr>
          <a:xfrm>
            <a:off x="3021806" y="2497931"/>
            <a:ext cx="279797" cy="233363"/>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96" name="直接连接符 50295"/>
          <p:cNvSpPr>
            <a:spLocks noChangeAspect="1"/>
          </p:cNvSpPr>
          <p:nvPr/>
        </p:nvSpPr>
        <p:spPr>
          <a:xfrm flipV="1">
            <a:off x="1854994" y="1797844"/>
            <a:ext cx="559594" cy="326231"/>
          </a:xfrm>
          <a:prstGeom prst="line">
            <a:avLst/>
          </a:prstGeom>
          <a:ln w="12700" cap="flat" cmpd="sng">
            <a:solidFill>
              <a:schemeClr val="bg1"/>
            </a:solidFill>
            <a:prstDash val="solid"/>
            <a:headEnd type="none" w="med" len="med"/>
            <a:tailEnd type="none" w="med" len="med"/>
          </a:ln>
        </p:spPr>
      </p:sp>
      <p:sp>
        <p:nvSpPr>
          <p:cNvPr id="50298" name="直接连接符 50297"/>
          <p:cNvSpPr>
            <a:spLocks noChangeAspect="1"/>
          </p:cNvSpPr>
          <p:nvPr/>
        </p:nvSpPr>
        <p:spPr>
          <a:xfrm>
            <a:off x="2414588" y="1797844"/>
            <a:ext cx="746522" cy="0"/>
          </a:xfrm>
          <a:prstGeom prst="line">
            <a:avLst/>
          </a:prstGeom>
          <a:ln w="12700" cap="flat" cmpd="sng">
            <a:solidFill>
              <a:schemeClr val="bg1"/>
            </a:solidFill>
            <a:prstDash val="solid"/>
            <a:headEnd type="none" w="med" len="med"/>
            <a:tailEnd type="none" w="med" len="med"/>
          </a:ln>
        </p:spPr>
      </p:sp>
      <p:sp>
        <p:nvSpPr>
          <p:cNvPr id="50299" name="直接连接符 50298"/>
          <p:cNvSpPr>
            <a:spLocks noChangeAspect="1"/>
          </p:cNvSpPr>
          <p:nvPr/>
        </p:nvSpPr>
        <p:spPr>
          <a:xfrm>
            <a:off x="3114675" y="1797844"/>
            <a:ext cx="513160" cy="326231"/>
          </a:xfrm>
          <a:prstGeom prst="line">
            <a:avLst/>
          </a:prstGeom>
          <a:ln w="12700" cap="flat" cmpd="sng">
            <a:solidFill>
              <a:schemeClr val="bg1"/>
            </a:solidFill>
            <a:prstDash val="solid"/>
            <a:headEnd type="none" w="med" len="med"/>
            <a:tailEnd type="none" w="med" len="med"/>
          </a:ln>
        </p:spPr>
      </p:sp>
      <p:sp>
        <p:nvSpPr>
          <p:cNvPr id="50301" name="直接连接符 50300"/>
          <p:cNvSpPr>
            <a:spLocks noChangeAspect="1"/>
          </p:cNvSpPr>
          <p:nvPr/>
        </p:nvSpPr>
        <p:spPr>
          <a:xfrm>
            <a:off x="2368154" y="2590800"/>
            <a:ext cx="792956" cy="0"/>
          </a:xfrm>
          <a:prstGeom prst="line">
            <a:avLst/>
          </a:prstGeom>
          <a:ln w="12700" cap="flat" cmpd="sng">
            <a:solidFill>
              <a:schemeClr val="bg1"/>
            </a:solidFill>
            <a:prstDash val="solid"/>
            <a:headEnd type="none" w="med" len="med"/>
            <a:tailEnd type="none" w="med" len="med"/>
          </a:ln>
        </p:spPr>
      </p:sp>
      <p:sp>
        <p:nvSpPr>
          <p:cNvPr id="50302" name="直接连接符 50301"/>
          <p:cNvSpPr>
            <a:spLocks noChangeAspect="1"/>
          </p:cNvSpPr>
          <p:nvPr/>
        </p:nvSpPr>
        <p:spPr>
          <a:xfrm>
            <a:off x="2414588" y="2057400"/>
            <a:ext cx="0" cy="1700213"/>
          </a:xfrm>
          <a:prstGeom prst="line">
            <a:avLst/>
          </a:prstGeom>
          <a:ln w="12700" cap="flat" cmpd="sng">
            <a:solidFill>
              <a:schemeClr val="bg1"/>
            </a:solidFill>
            <a:prstDash val="lgDash"/>
            <a:headEnd type="none" w="med" len="med"/>
            <a:tailEnd type="none" w="med" len="med"/>
          </a:ln>
        </p:spPr>
      </p:sp>
      <p:sp>
        <p:nvSpPr>
          <p:cNvPr id="50306" name="直接连接符 50305"/>
          <p:cNvSpPr>
            <a:spLocks noChangeAspect="1"/>
          </p:cNvSpPr>
          <p:nvPr/>
        </p:nvSpPr>
        <p:spPr>
          <a:xfrm>
            <a:off x="2414588" y="2731294"/>
            <a:ext cx="700088" cy="0"/>
          </a:xfrm>
          <a:prstGeom prst="line">
            <a:avLst/>
          </a:prstGeom>
          <a:ln w="12700" cap="flat" cmpd="sng">
            <a:solidFill>
              <a:schemeClr val="bg1"/>
            </a:solidFill>
            <a:prstDash val="lgDash"/>
            <a:headEnd type="none" w="med" len="med"/>
            <a:tailEnd type="none" w="med" len="med"/>
          </a:ln>
        </p:spPr>
      </p:sp>
      <p:grpSp>
        <p:nvGrpSpPr>
          <p:cNvPr id="50346" name="组合 50345"/>
          <p:cNvGrpSpPr/>
          <p:nvPr/>
        </p:nvGrpSpPr>
        <p:grpSpPr>
          <a:xfrm>
            <a:off x="2606278" y="2457450"/>
            <a:ext cx="1021557" cy="1020366"/>
            <a:chOff x="1229" y="2064"/>
            <a:chExt cx="858" cy="857"/>
          </a:xfrm>
        </p:grpSpPr>
        <p:sp>
          <p:nvSpPr>
            <p:cNvPr id="50247" name="矩形 50246"/>
            <p:cNvSpPr/>
            <p:nvPr/>
          </p:nvSpPr>
          <p:spPr>
            <a:xfrm>
              <a:off x="1229" y="2064"/>
              <a:ext cx="347" cy="309"/>
            </a:xfrm>
            <a:prstGeom prst="rect">
              <a:avLst/>
            </a:prstGeom>
            <a:noFill/>
            <a:ln w="12700">
              <a:noFill/>
            </a:ln>
          </p:spPr>
          <p:txBody>
            <a:bodyPr wrap="none" anchor="t" anchorCtr="0">
              <a:spAutoFit/>
            </a:bodyPr>
            <a:lstStyle/>
            <a:p>
              <a:pPr algn="ctr"/>
              <a:r>
                <a:rPr lang="zh-CN" altLang="en-US" b="1" u="none" dirty="0">
                  <a:solidFill>
                    <a:schemeClr val="bg2"/>
                  </a:solidFill>
                  <a:latin typeface="Times New Roman" panose="02020603050405020304" pitchFamily="18" charset="0"/>
                </a:rPr>
                <a:t>×</a:t>
              </a:r>
              <a:endParaRPr lang="zh-CN" altLang="en-US" b="1" u="none" dirty="0">
                <a:solidFill>
                  <a:schemeClr val="bg2"/>
                </a:solidFill>
                <a:latin typeface="Times New Roman" panose="02020603050405020304" pitchFamily="18" charset="0"/>
              </a:endParaRPr>
            </a:p>
          </p:txBody>
        </p:sp>
        <p:sp>
          <p:nvSpPr>
            <p:cNvPr id="50305" name="直接连接符 50304"/>
            <p:cNvSpPr>
              <a:spLocks noChangeAspect="1"/>
            </p:cNvSpPr>
            <p:nvPr/>
          </p:nvSpPr>
          <p:spPr>
            <a:xfrm flipV="1">
              <a:off x="1695" y="2568"/>
              <a:ext cx="392" cy="353"/>
            </a:xfrm>
            <a:prstGeom prst="line">
              <a:avLst/>
            </a:prstGeom>
            <a:ln w="12700" cap="flat" cmpd="sng">
              <a:solidFill>
                <a:schemeClr val="bg1"/>
              </a:solidFill>
              <a:prstDash val="lgDash"/>
              <a:headEnd type="none" w="med" len="med"/>
              <a:tailEnd type="none" w="med" len="med"/>
            </a:ln>
          </p:spPr>
        </p:sp>
        <p:sp>
          <p:nvSpPr>
            <p:cNvPr id="50307" name="直接连接符 50306"/>
            <p:cNvSpPr>
              <a:spLocks noChangeAspect="1"/>
            </p:cNvSpPr>
            <p:nvPr/>
          </p:nvSpPr>
          <p:spPr>
            <a:xfrm>
              <a:off x="1656" y="2294"/>
              <a:ext cx="431" cy="274"/>
            </a:xfrm>
            <a:prstGeom prst="line">
              <a:avLst/>
            </a:prstGeom>
            <a:ln w="12700" cap="flat" cmpd="sng">
              <a:solidFill>
                <a:schemeClr val="bg1"/>
              </a:solidFill>
              <a:prstDash val="lgDash"/>
              <a:headEnd type="none" w="med" len="med"/>
              <a:tailEnd type="none" w="med" len="med"/>
            </a:ln>
          </p:spPr>
        </p:sp>
      </p:grpSp>
      <p:sp>
        <p:nvSpPr>
          <p:cNvPr id="50308" name="直接连接符 50307"/>
          <p:cNvSpPr>
            <a:spLocks noChangeAspect="1"/>
          </p:cNvSpPr>
          <p:nvPr/>
        </p:nvSpPr>
        <p:spPr>
          <a:xfrm flipH="1">
            <a:off x="2834879" y="2731294"/>
            <a:ext cx="279797" cy="372666"/>
          </a:xfrm>
          <a:prstGeom prst="line">
            <a:avLst/>
          </a:prstGeom>
          <a:ln w="12700" cap="flat" cmpd="sng">
            <a:solidFill>
              <a:schemeClr val="bg1"/>
            </a:solidFill>
            <a:prstDash val="lgDash"/>
            <a:headEnd type="none" w="med" len="med"/>
            <a:tailEnd type="none" w="med" len="med"/>
          </a:ln>
        </p:spPr>
      </p:sp>
      <p:sp>
        <p:nvSpPr>
          <p:cNvPr id="50309" name="直接连接符 50308"/>
          <p:cNvSpPr>
            <a:spLocks noChangeAspect="1"/>
          </p:cNvSpPr>
          <p:nvPr/>
        </p:nvSpPr>
        <p:spPr>
          <a:xfrm>
            <a:off x="1854994" y="3103960"/>
            <a:ext cx="979885" cy="0"/>
          </a:xfrm>
          <a:prstGeom prst="line">
            <a:avLst/>
          </a:prstGeom>
          <a:ln w="12700" cap="flat" cmpd="sng">
            <a:solidFill>
              <a:schemeClr val="bg1"/>
            </a:solidFill>
            <a:prstDash val="lgDash"/>
            <a:headEnd type="none" w="med" len="med"/>
            <a:tailEnd type="none" w="med" len="med"/>
          </a:ln>
        </p:spPr>
      </p:sp>
      <p:grpSp>
        <p:nvGrpSpPr>
          <p:cNvPr id="50345" name="组合 50344"/>
          <p:cNvGrpSpPr/>
          <p:nvPr/>
        </p:nvGrpSpPr>
        <p:grpSpPr>
          <a:xfrm>
            <a:off x="2606278" y="2114550"/>
            <a:ext cx="413147" cy="1885950"/>
            <a:chOff x="1229" y="1776"/>
            <a:chExt cx="347" cy="1584"/>
          </a:xfrm>
        </p:grpSpPr>
        <p:sp>
          <p:nvSpPr>
            <p:cNvPr id="50246" name="矩形 50245"/>
            <p:cNvSpPr/>
            <p:nvPr/>
          </p:nvSpPr>
          <p:spPr>
            <a:xfrm>
              <a:off x="1229" y="2880"/>
              <a:ext cx="347" cy="309"/>
            </a:xfrm>
            <a:prstGeom prst="rect">
              <a:avLst/>
            </a:prstGeom>
            <a:noFill/>
            <a:ln w="12700">
              <a:noFill/>
            </a:ln>
          </p:spPr>
          <p:txBody>
            <a:bodyPr wrap="none" anchor="t" anchorCtr="0">
              <a:spAutoFit/>
            </a:bodyPr>
            <a:lstStyle/>
            <a:p>
              <a:pPr algn="ctr"/>
              <a:r>
                <a:rPr lang="zh-CN" altLang="en-US" b="1" u="none" dirty="0">
                  <a:solidFill>
                    <a:schemeClr val="bg2"/>
                  </a:solidFill>
                  <a:latin typeface="Times New Roman" panose="02020603050405020304" pitchFamily="18" charset="0"/>
                </a:rPr>
                <a:t>×</a:t>
              </a:r>
              <a:endParaRPr lang="zh-CN" altLang="en-US" b="1" u="none" dirty="0">
                <a:solidFill>
                  <a:schemeClr val="bg2"/>
                </a:solidFill>
                <a:latin typeface="Times New Roman" panose="02020603050405020304" pitchFamily="18" charset="0"/>
              </a:endParaRPr>
            </a:p>
          </p:txBody>
        </p:sp>
        <p:sp>
          <p:nvSpPr>
            <p:cNvPr id="50312" name="直接连接符 50311"/>
            <p:cNvSpPr/>
            <p:nvPr/>
          </p:nvSpPr>
          <p:spPr>
            <a:xfrm flipV="1">
              <a:off x="1392" y="1776"/>
              <a:ext cx="0" cy="1584"/>
            </a:xfrm>
            <a:prstGeom prst="line">
              <a:avLst/>
            </a:prstGeom>
            <a:ln w="12700" cap="flat" cmpd="sng">
              <a:solidFill>
                <a:srgbClr val="3366FF"/>
              </a:solidFill>
              <a:prstDash val="lgDash"/>
              <a:headEnd type="none" w="med" len="med"/>
              <a:tailEnd type="none" w="med" len="med"/>
            </a:ln>
          </p:spPr>
        </p:sp>
      </p:grpSp>
      <p:sp>
        <p:nvSpPr>
          <p:cNvPr id="50313" name="直接连接符 50312"/>
          <p:cNvSpPr/>
          <p:nvPr/>
        </p:nvSpPr>
        <p:spPr>
          <a:xfrm>
            <a:off x="2400300" y="2914650"/>
            <a:ext cx="742950" cy="0"/>
          </a:xfrm>
          <a:prstGeom prst="line">
            <a:avLst/>
          </a:prstGeom>
          <a:ln w="12700" cap="flat" cmpd="sng">
            <a:solidFill>
              <a:srgbClr val="FF0000"/>
            </a:solidFill>
            <a:prstDash val="solid"/>
            <a:headEnd type="none" w="med" len="med"/>
            <a:tailEnd type="none" w="med" len="med"/>
          </a:ln>
        </p:spPr>
      </p:sp>
      <p:sp>
        <p:nvSpPr>
          <p:cNvPr id="50314" name="直接连接符 50313"/>
          <p:cNvSpPr/>
          <p:nvPr/>
        </p:nvSpPr>
        <p:spPr>
          <a:xfrm>
            <a:off x="2400300" y="2914650"/>
            <a:ext cx="457200" cy="400050"/>
          </a:xfrm>
          <a:prstGeom prst="line">
            <a:avLst/>
          </a:prstGeom>
          <a:ln w="12700" cap="flat" cmpd="sng">
            <a:solidFill>
              <a:srgbClr val="FF0000"/>
            </a:solidFill>
            <a:prstDash val="solid"/>
            <a:headEnd type="none" w="med" len="med"/>
            <a:tailEnd type="none" w="med" len="med"/>
          </a:ln>
        </p:spPr>
      </p:sp>
      <p:sp>
        <p:nvSpPr>
          <p:cNvPr id="50315" name="直接连接符 50314"/>
          <p:cNvSpPr/>
          <p:nvPr/>
        </p:nvSpPr>
        <p:spPr>
          <a:xfrm flipH="1">
            <a:off x="2857500" y="2914650"/>
            <a:ext cx="285750" cy="400050"/>
          </a:xfrm>
          <a:prstGeom prst="line">
            <a:avLst/>
          </a:prstGeom>
          <a:ln w="12700" cap="flat" cmpd="sng">
            <a:solidFill>
              <a:srgbClr val="FF0066"/>
            </a:solidFill>
            <a:prstDash val="solid"/>
            <a:headEnd type="none" w="med" len="med"/>
            <a:tailEnd type="none" w="med" len="med"/>
          </a:ln>
        </p:spPr>
      </p:sp>
      <p:grpSp>
        <p:nvGrpSpPr>
          <p:cNvPr id="50344" name="组合 50343"/>
          <p:cNvGrpSpPr/>
          <p:nvPr/>
        </p:nvGrpSpPr>
        <p:grpSpPr>
          <a:xfrm>
            <a:off x="1828800" y="1657350"/>
            <a:ext cx="1939529" cy="3033713"/>
            <a:chOff x="576" y="1392"/>
            <a:chExt cx="1629" cy="2548"/>
          </a:xfrm>
        </p:grpSpPr>
        <p:sp>
          <p:nvSpPr>
            <p:cNvPr id="50257" name="椭圆 50256"/>
            <p:cNvSpPr>
              <a:spLocks noChangeAspect="1"/>
            </p:cNvSpPr>
            <p:nvPr/>
          </p:nvSpPr>
          <p:spPr>
            <a:xfrm>
              <a:off x="911" y="3744"/>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58" name="直接连接符 50257"/>
            <p:cNvSpPr>
              <a:spLocks noChangeAspect="1"/>
            </p:cNvSpPr>
            <p:nvPr/>
          </p:nvSpPr>
          <p:spPr>
            <a:xfrm>
              <a:off x="2087" y="1784"/>
              <a:ext cx="0" cy="1686"/>
            </a:xfrm>
            <a:prstGeom prst="line">
              <a:avLst/>
            </a:prstGeom>
            <a:ln w="12700" cap="flat" cmpd="sng">
              <a:solidFill>
                <a:schemeClr val="bg1"/>
              </a:solidFill>
              <a:prstDash val="solid"/>
              <a:headEnd type="none" w="med" len="med"/>
              <a:tailEnd type="none" w="med" len="med"/>
            </a:ln>
          </p:spPr>
        </p:sp>
        <p:sp>
          <p:nvSpPr>
            <p:cNvPr id="50265" name="直接连接符 50264"/>
            <p:cNvSpPr>
              <a:spLocks noChangeAspect="1"/>
            </p:cNvSpPr>
            <p:nvPr/>
          </p:nvSpPr>
          <p:spPr>
            <a:xfrm>
              <a:off x="1695" y="2176"/>
              <a:ext cx="0" cy="1646"/>
            </a:xfrm>
            <a:prstGeom prst="line">
              <a:avLst/>
            </a:prstGeom>
            <a:ln w="12700" cap="flat" cmpd="sng">
              <a:solidFill>
                <a:schemeClr val="bg1"/>
              </a:solidFill>
              <a:prstDash val="solid"/>
              <a:headEnd type="none" w="med" len="med"/>
              <a:tailEnd type="none" w="med" len="med"/>
            </a:ln>
          </p:spPr>
        </p:sp>
        <p:sp>
          <p:nvSpPr>
            <p:cNvPr id="50268" name="椭圆 50267"/>
            <p:cNvSpPr>
              <a:spLocks noChangeAspect="1"/>
            </p:cNvSpPr>
            <p:nvPr/>
          </p:nvSpPr>
          <p:spPr>
            <a:xfrm>
              <a:off x="1578" y="2372"/>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rgbClr val="669900"/>
              </a:solidFill>
              <a:prstDash val="solid"/>
              <a:headEnd type="none" w="med" len="med"/>
              <a:tailEnd type="none" w="med" len="med"/>
            </a:ln>
          </p:spPr>
          <p:txBody>
            <a:bodyPr/>
            <a:lstStyle/>
            <a:p>
              <a:endParaRPr lang="zh-CN" altLang="en-US" sz="1350"/>
            </a:p>
          </p:txBody>
        </p:sp>
        <p:sp>
          <p:nvSpPr>
            <p:cNvPr id="50272" name="椭圆 50271"/>
            <p:cNvSpPr>
              <a:spLocks noChangeAspect="1"/>
            </p:cNvSpPr>
            <p:nvPr/>
          </p:nvSpPr>
          <p:spPr>
            <a:xfrm>
              <a:off x="1968" y="3360"/>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73" name="椭圆 50272"/>
            <p:cNvSpPr>
              <a:spLocks noChangeAspect="1"/>
            </p:cNvSpPr>
            <p:nvPr/>
          </p:nvSpPr>
          <p:spPr>
            <a:xfrm>
              <a:off x="1536" y="3072"/>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74" name="椭圆 50273"/>
            <p:cNvSpPr>
              <a:spLocks noChangeAspect="1"/>
            </p:cNvSpPr>
            <p:nvPr/>
          </p:nvSpPr>
          <p:spPr>
            <a:xfrm>
              <a:off x="1578" y="3744"/>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75" name="椭圆 50274"/>
            <p:cNvSpPr>
              <a:spLocks noChangeAspect="1"/>
            </p:cNvSpPr>
            <p:nvPr/>
          </p:nvSpPr>
          <p:spPr>
            <a:xfrm>
              <a:off x="1296" y="3360"/>
              <a:ext cx="236"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76" name="直接连接符 50275"/>
            <p:cNvSpPr>
              <a:spLocks noChangeAspect="1"/>
            </p:cNvSpPr>
            <p:nvPr/>
          </p:nvSpPr>
          <p:spPr>
            <a:xfrm flipV="1">
              <a:off x="576" y="3168"/>
              <a:ext cx="470" cy="274"/>
            </a:xfrm>
            <a:prstGeom prst="line">
              <a:avLst/>
            </a:prstGeom>
            <a:ln w="12700" cap="flat" cmpd="sng">
              <a:solidFill>
                <a:schemeClr val="bg1"/>
              </a:solidFill>
              <a:prstDash val="solid"/>
              <a:headEnd type="none" w="med" len="med"/>
              <a:tailEnd type="none" w="med" len="med"/>
            </a:ln>
          </p:spPr>
        </p:sp>
        <p:sp>
          <p:nvSpPr>
            <p:cNvPr id="50277" name="直接连接符 50276"/>
            <p:cNvSpPr>
              <a:spLocks noChangeAspect="1"/>
            </p:cNvSpPr>
            <p:nvPr/>
          </p:nvSpPr>
          <p:spPr>
            <a:xfrm>
              <a:off x="598" y="3430"/>
              <a:ext cx="431" cy="392"/>
            </a:xfrm>
            <a:prstGeom prst="line">
              <a:avLst/>
            </a:prstGeom>
            <a:ln w="12700" cap="flat" cmpd="sng">
              <a:solidFill>
                <a:schemeClr val="bg1"/>
              </a:solidFill>
              <a:prstDash val="solid"/>
              <a:headEnd type="none" w="med" len="med"/>
              <a:tailEnd type="none" w="med" len="med"/>
            </a:ln>
          </p:spPr>
        </p:sp>
        <p:sp>
          <p:nvSpPr>
            <p:cNvPr id="50291" name="椭圆 50290"/>
            <p:cNvSpPr>
              <a:spLocks noChangeAspect="1"/>
            </p:cNvSpPr>
            <p:nvPr/>
          </p:nvSpPr>
          <p:spPr>
            <a:xfrm>
              <a:off x="950" y="1431"/>
              <a:ext cx="236"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92" name="椭圆 50291"/>
            <p:cNvSpPr>
              <a:spLocks noChangeAspect="1"/>
            </p:cNvSpPr>
            <p:nvPr/>
          </p:nvSpPr>
          <p:spPr>
            <a:xfrm>
              <a:off x="1970" y="1667"/>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93" name="椭圆 50292"/>
            <p:cNvSpPr>
              <a:spLocks noChangeAspect="1"/>
            </p:cNvSpPr>
            <p:nvPr/>
          </p:nvSpPr>
          <p:spPr>
            <a:xfrm>
              <a:off x="1539" y="1392"/>
              <a:ext cx="235"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95" name="椭圆 50294"/>
            <p:cNvSpPr>
              <a:spLocks noChangeAspect="1"/>
            </p:cNvSpPr>
            <p:nvPr/>
          </p:nvSpPr>
          <p:spPr>
            <a:xfrm>
              <a:off x="1248" y="1680"/>
              <a:ext cx="236" cy="196"/>
            </a:xfrm>
            <a:prstGeom prst="ellipse">
              <a:avLst/>
            </a:prstGeom>
            <a:gradFill rotWithShape="0">
              <a:gsLst>
                <a:gs pos="0">
                  <a:srgbClr val="00CC99"/>
                </a:gs>
                <a:gs pos="100000">
                  <a:srgbClr val="00CC99">
                    <a:gamma/>
                    <a:shade val="46275"/>
                    <a:invGamma/>
                  </a:srgbClr>
                </a:gs>
              </a:gsLst>
              <a:path path="shape">
                <a:fillToRect l="50000" t="50000" r="50000" b="50000"/>
              </a:path>
              <a:tileRect/>
            </a:gradFill>
            <a:ln w="12700" cap="flat" cmpd="sng">
              <a:solidFill>
                <a:schemeClr val="bg1">
                  <a:alpha val="70000"/>
                </a:schemeClr>
              </a:solidFill>
              <a:prstDash val="solid"/>
              <a:headEnd type="none" w="med" len="med"/>
              <a:tailEnd type="none" w="med" len="med"/>
            </a:ln>
          </p:spPr>
          <p:txBody>
            <a:bodyPr/>
            <a:lstStyle/>
            <a:p>
              <a:endParaRPr lang="zh-CN" altLang="en-US" sz="1350"/>
            </a:p>
          </p:txBody>
        </p:sp>
        <p:sp>
          <p:nvSpPr>
            <p:cNvPr id="50297" name="直接连接符 50296"/>
            <p:cNvSpPr>
              <a:spLocks noChangeAspect="1"/>
            </p:cNvSpPr>
            <p:nvPr/>
          </p:nvSpPr>
          <p:spPr>
            <a:xfrm>
              <a:off x="598" y="1784"/>
              <a:ext cx="431" cy="392"/>
            </a:xfrm>
            <a:prstGeom prst="line">
              <a:avLst/>
            </a:prstGeom>
            <a:ln w="12700" cap="flat" cmpd="sng">
              <a:solidFill>
                <a:schemeClr val="bg1"/>
              </a:solidFill>
              <a:prstDash val="solid"/>
              <a:headEnd type="none" w="med" len="med"/>
              <a:tailEnd type="none" w="med" len="med"/>
            </a:ln>
          </p:spPr>
        </p:sp>
        <p:sp>
          <p:nvSpPr>
            <p:cNvPr id="50300" name="直接连接符 50299"/>
            <p:cNvSpPr>
              <a:spLocks noChangeAspect="1"/>
            </p:cNvSpPr>
            <p:nvPr/>
          </p:nvSpPr>
          <p:spPr>
            <a:xfrm flipH="1">
              <a:off x="1695" y="1784"/>
              <a:ext cx="392" cy="392"/>
            </a:xfrm>
            <a:prstGeom prst="line">
              <a:avLst/>
            </a:prstGeom>
            <a:ln w="12700" cap="flat" cmpd="sng">
              <a:solidFill>
                <a:schemeClr val="bg1"/>
              </a:solidFill>
              <a:prstDash val="solid"/>
              <a:headEnd type="none" w="med" len="med"/>
              <a:tailEnd type="none" w="med" len="med"/>
            </a:ln>
          </p:spPr>
        </p:sp>
        <p:sp>
          <p:nvSpPr>
            <p:cNvPr id="50304" name="直接连接符 50303"/>
            <p:cNvSpPr>
              <a:spLocks noChangeAspect="1"/>
            </p:cNvSpPr>
            <p:nvPr/>
          </p:nvSpPr>
          <p:spPr>
            <a:xfrm>
              <a:off x="1029" y="2921"/>
              <a:ext cx="666" cy="0"/>
            </a:xfrm>
            <a:prstGeom prst="line">
              <a:avLst/>
            </a:prstGeom>
            <a:ln w="12700" cap="flat" cmpd="sng">
              <a:solidFill>
                <a:schemeClr val="bg1"/>
              </a:solidFill>
              <a:prstDash val="lgDash"/>
              <a:headEnd type="none" w="med" len="med"/>
              <a:tailEnd type="none" w="med" len="med"/>
            </a:ln>
          </p:spPr>
        </p:sp>
        <p:sp>
          <p:nvSpPr>
            <p:cNvPr id="50316" name="直接连接符 50315"/>
            <p:cNvSpPr/>
            <p:nvPr/>
          </p:nvSpPr>
          <p:spPr>
            <a:xfrm flipV="1">
              <a:off x="1056" y="1824"/>
              <a:ext cx="384" cy="624"/>
            </a:xfrm>
            <a:prstGeom prst="line">
              <a:avLst/>
            </a:prstGeom>
            <a:ln w="12700" cap="flat" cmpd="sng">
              <a:solidFill>
                <a:srgbClr val="FF0000"/>
              </a:solidFill>
              <a:prstDash val="solid"/>
              <a:headEnd type="none" w="med" len="med"/>
              <a:tailEnd type="none" w="med" len="med"/>
            </a:ln>
          </p:spPr>
        </p:sp>
      </p:grpSp>
      <p:sp>
        <p:nvSpPr>
          <p:cNvPr id="50317" name="直接连接符 50316"/>
          <p:cNvSpPr/>
          <p:nvPr/>
        </p:nvSpPr>
        <p:spPr>
          <a:xfrm>
            <a:off x="2857500" y="2171700"/>
            <a:ext cx="285750" cy="742950"/>
          </a:xfrm>
          <a:prstGeom prst="line">
            <a:avLst/>
          </a:prstGeom>
          <a:ln w="12700">
            <a:noFill/>
          </a:ln>
        </p:spPr>
      </p:sp>
      <p:sp>
        <p:nvSpPr>
          <p:cNvPr id="50318" name="直接连接符 50317"/>
          <p:cNvSpPr/>
          <p:nvPr/>
        </p:nvSpPr>
        <p:spPr>
          <a:xfrm>
            <a:off x="2857500" y="2171700"/>
            <a:ext cx="285750" cy="742950"/>
          </a:xfrm>
          <a:prstGeom prst="line">
            <a:avLst/>
          </a:prstGeom>
          <a:ln w="12700" cap="flat" cmpd="sng">
            <a:solidFill>
              <a:srgbClr val="FF0000"/>
            </a:solidFill>
            <a:prstDash val="solid"/>
            <a:headEnd type="none" w="med" len="med"/>
            <a:tailEnd type="none" w="med" len="med"/>
          </a:ln>
        </p:spPr>
      </p:sp>
      <p:sp>
        <p:nvSpPr>
          <p:cNvPr id="50319" name="矩形 50318"/>
          <p:cNvSpPr/>
          <p:nvPr/>
        </p:nvSpPr>
        <p:spPr>
          <a:xfrm>
            <a:off x="2205831" y="2057400"/>
            <a:ext cx="412750" cy="368300"/>
          </a:xfrm>
          <a:prstGeom prst="rect">
            <a:avLst/>
          </a:prstGeom>
          <a:noFill/>
          <a:ln w="12700">
            <a:noFill/>
          </a:ln>
        </p:spPr>
        <p:txBody>
          <a:bodyPr wrap="none" anchor="t" anchorCtr="0">
            <a:spAutoFit/>
          </a:bodyPr>
          <a:lstStyle/>
          <a:p>
            <a:pPr algn="ctr"/>
            <a:r>
              <a:rPr lang="zh-CN" altLang="en-US" b="1" u="none" dirty="0">
                <a:solidFill>
                  <a:schemeClr val="bg2"/>
                </a:solidFill>
                <a:latin typeface="Times New Roman" panose="02020603050405020304" pitchFamily="18" charset="0"/>
              </a:rPr>
              <a:t>×</a:t>
            </a:r>
            <a:endParaRPr lang="zh-CN" altLang="en-US" b="1" u="none" dirty="0">
              <a:solidFill>
                <a:schemeClr val="bg2"/>
              </a:solidFill>
              <a:latin typeface="Times New Roman" panose="02020603050405020304" pitchFamily="18" charset="0"/>
            </a:endParaRPr>
          </a:p>
        </p:txBody>
      </p:sp>
      <p:sp>
        <p:nvSpPr>
          <p:cNvPr id="50322" name="直接连接符 50321"/>
          <p:cNvSpPr/>
          <p:nvPr/>
        </p:nvSpPr>
        <p:spPr>
          <a:xfrm>
            <a:off x="2400300" y="2914650"/>
            <a:ext cx="0" cy="685800"/>
          </a:xfrm>
          <a:prstGeom prst="line">
            <a:avLst/>
          </a:prstGeom>
          <a:ln w="12700" cap="flat" cmpd="sng">
            <a:solidFill>
              <a:srgbClr val="FF0000"/>
            </a:solidFill>
            <a:prstDash val="lgDash"/>
            <a:headEnd type="none" w="med" len="med"/>
            <a:tailEnd type="none" w="med" len="med"/>
          </a:ln>
        </p:spPr>
      </p:sp>
      <p:sp>
        <p:nvSpPr>
          <p:cNvPr id="50323" name="直接连接符 50322"/>
          <p:cNvSpPr/>
          <p:nvPr/>
        </p:nvSpPr>
        <p:spPr>
          <a:xfrm>
            <a:off x="2400300" y="2228850"/>
            <a:ext cx="0" cy="857250"/>
          </a:xfrm>
          <a:prstGeom prst="line">
            <a:avLst/>
          </a:prstGeom>
          <a:ln w="12700" cap="flat" cmpd="sng">
            <a:solidFill>
              <a:srgbClr val="FF0000"/>
            </a:solidFill>
            <a:prstDash val="lgDash"/>
            <a:headEnd type="none" w="med" len="med"/>
            <a:tailEnd type="none" w="med" len="med"/>
          </a:ln>
        </p:spPr>
      </p:sp>
      <p:sp>
        <p:nvSpPr>
          <p:cNvPr id="50324" name="矩形 50323"/>
          <p:cNvSpPr/>
          <p:nvPr/>
        </p:nvSpPr>
        <p:spPr>
          <a:xfrm flipH="1">
            <a:off x="2228850" y="3429000"/>
            <a:ext cx="261938" cy="368300"/>
          </a:xfrm>
          <a:prstGeom prst="rect">
            <a:avLst/>
          </a:prstGeom>
          <a:noFill/>
          <a:ln w="12700">
            <a:noFill/>
          </a:ln>
        </p:spPr>
        <p:txBody>
          <a:bodyPr>
            <a:spAutoFit/>
          </a:bodyPr>
          <a:lstStyle/>
          <a:p>
            <a:pPr algn="ctr"/>
            <a:r>
              <a:rPr lang="zh-CN" altLang="en-US" b="1" u="none" dirty="0">
                <a:solidFill>
                  <a:schemeClr val="bg2"/>
                </a:solidFill>
                <a:latin typeface="Times New Roman" panose="02020603050405020304" pitchFamily="18" charset="0"/>
              </a:rPr>
              <a:t>×</a:t>
            </a:r>
            <a:endParaRPr lang="zh-CN" altLang="en-US" b="1" u="none" dirty="0">
              <a:solidFill>
                <a:schemeClr val="bg2"/>
              </a:solidFill>
              <a:latin typeface="Times New Roman" panose="02020603050405020304" pitchFamily="18" charset="0"/>
            </a:endParaRPr>
          </a:p>
        </p:txBody>
      </p:sp>
      <p:sp>
        <p:nvSpPr>
          <p:cNvPr id="50326" name="直接连接符 50325"/>
          <p:cNvSpPr/>
          <p:nvPr/>
        </p:nvSpPr>
        <p:spPr>
          <a:xfrm>
            <a:off x="2857500" y="3600450"/>
            <a:ext cx="1828800" cy="0"/>
          </a:xfrm>
          <a:prstGeom prst="line">
            <a:avLst/>
          </a:prstGeom>
          <a:ln w="12700" cap="flat" cmpd="sng">
            <a:solidFill>
              <a:srgbClr val="333300"/>
            </a:solidFill>
            <a:prstDash val="solid"/>
            <a:headEnd type="none" w="med" len="med"/>
            <a:tailEnd type="none" w="med" len="med"/>
          </a:ln>
        </p:spPr>
      </p:sp>
      <p:sp>
        <p:nvSpPr>
          <p:cNvPr id="50327" name="直接连接符 50326"/>
          <p:cNvSpPr/>
          <p:nvPr/>
        </p:nvSpPr>
        <p:spPr>
          <a:xfrm>
            <a:off x="2800350" y="2628900"/>
            <a:ext cx="1828800" cy="0"/>
          </a:xfrm>
          <a:prstGeom prst="line">
            <a:avLst/>
          </a:prstGeom>
          <a:ln w="12700" cap="flat" cmpd="sng">
            <a:solidFill>
              <a:srgbClr val="333300"/>
            </a:solidFill>
            <a:prstDash val="solid"/>
            <a:headEnd type="none" w="med" len="med"/>
            <a:tailEnd type="none" w="med" len="med"/>
          </a:ln>
        </p:spPr>
      </p:sp>
      <p:sp>
        <p:nvSpPr>
          <p:cNvPr id="50328" name="直接连接符 50327"/>
          <p:cNvSpPr/>
          <p:nvPr/>
        </p:nvSpPr>
        <p:spPr>
          <a:xfrm>
            <a:off x="3657600" y="4114800"/>
            <a:ext cx="1428750" cy="0"/>
          </a:xfrm>
          <a:prstGeom prst="line">
            <a:avLst/>
          </a:prstGeom>
          <a:ln w="12700" cap="flat" cmpd="sng">
            <a:solidFill>
              <a:schemeClr val="bg2"/>
            </a:solidFill>
            <a:prstDash val="solid"/>
            <a:headEnd type="none" w="med" len="med"/>
            <a:tailEnd type="none" w="med" len="med"/>
          </a:ln>
        </p:spPr>
      </p:sp>
      <p:sp>
        <p:nvSpPr>
          <p:cNvPr id="50329" name="直接连接符 50328"/>
          <p:cNvSpPr/>
          <p:nvPr/>
        </p:nvSpPr>
        <p:spPr>
          <a:xfrm>
            <a:off x="4400550" y="2628900"/>
            <a:ext cx="0" cy="971550"/>
          </a:xfrm>
          <a:prstGeom prst="line">
            <a:avLst/>
          </a:prstGeom>
          <a:ln w="12700" cap="flat" cmpd="sng">
            <a:solidFill>
              <a:schemeClr val="bg2"/>
            </a:solidFill>
            <a:prstDash val="solid"/>
            <a:headEnd type="triangle" w="med" len="med"/>
            <a:tailEnd type="triangle" w="med" len="med"/>
          </a:ln>
        </p:spPr>
      </p:sp>
      <p:sp>
        <p:nvSpPr>
          <p:cNvPr id="50330" name="直接连接符 50329"/>
          <p:cNvSpPr/>
          <p:nvPr/>
        </p:nvSpPr>
        <p:spPr>
          <a:xfrm>
            <a:off x="4229100" y="3600450"/>
            <a:ext cx="0" cy="514350"/>
          </a:xfrm>
          <a:prstGeom prst="line">
            <a:avLst/>
          </a:prstGeom>
          <a:ln w="12700" cap="flat" cmpd="sng">
            <a:solidFill>
              <a:schemeClr val="bg2"/>
            </a:solidFill>
            <a:prstDash val="solid"/>
            <a:headEnd type="triangle" w="med" len="med"/>
            <a:tailEnd type="triangle" w="med" len="med"/>
          </a:ln>
        </p:spPr>
      </p:sp>
      <p:graphicFrame>
        <p:nvGraphicFramePr>
          <p:cNvPr id="50332" name="对象 50331"/>
          <p:cNvGraphicFramePr/>
          <p:nvPr/>
        </p:nvGraphicFramePr>
        <p:xfrm>
          <a:off x="4514850" y="3600450"/>
          <a:ext cx="270272" cy="532210"/>
        </p:xfrm>
        <a:graphic>
          <a:graphicData uri="http://schemas.openxmlformats.org/presentationml/2006/ole">
            <mc:AlternateContent xmlns:mc="http://schemas.openxmlformats.org/markup-compatibility/2006">
              <mc:Choice xmlns:v="urn:schemas-microsoft-com:vml" Requires="v">
                <p:oleObj spid="_x0000_s1025" name="" r:id="rId1" imgW="9448800" imgH="18592800" progId="Equation.3">
                  <p:embed/>
                </p:oleObj>
              </mc:Choice>
              <mc:Fallback>
                <p:oleObj name="" r:id="rId1" imgW="9448800" imgH="18592800" progId="Equation.3">
                  <p:embed/>
                  <p:pic>
                    <p:nvPicPr>
                      <p:cNvPr id="0" name="图片 1024" descr="image1"/>
                      <p:cNvPicPr/>
                      <p:nvPr/>
                    </p:nvPicPr>
                    <p:blipFill>
                      <a:blip r:embed="rId2"/>
                      <a:stretch>
                        <a:fillRect/>
                      </a:stretch>
                    </p:blipFill>
                    <p:spPr>
                      <a:xfrm>
                        <a:off x="4514850" y="3600450"/>
                        <a:ext cx="270272" cy="532210"/>
                      </a:xfrm>
                      <a:prstGeom prst="rect">
                        <a:avLst/>
                      </a:prstGeom>
                      <a:noFill/>
                      <a:ln w="38100">
                        <a:noFill/>
                      </a:ln>
                    </p:spPr>
                  </p:pic>
                </p:oleObj>
              </mc:Fallback>
            </mc:AlternateContent>
          </a:graphicData>
        </a:graphic>
      </p:graphicFrame>
      <p:graphicFrame>
        <p:nvGraphicFramePr>
          <p:cNvPr id="50333" name="对象 50332"/>
          <p:cNvGraphicFramePr/>
          <p:nvPr/>
        </p:nvGraphicFramePr>
        <p:xfrm>
          <a:off x="4629150" y="2800350"/>
          <a:ext cx="295275" cy="581025"/>
        </p:xfrm>
        <a:graphic>
          <a:graphicData uri="http://schemas.openxmlformats.org/presentationml/2006/ole">
            <mc:AlternateContent xmlns:mc="http://schemas.openxmlformats.org/markup-compatibility/2006">
              <mc:Choice xmlns:v="urn:schemas-microsoft-com:vml" Requires="v">
                <p:oleObj spid="_x0000_s1026" name="" r:id="rId3" imgW="9448800" imgH="18592800" progId="Equation.3">
                  <p:embed/>
                </p:oleObj>
              </mc:Choice>
              <mc:Fallback>
                <p:oleObj name="" r:id="rId3" imgW="9448800" imgH="18592800" progId="Equation.3">
                  <p:embed/>
                  <p:pic>
                    <p:nvPicPr>
                      <p:cNvPr id="0" name="图片 1025" descr="image2"/>
                      <p:cNvPicPr/>
                      <p:nvPr/>
                    </p:nvPicPr>
                    <p:blipFill>
                      <a:blip r:embed="rId4"/>
                      <a:stretch>
                        <a:fillRect/>
                      </a:stretch>
                    </p:blipFill>
                    <p:spPr>
                      <a:xfrm>
                        <a:off x="4629150" y="2800350"/>
                        <a:ext cx="295275" cy="581025"/>
                      </a:xfrm>
                      <a:prstGeom prst="rect">
                        <a:avLst/>
                      </a:prstGeom>
                      <a:noFill/>
                      <a:ln w="38100">
                        <a:noFill/>
                      </a:ln>
                    </p:spPr>
                  </p:pic>
                </p:oleObj>
              </mc:Fallback>
            </mc:AlternateContent>
          </a:graphicData>
        </a:graphic>
      </p:graphicFrame>
      <p:sp>
        <p:nvSpPr>
          <p:cNvPr id="50334" name="直接连接符 50333"/>
          <p:cNvSpPr/>
          <p:nvPr/>
        </p:nvSpPr>
        <p:spPr>
          <a:xfrm>
            <a:off x="1143000" y="3943350"/>
            <a:ext cx="1257300" cy="0"/>
          </a:xfrm>
          <a:prstGeom prst="line">
            <a:avLst/>
          </a:prstGeom>
          <a:ln w="12700" cap="flat" cmpd="sng">
            <a:solidFill>
              <a:schemeClr val="bg2"/>
            </a:solidFill>
            <a:prstDash val="solid"/>
            <a:headEnd type="none" w="med" len="med"/>
            <a:tailEnd type="none" w="med" len="med"/>
          </a:ln>
        </p:spPr>
      </p:sp>
      <p:sp>
        <p:nvSpPr>
          <p:cNvPr id="50335" name="直接连接符 50334"/>
          <p:cNvSpPr/>
          <p:nvPr/>
        </p:nvSpPr>
        <p:spPr>
          <a:xfrm flipH="1">
            <a:off x="1371600" y="3600450"/>
            <a:ext cx="1028700" cy="0"/>
          </a:xfrm>
          <a:prstGeom prst="line">
            <a:avLst/>
          </a:prstGeom>
          <a:ln w="12700" cap="flat" cmpd="sng">
            <a:solidFill>
              <a:schemeClr val="bg2"/>
            </a:solidFill>
            <a:prstDash val="solid"/>
            <a:headEnd type="none" w="med" len="med"/>
            <a:tailEnd type="none" w="med" len="med"/>
          </a:ln>
        </p:spPr>
      </p:sp>
      <p:sp>
        <p:nvSpPr>
          <p:cNvPr id="50336" name="直接连接符 50335"/>
          <p:cNvSpPr/>
          <p:nvPr/>
        </p:nvSpPr>
        <p:spPr>
          <a:xfrm flipH="1">
            <a:off x="1371600" y="2286000"/>
            <a:ext cx="1028700" cy="0"/>
          </a:xfrm>
          <a:prstGeom prst="line">
            <a:avLst/>
          </a:prstGeom>
          <a:ln w="12700" cap="flat" cmpd="sng">
            <a:solidFill>
              <a:schemeClr val="bg2"/>
            </a:solidFill>
            <a:prstDash val="solid"/>
            <a:headEnd type="none" w="med" len="med"/>
            <a:tailEnd type="none" w="med" len="med"/>
          </a:ln>
        </p:spPr>
      </p:sp>
      <p:sp>
        <p:nvSpPr>
          <p:cNvPr id="50339" name="直接连接符 50338"/>
          <p:cNvSpPr/>
          <p:nvPr/>
        </p:nvSpPr>
        <p:spPr>
          <a:xfrm>
            <a:off x="1485900" y="2286000"/>
            <a:ext cx="0" cy="1657350"/>
          </a:xfrm>
          <a:prstGeom prst="line">
            <a:avLst/>
          </a:prstGeom>
          <a:ln w="12700" cap="flat" cmpd="sng">
            <a:solidFill>
              <a:schemeClr val="bg2"/>
            </a:solidFill>
            <a:prstDash val="solid"/>
            <a:headEnd type="triangle" w="med" len="med"/>
            <a:tailEnd type="triangle" w="med" len="med"/>
          </a:ln>
        </p:spPr>
      </p:sp>
      <p:graphicFrame>
        <p:nvGraphicFramePr>
          <p:cNvPr id="50340" name="对象 50339"/>
          <p:cNvGraphicFramePr/>
          <p:nvPr/>
        </p:nvGraphicFramePr>
        <p:xfrm>
          <a:off x="1143000" y="2743200"/>
          <a:ext cx="314325" cy="581025"/>
        </p:xfrm>
        <a:graphic>
          <a:graphicData uri="http://schemas.openxmlformats.org/presentationml/2006/ole">
            <mc:AlternateContent xmlns:mc="http://schemas.openxmlformats.org/markup-compatibility/2006">
              <mc:Choice xmlns:v="urn:schemas-microsoft-com:vml" Requires="v">
                <p:oleObj spid="_x0000_s1027" name="" r:id="rId5" imgW="10058400" imgH="18592800" progId="Equation.3">
                  <p:embed/>
                </p:oleObj>
              </mc:Choice>
              <mc:Fallback>
                <p:oleObj name="" r:id="rId5" imgW="10058400" imgH="18592800" progId="Equation.3">
                  <p:embed/>
                  <p:pic>
                    <p:nvPicPr>
                      <p:cNvPr id="0" name="图片 1026" descr="image3"/>
                      <p:cNvPicPr/>
                      <p:nvPr/>
                    </p:nvPicPr>
                    <p:blipFill>
                      <a:blip r:embed="rId6"/>
                      <a:stretch>
                        <a:fillRect/>
                      </a:stretch>
                    </p:blipFill>
                    <p:spPr>
                      <a:xfrm>
                        <a:off x="1143000" y="2743200"/>
                        <a:ext cx="314325" cy="581025"/>
                      </a:xfrm>
                      <a:prstGeom prst="rect">
                        <a:avLst/>
                      </a:prstGeom>
                      <a:noFill/>
                      <a:ln w="38100">
                        <a:noFill/>
                      </a:ln>
                    </p:spPr>
                  </p:pic>
                </p:oleObj>
              </mc:Fallback>
            </mc:AlternateContent>
          </a:graphicData>
        </a:graphic>
      </p:graphicFrame>
      <p:graphicFrame>
        <p:nvGraphicFramePr>
          <p:cNvPr id="50341" name="对象 50340"/>
          <p:cNvGraphicFramePr/>
          <p:nvPr/>
        </p:nvGraphicFramePr>
        <p:xfrm>
          <a:off x="1143000" y="3543300"/>
          <a:ext cx="240506" cy="472679"/>
        </p:xfrm>
        <a:graphic>
          <a:graphicData uri="http://schemas.openxmlformats.org/presentationml/2006/ole">
            <mc:AlternateContent xmlns:mc="http://schemas.openxmlformats.org/markup-compatibility/2006">
              <mc:Choice xmlns:v="urn:schemas-microsoft-com:vml" Requires="v">
                <p:oleObj spid="_x0000_s1028" name="" r:id="rId7" imgW="9448800" imgH="18592800" progId="Equation.3">
                  <p:embed/>
                </p:oleObj>
              </mc:Choice>
              <mc:Fallback>
                <p:oleObj name="" r:id="rId7" imgW="9448800" imgH="18592800" progId="Equation.3">
                  <p:embed/>
                  <p:pic>
                    <p:nvPicPr>
                      <p:cNvPr id="0" name="图片 1027" descr="image4"/>
                      <p:cNvPicPr/>
                      <p:nvPr/>
                    </p:nvPicPr>
                    <p:blipFill>
                      <a:blip r:embed="rId8"/>
                      <a:stretch>
                        <a:fillRect/>
                      </a:stretch>
                    </p:blipFill>
                    <p:spPr>
                      <a:xfrm>
                        <a:off x="1143000" y="3543300"/>
                        <a:ext cx="240506" cy="472679"/>
                      </a:xfrm>
                      <a:prstGeom prst="rect">
                        <a:avLst/>
                      </a:prstGeom>
                      <a:noFill/>
                      <a:ln w="38100">
                        <a:noFill/>
                      </a:ln>
                    </p:spPr>
                  </p:pic>
                </p:oleObj>
              </mc:Fallback>
            </mc:AlternateContent>
          </a:graphicData>
        </a:graphic>
      </p:graphicFrame>
      <p:sp>
        <p:nvSpPr>
          <p:cNvPr id="50342" name="直接连接符 50341"/>
          <p:cNvSpPr/>
          <p:nvPr/>
        </p:nvSpPr>
        <p:spPr>
          <a:xfrm>
            <a:off x="1428750" y="3600450"/>
            <a:ext cx="0" cy="342900"/>
          </a:xfrm>
          <a:prstGeom prst="line">
            <a:avLst/>
          </a:prstGeom>
          <a:ln w="12700" cap="flat" cmpd="sng">
            <a:solidFill>
              <a:schemeClr val="bg2"/>
            </a:solidFill>
            <a:prstDash val="solid"/>
            <a:headEnd type="triangle" w="med" len="med"/>
            <a:tailEnd type="triangle" w="med" len="med"/>
          </a:ln>
        </p:spPr>
      </p:sp>
      <p:graphicFrame>
        <p:nvGraphicFramePr>
          <p:cNvPr id="50343" name="对象 50342"/>
          <p:cNvGraphicFramePr/>
          <p:nvPr/>
        </p:nvGraphicFramePr>
        <p:xfrm>
          <a:off x="4842272" y="1329929"/>
          <a:ext cx="2276475" cy="581025"/>
        </p:xfrm>
        <a:graphic>
          <a:graphicData uri="http://schemas.openxmlformats.org/presentationml/2006/ole">
            <mc:AlternateContent xmlns:mc="http://schemas.openxmlformats.org/markup-compatibility/2006">
              <mc:Choice xmlns:v="urn:schemas-microsoft-com:vml" Requires="v">
                <p:oleObj spid="_x0000_s1029" name="" r:id="rId9" imgW="72847200" imgH="18592800" progId="Equation.3">
                  <p:embed/>
                </p:oleObj>
              </mc:Choice>
              <mc:Fallback>
                <p:oleObj name="" r:id="rId9" imgW="72847200" imgH="18592800" progId="Equation.3">
                  <p:embed/>
                  <p:pic>
                    <p:nvPicPr>
                      <p:cNvPr id="0" name="图片 1028" descr="image5"/>
                      <p:cNvPicPr/>
                      <p:nvPr/>
                    </p:nvPicPr>
                    <p:blipFill>
                      <a:blip r:embed="rId10"/>
                      <a:stretch>
                        <a:fillRect/>
                      </a:stretch>
                    </p:blipFill>
                    <p:spPr>
                      <a:xfrm>
                        <a:off x="4842272" y="1329929"/>
                        <a:ext cx="2276475" cy="581025"/>
                      </a:xfrm>
                      <a:prstGeom prst="rect">
                        <a:avLst/>
                      </a:prstGeom>
                      <a:noFill/>
                      <a:ln w="38100">
                        <a:noFill/>
                      </a:ln>
                    </p:spPr>
                  </p:pic>
                </p:oleObj>
              </mc:Fallback>
            </mc:AlternateContent>
          </a:graphicData>
        </a:graphic>
      </p:graphicFrame>
      <p:sp>
        <p:nvSpPr>
          <p:cNvPr id="50348" name="矩形 50347"/>
          <p:cNvSpPr/>
          <p:nvPr/>
        </p:nvSpPr>
        <p:spPr>
          <a:xfrm>
            <a:off x="4093052" y="4319588"/>
            <a:ext cx="3134360" cy="414020"/>
          </a:xfrm>
          <a:prstGeom prst="rect">
            <a:avLst/>
          </a:prstGeom>
          <a:noFill/>
          <a:ln w="12700">
            <a:noFill/>
          </a:ln>
        </p:spPr>
        <p:txBody>
          <a:bodyPr wrap="none" anchor="t" anchorCtr="0">
            <a:spAutoFit/>
          </a:bodyPr>
          <a:lstStyle/>
          <a:p>
            <a:pPr algn="ctr"/>
            <a:r>
              <a:rPr lang="zh-CN" altLang="en-US" sz="2100" b="1" u="none" dirty="0">
                <a:solidFill>
                  <a:srgbClr val="FF0066"/>
                </a:solidFill>
                <a:latin typeface="楷体_GB2312" pitchFamily="49" charset="-122"/>
                <a:ea typeface="楷体_GB2312" pitchFamily="49" charset="-122"/>
              </a:rPr>
              <a:t>棱和中心线的</a:t>
            </a:r>
            <a:r>
              <a:rPr lang="en-US" altLang="zh-CN" sz="2100" b="1" u="none">
                <a:solidFill>
                  <a:srgbClr val="FF0066"/>
                </a:solidFill>
                <a:latin typeface="楷体_GB2312" pitchFamily="49" charset="-122"/>
                <a:ea typeface="楷体_GB2312" pitchFamily="49" charset="-122"/>
              </a:rPr>
              <a:t>1/4</a:t>
            </a:r>
            <a:r>
              <a:rPr lang="zh-CN" altLang="en-US" sz="2100" b="1" u="none" dirty="0">
                <a:solidFill>
                  <a:srgbClr val="FF0066"/>
                </a:solidFill>
                <a:latin typeface="楷体_GB2312" pitchFamily="49" charset="-122"/>
                <a:ea typeface="楷体_GB2312" pitchFamily="49" charset="-122"/>
              </a:rPr>
              <a:t>和</a:t>
            </a:r>
            <a:r>
              <a:rPr lang="en-US" altLang="zh-CN" sz="2100" b="1" u="none">
                <a:solidFill>
                  <a:srgbClr val="FF0066"/>
                </a:solidFill>
                <a:latin typeface="楷体_GB2312" pitchFamily="49" charset="-122"/>
                <a:ea typeface="楷体_GB2312" pitchFamily="49" charset="-122"/>
              </a:rPr>
              <a:t>3/4</a:t>
            </a:r>
            <a:r>
              <a:rPr lang="zh-CN" altLang="en-US" sz="2100" b="1" u="none" dirty="0">
                <a:solidFill>
                  <a:srgbClr val="FF0066"/>
                </a:solidFill>
                <a:latin typeface="楷体_GB2312" pitchFamily="49" charset="-122"/>
                <a:ea typeface="楷体_GB2312" pitchFamily="49" charset="-122"/>
              </a:rPr>
              <a:t>处</a:t>
            </a:r>
            <a:endParaRPr lang="zh-CN" altLang="en-US" sz="2100" b="1" u="none" dirty="0">
              <a:solidFill>
                <a:srgbClr val="FF0066"/>
              </a:solidFill>
              <a:latin typeface="楷体_GB2312" pitchFamily="49" charset="-122"/>
              <a:ea typeface="楷体_GB2312" pitchFamily="49" charset="-122"/>
            </a:endParaRPr>
          </a:p>
        </p:txBody>
      </p:sp>
      <p:grpSp>
        <p:nvGrpSpPr>
          <p:cNvPr id="2" name="组合 1"/>
          <p:cNvGrpSpPr/>
          <p:nvPr/>
        </p:nvGrpSpPr>
        <p:grpSpPr>
          <a:xfrm>
            <a:off x="0" y="0"/>
            <a:ext cx="9144000" cy="642620"/>
            <a:chOff x="0" y="0"/>
            <a:chExt cx="14400" cy="1012"/>
          </a:xfrm>
        </p:grpSpPr>
        <p:pic>
          <p:nvPicPr>
            <p:cNvPr id="3" name="Picture 3"/>
            <p:cNvPicPr>
              <a:picLocks noChangeAspect="1" noChangeArrowheads="1"/>
            </p:cNvPicPr>
            <p:nvPr/>
          </p:nvPicPr>
          <p:blipFill>
            <a:blip r:embed="rId11" cstate="print"/>
            <a:srcRect/>
            <a:stretch>
              <a:fillRect/>
            </a:stretch>
          </p:blipFill>
          <p:spPr bwMode="auto">
            <a:xfrm>
              <a:off x="0" y="0"/>
              <a:ext cx="1045" cy="1012"/>
            </a:xfrm>
            <a:prstGeom prst="rect">
              <a:avLst/>
            </a:prstGeom>
            <a:noFill/>
            <a:ln w="9525">
              <a:noFill/>
              <a:miter lim="800000"/>
              <a:headEnd/>
              <a:tailEnd/>
            </a:ln>
            <a:effectLst/>
          </p:spPr>
        </p:pic>
        <p:pic>
          <p:nvPicPr>
            <p:cNvPr id="12" name="图片 11" descr="5.jpg"/>
            <p:cNvPicPr>
              <a:picLocks noChangeAspect="1"/>
            </p:cNvPicPr>
            <p:nvPr/>
          </p:nvPicPr>
          <p:blipFill>
            <a:blip r:embed="rId12" cstate="print"/>
            <a:stretch>
              <a:fillRect/>
            </a:stretch>
          </p:blipFill>
          <p:spPr>
            <a:xfrm>
              <a:off x="11138" y="112"/>
              <a:ext cx="2925" cy="665"/>
            </a:xfrm>
            <a:prstGeom prst="rect">
              <a:avLst/>
            </a:prstGeom>
          </p:spPr>
        </p:pic>
        <p:cxnSp>
          <p:nvCxnSpPr>
            <p:cNvPr id="14" name="直接连接符 13"/>
            <p:cNvCxnSpPr/>
            <p:nvPr/>
          </p:nvCxnSpPr>
          <p:spPr>
            <a:xfrm>
              <a:off x="1012" y="787"/>
              <a:ext cx="10125"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1138" y="787"/>
              <a:ext cx="3262"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125" y="112"/>
              <a:ext cx="6817" cy="72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0253"/>
                                        </p:tgtEl>
                                        <p:attrNameLst>
                                          <p:attrName>style.visibility</p:attrName>
                                        </p:attrNameLst>
                                      </p:cBhvr>
                                      <p:to>
                                        <p:strVal val="visible"/>
                                      </p:to>
                                    </p:set>
                                    <p:anim calcmode="lin" valueType="num">
                                      <p:cBhvr additive="base">
                                        <p:cTn id="7" dur="500" fill="hold"/>
                                        <p:tgtEl>
                                          <p:spTgt spid="50253"/>
                                        </p:tgtEl>
                                        <p:attrNameLst>
                                          <p:attrName>ppt_x</p:attrName>
                                        </p:attrNameLst>
                                      </p:cBhvr>
                                      <p:tavLst>
                                        <p:tav tm="0">
                                          <p:val>
                                            <p:strVal val="0-#ppt_w/2"/>
                                          </p:val>
                                        </p:tav>
                                        <p:tav tm="100000">
                                          <p:val>
                                            <p:strVal val="#ppt_x"/>
                                          </p:val>
                                        </p:tav>
                                      </p:tavLst>
                                    </p:anim>
                                    <p:anim calcmode="lin" valueType="num">
                                      <p:cBhvr additive="base">
                                        <p:cTn id="8" dur="500" fill="hold"/>
                                        <p:tgtEl>
                                          <p:spTgt spid="502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9144000" cy="642923"/>
            <a:chOff x="0" y="0"/>
            <a:chExt cx="14400" cy="1012"/>
          </a:xfrm>
        </p:grpSpPr>
        <p:pic>
          <p:nvPicPr>
            <p:cNvPr id="1027" name="Picture 3"/>
            <p:cNvPicPr>
              <a:picLocks noChangeAspect="1" noChangeArrowheads="1"/>
            </p:cNvPicPr>
            <p:nvPr/>
          </p:nvPicPr>
          <p:blipFill>
            <a:blip r:embed="rId1" cstate="print"/>
            <a:srcRect/>
            <a:stretch>
              <a:fillRect/>
            </a:stretch>
          </p:blipFill>
          <p:spPr bwMode="auto">
            <a:xfrm>
              <a:off x="0" y="0"/>
              <a:ext cx="1045" cy="1012"/>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11138" y="112"/>
              <a:ext cx="2925" cy="665"/>
            </a:xfrm>
            <a:prstGeom prst="rect">
              <a:avLst/>
            </a:prstGeom>
          </p:spPr>
        </p:pic>
        <p:cxnSp>
          <p:nvCxnSpPr>
            <p:cNvPr id="14" name="直接连接符 13"/>
            <p:cNvCxnSpPr/>
            <p:nvPr/>
          </p:nvCxnSpPr>
          <p:spPr>
            <a:xfrm>
              <a:off x="1012" y="787"/>
              <a:ext cx="10125"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1138" y="787"/>
              <a:ext cx="3262"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1125" y="112"/>
              <a:ext cx="6703" cy="72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grpSp>
      <p:graphicFrame>
        <p:nvGraphicFramePr>
          <p:cNvPr id="137255" name="表格 137254"/>
          <p:cNvGraphicFramePr/>
          <p:nvPr/>
        </p:nvGraphicFramePr>
        <p:xfrm>
          <a:off x="521018" y="1230313"/>
          <a:ext cx="7724775" cy="3790950"/>
        </p:xfrm>
        <a:graphic>
          <a:graphicData uri="http://schemas.openxmlformats.org/drawingml/2006/table">
            <a:tbl>
              <a:tblPr/>
              <a:tblGrid>
                <a:gridCol w="1931988"/>
                <a:gridCol w="1930400"/>
                <a:gridCol w="1931987"/>
                <a:gridCol w="1930400"/>
              </a:tblGrid>
              <a:tr h="585788">
                <a:tc>
                  <a:txBody>
                    <a:bodyPr/>
                    <a:lstStyle/>
                    <a:p>
                      <a:pPr marL="0" lvl="0" indent="0">
                        <a:buNone/>
                      </a:pPr>
                      <a:r>
                        <a:rPr lang="zh-CN" altLang="en-US" sz="2000" b="1" dirty="0"/>
                        <a:t>晶体结构</a:t>
                      </a:r>
                      <a:endParaRPr lang="zh-CN" altLang="en-US" sz="2000" b="1" dirty="0"/>
                    </a:p>
                  </a:txBody>
                  <a:tcPr>
                    <a:lnL w="28575"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28575"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zh-CN" altLang="en-US" sz="2000" b="1" dirty="0"/>
                        <a:t>间隙类型</a:t>
                      </a:r>
                      <a:endParaRPr lang="zh-CN" altLang="en-US"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28575"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zh-CN" altLang="en-US" sz="2000" b="1" dirty="0"/>
                        <a:t>间隙数目</a:t>
                      </a:r>
                      <a:endParaRPr lang="zh-CN" altLang="en-US"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28575"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zh-CN" altLang="en-US" sz="2000" b="1" dirty="0"/>
                        <a:t>间隙大小</a:t>
                      </a:r>
                      <a:r>
                        <a:rPr lang="en-US" altLang="zh-CN" sz="2000" b="1" dirty="0"/>
                        <a:t>(r</a:t>
                      </a:r>
                      <a:r>
                        <a:rPr lang="en-US" altLang="zh-CN" sz="2000" b="1" baseline="-25000" dirty="0"/>
                        <a:t>B</a:t>
                      </a:r>
                      <a:r>
                        <a:rPr lang="en-US" altLang="zh-CN" sz="2000" b="1" dirty="0"/>
                        <a:t>/r</a:t>
                      </a:r>
                      <a:r>
                        <a:rPr lang="en-US" altLang="zh-CN" sz="2000" b="1" baseline="-25000" dirty="0"/>
                        <a:t>A</a:t>
                      </a:r>
                      <a:r>
                        <a:rPr lang="en-US" altLang="zh-CN" sz="2000" b="1" dirty="0"/>
                        <a:t>)</a:t>
                      </a:r>
                      <a:endParaRPr lang="en-US" altLang="zh-CN" sz="2000" b="1" dirty="0"/>
                    </a:p>
                  </a:txBody>
                  <a:tcPr>
                    <a:lnL w="12700" cap="flat" cmpd="sng">
                      <a:solidFill>
                        <a:schemeClr val="tx1">
                          <a:alpha val="70000"/>
                        </a:schemeClr>
                      </a:solidFill>
                      <a:prstDash val="solid"/>
                      <a:headEnd type="none" w="med" len="med"/>
                      <a:tailEnd type="none" w="med" len="med"/>
                    </a:lnL>
                    <a:lnR w="28575" cap="flat" cmpd="sng">
                      <a:solidFill>
                        <a:schemeClr val="tx1">
                          <a:alpha val="70000"/>
                        </a:schemeClr>
                      </a:solidFill>
                      <a:prstDash val="solid"/>
                      <a:headEnd type="none" w="med" len="med"/>
                      <a:tailEnd type="none" w="med" len="med"/>
                    </a:lnR>
                    <a:lnT w="28575"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r>
              <a:tr h="838200">
                <a:tc>
                  <a:txBody>
                    <a:bodyPr/>
                    <a:lstStyle/>
                    <a:p>
                      <a:pPr marL="0" lvl="0" indent="0">
                        <a:buNone/>
                      </a:pPr>
                      <a:r>
                        <a:rPr lang="zh-CN" altLang="en-US" sz="2000" b="1" dirty="0"/>
                        <a:t>面心立方</a:t>
                      </a:r>
                      <a:endParaRPr lang="zh-CN" altLang="en-US" sz="2000" b="1" dirty="0"/>
                    </a:p>
                  </a:txBody>
                  <a:tcPr>
                    <a:lnL w="28575"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zh-CN" altLang="en-US" sz="2000" b="1" dirty="0"/>
                        <a:t>四面体间隙</a:t>
                      </a:r>
                      <a:endParaRPr lang="zh-CN" altLang="en-US" sz="2000" b="1" dirty="0"/>
                    </a:p>
                    <a:p>
                      <a:pPr marL="0" lvl="0" indent="0">
                        <a:buNone/>
                      </a:pPr>
                      <a:r>
                        <a:rPr lang="zh-CN" altLang="en-US" sz="2000" b="1" dirty="0"/>
                        <a:t>八面体间隙</a:t>
                      </a:r>
                      <a:endParaRPr lang="zh-CN" altLang="en-US"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en-US" altLang="zh-CN" sz="2000" b="1" dirty="0"/>
                        <a:t>8</a:t>
                      </a:r>
                      <a:endParaRPr lang="en-US" altLang="zh-CN" sz="2000" b="1" dirty="0"/>
                    </a:p>
                    <a:p>
                      <a:pPr marL="0" lvl="0" indent="0">
                        <a:buNone/>
                      </a:pPr>
                      <a:r>
                        <a:rPr lang="en-US" altLang="zh-CN" sz="2000" b="1" dirty="0"/>
                        <a:t>4</a:t>
                      </a:r>
                      <a:endParaRPr lang="en-US" altLang="zh-CN"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en-US" altLang="zh-CN" sz="2000" b="1" dirty="0"/>
                        <a:t>0.225</a:t>
                      </a:r>
                      <a:endParaRPr lang="en-US" altLang="zh-CN" sz="2000" b="1" dirty="0"/>
                    </a:p>
                    <a:p>
                      <a:pPr marL="0" lvl="0" indent="0">
                        <a:buNone/>
                      </a:pPr>
                      <a:r>
                        <a:rPr lang="en-US" altLang="zh-CN" sz="2000" b="1" dirty="0"/>
                        <a:t>0.414</a:t>
                      </a:r>
                      <a:endParaRPr lang="en-US" altLang="zh-CN" sz="2000" b="1" dirty="0"/>
                    </a:p>
                  </a:txBody>
                  <a:tcPr>
                    <a:lnL w="12700" cap="flat" cmpd="sng">
                      <a:solidFill>
                        <a:schemeClr val="tx1">
                          <a:alpha val="70000"/>
                        </a:schemeClr>
                      </a:solidFill>
                      <a:prstDash val="solid"/>
                      <a:headEnd type="none" w="med" len="med"/>
                      <a:tailEnd type="none" w="med" len="med"/>
                    </a:lnL>
                    <a:lnR w="28575"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r>
              <a:tr h="1258887">
                <a:tc>
                  <a:txBody>
                    <a:bodyPr/>
                    <a:lstStyle/>
                    <a:p>
                      <a:pPr marL="0" lvl="0" indent="0">
                        <a:buNone/>
                      </a:pPr>
                      <a:r>
                        <a:rPr lang="zh-CN" altLang="en-US" sz="2000" b="1" dirty="0"/>
                        <a:t>体心立方</a:t>
                      </a:r>
                      <a:endParaRPr lang="zh-CN" altLang="en-US" sz="2000" b="1" dirty="0"/>
                    </a:p>
                  </a:txBody>
                  <a:tcPr>
                    <a:lnL w="28575"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zh-CN" altLang="en-US" sz="2000" b="1" dirty="0"/>
                        <a:t>四面体间隙</a:t>
                      </a:r>
                      <a:endParaRPr lang="zh-CN" altLang="en-US" sz="2000" b="1" dirty="0"/>
                    </a:p>
                    <a:p>
                      <a:pPr marL="0" lvl="0" indent="0">
                        <a:buNone/>
                      </a:pPr>
                      <a:r>
                        <a:rPr lang="zh-CN" altLang="en-US" sz="2000" b="1" dirty="0"/>
                        <a:t>八面体间隙</a:t>
                      </a:r>
                      <a:endParaRPr lang="zh-CN" altLang="en-US"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en-US" altLang="zh-CN" sz="2000" b="1" dirty="0"/>
                        <a:t>12</a:t>
                      </a:r>
                      <a:endParaRPr lang="en-US" altLang="zh-CN" sz="2000" b="1" dirty="0"/>
                    </a:p>
                    <a:p>
                      <a:pPr marL="0" lvl="0" indent="0">
                        <a:buNone/>
                      </a:pPr>
                      <a:r>
                        <a:rPr lang="en-US" altLang="zh-CN" sz="2000" b="1" dirty="0"/>
                        <a:t>6</a:t>
                      </a:r>
                      <a:endParaRPr lang="en-US" altLang="zh-CN"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en-US" altLang="zh-CN" sz="2000" b="1" dirty="0"/>
                        <a:t>0.291</a:t>
                      </a:r>
                      <a:endParaRPr lang="en-US" altLang="zh-CN" sz="2000" b="1" dirty="0"/>
                    </a:p>
                    <a:p>
                      <a:pPr marL="0" lvl="0" indent="0">
                        <a:buNone/>
                      </a:pPr>
                      <a:r>
                        <a:rPr lang="en-US" altLang="zh-CN" sz="2000" b="1" dirty="0"/>
                        <a:t>0.154&lt;100&gt;</a:t>
                      </a:r>
                      <a:endParaRPr lang="en-US" altLang="zh-CN" sz="2000" b="1" dirty="0"/>
                    </a:p>
                    <a:p>
                      <a:pPr marL="0" lvl="0" indent="0">
                        <a:buNone/>
                      </a:pPr>
                      <a:r>
                        <a:rPr lang="en-US" altLang="zh-CN" sz="2000" b="1" dirty="0"/>
                        <a:t>0.633&lt;110&gt;</a:t>
                      </a:r>
                      <a:endParaRPr lang="en-US" altLang="zh-CN" sz="2000" b="1" dirty="0"/>
                    </a:p>
                  </a:txBody>
                  <a:tcPr>
                    <a:lnL w="12700" cap="flat" cmpd="sng">
                      <a:solidFill>
                        <a:schemeClr val="tx1">
                          <a:alpha val="70000"/>
                        </a:schemeClr>
                      </a:solidFill>
                      <a:prstDash val="solid"/>
                      <a:headEnd type="none" w="med" len="med"/>
                      <a:tailEnd type="none" w="med" len="med"/>
                    </a:lnL>
                    <a:lnR w="28575"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12700" cap="flat" cmpd="sng">
                      <a:solidFill>
                        <a:schemeClr val="tx1">
                          <a:alpha val="70000"/>
                        </a:schemeClr>
                      </a:solidFill>
                      <a:prstDash val="solid"/>
                      <a:headEnd type="none" w="med" len="med"/>
                      <a:tailEnd type="none" w="med" len="med"/>
                    </a:lnB>
                    <a:lnTlToBr>
                      <a:noFill/>
                    </a:lnTlToBr>
                    <a:lnBlToTr>
                      <a:noFill/>
                    </a:lnBlToTr>
                    <a:noFill/>
                  </a:tcPr>
                </a:tc>
              </a:tr>
              <a:tr h="1108075">
                <a:tc>
                  <a:txBody>
                    <a:bodyPr/>
                    <a:lstStyle/>
                    <a:p>
                      <a:pPr marL="0" lvl="0" indent="0">
                        <a:buNone/>
                      </a:pPr>
                      <a:r>
                        <a:rPr lang="zh-CN" altLang="en-US" sz="2000" b="1" dirty="0"/>
                        <a:t>密排六方</a:t>
                      </a:r>
                      <a:endParaRPr lang="zh-CN" altLang="en-US" sz="2000" b="1" dirty="0"/>
                    </a:p>
                  </a:txBody>
                  <a:tcPr>
                    <a:lnL w="28575"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28575"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zh-CN" altLang="en-US" sz="2000" b="1" dirty="0"/>
                        <a:t>四面体间隙</a:t>
                      </a:r>
                      <a:endParaRPr lang="zh-CN" altLang="en-US" sz="2000" b="1" dirty="0"/>
                    </a:p>
                    <a:p>
                      <a:pPr marL="0" lvl="0" indent="0">
                        <a:buNone/>
                      </a:pPr>
                      <a:r>
                        <a:rPr lang="zh-CN" altLang="en-US" sz="2000" b="1" dirty="0"/>
                        <a:t>八面体间隙</a:t>
                      </a:r>
                      <a:endParaRPr lang="zh-CN" altLang="en-US"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28575"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en-US" altLang="zh-CN" sz="2000" b="1" dirty="0"/>
                        <a:t>12</a:t>
                      </a:r>
                      <a:endParaRPr lang="en-US" altLang="zh-CN" sz="2000" b="1" dirty="0"/>
                    </a:p>
                    <a:p>
                      <a:pPr marL="0" lvl="0" indent="0">
                        <a:buNone/>
                      </a:pPr>
                      <a:r>
                        <a:rPr lang="en-US" altLang="zh-CN" sz="2000" b="1" dirty="0"/>
                        <a:t>6</a:t>
                      </a:r>
                      <a:endParaRPr lang="en-US" altLang="zh-CN" sz="2000" b="1" dirty="0"/>
                    </a:p>
                  </a:txBody>
                  <a:tcPr>
                    <a:lnL w="12700" cap="flat" cmpd="sng">
                      <a:solidFill>
                        <a:schemeClr val="tx1">
                          <a:alpha val="70000"/>
                        </a:schemeClr>
                      </a:solidFill>
                      <a:prstDash val="solid"/>
                      <a:headEnd type="none" w="med" len="med"/>
                      <a:tailEnd type="none" w="med" len="med"/>
                    </a:lnL>
                    <a:lnR w="12700"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28575" cap="flat" cmpd="sng">
                      <a:solidFill>
                        <a:schemeClr val="tx1">
                          <a:alpha val="70000"/>
                        </a:schemeClr>
                      </a:solidFill>
                      <a:prstDash val="solid"/>
                      <a:headEnd type="none" w="med" len="med"/>
                      <a:tailEnd type="none" w="med" len="med"/>
                    </a:lnB>
                    <a:lnTlToBr>
                      <a:noFill/>
                    </a:lnTlToBr>
                    <a:lnBlToTr>
                      <a:noFill/>
                    </a:lnBlToTr>
                    <a:noFill/>
                  </a:tcPr>
                </a:tc>
                <a:tc>
                  <a:txBody>
                    <a:bodyPr/>
                    <a:lstStyle/>
                    <a:p>
                      <a:pPr marL="0" lvl="0" indent="0">
                        <a:buNone/>
                      </a:pPr>
                      <a:r>
                        <a:rPr lang="en-US" altLang="zh-CN" sz="2000" b="1" dirty="0"/>
                        <a:t>0.225</a:t>
                      </a:r>
                      <a:endParaRPr lang="en-US" altLang="zh-CN" sz="2000" b="1" dirty="0"/>
                    </a:p>
                    <a:p>
                      <a:pPr marL="0" lvl="0" indent="0">
                        <a:buNone/>
                      </a:pPr>
                      <a:r>
                        <a:rPr lang="en-US" altLang="zh-CN" sz="2000" b="1" dirty="0"/>
                        <a:t>0.414</a:t>
                      </a:r>
                      <a:endParaRPr lang="en-US" altLang="zh-CN" sz="2000" b="1" dirty="0"/>
                    </a:p>
                  </a:txBody>
                  <a:tcPr>
                    <a:lnL w="12700" cap="flat" cmpd="sng">
                      <a:solidFill>
                        <a:schemeClr val="tx1">
                          <a:alpha val="70000"/>
                        </a:schemeClr>
                      </a:solidFill>
                      <a:prstDash val="solid"/>
                      <a:headEnd type="none" w="med" len="med"/>
                      <a:tailEnd type="none" w="med" len="med"/>
                    </a:lnL>
                    <a:lnR w="28575" cap="flat" cmpd="sng">
                      <a:solidFill>
                        <a:schemeClr val="tx1">
                          <a:alpha val="70000"/>
                        </a:schemeClr>
                      </a:solidFill>
                      <a:prstDash val="solid"/>
                      <a:headEnd type="none" w="med" len="med"/>
                      <a:tailEnd type="none" w="med" len="med"/>
                    </a:lnR>
                    <a:lnT w="12700" cap="flat" cmpd="sng">
                      <a:solidFill>
                        <a:schemeClr val="tx1">
                          <a:alpha val="70000"/>
                        </a:schemeClr>
                      </a:solidFill>
                      <a:prstDash val="solid"/>
                      <a:headEnd type="none" w="med" len="med"/>
                      <a:tailEnd type="none" w="med" len="med"/>
                    </a:lnT>
                    <a:lnB w="28575" cap="flat" cmpd="sng">
                      <a:solidFill>
                        <a:schemeClr val="tx1">
                          <a:alpha val="70000"/>
                        </a:schemeClr>
                      </a:solidFill>
                      <a:prstDash val="solid"/>
                      <a:headEnd type="none" w="med" len="med"/>
                      <a:tailEnd type="none" w="med" len="med"/>
                    </a:lnB>
                    <a:lnTlToBr>
                      <a:noFill/>
                    </a:lnTlToBr>
                    <a:lnBlToTr>
                      <a:noFill/>
                    </a:lnBlToTr>
                    <a:noFill/>
                  </a:tcPr>
                </a:tc>
              </a:tr>
            </a:tbl>
          </a:graphicData>
        </a:graphic>
      </p:graphicFrame>
      <p:sp>
        <p:nvSpPr>
          <p:cNvPr id="137256" name="文本框 137255"/>
          <p:cNvSpPr txBox="1"/>
          <p:nvPr/>
        </p:nvSpPr>
        <p:spPr>
          <a:xfrm>
            <a:off x="2411730" y="555625"/>
            <a:ext cx="4410075" cy="457200"/>
          </a:xfrm>
          <a:prstGeom prst="rect">
            <a:avLst/>
          </a:prstGeom>
          <a:noFill/>
          <a:ln w="12700">
            <a:noFill/>
          </a:ln>
        </p:spPr>
        <p:txBody>
          <a:bodyPr>
            <a:spAutoFit/>
          </a:bodyPr>
          <a:lstStyle/>
          <a:p>
            <a:pPr>
              <a:spcBef>
                <a:spcPct val="50000"/>
              </a:spcBef>
            </a:pPr>
            <a:r>
              <a:rPr lang="zh-CN" altLang="en-US" sz="2400" b="1" u="none" dirty="0">
                <a:solidFill>
                  <a:srgbClr val="FF0000"/>
                </a:solidFill>
                <a:latin typeface="Arial" panose="020B0604020202020204" pitchFamily="34" charset="0"/>
              </a:rPr>
              <a:t>三种典型金属结构的间隙</a:t>
            </a:r>
            <a:endParaRPr lang="zh-CN" altLang="en-US" sz="2400" b="1" u="none" dirty="0">
              <a:solidFill>
                <a:srgbClr val="FF0000"/>
              </a:solidFill>
              <a:latin typeface="Arial"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4256405" cy="460375"/>
          </a:xfrm>
          <a:prstGeom prst="rect">
            <a:avLst/>
          </a:prstGeom>
        </p:spPr>
        <p:txBody>
          <a:bodyPr wrap="none">
            <a:spAutoFit/>
          </a:bodyPr>
          <a:lstStyle/>
          <a:p>
            <a:r>
              <a:rPr lang="zh-CN" altLang="en-US" sz="2400" b="1" dirty="0" smtClean="0">
                <a:solidFill>
                  <a:srgbClr val="000000"/>
                </a:solidFill>
              </a:rPr>
              <a:t>预备知识1</a:t>
            </a:r>
            <a:r>
              <a:rPr lang="en-US" altLang="zh-CN" sz="2400" b="1" dirty="0" smtClean="0">
                <a:solidFill>
                  <a:srgbClr val="000000"/>
                </a:solidFill>
              </a:rPr>
              <a:t>——</a:t>
            </a:r>
            <a:r>
              <a:rPr lang="zh-CN" altLang="en-US" sz="2400" b="1" dirty="0" smtClean="0">
                <a:solidFill>
                  <a:srgbClr val="000000"/>
                </a:solidFill>
              </a:rPr>
              <a:t>金属的晶体结构</a:t>
            </a:r>
            <a:endParaRPr lang="zh-CN" altLang="en-US" sz="2400" b="1" dirty="0">
              <a:solidFill>
                <a:srgbClr val="000000"/>
              </a:solidFill>
            </a:endParaRPr>
          </a:p>
        </p:txBody>
      </p:sp>
      <p:sp>
        <p:nvSpPr>
          <p:cNvPr id="148483" name="文本框 148482"/>
          <p:cNvSpPr txBox="1"/>
          <p:nvPr/>
        </p:nvSpPr>
        <p:spPr>
          <a:xfrm>
            <a:off x="341313" y="642620"/>
            <a:ext cx="2514600" cy="460375"/>
          </a:xfrm>
          <a:prstGeom prst="rect">
            <a:avLst/>
          </a:prstGeom>
          <a:noFill/>
          <a:ln w="9525">
            <a:noFill/>
          </a:ln>
        </p:spPr>
        <p:txBody>
          <a:bodyPr>
            <a:spAutoFit/>
          </a:bodyPr>
          <a:lstStyle/>
          <a:p>
            <a:pPr eaLnBrk="0" hangingPunct="0">
              <a:spcBef>
                <a:spcPct val="50000"/>
              </a:spcBef>
            </a:pPr>
            <a:r>
              <a:rPr lang="zh-CN" altLang="en-US" sz="2400" b="1" u="none" dirty="0">
                <a:solidFill>
                  <a:srgbClr val="FF0000"/>
                </a:solidFill>
                <a:latin typeface="Arial" panose="020B0604020202020204" pitchFamily="34" charset="0"/>
                <a:ea typeface="黑体" panose="02010609060101010101" charset="-122"/>
              </a:rPr>
              <a:t>作业：</a:t>
            </a:r>
            <a:endParaRPr lang="zh-CN" altLang="en-US" sz="2400" b="1" u="none" dirty="0">
              <a:solidFill>
                <a:srgbClr val="FF0000"/>
              </a:solidFill>
              <a:latin typeface="Arial" panose="020B0604020202020204" pitchFamily="34" charset="0"/>
              <a:ea typeface="黑体" panose="02010609060101010101" charset="-122"/>
            </a:endParaRPr>
          </a:p>
        </p:txBody>
      </p:sp>
      <p:sp>
        <p:nvSpPr>
          <p:cNvPr id="148484" name="文本框 148483"/>
          <p:cNvSpPr txBox="1"/>
          <p:nvPr/>
        </p:nvSpPr>
        <p:spPr>
          <a:xfrm>
            <a:off x="342265" y="1045845"/>
            <a:ext cx="8804910" cy="4741545"/>
          </a:xfrm>
          <a:prstGeom prst="rect">
            <a:avLst/>
          </a:prstGeom>
          <a:noFill/>
          <a:ln w="9525">
            <a:noFill/>
          </a:ln>
        </p:spPr>
        <p:txBody>
          <a:bodyPr>
            <a:noAutofit/>
          </a:bodyPr>
          <a:lstStyle/>
          <a:p>
            <a:pPr indent="0" eaLnBrk="0" fontAlgn="auto" hangingPunct="0">
              <a:lnSpc>
                <a:spcPct val="120000"/>
              </a:lnSpc>
              <a:spcBef>
                <a:spcPts val="0"/>
              </a:spcBef>
            </a:pPr>
            <a:r>
              <a:rPr lang="en-US" altLang="zh-CN" sz="2400" b="1" u="none" dirty="0">
                <a:latin typeface="Arial" panose="020B0604020202020204" pitchFamily="34" charset="0"/>
                <a:ea typeface="楷体_GB2312" pitchFamily="49" charset="-122"/>
              </a:rPr>
              <a:t>1</a:t>
            </a:r>
            <a:r>
              <a:rPr lang="zh-CN" altLang="en-US" sz="2400" b="1" u="none" dirty="0">
                <a:latin typeface="Arial" panose="020B0604020202020204" pitchFamily="34" charset="0"/>
                <a:ea typeface="楷体_GB2312" pitchFamily="49" charset="-122"/>
              </a:rPr>
              <a:t>、计算体心立方、面心立方、密排六方晶胞中的原子数、</a:t>
            </a:r>
            <a:endParaRPr lang="zh-CN" altLang="en-US"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zh-CN" altLang="en-US" sz="2400" b="1" u="none" dirty="0">
                <a:latin typeface="Arial" panose="020B0604020202020204" pitchFamily="34" charset="0"/>
                <a:ea typeface="楷体_GB2312" pitchFamily="49" charset="-122"/>
              </a:rPr>
              <a:t>       配位数和堆积系数。</a:t>
            </a:r>
            <a:endParaRPr lang="zh-CN" altLang="en-US"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en-US" altLang="zh-CN" sz="2400" b="1" u="none" dirty="0">
                <a:latin typeface="Arial" panose="020B0604020202020204" pitchFamily="34" charset="0"/>
                <a:ea typeface="楷体_GB2312" pitchFamily="49" charset="-122"/>
              </a:rPr>
              <a:t>2</a:t>
            </a:r>
            <a:r>
              <a:rPr lang="zh-CN" altLang="en-US" sz="2400" b="1" u="none" dirty="0">
                <a:latin typeface="Arial" panose="020B0604020202020204" pitchFamily="34" charset="0"/>
                <a:ea typeface="楷体_GB2312" pitchFamily="49" charset="-122"/>
              </a:rPr>
              <a:t>、</a:t>
            </a:r>
            <a:r>
              <a:rPr lang="en-US" altLang="zh-CN" sz="2400" b="1" u="none" dirty="0">
                <a:latin typeface="Arial" panose="020B0604020202020204" pitchFamily="34" charset="0"/>
                <a:ea typeface="楷体_GB2312" pitchFamily="49" charset="-122"/>
              </a:rPr>
              <a:t>Ag</a:t>
            </a:r>
            <a:r>
              <a:rPr lang="zh-CN" altLang="en-US" sz="2400" b="1" u="none" dirty="0">
                <a:latin typeface="Arial" panose="020B0604020202020204" pitchFamily="34" charset="0"/>
                <a:ea typeface="楷体_GB2312" pitchFamily="49" charset="-122"/>
              </a:rPr>
              <a:t>和</a:t>
            </a:r>
            <a:r>
              <a:rPr lang="en-US" altLang="zh-CN" sz="2400" b="1" u="none" dirty="0">
                <a:latin typeface="Arial" panose="020B0604020202020204" pitchFamily="34" charset="0"/>
                <a:ea typeface="楷体_GB2312" pitchFamily="49" charset="-122"/>
              </a:rPr>
              <a:t>Al</a:t>
            </a:r>
            <a:r>
              <a:rPr lang="zh-CN" altLang="en-US" sz="2400" b="1" u="none" dirty="0">
                <a:latin typeface="Arial" panose="020B0604020202020204" pitchFamily="34" charset="0"/>
                <a:ea typeface="楷体_GB2312" pitchFamily="49" charset="-122"/>
              </a:rPr>
              <a:t>都是面心立方结构，且原子半径相似， </a:t>
            </a:r>
            <a:endParaRPr lang="zh-CN" altLang="en-US"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zh-CN" altLang="en-US" sz="2400" b="1" u="none" dirty="0">
                <a:latin typeface="Arial" panose="020B0604020202020204" pitchFamily="34" charset="0"/>
                <a:ea typeface="楷体_GB2312" pitchFamily="49" charset="-122"/>
              </a:rPr>
              <a:t>      </a:t>
            </a:r>
            <a:r>
              <a:rPr lang="en-US" altLang="zh-CN" sz="2400" b="1" u="none" dirty="0">
                <a:latin typeface="Arial" panose="020B0604020202020204" pitchFamily="34" charset="0"/>
                <a:ea typeface="楷体_GB2312" pitchFamily="49" charset="-122"/>
              </a:rPr>
              <a:t>r(Ag)=0.288nm</a:t>
            </a:r>
            <a:r>
              <a:rPr lang="zh-CN" altLang="en-US" sz="2400" b="1" u="none" dirty="0">
                <a:latin typeface="Arial" panose="020B0604020202020204" pitchFamily="34" charset="0"/>
                <a:ea typeface="楷体_GB2312" pitchFamily="49" charset="-122"/>
              </a:rPr>
              <a:t>， </a:t>
            </a:r>
            <a:r>
              <a:rPr lang="en-US" altLang="zh-CN" sz="2400" b="1" u="none" dirty="0">
                <a:latin typeface="Arial" panose="020B0604020202020204" pitchFamily="34" charset="0"/>
                <a:ea typeface="楷体_GB2312" pitchFamily="49" charset="-122"/>
              </a:rPr>
              <a:t>r(Al)=0.286nm</a:t>
            </a:r>
            <a:r>
              <a:rPr lang="zh-CN" altLang="en-US" sz="2400" b="1" u="none" dirty="0">
                <a:latin typeface="Arial" panose="020B0604020202020204" pitchFamily="34" charset="0"/>
                <a:ea typeface="楷体_GB2312" pitchFamily="49" charset="-122"/>
              </a:rPr>
              <a:t>，但都不能形成连续</a:t>
            </a:r>
            <a:endParaRPr lang="zh-CN" altLang="en-US"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zh-CN" altLang="en-US" sz="2400" b="1" u="none" dirty="0">
                <a:latin typeface="Arial" panose="020B0604020202020204" pitchFamily="34" charset="0"/>
                <a:ea typeface="楷体_GB2312" pitchFamily="49" charset="-122"/>
              </a:rPr>
              <a:t>    （无限）固溶体，为什么？</a:t>
            </a:r>
            <a:endParaRPr lang="zh-CN" altLang="en-US"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en-US" altLang="zh-CN" sz="2400" b="1" u="none" dirty="0">
                <a:latin typeface="Arial" panose="020B0604020202020204" pitchFamily="34" charset="0"/>
                <a:ea typeface="楷体_GB2312" pitchFamily="49" charset="-122"/>
              </a:rPr>
              <a:t>3</a:t>
            </a:r>
            <a:r>
              <a:rPr lang="zh-CN" altLang="en-US" sz="2400" b="1" u="none" dirty="0">
                <a:latin typeface="Arial" panose="020B0604020202020204" pitchFamily="34" charset="0"/>
                <a:ea typeface="楷体_GB2312" pitchFamily="49" charset="-122"/>
              </a:rPr>
              <a:t>、</a:t>
            </a:r>
            <a:r>
              <a:rPr lang="en-US" altLang="zh-CN" sz="2400" b="1" u="none" dirty="0">
                <a:latin typeface="Arial" panose="020B0604020202020204" pitchFamily="34" charset="0"/>
                <a:ea typeface="楷体_GB2312" pitchFamily="49" charset="-122"/>
              </a:rPr>
              <a:t>(1)</a:t>
            </a:r>
            <a:r>
              <a:rPr lang="zh-CN" altLang="en-US" sz="2400" b="1" u="none" dirty="0">
                <a:latin typeface="Arial" panose="020B0604020202020204" pitchFamily="34" charset="0"/>
                <a:ea typeface="楷体_GB2312" pitchFamily="49" charset="-122"/>
              </a:rPr>
              <a:t>叙述形成固溶体的影响因素</a:t>
            </a:r>
            <a:r>
              <a:rPr lang="en-US" altLang="zh-CN" sz="2400" b="1" u="none" dirty="0">
                <a:latin typeface="Arial" panose="020B0604020202020204" pitchFamily="34" charset="0"/>
                <a:ea typeface="楷体_GB2312" pitchFamily="49" charset="-122"/>
              </a:rPr>
              <a:t>;</a:t>
            </a:r>
            <a:endParaRPr lang="en-US" altLang="zh-CN"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en-US" altLang="zh-CN" sz="2400" b="1" u="none" dirty="0">
                <a:latin typeface="Arial" panose="020B0604020202020204" pitchFamily="34" charset="0"/>
                <a:ea typeface="楷体_GB2312" pitchFamily="49" charset="-122"/>
              </a:rPr>
              <a:t>      (2)</a:t>
            </a:r>
            <a:r>
              <a:rPr lang="zh-CN" altLang="en-US" sz="2400" b="1" u="none" dirty="0">
                <a:latin typeface="Arial" panose="020B0604020202020204" pitchFamily="34" charset="0"/>
                <a:ea typeface="楷体_GB2312" pitchFamily="49" charset="-122"/>
              </a:rPr>
              <a:t>形成连续固溶体的充分必要条件是什么</a:t>
            </a:r>
            <a:r>
              <a:rPr lang="en-US" altLang="zh-CN" sz="2400" b="1" u="none" dirty="0">
                <a:latin typeface="Arial" panose="020B0604020202020204" pitchFamily="34" charset="0"/>
                <a:ea typeface="楷体_GB2312" pitchFamily="49" charset="-122"/>
              </a:rPr>
              <a:t>?</a:t>
            </a:r>
            <a:endParaRPr lang="en-US" altLang="zh-CN"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en-US" altLang="zh-CN" sz="2400" b="1" u="none" dirty="0">
                <a:latin typeface="Arial" panose="020B0604020202020204" pitchFamily="34" charset="0"/>
                <a:ea typeface="楷体_GB2312" pitchFamily="49" charset="-122"/>
              </a:rPr>
              <a:t>4</a:t>
            </a:r>
            <a:r>
              <a:rPr lang="zh-CN" altLang="en-US" sz="2400" b="1" u="none" dirty="0">
                <a:latin typeface="Arial" panose="020B0604020202020204" pitchFamily="34" charset="0"/>
                <a:ea typeface="楷体_GB2312" pitchFamily="49" charset="-122"/>
              </a:rPr>
              <a:t>、什么是金属间化合物？金属间化合物的结构类型和结构</a:t>
            </a:r>
            <a:endParaRPr lang="zh-CN" altLang="en-US" sz="2400" b="1" u="none" dirty="0">
              <a:latin typeface="Arial" panose="020B0604020202020204" pitchFamily="34" charset="0"/>
              <a:ea typeface="楷体_GB2312" pitchFamily="49" charset="-122"/>
            </a:endParaRPr>
          </a:p>
          <a:p>
            <a:pPr indent="0" eaLnBrk="0" fontAlgn="auto" hangingPunct="0">
              <a:lnSpc>
                <a:spcPct val="120000"/>
              </a:lnSpc>
              <a:spcBef>
                <a:spcPts val="0"/>
              </a:spcBef>
            </a:pPr>
            <a:r>
              <a:rPr lang="zh-CN" altLang="en-US" sz="2400" b="1" u="none" dirty="0">
                <a:latin typeface="Arial" panose="020B0604020202020204" pitchFamily="34" charset="0"/>
                <a:ea typeface="楷体_GB2312" pitchFamily="49" charset="-122"/>
              </a:rPr>
              <a:t>      特点是什么？</a:t>
            </a:r>
            <a:endParaRPr lang="zh-CN" altLang="en-US" sz="2400" b="1" u="none" dirty="0">
              <a:latin typeface="Arial" panose="020B0604020202020204" pitchFamily="34" charset="0"/>
              <a:ea typeface="楷体_GB2312"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27" name="Rectangle 4"/>
          <p:cNvSpPr>
            <a:spLocks noChangeArrowheads="1"/>
          </p:cNvSpPr>
          <p:nvPr/>
        </p:nvSpPr>
        <p:spPr bwMode="auto">
          <a:xfrm>
            <a:off x="214250" y="500048"/>
            <a:ext cx="8929750" cy="1143008"/>
          </a:xfrm>
          <a:prstGeom prst="rect">
            <a:avLst/>
          </a:prstGeom>
          <a:noFill/>
          <a:ln w="9525">
            <a:noFill/>
            <a:miter lim="800000"/>
          </a:ln>
          <a:effectLst/>
        </p:spPr>
        <p:txBody>
          <a:bodyPr/>
          <a:lstStyle/>
          <a:p>
            <a:pPr marL="342900" indent="-342900" eaLnBrk="1" hangingPunct="1">
              <a:lnSpc>
                <a:spcPct val="105000"/>
              </a:lnSpc>
              <a:spcBef>
                <a:spcPct val="25000"/>
              </a:spcBef>
              <a:buClr>
                <a:schemeClr val="accent1"/>
              </a:buClr>
              <a:buSzPct val="65000"/>
              <a:buFont typeface="Wingdings" panose="05000000000000000000" pitchFamily="2" charset="2"/>
              <a:buNone/>
            </a:pPr>
            <a:r>
              <a:rPr lang="en-US" altLang="zh-CN" sz="2400" b="1" dirty="0">
                <a:solidFill>
                  <a:srgbClr val="0000FF"/>
                </a:solidFill>
                <a:latin typeface="楷体_GB2312" pitchFamily="49" charset="-122"/>
                <a:ea typeface="楷体_GB2312" pitchFamily="49" charset="-122"/>
              </a:rPr>
              <a:t>①</a:t>
            </a:r>
            <a:r>
              <a:rPr lang="zh-CN" altLang="en-US" sz="2400" b="1" dirty="0">
                <a:solidFill>
                  <a:srgbClr val="0000FF"/>
                </a:solidFill>
                <a:latin typeface="楷体_GB2312" pitchFamily="49" charset="-122"/>
                <a:ea typeface="楷体_GB2312" pitchFamily="49" charset="-122"/>
              </a:rPr>
              <a:t>定义</a:t>
            </a:r>
            <a:endParaRPr lang="zh-CN" altLang="en-US" sz="2400" b="1" dirty="0">
              <a:solidFill>
                <a:srgbClr val="0000FF"/>
              </a:solidFill>
              <a:latin typeface="楷体_GB2312" pitchFamily="49" charset="-122"/>
              <a:ea typeface="楷体_GB2312" pitchFamily="49" charset="-122"/>
            </a:endParaRPr>
          </a:p>
          <a:p>
            <a:pPr marL="342900" indent="-342900" eaLnBrk="1" hangingPunct="1">
              <a:lnSpc>
                <a:spcPct val="125000"/>
              </a:lnSpc>
              <a:spcBef>
                <a:spcPct val="20000"/>
              </a:spcBef>
              <a:buClr>
                <a:schemeClr val="accent1"/>
              </a:buClr>
              <a:buSzPct val="65000"/>
              <a:buFont typeface="Wingdings" panose="05000000000000000000" pitchFamily="2" charset="2"/>
              <a:buNone/>
            </a:pPr>
            <a:r>
              <a:rPr lang="zh-CN" altLang="en-US" b="1" dirty="0">
                <a:latin typeface="楷体_GB2312" pitchFamily="49" charset="-122"/>
                <a:ea typeface="楷体_GB2312" pitchFamily="49" charset="-122"/>
              </a:rPr>
              <a:t>理想晶体所有质点都在自己的结点位置</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质点严格按照空间点阵排列。</a:t>
            </a:r>
            <a:endParaRPr lang="zh-CN" altLang="en-US" b="1" dirty="0">
              <a:latin typeface="楷体_GB2312" pitchFamily="49" charset="-122"/>
              <a:ea typeface="楷体_GB2312" pitchFamily="49" charset="-122"/>
            </a:endParaRPr>
          </a:p>
          <a:p>
            <a:pPr marL="342900" indent="-342900" eaLnBrk="1" hangingPunct="1">
              <a:lnSpc>
                <a:spcPct val="125000"/>
              </a:lnSpc>
              <a:spcBef>
                <a:spcPct val="20000"/>
              </a:spcBef>
              <a:buClr>
                <a:schemeClr val="accent1"/>
              </a:buClr>
              <a:buSzPct val="65000"/>
              <a:buFont typeface="Wingdings" panose="05000000000000000000" pitchFamily="2" charset="2"/>
              <a:buNone/>
            </a:pPr>
            <a:r>
              <a:rPr lang="zh-CN" altLang="en-US" b="1" dirty="0">
                <a:latin typeface="楷体_GB2312" pitchFamily="49" charset="-122"/>
                <a:ea typeface="楷体_GB2312" pitchFamily="49" charset="-122"/>
              </a:rPr>
              <a:t>实际晶体</a:t>
            </a:r>
            <a:r>
              <a:rPr lang="zh-CN" altLang="zh-CN" b="1" dirty="0">
                <a:latin typeface="楷体_GB2312" pitchFamily="49" charset="-122"/>
                <a:ea typeface="楷体_GB2312" pitchFamily="49" charset="-122"/>
              </a:rPr>
              <a:t>与理想的点阵结构</a:t>
            </a:r>
            <a:r>
              <a:rPr lang="zh-CN" altLang="en-US" b="1" dirty="0">
                <a:latin typeface="楷体_GB2312" pitchFamily="49" charset="-122"/>
                <a:ea typeface="楷体_GB2312" pitchFamily="49" charset="-122"/>
              </a:rPr>
              <a:t>发生偏离</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位置、组成</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存在着各种各样的结构的不完整性。</a:t>
            </a:r>
            <a:endParaRPr lang="zh-CN" altLang="en-US" sz="2400" b="1" dirty="0">
              <a:latin typeface="楷体_GB2312" pitchFamily="49" charset="-122"/>
              <a:ea typeface="楷体_GB2312" pitchFamily="49" charset="-122"/>
            </a:endParaRPr>
          </a:p>
        </p:txBody>
      </p:sp>
      <p:sp>
        <p:nvSpPr>
          <p:cNvPr id="30" name="Rectangle 7"/>
          <p:cNvSpPr>
            <a:spLocks noChangeArrowheads="1"/>
          </p:cNvSpPr>
          <p:nvPr/>
        </p:nvSpPr>
        <p:spPr bwMode="auto">
          <a:xfrm>
            <a:off x="642910" y="4594225"/>
            <a:ext cx="7496175" cy="549275"/>
          </a:xfrm>
          <a:prstGeom prst="rect">
            <a:avLst/>
          </a:prstGeom>
          <a:noFill/>
          <a:ln w="19050" algn="ctr">
            <a:noFill/>
            <a:miter lim="800000"/>
          </a:ln>
          <a:effectLst/>
        </p:spPr>
        <p:txBody>
          <a:bodyPr wrap="none" lIns="90000" tIns="46800" rIns="90000" bIns="46800">
            <a:spAutoFit/>
          </a:bodyPr>
          <a:lstStyle/>
          <a:p>
            <a:pPr eaLnBrk="1" hangingPunct="1">
              <a:lnSpc>
                <a:spcPct val="125000"/>
              </a:lnSpc>
              <a:spcBef>
                <a:spcPct val="20000"/>
              </a:spcBef>
              <a:buClr>
                <a:schemeClr val="accent1"/>
              </a:buClr>
              <a:buSzPct val="65000"/>
              <a:buFont typeface="Wingdings" panose="05000000000000000000" pitchFamily="2" charset="2"/>
              <a:buNone/>
            </a:pPr>
            <a:r>
              <a:rPr lang="zh-CN" altLang="en-US" sz="2400" b="1" dirty="0">
                <a:solidFill>
                  <a:srgbClr val="FF0000"/>
                </a:solidFill>
                <a:latin typeface="Times New Roman" panose="02020603050405020304" pitchFamily="18" charset="0"/>
                <a:ea typeface="楷体_GB2312" pitchFamily="49" charset="-122"/>
              </a:rPr>
              <a:t>晶体结构缺陷：指晶体点阵结构中周期性势场的畸变。</a:t>
            </a:r>
            <a:endParaRPr lang="zh-CN" altLang="en-US" sz="2400" b="1" dirty="0">
              <a:solidFill>
                <a:srgbClr val="FF0000"/>
              </a:solidFill>
              <a:latin typeface="Times New Roman" panose="02020603050405020304" pitchFamily="18" charset="0"/>
              <a:ea typeface="楷体_GB2312" pitchFamily="49" charset="-122"/>
            </a:endParaRPr>
          </a:p>
        </p:txBody>
      </p:sp>
      <p:grpSp>
        <p:nvGrpSpPr>
          <p:cNvPr id="35" name="组合 34"/>
          <p:cNvGrpSpPr/>
          <p:nvPr/>
        </p:nvGrpSpPr>
        <p:grpSpPr>
          <a:xfrm>
            <a:off x="1071538" y="1785932"/>
            <a:ext cx="6809960" cy="1428760"/>
            <a:chOff x="762000" y="1785932"/>
            <a:chExt cx="7656643" cy="1584330"/>
          </a:xfrm>
        </p:grpSpPr>
        <p:pic>
          <p:nvPicPr>
            <p:cNvPr id="25" name="Picture 2" descr="点缺陷示意图"/>
            <p:cNvPicPr>
              <a:picLocks noChangeAspect="1" noChangeArrowheads="1"/>
            </p:cNvPicPr>
            <p:nvPr/>
          </p:nvPicPr>
          <p:blipFill>
            <a:blip r:embed="rId3" cstate="print"/>
            <a:srcRect/>
            <a:stretch>
              <a:fillRect/>
            </a:stretch>
          </p:blipFill>
          <p:spPr bwMode="auto">
            <a:xfrm>
              <a:off x="762000" y="1844675"/>
              <a:ext cx="2214600" cy="1512893"/>
            </a:xfrm>
            <a:prstGeom prst="rect">
              <a:avLst/>
            </a:prstGeom>
            <a:noFill/>
            <a:ln w="19050">
              <a:solidFill>
                <a:schemeClr val="tx2"/>
              </a:solidFill>
              <a:miter lim="800000"/>
              <a:headEnd/>
              <a:tailEnd/>
            </a:ln>
          </p:spPr>
        </p:pic>
        <p:pic>
          <p:nvPicPr>
            <p:cNvPr id="29" name="Picture 6" descr="3_4_1"/>
            <p:cNvPicPr>
              <a:picLocks noChangeAspect="1" noChangeArrowheads="1" noCrop="1"/>
            </p:cNvPicPr>
            <p:nvPr/>
          </p:nvPicPr>
          <p:blipFill>
            <a:blip r:embed="rId4" cstate="print"/>
            <a:srcRect/>
            <a:stretch>
              <a:fillRect/>
            </a:stretch>
          </p:blipFill>
          <p:spPr bwMode="auto">
            <a:xfrm>
              <a:off x="3714744" y="1785932"/>
              <a:ext cx="1858620" cy="1584330"/>
            </a:xfrm>
            <a:prstGeom prst="rect">
              <a:avLst/>
            </a:prstGeom>
            <a:noFill/>
            <a:ln w="9525">
              <a:noFill/>
              <a:miter lim="800000"/>
              <a:headEnd/>
              <a:tailEnd/>
            </a:ln>
          </p:spPr>
        </p:pic>
        <p:graphicFrame>
          <p:nvGraphicFramePr>
            <p:cNvPr id="31" name="Object 8"/>
            <p:cNvGraphicFramePr>
              <a:graphicFrameLocks noChangeAspect="1"/>
            </p:cNvGraphicFramePr>
            <p:nvPr/>
          </p:nvGraphicFramePr>
          <p:xfrm>
            <a:off x="6652094" y="1785932"/>
            <a:ext cx="1766549" cy="1584330"/>
          </p:xfrm>
          <a:graphic>
            <a:graphicData uri="http://schemas.openxmlformats.org/presentationml/2006/ole">
              <mc:AlternateContent xmlns:mc="http://schemas.openxmlformats.org/markup-compatibility/2006">
                <mc:Choice xmlns:v="urn:schemas-microsoft-com:vml" Requires="v">
                  <p:oleObj spid="_x0000_s2049" name="Image" r:id="rId5" imgW="4265930" imgH="3826510" progId="">
                    <p:embed/>
                  </p:oleObj>
                </mc:Choice>
                <mc:Fallback>
                  <p:oleObj name="Image" r:id="rId5" imgW="4265930" imgH="3826510" progId="">
                    <p:embed/>
                    <p:pic>
                      <p:nvPicPr>
                        <p:cNvPr id="0" name="Object 8" descr="image59"/>
                        <p:cNvPicPr>
                          <a:picLocks noChangeAspect="1"/>
                        </p:cNvPicPr>
                        <p:nvPr/>
                      </p:nvPicPr>
                      <p:blipFill>
                        <a:blip r:embed="rId6"/>
                        <a:stretch>
                          <a:fillRect/>
                        </a:stretch>
                      </p:blipFill>
                      <p:spPr>
                        <a:xfrm>
                          <a:off x="6652094" y="1785932"/>
                          <a:ext cx="1766549" cy="1584330"/>
                        </a:xfrm>
                        <a:prstGeom prst="rect">
                          <a:avLst/>
                        </a:prstGeom>
                        <a:noFill/>
                        <a:ln w="22225" cap="flat" cmpd="sng">
                          <a:solidFill>
                            <a:srgbClr val="1F497D"/>
                          </a:solidFill>
                          <a:prstDash val="solid"/>
                          <a:miter/>
                          <a:headEnd type="none" w="med" len="med"/>
                          <a:tailEnd type="none" w="med" len="med"/>
                        </a:ln>
                      </p:spPr>
                    </p:pic>
                  </p:oleObj>
                </mc:Fallback>
              </mc:AlternateContent>
            </a:graphicData>
          </a:graphic>
        </p:graphicFrame>
      </p:grpSp>
      <p:grpSp>
        <p:nvGrpSpPr>
          <p:cNvPr id="34" name="组合 33"/>
          <p:cNvGrpSpPr/>
          <p:nvPr/>
        </p:nvGrpSpPr>
        <p:grpSpPr>
          <a:xfrm>
            <a:off x="714348" y="3286130"/>
            <a:ext cx="7393009" cy="1352569"/>
            <a:chOff x="250825" y="4005263"/>
            <a:chExt cx="8632825" cy="1800225"/>
          </a:xfrm>
        </p:grpSpPr>
        <p:pic>
          <p:nvPicPr>
            <p:cNvPr id="26" name="Picture 3" descr="5359565031547906561"/>
            <p:cNvPicPr>
              <a:picLocks noChangeAspect="1" noChangeArrowheads="1"/>
            </p:cNvPicPr>
            <p:nvPr/>
          </p:nvPicPr>
          <p:blipFill>
            <a:blip r:embed="rId7" cstate="print"/>
            <a:srcRect l="7465" r="18425"/>
            <a:stretch>
              <a:fillRect/>
            </a:stretch>
          </p:blipFill>
          <p:spPr bwMode="auto">
            <a:xfrm>
              <a:off x="4572000" y="4005263"/>
              <a:ext cx="2087563" cy="1774825"/>
            </a:xfrm>
            <a:prstGeom prst="rect">
              <a:avLst/>
            </a:prstGeom>
            <a:noFill/>
            <a:ln w="19050">
              <a:solidFill>
                <a:schemeClr val="tx2"/>
              </a:solidFill>
              <a:miter lim="800000"/>
              <a:headEnd/>
              <a:tailEnd/>
            </a:ln>
          </p:spPr>
        </p:pic>
        <p:pic>
          <p:nvPicPr>
            <p:cNvPr id="28" name="Picture 5" descr="6"/>
            <p:cNvPicPr>
              <a:picLocks noChangeAspect="1" noChangeArrowheads="1"/>
            </p:cNvPicPr>
            <p:nvPr/>
          </p:nvPicPr>
          <p:blipFill>
            <a:blip r:embed="rId8" cstate="print"/>
            <a:srcRect t="1921" r="11322" b="20944"/>
            <a:stretch>
              <a:fillRect/>
            </a:stretch>
          </p:blipFill>
          <p:spPr bwMode="auto">
            <a:xfrm>
              <a:off x="250825" y="4005263"/>
              <a:ext cx="2089150" cy="1800225"/>
            </a:xfrm>
            <a:prstGeom prst="rect">
              <a:avLst/>
            </a:prstGeom>
            <a:noFill/>
            <a:ln w="19050">
              <a:solidFill>
                <a:schemeClr val="tx2"/>
              </a:solidFill>
              <a:miter lim="800000"/>
              <a:headEnd/>
              <a:tailEnd/>
            </a:ln>
          </p:spPr>
        </p:pic>
        <p:pic>
          <p:nvPicPr>
            <p:cNvPr id="32" name="Picture 9" descr="未标题-1 拷贝"/>
            <p:cNvPicPr>
              <a:picLocks noChangeAspect="1" noChangeArrowheads="1"/>
            </p:cNvPicPr>
            <p:nvPr/>
          </p:nvPicPr>
          <p:blipFill>
            <a:blip r:embed="rId9" cstate="print"/>
            <a:srcRect/>
            <a:stretch>
              <a:fillRect/>
            </a:stretch>
          </p:blipFill>
          <p:spPr bwMode="auto">
            <a:xfrm>
              <a:off x="2411413" y="4005263"/>
              <a:ext cx="2016125" cy="1773237"/>
            </a:xfrm>
            <a:prstGeom prst="rect">
              <a:avLst/>
            </a:prstGeom>
            <a:noFill/>
            <a:ln w="19050">
              <a:solidFill>
                <a:schemeClr val="tx2"/>
              </a:solidFill>
              <a:miter lim="800000"/>
              <a:headEnd/>
              <a:tailEnd/>
            </a:ln>
          </p:spPr>
        </p:pic>
        <p:pic>
          <p:nvPicPr>
            <p:cNvPr id="33" name="Picture 10" descr="图片1"/>
            <p:cNvPicPr>
              <a:picLocks noChangeAspect="1" noChangeArrowheads="1"/>
            </p:cNvPicPr>
            <p:nvPr/>
          </p:nvPicPr>
          <p:blipFill>
            <a:blip r:embed="rId10" cstate="print"/>
            <a:srcRect/>
            <a:stretch>
              <a:fillRect/>
            </a:stretch>
          </p:blipFill>
          <p:spPr bwMode="auto">
            <a:xfrm>
              <a:off x="6877050" y="4005263"/>
              <a:ext cx="2006600" cy="1765300"/>
            </a:xfrm>
            <a:prstGeom prst="rect">
              <a:avLst/>
            </a:prstGeom>
            <a:noFill/>
            <a:ln w="19050">
              <a:solidFill>
                <a:schemeClr val="tx2"/>
              </a:solid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wipe(left)">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xEl>
                                              <p:pRg st="1" end="1"/>
                                            </p:txEl>
                                          </p:spTgt>
                                        </p:tgtEl>
                                        <p:attrNameLst>
                                          <p:attrName>style.visibility</p:attrName>
                                        </p:attrNameLst>
                                      </p:cBhvr>
                                      <p:to>
                                        <p:strVal val="visible"/>
                                      </p:to>
                                    </p:set>
                                    <p:animEffect transition="in" filter="wipe(left)">
                                      <p:cBhvr>
                                        <p:cTn id="12" dur="500"/>
                                        <p:tgtEl>
                                          <p:spTgt spid="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
                                            <p:txEl>
                                              <p:pRg st="2" end="2"/>
                                            </p:txEl>
                                          </p:spTgt>
                                        </p:tgtEl>
                                        <p:attrNameLst>
                                          <p:attrName>style.visibility</p:attrName>
                                        </p:attrNameLst>
                                      </p:cBhvr>
                                      <p:to>
                                        <p:strVal val="visible"/>
                                      </p:to>
                                    </p:set>
                                    <p:animEffect transition="in" filter="wipe(left)">
                                      <p:cBhvr>
                                        <p:cTn id="17" dur="500"/>
                                        <p:tgtEl>
                                          <p:spTgt spid="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3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pic>
        <p:nvPicPr>
          <p:cNvPr id="79874" name="Picture 2"/>
          <p:cNvPicPr>
            <a:picLocks noChangeAspect="1" noChangeArrowheads="1"/>
          </p:cNvPicPr>
          <p:nvPr/>
        </p:nvPicPr>
        <p:blipFill>
          <a:blip r:embed="rId3" cstate="print"/>
          <a:srcRect/>
          <a:stretch>
            <a:fillRect/>
          </a:stretch>
        </p:blipFill>
        <p:spPr bwMode="auto">
          <a:xfrm>
            <a:off x="1357290" y="571486"/>
            <a:ext cx="6429420" cy="442825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Rectangle 11"/>
          <p:cNvSpPr>
            <a:spLocks noChangeArrowheads="1"/>
          </p:cNvSpPr>
          <p:nvPr/>
        </p:nvSpPr>
        <p:spPr bwMode="auto">
          <a:xfrm>
            <a:off x="357158" y="1074724"/>
            <a:ext cx="8786842" cy="3566234"/>
          </a:xfrm>
          <a:prstGeom prst="rect">
            <a:avLst/>
          </a:prstGeom>
          <a:noFill/>
          <a:ln w="19050" algn="ctr">
            <a:noFill/>
            <a:miter lim="800000"/>
          </a:ln>
          <a:effectLst/>
        </p:spPr>
        <p:txBody>
          <a:bodyPr wrap="square" lIns="90000" tIns="46800" rIns="90000" bIns="46800">
            <a:spAutoFit/>
          </a:bodyPr>
          <a:lstStyle/>
          <a:p>
            <a:pPr eaLnBrk="1" hangingPunct="1">
              <a:spcBef>
                <a:spcPct val="20000"/>
              </a:spcBef>
              <a:buClr>
                <a:schemeClr val="hlink"/>
              </a:buClr>
              <a:buSzPct val="60000"/>
              <a:buFont typeface="Wingdings" panose="05000000000000000000" pitchFamily="2" charset="2"/>
              <a:buChar char="l"/>
            </a:pPr>
            <a:r>
              <a:rPr lang="zh-CN" altLang="en-US" sz="2400" b="1" dirty="0">
                <a:latin typeface="Times New Roman" panose="02020603050405020304" pitchFamily="18" charset="0"/>
                <a:ea typeface="楷体_GB2312" pitchFamily="49" charset="-122"/>
              </a:rPr>
              <a:t>点缺陷破坏了原子的平衡状态，使晶格发生扭曲，称</a:t>
            </a:r>
            <a:r>
              <a:rPr lang="zh-CN" altLang="en-US" sz="2400" b="1" dirty="0">
                <a:solidFill>
                  <a:srgbClr val="FF0000"/>
                </a:solidFill>
                <a:latin typeface="Times New Roman" panose="02020603050405020304" pitchFamily="18" charset="0"/>
                <a:ea typeface="楷体_GB2312" pitchFamily="49" charset="-122"/>
              </a:rPr>
              <a:t>晶格畸变</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lvl="1" eaLnBrk="1" hangingPunct="1">
              <a:spcBef>
                <a:spcPct val="20000"/>
              </a:spcBef>
              <a:buClr>
                <a:schemeClr val="hlink"/>
              </a:buClr>
              <a:buSzPct val="60000"/>
              <a:buFont typeface="Wingdings" panose="05000000000000000000" pitchFamily="2" charset="2"/>
              <a:buChar char="l"/>
            </a:pPr>
            <a:r>
              <a:rPr lang="zh-CN" altLang="en-US" sz="2000" b="1" dirty="0">
                <a:latin typeface="Times New Roman" panose="02020603050405020304" pitchFamily="18" charset="0"/>
                <a:ea typeface="楷体_GB2312" pitchFamily="49" charset="-122"/>
              </a:rPr>
              <a:t>使强度、硬度提高，塑性、韧性下降；</a:t>
            </a:r>
            <a:endParaRPr lang="zh-CN" altLang="en-US" sz="2000" b="1" dirty="0">
              <a:latin typeface="Times New Roman" panose="02020603050405020304" pitchFamily="18" charset="0"/>
              <a:ea typeface="楷体_GB2312" pitchFamily="49" charset="-122"/>
            </a:endParaRPr>
          </a:p>
          <a:p>
            <a:pPr lvl="1" eaLnBrk="1" hangingPunct="1">
              <a:spcBef>
                <a:spcPct val="20000"/>
              </a:spcBef>
              <a:buClr>
                <a:schemeClr val="hlink"/>
              </a:buClr>
              <a:buSzPct val="60000"/>
              <a:buFont typeface="Wingdings" panose="05000000000000000000" pitchFamily="2" charset="2"/>
              <a:buChar char="l"/>
            </a:pPr>
            <a:r>
              <a:rPr lang="zh-CN" altLang="en-US" sz="2000" b="1" dirty="0">
                <a:latin typeface="Times New Roman" panose="02020603050405020304" pitchFamily="18" charset="0"/>
                <a:ea typeface="楷体_GB2312" pitchFamily="49" charset="-122"/>
              </a:rPr>
              <a:t>与材料的电学性质、光学性质有关；</a:t>
            </a:r>
            <a:endParaRPr lang="zh-CN" altLang="en-US" sz="2000" b="1" dirty="0">
              <a:latin typeface="Times New Roman" panose="02020603050405020304" pitchFamily="18" charset="0"/>
              <a:ea typeface="楷体_GB2312" pitchFamily="49" charset="-122"/>
            </a:endParaRPr>
          </a:p>
          <a:p>
            <a:pPr lvl="1" eaLnBrk="1" hangingPunct="1">
              <a:spcBef>
                <a:spcPct val="20000"/>
              </a:spcBef>
              <a:buClr>
                <a:schemeClr val="hlink"/>
              </a:buClr>
              <a:buSzPct val="60000"/>
              <a:buFont typeface="Wingdings" panose="05000000000000000000" pitchFamily="2" charset="2"/>
              <a:buChar char="l"/>
            </a:pPr>
            <a:r>
              <a:rPr lang="zh-CN" altLang="en-US" sz="2000" b="1" dirty="0">
                <a:latin typeface="Times New Roman" panose="02020603050405020304" pitchFamily="18" charset="0"/>
                <a:ea typeface="楷体_GB2312" pitchFamily="49" charset="-122"/>
              </a:rPr>
              <a:t>影响材料的高温动力学过程</a:t>
            </a: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扩散、相变、固相反应、烧结</a:t>
            </a:r>
            <a:r>
              <a:rPr lang="en-US" altLang="zh-CN" sz="2000" b="1" dirty="0">
                <a:latin typeface="Times New Roman" panose="02020603050405020304" pitchFamily="18" charset="0"/>
                <a:ea typeface="楷体_GB2312" pitchFamily="49" charset="-122"/>
              </a:rPr>
              <a:t>) </a:t>
            </a:r>
            <a:r>
              <a:rPr lang="zh-CN" altLang="en-US" sz="2000" b="1" dirty="0">
                <a:latin typeface="Times New Roman" panose="02020603050405020304" pitchFamily="18" charset="0"/>
                <a:ea typeface="楷体_GB2312" pitchFamily="49" charset="-122"/>
              </a:rPr>
              <a:t>；</a:t>
            </a:r>
            <a:endParaRPr lang="zh-CN" altLang="en-US" sz="2000" b="1" dirty="0">
              <a:latin typeface="Times New Roman" panose="02020603050405020304" pitchFamily="18" charset="0"/>
              <a:ea typeface="楷体_GB2312" pitchFamily="49" charset="-122"/>
            </a:endParaRPr>
          </a:p>
          <a:p>
            <a:pPr lvl="1" eaLnBrk="1" hangingPunct="1">
              <a:spcBef>
                <a:spcPct val="20000"/>
              </a:spcBef>
              <a:buClr>
                <a:schemeClr val="hlink"/>
              </a:buClr>
              <a:buSzPct val="60000"/>
              <a:buFont typeface="Wingdings" panose="05000000000000000000" pitchFamily="2" charset="2"/>
              <a:buChar char="l"/>
            </a:pPr>
            <a:r>
              <a:rPr lang="zh-CN" altLang="en-US" sz="2000" b="1" dirty="0">
                <a:latin typeface="Times New Roman" panose="02020603050405020304" pitchFamily="18" charset="0"/>
                <a:ea typeface="楷体_GB2312" pitchFamily="49" charset="-122"/>
              </a:rPr>
              <a:t>对耐腐蚀性和化学反应性能也有较大影响</a:t>
            </a:r>
            <a:endParaRPr lang="zh-CN" altLang="en-US" sz="2000" b="1" dirty="0">
              <a:latin typeface="Times New Roman" panose="02020603050405020304" pitchFamily="18" charset="0"/>
              <a:ea typeface="楷体_GB2312" pitchFamily="49" charset="-122"/>
            </a:endParaRPr>
          </a:p>
          <a:p>
            <a:pPr eaLnBrk="1" hangingPunct="1">
              <a:spcBef>
                <a:spcPct val="50000"/>
              </a:spcBef>
              <a:buClr>
                <a:schemeClr val="hlink"/>
              </a:buClr>
              <a:buSzPct val="60000"/>
              <a:buFont typeface="Wingdings" panose="05000000000000000000" pitchFamily="2" charset="2"/>
              <a:buChar char="l"/>
            </a:pPr>
            <a:r>
              <a:rPr lang="zh-CN" altLang="en-US" sz="2400" b="1" dirty="0">
                <a:latin typeface="Times New Roman" panose="02020603050405020304" pitchFamily="18" charset="0"/>
                <a:ea typeface="楷体_GB2312" pitchFamily="49" charset="-122"/>
              </a:rPr>
              <a:t>线缺陷的产生及运动与材料的韧性、脆性密切相关。</a:t>
            </a:r>
            <a:endParaRPr lang="zh-CN" altLang="en-US" sz="2400" b="1" dirty="0">
              <a:latin typeface="Times New Roman" panose="02020603050405020304" pitchFamily="18" charset="0"/>
              <a:ea typeface="楷体_GB2312" pitchFamily="49" charset="-122"/>
            </a:endParaRPr>
          </a:p>
          <a:p>
            <a:pPr eaLnBrk="1" hangingPunct="1">
              <a:spcBef>
                <a:spcPct val="50000"/>
              </a:spcBef>
              <a:buClr>
                <a:schemeClr val="hlink"/>
              </a:buClr>
              <a:buSzPct val="60000"/>
              <a:buFont typeface="Wingdings" panose="05000000000000000000" pitchFamily="2" charset="2"/>
              <a:buChar char="l"/>
            </a:pPr>
            <a:r>
              <a:rPr lang="zh-CN" altLang="en-US" sz="2400" b="1" dirty="0">
                <a:latin typeface="Times New Roman" panose="02020603050405020304" pitchFamily="18" charset="0"/>
                <a:ea typeface="楷体_GB2312" pitchFamily="49" charset="-122"/>
              </a:rPr>
              <a:t>面缺陷的取向及分布与材料的断裂韧性有关。</a:t>
            </a:r>
            <a:endParaRPr lang="zh-CN" altLang="en-US" sz="2400" b="1" dirty="0">
              <a:latin typeface="Times New Roman" panose="02020603050405020304" pitchFamily="18" charset="0"/>
              <a:ea typeface="楷体_GB2312" pitchFamily="49" charset="-122"/>
            </a:endParaRPr>
          </a:p>
          <a:p>
            <a:pPr eaLnBrk="1" hangingPunct="1">
              <a:lnSpc>
                <a:spcPct val="120000"/>
              </a:lnSpc>
              <a:spcBef>
                <a:spcPct val="20000"/>
              </a:spcBef>
              <a:buClr>
                <a:schemeClr val="hlink"/>
              </a:buClr>
              <a:buSzPct val="80000"/>
              <a:buFont typeface="Wingdings" panose="05000000000000000000" pitchFamily="2" charset="2"/>
              <a:buNone/>
            </a:pPr>
            <a:endParaRPr lang="en-US" altLang="zh-CN" sz="2400" b="1" dirty="0">
              <a:latin typeface="Times New Roman" panose="02020603050405020304" pitchFamily="18" charset="0"/>
              <a:ea typeface="楷体_GB2312" pitchFamily="49" charset="-122"/>
            </a:endParaRPr>
          </a:p>
        </p:txBody>
      </p:sp>
      <p:sp>
        <p:nvSpPr>
          <p:cNvPr id="15" name="Rectangle 14"/>
          <p:cNvSpPr>
            <a:spLocks noChangeArrowheads="1"/>
          </p:cNvSpPr>
          <p:nvPr/>
        </p:nvSpPr>
        <p:spPr bwMode="auto">
          <a:xfrm>
            <a:off x="285720" y="571486"/>
            <a:ext cx="6481763" cy="476250"/>
          </a:xfrm>
          <a:prstGeom prst="rect">
            <a:avLst/>
          </a:prstGeom>
          <a:noFill/>
          <a:ln w="9525" algn="ctr">
            <a:noFill/>
            <a:miter lim="800000"/>
          </a:ln>
          <a:effectLst/>
        </p:spPr>
        <p:txBody>
          <a:bodyPr>
            <a:spAutoFit/>
          </a:bodyPr>
          <a:lstStyle/>
          <a:p>
            <a:pPr eaLnBrk="1" hangingPunct="1">
              <a:lnSpc>
                <a:spcPct val="105000"/>
              </a:lnSpc>
              <a:spcBef>
                <a:spcPct val="25000"/>
              </a:spcBef>
              <a:buClr>
                <a:schemeClr val="accent1"/>
              </a:buClr>
              <a:buSzPct val="65000"/>
              <a:buFont typeface="Wingdings" panose="05000000000000000000" pitchFamily="2" charset="2"/>
              <a:buNone/>
            </a:pPr>
            <a:r>
              <a:rPr lang="en-US" altLang="zh-CN" sz="2400" b="1" dirty="0">
                <a:solidFill>
                  <a:srgbClr val="0000FF"/>
                </a:solidFill>
                <a:latin typeface="楷体_GB2312" pitchFamily="49" charset="-122"/>
                <a:ea typeface="楷体_GB2312" pitchFamily="49" charset="-122"/>
              </a:rPr>
              <a:t>③</a:t>
            </a:r>
            <a:r>
              <a:rPr lang="zh-CN" altLang="en-US" sz="2400" b="1" dirty="0">
                <a:solidFill>
                  <a:srgbClr val="0000FF"/>
                </a:solidFill>
                <a:latin typeface="楷体_GB2312" pitchFamily="49" charset="-122"/>
                <a:ea typeface="楷体_GB2312" pitchFamily="49" charset="-122"/>
              </a:rPr>
              <a:t>研究缺陷的意义</a:t>
            </a:r>
            <a:endParaRPr lang="zh-CN" altLang="en-US" sz="2400" b="1" dirty="0">
              <a:solidFill>
                <a:srgbClr val="0000FF"/>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down)">
                                      <p:cBhvr>
                                        <p:cTn id="7" dur="500"/>
                                        <p:tgtEl>
                                          <p:spTgt spid="1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3">
                                            <p:txEl>
                                              <p:pRg st="1" end="1"/>
                                            </p:txEl>
                                          </p:spTgt>
                                        </p:tgtEl>
                                        <p:attrNameLst>
                                          <p:attrName>style.visibility</p:attrName>
                                        </p:attrNameLst>
                                      </p:cBhvr>
                                      <p:to>
                                        <p:strVal val="visible"/>
                                      </p:to>
                                    </p:set>
                                    <p:animEffect transition="in" filter="wipe(down)">
                                      <p:cBhvr>
                                        <p:cTn id="10" dur="500"/>
                                        <p:tgtEl>
                                          <p:spTgt spid="1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animEffect transition="in" filter="wipe(down)">
                                      <p:cBhvr>
                                        <p:cTn id="13" dur="500"/>
                                        <p:tgtEl>
                                          <p:spTgt spid="1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3">
                                            <p:txEl>
                                              <p:pRg st="3" end="3"/>
                                            </p:txEl>
                                          </p:spTgt>
                                        </p:tgtEl>
                                        <p:attrNameLst>
                                          <p:attrName>style.visibility</p:attrName>
                                        </p:attrNameLst>
                                      </p:cBhvr>
                                      <p:to>
                                        <p:strVal val="visible"/>
                                      </p:to>
                                    </p:set>
                                    <p:animEffect transition="in" filter="wipe(down)">
                                      <p:cBhvr>
                                        <p:cTn id="16" dur="500"/>
                                        <p:tgtEl>
                                          <p:spTgt spid="1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animEffect transition="in" filter="wipe(down)">
                                      <p:cBhvr>
                                        <p:cTn id="19" dur="500"/>
                                        <p:tgtEl>
                                          <p:spTgt spid="1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3">
                                            <p:txEl>
                                              <p:pRg st="5" end="5"/>
                                            </p:txEl>
                                          </p:spTgt>
                                        </p:tgtEl>
                                        <p:attrNameLst>
                                          <p:attrName>style.visibility</p:attrName>
                                        </p:attrNameLst>
                                      </p:cBhvr>
                                      <p:to>
                                        <p:strVal val="visible"/>
                                      </p:to>
                                    </p:set>
                                    <p:animEffect transition="in" filter="wipe(down)">
                                      <p:cBhvr>
                                        <p:cTn id="24" dur="500"/>
                                        <p:tgtEl>
                                          <p:spTgt spid="1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3">
                                            <p:txEl>
                                              <p:pRg st="6" end="6"/>
                                            </p:txEl>
                                          </p:spTgt>
                                        </p:tgtEl>
                                        <p:attrNameLst>
                                          <p:attrName>style.visibility</p:attrName>
                                        </p:attrNameLst>
                                      </p:cBhvr>
                                      <p:to>
                                        <p:strVal val="visible"/>
                                      </p:to>
                                    </p:set>
                                    <p:animEffect transition="in" filter="wipe(down)">
                                      <p:cBhvr>
                                        <p:cTn id="29"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80901" name="Picture 5"/>
          <p:cNvPicPr>
            <a:picLocks noChangeAspect="1" noChangeArrowheads="1"/>
          </p:cNvPicPr>
          <p:nvPr/>
        </p:nvPicPr>
        <p:blipFill>
          <a:blip r:embed="rId3" cstate="print"/>
          <a:srcRect/>
          <a:stretch>
            <a:fillRect/>
          </a:stretch>
        </p:blipFill>
        <p:spPr bwMode="auto">
          <a:xfrm>
            <a:off x="171450" y="1285875"/>
            <a:ext cx="8801100" cy="257175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AutoShape 3"/>
          <p:cNvSpPr>
            <a:spLocks noChangeArrowheads="1"/>
          </p:cNvSpPr>
          <p:nvPr/>
        </p:nvSpPr>
        <p:spPr bwMode="auto">
          <a:xfrm>
            <a:off x="285720" y="1290624"/>
            <a:ext cx="6119813" cy="576263"/>
          </a:xfrm>
          <a:prstGeom prst="roundRect">
            <a:avLst>
              <a:gd name="adj" fmla="val 16667"/>
            </a:avLst>
          </a:prstGeom>
          <a:gradFill rotWithShape="1">
            <a:gsLst>
              <a:gs pos="0">
                <a:srgbClr val="FD69EB">
                  <a:gamma/>
                  <a:shade val="46275"/>
                  <a:invGamma/>
                </a:srgbClr>
              </a:gs>
              <a:gs pos="50000">
                <a:srgbClr val="FD69EB">
                  <a:alpha val="64999"/>
                </a:srgbClr>
              </a:gs>
              <a:gs pos="100000">
                <a:srgbClr val="FD69EB">
                  <a:gamma/>
                  <a:shade val="46275"/>
                  <a:invGamma/>
                </a:srgbClr>
              </a:gs>
            </a:gsLst>
            <a:lin ang="5400000" scaled="1"/>
          </a:gradFill>
          <a:ln>
            <a:noFill/>
          </a:ln>
          <a:effectLst/>
        </p:spPr>
        <p:txBody>
          <a:bodyPr wrap="none" lIns="92075" tIns="46038" rIns="92075" bIns="46038" anchor="ctr"/>
          <a:lstStyle/>
          <a:p>
            <a:pPr algn="ctr" eaLnBrk="1" hangingPunct="1">
              <a:defRPr/>
            </a:pPr>
            <a:r>
              <a:rPr lang="en-US" altLang="zh-CN" sz="2800" b="1" dirty="0">
                <a:latin typeface="楷体_GB2312" pitchFamily="49" charset="-122"/>
                <a:ea typeface="楷体_GB2312" pitchFamily="49" charset="-122"/>
              </a:rPr>
              <a:t>1</a:t>
            </a:r>
            <a:r>
              <a:rPr lang="zh-CN" altLang="en-US" sz="2800" b="1" dirty="0">
                <a:latin typeface="楷体_GB2312" pitchFamily="49" charset="-122"/>
                <a:ea typeface="楷体_GB2312" pitchFamily="49" charset="-122"/>
              </a:rPr>
              <a:t>、依据点缺陷的几何位置及成分</a:t>
            </a:r>
            <a:endParaRPr lang="zh-CN" altLang="en-US" sz="2800" b="1" dirty="0">
              <a:latin typeface="楷体_GB2312" pitchFamily="49" charset="-122"/>
              <a:ea typeface="楷体_GB2312" pitchFamily="49" charset="-122"/>
            </a:endParaRPr>
          </a:p>
        </p:txBody>
      </p:sp>
      <p:sp>
        <p:nvSpPr>
          <p:cNvPr id="15" name="Rectangle 4"/>
          <p:cNvSpPr>
            <a:spLocks noChangeArrowheads="1"/>
          </p:cNvSpPr>
          <p:nvPr/>
        </p:nvSpPr>
        <p:spPr bwMode="auto">
          <a:xfrm>
            <a:off x="285720" y="642924"/>
            <a:ext cx="3743325" cy="579438"/>
          </a:xfrm>
          <a:prstGeom prst="rect">
            <a:avLst/>
          </a:prstGeom>
          <a:gradFill rotWithShape="1">
            <a:gsLst>
              <a:gs pos="0">
                <a:srgbClr val="FF6600">
                  <a:gamma/>
                  <a:shade val="46275"/>
                  <a:invGamma/>
                </a:srgbClr>
              </a:gs>
              <a:gs pos="50000">
                <a:srgbClr val="FF6600">
                  <a:alpha val="66000"/>
                </a:srgbClr>
              </a:gs>
              <a:gs pos="100000">
                <a:srgbClr val="FF6600">
                  <a:gamma/>
                  <a:shade val="46275"/>
                  <a:invGamma/>
                </a:srgbClr>
              </a:gs>
            </a:gsLst>
            <a:lin ang="5400000" scaled="1"/>
          </a:gradFill>
          <a:ln>
            <a:noFill/>
          </a:ln>
          <a:effectLst/>
        </p:spPr>
        <p:txBody>
          <a:bodyPr anchor="ctr">
            <a:spAutoFit/>
          </a:bodyPr>
          <a:lstStyle/>
          <a:p>
            <a:pPr eaLnBrk="1" hangingPunct="1">
              <a:defRPr/>
            </a:pPr>
            <a:r>
              <a:rPr lang="zh-CN" altLang="en-US" sz="3200" b="1" dirty="0">
                <a:latin typeface="楷体_GB2312" pitchFamily="49" charset="-122"/>
                <a:ea typeface="楷体_GB2312" pitchFamily="49" charset="-122"/>
              </a:rPr>
              <a:t>一、 点缺陷的类型</a:t>
            </a:r>
            <a:endParaRPr lang="zh-CN" altLang="en-US" sz="3200" b="1" dirty="0">
              <a:latin typeface="楷体_GB2312" pitchFamily="49" charset="-122"/>
              <a:ea typeface="楷体_GB2312" pitchFamily="49" charset="-122"/>
            </a:endParaRPr>
          </a:p>
        </p:txBody>
      </p:sp>
      <p:pic>
        <p:nvPicPr>
          <p:cNvPr id="16" name="Picture 5" descr="1a"/>
          <p:cNvPicPr>
            <a:picLocks noChangeAspect="1" noChangeArrowheads="1"/>
          </p:cNvPicPr>
          <p:nvPr/>
        </p:nvPicPr>
        <p:blipFill>
          <a:blip r:embed="rId3" cstate="print"/>
          <a:srcRect l="2455" t="1009" r="57899" b="69865"/>
          <a:stretch>
            <a:fillRect/>
          </a:stretch>
        </p:blipFill>
        <p:spPr bwMode="auto">
          <a:xfrm>
            <a:off x="500034" y="1928808"/>
            <a:ext cx="3816350" cy="2525712"/>
          </a:xfrm>
          <a:prstGeom prst="rect">
            <a:avLst/>
          </a:prstGeom>
          <a:noFill/>
          <a:ln w="9525">
            <a:noFill/>
            <a:miter lim="800000"/>
            <a:headEnd/>
            <a:tailEnd/>
          </a:ln>
          <a:effectLst/>
        </p:spPr>
      </p:pic>
      <p:pic>
        <p:nvPicPr>
          <p:cNvPr id="81924" name="Picture 4"/>
          <p:cNvPicPr>
            <a:picLocks noChangeAspect="1" noChangeArrowheads="1"/>
          </p:cNvPicPr>
          <p:nvPr/>
        </p:nvPicPr>
        <p:blipFill>
          <a:blip r:embed="rId4" cstate="print"/>
          <a:srcRect/>
          <a:stretch>
            <a:fillRect/>
          </a:stretch>
        </p:blipFill>
        <p:spPr bwMode="auto">
          <a:xfrm>
            <a:off x="4572000" y="1857370"/>
            <a:ext cx="3571900" cy="2775516"/>
          </a:xfrm>
          <a:prstGeom prst="rect">
            <a:avLst/>
          </a:prstGeom>
          <a:noFill/>
          <a:ln w="9525">
            <a:noFill/>
            <a:miter lim="800000"/>
            <a:headEnd/>
            <a:tailEnd/>
          </a:ln>
          <a:effectLst/>
        </p:spPr>
      </p:pic>
      <p:sp>
        <p:nvSpPr>
          <p:cNvPr id="18" name="Text Box 2"/>
          <p:cNvSpPr txBox="1">
            <a:spLocks noChangeArrowheads="1"/>
          </p:cNvSpPr>
          <p:nvPr/>
        </p:nvSpPr>
        <p:spPr bwMode="auto">
          <a:xfrm>
            <a:off x="1643042" y="4452937"/>
            <a:ext cx="4679950" cy="690563"/>
          </a:xfrm>
          <a:prstGeom prst="rect">
            <a:avLst/>
          </a:prstGeom>
          <a:noFill/>
          <a:ln w="9525">
            <a:noFill/>
            <a:miter lim="800000"/>
          </a:ln>
          <a:effectLst/>
        </p:spPr>
        <p:txBody>
          <a:bodyPr>
            <a:spAutoFit/>
          </a:bodyPr>
          <a:lstStyle/>
          <a:p>
            <a:pPr eaLnBrk="1" hangingPunct="1">
              <a:lnSpc>
                <a:spcPct val="140000"/>
              </a:lnSpc>
            </a:pPr>
            <a:r>
              <a:rPr lang="zh-CN" altLang="en-US" sz="2800" b="1" dirty="0">
                <a:solidFill>
                  <a:srgbClr val="0000FF"/>
                </a:solidFill>
                <a:ea typeface="楷体_GB2312" pitchFamily="49" charset="-122"/>
                <a:sym typeface="Wingdings" panose="05000000000000000000" pitchFamily="2" charset="2"/>
              </a:rPr>
              <a:t>空位、间隙质点、杂质质点</a:t>
            </a:r>
            <a:endParaRPr lang="zh-CN" altLang="en-US" sz="2800" b="1" dirty="0">
              <a:solidFill>
                <a:srgbClr val="0000FF"/>
              </a:solidFill>
              <a:ea typeface="楷体_GB2312" pitchFamily="49" charset="-122"/>
              <a:sym typeface="Wingdings" panose="05000000000000000000" pitchFamily="2" charset="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13" name="Picture 2" descr="点缺陷示意图"/>
          <p:cNvPicPr>
            <a:picLocks noChangeAspect="1" noChangeArrowheads="1"/>
          </p:cNvPicPr>
          <p:nvPr/>
        </p:nvPicPr>
        <p:blipFill>
          <a:blip r:embed="rId3" cstate="print"/>
          <a:srcRect/>
          <a:stretch>
            <a:fillRect/>
          </a:stretch>
        </p:blipFill>
        <p:spPr bwMode="auto">
          <a:xfrm>
            <a:off x="357158" y="1000114"/>
            <a:ext cx="4321175" cy="2951162"/>
          </a:xfrm>
          <a:prstGeom prst="rect">
            <a:avLst/>
          </a:prstGeom>
          <a:noFill/>
          <a:ln w="38100">
            <a:noFill/>
            <a:miter lim="800000"/>
            <a:headEnd/>
            <a:tailEnd/>
          </a:ln>
        </p:spPr>
      </p:pic>
      <p:pic>
        <p:nvPicPr>
          <p:cNvPr id="82947" name="Picture 3"/>
          <p:cNvPicPr>
            <a:picLocks noChangeAspect="1" noChangeArrowheads="1"/>
          </p:cNvPicPr>
          <p:nvPr/>
        </p:nvPicPr>
        <p:blipFill>
          <a:blip r:embed="rId4" cstate="print"/>
          <a:srcRect/>
          <a:stretch>
            <a:fillRect/>
          </a:stretch>
        </p:blipFill>
        <p:spPr bwMode="auto">
          <a:xfrm>
            <a:off x="5072065" y="785800"/>
            <a:ext cx="3471301" cy="3195639"/>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Rectangle 4"/>
          <p:cNvSpPr>
            <a:spLocks noChangeArrowheads="1"/>
          </p:cNvSpPr>
          <p:nvPr/>
        </p:nvSpPr>
        <p:spPr bwMode="auto">
          <a:xfrm>
            <a:off x="357158" y="714362"/>
            <a:ext cx="7993063" cy="579438"/>
          </a:xfrm>
          <a:prstGeom prst="rect">
            <a:avLst/>
          </a:prstGeom>
          <a:gradFill rotWithShape="1">
            <a:gsLst>
              <a:gs pos="0">
                <a:srgbClr val="FF6600">
                  <a:gamma/>
                  <a:shade val="46275"/>
                  <a:invGamma/>
                </a:srgbClr>
              </a:gs>
              <a:gs pos="50000">
                <a:srgbClr val="FF6600">
                  <a:alpha val="66000"/>
                </a:srgbClr>
              </a:gs>
              <a:gs pos="100000">
                <a:srgbClr val="FF6600">
                  <a:gamma/>
                  <a:shade val="46275"/>
                  <a:invGamma/>
                </a:srgbClr>
              </a:gs>
            </a:gsLst>
            <a:lin ang="5400000" scaled="1"/>
          </a:gradFill>
          <a:ln>
            <a:noFill/>
          </a:ln>
          <a:effectLst/>
        </p:spPr>
        <p:txBody>
          <a:bodyPr anchor="ctr">
            <a:spAutoFit/>
          </a:bodyPr>
          <a:lstStyle/>
          <a:p>
            <a:pPr eaLnBrk="1" hangingPunct="1">
              <a:defRPr/>
            </a:pPr>
            <a:r>
              <a:rPr lang="zh-CN" altLang="en-US" sz="3200" b="1" dirty="0" smtClean="0">
                <a:latin typeface="楷体_GB2312" pitchFamily="49" charset="-122"/>
                <a:ea typeface="楷体_GB2312" pitchFamily="49" charset="-122"/>
              </a:rPr>
              <a:t>二、</a:t>
            </a:r>
            <a:r>
              <a:rPr lang="zh-CN" altLang="en-US" sz="3200" b="1" dirty="0">
                <a:latin typeface="楷体_GB2312" pitchFamily="49" charset="-122"/>
                <a:ea typeface="楷体_GB2312" pitchFamily="49" charset="-122"/>
              </a:rPr>
              <a:t>固溶体</a:t>
            </a:r>
            <a:r>
              <a:rPr lang="en-US" altLang="zh-CN" sz="3200" b="1" dirty="0">
                <a:latin typeface="Times New Roman" panose="02020603050405020304" pitchFamily="18" charset="0"/>
                <a:ea typeface="楷体_GB2312" pitchFamily="49" charset="-122"/>
              </a:rPr>
              <a:t>Solid solution</a:t>
            </a:r>
            <a:r>
              <a:rPr lang="zh-CN" altLang="en-US" sz="3200" b="1" dirty="0">
                <a:latin typeface="楷体_GB2312" pitchFamily="49" charset="-122"/>
                <a:ea typeface="楷体_GB2312" pitchFamily="49" charset="-122"/>
              </a:rPr>
              <a:t>（杂质缺陷）</a:t>
            </a:r>
            <a:endParaRPr lang="zh-CN" altLang="en-US" sz="3200" b="1" dirty="0">
              <a:latin typeface="楷体_GB2312" pitchFamily="49" charset="-122"/>
              <a:ea typeface="楷体_GB2312" pitchFamily="49" charset="-122"/>
            </a:endParaRPr>
          </a:p>
        </p:txBody>
      </p:sp>
      <p:sp>
        <p:nvSpPr>
          <p:cNvPr id="15" name="Text Box 2"/>
          <p:cNvSpPr txBox="1">
            <a:spLocks noChangeArrowheads="1"/>
          </p:cNvSpPr>
          <p:nvPr/>
        </p:nvSpPr>
        <p:spPr bwMode="auto">
          <a:xfrm>
            <a:off x="1285852" y="1500180"/>
            <a:ext cx="6049962" cy="3084513"/>
          </a:xfrm>
          <a:prstGeom prst="rect">
            <a:avLst/>
          </a:prstGeom>
          <a:noFill/>
          <a:ln w="9525">
            <a:noFill/>
            <a:miter lim="800000"/>
          </a:ln>
          <a:effectLst/>
        </p:spPr>
        <p:txBody>
          <a:bodyPr>
            <a:spAutoFit/>
          </a:bodyPr>
          <a:lstStyle/>
          <a:p>
            <a:pPr eaLnBrk="1" hangingPunct="1">
              <a:spcBef>
                <a:spcPct val="50000"/>
              </a:spcBef>
            </a:pPr>
            <a:r>
              <a:rPr lang="en-US" altLang="zh-CN" sz="2800" b="1" dirty="0">
                <a:solidFill>
                  <a:srgbClr val="FF00FF"/>
                </a:solidFill>
                <a:latin typeface="楷体_GB2312" pitchFamily="49" charset="-122"/>
                <a:ea typeface="楷体_GB2312" pitchFamily="49" charset="-122"/>
              </a:rPr>
              <a:t>1</a:t>
            </a:r>
            <a:r>
              <a:rPr lang="zh-CN" altLang="en-US" sz="2800" b="1" dirty="0">
                <a:solidFill>
                  <a:srgbClr val="FF00FF"/>
                </a:solidFill>
                <a:latin typeface="楷体_GB2312" pitchFamily="49" charset="-122"/>
                <a:ea typeface="楷体_GB2312" pitchFamily="49" charset="-122"/>
              </a:rPr>
              <a:t>、固溶体的分类</a:t>
            </a:r>
            <a:endParaRPr lang="zh-CN" altLang="en-US" sz="2800" b="1" dirty="0">
              <a:solidFill>
                <a:srgbClr val="FF00FF"/>
              </a:solidFill>
              <a:latin typeface="楷体_GB2312" pitchFamily="49" charset="-122"/>
              <a:ea typeface="楷体_GB2312" pitchFamily="49" charset="-122"/>
            </a:endParaRPr>
          </a:p>
          <a:p>
            <a:pPr eaLnBrk="1" hangingPunct="1">
              <a:spcBef>
                <a:spcPct val="50000"/>
              </a:spcBef>
            </a:pPr>
            <a:r>
              <a:rPr lang="en-US" altLang="en-US" sz="2800" b="1" dirty="0">
                <a:solidFill>
                  <a:srgbClr val="FF00FF"/>
                </a:solidFill>
                <a:latin typeface="楷体_GB2312" pitchFamily="49" charset="-122"/>
                <a:ea typeface="楷体_GB2312" pitchFamily="49" charset="-122"/>
              </a:rPr>
              <a:t>2、置换型固溶体</a:t>
            </a:r>
            <a:endParaRPr lang="zh-CN" altLang="en-US" sz="2800" b="1" dirty="0">
              <a:solidFill>
                <a:srgbClr val="FF00FF"/>
              </a:solidFill>
              <a:latin typeface="楷体_GB2312" pitchFamily="49" charset="-122"/>
              <a:ea typeface="楷体_GB2312" pitchFamily="49" charset="-122"/>
            </a:endParaRPr>
          </a:p>
          <a:p>
            <a:pPr eaLnBrk="1" hangingPunct="1">
              <a:spcBef>
                <a:spcPct val="50000"/>
              </a:spcBef>
            </a:pPr>
            <a:r>
              <a:rPr lang="en-US" altLang="en-US" sz="2800" b="1" dirty="0">
                <a:solidFill>
                  <a:srgbClr val="FF00FF"/>
                </a:solidFill>
                <a:latin typeface="楷体_GB2312" pitchFamily="49" charset="-122"/>
                <a:ea typeface="楷体_GB2312" pitchFamily="49" charset="-122"/>
              </a:rPr>
              <a:t>3、间隙型固溶体</a:t>
            </a:r>
            <a:endParaRPr lang="zh-CN" altLang="en-US" sz="2800" b="1" dirty="0">
              <a:solidFill>
                <a:srgbClr val="FF00FF"/>
              </a:solidFill>
              <a:latin typeface="楷体_GB2312" pitchFamily="49" charset="-122"/>
              <a:ea typeface="楷体_GB2312" pitchFamily="49" charset="-122"/>
            </a:endParaRPr>
          </a:p>
          <a:p>
            <a:pPr eaLnBrk="1" hangingPunct="1">
              <a:spcBef>
                <a:spcPct val="50000"/>
              </a:spcBef>
            </a:pPr>
            <a:r>
              <a:rPr lang="en-US" altLang="en-US" sz="2800" b="1" dirty="0">
                <a:solidFill>
                  <a:srgbClr val="FF00FF"/>
                </a:solidFill>
                <a:latin typeface="楷体_GB2312" pitchFamily="49" charset="-122"/>
                <a:ea typeface="楷体_GB2312" pitchFamily="49" charset="-122"/>
              </a:rPr>
              <a:t>4、形成固溶体后对晶体性质的影响</a:t>
            </a:r>
            <a:endParaRPr lang="zh-CN" altLang="en-US" sz="2800" b="1" dirty="0">
              <a:solidFill>
                <a:srgbClr val="FF00FF"/>
              </a:solidFill>
              <a:latin typeface="楷体_GB2312" pitchFamily="49" charset="-122"/>
              <a:ea typeface="楷体_GB2312" pitchFamily="49" charset="-122"/>
            </a:endParaRPr>
          </a:p>
          <a:p>
            <a:pPr eaLnBrk="1" hangingPunct="1">
              <a:spcBef>
                <a:spcPct val="50000"/>
              </a:spcBef>
            </a:pPr>
            <a:r>
              <a:rPr lang="en-US" altLang="zh-CN" sz="2800" b="1" dirty="0">
                <a:solidFill>
                  <a:srgbClr val="FF00FF"/>
                </a:solidFill>
                <a:latin typeface="楷体_GB2312" pitchFamily="49" charset="-122"/>
                <a:ea typeface="楷体_GB2312" pitchFamily="49" charset="-122"/>
              </a:rPr>
              <a:t>5</a:t>
            </a:r>
            <a:r>
              <a:rPr lang="zh-CN" altLang="en-US" sz="2800" b="1" dirty="0">
                <a:solidFill>
                  <a:srgbClr val="FF00FF"/>
                </a:solidFill>
                <a:latin typeface="楷体_GB2312" pitchFamily="49" charset="-122"/>
                <a:ea typeface="楷体_GB2312" pitchFamily="49" charset="-122"/>
              </a:rPr>
              <a:t>、固溶体的研究方法</a:t>
            </a:r>
            <a:endParaRPr lang="zh-CN" altLang="en-US" sz="2800" b="1" dirty="0">
              <a:solidFill>
                <a:srgbClr val="FF00FF"/>
              </a:solidFill>
              <a:latin typeface="楷体_GB2312" pitchFamily="49" charset="-122"/>
              <a:ea typeface="楷体_GB2312" pitchFamily="49"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204802" name="Rectangle 2"/>
          <p:cNvSpPr>
            <a:spLocks noGrp="1" noChangeArrowheads="1"/>
          </p:cNvSpPr>
          <p:nvPr>
            <p:ph idx="1"/>
          </p:nvPr>
        </p:nvSpPr>
        <p:spPr>
          <a:xfrm>
            <a:off x="457200" y="476250"/>
            <a:ext cx="8686800" cy="1512888"/>
          </a:xfrm>
        </p:spPr>
        <p:txBody>
          <a:bodyPr vert="horz" lIns="91440" tIns="45720" rIns="91440" bIns="45720" rtlCol="0">
            <a:normAutofit/>
          </a:bodyPr>
          <a:lstStyle/>
          <a:p>
            <a:pPr marL="342900" marR="0" lvl="0" indent="-342900" algn="l" defTabSz="914400" rtl="0" eaLnBrk="1" fontAlgn="auto" latinLnBrk="0" hangingPunct="1">
              <a:lnSpc>
                <a:spcPct val="150000"/>
              </a:lnSpc>
              <a:spcBef>
                <a:spcPct val="20000"/>
              </a:spcBef>
              <a:spcAft>
                <a:spcPts val="0"/>
              </a:spcAft>
              <a:buClrTx/>
              <a:buSzTx/>
              <a:buFont typeface="Wingdings" panose="05000000000000000000" pitchFamily="2" charset="2"/>
              <a:buNone/>
              <a:defRPr/>
            </a:pPr>
            <a:r>
              <a:rPr kumimoji="1" lang="en-US" altLang="zh-CN" sz="2600" b="1" i="0" u="none" strike="noStrike" kern="1200" cap="none" spc="0" normalizeH="0" baseline="0" noProof="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rPr>
              <a:t>①</a:t>
            </a:r>
            <a:r>
              <a:rPr kumimoji="1" lang="zh-CN" altLang="en-US" sz="2600" b="1" i="0" u="none" strike="noStrike" kern="1200" cap="none" spc="0" normalizeH="0" baseline="0" noProof="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rPr>
              <a:t>固溶体</a:t>
            </a:r>
            <a:r>
              <a:rPr kumimoji="1" lang="zh-CN" altLang="en-US" sz="26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a:t>
            </a:r>
            <a:r>
              <a:rPr kumimoji="1" lang="zh-CN" altLang="en-US" sz="26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含有外来杂质原子的单一均匀的晶态固体。</a:t>
            </a:r>
            <a:endParaRPr kumimoji="1" lang="zh-CN" altLang="en-US" sz="26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50000"/>
              </a:lnSpc>
              <a:spcBef>
                <a:spcPct val="20000"/>
              </a:spcBef>
              <a:spcAft>
                <a:spcPts val="0"/>
              </a:spcAft>
              <a:buClrTx/>
              <a:buSzTx/>
              <a:buFont typeface="Wingdings" panose="05000000000000000000" pitchFamily="2" charset="2"/>
              <a:buNone/>
              <a:defRPr/>
            </a:pPr>
            <a:r>
              <a:rPr kumimoji="0" lang="zh-CN" altLang="en-US"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例：</a:t>
            </a:r>
            <a:r>
              <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MgO</a:t>
            </a:r>
            <a:r>
              <a:rPr kumimoji="0" lang="zh-CN" altLang="en-US"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晶体中含有</a:t>
            </a:r>
            <a:r>
              <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FeO</a:t>
            </a:r>
            <a:r>
              <a:rPr kumimoji="0" lang="zh-CN" altLang="en-US"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杂质 </a:t>
            </a:r>
            <a:r>
              <a:rPr kumimoji="0" lang="en-US" altLang="en-US"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r>
              <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Mg</a:t>
            </a:r>
            <a:r>
              <a:rPr kumimoji="0" lang="en-US" altLang="zh-CN" sz="2600" b="1" i="0" u="none" strike="noStrike" kern="1200" cap="none" spc="0" normalizeH="0" baseline="-25000" noProof="0">
                <a:ln>
                  <a:noFill/>
                </a:ln>
                <a:solidFill>
                  <a:schemeClr val="tx1"/>
                </a:solidFill>
                <a:effectLst/>
                <a:uLnTx/>
                <a:uFillTx/>
                <a:latin typeface="楷体_GB2312" pitchFamily="49" charset="-122"/>
                <a:ea typeface="楷体_GB2312" pitchFamily="49" charset="-122"/>
                <a:cs typeface="+mn-cs"/>
              </a:rPr>
              <a:t>1-x</a:t>
            </a:r>
            <a:r>
              <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Fe</a:t>
            </a:r>
            <a:r>
              <a:rPr kumimoji="0" lang="en-US" altLang="zh-CN" sz="2600" b="1" i="0" u="none" strike="noStrike" kern="1200" cap="none" spc="0" normalizeH="0" baseline="-25000" noProof="0">
                <a:ln>
                  <a:noFill/>
                </a:ln>
                <a:solidFill>
                  <a:schemeClr val="tx1"/>
                </a:solidFill>
                <a:effectLst/>
                <a:uLnTx/>
                <a:uFillTx/>
                <a:latin typeface="楷体_GB2312" pitchFamily="49" charset="-122"/>
                <a:ea typeface="楷体_GB2312" pitchFamily="49" charset="-122"/>
                <a:cs typeface="+mn-cs"/>
              </a:rPr>
              <a:t>x</a:t>
            </a:r>
            <a:r>
              <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O</a:t>
            </a:r>
            <a:endPar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50000"/>
              </a:lnSpc>
              <a:spcBef>
                <a:spcPct val="20000"/>
              </a:spcBef>
              <a:spcAft>
                <a:spcPts val="0"/>
              </a:spcAft>
              <a:buClrTx/>
              <a:buSzTx/>
              <a:buFont typeface="Wingdings" panose="05000000000000000000" pitchFamily="2" charset="2"/>
              <a:buNone/>
              <a:defRPr/>
            </a:pPr>
            <a:endPar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50000"/>
              </a:lnSpc>
              <a:spcBef>
                <a:spcPct val="20000"/>
              </a:spcBef>
              <a:spcAft>
                <a:spcPts val="0"/>
              </a:spcAft>
              <a:buClrTx/>
              <a:buSzTx/>
              <a:buFont typeface="Wingdings" panose="05000000000000000000" pitchFamily="2" charset="2"/>
              <a:buNone/>
              <a:defRPr/>
            </a:pPr>
            <a:endParaRPr kumimoji="0" lang="en-US" altLang="zh-CN" sz="26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204804" name="AutoShape 4"/>
          <p:cNvSpPr/>
          <p:nvPr/>
        </p:nvSpPr>
        <p:spPr>
          <a:xfrm>
            <a:off x="2268855" y="2068195"/>
            <a:ext cx="1812925" cy="781685"/>
          </a:xfrm>
          <a:prstGeom prst="wedgeRoundRectCallout">
            <a:avLst>
              <a:gd name="adj1" fmla="val 1023"/>
              <a:gd name="adj2" fmla="val -79241"/>
              <a:gd name="adj3" fmla="val 16667"/>
            </a:avLst>
          </a:prstGeom>
          <a:solidFill>
            <a:srgbClr val="00CC00"/>
          </a:solidFill>
          <a:ln w="9525" cap="flat" cmpd="sng">
            <a:solidFill>
              <a:schemeClr val="tx1"/>
            </a:solidFill>
            <a:prstDash val="solid"/>
            <a:miter/>
            <a:headEnd type="none" w="med" len="med"/>
            <a:tailEnd type="none" w="med" len="med"/>
          </a:ln>
        </p:spPr>
        <p:txBody>
          <a:bodyPr/>
          <a:lstStyle/>
          <a:p>
            <a:pPr algn="ctr" eaLnBrk="1" hangingPunct="1"/>
            <a:r>
              <a:rPr lang="zh-CN" altLang="en-US" sz="2200" b="1" dirty="0">
                <a:latin typeface="Arial" panose="020B0604020202020204" pitchFamily="34" charset="0"/>
                <a:ea typeface="楷体_GB2312" pitchFamily="49" charset="-122"/>
              </a:rPr>
              <a:t>基质</a:t>
            </a:r>
            <a:endParaRPr lang="zh-CN" altLang="en-US" sz="2200" b="1" dirty="0">
              <a:latin typeface="Arial" panose="020B0604020202020204" pitchFamily="34" charset="0"/>
              <a:ea typeface="楷体_GB2312" pitchFamily="49" charset="-122"/>
            </a:endParaRPr>
          </a:p>
          <a:p>
            <a:pPr algn="ctr" eaLnBrk="1" hangingPunct="1"/>
            <a:r>
              <a:rPr lang="zh-CN" altLang="en-US" sz="2200" b="1" dirty="0">
                <a:solidFill>
                  <a:srgbClr val="CC3300"/>
                </a:solidFill>
                <a:latin typeface="Arial" panose="020B0604020202020204" pitchFamily="34" charset="0"/>
                <a:ea typeface="楷体_GB2312" pitchFamily="49" charset="-122"/>
              </a:rPr>
              <a:t>溶剂</a:t>
            </a:r>
            <a:endParaRPr lang="zh-CN" altLang="en-US" sz="2200" b="1" dirty="0">
              <a:solidFill>
                <a:srgbClr val="CC3300"/>
              </a:solidFill>
              <a:latin typeface="Arial" panose="020B0604020202020204" pitchFamily="34" charset="0"/>
              <a:ea typeface="楷体_GB2312" pitchFamily="49" charset="-122"/>
            </a:endParaRPr>
          </a:p>
          <a:p>
            <a:pPr algn="ctr" eaLnBrk="1" hangingPunct="1"/>
            <a:r>
              <a:rPr lang="zh-CN" altLang="en-US" sz="2200" b="1" dirty="0">
                <a:solidFill>
                  <a:srgbClr val="CC00FF"/>
                </a:solidFill>
                <a:latin typeface="Arial" panose="020B0604020202020204" pitchFamily="34" charset="0"/>
                <a:ea typeface="楷体_GB2312" pitchFamily="49" charset="-122"/>
              </a:rPr>
              <a:t>主晶相</a:t>
            </a:r>
            <a:endParaRPr lang="zh-CN" altLang="en-US" sz="2200" b="1" dirty="0">
              <a:solidFill>
                <a:srgbClr val="CC00FF"/>
              </a:solidFill>
              <a:latin typeface="Arial" panose="020B0604020202020204" pitchFamily="34" charset="0"/>
              <a:ea typeface="楷体_GB2312" pitchFamily="49" charset="-122"/>
            </a:endParaRPr>
          </a:p>
        </p:txBody>
      </p:sp>
      <p:sp>
        <p:nvSpPr>
          <p:cNvPr id="204805" name="AutoShape 5"/>
          <p:cNvSpPr/>
          <p:nvPr/>
        </p:nvSpPr>
        <p:spPr>
          <a:xfrm>
            <a:off x="4500245" y="1989455"/>
            <a:ext cx="1685925" cy="860425"/>
          </a:xfrm>
          <a:prstGeom prst="wedgeRoundRectCallout">
            <a:avLst>
              <a:gd name="adj1" fmla="val -8505"/>
              <a:gd name="adj2" fmla="val -74773"/>
              <a:gd name="adj3" fmla="val 16667"/>
            </a:avLst>
          </a:prstGeom>
          <a:solidFill>
            <a:srgbClr val="00CC00"/>
          </a:solidFill>
          <a:ln w="9525" cap="flat" cmpd="sng">
            <a:solidFill>
              <a:schemeClr val="tx1"/>
            </a:solidFill>
            <a:prstDash val="solid"/>
            <a:miter/>
            <a:headEnd type="none" w="med" len="med"/>
            <a:tailEnd type="none" w="med" len="med"/>
          </a:ln>
        </p:spPr>
        <p:txBody>
          <a:bodyPr/>
          <a:lstStyle/>
          <a:p>
            <a:pPr algn="ctr" eaLnBrk="1" hangingPunct="1"/>
            <a:r>
              <a:rPr lang="zh-CN" altLang="en-US" sz="2200" b="1" dirty="0">
                <a:latin typeface="Arial" panose="020B0604020202020204" pitchFamily="34" charset="0"/>
                <a:ea typeface="楷体_GB2312" pitchFamily="49" charset="-122"/>
              </a:rPr>
              <a:t>杂质</a:t>
            </a:r>
            <a:endParaRPr lang="zh-CN" altLang="en-US" sz="2200" b="1" dirty="0">
              <a:latin typeface="Arial" panose="020B0604020202020204" pitchFamily="34" charset="0"/>
              <a:ea typeface="楷体_GB2312" pitchFamily="49" charset="-122"/>
            </a:endParaRPr>
          </a:p>
          <a:p>
            <a:pPr algn="ctr" eaLnBrk="1" hangingPunct="1"/>
            <a:r>
              <a:rPr lang="zh-CN" altLang="en-US" sz="2200" b="1" dirty="0">
                <a:solidFill>
                  <a:srgbClr val="CC3300"/>
                </a:solidFill>
                <a:latin typeface="Arial" panose="020B0604020202020204" pitchFamily="34" charset="0"/>
                <a:ea typeface="楷体_GB2312" pitchFamily="49" charset="-122"/>
              </a:rPr>
              <a:t>溶质</a:t>
            </a:r>
            <a:endParaRPr lang="zh-CN" altLang="en-US" sz="2200" b="1" dirty="0">
              <a:solidFill>
                <a:srgbClr val="CC3300"/>
              </a:solidFill>
              <a:latin typeface="Arial" panose="020B0604020202020204" pitchFamily="34" charset="0"/>
              <a:ea typeface="楷体_GB2312" pitchFamily="49" charset="-122"/>
            </a:endParaRPr>
          </a:p>
          <a:p>
            <a:pPr algn="ctr" eaLnBrk="1" hangingPunct="1"/>
            <a:r>
              <a:rPr lang="zh-CN" altLang="en-US" sz="2200" b="1" dirty="0">
                <a:solidFill>
                  <a:srgbClr val="CC00FF"/>
                </a:solidFill>
                <a:latin typeface="Arial" panose="020B0604020202020204" pitchFamily="34" charset="0"/>
                <a:ea typeface="楷体_GB2312" pitchFamily="49" charset="-122"/>
              </a:rPr>
              <a:t>掺杂剂</a:t>
            </a:r>
            <a:endParaRPr lang="zh-CN" altLang="en-US" sz="2200" b="1" dirty="0">
              <a:solidFill>
                <a:srgbClr val="CC00FF"/>
              </a:solidFill>
              <a:latin typeface="Arial" panose="020B0604020202020204" pitchFamily="34" charset="0"/>
              <a:ea typeface="楷体_GB2312" pitchFamily="49" charset="-122"/>
            </a:endParaRPr>
          </a:p>
        </p:txBody>
      </p:sp>
      <p:sp>
        <p:nvSpPr>
          <p:cNvPr id="204806" name="Text Box 6"/>
          <p:cNvSpPr txBox="1">
            <a:spLocks noChangeArrowheads="1"/>
          </p:cNvSpPr>
          <p:nvPr/>
        </p:nvSpPr>
        <p:spPr bwMode="auto">
          <a:xfrm>
            <a:off x="467678" y="3147695"/>
            <a:ext cx="7920038" cy="2176780"/>
          </a:xfrm>
          <a:prstGeom prst="rect">
            <a:avLst/>
          </a:prstGeom>
          <a:noFill/>
          <a:ln>
            <a:noFill/>
          </a:ln>
          <a:effectLst/>
        </p:spPr>
        <p:txBody>
          <a:bodyPr>
            <a:spAutoFit/>
          </a:bodyPr>
          <a:lstStyle/>
          <a:p>
            <a:pPr marR="0" indent="0" defTabSz="914400">
              <a:lnSpc>
                <a:spcPct val="120000"/>
              </a:lnSpc>
              <a:spcBef>
                <a:spcPts val="0"/>
              </a:spcBef>
              <a:buClr>
                <a:schemeClr val="accent1"/>
              </a:buClr>
              <a:buSzPct val="65000"/>
              <a:buFont typeface="Wingdings" panose="05000000000000000000" pitchFamily="2" charset="2"/>
              <a:buNone/>
              <a:defRPr/>
            </a:pPr>
            <a:r>
              <a:rPr kumimoji="1" lang="en-US" altLang="zh-CN" sz="2600" b="1" kern="1200" cap="none" spc="0" normalizeH="0" baseline="0" noProof="0">
                <a:solidFill>
                  <a:srgbClr val="0000FF"/>
                </a:solidFill>
                <a:effectLst>
                  <a:outerShdw blurRad="38100" dist="38100" dir="2700000" algn="tl">
                    <a:srgbClr val="C0C0C0"/>
                  </a:outerShdw>
                </a:effectLst>
                <a:latin typeface="楷体_GB2312" pitchFamily="49" charset="-122"/>
                <a:ea typeface="楷体_GB2312" pitchFamily="49" charset="-122"/>
                <a:cs typeface="+mn-cs"/>
              </a:rPr>
              <a:t>②</a:t>
            </a:r>
            <a:r>
              <a:rPr kumimoji="0" lang="zh-CN" altLang="en-US" sz="2600" b="1" kern="1200" cap="none" spc="0" normalizeH="0" baseline="0" noProof="0">
                <a:latin typeface="楷体_GB2312" pitchFamily="49" charset="-122"/>
                <a:ea typeface="楷体_GB2312" pitchFamily="49" charset="-122"/>
                <a:cs typeface="+mn-cs"/>
              </a:rPr>
              <a:t>固溶体的</a:t>
            </a:r>
            <a:r>
              <a:rPr kumimoji="0" lang="zh-CN" altLang="en-US" sz="2600" b="1" kern="1200" cap="none" spc="0" normalizeH="0" baseline="0" noProof="0">
                <a:solidFill>
                  <a:schemeClr val="tx2"/>
                </a:solidFill>
                <a:latin typeface="楷体_GB2312" pitchFamily="49" charset="-122"/>
                <a:ea typeface="楷体_GB2312" pitchFamily="49" charset="-122"/>
                <a:cs typeface="+mn-cs"/>
              </a:rPr>
              <a:t>基本特征</a:t>
            </a:r>
            <a:endParaRPr kumimoji="0" lang="zh-CN" altLang="en-US" sz="2600" b="1" kern="1200" cap="none" spc="0" normalizeH="0" baseline="0" noProof="0">
              <a:solidFill>
                <a:schemeClr val="tx2"/>
              </a:solidFill>
              <a:latin typeface="楷体_GB2312" pitchFamily="49" charset="-122"/>
              <a:ea typeface="楷体_GB2312" pitchFamily="49" charset="-122"/>
              <a:cs typeface="+mn-cs"/>
            </a:endParaRPr>
          </a:p>
          <a:p>
            <a:pPr marL="457200" marR="0" lvl="1" indent="0" algn="l" defTabSz="914400" rtl="0" fontAlgn="base">
              <a:lnSpc>
                <a:spcPct val="120000"/>
              </a:lnSpc>
              <a:spcBef>
                <a:spcPts val="0"/>
              </a:spcBef>
              <a:spcAft>
                <a:spcPct val="0"/>
              </a:spcAft>
              <a:buClr>
                <a:schemeClr val="accent2"/>
              </a:buClr>
              <a:buSzPct val="60000"/>
              <a:buFont typeface="Wingdings" panose="05000000000000000000" pitchFamily="2" charset="2"/>
              <a:buChar char="q"/>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不同组分在原子尺度上的混合</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fontAlgn="base">
              <a:lnSpc>
                <a:spcPct val="120000"/>
              </a:lnSpc>
              <a:spcBef>
                <a:spcPts val="0"/>
              </a:spcBef>
              <a:spcAft>
                <a:spcPct val="0"/>
              </a:spcAft>
              <a:buClr>
                <a:schemeClr val="accent2"/>
              </a:buClr>
              <a:buSzPct val="60000"/>
              <a:buFont typeface="Wingdings" panose="05000000000000000000" pitchFamily="2" charset="2"/>
              <a:buChar char="q"/>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不破坏主晶相的晶体结构，只晶胞参数有少许改变</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fontAlgn="base">
              <a:lnSpc>
                <a:spcPct val="120000"/>
              </a:lnSpc>
              <a:spcBef>
                <a:spcPts val="0"/>
              </a:spcBef>
              <a:spcAft>
                <a:spcPct val="0"/>
              </a:spcAft>
              <a:buClr>
                <a:schemeClr val="accent2"/>
              </a:buClr>
              <a:buSzPct val="60000"/>
              <a:buFont typeface="Wingdings" panose="05000000000000000000" pitchFamily="2" charset="2"/>
              <a:buChar char="q"/>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大部分固溶体都有一定的固溶度</a:t>
            </a:r>
            <a:endParaRPr kumimoji="0" lang="zh-CN" altLang="en-US" sz="2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R="0" indent="0" defTabSz="914400" eaLnBrk="1" hangingPunct="1">
              <a:lnSpc>
                <a:spcPct val="120000"/>
              </a:lnSpc>
              <a:spcBef>
                <a:spcPts val="0"/>
              </a:spcBef>
              <a:buFont typeface="Wingdings" panose="05000000000000000000" pitchFamily="2" charset="2"/>
              <a:buNone/>
              <a:defRPr/>
            </a:pPr>
            <a:endParaRPr kumimoji="0" lang="en-US" altLang="zh-CN" kern="1200" cap="none" spc="0" normalizeH="0" baseline="0" noProof="0">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2">
                                            <p:txEl>
                                              <p:pRg st="0" end="0"/>
                                            </p:txEl>
                                          </p:spTgt>
                                        </p:tgtEl>
                                        <p:attrNameLst>
                                          <p:attrName>style.visibility</p:attrName>
                                        </p:attrNameLst>
                                      </p:cBhvr>
                                      <p:to>
                                        <p:strVal val="visible"/>
                                      </p:to>
                                    </p:set>
                                    <p:animEffect transition="in" filter="wipe(left)">
                                      <p:cBhvr>
                                        <p:cTn id="7" dur="1000"/>
                                        <p:tgtEl>
                                          <p:spTgt spid="2048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02">
                                            <p:txEl>
                                              <p:pRg st="1" end="1"/>
                                            </p:txEl>
                                          </p:spTgt>
                                        </p:tgtEl>
                                        <p:attrNameLst>
                                          <p:attrName>style.visibility</p:attrName>
                                        </p:attrNameLst>
                                      </p:cBhvr>
                                      <p:to>
                                        <p:strVal val="visible"/>
                                      </p:to>
                                    </p:set>
                                    <p:animEffect transition="in" filter="wipe(left)">
                                      <p:cBhvr>
                                        <p:cTn id="12" dur="1000"/>
                                        <p:tgtEl>
                                          <p:spTgt spid="2048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04804"/>
                                        </p:tgtEl>
                                        <p:attrNameLst>
                                          <p:attrName>style.visibility</p:attrName>
                                        </p:attrNameLst>
                                      </p:cBhvr>
                                      <p:to>
                                        <p:strVal val="visible"/>
                                      </p:to>
                                    </p:set>
                                    <p:animEffect transition="in" filter="wipe(up)">
                                      <p:cBhvr>
                                        <p:cTn id="17" dur="1000"/>
                                        <p:tgtEl>
                                          <p:spTgt spid="2048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04805"/>
                                        </p:tgtEl>
                                        <p:attrNameLst>
                                          <p:attrName>style.visibility</p:attrName>
                                        </p:attrNameLst>
                                      </p:cBhvr>
                                      <p:to>
                                        <p:strVal val="visible"/>
                                      </p:to>
                                    </p:set>
                                    <p:animEffect transition="in" filter="wipe(up)">
                                      <p:cBhvr>
                                        <p:cTn id="22" dur="1000"/>
                                        <p:tgtEl>
                                          <p:spTgt spid="2048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4806">
                                            <p:txEl>
                                              <p:pRg st="0" end="0"/>
                                            </p:txEl>
                                          </p:spTgt>
                                        </p:tgtEl>
                                        <p:attrNameLst>
                                          <p:attrName>style.visibility</p:attrName>
                                        </p:attrNameLst>
                                      </p:cBhvr>
                                      <p:to>
                                        <p:strVal val="visible"/>
                                      </p:to>
                                    </p:set>
                                    <p:animEffect transition="in" filter="wipe(left)">
                                      <p:cBhvr>
                                        <p:cTn id="27" dur="1000"/>
                                        <p:tgtEl>
                                          <p:spTgt spid="20480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4806">
                                            <p:txEl>
                                              <p:pRg st="1" end="1"/>
                                            </p:txEl>
                                          </p:spTgt>
                                        </p:tgtEl>
                                        <p:attrNameLst>
                                          <p:attrName>style.visibility</p:attrName>
                                        </p:attrNameLst>
                                      </p:cBhvr>
                                      <p:to>
                                        <p:strVal val="visible"/>
                                      </p:to>
                                    </p:set>
                                    <p:animEffect transition="in" filter="wipe(left)">
                                      <p:cBhvr>
                                        <p:cTn id="32" dur="1000"/>
                                        <p:tgtEl>
                                          <p:spTgt spid="20480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4806">
                                            <p:txEl>
                                              <p:pRg st="2" end="2"/>
                                            </p:txEl>
                                          </p:spTgt>
                                        </p:tgtEl>
                                        <p:attrNameLst>
                                          <p:attrName>style.visibility</p:attrName>
                                        </p:attrNameLst>
                                      </p:cBhvr>
                                      <p:to>
                                        <p:strVal val="visible"/>
                                      </p:to>
                                    </p:set>
                                    <p:animEffect transition="in" filter="wipe(left)">
                                      <p:cBhvr>
                                        <p:cTn id="37" dur="1000"/>
                                        <p:tgtEl>
                                          <p:spTgt spid="20480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4806">
                                            <p:txEl>
                                              <p:pRg st="3" end="3"/>
                                            </p:txEl>
                                          </p:spTgt>
                                        </p:tgtEl>
                                        <p:attrNameLst>
                                          <p:attrName>style.visibility</p:attrName>
                                        </p:attrNameLst>
                                      </p:cBhvr>
                                      <p:to>
                                        <p:strVal val="visible"/>
                                      </p:to>
                                    </p:set>
                                    <p:animEffect transition="in" filter="wipe(left)">
                                      <p:cBhvr>
                                        <p:cTn id="42" dur="1000"/>
                                        <p:tgtEl>
                                          <p:spTgt spid="2048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build="p"/>
      <p:bldP spid="204804" grpId="0" bldLvl="0" animBg="1"/>
      <p:bldP spid="204805"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12675" name="Text Box 37"/>
          <p:cNvSpPr txBox="1"/>
          <p:nvPr/>
        </p:nvSpPr>
        <p:spPr>
          <a:xfrm>
            <a:off x="1332230" y="553720"/>
            <a:ext cx="5832475" cy="400110"/>
          </a:xfrm>
          <a:prstGeom prst="rect">
            <a:avLst/>
          </a:prstGeom>
          <a:noFill/>
          <a:ln w="9525">
            <a:noFill/>
          </a:ln>
        </p:spPr>
        <p:txBody>
          <a:bodyPr>
            <a:spAutoFit/>
          </a:bodyPr>
          <a:lstStyle/>
          <a:p>
            <a:pPr eaLnBrk="1" hangingPunct="1">
              <a:spcBef>
                <a:spcPct val="50000"/>
              </a:spcBef>
            </a:pPr>
            <a:r>
              <a:rPr lang="zh-CN" altLang="en-US" sz="2000" b="1" dirty="0">
                <a:latin typeface="楷体_GB2312" pitchFamily="49" charset="-122"/>
                <a:ea typeface="楷体_GB2312" pitchFamily="49" charset="-122"/>
              </a:rPr>
              <a:t>机械混合物、固溶体、化合物的区别</a:t>
            </a:r>
            <a:endParaRPr lang="zh-CN" altLang="en-US" sz="2000" b="1" dirty="0">
              <a:latin typeface="楷体_GB2312" pitchFamily="49" charset="-122"/>
              <a:ea typeface="楷体_GB2312" pitchFamily="49" charset="-122"/>
            </a:endParaRPr>
          </a:p>
        </p:txBody>
      </p:sp>
      <p:graphicFrame>
        <p:nvGraphicFramePr>
          <p:cNvPr id="13" name="表格 12"/>
          <p:cNvGraphicFramePr>
            <a:graphicFrameLocks noGrp="1"/>
          </p:cNvGraphicFramePr>
          <p:nvPr/>
        </p:nvGraphicFramePr>
        <p:xfrm>
          <a:off x="428596" y="928677"/>
          <a:ext cx="8429684" cy="3786213"/>
        </p:xfrm>
        <a:graphic>
          <a:graphicData uri="http://schemas.openxmlformats.org/drawingml/2006/table">
            <a:tbl>
              <a:tblPr/>
              <a:tblGrid>
                <a:gridCol w="1785950"/>
                <a:gridCol w="1785950"/>
                <a:gridCol w="2143140"/>
                <a:gridCol w="2714644"/>
              </a:tblGrid>
              <a:tr h="658819">
                <a:tc>
                  <a:txBody>
                    <a:bodyPr/>
                    <a:lstStyle/>
                    <a:p>
                      <a:pPr marL="0" marR="0" indent="0" algn="ctr" fontAlgn="base">
                        <a:spcBef>
                          <a:spcPts val="0"/>
                        </a:spcBef>
                        <a:spcAft>
                          <a:spcPts val="0"/>
                        </a:spcAft>
                      </a:pPr>
                      <a:endParaRPr lang="zh-CN" altLang="en-US" sz="1100" kern="0" dirty="0">
                        <a:latin typeface="Calibri" panose="020F0502020204030204"/>
                        <a:ea typeface="宋体" panose="02010600030101010101" pitchFamily="2" charset="-122"/>
                        <a:cs typeface="Times New Roman" panose="02020603050405020304"/>
                      </a:endParaRPr>
                    </a:p>
                    <a:p>
                      <a:pPr marL="0" marR="0" indent="0" algn="ctr" fontAlgn="base">
                        <a:spcBef>
                          <a:spcPts val="0"/>
                        </a:spcBef>
                        <a:spcAft>
                          <a:spcPts val="0"/>
                        </a:spcAft>
                      </a:pPr>
                      <a:r>
                        <a:rPr lang="zh-CN" altLang="en-US" sz="1500" b="1" i="0" kern="1200" dirty="0">
                          <a:solidFill>
                            <a:srgbClr val="000000"/>
                          </a:solidFill>
                          <a:latin typeface="Times New Roman" panose="02020603050405020304"/>
                          <a:ea typeface="宋体" panose="02010600030101010101" pitchFamily="2" charset="-122"/>
                          <a:cs typeface="Times New Roman" panose="02020603050405020304"/>
                        </a:rPr>
                        <a:t>   </a:t>
                      </a:r>
                      <a:r>
                        <a:rPr lang="zh-CN" altLang="en-US" sz="1500" b="1" i="0" kern="1200" dirty="0" smtClean="0">
                          <a:solidFill>
                            <a:srgbClr val="000000"/>
                          </a:solidFill>
                          <a:latin typeface="Times New Roman" panose="02020603050405020304"/>
                          <a:ea typeface="宋体" panose="02010600030101010101" pitchFamily="2" charset="-122"/>
                          <a:cs typeface="Times New Roman" panose="02020603050405020304"/>
                        </a:rPr>
                        <a:t>                 </a:t>
                      </a:r>
                      <a:r>
                        <a:rPr lang="zh-CN" altLang="en-US" sz="1500" b="1" i="0" kern="1200" dirty="0" smtClean="0">
                          <a:solidFill>
                            <a:srgbClr val="000000"/>
                          </a:solidFill>
                          <a:latin typeface="Times New Roman" panose="02020603050405020304"/>
                          <a:ea typeface="楷体_GB2312"/>
                          <a:cs typeface="楷体_GB2312"/>
                        </a:rPr>
                        <a:t>类型</a:t>
                      </a:r>
                      <a:endParaRPr lang="zh-CN" altLang="en-US" sz="1100" dirty="0">
                        <a:latin typeface="Calibri" panose="020F0502020204030204"/>
                        <a:ea typeface="宋体" panose="02010600030101010101" pitchFamily="2" charset="-122"/>
                        <a:cs typeface="Times New Roman" panose="02020603050405020304"/>
                      </a:endParaRPr>
                    </a:p>
                    <a:p>
                      <a:pPr marL="0" marR="0" indent="0" algn="just" fontAlgn="base">
                        <a:spcBef>
                          <a:spcPts val="0"/>
                        </a:spcBef>
                        <a:spcAft>
                          <a:spcPts val="0"/>
                        </a:spcAft>
                      </a:pPr>
                      <a:r>
                        <a:rPr lang="zh-CN" altLang="en-US" sz="1500" b="1" i="0" kern="1200" dirty="0" smtClean="0">
                          <a:solidFill>
                            <a:srgbClr val="000000"/>
                          </a:solidFill>
                          <a:latin typeface="Times New Roman" panose="02020603050405020304"/>
                          <a:ea typeface="楷体_GB2312"/>
                          <a:cs typeface="楷体_GB2312"/>
                        </a:rPr>
                        <a:t>        项目</a:t>
                      </a:r>
                      <a:endParaRPr lang="zh-CN" altLang="en-US" sz="1100" dirty="0">
                        <a:latin typeface="Calibri" panose="020F0502020204030204"/>
                        <a:ea typeface="宋体" panose="02010600030101010101" pitchFamily="2" charset="-122"/>
                        <a:cs typeface="Times New Roman" panose="02020603050405020304"/>
                      </a:endParaRPr>
                    </a:p>
                  </a:txBody>
                  <a:tcPr marL="8712" marR="8712" marT="8712" marB="41819"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solidFill>
                      <a:srgbClr val="FFFFFF"/>
                    </a:solidFill>
                  </a:tcPr>
                </a:tc>
                <a:tc>
                  <a:txBody>
                    <a:bodyPr/>
                    <a:lstStyle/>
                    <a:p>
                      <a:pPr marL="0" marR="0" indent="0" algn="ctr" fontAlgn="base">
                        <a:spcBef>
                          <a:spcPts val="0"/>
                        </a:spcBef>
                        <a:spcAft>
                          <a:spcPts val="0"/>
                        </a:spcAft>
                      </a:pPr>
                      <a:r>
                        <a:rPr lang="en-US" sz="1500" b="1" i="0" kern="1200">
                          <a:solidFill>
                            <a:srgbClr val="000000"/>
                          </a:solidFill>
                          <a:latin typeface="Times New Roman" panose="02020603050405020304"/>
                          <a:ea typeface="楷体_GB2312"/>
                          <a:cs typeface="Times New Roman" panose="02020603050405020304"/>
                        </a:rPr>
                        <a:t>Mixture</a:t>
                      </a:r>
                      <a:endParaRPr lang="en-US" sz="1100">
                        <a:latin typeface="Calibri" panose="020F0502020204030204"/>
                        <a:ea typeface="宋体" panose="02010600030101010101" pitchFamily="2" charset="-122"/>
                        <a:cs typeface="Times New Roman" panose="02020603050405020304"/>
                      </a:endParaRPr>
                    </a:p>
                    <a:p>
                      <a:pPr marL="0" marR="0" indent="0" algn="ctr" fontAlgn="base">
                        <a:spcBef>
                          <a:spcPts val="0"/>
                        </a:spcBef>
                        <a:spcAft>
                          <a:spcPts val="0"/>
                        </a:spcAft>
                      </a:pPr>
                      <a:r>
                        <a:rPr lang="en-US" sz="1500" b="1" i="0" kern="1200">
                          <a:solidFill>
                            <a:srgbClr val="000000"/>
                          </a:solidFill>
                          <a:latin typeface="Times New Roman" panose="02020603050405020304"/>
                          <a:ea typeface="楷体_GB2312"/>
                          <a:cs typeface="Times New Roman" panose="02020603050405020304"/>
                        </a:rPr>
                        <a:t>A+B</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0"/>
                        </a:spcBef>
                        <a:spcAft>
                          <a:spcPts val="0"/>
                        </a:spcAft>
                      </a:pPr>
                      <a:r>
                        <a:rPr lang="en-US" sz="1500" b="1" i="0" kern="1200">
                          <a:solidFill>
                            <a:srgbClr val="FF0000"/>
                          </a:solidFill>
                          <a:latin typeface="Times New Roman" panose="02020603050405020304"/>
                          <a:ea typeface="楷体_GB2312"/>
                          <a:cs typeface="Times New Roman" panose="02020603050405020304"/>
                        </a:rPr>
                        <a:t>Solid solution</a:t>
                      </a:r>
                      <a:endParaRPr lang="en-US" sz="1100">
                        <a:latin typeface="Calibri" panose="020F0502020204030204"/>
                        <a:ea typeface="宋体" panose="02010600030101010101" pitchFamily="2" charset="-122"/>
                        <a:cs typeface="Times New Roman" panose="02020603050405020304"/>
                      </a:endParaRPr>
                    </a:p>
                    <a:p>
                      <a:pPr marL="0" marR="0" indent="0" algn="ctr" fontAlgn="base">
                        <a:spcBef>
                          <a:spcPts val="0"/>
                        </a:spcBef>
                        <a:spcAft>
                          <a:spcPts val="0"/>
                        </a:spcAft>
                      </a:pPr>
                      <a:r>
                        <a:rPr lang="en-US" sz="1500" b="1" i="0" kern="1200">
                          <a:solidFill>
                            <a:srgbClr val="FF0000"/>
                          </a:solidFill>
                          <a:latin typeface="Times New Roman" panose="02020603050405020304"/>
                          <a:ea typeface="楷体_GB2312"/>
                          <a:cs typeface="Times New Roman" panose="02020603050405020304"/>
                        </a:rPr>
                        <a:t>A</a:t>
                      </a:r>
                      <a:r>
                        <a:rPr lang="en-US" sz="1500" b="1" i="0" kern="1200" baseline="-25000">
                          <a:solidFill>
                            <a:srgbClr val="FF0000"/>
                          </a:solidFill>
                          <a:latin typeface="Times New Roman" panose="02020603050405020304"/>
                          <a:ea typeface="楷体_GB2312"/>
                          <a:cs typeface="Times New Roman" panose="02020603050405020304"/>
                        </a:rPr>
                        <a:t>1-x</a:t>
                      </a:r>
                      <a:r>
                        <a:rPr lang="en-US" sz="1500" b="1" i="0" kern="1200">
                          <a:solidFill>
                            <a:srgbClr val="FF0000"/>
                          </a:solidFill>
                          <a:latin typeface="Times New Roman" panose="02020603050405020304"/>
                          <a:ea typeface="楷体_GB2312"/>
                          <a:cs typeface="Times New Roman" panose="02020603050405020304"/>
                        </a:rPr>
                        <a:t>B</a:t>
                      </a:r>
                      <a:r>
                        <a:rPr lang="en-US" sz="1500" b="1" i="0" kern="1200" baseline="-25000">
                          <a:solidFill>
                            <a:srgbClr val="FF0000"/>
                          </a:solidFill>
                          <a:latin typeface="Times New Roman" panose="02020603050405020304"/>
                          <a:ea typeface="楷体_GB2312"/>
                          <a:cs typeface="Times New Roman" panose="02020603050405020304"/>
                        </a:rPr>
                        <a:t>x</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0"/>
                        </a:spcBef>
                        <a:spcAft>
                          <a:spcPts val="0"/>
                        </a:spcAft>
                      </a:pPr>
                      <a:r>
                        <a:rPr lang="en-US" sz="1500" b="1" i="0" kern="1200">
                          <a:solidFill>
                            <a:srgbClr val="000000"/>
                          </a:solidFill>
                          <a:latin typeface="Times New Roman" panose="02020603050405020304"/>
                          <a:ea typeface="楷体_GB2312"/>
                          <a:cs typeface="Times New Roman" panose="02020603050405020304"/>
                        </a:rPr>
                        <a:t>Compounds</a:t>
                      </a:r>
                      <a:endParaRPr lang="en-US" sz="1100">
                        <a:latin typeface="Calibri" panose="020F0502020204030204"/>
                        <a:ea typeface="宋体" panose="02010600030101010101" pitchFamily="2" charset="-122"/>
                        <a:cs typeface="Times New Roman" panose="02020603050405020304"/>
                      </a:endParaRPr>
                    </a:p>
                    <a:p>
                      <a:pPr marL="0" marR="0" indent="0" algn="ctr" fontAlgn="base">
                        <a:spcBef>
                          <a:spcPts val="0"/>
                        </a:spcBef>
                        <a:spcAft>
                          <a:spcPts val="0"/>
                        </a:spcAft>
                      </a:pPr>
                      <a:r>
                        <a:rPr lang="en-US" sz="1500" b="1" i="0" kern="1200">
                          <a:solidFill>
                            <a:srgbClr val="000000"/>
                          </a:solidFill>
                          <a:latin typeface="Times New Roman" panose="02020603050405020304"/>
                          <a:ea typeface="楷体_GB2312"/>
                          <a:cs typeface="Times New Roman" panose="02020603050405020304"/>
                        </a:rPr>
                        <a:t>A</a:t>
                      </a:r>
                      <a:r>
                        <a:rPr lang="en-US" sz="1500" b="1" i="0" kern="1200" baseline="-25000">
                          <a:solidFill>
                            <a:srgbClr val="000000"/>
                          </a:solidFill>
                          <a:latin typeface="Times New Roman" panose="02020603050405020304"/>
                          <a:ea typeface="楷体_GB2312"/>
                          <a:cs typeface="Times New Roman" panose="02020603050405020304"/>
                        </a:rPr>
                        <a:t>m</a:t>
                      </a:r>
                      <a:r>
                        <a:rPr lang="en-US" sz="1500" b="1" i="0" kern="1200">
                          <a:solidFill>
                            <a:srgbClr val="000000"/>
                          </a:solidFill>
                          <a:latin typeface="Times New Roman" panose="02020603050405020304"/>
                          <a:ea typeface="楷体_GB2312"/>
                          <a:cs typeface="Times New Roman" panose="02020603050405020304"/>
                        </a:rPr>
                        <a:t>B</a:t>
                      </a:r>
                      <a:r>
                        <a:rPr lang="en-US" sz="1500" b="1" i="0" kern="1200" baseline="-25000">
                          <a:solidFill>
                            <a:srgbClr val="000000"/>
                          </a:solidFill>
                          <a:latin typeface="Times New Roman" panose="02020603050405020304"/>
                          <a:ea typeface="楷体_GB2312"/>
                          <a:cs typeface="Times New Roman" panose="02020603050405020304"/>
                        </a:rPr>
                        <a:t>n</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83696">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形成原因</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粉末混合</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FF0000"/>
                          </a:solidFill>
                          <a:latin typeface="Times New Roman" panose="02020603050405020304"/>
                          <a:ea typeface="楷体_GB2312"/>
                          <a:cs typeface="楷体_GB2312"/>
                        </a:rPr>
                        <a:t>以原子尺寸“溶解”生成</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原子间相互反应生成</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44843">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物系相数</a:t>
                      </a:r>
                      <a:endParaRPr lang="zh-CN" altLang="en-US" sz="1100">
                        <a:latin typeface="Calibri" panose="020F0502020204030204"/>
                        <a:ea typeface="宋体" panose="02010600030101010101" pitchFamily="2" charset="-122"/>
                        <a:cs typeface="Times New Roman" panose="02020603050405020304"/>
                      </a:endParaRPr>
                    </a:p>
                    <a:p>
                      <a:pPr marL="0" marR="0" indent="0" algn="ctr" fontAlgn="base">
                        <a:spcBef>
                          <a:spcPts val="385"/>
                        </a:spcBef>
                        <a:spcAft>
                          <a:spcPts val="0"/>
                        </a:spcAft>
                      </a:pPr>
                      <a:r>
                        <a:rPr lang="en-US" sz="1500" b="1" i="0" kern="1200">
                          <a:solidFill>
                            <a:srgbClr val="000000"/>
                          </a:solidFill>
                          <a:latin typeface="Times New Roman" panose="02020603050405020304"/>
                          <a:ea typeface="楷体_GB2312"/>
                          <a:cs typeface="Times New Roman" panose="02020603050405020304"/>
                        </a:rPr>
                        <a:t>phase</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多相系统</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FF0000"/>
                          </a:solidFill>
                          <a:latin typeface="Times New Roman" panose="02020603050405020304"/>
                          <a:ea typeface="楷体_GB2312"/>
                          <a:cs typeface="楷体_GB2312"/>
                        </a:rPr>
                        <a:t>均一单相系统</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均一单相系统</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191786">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结构</a:t>
                      </a:r>
                      <a:endParaRPr lang="zh-CN" altLang="en-US" sz="1100">
                        <a:latin typeface="Calibri" panose="020F0502020204030204"/>
                        <a:ea typeface="宋体" panose="02010600030101010101" pitchFamily="2" charset="-122"/>
                        <a:cs typeface="Times New Roman" panose="02020603050405020304"/>
                      </a:endParaRPr>
                    </a:p>
                    <a:p>
                      <a:pPr marL="0" marR="0" indent="0" algn="ctr" fontAlgn="base">
                        <a:spcBef>
                          <a:spcPts val="385"/>
                        </a:spcBef>
                        <a:spcAft>
                          <a:spcPts val="0"/>
                        </a:spcAft>
                      </a:pPr>
                      <a:r>
                        <a:rPr lang="en-US" sz="1500" b="1" i="0" kern="1200">
                          <a:solidFill>
                            <a:srgbClr val="000000"/>
                          </a:solidFill>
                          <a:latin typeface="Times New Roman" panose="02020603050405020304"/>
                          <a:ea typeface="楷体_GB2312"/>
                          <a:cs typeface="Times New Roman" panose="02020603050405020304"/>
                        </a:rPr>
                        <a:t>structure</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endParaRPr lang="zh-CN" altLang="en-US" sz="1100" kern="0">
                        <a:latin typeface="Calibri" panose="020F0502020204030204"/>
                        <a:ea typeface="宋体" panose="02010600030101010101" pitchFamily="2" charset="-122"/>
                        <a:cs typeface="Times New Roman" panose="02020603050405020304"/>
                      </a:endParaRPr>
                    </a:p>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各自有各自的结构</a:t>
                      </a:r>
                      <a:endParaRPr lang="zh-CN" altLang="en-US" sz="1100">
                        <a:latin typeface="Calibri" panose="020F0502020204030204"/>
                        <a:ea typeface="宋体" panose="02010600030101010101" pitchFamily="2" charset="-122"/>
                        <a:cs typeface="Times New Roman" panose="02020603050405020304"/>
                      </a:endParaRPr>
                    </a:p>
                    <a:p>
                      <a:pPr marL="0" marR="0" indent="0" algn="ctr" fontAlgn="base">
                        <a:spcBef>
                          <a:spcPts val="385"/>
                        </a:spcBef>
                        <a:spcAft>
                          <a:spcPts val="0"/>
                        </a:spcAft>
                      </a:pPr>
                      <a:r>
                        <a:rPr lang="en-US" sz="1500" b="1" i="0" kern="1200">
                          <a:solidFill>
                            <a:srgbClr val="000000"/>
                          </a:solidFill>
                          <a:latin typeface="Times New Roman" panose="02020603050405020304"/>
                          <a:ea typeface="楷体_GB2312"/>
                          <a:cs typeface="Times New Roman" panose="02020603050405020304"/>
                        </a:rPr>
                        <a:t>A structure</a:t>
                      </a:r>
                      <a:endParaRPr lang="en-US" sz="1100">
                        <a:latin typeface="Calibri" panose="020F0502020204030204"/>
                        <a:ea typeface="宋体" panose="02010600030101010101" pitchFamily="2" charset="-122"/>
                        <a:cs typeface="Times New Roman" panose="02020603050405020304"/>
                      </a:endParaRPr>
                    </a:p>
                    <a:p>
                      <a:pPr marL="0" marR="0" indent="0" algn="ctr" fontAlgn="base">
                        <a:spcBef>
                          <a:spcPts val="385"/>
                        </a:spcBef>
                        <a:spcAft>
                          <a:spcPts val="0"/>
                        </a:spcAft>
                      </a:pPr>
                      <a:r>
                        <a:rPr lang="en-US" sz="1500" b="1" i="0" kern="1200">
                          <a:solidFill>
                            <a:srgbClr val="000000"/>
                          </a:solidFill>
                          <a:latin typeface="Times New Roman" panose="02020603050405020304"/>
                          <a:ea typeface="楷体_GB2312"/>
                          <a:cs typeface="Times New Roman" panose="02020603050405020304"/>
                        </a:rPr>
                        <a:t>+ B structure</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FF0000"/>
                          </a:solidFill>
                          <a:latin typeface="Times New Roman" panose="02020603050405020304"/>
                          <a:ea typeface="楷体_GB2312"/>
                          <a:cs typeface="楷体_GB2312"/>
                        </a:rPr>
                        <a:t>结构与基质相同</a:t>
                      </a:r>
                      <a:endParaRPr lang="zh-CN" altLang="en-US" sz="1100">
                        <a:latin typeface="Calibri" panose="020F0502020204030204"/>
                        <a:ea typeface="宋体" panose="02010600030101010101" pitchFamily="2" charset="-122"/>
                        <a:cs typeface="Times New Roman" panose="02020603050405020304"/>
                      </a:endParaRPr>
                    </a:p>
                    <a:p>
                      <a:pPr marL="0" marR="0" indent="0" algn="ctr" fontAlgn="base">
                        <a:spcBef>
                          <a:spcPts val="385"/>
                        </a:spcBef>
                        <a:spcAft>
                          <a:spcPts val="0"/>
                        </a:spcAft>
                      </a:pPr>
                      <a:r>
                        <a:rPr lang="en-US" sz="1500" b="1" i="0" kern="1200">
                          <a:solidFill>
                            <a:srgbClr val="FF0000"/>
                          </a:solidFill>
                          <a:latin typeface="Times New Roman" panose="02020603050405020304"/>
                          <a:ea typeface="楷体_GB2312"/>
                          <a:cs typeface="Times New Roman" panose="02020603050405020304"/>
                        </a:rPr>
                        <a:t>A structure</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385"/>
                        </a:spcBef>
                        <a:spcAft>
                          <a:spcPts val="0"/>
                        </a:spcAft>
                      </a:pPr>
                      <a:r>
                        <a:rPr lang="zh-CN" altLang="en-US" sz="1500" b="1" i="0" kern="1200">
                          <a:solidFill>
                            <a:srgbClr val="000000"/>
                          </a:solidFill>
                          <a:latin typeface="Times New Roman" panose="02020603050405020304"/>
                          <a:ea typeface="楷体_GB2312"/>
                          <a:cs typeface="楷体_GB2312"/>
                        </a:rPr>
                        <a:t>结构既不同于</a:t>
                      </a:r>
                      <a:r>
                        <a:rPr lang="en-US" sz="1500" b="1" i="0" kern="1200">
                          <a:solidFill>
                            <a:srgbClr val="000000"/>
                          </a:solidFill>
                          <a:latin typeface="Times New Roman" panose="02020603050405020304"/>
                          <a:ea typeface="楷体_GB2312"/>
                          <a:cs typeface="Times New Roman" panose="02020603050405020304"/>
                        </a:rPr>
                        <a:t>A</a:t>
                      </a:r>
                      <a:r>
                        <a:rPr lang="zh-CN" altLang="en-US" sz="1500" b="1" i="0" kern="1200">
                          <a:solidFill>
                            <a:srgbClr val="000000"/>
                          </a:solidFill>
                          <a:latin typeface="Times New Roman" panose="02020603050405020304"/>
                          <a:ea typeface="楷体_GB2312"/>
                          <a:cs typeface="楷体_GB2312"/>
                        </a:rPr>
                        <a:t>也不同于</a:t>
                      </a:r>
                      <a:r>
                        <a:rPr lang="en-US" sz="1500" b="1" i="0" kern="1200">
                          <a:solidFill>
                            <a:srgbClr val="000000"/>
                          </a:solidFill>
                          <a:latin typeface="Times New Roman" panose="02020603050405020304"/>
                          <a:ea typeface="楷体_GB2312"/>
                          <a:cs typeface="Times New Roman" panose="02020603050405020304"/>
                        </a:rPr>
                        <a:t>B</a:t>
                      </a:r>
                      <a:endParaRPr lang="en-US" sz="1100">
                        <a:latin typeface="Calibri" panose="020F0502020204030204"/>
                        <a:ea typeface="宋体" panose="02010600030101010101" pitchFamily="2" charset="-122"/>
                        <a:cs typeface="Times New Roman" panose="02020603050405020304"/>
                      </a:endParaRPr>
                    </a:p>
                    <a:p>
                      <a:pPr marL="0" marR="0" indent="0" algn="ctr" fontAlgn="base">
                        <a:spcBef>
                          <a:spcPts val="385"/>
                        </a:spcBef>
                        <a:spcAft>
                          <a:spcPts val="0"/>
                        </a:spcAft>
                      </a:pPr>
                      <a:r>
                        <a:rPr lang="en-US" sz="1500" b="1" i="0" kern="1200">
                          <a:solidFill>
                            <a:srgbClr val="000000"/>
                          </a:solidFill>
                          <a:latin typeface="Times New Roman" panose="02020603050405020304"/>
                          <a:ea typeface="楷体_GB2312"/>
                          <a:cs typeface="Times New Roman" panose="02020603050405020304"/>
                        </a:rPr>
                        <a:t>New structure</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876829">
                <a:tc>
                  <a:txBody>
                    <a:bodyPr/>
                    <a:lstStyle/>
                    <a:p>
                      <a:pPr marL="0" marR="0" indent="0" algn="ctr" fontAlgn="base">
                        <a:spcBef>
                          <a:spcPts val="430"/>
                        </a:spcBef>
                        <a:spcAft>
                          <a:spcPts val="0"/>
                        </a:spcAft>
                      </a:pPr>
                      <a:r>
                        <a:rPr lang="zh-CN" altLang="en-US" sz="1600" b="1" i="0" kern="1200">
                          <a:solidFill>
                            <a:srgbClr val="000000"/>
                          </a:solidFill>
                          <a:latin typeface="Times New Roman" panose="02020603050405020304"/>
                          <a:ea typeface="楷体_GB2312"/>
                          <a:cs typeface="楷体_GB2312"/>
                        </a:rPr>
                        <a:t>化学计量</a:t>
                      </a:r>
                      <a:endParaRPr lang="zh-CN" altLang="en-US" sz="1100">
                        <a:latin typeface="Calibri" panose="020F0502020204030204"/>
                        <a:ea typeface="宋体" panose="02010600030101010101" pitchFamily="2" charset="-122"/>
                        <a:cs typeface="Times New Roman" panose="02020603050405020304"/>
                      </a:endParaRPr>
                    </a:p>
                    <a:p>
                      <a:pPr marL="0" marR="0" indent="0" algn="ctr" fontAlgn="base">
                        <a:spcBef>
                          <a:spcPts val="430"/>
                        </a:spcBef>
                        <a:spcAft>
                          <a:spcPts val="0"/>
                        </a:spcAft>
                      </a:pPr>
                      <a:r>
                        <a:rPr lang="en-US" sz="1600" b="1" i="0" kern="1200">
                          <a:solidFill>
                            <a:srgbClr val="000000"/>
                          </a:solidFill>
                          <a:latin typeface="Times New Roman" panose="02020603050405020304"/>
                          <a:ea typeface="楷体_GB2312"/>
                          <a:cs typeface="Times New Roman" panose="02020603050405020304"/>
                        </a:rPr>
                        <a:t>A/B</a:t>
                      </a:r>
                      <a:endParaRPr lang="en-US" sz="1100">
                        <a:latin typeface="Calibri" panose="020F0502020204030204"/>
                        <a:ea typeface="宋体" panose="02010600030101010101" pitchFamily="2" charset="-122"/>
                        <a:cs typeface="Times New Roman" panose="02020603050405020304"/>
                      </a:endParaRPr>
                    </a:p>
                  </a:txBody>
                  <a:tcPr marL="8712" marR="8712" marT="8712" marB="41819"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430"/>
                        </a:spcBef>
                        <a:spcAft>
                          <a:spcPts val="0"/>
                        </a:spcAft>
                      </a:pPr>
                      <a:r>
                        <a:rPr lang="zh-CN" altLang="en-US" sz="1600" b="1" i="0" kern="1200" dirty="0">
                          <a:solidFill>
                            <a:srgbClr val="000000"/>
                          </a:solidFill>
                          <a:latin typeface="Times New Roman" panose="02020603050405020304"/>
                          <a:ea typeface="楷体_GB2312"/>
                          <a:cs typeface="楷体_GB2312"/>
                        </a:rPr>
                        <a:t>不定</a:t>
                      </a:r>
                      <a:endParaRPr lang="zh-CN" altLang="en-US" sz="1100" dirty="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430"/>
                        </a:spcBef>
                        <a:spcAft>
                          <a:spcPts val="0"/>
                        </a:spcAft>
                      </a:pPr>
                      <a:r>
                        <a:rPr lang="zh-CN" altLang="en-US" sz="1600" b="1" i="0" kern="1200">
                          <a:solidFill>
                            <a:srgbClr val="FF0000"/>
                          </a:solidFill>
                          <a:latin typeface="Times New Roman" panose="02020603050405020304"/>
                          <a:ea typeface="楷体_GB2312"/>
                          <a:cs typeface="楷体_GB2312"/>
                        </a:rPr>
                        <a:t>固溶比例不定</a:t>
                      </a:r>
                      <a:endParaRPr lang="zh-CN" altLang="en-US" sz="110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marL="0" marR="0" indent="0" algn="ctr" fontAlgn="base">
                        <a:spcBef>
                          <a:spcPts val="430"/>
                        </a:spcBef>
                        <a:spcAft>
                          <a:spcPts val="0"/>
                        </a:spcAft>
                      </a:pPr>
                      <a:r>
                        <a:rPr lang="en-US" altLang="zh-CN" sz="1600" b="1" i="0" kern="1200" dirty="0">
                          <a:solidFill>
                            <a:srgbClr val="000000"/>
                          </a:solidFill>
                          <a:latin typeface="Times New Roman" panose="02020603050405020304"/>
                          <a:ea typeface="楷体_GB2312"/>
                          <a:cs typeface="Times New Roman" panose="02020603050405020304"/>
                        </a:rPr>
                        <a:t>m : n</a:t>
                      </a:r>
                      <a:endParaRPr lang="zh-CN" altLang="en-US" sz="1100" dirty="0">
                        <a:latin typeface="Calibri" panose="020F0502020204030204"/>
                        <a:ea typeface="宋体" panose="02010600030101010101" pitchFamily="2" charset="-122"/>
                        <a:cs typeface="Times New Roman" panose="02020603050405020304"/>
                      </a:endParaRPr>
                    </a:p>
                    <a:p>
                      <a:pPr marL="0" marR="0" indent="0" algn="ctr" fontAlgn="base">
                        <a:spcBef>
                          <a:spcPts val="430"/>
                        </a:spcBef>
                        <a:spcAft>
                          <a:spcPts val="0"/>
                        </a:spcAft>
                      </a:pPr>
                      <a:r>
                        <a:rPr lang="zh-CN" altLang="en-US" sz="1600" b="1" i="0" kern="1200" dirty="0">
                          <a:solidFill>
                            <a:srgbClr val="000000"/>
                          </a:solidFill>
                          <a:latin typeface="Times New Roman" panose="02020603050405020304"/>
                          <a:ea typeface="楷体_GB2312"/>
                          <a:cs typeface="楷体_GB2312"/>
                        </a:rPr>
                        <a:t>整数比或接近整数比的一定范围内</a:t>
                      </a:r>
                      <a:endParaRPr lang="zh-CN" altLang="en-US" sz="1100" dirty="0">
                        <a:latin typeface="Calibri" panose="020F0502020204030204"/>
                        <a:ea typeface="宋体" panose="02010600030101010101" pitchFamily="2" charset="-122"/>
                        <a:cs typeface="Times New Roman" panose="02020603050405020304"/>
                      </a:endParaRPr>
                    </a:p>
                  </a:txBody>
                  <a:tcPr marL="8712" marR="8712" marT="8712" marB="41819"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2"/>
          <p:cNvSpPr txBox="1">
            <a:spLocks noChangeArrowheads="1"/>
          </p:cNvSpPr>
          <p:nvPr/>
        </p:nvSpPr>
        <p:spPr>
          <a:xfrm>
            <a:off x="501650" y="1052513"/>
            <a:ext cx="8499506" cy="4090987"/>
          </a:xfrm>
          <a:prstGeom prst="rect">
            <a:avLst/>
          </a:prstGeom>
        </p:spPr>
        <p:txBody>
          <a:bodyPr vert="horz" lIns="91440" tIns="45720" rIns="91440" bIns="45720" rtlCol="0">
            <a:normAutofit fontScale="92500" lnSpcReduction="20000"/>
          </a:bodyPr>
          <a:lstStyle/>
          <a:p>
            <a:pPr marL="342900" marR="0" lvl="0" indent="-342900" algn="l" defTabSz="914400" rtl="0" eaLnBrk="1" fontAlgn="auto" latinLnBrk="0" hangingPunct="1">
              <a:lnSpc>
                <a:spcPct val="115000"/>
              </a:lnSpc>
              <a:spcBef>
                <a:spcPct val="20000"/>
              </a:spcBef>
              <a:spcAft>
                <a:spcPts val="0"/>
              </a:spcAft>
              <a:buClrTx/>
              <a:buSzTx/>
              <a:buFont typeface="Wingdings" panose="05000000000000000000" pitchFamily="2" charset="2"/>
              <a:buNone/>
              <a:defRPr/>
            </a:pPr>
            <a:r>
              <a:rPr kumimoji="1" lang="en-US" altLang="zh-CN" sz="2400" b="1" i="0" u="none" strike="noStrike" kern="1200" cap="none" spc="0" normalizeH="0" baseline="0" noProof="0" dirty="0" smtClean="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rPr>
              <a:t>(1) </a:t>
            </a:r>
            <a:r>
              <a:rPr kumimoji="0" lang="zh-CN" altLang="en-US" sz="24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按杂质原子的位置分：</a:t>
            </a:r>
            <a:endParaRPr kumimoji="0" lang="zh-CN" altLang="en-US" sz="24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15000"/>
              </a:spcBef>
              <a:spcAft>
                <a:spcPts val="0"/>
              </a:spcAft>
              <a:buClrTx/>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2"/>
                </a:solidFill>
                <a:effectLst/>
                <a:uLnTx/>
                <a:uFillTx/>
                <a:latin typeface="楷体_GB2312" pitchFamily="49" charset="-122"/>
                <a:ea typeface="楷体_GB2312" pitchFamily="49" charset="-122"/>
                <a:cs typeface="+mn-cs"/>
              </a:rPr>
              <a:t>置换型固溶体</a:t>
            </a: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楷体_GB2312" pitchFamily="49" charset="-122"/>
                <a:cs typeface="+mn-cs"/>
              </a:rPr>
              <a:t>—</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杂质原子进入晶格中正常结点位置而取代基</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15000"/>
              </a:spcBef>
              <a:spcAft>
                <a:spcPts val="0"/>
              </a:spcAft>
              <a:buClrTx/>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              质中的原子。</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例</a:t>
            </a:r>
            <a:r>
              <a:rPr kumimoji="0" lang="en-US" altLang="zh-CN" sz="2400" b="0" i="0" u="none" strike="noStrike" kern="1200" cap="none" spc="0" normalizeH="0" baseline="0" noProof="0" dirty="0" err="1" smtClean="0">
                <a:ln>
                  <a:noFill/>
                </a:ln>
                <a:solidFill>
                  <a:schemeClr val="tx1"/>
                </a:solidFill>
                <a:effectLst/>
                <a:uLnTx/>
                <a:uFillTx/>
                <a:latin typeface="楷体_GB2312" pitchFamily="49" charset="-122"/>
                <a:ea typeface="楷体_GB2312" pitchFamily="49" charset="-122"/>
                <a:cs typeface="+mn-cs"/>
              </a:rPr>
              <a:t>MgO-CoO</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形成</a:t>
            </a:r>
            <a:r>
              <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Mg</a:t>
            </a:r>
            <a:r>
              <a:rPr kumimoji="0" lang="en-US" altLang="zh-CN" sz="2400" b="0" i="0" u="none" strike="noStrike" kern="1200" cap="none" spc="0" normalizeH="0" baseline="-25000" noProof="0" dirty="0" smtClean="0">
                <a:ln>
                  <a:noFill/>
                </a:ln>
                <a:solidFill>
                  <a:schemeClr val="tx1"/>
                </a:solidFill>
                <a:effectLst/>
                <a:uLnTx/>
                <a:uFillTx/>
                <a:latin typeface="楷体_GB2312" pitchFamily="49" charset="-122"/>
                <a:ea typeface="楷体_GB2312" pitchFamily="49" charset="-122"/>
                <a:cs typeface="+mn-cs"/>
              </a:rPr>
              <a:t>1-x</a:t>
            </a:r>
            <a:r>
              <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Co</a:t>
            </a:r>
            <a:r>
              <a:rPr kumimoji="0" lang="en-US" altLang="zh-CN" sz="2400" b="0" i="0" u="none" strike="noStrike" kern="1200" cap="none" spc="0" normalizeH="0" baseline="-25000" noProof="0" dirty="0" smtClean="0">
                <a:ln>
                  <a:noFill/>
                </a:ln>
                <a:solidFill>
                  <a:schemeClr val="tx1"/>
                </a:solidFill>
                <a:effectLst/>
                <a:uLnTx/>
                <a:uFillTx/>
                <a:latin typeface="楷体_GB2312" pitchFamily="49" charset="-122"/>
                <a:ea typeface="楷体_GB2312" pitchFamily="49" charset="-122"/>
                <a:cs typeface="+mn-cs"/>
              </a:rPr>
              <a:t>x</a:t>
            </a:r>
            <a:r>
              <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O</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固溶体</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20000"/>
              </a:spcBef>
              <a:spcAft>
                <a:spcPts val="0"/>
              </a:spcAft>
              <a:buClrTx/>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2"/>
                </a:solidFill>
                <a:effectLst/>
                <a:uLnTx/>
                <a:uFillTx/>
                <a:latin typeface="楷体_GB2312" pitchFamily="49" charset="-122"/>
                <a:ea typeface="楷体_GB2312" pitchFamily="49" charset="-122"/>
                <a:cs typeface="+mn-cs"/>
              </a:rPr>
              <a:t>间隙型固溶体</a:t>
            </a: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楷体_GB2312" pitchFamily="49" charset="-122"/>
                <a:cs typeface="+mn-cs"/>
              </a:rPr>
              <a:t>—</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杂质原子进入晶格中的间隙位置。</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20000"/>
              </a:spcBef>
              <a:spcAft>
                <a:spcPts val="0"/>
              </a:spcAft>
              <a:buClrTx/>
              <a:buSzTx/>
              <a:buFont typeface="Wingdings" panose="05000000000000000000" pitchFamily="2" charset="2"/>
              <a:buNone/>
              <a:defRPr/>
            </a:pP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15000"/>
              </a:spcBef>
              <a:spcAft>
                <a:spcPts val="0"/>
              </a:spcAft>
              <a:buClrTx/>
              <a:buSzTx/>
              <a:buFont typeface="Wingdings" panose="05000000000000000000" pitchFamily="2" charset="2"/>
              <a:buNone/>
              <a:defRPr/>
            </a:pPr>
            <a:r>
              <a:rPr kumimoji="1" lang="en-US" altLang="zh-CN" sz="2400" b="1" i="0" u="none" strike="noStrike" kern="1200" cap="none" spc="0" normalizeH="0" baseline="0" noProof="0" dirty="0" smtClean="0">
                <a:ln>
                  <a:noFill/>
                </a:ln>
                <a:solidFill>
                  <a:srgbClr val="0000FF"/>
                </a:solidFill>
                <a:effectLst>
                  <a:outerShdw blurRad="38100" dist="38100" dir="2700000" algn="tl">
                    <a:srgbClr val="C0C0C0"/>
                  </a:outerShdw>
                </a:effectLst>
                <a:uLnTx/>
                <a:uFillTx/>
                <a:latin typeface="楷体_GB2312" pitchFamily="49" charset="-122"/>
                <a:ea typeface="楷体_GB2312" pitchFamily="49" charset="-122"/>
                <a:cs typeface="+mn-cs"/>
              </a:rPr>
              <a:t>(2)</a:t>
            </a:r>
            <a:r>
              <a:rPr kumimoji="0" lang="zh-CN" altLang="en-US" sz="24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按杂质原子的固溶度</a:t>
            </a:r>
            <a:r>
              <a:rPr kumimoji="0" lang="en-US" altLang="zh-CN" sz="24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x</a:t>
            </a:r>
            <a:r>
              <a:rPr kumimoji="0" lang="zh-CN" altLang="en-US" sz="2400" b="1" i="0" u="none" strike="noStrike" kern="1200" cap="none" spc="0" normalizeH="0" baseline="0" noProof="0" dirty="0" smtClean="0">
                <a:ln>
                  <a:noFill/>
                </a:ln>
                <a:solidFill>
                  <a:srgbClr val="0000FF"/>
                </a:solidFill>
                <a:effectLst/>
                <a:uLnTx/>
                <a:uFillTx/>
                <a:latin typeface="楷体_GB2312" pitchFamily="49" charset="-122"/>
                <a:ea typeface="楷体_GB2312" pitchFamily="49" charset="-122"/>
                <a:cs typeface="+mn-cs"/>
              </a:rPr>
              <a:t>分</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55000"/>
              </a:spcBef>
              <a:spcAft>
                <a:spcPts val="0"/>
              </a:spcAft>
              <a:buClrTx/>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2"/>
                </a:solidFill>
                <a:effectLst/>
                <a:uLnTx/>
                <a:uFillTx/>
                <a:latin typeface="楷体_GB2312" pitchFamily="49" charset="-122"/>
                <a:ea typeface="楷体_GB2312" pitchFamily="49" charset="-122"/>
                <a:cs typeface="+mn-cs"/>
              </a:rPr>
              <a:t>无限（连续）固溶体</a:t>
            </a:r>
            <a:r>
              <a:rPr kumimoji="0" lang="en-US" altLang="zh-CN" sz="2400" b="1" i="0" u="none" strike="noStrike" kern="1200" cap="none" spc="0" normalizeH="0" baseline="0" noProof="0" dirty="0" smtClean="0">
                <a:ln>
                  <a:noFill/>
                </a:ln>
                <a:solidFill>
                  <a:schemeClr val="tx1"/>
                </a:solidFill>
                <a:effectLst/>
                <a:uLnTx/>
                <a:uFillTx/>
                <a:latin typeface="+mn-lt"/>
                <a:ea typeface="楷体_GB2312" pitchFamily="49" charset="-122"/>
                <a:cs typeface="+mn-cs"/>
              </a:rPr>
              <a:t>—</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溶质和溶剂任意比例固溶</a:t>
            </a:r>
            <a:r>
              <a:rPr kumimoji="0" lang="en-US" altLang="zh-CN"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(x=0~1)</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55000"/>
              </a:spcBef>
              <a:spcAft>
                <a:spcPts val="0"/>
              </a:spcAft>
              <a:buClrTx/>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例：</a:t>
            </a:r>
            <a:r>
              <a:rPr kumimoji="0" lang="en-US" altLang="zh-CN" sz="2400" b="0" i="0" u="none" strike="noStrike" kern="1200" cap="none" spc="0" normalizeH="0" baseline="0" noProof="0" dirty="0" err="1" smtClean="0">
                <a:ln>
                  <a:noFill/>
                </a:ln>
                <a:solidFill>
                  <a:schemeClr val="tx1"/>
                </a:solidFill>
                <a:effectLst/>
                <a:uLnTx/>
                <a:uFillTx/>
                <a:latin typeface="楷体_GB2312" pitchFamily="49" charset="-122"/>
                <a:ea typeface="楷体_GB2312" pitchFamily="49" charset="-122"/>
                <a:cs typeface="+mn-cs"/>
              </a:rPr>
              <a:t>MgO-NiO</a:t>
            </a:r>
            <a:endParaRPr kumimoji="0" lang="en-US" altLang="zh-CN"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20000"/>
              </a:spcBef>
              <a:spcAft>
                <a:spcPts val="0"/>
              </a:spcAft>
              <a:buClrTx/>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2"/>
                </a:solidFill>
                <a:effectLst/>
                <a:uLnTx/>
                <a:uFillTx/>
                <a:latin typeface="楷体_GB2312" pitchFamily="49" charset="-122"/>
                <a:ea typeface="楷体_GB2312" pitchFamily="49" charset="-122"/>
                <a:cs typeface="+mn-cs"/>
              </a:rPr>
              <a:t>有限（不连续）固溶体</a:t>
            </a:r>
            <a:r>
              <a:rPr kumimoji="0" lang="en-US" altLang="zh-CN" sz="2400" b="1" i="0" u="none" strike="noStrike" kern="1200" cap="none" spc="0" normalizeH="0" baseline="0" noProof="0" dirty="0" smtClean="0">
                <a:ln>
                  <a:noFill/>
                </a:ln>
                <a:solidFill>
                  <a:schemeClr val="tx1"/>
                </a:solidFill>
                <a:effectLst/>
                <a:uLnTx/>
                <a:uFillTx/>
                <a:latin typeface="+mn-lt"/>
                <a:ea typeface="楷体_GB2312" pitchFamily="49" charset="-122"/>
                <a:cs typeface="+mn-cs"/>
              </a:rPr>
              <a:t>—</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杂质原子的固溶度</a:t>
            </a:r>
            <a:r>
              <a:rPr kumimoji="0" lang="en-US" altLang="zh-CN"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x</a:t>
            </a: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有限。</a:t>
            </a:r>
            <a:endPar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auto" latinLnBrk="0" hangingPunct="1">
              <a:lnSpc>
                <a:spcPct val="115000"/>
              </a:lnSpc>
              <a:spcBef>
                <a:spcPct val="20000"/>
              </a:spcBef>
              <a:spcAft>
                <a:spcPts val="0"/>
              </a:spcAft>
              <a:buClrTx/>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r>
              <a:rPr kumimoji="0" lang="zh-CN" altLang="en-US" sz="2400" b="0"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例：</a:t>
            </a:r>
            <a:r>
              <a:rPr kumimoji="0" lang="en-US" altLang="zh-CN" sz="2400" b="0" i="0" u="none" strike="noStrike" kern="1200" cap="none" spc="0" normalizeH="0" baseline="0" noProof="0" dirty="0" err="1" smtClean="0">
                <a:ln>
                  <a:noFill/>
                </a:ln>
                <a:solidFill>
                  <a:schemeClr val="tx1"/>
                </a:solidFill>
                <a:effectLst/>
                <a:uLnTx/>
                <a:uFillTx/>
                <a:latin typeface="楷体_GB2312" pitchFamily="49" charset="-122"/>
                <a:ea typeface="楷体_GB2312" pitchFamily="49" charset="-122"/>
                <a:cs typeface="+mn-cs"/>
              </a:rPr>
              <a:t>MgO-CaO</a:t>
            </a:r>
            <a:endParaRPr kumimoji="0" lang="en-US" altLang="zh-CN" sz="2400" b="0"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9" name="AutoShape 3"/>
          <p:cNvSpPr>
            <a:spLocks noChangeArrowheads="1"/>
          </p:cNvSpPr>
          <p:nvPr/>
        </p:nvSpPr>
        <p:spPr bwMode="auto">
          <a:xfrm>
            <a:off x="428596" y="571486"/>
            <a:ext cx="3357586" cy="433387"/>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p>
            <a:pPr eaLnBrk="1" hangingPunct="1">
              <a:defRPr/>
            </a:pPr>
            <a:r>
              <a:rPr lang="en-US" altLang="en-US" sz="2800" b="1" dirty="0">
                <a:latin typeface="楷体_GB2312" pitchFamily="49" charset="-122"/>
                <a:ea typeface="楷体_GB2312" pitchFamily="49" charset="-122"/>
              </a:rPr>
              <a:t>1、 </a:t>
            </a:r>
            <a:r>
              <a:rPr lang="en-US" altLang="en-US" sz="2800" b="1" dirty="0" err="1">
                <a:latin typeface="楷体_GB2312" pitchFamily="49" charset="-122"/>
                <a:ea typeface="楷体_GB2312" pitchFamily="49" charset="-122"/>
              </a:rPr>
              <a:t>固溶体的分类</a:t>
            </a:r>
            <a:r>
              <a:rPr lang="en-US" altLang="en-US" sz="2800" b="1" dirty="0">
                <a:latin typeface="楷体_GB2312" pitchFamily="49" charset="-122"/>
                <a:ea typeface="楷体_GB2312" pitchFamily="49" charset="-122"/>
              </a:rPr>
              <a:t> </a:t>
            </a:r>
            <a:endParaRPr lang="zh-CN" altLang="en-US" sz="2800" b="1" dirty="0">
              <a:latin typeface="楷体_GB2312" pitchFamily="49" charset="-122"/>
              <a:ea typeface="楷体_GB2312" pitchFamily="49" charset="-122"/>
            </a:endParaRPr>
          </a:p>
        </p:txBody>
      </p:sp>
      <p:sp>
        <p:nvSpPr>
          <p:cNvPr id="10" name="AutoShape 4"/>
          <p:cNvSpPr>
            <a:spLocks noChangeArrowheads="1"/>
          </p:cNvSpPr>
          <p:nvPr/>
        </p:nvSpPr>
        <p:spPr bwMode="auto">
          <a:xfrm>
            <a:off x="2786050" y="2500312"/>
            <a:ext cx="5867400" cy="620712"/>
          </a:xfrm>
          <a:prstGeom prst="cloudCallout">
            <a:avLst>
              <a:gd name="adj1" fmla="val 31630"/>
              <a:gd name="adj2" fmla="val -73273"/>
            </a:avLst>
          </a:prstGeom>
          <a:solidFill>
            <a:srgbClr val="FFFFCC"/>
          </a:solidFill>
          <a:ln w="3175">
            <a:solidFill>
              <a:srgbClr val="99CCFF"/>
            </a:solidFill>
            <a:round/>
          </a:ln>
        </p:spPr>
        <p:txBody>
          <a:bodyPr lIns="90000" tIns="46800" rIns="90000" bIns="46800"/>
          <a:lstStyle/>
          <a:p>
            <a:pPr algn="ctr" eaLnBrk="1" hangingPunct="1">
              <a:spcBef>
                <a:spcPct val="50000"/>
              </a:spcBef>
            </a:pPr>
            <a:r>
              <a:rPr kumimoji="1" lang="zh-CN" altLang="zh-CN" sz="1400" b="1" dirty="0" smtClean="0">
                <a:solidFill>
                  <a:srgbClr val="FF9900"/>
                </a:solidFill>
                <a:latin typeface="Times New Roman" panose="02020603050405020304" pitchFamily="18" charset="0"/>
                <a:ea typeface="楷体_GB2312" pitchFamily="49" charset="-122"/>
              </a:rPr>
              <a:t>思考题</a:t>
            </a:r>
            <a:r>
              <a:rPr kumimoji="1" lang="zh-CN" altLang="zh-CN" sz="1400" b="1" dirty="0">
                <a:solidFill>
                  <a:srgbClr val="FF9900"/>
                </a:solidFill>
                <a:latin typeface="Times New Roman" panose="02020603050405020304" pitchFamily="18" charset="0"/>
                <a:ea typeface="楷体_GB2312" pitchFamily="49" charset="-122"/>
              </a:rPr>
              <a:t>：间隙型固溶体能否形成连续固溶？</a:t>
            </a:r>
            <a:endParaRPr kumimoji="1" lang="zh-CN" altLang="en-US" sz="1400" b="1" dirty="0">
              <a:solidFill>
                <a:srgbClr val="FF99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wipe(left)">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wipe(left)">
                                      <p:cBhvr>
                                        <p:cTn id="32" dur="500"/>
                                        <p:tgtEl>
                                          <p:spTgt spid="8">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Effect transition="in" filter="wipe(left)">
                                      <p:cBhvr>
                                        <p:cTn id="37" dur="500"/>
                                        <p:tgtEl>
                                          <p:spTgt spid="8">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xEl>
                                              <p:pRg st="8" end="8"/>
                                            </p:txEl>
                                          </p:spTgt>
                                        </p:tgtEl>
                                        <p:attrNameLst>
                                          <p:attrName>style.visibility</p:attrName>
                                        </p:attrNameLst>
                                      </p:cBhvr>
                                      <p:to>
                                        <p:strVal val="visible"/>
                                      </p:to>
                                    </p:set>
                                    <p:animEffect transition="in" filter="wipe(left)">
                                      <p:cBhvr>
                                        <p:cTn id="42" dur="500"/>
                                        <p:tgtEl>
                                          <p:spTgt spid="8">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
                                            <p:txEl>
                                              <p:pRg st="9" end="9"/>
                                            </p:txEl>
                                          </p:spTgt>
                                        </p:tgtEl>
                                        <p:attrNameLst>
                                          <p:attrName>style.visibility</p:attrName>
                                        </p:attrNameLst>
                                      </p:cBhvr>
                                      <p:to>
                                        <p:strVal val="visible"/>
                                      </p:to>
                                    </p:set>
                                    <p:animEffect transition="in" filter="wipe(left)">
                                      <p:cBhvr>
                                        <p:cTn id="47"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grpSp>
        <p:nvGrpSpPr>
          <p:cNvPr id="13" name="Group 7"/>
          <p:cNvGrpSpPr/>
          <p:nvPr/>
        </p:nvGrpSpPr>
        <p:grpSpPr bwMode="auto">
          <a:xfrm>
            <a:off x="1285852" y="571486"/>
            <a:ext cx="2428892" cy="2143140"/>
            <a:chOff x="1728" y="288"/>
            <a:chExt cx="1814" cy="1491"/>
          </a:xfrm>
        </p:grpSpPr>
        <p:pic>
          <p:nvPicPr>
            <p:cNvPr id="15" name="Picture 8" descr="Cu-Ni置换固溶体"/>
            <p:cNvPicPr>
              <a:picLocks noChangeAspect="1" noChangeArrowheads="1"/>
            </p:cNvPicPr>
            <p:nvPr/>
          </p:nvPicPr>
          <p:blipFill>
            <a:blip r:embed="rId3" cstate="print"/>
            <a:srcRect/>
            <a:stretch>
              <a:fillRect/>
            </a:stretch>
          </p:blipFill>
          <p:spPr bwMode="auto">
            <a:xfrm>
              <a:off x="1728" y="288"/>
              <a:ext cx="1814" cy="1269"/>
            </a:xfrm>
            <a:prstGeom prst="rect">
              <a:avLst/>
            </a:prstGeom>
            <a:noFill/>
            <a:ln w="38100">
              <a:solidFill>
                <a:srgbClr val="99CCFF"/>
              </a:solidFill>
              <a:miter lim="800000"/>
              <a:headEnd/>
              <a:tailEnd/>
            </a:ln>
          </p:spPr>
        </p:pic>
        <p:sp>
          <p:nvSpPr>
            <p:cNvPr id="16" name="Text Box 9"/>
            <p:cNvSpPr txBox="1">
              <a:spLocks noChangeArrowheads="1"/>
            </p:cNvSpPr>
            <p:nvPr/>
          </p:nvSpPr>
          <p:spPr bwMode="auto">
            <a:xfrm>
              <a:off x="1958" y="1548"/>
              <a:ext cx="1440" cy="231"/>
            </a:xfrm>
            <a:prstGeom prst="rect">
              <a:avLst/>
            </a:prstGeom>
            <a:noFill/>
            <a:ln w="9525">
              <a:noFill/>
              <a:miter lim="800000"/>
            </a:ln>
          </p:spPr>
          <p:txBody>
            <a:bodyPr>
              <a:spAutoFit/>
            </a:bodyPr>
            <a:lstStyle/>
            <a:p>
              <a:pPr algn="ctr" eaLnBrk="1" hangingPunct="1">
                <a:spcBef>
                  <a:spcPct val="50000"/>
                </a:spcBef>
              </a:pPr>
              <a:r>
                <a:rPr kumimoji="1" lang="en-US" altLang="zh-CN" b="1">
                  <a:latin typeface="Times New Roman" panose="02020603050405020304" pitchFamily="18" charset="0"/>
                  <a:ea typeface="Arial Unicode MS" panose="020B0604020202020204" charset="-122"/>
                  <a:cs typeface="Arial Unicode MS" panose="020B0604020202020204" charset="-122"/>
                </a:rPr>
                <a:t>Cu-Ni</a:t>
              </a:r>
              <a:r>
                <a:rPr kumimoji="1" lang="zh-CN" altLang="en-US" b="1">
                  <a:latin typeface="Arial Unicode MS" panose="020B0604020202020204" charset="-122"/>
                  <a:ea typeface="Arial Unicode MS" panose="020B0604020202020204" charset="-122"/>
                  <a:cs typeface="Arial Unicode MS" panose="020B0604020202020204" charset="-122"/>
                </a:rPr>
                <a:t>置换固溶体</a:t>
              </a:r>
              <a:endParaRPr kumimoji="1" lang="zh-CN" altLang="en-US" b="1">
                <a:latin typeface="Arial Unicode MS" panose="020B0604020202020204" charset="-122"/>
                <a:ea typeface="Arial Unicode MS" panose="020B0604020202020204" charset="-122"/>
                <a:cs typeface="Arial Unicode MS" panose="020B0604020202020204" charset="-122"/>
              </a:endParaRPr>
            </a:p>
          </p:txBody>
        </p:sp>
      </p:grpSp>
      <p:grpSp>
        <p:nvGrpSpPr>
          <p:cNvPr id="18" name="Group 3"/>
          <p:cNvGrpSpPr/>
          <p:nvPr/>
        </p:nvGrpSpPr>
        <p:grpSpPr bwMode="auto">
          <a:xfrm>
            <a:off x="5000628" y="571486"/>
            <a:ext cx="2428892" cy="2071702"/>
            <a:chOff x="3744" y="2568"/>
            <a:chExt cx="1816" cy="1493"/>
          </a:xfrm>
        </p:grpSpPr>
        <p:pic>
          <p:nvPicPr>
            <p:cNvPr id="20" name="Picture 4" descr="Fe-C间隙固溶体"/>
            <p:cNvPicPr>
              <a:picLocks noChangeAspect="1" noChangeArrowheads="1"/>
            </p:cNvPicPr>
            <p:nvPr/>
          </p:nvPicPr>
          <p:blipFill>
            <a:blip r:embed="rId4" cstate="print"/>
            <a:srcRect/>
            <a:stretch>
              <a:fillRect/>
            </a:stretch>
          </p:blipFill>
          <p:spPr bwMode="auto">
            <a:xfrm>
              <a:off x="3744" y="2568"/>
              <a:ext cx="1816" cy="1251"/>
            </a:xfrm>
            <a:prstGeom prst="rect">
              <a:avLst/>
            </a:prstGeom>
            <a:noFill/>
            <a:ln w="38100">
              <a:solidFill>
                <a:srgbClr val="99CCFF"/>
              </a:solidFill>
              <a:miter lim="800000"/>
              <a:headEnd/>
              <a:tailEnd/>
            </a:ln>
          </p:spPr>
        </p:pic>
        <p:sp>
          <p:nvSpPr>
            <p:cNvPr id="21" name="Rectangle 5"/>
            <p:cNvSpPr>
              <a:spLocks noChangeArrowheads="1"/>
            </p:cNvSpPr>
            <p:nvPr/>
          </p:nvSpPr>
          <p:spPr bwMode="auto">
            <a:xfrm>
              <a:off x="4176" y="3888"/>
              <a:ext cx="1029" cy="173"/>
            </a:xfrm>
            <a:prstGeom prst="rect">
              <a:avLst/>
            </a:prstGeom>
            <a:noFill/>
            <a:ln w="25400" algn="ctr">
              <a:noFill/>
              <a:miter lim="800000"/>
            </a:ln>
          </p:spPr>
          <p:txBody>
            <a:bodyPr wrap="none" lIns="0" tIns="0" rIns="0" bIns="0">
              <a:spAutoFit/>
            </a:bodyPr>
            <a:lstStyle/>
            <a:p>
              <a:pPr eaLnBrk="1" hangingPunct="1"/>
              <a:r>
                <a:rPr kumimoji="1" lang="en-US" altLang="zh-CN" b="1">
                  <a:latin typeface="Times New Roman" panose="02020603050405020304" pitchFamily="18" charset="0"/>
                </a:rPr>
                <a:t>Fe-C</a:t>
              </a:r>
              <a:r>
                <a:rPr kumimoji="1" lang="zh-CN" altLang="en-US" b="1">
                  <a:latin typeface="Times New Roman" panose="02020603050405020304" pitchFamily="18" charset="0"/>
                </a:rPr>
                <a:t>间隙固溶体</a:t>
              </a:r>
              <a:endParaRPr kumimoji="1" lang="zh-CN" altLang="en-US" b="1">
                <a:latin typeface="Times New Roman" panose="02020603050405020304" pitchFamily="18" charset="0"/>
              </a:endParaRPr>
            </a:p>
          </p:txBody>
        </p:sp>
      </p:grpSp>
      <p:pic>
        <p:nvPicPr>
          <p:cNvPr id="82948" name="Picture 4"/>
          <p:cNvPicPr>
            <a:picLocks noChangeAspect="1" noChangeArrowheads="1"/>
          </p:cNvPicPr>
          <p:nvPr/>
        </p:nvPicPr>
        <p:blipFill>
          <a:blip r:embed="rId5" cstate="print"/>
          <a:srcRect/>
          <a:stretch>
            <a:fillRect/>
          </a:stretch>
        </p:blipFill>
        <p:spPr bwMode="auto">
          <a:xfrm>
            <a:off x="1357290" y="2714626"/>
            <a:ext cx="2737850" cy="2205035"/>
          </a:xfrm>
          <a:prstGeom prst="rect">
            <a:avLst/>
          </a:prstGeom>
          <a:noFill/>
          <a:ln w="9525">
            <a:noFill/>
            <a:miter lim="800000"/>
            <a:headEnd/>
            <a:tailEnd/>
          </a:ln>
          <a:effectLst/>
        </p:spPr>
      </p:pic>
      <p:pic>
        <p:nvPicPr>
          <p:cNvPr id="82949" name="Picture 5"/>
          <p:cNvPicPr>
            <a:picLocks noChangeAspect="1" noChangeArrowheads="1"/>
          </p:cNvPicPr>
          <p:nvPr/>
        </p:nvPicPr>
        <p:blipFill>
          <a:blip r:embed="rId6" cstate="print"/>
          <a:srcRect/>
          <a:stretch>
            <a:fillRect/>
          </a:stretch>
        </p:blipFill>
        <p:spPr bwMode="auto">
          <a:xfrm>
            <a:off x="5214942" y="2714626"/>
            <a:ext cx="2071702" cy="2071702"/>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8" name="AutoShape 2"/>
          <p:cNvSpPr>
            <a:spLocks noChangeArrowheads="1"/>
          </p:cNvSpPr>
          <p:nvPr/>
        </p:nvSpPr>
        <p:spPr bwMode="auto">
          <a:xfrm>
            <a:off x="571472" y="571486"/>
            <a:ext cx="3816350" cy="576262"/>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2、置换型固溶体</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20" name="Rectangle 7"/>
          <p:cNvSpPr>
            <a:spLocks noChangeArrowheads="1"/>
          </p:cNvSpPr>
          <p:nvPr/>
        </p:nvSpPr>
        <p:spPr bwMode="auto">
          <a:xfrm>
            <a:off x="644497" y="1319198"/>
            <a:ext cx="5861198" cy="482313"/>
          </a:xfrm>
          <a:prstGeom prst="rect">
            <a:avLst/>
          </a:prstGeom>
          <a:noFill/>
          <a:ln>
            <a:noFill/>
          </a:ln>
          <a:effectLst/>
        </p:spPr>
        <p:txBody>
          <a:bodyPr wrap="non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90000"/>
              </a:lnSpc>
              <a:spcBef>
                <a:spcPct val="50000"/>
              </a:spcBef>
              <a:spcAft>
                <a:spcPct val="0"/>
              </a:spcAft>
              <a:buClrTx/>
              <a:buSzTx/>
              <a:buFont typeface="Wingdings" panose="05000000000000000000" pitchFamily="2" charset="2"/>
              <a:buNone/>
              <a:defRPr/>
            </a:pPr>
            <a:r>
              <a:rPr kumimoji="1" lang="en-US" altLang="zh-CN" sz="2800" b="1" i="0" u="none" strike="noStrike" kern="1200" cap="none" spc="0" normalizeH="0" baseline="0" noProof="0" dirty="0" smtClean="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 </a:t>
            </a:r>
            <a:r>
              <a:rPr kumimoji="1" lang="zh-CN" altLang="en-US"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影响置换型固溶体中固溶度</a:t>
            </a:r>
            <a:r>
              <a:rPr kumimoji="1" lang="en-US" altLang="zh-CN"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x</a:t>
            </a:r>
            <a:r>
              <a:rPr kumimoji="1" lang="zh-CN" altLang="en-US"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的因素</a:t>
            </a:r>
            <a:endParaRPr kumimoji="1" lang="zh-CN" altLang="en-US"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pic>
        <p:nvPicPr>
          <p:cNvPr id="78851" name="Picture 3"/>
          <p:cNvPicPr>
            <a:picLocks noChangeAspect="1" noChangeArrowheads="1"/>
          </p:cNvPicPr>
          <p:nvPr/>
        </p:nvPicPr>
        <p:blipFill>
          <a:blip r:embed="rId3" cstate="print"/>
          <a:srcRect/>
          <a:stretch>
            <a:fillRect/>
          </a:stretch>
        </p:blipFill>
        <p:spPr bwMode="auto">
          <a:xfrm>
            <a:off x="428596" y="1928808"/>
            <a:ext cx="8286776" cy="2444857"/>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8" name="AutoShape 2"/>
          <p:cNvSpPr>
            <a:spLocks noChangeArrowheads="1"/>
          </p:cNvSpPr>
          <p:nvPr/>
        </p:nvSpPr>
        <p:spPr bwMode="auto">
          <a:xfrm>
            <a:off x="571472" y="571486"/>
            <a:ext cx="3816350" cy="576262"/>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2、置换型固溶体</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20" name="Rectangle 7"/>
          <p:cNvSpPr>
            <a:spLocks noChangeArrowheads="1"/>
          </p:cNvSpPr>
          <p:nvPr/>
        </p:nvSpPr>
        <p:spPr bwMode="auto">
          <a:xfrm>
            <a:off x="644497" y="1319198"/>
            <a:ext cx="5891654" cy="482313"/>
          </a:xfrm>
          <a:prstGeom prst="rect">
            <a:avLst/>
          </a:prstGeom>
          <a:noFill/>
          <a:ln>
            <a:noFill/>
          </a:ln>
          <a:effectLst/>
        </p:spPr>
        <p:txBody>
          <a:bodyPr wrap="non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90000"/>
              </a:lnSpc>
              <a:spcBef>
                <a:spcPct val="50000"/>
              </a:spcBef>
              <a:spcAft>
                <a:spcPct val="0"/>
              </a:spcAft>
              <a:buClrTx/>
              <a:buSzTx/>
              <a:buFont typeface="Wingdings" panose="05000000000000000000" pitchFamily="2" charset="2"/>
              <a:buNone/>
              <a:defRPr/>
            </a:pPr>
            <a:r>
              <a:rPr kumimoji="1" lang="zh-CN" altLang="en-US" sz="2800" b="1" i="0" u="none" strike="noStrike" kern="1200" cap="none" spc="0" normalizeH="0" baseline="0" noProof="0" dirty="0" smtClean="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影响</a:t>
            </a:r>
            <a:r>
              <a:rPr kumimoji="1" lang="zh-CN" altLang="en-US"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置换型固溶体中固溶度</a:t>
            </a:r>
            <a:r>
              <a:rPr kumimoji="1" lang="en-US" altLang="zh-CN"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x</a:t>
            </a:r>
            <a:r>
              <a:rPr kumimoji="1" lang="zh-CN" altLang="en-US"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rPr>
              <a:t>的因素</a:t>
            </a:r>
            <a:endParaRPr kumimoji="1" lang="zh-CN" altLang="en-US" sz="28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anose="02020603050405020304" pitchFamily="18" charset="0"/>
              <a:ea typeface="楷体_GB2312" pitchFamily="49" charset="-122"/>
              <a:cs typeface="+mn-cs"/>
            </a:endParaRPr>
          </a:p>
        </p:txBody>
      </p:sp>
      <p:pic>
        <p:nvPicPr>
          <p:cNvPr id="79874" name="Picture 2"/>
          <p:cNvPicPr>
            <a:picLocks noChangeAspect="1" noChangeArrowheads="1"/>
          </p:cNvPicPr>
          <p:nvPr/>
        </p:nvPicPr>
        <p:blipFill>
          <a:blip r:embed="rId3" cstate="print"/>
          <a:srcRect/>
          <a:stretch>
            <a:fillRect/>
          </a:stretch>
        </p:blipFill>
        <p:spPr bwMode="auto">
          <a:xfrm>
            <a:off x="571471" y="2000246"/>
            <a:ext cx="8104653" cy="2428892"/>
          </a:xfrm>
          <a:prstGeom prst="rect">
            <a:avLst/>
          </a:prstGeom>
          <a:noFill/>
          <a:ln w="9525">
            <a:noFill/>
            <a:miter lim="800000"/>
            <a:headEnd/>
            <a:tailEnd/>
          </a:ln>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AutoShape 2"/>
          <p:cNvSpPr>
            <a:spLocks noChangeArrowheads="1"/>
          </p:cNvSpPr>
          <p:nvPr/>
        </p:nvSpPr>
        <p:spPr bwMode="auto">
          <a:xfrm>
            <a:off x="571472" y="571486"/>
            <a:ext cx="4032250" cy="576264"/>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3</a:t>
            </a:r>
            <a:r>
              <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、间隙型固溶体</a:t>
            </a:r>
            <a:endPar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pic>
        <p:nvPicPr>
          <p:cNvPr id="80898" name="Picture 2"/>
          <p:cNvPicPr>
            <a:picLocks noChangeAspect="1" noChangeArrowheads="1"/>
          </p:cNvPicPr>
          <p:nvPr/>
        </p:nvPicPr>
        <p:blipFill>
          <a:blip r:embed="rId3" cstate="print"/>
          <a:srcRect/>
          <a:stretch>
            <a:fillRect/>
          </a:stretch>
        </p:blipFill>
        <p:spPr bwMode="auto">
          <a:xfrm>
            <a:off x="785786" y="1214428"/>
            <a:ext cx="7151687" cy="3629025"/>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81923" name="Picture 3"/>
          <p:cNvPicPr>
            <a:picLocks noChangeAspect="1" noChangeArrowheads="1"/>
          </p:cNvPicPr>
          <p:nvPr/>
        </p:nvPicPr>
        <p:blipFill>
          <a:blip r:embed="rId3" cstate="print"/>
          <a:srcRect/>
          <a:stretch>
            <a:fillRect/>
          </a:stretch>
        </p:blipFill>
        <p:spPr bwMode="auto">
          <a:xfrm>
            <a:off x="500034" y="1571618"/>
            <a:ext cx="8408987" cy="2457450"/>
          </a:xfrm>
          <a:prstGeom prst="rect">
            <a:avLst/>
          </a:prstGeom>
          <a:noFill/>
          <a:ln w="9525">
            <a:noFill/>
            <a:miter lim="800000"/>
            <a:headEnd/>
            <a:tailEnd/>
          </a:ln>
          <a:effectLst/>
        </p:spPr>
      </p:pic>
      <p:sp>
        <p:nvSpPr>
          <p:cNvPr id="13" name="AutoShape 2"/>
          <p:cNvSpPr>
            <a:spLocks noChangeArrowheads="1"/>
          </p:cNvSpPr>
          <p:nvPr/>
        </p:nvSpPr>
        <p:spPr bwMode="auto">
          <a:xfrm>
            <a:off x="571472" y="571486"/>
            <a:ext cx="4032250" cy="576264"/>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3</a:t>
            </a:r>
            <a:r>
              <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、间隙型固溶体</a:t>
            </a:r>
            <a:endPar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AutoShape 3"/>
          <p:cNvSpPr>
            <a:spLocks noChangeArrowheads="1"/>
          </p:cNvSpPr>
          <p:nvPr/>
        </p:nvSpPr>
        <p:spPr bwMode="auto">
          <a:xfrm>
            <a:off x="571472" y="571486"/>
            <a:ext cx="7272338" cy="574676"/>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4、 </a:t>
            </a:r>
            <a:r>
              <a:rPr kumimoji="0" lang="en-US" altLang="en-US" sz="2800" b="1" i="0" u="none" strike="noStrike" kern="1200" cap="none" spc="0" normalizeH="0" baseline="0" noProof="0" dirty="0" err="1" smtClean="0">
                <a:ln>
                  <a:noFill/>
                </a:ln>
                <a:solidFill>
                  <a:schemeClr val="tx1"/>
                </a:solidFill>
                <a:effectLst/>
                <a:uLnTx/>
                <a:uFillTx/>
                <a:latin typeface="楷体_GB2312" pitchFamily="49" charset="-122"/>
                <a:ea typeface="楷体_GB2312" pitchFamily="49" charset="-122"/>
                <a:cs typeface="+mn-cs"/>
              </a:rPr>
              <a:t>形成固溶体后对晶体</a:t>
            </a:r>
            <a:r>
              <a:rPr kumimoji="0" lang="zh-CN"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力学性能</a:t>
            </a:r>
            <a:r>
              <a:rPr kumimoji="0" lang="en-US" altLang="en-US" sz="2800" b="1" i="0" u="none" strike="noStrike" kern="1200" cap="none" spc="0" normalizeH="0" baseline="0" noProof="0" dirty="0" err="1" smtClean="0">
                <a:ln>
                  <a:noFill/>
                </a:ln>
                <a:solidFill>
                  <a:schemeClr val="tx1"/>
                </a:solidFill>
                <a:effectLst/>
                <a:uLnTx/>
                <a:uFillTx/>
                <a:latin typeface="楷体_GB2312" pitchFamily="49" charset="-122"/>
                <a:ea typeface="楷体_GB2312" pitchFamily="49" charset="-122"/>
                <a:cs typeface="+mn-cs"/>
              </a:rPr>
              <a:t>的影响</a:t>
            </a:r>
            <a:endPar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15" name="Rectangle 2"/>
          <p:cNvSpPr>
            <a:spLocks noGrp="1" noChangeArrowheads="1"/>
          </p:cNvSpPr>
          <p:nvPr/>
        </p:nvSpPr>
        <p:spPr>
          <a:xfrm>
            <a:off x="428596" y="1571618"/>
            <a:ext cx="8358246" cy="2214578"/>
          </a:xfrm>
          <a:prstGeom prst="rect">
            <a:avLst/>
          </a:prstGeom>
          <a:noFill/>
          <a:ln w="9525">
            <a:noFill/>
          </a:ln>
        </p:spPr>
        <p:txBody>
          <a:bodyPr vert="horz" wrap="square" lIns="91440" tIns="45720" rIns="91440" bIns="45720" numCol="1" anchor="t" anchorCtr="0" compatLnSpc="1"/>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20000"/>
              </a:lnSpc>
              <a:spcBef>
                <a:spcPct val="20000"/>
              </a:spcBef>
              <a:spcAft>
                <a:spcPct val="0"/>
              </a:spcAft>
              <a:buClr>
                <a:schemeClr val="accent1"/>
              </a:buClr>
              <a:buSzPct val="65000"/>
              <a:buFont typeface="Wingdings" panose="05000000000000000000" pitchFamily="2" charset="2"/>
              <a:buChar char="u"/>
              <a:defRPr/>
            </a:pPr>
            <a:r>
              <a:rPr kumimoji="0" lang="zh-CN" altLang="en-US" sz="2600" b="1" i="0" u="none" strike="noStrike" kern="1200" cap="none" spc="0" normalizeH="0" baseline="0" noProof="0" dirty="0" smtClean="0">
                <a:ln>
                  <a:noFill/>
                </a:ln>
                <a:solidFill>
                  <a:srgbClr val="0000FF"/>
                </a:solidFill>
                <a:effectLst/>
                <a:uLnTx/>
                <a:uFillTx/>
                <a:latin typeface="Times New Roman" panose="02020603050405020304" pitchFamily="18" charset="0"/>
                <a:ea typeface="楷体_GB2312" pitchFamily="49" charset="-122"/>
                <a:cs typeface="+mn-cs"/>
              </a:rPr>
              <a:t>固溶强化</a:t>
            </a:r>
            <a:endParaRPr kumimoji="0" lang="zh-CN" altLang="en-US" sz="2600" b="1" i="0" u="none" strike="noStrike" kern="120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mn-cs"/>
            </a:endParaRPr>
          </a:p>
          <a:p>
            <a:pPr marL="342900" marR="0" lvl="0" indent="-342900" algn="l" defTabSz="914400" rtl="0" eaLnBrk="1" fontAlgn="base" latinLnBrk="0" hangingPunct="1">
              <a:lnSpc>
                <a:spcPct val="120000"/>
              </a:lnSpc>
              <a:spcBef>
                <a:spcPct val="20000"/>
              </a:spcBef>
              <a:spcAft>
                <a:spcPct val="0"/>
              </a:spcAft>
              <a:buClr>
                <a:schemeClr val="accent1"/>
              </a:buClr>
              <a:buSzPct val="65000"/>
              <a:buFont typeface="Wingdings" panose="05000000000000000000" pitchFamily="2" charset="2"/>
              <a:buNone/>
              <a:defRPr/>
            </a:pP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固溶体的强度与硬度往往高于各组元，而塑性则较低。</a:t>
            </a:r>
            <a:endPar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a:p>
            <a:pPr marL="669925" marR="0" lvl="1" indent="-325755" algn="just" defTabSz="914400" rtl="0" eaLnBrk="1" fontAlgn="base" latinLnBrk="0" hangingPunct="1">
              <a:lnSpc>
                <a:spcPct val="140000"/>
              </a:lnSpc>
              <a:spcBef>
                <a:spcPct val="20000"/>
              </a:spcBef>
              <a:spcAft>
                <a:spcPct val="0"/>
              </a:spcAft>
              <a:buClr>
                <a:schemeClr val="accent2"/>
              </a:buClr>
              <a:buSzPct val="60000"/>
              <a:buFont typeface="Wingdings" panose="05000000000000000000" pitchFamily="2" charset="2"/>
              <a:buChar char="q"/>
              <a:defRPr/>
            </a:pP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间隙式溶质原子的强化效果一般要比置换式溶质原子更显著。</a:t>
            </a:r>
            <a:endPar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669925" marR="0" lvl="1" indent="-325755" algn="just" defTabSz="914400" rtl="0" eaLnBrk="1" fontAlgn="base" latinLnBrk="0" hangingPunct="1">
              <a:lnSpc>
                <a:spcPct val="140000"/>
              </a:lnSpc>
              <a:spcBef>
                <a:spcPct val="20000"/>
              </a:spcBef>
              <a:spcAft>
                <a:spcPct val="0"/>
              </a:spcAft>
              <a:buClr>
                <a:schemeClr val="accent2"/>
              </a:buClr>
              <a:buSzPct val="60000"/>
              <a:buFont typeface="Wingdings" panose="05000000000000000000" pitchFamily="2" charset="2"/>
              <a:buChar char="q"/>
              <a:defRPr/>
            </a:pPr>
            <a:r>
              <a:rPr kumimoji="0" lang="zh-CN" altLang="en-US" sz="21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溶质和溶剂原子尺寸相差越大或固溶度越小，固溶强化越显著</a:t>
            </a:r>
            <a:r>
              <a:rPr kumimoji="0" lang="zh-CN" altLang="en-US" sz="2100" b="1" i="0" u="none" strike="noStrike" kern="120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5" name="Rectangle 3"/>
          <p:cNvSpPr>
            <a:spLocks noChangeArrowheads="1"/>
          </p:cNvSpPr>
          <p:nvPr/>
        </p:nvSpPr>
        <p:spPr bwMode="auto">
          <a:xfrm>
            <a:off x="500035" y="600569"/>
            <a:ext cx="3500462" cy="584775"/>
          </a:xfrm>
          <a:prstGeom prst="rect">
            <a:avLst/>
          </a:prstGeom>
          <a:gradFill rotWithShape="1">
            <a:gsLst>
              <a:gs pos="0">
                <a:srgbClr val="FF6600">
                  <a:gamma/>
                  <a:shade val="46275"/>
                  <a:invGamma/>
                </a:srgbClr>
              </a:gs>
              <a:gs pos="50000">
                <a:srgbClr val="FF6600">
                  <a:alpha val="66000"/>
                </a:srgbClr>
              </a:gs>
              <a:gs pos="100000">
                <a:srgbClr val="FF6600">
                  <a:gamma/>
                  <a:shade val="46275"/>
                  <a:invGamma/>
                </a:srgbClr>
              </a:gs>
            </a:gsLst>
            <a:lin ang="5400000" scaled="1"/>
          </a:gradFill>
          <a:ln>
            <a:noFill/>
          </a:ln>
          <a:effectLst/>
        </p:spPr>
        <p:txBody>
          <a:bodyPr wrap="square"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defTabSz="914400" rtl="0" eaLnBrk="1" fontAlgn="base" latinLnBrk="0" hangingPunct="1">
              <a:lnSpc>
                <a:spcPct val="100000"/>
              </a:lnSpc>
              <a:spcBef>
                <a:spcPct val="0"/>
              </a:spcBef>
              <a:spcAft>
                <a:spcPct val="0"/>
              </a:spcAft>
              <a:buClrTx/>
              <a:buSzTx/>
              <a:buFontTx/>
              <a:buNone/>
              <a:defRPr/>
            </a:pPr>
            <a:r>
              <a:rPr lang="zh-CN" altLang="en-US" sz="3200" b="1" dirty="0">
                <a:latin typeface="楷体_GB2312" pitchFamily="49" charset="-122"/>
                <a:ea typeface="楷体_GB2312" pitchFamily="49" charset="-122"/>
              </a:rPr>
              <a:t>三</a:t>
            </a:r>
            <a:r>
              <a:rPr kumimoji="0" lang="zh-CN" altLang="en-US" sz="32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、金属化合物</a:t>
            </a:r>
            <a:endParaRPr kumimoji="0" lang="en-US" altLang="zh-CN" sz="3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16" name="Rectangle 1"/>
          <p:cNvSpPr>
            <a:spLocks noChangeArrowheads="1"/>
          </p:cNvSpPr>
          <p:nvPr/>
        </p:nvSpPr>
        <p:spPr bwMode="auto">
          <a:xfrm>
            <a:off x="0" y="1857370"/>
            <a:ext cx="8715404" cy="2800767"/>
          </a:xfrm>
          <a:prstGeom prst="rect">
            <a:avLst/>
          </a:prstGeom>
          <a:solidFill>
            <a:srgbClr val="FFFFFF"/>
          </a:solidFill>
          <a:ln w="9525">
            <a:noFill/>
            <a:miter lim="800000"/>
          </a:ln>
          <a:effectLst/>
        </p:spPr>
        <p:txBody>
          <a:bodyPr vert="horz" wrap="square" lIns="0" tIns="0" rIns="0" bIns="0" numCol="1" anchor="ctr" anchorCtr="0" compatLnSpc="1">
            <a:spAutoFit/>
          </a:bodyPr>
          <a:lstStyle/>
          <a:p>
            <a:pPr marL="669925" lvl="1" indent="-325755" algn="just" fontAlgn="base">
              <a:lnSpc>
                <a:spcPct val="140000"/>
              </a:lnSpc>
              <a:spcBef>
                <a:spcPct val="20000"/>
              </a:spcBef>
              <a:spcAft>
                <a:spcPct val="0"/>
              </a:spcAft>
              <a:buClr>
                <a:schemeClr val="accent2"/>
              </a:buClr>
              <a:buSzPct val="60000"/>
              <a:defRPr/>
            </a:pPr>
            <a:r>
              <a:rPr lang="zh-CN" altLang="en-US" sz="2600" b="1" dirty="0" smtClean="0">
                <a:latin typeface="Times New Roman" panose="02020603050405020304" pitchFamily="18" charset="0"/>
              </a:rPr>
              <a:t>    金属</a:t>
            </a:r>
            <a:r>
              <a:rPr lang="zh-CN" altLang="en-US" sz="2600" b="1" dirty="0" smtClean="0">
                <a:latin typeface="Times New Roman" panose="02020603050405020304" pitchFamily="18" charset="0"/>
              </a:rPr>
              <a:t>化合物是合金中组元间发生相互作用形成</a:t>
            </a:r>
            <a:r>
              <a:rPr lang="zh-CN" altLang="en-US" sz="2600" b="1" dirty="0" smtClean="0">
                <a:latin typeface="Times New Roman" panose="02020603050405020304" pitchFamily="18" charset="0"/>
              </a:rPr>
              <a:t>的的</a:t>
            </a:r>
            <a:r>
              <a:rPr lang="zh-CN" altLang="en-US" sz="2600" b="1" dirty="0" smtClean="0">
                <a:latin typeface="Times New Roman" panose="02020603050405020304" pitchFamily="18" charset="0"/>
              </a:rPr>
              <a:t>新相。​其核心特点是</a:t>
            </a:r>
            <a:r>
              <a:rPr lang="zh-CN" altLang="en-US" sz="2600" b="1" dirty="0" smtClean="0">
                <a:solidFill>
                  <a:srgbClr val="FF0000"/>
                </a:solidFill>
                <a:latin typeface="Times New Roman" panose="02020603050405020304" pitchFamily="18" charset="0"/>
              </a:rPr>
              <a:t>熔点高、硬度高、脆性大</a:t>
            </a:r>
            <a:r>
              <a:rPr lang="zh-CN" altLang="en-US" sz="2600" b="1" dirty="0" smtClean="0">
                <a:latin typeface="Times New Roman" panose="02020603050405020304" pitchFamily="18" charset="0"/>
              </a:rPr>
              <a:t>​，在钢中主要通过</a:t>
            </a:r>
            <a:r>
              <a:rPr lang="zh-CN" altLang="en-US" sz="2600" b="1" dirty="0" smtClean="0">
                <a:solidFill>
                  <a:srgbClr val="FF0000"/>
                </a:solidFill>
                <a:latin typeface="Times New Roman" panose="02020603050405020304" pitchFamily="18" charset="0"/>
              </a:rPr>
              <a:t>弥散强化</a:t>
            </a:r>
            <a:r>
              <a:rPr lang="zh-CN" altLang="en-US" sz="2600" b="1" dirty="0" smtClean="0">
                <a:latin typeface="Times New Roman" panose="02020603050405020304" pitchFamily="18" charset="0"/>
              </a:rPr>
              <a:t>作用提高强度、硬度和耐磨性，但同时会</a:t>
            </a:r>
            <a:r>
              <a:rPr lang="zh-CN" altLang="en-US" sz="2600" b="1" dirty="0" smtClean="0">
                <a:solidFill>
                  <a:srgbClr val="0070C0"/>
                </a:solidFill>
                <a:latin typeface="Times New Roman" panose="02020603050405020304" pitchFamily="18" charset="0"/>
              </a:rPr>
              <a:t>牺牲材料的塑性和韧性</a:t>
            </a:r>
            <a:r>
              <a:rPr lang="zh-CN" altLang="en-US" sz="2600" b="1" dirty="0" smtClean="0">
                <a:latin typeface="Times New Roman" panose="02020603050405020304" pitchFamily="18" charset="0"/>
              </a:rPr>
              <a:t>。这种性能矛盾是理解其工业应用的关键。</a:t>
            </a:r>
            <a:endParaRPr lang="zh-CN" altLang="en-US" sz="2600" b="1" dirty="0" smtClean="0">
              <a:latin typeface="Times New Roman" panose="02020603050405020304" pitchFamily="18" charset="0"/>
            </a:endParaRPr>
          </a:p>
        </p:txBody>
      </p:sp>
      <p:sp>
        <p:nvSpPr>
          <p:cNvPr id="18" name="AutoShape 3"/>
          <p:cNvSpPr>
            <a:spLocks noChangeArrowheads="1"/>
          </p:cNvSpPr>
          <p:nvPr/>
        </p:nvSpPr>
        <p:spPr bwMode="auto">
          <a:xfrm>
            <a:off x="500034" y="1285866"/>
            <a:ext cx="4143404" cy="571504"/>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eaLnBrk="1" hangingPunct="1"/>
            <a:r>
              <a:rPr lang="en-US" altLang="en-US" sz="2800" b="1" noProof="0" dirty="0" smtClean="0">
                <a:latin typeface="楷体_GB2312" pitchFamily="49" charset="-122"/>
                <a:ea typeface="楷体_GB2312" pitchFamily="49" charset="-122"/>
              </a:rPr>
              <a:t>1</a:t>
            </a:r>
            <a:r>
              <a:rPr kumimoji="0" lang="en-US"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r>
              <a:rPr lang="zh-CN" altLang="en-US" sz="2800" b="1" dirty="0" smtClean="0">
                <a:latin typeface="Times New Roman" panose="02020603050405020304" pitchFamily="18" charset="0"/>
              </a:rPr>
              <a:t>金属化合物</a:t>
            </a:r>
            <a:r>
              <a:rPr lang="zh-CN" altLang="en-US" sz="2800" b="1" dirty="0" smtClean="0">
                <a:latin typeface="Times New Roman" panose="02020603050405020304" pitchFamily="18" charset="0"/>
              </a:rPr>
              <a:t>的性能</a:t>
            </a:r>
            <a:endParaRPr lang="zh-CN" altLang="en-US" sz="2800" b="1" dirty="0" smtClean="0">
              <a:latin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8" name="Rectangle 3"/>
          <p:cNvSpPr>
            <a:spLocks noChangeArrowheads="1"/>
          </p:cNvSpPr>
          <p:nvPr/>
        </p:nvSpPr>
        <p:spPr bwMode="auto">
          <a:xfrm>
            <a:off x="428596" y="1214428"/>
            <a:ext cx="8358246" cy="3277820"/>
          </a:xfrm>
          <a:prstGeom prst="rect">
            <a:avLst/>
          </a:prstGeom>
          <a:solidFill>
            <a:srgbClr val="FFFFFF"/>
          </a:solidFill>
          <a:ln w="9525">
            <a:noFill/>
            <a:miter lim="800000"/>
          </a:ln>
          <a:effectLst/>
        </p:spPr>
        <p:txBody>
          <a:bodyPr vert="horz" wrap="square" lIns="0" tIns="0" rIns="0" bIns="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lang="zh-CN" altLang="en-US" sz="2600" b="1" dirty="0" smtClean="0">
                <a:latin typeface="Times New Roman" panose="02020603050405020304" pitchFamily="18" charset="0"/>
              </a:rPr>
              <a:t>晶体结构</a:t>
            </a:r>
            <a:r>
              <a:rPr lang="zh-CN" altLang="en-US" sz="2600" b="1" dirty="0" smtClean="0">
                <a:latin typeface="Times New Roman" panose="02020603050405020304" pitchFamily="18" charset="0"/>
              </a:rPr>
              <a:t>复杂性​：金属化合物通常具有与纯组元不同的晶格类型（如间隙化合物</a:t>
            </a:r>
            <a:r>
              <a:rPr lang="zh-CN" altLang="zh-CN" sz="2600" b="1" dirty="0" smtClean="0">
                <a:latin typeface="Times New Roman" panose="02020603050405020304" pitchFamily="18" charset="0"/>
              </a:rPr>
              <a:t>Fe3C</a:t>
            </a:r>
            <a:r>
              <a:rPr lang="zh-CN" altLang="en-US" sz="2600" b="1" dirty="0" smtClean="0">
                <a:latin typeface="Times New Roman" panose="02020603050405020304" pitchFamily="18" charset="0"/>
              </a:rPr>
              <a:t>的复杂正交晶系），这是其高硬度的根本原因。</a:t>
            </a:r>
            <a:endParaRPr lang="zh-CN" altLang="en-US" sz="2600" b="1" dirty="0" smtClean="0">
              <a:latin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lang="zh-CN" altLang="en-US" sz="2600" b="1" dirty="0" smtClean="0">
                <a:latin typeface="Times New Roman" panose="02020603050405020304" pitchFamily="18" charset="0"/>
              </a:rPr>
              <a:t>化学键</a:t>
            </a:r>
            <a:r>
              <a:rPr lang="zh-CN" altLang="en-US" sz="2600" b="1" dirty="0" smtClean="0">
                <a:latin typeface="Times New Roman" panose="02020603050405020304" pitchFamily="18" charset="0"/>
              </a:rPr>
              <a:t>特性​：同时存在金属键与离子键</a:t>
            </a:r>
            <a:r>
              <a:rPr lang="zh-CN" altLang="zh-CN" sz="2600" b="1" dirty="0" smtClean="0">
                <a:latin typeface="Times New Roman" panose="02020603050405020304" pitchFamily="18" charset="0"/>
              </a:rPr>
              <a:t>/</a:t>
            </a:r>
            <a:r>
              <a:rPr lang="zh-CN" altLang="en-US" sz="2600" b="1" dirty="0" smtClean="0">
                <a:latin typeface="Times New Roman" panose="02020603050405020304" pitchFamily="18" charset="0"/>
              </a:rPr>
              <a:t>共价键混合，导致电子迁移率降低，表现为导电性低于纯金属。</a:t>
            </a:r>
            <a:endParaRPr lang="zh-CN" altLang="en-US" sz="2600" b="1" dirty="0" smtClean="0">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AutoShape 3"/>
          <p:cNvSpPr>
            <a:spLocks noChangeArrowheads="1"/>
          </p:cNvSpPr>
          <p:nvPr/>
        </p:nvSpPr>
        <p:spPr bwMode="auto">
          <a:xfrm>
            <a:off x="571472" y="571486"/>
            <a:ext cx="7272338" cy="574676"/>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eaLnBrk="1" hangingPunct="1"/>
            <a:r>
              <a:rPr lang="en-US" altLang="en-US" sz="2800" b="1" dirty="0">
                <a:latin typeface="楷体_GB2312" pitchFamily="49" charset="-122"/>
                <a:ea typeface="楷体_GB2312" pitchFamily="49" charset="-122"/>
              </a:rPr>
              <a:t>2</a:t>
            </a:r>
            <a:r>
              <a:rPr kumimoji="0" lang="en-US"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r>
              <a:rPr lang="zh-CN" altLang="en-US" sz="2800" b="1" dirty="0" smtClean="0">
                <a:latin typeface="Times New Roman" panose="02020603050405020304" pitchFamily="18" charset="0"/>
              </a:rPr>
              <a:t>金属化合物的结构特性</a:t>
            </a:r>
            <a:endParaRPr lang="zh-CN" altLang="en-US" sz="2800" b="1" dirty="0" smtClean="0">
              <a:latin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9090" name="Rectangle 2"/>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ln>
          <a:effectLst/>
        </p:spPr>
        <p:txBody>
          <a:bodyPr vert="horz" wrap="none" lIns="91440" tIns="45720" rIns="91440" bIns="45720" numCol="1" anchor="ctr" anchorCtr="0" compatLnSpc="1">
            <a:spAutoFit/>
          </a:bodyPr>
          <a:lstStyle/>
          <a:p>
            <a:endParaRPr lang="zh-CN" altLang="en-US"/>
          </a:p>
        </p:txBody>
      </p:sp>
      <p:sp>
        <p:nvSpPr>
          <p:cNvPr id="15" name="Rectangle 2"/>
          <p:cNvSpPr>
            <a:spLocks noChangeArrowheads="1"/>
          </p:cNvSpPr>
          <p:nvPr/>
        </p:nvSpPr>
        <p:spPr bwMode="auto">
          <a:xfrm>
            <a:off x="500034" y="571486"/>
            <a:ext cx="8066087" cy="579438"/>
          </a:xfrm>
          <a:prstGeom prst="rect">
            <a:avLst/>
          </a:prstGeom>
          <a:gradFill rotWithShape="1">
            <a:gsLst>
              <a:gs pos="0">
                <a:srgbClr val="33CC33">
                  <a:gamma/>
                  <a:shade val="46275"/>
                  <a:invGamma/>
                </a:srgbClr>
              </a:gs>
              <a:gs pos="50000">
                <a:srgbClr val="33CC33">
                  <a:alpha val="49001"/>
                </a:srgbClr>
              </a:gs>
              <a:gs pos="100000">
                <a:srgbClr val="33CC33">
                  <a:gamma/>
                  <a:shade val="46275"/>
                  <a:invGamma/>
                </a:srgbClr>
              </a:gs>
            </a:gsLst>
            <a:lin ang="5400000" scaled="1"/>
          </a:gradFill>
          <a:ln>
            <a:noFill/>
          </a:ln>
          <a:effectLst/>
        </p:spPr>
        <p:txBody>
          <a:bodyPr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en-US" sz="32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楷体_GB2312" pitchFamily="49" charset="-122"/>
                <a:cs typeface="+mn-cs"/>
              </a:rPr>
              <a:t>线缺陷</a:t>
            </a:r>
            <a:r>
              <a:rPr kumimoji="0" lang="zh-CN" altLang="en-US" sz="3200" b="0"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32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line </a:t>
            </a:r>
            <a:r>
              <a:rPr kumimoji="0" lang="en-US" altLang="zh-CN" sz="3200" b="0"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defect</a:t>
            </a:r>
            <a:r>
              <a:rPr kumimoji="0" lang="en-US" altLang="en-US" sz="3200" b="1"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（位错</a:t>
            </a:r>
            <a:r>
              <a:rPr kumimoji="0" lang="en-US" altLang="zh-CN" sz="3200" b="0" i="0" u="none" strike="noStrike" kern="1200" cap="none" spc="0" normalizeH="0" baseline="0" noProof="0" dirty="0" err="1">
                <a:ln>
                  <a:noFill/>
                </a:ln>
                <a:solidFill>
                  <a:schemeClr val="tx1"/>
                </a:solidFill>
                <a:effectLst/>
                <a:uLnTx/>
                <a:uFillTx/>
                <a:latin typeface="Times New Roman" panose="02020603050405020304" pitchFamily="18" charset="0"/>
                <a:ea typeface="楷体_GB2312" pitchFamily="49" charset="-122"/>
                <a:cs typeface="+mn-cs"/>
              </a:rPr>
              <a:t>dislocation</a:t>
            </a:r>
            <a:r>
              <a:rPr kumimoji="0" lang="en-US"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a:t>
            </a:r>
            <a:endParaRPr kumimoji="0" lang="zh-CN" altLang="en-US" sz="32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p:txBody>
      </p:sp>
      <p:pic>
        <p:nvPicPr>
          <p:cNvPr id="16" name="Picture 2"/>
          <p:cNvPicPr>
            <a:picLocks noChangeAspect="1"/>
          </p:cNvPicPr>
          <p:nvPr/>
        </p:nvPicPr>
        <p:blipFill>
          <a:blip r:embed="rId3" cstate="print">
            <a:lum bright="7999" contrast="60000"/>
          </a:blip>
          <a:stretch>
            <a:fillRect/>
          </a:stretch>
        </p:blipFill>
        <p:spPr>
          <a:xfrm>
            <a:off x="5072066" y="1928808"/>
            <a:ext cx="3455987" cy="2447925"/>
          </a:xfrm>
          <a:prstGeom prst="rect">
            <a:avLst/>
          </a:prstGeom>
          <a:noFill/>
          <a:ln w="9525">
            <a:noFill/>
          </a:ln>
        </p:spPr>
      </p:pic>
      <p:sp>
        <p:nvSpPr>
          <p:cNvPr id="18" name="Rectangle 3"/>
          <p:cNvSpPr/>
          <p:nvPr/>
        </p:nvSpPr>
        <p:spPr>
          <a:xfrm>
            <a:off x="500034" y="1142990"/>
            <a:ext cx="4572000" cy="400815"/>
          </a:xfrm>
          <a:prstGeom prst="rect">
            <a:avLst/>
          </a:prstGeom>
          <a:noFill/>
          <a:ln w="25400">
            <a:noFill/>
          </a:ln>
        </p:spPr>
        <p:txBody>
          <a:bodyPr lIns="0" tIns="0" rIns="0" bIns="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120000"/>
              </a:lnSpc>
              <a:spcBef>
                <a:spcPct val="50000"/>
              </a:spcBef>
            </a:pPr>
            <a:r>
              <a:rPr lang="zh-CN" altLang="en-US" sz="2400" b="1" dirty="0">
                <a:solidFill>
                  <a:srgbClr val="0000FF"/>
                </a:solidFill>
                <a:latin typeface="Times New Roman" panose="02020603050405020304" pitchFamily="18" charset="0"/>
                <a:ea typeface="楷体_GB2312" pitchFamily="49" charset="-122"/>
              </a:rPr>
              <a:t>塑性变形</a:t>
            </a:r>
            <a:r>
              <a:rPr lang="en-US" altLang="zh-CN" sz="2400" b="1" dirty="0">
                <a:solidFill>
                  <a:srgbClr val="0000FF"/>
                </a:solidFill>
                <a:latin typeface="Times New Roman" panose="02020603050405020304" pitchFamily="18" charset="0"/>
                <a:ea typeface="楷体_GB2312" pitchFamily="49" charset="-122"/>
              </a:rPr>
              <a:t>—</a:t>
            </a:r>
            <a:r>
              <a:rPr lang="zh-CN" altLang="en-US" sz="2400" b="1" dirty="0">
                <a:solidFill>
                  <a:srgbClr val="0000FF"/>
                </a:solidFill>
                <a:latin typeface="Times New Roman" panose="02020603050405020304" pitchFamily="18" charset="0"/>
                <a:ea typeface="楷体_GB2312" pitchFamily="49" charset="-122"/>
              </a:rPr>
              <a:t>滑移</a:t>
            </a:r>
            <a:r>
              <a:rPr lang="en-US" altLang="zh-CN" sz="2400" b="1" dirty="0">
                <a:solidFill>
                  <a:srgbClr val="0000FF"/>
                </a:solidFill>
                <a:latin typeface="Times New Roman" panose="02020603050405020304" pitchFamily="18" charset="0"/>
                <a:ea typeface="楷体_GB2312" pitchFamily="49" charset="-122"/>
              </a:rPr>
              <a:t>—</a:t>
            </a:r>
            <a:r>
              <a:rPr lang="zh-CN" altLang="en-US" sz="2400" b="1" dirty="0">
                <a:solidFill>
                  <a:srgbClr val="0000FF"/>
                </a:solidFill>
                <a:latin typeface="Times New Roman" panose="02020603050405020304" pitchFamily="18" charset="0"/>
                <a:ea typeface="楷体_GB2312" pitchFamily="49" charset="-122"/>
              </a:rPr>
              <a:t>滑移线</a:t>
            </a:r>
            <a:endParaRPr lang="en-US" altLang="ja-JP" sz="2400" b="1" dirty="0">
              <a:solidFill>
                <a:srgbClr val="0000FF"/>
              </a:solidFill>
              <a:latin typeface="Century" panose="02040604050505020304" pitchFamily="18" charset="0"/>
              <a:ea typeface="楷体_GB2312" pitchFamily="49" charset="-122"/>
            </a:endParaRPr>
          </a:p>
        </p:txBody>
      </p:sp>
      <p:sp>
        <p:nvSpPr>
          <p:cNvPr id="20" name="Rectangle 4"/>
          <p:cNvSpPr/>
          <p:nvPr/>
        </p:nvSpPr>
        <p:spPr>
          <a:xfrm>
            <a:off x="357158" y="1571619"/>
            <a:ext cx="8501122" cy="984885"/>
          </a:xfrm>
          <a:prstGeom prst="rect">
            <a:avLst/>
          </a:prstGeom>
          <a:noFill/>
          <a:ln w="25400">
            <a:noFill/>
          </a:ln>
        </p:spPr>
        <p:txBody>
          <a:bodyPr wrap="square" lIns="0" tIns="0" rIns="0" bIns="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sz="2400" b="1" dirty="0">
                <a:solidFill>
                  <a:srgbClr val="FF33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刚性滑动模型（同一时间，滑移面上的原子一齐运动）</a:t>
            </a:r>
            <a:endParaRPr lang="ja-JP" altLang="zh-CN" sz="2000" b="1" dirty="0">
              <a:latin typeface="楷体_GB2312" pitchFamily="49" charset="-122"/>
              <a:ea typeface="楷体_GB2312" pitchFamily="49" charset="-122"/>
            </a:endParaRPr>
          </a:p>
          <a:p>
            <a:pPr eaLnBrk="1" hangingPunct="1"/>
            <a:r>
              <a:rPr lang="zh-CN" altLang="en-US" sz="2000" b="1" dirty="0">
                <a:latin typeface="楷体_GB2312" pitchFamily="49" charset="-122"/>
                <a:ea typeface="楷体_GB2312" pitchFamily="49" charset="-122"/>
              </a:rPr>
              <a:t>     纯铁的理论临界切应力：约</a:t>
            </a:r>
            <a:r>
              <a:rPr lang="en-US" altLang="zh-CN" sz="2000" b="1" dirty="0">
                <a:latin typeface="楷体_GB2312" pitchFamily="49" charset="-122"/>
                <a:ea typeface="楷体_GB2312" pitchFamily="49" charset="-122"/>
              </a:rPr>
              <a:t>3000MPa</a:t>
            </a:r>
            <a:endParaRPr lang="en-US" altLang="ja-JP" sz="2000" b="1" dirty="0">
              <a:latin typeface="楷体_GB2312" pitchFamily="49" charset="-122"/>
              <a:ea typeface="楷体_GB2312" pitchFamily="49" charset="-122"/>
            </a:endParaRPr>
          </a:p>
          <a:p>
            <a:pPr eaLnBrk="1" hangingPunct="1"/>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纯铁的实际屈服强度： </a:t>
            </a:r>
            <a:r>
              <a:rPr lang="en-US" altLang="zh-CN" sz="2000" b="1" dirty="0">
                <a:latin typeface="楷体_GB2312" pitchFamily="49" charset="-122"/>
                <a:ea typeface="楷体_GB2312" pitchFamily="49" charset="-122"/>
              </a:rPr>
              <a:t>1</a:t>
            </a:r>
            <a:r>
              <a:rPr lang="en-US" altLang="zh-CN" sz="2000" b="1" dirty="0">
                <a:latin typeface="Times New Roman" panose="02020603050405020304" pitchFamily="18" charset="0"/>
                <a:ea typeface="楷体_GB2312" pitchFamily="49" charset="-122"/>
              </a:rPr>
              <a:t>–</a:t>
            </a:r>
            <a:r>
              <a:rPr lang="en-US" altLang="zh-CN" sz="2000" b="1" dirty="0">
                <a:latin typeface="楷体_GB2312" pitchFamily="49" charset="-122"/>
                <a:ea typeface="楷体_GB2312" pitchFamily="49" charset="-122"/>
              </a:rPr>
              <a:t> 10MPa</a:t>
            </a:r>
            <a:endParaRPr lang="en-US" altLang="zh-CN" sz="2000" b="1" dirty="0">
              <a:latin typeface="楷体_GB2312" pitchFamily="49" charset="-122"/>
              <a:ea typeface="楷体_GB2312" pitchFamily="49" charset="-122"/>
            </a:endParaRPr>
          </a:p>
        </p:txBody>
      </p:sp>
      <p:pic>
        <p:nvPicPr>
          <p:cNvPr id="21" name="Picture 5" descr="未标题-1 拷贝"/>
          <p:cNvPicPr>
            <a:picLocks noChangeAspect="1"/>
          </p:cNvPicPr>
          <p:nvPr/>
        </p:nvPicPr>
        <p:blipFill>
          <a:blip r:embed="rId4" cstate="print">
            <a:lum bright="-17999" contrast="36000"/>
          </a:blip>
          <a:stretch>
            <a:fillRect/>
          </a:stretch>
        </p:blipFill>
        <p:spPr>
          <a:xfrm>
            <a:off x="2000232" y="2470154"/>
            <a:ext cx="2190731" cy="2673346"/>
          </a:xfrm>
          <a:prstGeom prst="rect">
            <a:avLst/>
          </a:prstGeom>
          <a:noFill/>
          <a:ln w="9525">
            <a:noFill/>
          </a:ln>
        </p:spPr>
      </p:pic>
      <p:sp>
        <p:nvSpPr>
          <p:cNvPr id="22" name="Rectangle 6"/>
          <p:cNvSpPr/>
          <p:nvPr/>
        </p:nvSpPr>
        <p:spPr>
          <a:xfrm>
            <a:off x="857224" y="3000378"/>
            <a:ext cx="1143008" cy="1341009"/>
          </a:xfrm>
          <a:prstGeom prst="rect">
            <a:avLst/>
          </a:prstGeom>
          <a:noFill/>
          <a:ln w="38100">
            <a:noFill/>
          </a:ln>
        </p:spPr>
        <p:txBody>
          <a:bodyPr wrap="squar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90000"/>
              </a:lnSpc>
              <a:spcBef>
                <a:spcPct val="50000"/>
              </a:spcBef>
              <a:buFont typeface="Wingdings" panose="05000000000000000000" pitchFamily="2" charset="2"/>
            </a:pPr>
            <a:r>
              <a:rPr lang="zh-CN" altLang="en-US" b="1" dirty="0">
                <a:solidFill>
                  <a:schemeClr val="tx2"/>
                </a:solidFill>
                <a:latin typeface="Times New Roman" panose="02020603050405020304" pitchFamily="18" charset="0"/>
                <a:ea typeface="楷体_GB2312" pitchFamily="49" charset="-122"/>
              </a:rPr>
              <a:t>单晶试棒在拉伸应力作用下的变化（宏观）</a:t>
            </a:r>
            <a:endParaRPr lang="zh-CN" altLang="en-US" b="1" dirty="0">
              <a:solidFill>
                <a:schemeClr val="tx2"/>
              </a:solidFill>
              <a:latin typeface="Times New Roman" panose="02020603050405020304" pitchFamily="18" charset="0"/>
              <a:ea typeface="楷体_GB2312" pitchFamily="49" charset="-122"/>
            </a:endParaRPr>
          </a:p>
        </p:txBody>
      </p:sp>
      <p:sp>
        <p:nvSpPr>
          <p:cNvPr id="23" name="Rectangle 7"/>
          <p:cNvSpPr/>
          <p:nvPr/>
        </p:nvSpPr>
        <p:spPr>
          <a:xfrm>
            <a:off x="5143504" y="4286262"/>
            <a:ext cx="3838575" cy="339725"/>
          </a:xfrm>
          <a:prstGeom prst="rect">
            <a:avLst/>
          </a:prstGeom>
          <a:noFill/>
          <a:ln w="38100">
            <a:noFill/>
          </a:ln>
        </p:spPr>
        <p:txBody>
          <a:bodyPr wrap="non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90000"/>
              </a:lnSpc>
              <a:spcBef>
                <a:spcPct val="50000"/>
              </a:spcBef>
              <a:buFont typeface="Wingdings" panose="05000000000000000000" pitchFamily="2" charset="2"/>
            </a:pPr>
            <a:r>
              <a:rPr lang="zh-CN" altLang="en-US" b="1" dirty="0">
                <a:solidFill>
                  <a:schemeClr val="tx2"/>
                </a:solidFill>
                <a:latin typeface="Times New Roman" panose="02020603050405020304" pitchFamily="18" charset="0"/>
                <a:ea typeface="楷体_GB2312" pitchFamily="49" charset="-122"/>
              </a:rPr>
              <a:t>外力作用下晶体滑移示意图（微观）</a:t>
            </a:r>
            <a:endParaRPr lang="zh-CN" altLang="en-US" b="1" dirty="0">
              <a:solidFill>
                <a:schemeClr val="tx2"/>
              </a:solidFill>
              <a:latin typeface="Times New Roman" panose="02020603050405020304" pitchFamily="18" charset="0"/>
              <a:ea typeface="楷体_GB2312" pitchFamily="49"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grpSp>
        <p:nvGrpSpPr>
          <p:cNvPr id="13" name="Group 2"/>
          <p:cNvGrpSpPr/>
          <p:nvPr/>
        </p:nvGrpSpPr>
        <p:grpSpPr>
          <a:xfrm>
            <a:off x="1186657" y="616744"/>
            <a:ext cx="3025776" cy="1295400"/>
            <a:chOff x="1655" y="709"/>
            <a:chExt cx="1906" cy="816"/>
          </a:xfrm>
        </p:grpSpPr>
        <p:grpSp>
          <p:nvGrpSpPr>
            <p:cNvPr id="30" name="Group 3"/>
            <p:cNvGrpSpPr/>
            <p:nvPr/>
          </p:nvGrpSpPr>
          <p:grpSpPr>
            <a:xfrm>
              <a:off x="2200" y="709"/>
              <a:ext cx="1361" cy="816"/>
              <a:chOff x="1746" y="346"/>
              <a:chExt cx="1361" cy="816"/>
            </a:xfrm>
          </p:grpSpPr>
          <p:sp>
            <p:nvSpPr>
              <p:cNvPr id="33" name="Rectangle 4"/>
              <p:cNvSpPr/>
              <p:nvPr/>
            </p:nvSpPr>
            <p:spPr>
              <a:xfrm>
                <a:off x="1746" y="346"/>
                <a:ext cx="1361" cy="816"/>
              </a:xfrm>
              <a:prstGeom prst="rect">
                <a:avLst/>
              </a:prstGeom>
              <a:noFill/>
              <a:ln w="28575" cap="flat" cmpd="sng">
                <a:solidFill>
                  <a:schemeClr val="tx1"/>
                </a:solidFill>
                <a:prstDash val="solid"/>
                <a:miter/>
                <a:headEnd type="none" w="med" len="med"/>
                <a:tailEnd type="none" w="med" len="med"/>
              </a:ln>
            </p:spPr>
            <p:txBody>
              <a:bodyPr wrap="none" anchor="ctr" anchorCtr="0"/>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dirty="0">
                  <a:latin typeface="Arial" panose="020B0604020202020204" pitchFamily="34" charset="0"/>
                </a:endParaRPr>
              </a:p>
            </p:txBody>
          </p:sp>
          <p:sp>
            <p:nvSpPr>
              <p:cNvPr id="34" name="Line 5"/>
              <p:cNvSpPr/>
              <p:nvPr/>
            </p:nvSpPr>
            <p:spPr>
              <a:xfrm>
                <a:off x="2018" y="346"/>
                <a:ext cx="0" cy="816"/>
              </a:xfrm>
              <a:prstGeom prst="line">
                <a:avLst/>
              </a:prstGeom>
              <a:ln w="28575" cap="flat" cmpd="sng">
                <a:solidFill>
                  <a:schemeClr val="tx1"/>
                </a:solidFill>
                <a:prstDash val="solid"/>
                <a:headEnd type="none" w="med" len="med"/>
                <a:tailEnd type="none" w="med" len="med"/>
              </a:ln>
            </p:spPr>
          </p:sp>
          <p:sp>
            <p:nvSpPr>
              <p:cNvPr id="35" name="Line 6"/>
              <p:cNvSpPr/>
              <p:nvPr/>
            </p:nvSpPr>
            <p:spPr>
              <a:xfrm>
                <a:off x="2290" y="346"/>
                <a:ext cx="0" cy="816"/>
              </a:xfrm>
              <a:prstGeom prst="line">
                <a:avLst/>
              </a:prstGeom>
              <a:ln w="28575" cap="flat" cmpd="sng">
                <a:solidFill>
                  <a:schemeClr val="tx1"/>
                </a:solidFill>
                <a:prstDash val="solid"/>
                <a:headEnd type="none" w="med" len="med"/>
                <a:tailEnd type="none" w="med" len="med"/>
              </a:ln>
            </p:spPr>
          </p:sp>
          <p:sp>
            <p:nvSpPr>
              <p:cNvPr id="36" name="Line 7"/>
              <p:cNvSpPr/>
              <p:nvPr/>
            </p:nvSpPr>
            <p:spPr>
              <a:xfrm>
                <a:off x="2835" y="346"/>
                <a:ext cx="0" cy="816"/>
              </a:xfrm>
              <a:prstGeom prst="line">
                <a:avLst/>
              </a:prstGeom>
              <a:ln w="28575" cap="flat" cmpd="sng">
                <a:solidFill>
                  <a:schemeClr val="tx1"/>
                </a:solidFill>
                <a:prstDash val="solid"/>
                <a:headEnd type="none" w="med" len="med"/>
                <a:tailEnd type="none" w="med" len="med"/>
              </a:ln>
            </p:spPr>
          </p:sp>
          <p:sp>
            <p:nvSpPr>
              <p:cNvPr id="37" name="Line 8"/>
              <p:cNvSpPr/>
              <p:nvPr/>
            </p:nvSpPr>
            <p:spPr>
              <a:xfrm>
                <a:off x="2562" y="346"/>
                <a:ext cx="0" cy="816"/>
              </a:xfrm>
              <a:prstGeom prst="line">
                <a:avLst/>
              </a:prstGeom>
              <a:ln w="28575" cap="flat" cmpd="sng">
                <a:solidFill>
                  <a:schemeClr val="tx1"/>
                </a:solidFill>
                <a:prstDash val="solid"/>
                <a:headEnd type="none" w="med" len="med"/>
                <a:tailEnd type="none" w="med" len="med"/>
              </a:ln>
            </p:spPr>
          </p:sp>
          <p:sp>
            <p:nvSpPr>
              <p:cNvPr id="38" name="Line 9"/>
              <p:cNvSpPr/>
              <p:nvPr/>
            </p:nvSpPr>
            <p:spPr>
              <a:xfrm>
                <a:off x="1746" y="890"/>
                <a:ext cx="1361" cy="0"/>
              </a:xfrm>
              <a:prstGeom prst="line">
                <a:avLst/>
              </a:prstGeom>
              <a:ln w="28575" cap="flat" cmpd="sng">
                <a:solidFill>
                  <a:schemeClr val="tx1"/>
                </a:solidFill>
                <a:prstDash val="solid"/>
                <a:headEnd type="none" w="med" len="med"/>
                <a:tailEnd type="none" w="med" len="med"/>
              </a:ln>
            </p:spPr>
          </p:sp>
          <p:sp>
            <p:nvSpPr>
              <p:cNvPr id="39" name="Line 10"/>
              <p:cNvSpPr/>
              <p:nvPr/>
            </p:nvSpPr>
            <p:spPr>
              <a:xfrm>
                <a:off x="1746" y="618"/>
                <a:ext cx="1361" cy="0"/>
              </a:xfrm>
              <a:prstGeom prst="line">
                <a:avLst/>
              </a:prstGeom>
              <a:ln w="28575" cap="flat" cmpd="sng">
                <a:solidFill>
                  <a:schemeClr val="tx1"/>
                </a:solidFill>
                <a:prstDash val="solid"/>
                <a:headEnd type="none" w="med" len="med"/>
                <a:tailEnd type="none" w="med" len="med"/>
              </a:ln>
            </p:spPr>
          </p:sp>
        </p:grpSp>
        <p:sp>
          <p:nvSpPr>
            <p:cNvPr id="31" name="Line 11"/>
            <p:cNvSpPr/>
            <p:nvPr/>
          </p:nvSpPr>
          <p:spPr>
            <a:xfrm>
              <a:off x="1746" y="1434"/>
              <a:ext cx="409" cy="0"/>
            </a:xfrm>
            <a:prstGeom prst="line">
              <a:avLst/>
            </a:prstGeom>
            <a:ln w="28575" cap="flat" cmpd="sng">
              <a:solidFill>
                <a:schemeClr val="tx1"/>
              </a:solidFill>
              <a:prstDash val="solid"/>
              <a:headEnd type="none" w="med" len="med"/>
              <a:tailEnd type="arrow" w="sm" len="lg"/>
            </a:ln>
          </p:spPr>
        </p:sp>
        <p:sp>
          <p:nvSpPr>
            <p:cNvPr id="32" name="Text Box 12"/>
            <p:cNvSpPr txBox="1"/>
            <p:nvPr/>
          </p:nvSpPr>
          <p:spPr>
            <a:xfrm>
              <a:off x="1655" y="1253"/>
              <a:ext cx="272" cy="231"/>
            </a:xfrm>
            <a:prstGeom prst="rect">
              <a:avLst/>
            </a:prstGeom>
            <a:noFill/>
            <a:ln w="28575">
              <a:noFill/>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lang="en-US" altLang="zh-CN" b="1" dirty="0">
                  <a:latin typeface="Arial" panose="020B0604020202020204" pitchFamily="34" charset="0"/>
                </a:rPr>
                <a:t>τ</a:t>
              </a:r>
              <a:endParaRPr lang="en-US" altLang="zh-CN" b="1" dirty="0">
                <a:latin typeface="Arial" panose="020B0604020202020204" pitchFamily="34" charset="0"/>
              </a:endParaRPr>
            </a:p>
          </p:txBody>
        </p:sp>
      </p:grpSp>
      <p:grpSp>
        <p:nvGrpSpPr>
          <p:cNvPr id="15" name="Group 13"/>
          <p:cNvGrpSpPr/>
          <p:nvPr/>
        </p:nvGrpSpPr>
        <p:grpSpPr>
          <a:xfrm>
            <a:off x="2051844" y="1767681"/>
            <a:ext cx="3024187" cy="1441450"/>
            <a:chOff x="2200" y="1434"/>
            <a:chExt cx="1905" cy="908"/>
          </a:xfrm>
        </p:grpSpPr>
        <p:grpSp>
          <p:nvGrpSpPr>
            <p:cNvPr id="20" name="Group 14"/>
            <p:cNvGrpSpPr/>
            <p:nvPr/>
          </p:nvGrpSpPr>
          <p:grpSpPr>
            <a:xfrm>
              <a:off x="2200" y="1526"/>
              <a:ext cx="1361" cy="816"/>
              <a:chOff x="1746" y="1480"/>
              <a:chExt cx="1361" cy="816"/>
            </a:xfrm>
          </p:grpSpPr>
          <p:sp>
            <p:nvSpPr>
              <p:cNvPr id="23" name="Rectangle 15"/>
              <p:cNvSpPr/>
              <p:nvPr/>
            </p:nvSpPr>
            <p:spPr>
              <a:xfrm>
                <a:off x="1746" y="1480"/>
                <a:ext cx="1361" cy="816"/>
              </a:xfrm>
              <a:prstGeom prst="rect">
                <a:avLst/>
              </a:prstGeom>
              <a:noFill/>
              <a:ln w="28575" cap="flat" cmpd="sng">
                <a:solidFill>
                  <a:schemeClr val="tx1"/>
                </a:solidFill>
                <a:prstDash val="solid"/>
                <a:miter/>
                <a:headEnd type="none" w="med" len="med"/>
                <a:tailEnd type="none" w="med" len="med"/>
              </a:ln>
            </p:spPr>
            <p:txBody>
              <a:bodyPr wrap="none" anchor="ctr" anchorCtr="0"/>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dirty="0">
                  <a:latin typeface="Arial" panose="020B0604020202020204" pitchFamily="34" charset="0"/>
                </a:endParaRPr>
              </a:p>
            </p:txBody>
          </p:sp>
          <p:sp>
            <p:nvSpPr>
              <p:cNvPr id="24" name="Line 16"/>
              <p:cNvSpPr/>
              <p:nvPr/>
            </p:nvSpPr>
            <p:spPr>
              <a:xfrm>
                <a:off x="2018" y="1480"/>
                <a:ext cx="0" cy="816"/>
              </a:xfrm>
              <a:prstGeom prst="line">
                <a:avLst/>
              </a:prstGeom>
              <a:ln w="28575" cap="flat" cmpd="sng">
                <a:solidFill>
                  <a:schemeClr val="tx1"/>
                </a:solidFill>
                <a:prstDash val="solid"/>
                <a:headEnd type="none" w="med" len="med"/>
                <a:tailEnd type="none" w="med" len="med"/>
              </a:ln>
            </p:spPr>
          </p:sp>
          <p:sp>
            <p:nvSpPr>
              <p:cNvPr id="25" name="Line 17"/>
              <p:cNvSpPr/>
              <p:nvPr/>
            </p:nvSpPr>
            <p:spPr>
              <a:xfrm>
                <a:off x="2290" y="1480"/>
                <a:ext cx="0" cy="816"/>
              </a:xfrm>
              <a:prstGeom prst="line">
                <a:avLst/>
              </a:prstGeom>
              <a:ln w="28575" cap="flat" cmpd="sng">
                <a:solidFill>
                  <a:schemeClr val="tx1"/>
                </a:solidFill>
                <a:prstDash val="solid"/>
                <a:headEnd type="none" w="med" len="med"/>
                <a:tailEnd type="none" w="med" len="med"/>
              </a:ln>
            </p:spPr>
          </p:sp>
          <p:sp>
            <p:nvSpPr>
              <p:cNvPr id="26" name="Line 18"/>
              <p:cNvSpPr/>
              <p:nvPr/>
            </p:nvSpPr>
            <p:spPr>
              <a:xfrm>
                <a:off x="2835" y="1480"/>
                <a:ext cx="0" cy="816"/>
              </a:xfrm>
              <a:prstGeom prst="line">
                <a:avLst/>
              </a:prstGeom>
              <a:ln w="28575" cap="flat" cmpd="sng">
                <a:solidFill>
                  <a:schemeClr val="tx1"/>
                </a:solidFill>
                <a:prstDash val="solid"/>
                <a:headEnd type="none" w="med" len="med"/>
                <a:tailEnd type="none" w="med" len="med"/>
              </a:ln>
            </p:spPr>
          </p:sp>
          <p:sp>
            <p:nvSpPr>
              <p:cNvPr id="27" name="Line 19"/>
              <p:cNvSpPr/>
              <p:nvPr/>
            </p:nvSpPr>
            <p:spPr>
              <a:xfrm>
                <a:off x="2562" y="1480"/>
                <a:ext cx="0" cy="816"/>
              </a:xfrm>
              <a:prstGeom prst="line">
                <a:avLst/>
              </a:prstGeom>
              <a:ln w="28575" cap="flat" cmpd="sng">
                <a:solidFill>
                  <a:schemeClr val="tx1"/>
                </a:solidFill>
                <a:prstDash val="solid"/>
                <a:headEnd type="none" w="med" len="med"/>
                <a:tailEnd type="none" w="med" len="med"/>
              </a:ln>
            </p:spPr>
          </p:sp>
          <p:sp>
            <p:nvSpPr>
              <p:cNvPr id="28" name="Line 20"/>
              <p:cNvSpPr/>
              <p:nvPr/>
            </p:nvSpPr>
            <p:spPr>
              <a:xfrm>
                <a:off x="1746" y="2024"/>
                <a:ext cx="1361" cy="0"/>
              </a:xfrm>
              <a:prstGeom prst="line">
                <a:avLst/>
              </a:prstGeom>
              <a:ln w="28575" cap="flat" cmpd="sng">
                <a:solidFill>
                  <a:schemeClr val="tx1"/>
                </a:solidFill>
                <a:prstDash val="solid"/>
                <a:headEnd type="none" w="med" len="med"/>
                <a:tailEnd type="none" w="med" len="med"/>
              </a:ln>
            </p:spPr>
          </p:sp>
          <p:sp>
            <p:nvSpPr>
              <p:cNvPr id="29" name="Line 21"/>
              <p:cNvSpPr/>
              <p:nvPr/>
            </p:nvSpPr>
            <p:spPr>
              <a:xfrm>
                <a:off x="1746" y="1752"/>
                <a:ext cx="1361" cy="0"/>
              </a:xfrm>
              <a:prstGeom prst="line">
                <a:avLst/>
              </a:prstGeom>
              <a:ln w="28575" cap="flat" cmpd="sng">
                <a:solidFill>
                  <a:schemeClr val="tx1"/>
                </a:solidFill>
                <a:prstDash val="solid"/>
                <a:headEnd type="none" w="med" len="med"/>
                <a:tailEnd type="none" w="med" len="med"/>
              </a:ln>
            </p:spPr>
          </p:sp>
        </p:grpSp>
        <p:sp>
          <p:nvSpPr>
            <p:cNvPr id="21" name="Line 22"/>
            <p:cNvSpPr/>
            <p:nvPr/>
          </p:nvSpPr>
          <p:spPr>
            <a:xfrm flipH="1">
              <a:off x="3607" y="1616"/>
              <a:ext cx="408" cy="0"/>
            </a:xfrm>
            <a:prstGeom prst="line">
              <a:avLst/>
            </a:prstGeom>
            <a:ln w="28575" cap="flat" cmpd="sng">
              <a:solidFill>
                <a:schemeClr val="tx1"/>
              </a:solidFill>
              <a:prstDash val="solid"/>
              <a:headEnd type="none" w="med" len="med"/>
              <a:tailEnd type="arrow" w="sm" len="lg"/>
            </a:ln>
          </p:spPr>
        </p:sp>
        <p:sp>
          <p:nvSpPr>
            <p:cNvPr id="22" name="Text Box 23"/>
            <p:cNvSpPr txBox="1"/>
            <p:nvPr/>
          </p:nvSpPr>
          <p:spPr>
            <a:xfrm>
              <a:off x="3833" y="1434"/>
              <a:ext cx="272" cy="231"/>
            </a:xfrm>
            <a:prstGeom prst="rect">
              <a:avLst/>
            </a:prstGeom>
            <a:noFill/>
            <a:ln w="28575">
              <a:noFill/>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lang="en-US" altLang="zh-CN" b="1" dirty="0">
                  <a:latin typeface="Arial" panose="020B0604020202020204" pitchFamily="34" charset="0"/>
                </a:rPr>
                <a:t>τ</a:t>
              </a:r>
              <a:endParaRPr lang="en-US" altLang="zh-CN" b="1" dirty="0">
                <a:latin typeface="Arial" panose="020B0604020202020204" pitchFamily="34" charset="0"/>
              </a:endParaRPr>
            </a:p>
          </p:txBody>
        </p:sp>
      </p:grpSp>
      <p:sp>
        <p:nvSpPr>
          <p:cNvPr id="16" name="Rectangle 24"/>
          <p:cNvSpPr/>
          <p:nvPr/>
        </p:nvSpPr>
        <p:spPr>
          <a:xfrm>
            <a:off x="5291931" y="615156"/>
            <a:ext cx="2665413" cy="701675"/>
          </a:xfrm>
          <a:prstGeom prst="rect">
            <a:avLst/>
          </a:prstGeom>
          <a:solidFill>
            <a:srgbClr val="CCFFFF"/>
          </a:solidFill>
          <a:ln w="9525">
            <a:noFill/>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2000" b="1" dirty="0">
                <a:solidFill>
                  <a:schemeClr val="tx2"/>
                </a:solidFill>
                <a:latin typeface="Arial" panose="020B0604020202020204" pitchFamily="34" charset="0"/>
              </a:rPr>
              <a:t>滑移的结果：塑性变形，表面形成台阶。</a:t>
            </a:r>
            <a:endParaRPr lang="zh-CN" altLang="en-US" sz="2000" b="1" dirty="0">
              <a:solidFill>
                <a:schemeClr val="tx2"/>
              </a:solidFill>
              <a:latin typeface="Arial" panose="020B0604020202020204" pitchFamily="34" charset="0"/>
            </a:endParaRPr>
          </a:p>
        </p:txBody>
      </p:sp>
      <p:sp>
        <p:nvSpPr>
          <p:cNvPr id="18" name="Rectangle 25"/>
          <p:cNvSpPr/>
          <p:nvPr/>
        </p:nvSpPr>
        <p:spPr>
          <a:xfrm>
            <a:off x="1331119" y="4071144"/>
            <a:ext cx="5086350" cy="457200"/>
          </a:xfrm>
          <a:prstGeom prst="rect">
            <a:avLst/>
          </a:prstGeom>
          <a:noFill/>
          <a:ln w="9525">
            <a:noFill/>
          </a:ln>
        </p:spPr>
        <p:txBody>
          <a:bodyPr wrap="none">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2400" b="1" dirty="0">
                <a:solidFill>
                  <a:srgbClr val="0000FF"/>
                </a:solidFill>
                <a:latin typeface="Garamond" panose="02020404030301010803" pitchFamily="18" charset="0"/>
              </a:rPr>
              <a:t>外力作用下晶体滑移示意图（微观）</a:t>
            </a:r>
            <a:endParaRPr lang="zh-CN" altLang="en-US" sz="2400" b="1" dirty="0">
              <a:solidFill>
                <a:srgbClr val="0000FF"/>
              </a:solidFill>
              <a:latin typeface="Garamond" panose="02020404030301010803"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16" name="Picture 9"/>
          <p:cNvPicPr>
            <a:picLocks noChangeAspect="1"/>
          </p:cNvPicPr>
          <p:nvPr/>
        </p:nvPicPr>
        <p:blipFill>
          <a:blip r:embed="rId3" cstate="print">
            <a:lum bright="20001" contrast="60000"/>
          </a:blip>
          <a:stretch>
            <a:fillRect/>
          </a:stretch>
        </p:blipFill>
        <p:spPr>
          <a:xfrm>
            <a:off x="785786" y="2000246"/>
            <a:ext cx="7200900" cy="1819275"/>
          </a:xfrm>
          <a:prstGeom prst="rect">
            <a:avLst/>
          </a:prstGeom>
          <a:noFill/>
          <a:ln w="9525">
            <a:noFill/>
          </a:ln>
        </p:spPr>
      </p:pic>
      <p:sp>
        <p:nvSpPr>
          <p:cNvPr id="18" name="Rectangle 10"/>
          <p:cNvSpPr/>
          <p:nvPr/>
        </p:nvSpPr>
        <p:spPr>
          <a:xfrm>
            <a:off x="352398" y="850893"/>
            <a:ext cx="8305800" cy="738664"/>
          </a:xfrm>
          <a:prstGeom prst="rect">
            <a:avLst/>
          </a:prstGeom>
          <a:noFill/>
          <a:ln w="25400">
            <a:noFill/>
          </a:ln>
        </p:spPr>
        <p:txBody>
          <a:bodyPr lIns="0" tIns="0" rIns="0" bIns="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r>
              <a:rPr lang="en-US" altLang="zh-CN" sz="2400" b="1" dirty="0">
                <a:solidFill>
                  <a:srgbClr val="FF3300"/>
                </a:solidFill>
                <a:latin typeface="Times New Roman" panose="02020603050405020304" pitchFamily="18" charset="0"/>
              </a:rPr>
              <a:t>●</a:t>
            </a:r>
            <a:r>
              <a:rPr lang="en-US" altLang="zh-CN" sz="2400" b="1" dirty="0">
                <a:latin typeface="Times New Roman" panose="02020603050405020304" pitchFamily="18" charset="0"/>
              </a:rPr>
              <a:t> </a:t>
            </a:r>
            <a:r>
              <a:rPr lang="en-US" altLang="zh-CN" sz="2400" b="1" dirty="0">
                <a:latin typeface="楷体_GB2312" pitchFamily="49" charset="-122"/>
                <a:ea typeface="楷体_GB2312" pitchFamily="49" charset="-122"/>
              </a:rPr>
              <a:t>1934</a:t>
            </a:r>
            <a:r>
              <a:rPr lang="zh-CN" altLang="en-US" sz="2400" b="1" dirty="0">
                <a:latin typeface="楷体_GB2312" pitchFamily="49" charset="-122"/>
                <a:ea typeface="楷体_GB2312" pitchFamily="49" charset="-122"/>
              </a:rPr>
              <a:t>年，</a:t>
            </a:r>
            <a:r>
              <a:rPr lang="en-US" altLang="zh-CN" sz="2400" b="1" dirty="0">
                <a:latin typeface="楷体_GB2312" pitchFamily="49" charset="-122"/>
                <a:ea typeface="楷体_GB2312" pitchFamily="49" charset="-122"/>
              </a:rPr>
              <a:t>Taylor</a:t>
            </a:r>
            <a:r>
              <a:rPr lang="zh-CN" altLang="en-US" sz="2400" b="1" dirty="0">
                <a:latin typeface="楷体_GB2312" pitchFamily="49" charset="-122"/>
                <a:ea typeface="楷体_GB2312" pitchFamily="49" charset="-122"/>
              </a:rPr>
              <a:t>等提出位错模型（同一时间，滑移面上的原子部分运动）。滑移是通过称为</a:t>
            </a:r>
            <a:r>
              <a:rPr lang="zh-CN" altLang="en-US" sz="2400" b="1" dirty="0">
                <a:solidFill>
                  <a:srgbClr val="FF0000"/>
                </a:solidFill>
                <a:latin typeface="楷体_GB2312" pitchFamily="49" charset="-122"/>
                <a:ea typeface="楷体_GB2312" pitchFamily="49" charset="-122"/>
              </a:rPr>
              <a:t>位错</a:t>
            </a:r>
            <a:r>
              <a:rPr lang="zh-CN" altLang="en-US" sz="2400" b="1" dirty="0">
                <a:latin typeface="楷体_GB2312" pitchFamily="49" charset="-122"/>
                <a:ea typeface="楷体_GB2312" pitchFamily="49" charset="-122"/>
              </a:rPr>
              <a:t>的运动而进行的</a:t>
            </a:r>
            <a:endParaRPr lang="ja-JP" altLang="en-US" sz="2400" b="1" dirty="0">
              <a:latin typeface="楷体_GB2312" pitchFamily="49" charset="-122"/>
              <a:ea typeface="楷体_GB2312"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Rectangle 7"/>
          <p:cNvSpPr/>
          <p:nvPr/>
        </p:nvSpPr>
        <p:spPr>
          <a:xfrm>
            <a:off x="642910" y="571486"/>
            <a:ext cx="8305800" cy="365125"/>
          </a:xfrm>
          <a:prstGeom prst="rect">
            <a:avLst/>
          </a:prstGeom>
          <a:noFill/>
          <a:ln w="25400">
            <a:noFill/>
          </a:ln>
        </p:spPr>
        <p:txBody>
          <a:bodyPr lIns="0" tIns="0" rIns="0" bIns="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buClr>
                <a:srgbClr val="FF0000"/>
              </a:buClr>
              <a:buSzPct val="90000"/>
              <a:buFont typeface="Wingdings" panose="05000000000000000000" pitchFamily="2" charset="2"/>
              <a:buChar char="l"/>
            </a:pPr>
            <a:r>
              <a:rPr lang="en-US" altLang="zh-CN" sz="2400" b="1" dirty="0">
                <a:latin typeface="Times New Roman" panose="02020603050405020304" pitchFamily="18" charset="0"/>
              </a:rPr>
              <a:t> </a:t>
            </a:r>
            <a:r>
              <a:rPr lang="en-US" altLang="zh-CN" sz="2400" b="1" dirty="0">
                <a:latin typeface="楷体_GB2312" pitchFamily="49" charset="-122"/>
                <a:ea typeface="楷体_GB2312" pitchFamily="49" charset="-122"/>
              </a:rPr>
              <a:t>1950</a:t>
            </a:r>
            <a:r>
              <a:rPr lang="zh-CN" altLang="en-US" sz="2400" b="1" dirty="0">
                <a:latin typeface="楷体_GB2312" pitchFamily="49" charset="-122"/>
                <a:ea typeface="楷体_GB2312" pitchFamily="49" charset="-122"/>
              </a:rPr>
              <a:t>年代，位错模型为试验所验证。</a:t>
            </a:r>
            <a:endParaRPr lang="zh-CN" altLang="en-US" sz="2400" b="1" dirty="0">
              <a:latin typeface="楷体_GB2312" pitchFamily="49" charset="-122"/>
              <a:ea typeface="楷体_GB2312" pitchFamily="49" charset="-122"/>
            </a:endParaRPr>
          </a:p>
        </p:txBody>
      </p:sp>
      <p:grpSp>
        <p:nvGrpSpPr>
          <p:cNvPr id="15" name="Group 2"/>
          <p:cNvGrpSpPr/>
          <p:nvPr/>
        </p:nvGrpSpPr>
        <p:grpSpPr>
          <a:xfrm>
            <a:off x="357158" y="1285866"/>
            <a:ext cx="7705725" cy="2678114"/>
            <a:chOff x="252" y="1536"/>
            <a:chExt cx="5253" cy="2360"/>
          </a:xfrm>
        </p:grpSpPr>
        <p:sp>
          <p:nvSpPr>
            <p:cNvPr id="18" name="Text Box 3"/>
            <p:cNvSpPr txBox="1"/>
            <p:nvPr/>
          </p:nvSpPr>
          <p:spPr>
            <a:xfrm>
              <a:off x="252" y="3600"/>
              <a:ext cx="2736" cy="296"/>
            </a:xfrm>
            <a:prstGeom prst="rect">
              <a:avLst/>
            </a:prstGeom>
            <a:noFill/>
            <a:ln w="9525">
              <a:noFill/>
            </a:ln>
          </p:spPr>
          <p:txBody>
            <a:bodyPr lIns="92075" tIns="46038" rIns="92075" bIns="46038">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ctr" eaLnBrk="1" hangingPunct="1">
                <a:spcBef>
                  <a:spcPct val="50000"/>
                </a:spcBef>
              </a:pPr>
              <a:r>
                <a:rPr lang="zh-CN" altLang="en-US" sz="1600" b="1" dirty="0">
                  <a:latin typeface="楷体_GB2312" pitchFamily="49" charset="-122"/>
                  <a:ea typeface="楷体_GB2312" pitchFamily="49" charset="-122"/>
                </a:rPr>
                <a:t>透射电镜下钛合金中的位错线</a:t>
              </a:r>
              <a:r>
                <a:rPr lang="en-US" altLang="zh-CN" sz="1600" b="1" dirty="0">
                  <a:latin typeface="楷体_GB2312" pitchFamily="49" charset="-122"/>
                  <a:ea typeface="楷体_GB2312" pitchFamily="49" charset="-122"/>
                </a:rPr>
                <a:t>(</a:t>
              </a:r>
              <a:r>
                <a:rPr lang="zh-CN" altLang="en-US" sz="1600" b="1" dirty="0">
                  <a:latin typeface="楷体_GB2312" pitchFamily="49" charset="-122"/>
                  <a:ea typeface="楷体_GB2312" pitchFamily="49" charset="-122"/>
                </a:rPr>
                <a:t>黑线</a:t>
              </a:r>
              <a:r>
                <a:rPr lang="en-US" altLang="zh-CN" sz="1600" b="1" dirty="0">
                  <a:latin typeface="楷体_GB2312" pitchFamily="49" charset="-122"/>
                  <a:ea typeface="楷体_GB2312" pitchFamily="49" charset="-122"/>
                </a:rPr>
                <a:t>)</a:t>
              </a:r>
              <a:endParaRPr lang="en-US" altLang="zh-CN" sz="1600" b="1" dirty="0">
                <a:latin typeface="楷体_GB2312" pitchFamily="49" charset="-122"/>
                <a:ea typeface="楷体_GB2312" pitchFamily="49" charset="-122"/>
              </a:endParaRPr>
            </a:p>
          </p:txBody>
        </p:sp>
        <p:sp>
          <p:nvSpPr>
            <p:cNvPr id="20" name="Text Box 4"/>
            <p:cNvSpPr txBox="1">
              <a:spLocks noChangeArrowheads="1"/>
            </p:cNvSpPr>
            <p:nvPr/>
          </p:nvSpPr>
          <p:spPr bwMode="auto">
            <a:xfrm>
              <a:off x="3216" y="3638"/>
              <a:ext cx="2160" cy="242"/>
            </a:xfrm>
            <a:prstGeom prst="rect">
              <a:avLst/>
            </a:prstGeom>
            <a:noFill/>
            <a:ln>
              <a:noFill/>
            </a:ln>
            <a:effectLst/>
          </p:spPr>
          <p:txBody>
            <a:bodyPr lIns="92075" tIns="46038" rIns="92075" bIns="46038">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R="0" algn="ctr" defTabSz="914400" eaLnBrk="1" hangingPunct="1">
                <a:spcBef>
                  <a:spcPct val="50000"/>
                </a:spcBef>
                <a:buClrTx/>
                <a:buSzTx/>
                <a:buFontTx/>
                <a:buNone/>
                <a:defRPr/>
              </a:pPr>
              <a:r>
                <a:rPr kumimoji="1" lang="zh-CN" altLang="en-US" sz="1200" b="1" kern="1200" cap="none" spc="0" normalizeH="0" baseline="0" noProof="0">
                  <a:effectLst>
                    <a:outerShdw blurRad="38100" dist="38100" dir="2700000" algn="tl">
                      <a:srgbClr val="C0C0C0"/>
                    </a:outerShdw>
                  </a:effectLst>
                  <a:latin typeface="Arial" panose="020B0604020202020204" pitchFamily="34" charset="0"/>
                  <a:ea typeface="楷体_GB2312" pitchFamily="49" charset="-122"/>
                  <a:cs typeface="+mn-cs"/>
                </a:rPr>
                <a:t>高分辨率电镜下的刃位错（白点为原子）</a:t>
              </a:r>
              <a:endParaRPr kumimoji="1" lang="zh-CN" altLang="en-US" sz="1200" b="1" kern="1200" cap="none" spc="0" normalizeH="0" baseline="0" noProof="0">
                <a:effectLst>
                  <a:outerShdw blurRad="38100" dist="38100" dir="2700000" algn="tl">
                    <a:srgbClr val="C0C0C0"/>
                  </a:outerShdw>
                </a:effectLst>
                <a:latin typeface="Arial" panose="020B0604020202020204" pitchFamily="34" charset="0"/>
                <a:ea typeface="楷体_GB2312" pitchFamily="49" charset="-122"/>
                <a:cs typeface="+mn-cs"/>
              </a:endParaRPr>
            </a:p>
          </p:txBody>
        </p:sp>
        <p:pic>
          <p:nvPicPr>
            <p:cNvPr id="21" name="Picture 5" descr="位错2"/>
            <p:cNvPicPr>
              <a:picLocks noChangeAspect="1"/>
            </p:cNvPicPr>
            <p:nvPr/>
          </p:nvPicPr>
          <p:blipFill>
            <a:blip r:embed="rId3" cstate="print"/>
            <a:stretch>
              <a:fillRect/>
            </a:stretch>
          </p:blipFill>
          <p:spPr>
            <a:xfrm>
              <a:off x="3120" y="1536"/>
              <a:ext cx="2385" cy="2040"/>
            </a:xfrm>
            <a:prstGeom prst="rect">
              <a:avLst/>
            </a:prstGeom>
            <a:noFill/>
            <a:ln w="57150" cap="flat" cmpd="sng">
              <a:solidFill>
                <a:schemeClr val="folHlink"/>
              </a:solidFill>
              <a:prstDash val="solid"/>
              <a:miter/>
              <a:headEnd type="none" w="med" len="med"/>
              <a:tailEnd type="none" w="med" len="med"/>
            </a:ln>
          </p:spPr>
        </p:pic>
        <p:pic>
          <p:nvPicPr>
            <p:cNvPr id="22" name="Picture 6" descr="旋转 位错"/>
            <p:cNvPicPr>
              <a:picLocks noChangeAspect="1"/>
            </p:cNvPicPr>
            <p:nvPr/>
          </p:nvPicPr>
          <p:blipFill>
            <a:blip r:embed="rId4" cstate="print"/>
            <a:stretch>
              <a:fillRect/>
            </a:stretch>
          </p:blipFill>
          <p:spPr>
            <a:xfrm>
              <a:off x="384" y="1536"/>
              <a:ext cx="2471" cy="2041"/>
            </a:xfrm>
            <a:prstGeom prst="rect">
              <a:avLst/>
            </a:prstGeom>
            <a:noFill/>
            <a:ln w="57150" cap="flat" cmpd="sng">
              <a:solidFill>
                <a:srgbClr val="FF9900"/>
              </a:solidFill>
              <a:prstDash val="solid"/>
              <a:miter/>
              <a:headEnd type="none" w="med" len="med"/>
              <a:tailEnd type="none" w="med" len="med"/>
            </a:ln>
          </p:spPr>
        </p:pic>
      </p:grpSp>
      <p:sp>
        <p:nvSpPr>
          <p:cNvPr id="16" name="Rectangle 8"/>
          <p:cNvSpPr/>
          <p:nvPr/>
        </p:nvSpPr>
        <p:spPr>
          <a:xfrm>
            <a:off x="360333" y="3806815"/>
            <a:ext cx="8461375" cy="625475"/>
          </a:xfrm>
          <a:prstGeom prst="rect">
            <a:avLst/>
          </a:prstGeom>
          <a:noFill/>
          <a:ln w="38100">
            <a:noFill/>
          </a:ln>
        </p:spPr>
        <p:txBody>
          <a:bodyPr wrap="non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342900" indent="-342900" eaLnBrk="1" hangingPunct="1">
              <a:lnSpc>
                <a:spcPct val="125000"/>
              </a:lnSpc>
              <a:spcBef>
                <a:spcPct val="20000"/>
              </a:spcBef>
              <a:buClr>
                <a:srgbClr val="FF0000"/>
              </a:buClr>
              <a:buSzPct val="90000"/>
              <a:buFont typeface="Wingdings" panose="05000000000000000000" pitchFamily="2" charset="2"/>
            </a:pPr>
            <a:r>
              <a:rPr lang="zh-CN" altLang="en-US" sz="2400" b="1" dirty="0">
                <a:solidFill>
                  <a:srgbClr val="0000FF"/>
                </a:solidFill>
                <a:latin typeface="Times New Roman" panose="02020603050405020304" pitchFamily="18" charset="0"/>
                <a:ea typeface="楷体_GB2312" pitchFamily="49" charset="-122"/>
              </a:rPr>
              <a:t>研究位错的意义</a:t>
            </a:r>
            <a:r>
              <a:rPr lang="zh-CN" altLang="en-US" sz="2800" b="1" dirty="0">
                <a:solidFill>
                  <a:srgbClr val="0000FF"/>
                </a:solidFill>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塑性变形、晶体生长、扩散烧结、固相反应</a:t>
            </a:r>
            <a:endParaRPr lang="zh-CN" altLang="en-US" sz="2400" b="1" dirty="0">
              <a:latin typeface="Times New Roman" panose="02020603050405020304" pitchFamily="18" charset="0"/>
              <a:ea typeface="楷体_GB2312"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13" name="Picture 2" descr="3_4_1"/>
          <p:cNvPicPr>
            <a:picLocks noChangeAspect="1"/>
          </p:cNvPicPr>
          <p:nvPr/>
        </p:nvPicPr>
        <p:blipFill>
          <a:blip r:embed="rId3" cstate="print"/>
          <a:stretch>
            <a:fillRect/>
          </a:stretch>
        </p:blipFill>
        <p:spPr>
          <a:xfrm>
            <a:off x="571471" y="2143122"/>
            <a:ext cx="3267705" cy="2786082"/>
          </a:xfrm>
          <a:prstGeom prst="rect">
            <a:avLst/>
          </a:prstGeom>
          <a:noFill/>
          <a:ln w="9525">
            <a:noFill/>
          </a:ln>
        </p:spPr>
      </p:pic>
      <p:pic>
        <p:nvPicPr>
          <p:cNvPr id="15" name="Picture 3" descr="3_4_2"/>
          <p:cNvPicPr>
            <a:picLocks noChangeAspect="1"/>
          </p:cNvPicPr>
          <p:nvPr/>
        </p:nvPicPr>
        <p:blipFill>
          <a:blip r:embed="rId4" cstate="print"/>
          <a:stretch>
            <a:fillRect/>
          </a:stretch>
        </p:blipFill>
        <p:spPr>
          <a:xfrm>
            <a:off x="4714876" y="2143122"/>
            <a:ext cx="3143272" cy="2748663"/>
          </a:xfrm>
          <a:prstGeom prst="rect">
            <a:avLst/>
          </a:prstGeom>
          <a:noFill/>
          <a:ln w="9525">
            <a:noFill/>
          </a:ln>
        </p:spPr>
      </p:pic>
      <p:sp>
        <p:nvSpPr>
          <p:cNvPr id="16" name="Rectangle 4"/>
          <p:cNvSpPr>
            <a:spLocks noChangeArrowheads="1"/>
          </p:cNvSpPr>
          <p:nvPr/>
        </p:nvSpPr>
        <p:spPr bwMode="auto">
          <a:xfrm>
            <a:off x="500034" y="571486"/>
            <a:ext cx="3311524" cy="579439"/>
          </a:xfrm>
          <a:prstGeom prst="rect">
            <a:avLst/>
          </a:prstGeom>
          <a:gradFill rotWithShape="1">
            <a:gsLst>
              <a:gs pos="0">
                <a:srgbClr val="FF6600">
                  <a:gamma/>
                  <a:shade val="46275"/>
                  <a:invGamma/>
                </a:srgbClr>
              </a:gs>
              <a:gs pos="50000">
                <a:srgbClr val="FF6600">
                  <a:alpha val="49001"/>
                </a:srgbClr>
              </a:gs>
              <a:gs pos="100000">
                <a:srgbClr val="FF6600">
                  <a:gamma/>
                  <a:shade val="46275"/>
                  <a:invGamma/>
                </a:srgbClr>
              </a:gs>
            </a:gsLst>
            <a:lin ang="5400000" scaled="1"/>
          </a:gradFill>
          <a:ln>
            <a:noFill/>
          </a:ln>
          <a:effectLst/>
        </p:spPr>
        <p:txBody>
          <a:bodyPr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一、位错的类型</a:t>
            </a:r>
            <a:endParaRPr kumimoji="0" lang="zh-CN" altLang="en-US" sz="3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18" name="AutoShape 5"/>
          <p:cNvSpPr>
            <a:spLocks noChangeArrowheads="1"/>
          </p:cNvSpPr>
          <p:nvPr/>
        </p:nvSpPr>
        <p:spPr bwMode="auto">
          <a:xfrm>
            <a:off x="500034" y="1357304"/>
            <a:ext cx="3240086" cy="576261"/>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1</a:t>
            </a:r>
            <a:r>
              <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、刃位错</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20" name="文本框 1"/>
          <p:cNvSpPr txBox="1"/>
          <p:nvPr/>
        </p:nvSpPr>
        <p:spPr>
          <a:xfrm>
            <a:off x="4500562" y="500048"/>
            <a:ext cx="4216400" cy="1640840"/>
          </a:xfrm>
          <a:prstGeom prst="rect">
            <a:avLst/>
          </a:prstGeom>
          <a:noFill/>
        </p:spPr>
        <p:txBody>
          <a:bodyPr wrap="square" rtlCol="0" anchor="t">
            <a:no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r>
              <a:rPr lang="zh-CN" altLang="en-US" sz="2500" b="1" noProof="0" dirty="0">
                <a:ln>
                  <a:noFill/>
                </a:ln>
                <a:effectLst/>
                <a:uLnTx/>
                <a:uFillTx/>
                <a:latin typeface="楷体_GB2312" pitchFamily="49" charset="-122"/>
                <a:ea typeface="楷体_GB2312" pitchFamily="49" charset="-122"/>
                <a:sym typeface="+mn-ea"/>
              </a:rPr>
              <a:t>位错：</a:t>
            </a:r>
            <a:r>
              <a:rPr lang="zh-CN" altLang="en-US" sz="2500" b="1" noProof="0" dirty="0">
                <a:ln>
                  <a:noFill/>
                </a:ln>
                <a:solidFill>
                  <a:srgbClr val="0070C0"/>
                </a:solidFill>
                <a:effectLst/>
                <a:uLnTx/>
                <a:uFillTx/>
                <a:latin typeface="楷体_GB2312" pitchFamily="49" charset="-122"/>
                <a:ea typeface="楷体_GB2312" pitchFamily="49" charset="-122"/>
                <a:sym typeface="+mn-ea"/>
              </a:rPr>
              <a:t>由于应力作用使</a:t>
            </a:r>
            <a:r>
              <a:rPr lang="zh-CN" altLang="en-US" sz="2500" b="1" noProof="0" dirty="0">
                <a:ln>
                  <a:noFill/>
                </a:ln>
                <a:effectLst/>
                <a:uLnTx/>
                <a:uFillTx/>
                <a:latin typeface="楷体_GB2312" pitchFamily="49" charset="-122"/>
                <a:ea typeface="楷体_GB2312" pitchFamily="49" charset="-122"/>
                <a:sym typeface="+mn-ea"/>
              </a:rPr>
              <a:t>晶体内部质点排列变形，原子行列间相互滑移所形成的线状缺陷。</a:t>
            </a:r>
            <a:endParaRPr lang="zh-CN" altLang="en-US" sz="2500" b="1" noProof="0" dirty="0">
              <a:ln>
                <a:noFill/>
              </a:ln>
              <a:effectLst/>
              <a:uLnTx/>
              <a:uFillTx/>
              <a:latin typeface="楷体_GB2312" pitchFamily="49" charset="-122"/>
              <a:ea typeface="楷体_GB2312" pitchFamily="49"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Rectangle 2"/>
          <p:cNvSpPr>
            <a:spLocks noGrp="1"/>
          </p:cNvSpPr>
          <p:nvPr/>
        </p:nvSpPr>
        <p:spPr>
          <a:xfrm>
            <a:off x="571472" y="642925"/>
            <a:ext cx="8358246" cy="1714512"/>
          </a:xfrm>
          <a:prstGeom prst="rect">
            <a:avLst/>
          </a:prstGeom>
          <a:noFill/>
          <a:ln w="9525">
            <a:noFill/>
          </a:ln>
        </p:spPr>
        <p:txBody>
          <a:bodyPr vert="horz" wrap="square" lIns="91440" tIns="45720" rIns="91440" bIns="45720" anchor="t" anchorCtr="0"/>
          <a:lstStyle>
            <a:lvl1pPr lvl="0">
              <a:buClr>
                <a:schemeClr val="accent1"/>
              </a:buClr>
              <a:buSzPct val="65000"/>
              <a:buFont typeface="Wingdings" panose="05000000000000000000" pitchFamily="2" charset="2"/>
              <a:defRPr sz="2600"/>
            </a:lvl1pPr>
            <a:lvl2pPr lvl="1">
              <a:buClr>
                <a:schemeClr val="accent2"/>
              </a:buClr>
              <a:buSzPct val="60000"/>
              <a:buFont typeface="Wingdings" panose="05000000000000000000" pitchFamily="2" charset="2"/>
              <a:defRPr sz="2200"/>
            </a:lvl2pPr>
            <a:lvl3pPr lvl="2">
              <a:buClr>
                <a:schemeClr val="accent1"/>
              </a:buClr>
              <a:buSzPct val="65000"/>
              <a:buFont typeface="Wingdings" panose="05000000000000000000" pitchFamily="2" charset="2"/>
              <a:defRPr sz="2000"/>
            </a:lvl3pPr>
            <a:lvl4pPr lvl="3">
              <a:buClr>
                <a:schemeClr val="accent2"/>
              </a:buClr>
              <a:buSzPct val="70000"/>
              <a:buFont typeface="Wingdings" panose="05000000000000000000" pitchFamily="2" charset="2"/>
              <a:defRPr sz="1800"/>
            </a:lvl4pPr>
            <a:lvl5pPr lvl="4">
              <a:buClr>
                <a:schemeClr val="accent1"/>
              </a:buClr>
              <a:buSzPct val="75000"/>
              <a:buFont typeface="Wingdings" panose="05000000000000000000" pitchFamily="2" charset="2"/>
              <a:defRPr sz="1800"/>
            </a:lvl5pPr>
          </a:lstStyle>
          <a:p>
            <a:pPr marL="609600" lvl="0" indent="-609600" eaLnBrk="1" hangingPunct="1">
              <a:lnSpc>
                <a:spcPct val="120000"/>
              </a:lnSpc>
              <a:spcBef>
                <a:spcPct val="50000"/>
              </a:spcBef>
              <a:buNone/>
            </a:pPr>
            <a:r>
              <a:rPr lang="zh-CN" altLang="en-US" b="1" dirty="0">
                <a:latin typeface="楷体_GB2312" pitchFamily="49" charset="-122"/>
                <a:ea typeface="楷体_GB2312" pitchFamily="49" charset="-122"/>
              </a:rPr>
              <a:t>特征：滑移方向与位错线垂直</a:t>
            </a:r>
            <a:endParaRPr lang="zh-CN" altLang="en-US" b="1" dirty="0">
              <a:latin typeface="楷体_GB2312" pitchFamily="49" charset="-122"/>
              <a:ea typeface="楷体_GB2312" pitchFamily="49" charset="-122"/>
            </a:endParaRPr>
          </a:p>
          <a:p>
            <a:pPr marL="609600" lvl="0" indent="-609600" eaLnBrk="1" hangingPunct="1">
              <a:lnSpc>
                <a:spcPct val="120000"/>
              </a:lnSpc>
              <a:spcBef>
                <a:spcPct val="50000"/>
              </a:spcBef>
              <a:buNone/>
            </a:pPr>
            <a:r>
              <a:rPr lang="zh-CN" altLang="en-US" b="1" dirty="0">
                <a:latin typeface="楷体_GB2312" pitchFamily="49" charset="-122"/>
                <a:ea typeface="楷体_GB2312" pitchFamily="49" charset="-122"/>
              </a:rPr>
              <a:t>符号：半原子面在滑移面上面称为</a:t>
            </a:r>
            <a:r>
              <a:rPr lang="zh-CN" altLang="en-US" b="1" dirty="0">
                <a:solidFill>
                  <a:schemeClr val="accent2"/>
                </a:solidFill>
                <a:latin typeface="楷体_GB2312" pitchFamily="49" charset="-122"/>
                <a:ea typeface="楷体_GB2312" pitchFamily="49" charset="-122"/>
              </a:rPr>
              <a:t>正刃型位错</a:t>
            </a:r>
            <a:r>
              <a:rPr lang="zh-CN" altLang="en-US" b="1" dirty="0">
                <a:latin typeface="楷体_GB2312" pitchFamily="49" charset="-122"/>
                <a:ea typeface="楷体_GB2312" pitchFamily="49" charset="-122"/>
              </a:rPr>
              <a:t>，记为┴；反之为</a:t>
            </a:r>
            <a:r>
              <a:rPr lang="zh-CN" altLang="en-US" b="1" dirty="0">
                <a:solidFill>
                  <a:schemeClr val="accent2"/>
                </a:solidFill>
                <a:latin typeface="楷体_GB2312" pitchFamily="49" charset="-122"/>
                <a:ea typeface="楷体_GB2312" pitchFamily="49" charset="-122"/>
              </a:rPr>
              <a:t>负刃型位错。</a:t>
            </a:r>
            <a:r>
              <a:rPr lang="zh-CN" altLang="en-US" b="1" dirty="0">
                <a:latin typeface="楷体_GB2312" pitchFamily="49" charset="-122"/>
                <a:ea typeface="楷体_GB2312" pitchFamily="49" charset="-122"/>
              </a:rPr>
              <a:t>规定正位错</a:t>
            </a:r>
            <a:r>
              <a:rPr lang="zh-CN" altLang="en-US" b="1" dirty="0">
                <a:solidFill>
                  <a:srgbClr val="CC33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；负位错</a:t>
            </a:r>
            <a:r>
              <a:rPr lang="zh-CN" altLang="en-US" b="1" dirty="0">
                <a:solidFill>
                  <a:srgbClr val="CC3300"/>
                </a:solidFill>
                <a:latin typeface="楷体_GB2312" pitchFamily="49" charset="-122"/>
                <a:ea typeface="楷体_GB2312" pitchFamily="49" charset="-122"/>
              </a:rPr>
              <a:t>┳</a:t>
            </a:r>
            <a:endParaRPr lang="zh-CN" altLang="en-US" b="1" dirty="0">
              <a:solidFill>
                <a:srgbClr val="CC3300"/>
              </a:solidFill>
              <a:latin typeface="楷体_GB2312" pitchFamily="49" charset="-122"/>
              <a:ea typeface="楷体_GB2312" pitchFamily="49" charset="-122"/>
            </a:endParaRPr>
          </a:p>
        </p:txBody>
      </p:sp>
      <p:pic>
        <p:nvPicPr>
          <p:cNvPr id="83969" name="Picture 1"/>
          <p:cNvPicPr>
            <a:picLocks noChangeAspect="1" noChangeArrowheads="1"/>
          </p:cNvPicPr>
          <p:nvPr/>
        </p:nvPicPr>
        <p:blipFill>
          <a:blip r:embed="rId3" cstate="print"/>
          <a:srcRect/>
          <a:stretch>
            <a:fillRect/>
          </a:stretch>
        </p:blipFill>
        <p:spPr bwMode="auto">
          <a:xfrm>
            <a:off x="1928794" y="2357436"/>
            <a:ext cx="5286412" cy="2590425"/>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8" name="Picture 2" descr="3_6_2"/>
          <p:cNvPicPr>
            <a:picLocks noChangeAspect="1"/>
          </p:cNvPicPr>
          <p:nvPr/>
        </p:nvPicPr>
        <p:blipFill>
          <a:blip r:embed="rId3" cstate="print"/>
          <a:stretch>
            <a:fillRect/>
          </a:stretch>
        </p:blipFill>
        <p:spPr>
          <a:xfrm>
            <a:off x="5286380" y="2786064"/>
            <a:ext cx="2428892" cy="2257810"/>
          </a:xfrm>
          <a:prstGeom prst="rect">
            <a:avLst/>
          </a:prstGeom>
          <a:noFill/>
          <a:ln w="9525">
            <a:noFill/>
          </a:ln>
        </p:spPr>
      </p:pic>
      <p:sp>
        <p:nvSpPr>
          <p:cNvPr id="9" name="AutoShape 3"/>
          <p:cNvSpPr>
            <a:spLocks noChangeArrowheads="1"/>
          </p:cNvSpPr>
          <p:nvPr/>
        </p:nvSpPr>
        <p:spPr bwMode="auto">
          <a:xfrm>
            <a:off x="714348" y="571486"/>
            <a:ext cx="3240087" cy="576262"/>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a:t>
            </a:r>
            <a:r>
              <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、螺位错</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pic>
        <p:nvPicPr>
          <p:cNvPr id="10" name="Object 4"/>
          <p:cNvPicPr>
            <a:picLocks noChangeAspect="1"/>
          </p:cNvPicPr>
          <p:nvPr/>
        </p:nvPicPr>
        <p:blipFill>
          <a:blip r:embed="rId4" cstate="print"/>
          <a:stretch>
            <a:fillRect/>
          </a:stretch>
        </p:blipFill>
        <p:spPr>
          <a:xfrm>
            <a:off x="719931" y="1283494"/>
            <a:ext cx="3581400" cy="3213100"/>
          </a:xfrm>
          <a:prstGeom prst="rect">
            <a:avLst/>
          </a:prstGeom>
          <a:noFill/>
          <a:ln w="38100">
            <a:noFill/>
            <a:miter/>
          </a:ln>
        </p:spPr>
      </p:pic>
      <p:pic>
        <p:nvPicPr>
          <p:cNvPr id="11" name="Picture 5" descr="3_6_1"/>
          <p:cNvPicPr>
            <a:picLocks noChangeAspect="1"/>
          </p:cNvPicPr>
          <p:nvPr/>
        </p:nvPicPr>
        <p:blipFill>
          <a:blip r:embed="rId5" cstate="print"/>
          <a:stretch>
            <a:fillRect/>
          </a:stretch>
        </p:blipFill>
        <p:spPr>
          <a:xfrm>
            <a:off x="5286380" y="556672"/>
            <a:ext cx="2428892" cy="2177059"/>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103426" name="Picture 2"/>
          <p:cNvPicPr>
            <a:picLocks noChangeAspect="1" noChangeArrowheads="1"/>
          </p:cNvPicPr>
          <p:nvPr/>
        </p:nvPicPr>
        <p:blipFill>
          <a:blip r:embed="rId3" cstate="print"/>
          <a:srcRect/>
          <a:stretch>
            <a:fillRect/>
          </a:stretch>
        </p:blipFill>
        <p:spPr bwMode="auto">
          <a:xfrm>
            <a:off x="642910" y="571486"/>
            <a:ext cx="6865937" cy="1409700"/>
          </a:xfrm>
          <a:prstGeom prst="rect">
            <a:avLst/>
          </a:prstGeom>
          <a:noFill/>
          <a:ln w="9525">
            <a:noFill/>
            <a:miter lim="800000"/>
            <a:headEnd/>
            <a:tailEnd/>
          </a:ln>
          <a:effectLst/>
        </p:spPr>
      </p:pic>
      <p:pic>
        <p:nvPicPr>
          <p:cNvPr id="103427" name="Picture 3"/>
          <p:cNvPicPr>
            <a:picLocks noChangeAspect="1" noChangeArrowheads="1"/>
          </p:cNvPicPr>
          <p:nvPr/>
        </p:nvPicPr>
        <p:blipFill>
          <a:blip r:embed="rId4" cstate="print"/>
          <a:srcRect/>
          <a:stretch>
            <a:fillRect/>
          </a:stretch>
        </p:blipFill>
        <p:spPr bwMode="auto">
          <a:xfrm>
            <a:off x="1000100" y="2000246"/>
            <a:ext cx="6286544" cy="2774552"/>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AutoShape 2"/>
          <p:cNvSpPr>
            <a:spLocks noChangeArrowheads="1"/>
          </p:cNvSpPr>
          <p:nvPr/>
        </p:nvSpPr>
        <p:spPr bwMode="auto">
          <a:xfrm>
            <a:off x="642910" y="571486"/>
            <a:ext cx="2987675" cy="576263"/>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3</a:t>
            </a:r>
            <a:r>
              <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、混合位错</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pic>
        <p:nvPicPr>
          <p:cNvPr id="104450" name="Picture 2"/>
          <p:cNvPicPr>
            <a:picLocks noChangeAspect="1" noChangeArrowheads="1"/>
          </p:cNvPicPr>
          <p:nvPr/>
        </p:nvPicPr>
        <p:blipFill>
          <a:blip r:embed="rId3" cstate="print"/>
          <a:srcRect/>
          <a:stretch>
            <a:fillRect/>
          </a:stretch>
        </p:blipFill>
        <p:spPr bwMode="auto">
          <a:xfrm>
            <a:off x="1643042" y="1246982"/>
            <a:ext cx="5424497" cy="3896518"/>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4"/>
          <p:cNvSpPr>
            <a:spLocks noChangeArrowheads="1"/>
          </p:cNvSpPr>
          <p:nvPr/>
        </p:nvSpPr>
        <p:spPr bwMode="auto">
          <a:xfrm>
            <a:off x="571472" y="571486"/>
            <a:ext cx="7632700" cy="646331"/>
          </a:xfrm>
          <a:prstGeom prst="rect">
            <a:avLst/>
          </a:prstGeom>
          <a:gradFill rotWithShape="1">
            <a:gsLst>
              <a:gs pos="0">
                <a:srgbClr val="33CC33">
                  <a:gamma/>
                  <a:shade val="46275"/>
                  <a:invGamma/>
                </a:srgbClr>
              </a:gs>
              <a:gs pos="50000">
                <a:srgbClr val="33CC33">
                  <a:alpha val="49001"/>
                </a:srgbClr>
              </a:gs>
              <a:gs pos="100000">
                <a:srgbClr val="33CC33">
                  <a:gamma/>
                  <a:shade val="46275"/>
                  <a:invGamma/>
                </a:srgbClr>
              </a:gs>
            </a:gsLst>
            <a:lin ang="5400000" scaled="1"/>
          </a:gradFill>
          <a:ln>
            <a:noFill/>
          </a:ln>
          <a:effectLst/>
        </p:spPr>
        <p:txBody>
          <a:bodyPr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en-US" sz="3600" b="1" i="0" u="none" strike="noStrike" kern="1200" cap="none" spc="0" normalizeH="0" baseline="0" noProof="0" dirty="0" err="1" smtClean="0">
                <a:ln>
                  <a:noFill/>
                </a:ln>
                <a:solidFill>
                  <a:schemeClr val="tx1"/>
                </a:solidFill>
                <a:effectLst/>
                <a:uLnTx/>
                <a:uFillTx/>
                <a:latin typeface="楷体_GB2312" pitchFamily="49" charset="-122"/>
                <a:ea typeface="楷体_GB2312" pitchFamily="49" charset="-122"/>
                <a:cs typeface="+mn-cs"/>
              </a:rPr>
              <a:t>面缺陷</a:t>
            </a:r>
            <a:r>
              <a:rPr kumimoji="0" lang="en-US" altLang="en-US"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 </a:t>
            </a:r>
            <a:r>
              <a:rPr kumimoji="0" lang="zh-CN" altLang="en-US"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r>
              <a:rPr kumimoji="0" lang="en-US" altLang="zh-CN"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planar defect</a:t>
            </a:r>
            <a:r>
              <a:rPr kumimoji="0" lang="zh-CN" altLang="en-US"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en-US" altLang="zh-CN" sz="36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9" name="Rectangle 2"/>
          <p:cNvSpPr>
            <a:spLocks noGrp="1"/>
          </p:cNvSpPr>
          <p:nvPr/>
        </p:nvSpPr>
        <p:spPr>
          <a:xfrm>
            <a:off x="1" y="1214428"/>
            <a:ext cx="9144000" cy="4278318"/>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pPr>
            <a:r>
              <a:rPr lang="zh-CN" altLang="en-US" sz="1800" b="1" dirty="0" smtClean="0">
                <a:ea typeface="楷体_GB2312" pitchFamily="49" charset="-122"/>
              </a:rPr>
              <a:t> </a:t>
            </a:r>
            <a:r>
              <a:rPr lang="zh-CN" altLang="en-US" sz="1800" b="1" dirty="0" smtClean="0">
                <a:solidFill>
                  <a:srgbClr val="FF0000"/>
                </a:solidFill>
                <a:latin typeface="宋体" panose="02010600030101010101" pitchFamily="2" charset="-122"/>
                <a:ea typeface="楷体_GB2312" pitchFamily="49" charset="-122"/>
              </a:rPr>
              <a:t>面缺陷</a:t>
            </a:r>
            <a:r>
              <a:rPr lang="en-US" altLang="zh-CN" sz="1800" b="1" dirty="0" smtClean="0">
                <a:ea typeface="楷体_GB2312" pitchFamily="49" charset="-122"/>
              </a:rPr>
              <a:t>: </a:t>
            </a:r>
            <a:r>
              <a:rPr lang="zh-CN" altLang="en-US" sz="1800" b="1" dirty="0" smtClean="0">
                <a:ea typeface="楷体_GB2312" pitchFamily="49" charset="-122"/>
              </a:rPr>
              <a:t>是将材料分成若干区域的边界，如表面、界面、晶界。</a:t>
            </a:r>
            <a:endParaRPr lang="zh-CN" altLang="en-US" sz="1800" b="1" dirty="0" smtClean="0">
              <a:ea typeface="楷体_GB2312" pitchFamily="49" charset="-122"/>
            </a:endParaRPr>
          </a:p>
          <a:p>
            <a:pPr eaLnBrk="1" hangingPunct="1">
              <a:lnSpc>
                <a:spcPct val="120000"/>
              </a:lnSpc>
            </a:pPr>
            <a:r>
              <a:rPr lang="zh-CN" altLang="en-US" sz="1800" b="1" dirty="0" smtClean="0">
                <a:ea typeface="楷体_GB2312" pitchFamily="49" charset="-122"/>
              </a:rPr>
              <a:t>实际</a:t>
            </a:r>
            <a:r>
              <a:rPr lang="zh-CN" altLang="en-US" sz="1800" b="1" dirty="0">
                <a:ea typeface="楷体_GB2312" pitchFamily="49" charset="-122"/>
              </a:rPr>
              <a:t>存在的物质都是具有有限体积的，物质的边界上总是存在着分界面。</a:t>
            </a:r>
            <a:endParaRPr lang="zh-CN" altLang="en-US" sz="1800" b="1" dirty="0">
              <a:ea typeface="楷体_GB2312" pitchFamily="49" charset="-122"/>
            </a:endParaRPr>
          </a:p>
          <a:p>
            <a:pPr eaLnBrk="1" hangingPunct="1">
              <a:lnSpc>
                <a:spcPct val="120000"/>
              </a:lnSpc>
            </a:pPr>
            <a:r>
              <a:rPr lang="zh-CN" altLang="en-US" sz="1800" b="1" dirty="0">
                <a:ea typeface="楷体_GB2312" pitchFamily="49" charset="-122"/>
              </a:rPr>
              <a:t>根据分界面两侧物质聚集状态（气、液、固）的不同，存在着</a:t>
            </a:r>
            <a:r>
              <a:rPr lang="zh-CN" altLang="en-US" sz="1800" b="1" dirty="0">
                <a:solidFill>
                  <a:srgbClr val="0000FF"/>
                </a:solidFill>
                <a:ea typeface="楷体_GB2312" pitchFamily="49" charset="-122"/>
              </a:rPr>
              <a:t>固</a:t>
            </a:r>
            <a:r>
              <a:rPr lang="en-US" altLang="zh-CN" sz="1800" b="1" dirty="0">
                <a:solidFill>
                  <a:srgbClr val="0000FF"/>
                </a:solidFill>
                <a:ea typeface="楷体_GB2312" pitchFamily="49" charset="-122"/>
              </a:rPr>
              <a:t>—</a:t>
            </a:r>
            <a:r>
              <a:rPr lang="zh-CN" altLang="en-US" sz="1800" b="1" dirty="0">
                <a:solidFill>
                  <a:srgbClr val="0000FF"/>
                </a:solidFill>
                <a:ea typeface="楷体_GB2312" pitchFamily="49" charset="-122"/>
              </a:rPr>
              <a:t>固</a:t>
            </a:r>
            <a:r>
              <a:rPr lang="zh-CN" altLang="en-US" sz="1800" b="1" dirty="0">
                <a:ea typeface="楷体_GB2312" pitchFamily="49" charset="-122"/>
              </a:rPr>
              <a:t>、</a:t>
            </a:r>
            <a:r>
              <a:rPr lang="zh-CN" altLang="en-US" sz="1800" b="1" dirty="0">
                <a:solidFill>
                  <a:srgbClr val="0000FF"/>
                </a:solidFill>
                <a:ea typeface="楷体_GB2312" pitchFamily="49" charset="-122"/>
              </a:rPr>
              <a:t>固</a:t>
            </a:r>
            <a:r>
              <a:rPr lang="en-US" altLang="zh-CN" sz="1800" b="1" dirty="0">
                <a:solidFill>
                  <a:srgbClr val="0000FF"/>
                </a:solidFill>
                <a:ea typeface="楷体_GB2312" pitchFamily="49" charset="-122"/>
              </a:rPr>
              <a:t>—</a:t>
            </a:r>
            <a:r>
              <a:rPr lang="zh-CN" altLang="en-US" sz="1800" b="1" dirty="0">
                <a:solidFill>
                  <a:srgbClr val="0000FF"/>
                </a:solidFill>
                <a:ea typeface="楷体_GB2312" pitchFamily="49" charset="-122"/>
              </a:rPr>
              <a:t>液</a:t>
            </a:r>
            <a:r>
              <a:rPr lang="zh-CN" altLang="en-US" sz="1800" b="1" dirty="0">
                <a:ea typeface="楷体_GB2312" pitchFamily="49" charset="-122"/>
              </a:rPr>
              <a:t>、</a:t>
            </a:r>
            <a:r>
              <a:rPr lang="zh-CN" altLang="en-US" sz="1800" b="1" dirty="0">
                <a:solidFill>
                  <a:schemeClr val="tx2"/>
                </a:solidFill>
                <a:ea typeface="楷体_GB2312" pitchFamily="49" charset="-122"/>
              </a:rPr>
              <a:t>固</a:t>
            </a:r>
            <a:r>
              <a:rPr lang="en-US" altLang="zh-CN" sz="1800" b="1" dirty="0">
                <a:solidFill>
                  <a:schemeClr val="tx2"/>
                </a:solidFill>
                <a:ea typeface="楷体_GB2312" pitchFamily="49" charset="-122"/>
              </a:rPr>
              <a:t>—</a:t>
            </a:r>
            <a:r>
              <a:rPr lang="zh-CN" altLang="en-US" sz="1800" b="1" dirty="0">
                <a:solidFill>
                  <a:schemeClr val="tx2"/>
                </a:solidFill>
                <a:ea typeface="楷体_GB2312" pitchFamily="49" charset="-122"/>
              </a:rPr>
              <a:t>气</a:t>
            </a:r>
            <a:r>
              <a:rPr lang="zh-CN" altLang="en-US" sz="1800" b="1" dirty="0">
                <a:ea typeface="楷体_GB2312" pitchFamily="49" charset="-122"/>
              </a:rPr>
              <a:t>、</a:t>
            </a:r>
            <a:r>
              <a:rPr lang="zh-CN" altLang="en-US" sz="1800" b="1" dirty="0">
                <a:solidFill>
                  <a:srgbClr val="0000FF"/>
                </a:solidFill>
                <a:ea typeface="楷体_GB2312" pitchFamily="49" charset="-122"/>
              </a:rPr>
              <a:t>液</a:t>
            </a:r>
            <a:r>
              <a:rPr lang="en-US" altLang="zh-CN" sz="1800" b="1" dirty="0">
                <a:solidFill>
                  <a:srgbClr val="0000FF"/>
                </a:solidFill>
                <a:ea typeface="楷体_GB2312" pitchFamily="49" charset="-122"/>
              </a:rPr>
              <a:t>—</a:t>
            </a:r>
            <a:r>
              <a:rPr lang="zh-CN" altLang="en-US" sz="1800" b="1" dirty="0">
                <a:solidFill>
                  <a:srgbClr val="0000FF"/>
                </a:solidFill>
                <a:ea typeface="楷体_GB2312" pitchFamily="49" charset="-122"/>
              </a:rPr>
              <a:t>液</a:t>
            </a:r>
            <a:r>
              <a:rPr lang="zh-CN" altLang="en-US" sz="1800" b="1" dirty="0">
                <a:ea typeface="楷体_GB2312" pitchFamily="49" charset="-122"/>
              </a:rPr>
              <a:t>、</a:t>
            </a:r>
            <a:r>
              <a:rPr lang="zh-CN" altLang="en-US" sz="1800" b="1" dirty="0">
                <a:solidFill>
                  <a:schemeClr val="tx2"/>
                </a:solidFill>
                <a:ea typeface="楷体_GB2312" pitchFamily="49" charset="-122"/>
              </a:rPr>
              <a:t>液</a:t>
            </a:r>
            <a:r>
              <a:rPr lang="en-US" altLang="zh-CN" sz="1800" b="1" dirty="0">
                <a:solidFill>
                  <a:schemeClr val="tx2"/>
                </a:solidFill>
                <a:ea typeface="楷体_GB2312" pitchFamily="49" charset="-122"/>
              </a:rPr>
              <a:t>—</a:t>
            </a:r>
            <a:r>
              <a:rPr lang="zh-CN" altLang="en-US" sz="1800" b="1" dirty="0">
                <a:solidFill>
                  <a:schemeClr val="tx2"/>
                </a:solidFill>
                <a:ea typeface="楷体_GB2312" pitchFamily="49" charset="-122"/>
              </a:rPr>
              <a:t>气</a:t>
            </a:r>
            <a:r>
              <a:rPr lang="zh-CN" altLang="en-US" sz="1800" b="1" dirty="0">
                <a:ea typeface="楷体_GB2312" pitchFamily="49" charset="-122"/>
              </a:rPr>
              <a:t>等五种情况。</a:t>
            </a:r>
            <a:endParaRPr lang="zh-CN" altLang="en-US" sz="1800" b="1" dirty="0">
              <a:ea typeface="楷体_GB2312" pitchFamily="49" charset="-122"/>
            </a:endParaRPr>
          </a:p>
          <a:p>
            <a:pPr eaLnBrk="1" hangingPunct="1">
              <a:lnSpc>
                <a:spcPct val="120000"/>
              </a:lnSpc>
            </a:pPr>
            <a:r>
              <a:rPr lang="zh-CN" altLang="en-US" sz="1800" b="1" dirty="0">
                <a:solidFill>
                  <a:srgbClr val="FF0000"/>
                </a:solidFill>
                <a:latin typeface="宋体" panose="02010600030101010101" pitchFamily="2" charset="-122"/>
                <a:ea typeface="楷体_GB2312" pitchFamily="49" charset="-122"/>
              </a:rPr>
              <a:t>固体的表面</a:t>
            </a:r>
            <a:r>
              <a:rPr lang="zh-CN" altLang="en-US" sz="1800" b="1" dirty="0">
                <a:latin typeface="宋体" panose="02010600030101010101" pitchFamily="2" charset="-122"/>
                <a:ea typeface="楷体_GB2312" pitchFamily="49" charset="-122"/>
              </a:rPr>
              <a:t>：</a:t>
            </a:r>
            <a:r>
              <a:rPr lang="zh-CN" altLang="en-US" sz="1800" b="1" dirty="0">
                <a:ea typeface="楷体_GB2312" pitchFamily="49" charset="-122"/>
              </a:rPr>
              <a:t>固体</a:t>
            </a:r>
            <a:r>
              <a:rPr lang="en-US" altLang="zh-CN" sz="1800" b="1" dirty="0">
                <a:ea typeface="楷体_GB2312" pitchFamily="49" charset="-122"/>
              </a:rPr>
              <a:t>—</a:t>
            </a:r>
            <a:r>
              <a:rPr lang="zh-CN" altLang="en-US" sz="1800" b="1" dirty="0">
                <a:ea typeface="楷体_GB2312" pitchFamily="49" charset="-122"/>
              </a:rPr>
              <a:t>气体之间的分界面</a:t>
            </a:r>
            <a:endParaRPr lang="zh-CN" altLang="en-US" sz="1800" b="1" dirty="0">
              <a:ea typeface="楷体_GB2312" pitchFamily="49" charset="-122"/>
            </a:endParaRPr>
          </a:p>
          <a:p>
            <a:pPr eaLnBrk="1" hangingPunct="1">
              <a:lnSpc>
                <a:spcPct val="120000"/>
              </a:lnSpc>
            </a:pPr>
            <a:r>
              <a:rPr lang="zh-CN" altLang="en-US" sz="1800" b="1" dirty="0">
                <a:solidFill>
                  <a:srgbClr val="FF0000"/>
                </a:solidFill>
                <a:ea typeface="楷体_GB2312" pitchFamily="49" charset="-122"/>
              </a:rPr>
              <a:t>固体的界面</a:t>
            </a:r>
            <a:r>
              <a:rPr lang="en-US" altLang="zh-CN" sz="1800" b="1" dirty="0">
                <a:solidFill>
                  <a:srgbClr val="FF0000"/>
                </a:solidFill>
                <a:ea typeface="楷体_GB2312" pitchFamily="49" charset="-122"/>
              </a:rPr>
              <a:t>:</a:t>
            </a:r>
            <a:endParaRPr lang="en-US" altLang="zh-CN" sz="1800" b="1" dirty="0">
              <a:ea typeface="楷体_GB2312" pitchFamily="49" charset="-122"/>
            </a:endParaRPr>
          </a:p>
          <a:p>
            <a:pPr lvl="1" algn="just" eaLnBrk="1" hangingPunct="1">
              <a:lnSpc>
                <a:spcPct val="120000"/>
              </a:lnSpc>
            </a:pPr>
            <a:r>
              <a:rPr lang="zh-CN" altLang="en-US" sz="1800" b="1" dirty="0">
                <a:ea typeface="楷体_GB2312" pitchFamily="49" charset="-122"/>
              </a:rPr>
              <a:t>固体</a:t>
            </a:r>
            <a:r>
              <a:rPr lang="en-US" altLang="zh-CN" sz="1800" b="1" dirty="0">
                <a:ea typeface="楷体_GB2312" pitchFamily="49" charset="-122"/>
              </a:rPr>
              <a:t>—</a:t>
            </a:r>
            <a:r>
              <a:rPr lang="zh-CN" altLang="en-US" sz="1800" b="1" dirty="0">
                <a:ea typeface="楷体_GB2312" pitchFamily="49" charset="-122"/>
              </a:rPr>
              <a:t>固</a:t>
            </a:r>
            <a:r>
              <a:rPr lang="zh-CN" altLang="en-US" sz="1800" b="1" dirty="0">
                <a:latin typeface="宋体" panose="02010600030101010101" pitchFamily="2" charset="-122"/>
                <a:ea typeface="楷体_GB2312" pitchFamily="49" charset="-122"/>
              </a:rPr>
              <a:t>体之间的分界面。（</a:t>
            </a:r>
            <a:r>
              <a:rPr lang="zh-CN" altLang="en-US" sz="1800" b="1" dirty="0">
                <a:latin typeface="仿宋_GB2312" pitchFamily="49" charset="-122"/>
                <a:ea typeface="楷体_GB2312" pitchFamily="49" charset="-122"/>
              </a:rPr>
              <a:t>界面行为：粘附</a:t>
            </a:r>
            <a:r>
              <a:rPr lang="zh-CN" altLang="en-US" sz="1800" b="1" dirty="0">
                <a:latin typeface="宋体" panose="02010600030101010101" pitchFamily="2" charset="-122"/>
                <a:ea typeface="楷体_GB2312" pitchFamily="49" charset="-122"/>
              </a:rPr>
              <a:t>）</a:t>
            </a:r>
            <a:endParaRPr lang="zh-CN" altLang="en-US" sz="1800" b="1" dirty="0">
              <a:latin typeface="宋体" panose="02010600030101010101" pitchFamily="2" charset="-122"/>
              <a:ea typeface="楷体_GB2312" pitchFamily="49" charset="-122"/>
            </a:endParaRPr>
          </a:p>
          <a:p>
            <a:pPr lvl="1" algn="just" eaLnBrk="1" hangingPunct="1">
              <a:lnSpc>
                <a:spcPct val="120000"/>
              </a:lnSpc>
            </a:pPr>
            <a:r>
              <a:rPr lang="zh-CN" altLang="en-US" sz="1800" b="1" dirty="0">
                <a:ea typeface="楷体_GB2312" pitchFamily="49" charset="-122"/>
              </a:rPr>
              <a:t>固体</a:t>
            </a:r>
            <a:r>
              <a:rPr lang="en-US" altLang="zh-CN" sz="1800" b="1" dirty="0">
                <a:ea typeface="楷体_GB2312" pitchFamily="49" charset="-122"/>
              </a:rPr>
              <a:t>—</a:t>
            </a:r>
            <a:r>
              <a:rPr lang="zh-CN" altLang="en-US" sz="1800" b="1" dirty="0">
                <a:ea typeface="楷体_GB2312" pitchFamily="49" charset="-122"/>
              </a:rPr>
              <a:t>液</a:t>
            </a:r>
            <a:r>
              <a:rPr lang="zh-CN" altLang="en-US" sz="1800" b="1" dirty="0">
                <a:latin typeface="宋体" panose="02010600030101010101" pitchFamily="2" charset="-122"/>
                <a:ea typeface="楷体_GB2312" pitchFamily="49" charset="-122"/>
              </a:rPr>
              <a:t>体之间的分界面。（</a:t>
            </a:r>
            <a:r>
              <a:rPr lang="zh-CN" altLang="en-US" sz="1800" b="1" dirty="0">
                <a:latin typeface="仿宋_GB2312" pitchFamily="49" charset="-122"/>
                <a:ea typeface="楷体_GB2312" pitchFamily="49" charset="-122"/>
              </a:rPr>
              <a:t>界面行为：润湿与粘附</a:t>
            </a:r>
            <a:r>
              <a:rPr lang="zh-CN" altLang="en-US" sz="1800" b="1" dirty="0">
                <a:latin typeface="宋体" panose="02010600030101010101" pitchFamily="2" charset="-122"/>
                <a:ea typeface="楷体_GB2312" pitchFamily="49" charset="-122"/>
              </a:rPr>
              <a:t>）</a:t>
            </a:r>
            <a:endParaRPr lang="zh-CN" altLang="en-US" sz="1800" b="1" dirty="0">
              <a:ea typeface="楷体_GB2312" pitchFamily="49" charset="-122"/>
            </a:endParaRPr>
          </a:p>
          <a:p>
            <a:pPr eaLnBrk="1" hangingPunct="1">
              <a:lnSpc>
                <a:spcPct val="120000"/>
              </a:lnSpc>
            </a:pPr>
            <a:r>
              <a:rPr lang="zh-CN" altLang="en-US" sz="1800" b="1" dirty="0" smtClean="0">
                <a:solidFill>
                  <a:srgbClr val="FF0000"/>
                </a:solidFill>
                <a:ea typeface="楷体_GB2312" pitchFamily="49" charset="-122"/>
              </a:rPr>
              <a:t>晶界</a:t>
            </a:r>
            <a:r>
              <a:rPr lang="zh-CN" altLang="en-US" sz="1800" b="1" dirty="0">
                <a:ea typeface="楷体_GB2312" pitchFamily="49" charset="-122"/>
              </a:rPr>
              <a:t>：多晶体中晶粒之间的接触界面。</a:t>
            </a:r>
            <a:br>
              <a:rPr lang="zh-CN" altLang="en-US" sz="1800" b="1" dirty="0">
                <a:ea typeface="楷体_GB2312" pitchFamily="49" charset="-122"/>
              </a:rPr>
            </a:br>
            <a:r>
              <a:rPr lang="zh-CN" altLang="en-US" sz="1800" b="1" dirty="0">
                <a:ea typeface="楷体_GB2312" pitchFamily="49" charset="-122"/>
              </a:rPr>
              <a:t>          （包括同相晶粒之间的接触界面、异相晶粒之间的接触界面 </a:t>
            </a:r>
            <a:r>
              <a:rPr lang="zh-CN" altLang="en-US" sz="1800" b="1" dirty="0" smtClean="0">
                <a:ea typeface="楷体_GB2312" pitchFamily="49" charset="-122"/>
              </a:rPr>
              <a:t>）</a:t>
            </a:r>
            <a:endParaRPr lang="zh-CN" altLang="en-US" sz="1800" b="1" dirty="0">
              <a:ea typeface="楷体_GB2312"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8" name="Picture 2" descr="200882748447"/>
          <p:cNvPicPr>
            <a:picLocks noChangeAspect="1"/>
          </p:cNvPicPr>
          <p:nvPr/>
        </p:nvPicPr>
        <p:blipFill>
          <a:blip r:embed="rId3" cstate="print"/>
          <a:stretch>
            <a:fillRect/>
          </a:stretch>
        </p:blipFill>
        <p:spPr>
          <a:xfrm>
            <a:off x="5786446" y="642924"/>
            <a:ext cx="1514435" cy="4286280"/>
          </a:xfrm>
          <a:prstGeom prst="rect">
            <a:avLst/>
          </a:prstGeom>
          <a:noFill/>
          <a:ln w="9525">
            <a:noFill/>
          </a:ln>
        </p:spPr>
      </p:pic>
      <p:pic>
        <p:nvPicPr>
          <p:cNvPr id="9" name="Picture 3" descr="2008827345462"/>
          <p:cNvPicPr>
            <a:picLocks noChangeAspect="1"/>
          </p:cNvPicPr>
          <p:nvPr/>
        </p:nvPicPr>
        <p:blipFill>
          <a:blip r:embed="rId4" cstate="print"/>
          <a:stretch>
            <a:fillRect/>
          </a:stretch>
        </p:blipFill>
        <p:spPr>
          <a:xfrm>
            <a:off x="1071538" y="642924"/>
            <a:ext cx="1571636" cy="4293777"/>
          </a:xfrm>
          <a:prstGeom prst="rect">
            <a:avLst/>
          </a:prstGeom>
          <a:noFill/>
          <a:ln w="9525">
            <a:noFill/>
          </a:ln>
        </p:spPr>
      </p:pic>
      <p:sp>
        <p:nvSpPr>
          <p:cNvPr id="10" name="Rectangle 4"/>
          <p:cNvSpPr/>
          <p:nvPr/>
        </p:nvSpPr>
        <p:spPr>
          <a:xfrm>
            <a:off x="2786050" y="1912753"/>
            <a:ext cx="2928958" cy="1802005"/>
          </a:xfrm>
          <a:prstGeom prst="rect">
            <a:avLst/>
          </a:prstGeom>
          <a:noFill/>
          <a:ln w="38100">
            <a:noFill/>
          </a:ln>
        </p:spPr>
        <p:txBody>
          <a:bodyPr wrap="square" lIns="90000" tIns="46800" rIns="90000" bIns="46800" anchor="ctr" anchorCtr="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2800" b="1" dirty="0">
                <a:solidFill>
                  <a:schemeClr val="hlink"/>
                </a:solidFill>
                <a:latin typeface="Times New Roman" panose="02020603050405020304" pitchFamily="18" charset="0"/>
                <a:ea typeface="楷体_GB2312" pitchFamily="49" charset="-122"/>
              </a:rPr>
              <a:t>左图为初始氧化铝粉末，右图为氧化铝陶瓷多晶结构</a:t>
            </a:r>
            <a:r>
              <a:rPr lang="zh-CN" altLang="en-US" sz="2800" b="1" dirty="0">
                <a:solidFill>
                  <a:srgbClr val="CC00FF"/>
                </a:solidFill>
                <a:latin typeface="Times New Roman" panose="02020603050405020304" pitchFamily="18" charset="0"/>
                <a:ea typeface="楷体_GB2312" pitchFamily="49" charset="-122"/>
              </a:rPr>
              <a:t> </a:t>
            </a:r>
            <a:endParaRPr lang="zh-CN" altLang="en-US" sz="2800" b="1" dirty="0">
              <a:solidFill>
                <a:srgbClr val="CC00FF"/>
              </a:solidFill>
              <a:latin typeface="Times New Roman" panose="02020603050405020304" pitchFamily="18" charset="0"/>
              <a:ea typeface="楷体_GB2312"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Text Box 2"/>
          <p:cNvSpPr txBox="1"/>
          <p:nvPr/>
        </p:nvSpPr>
        <p:spPr>
          <a:xfrm>
            <a:off x="357158" y="3571882"/>
            <a:ext cx="7982768" cy="1052596"/>
          </a:xfrm>
          <a:prstGeom prst="rect">
            <a:avLst/>
          </a:prstGeom>
          <a:noFill/>
          <a:ln w="9525">
            <a:noFill/>
          </a:ln>
        </p:spPr>
        <p:txBody>
          <a:bodyPr wrap="square">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ctr" eaLnBrk="1" hangingPunct="1">
              <a:lnSpc>
                <a:spcPct val="115000"/>
              </a:lnSpc>
              <a:spcBef>
                <a:spcPct val="30000"/>
              </a:spcBef>
            </a:pPr>
            <a:r>
              <a:rPr lang="zh-CN" altLang="en-US" sz="2400" b="1" dirty="0">
                <a:latin typeface="Times New Roman" panose="02020603050405020304" pitchFamily="18" charset="0"/>
              </a:rPr>
              <a:t>多晶体中晶粒尺寸与晶界所占多晶体中体积百分数关系</a:t>
            </a:r>
            <a:endParaRPr lang="zh-CN" altLang="en-US" sz="2400" b="1" dirty="0">
              <a:latin typeface="Times New Roman" panose="02020603050405020304" pitchFamily="18" charset="0"/>
            </a:endParaRPr>
          </a:p>
          <a:p>
            <a:pPr eaLnBrk="1" hangingPunct="1">
              <a:lnSpc>
                <a:spcPct val="115000"/>
              </a:lnSpc>
              <a:spcBef>
                <a:spcPct val="30000"/>
              </a:spcBef>
            </a:pPr>
            <a:r>
              <a:rPr lang="zh-CN" altLang="en-US" sz="2400" b="1" i="1" u="sng" dirty="0" smtClean="0">
                <a:solidFill>
                  <a:srgbClr val="A50021"/>
                </a:solidFill>
                <a:latin typeface="Times New Roman" panose="02020603050405020304" pitchFamily="18" charset="0"/>
              </a:rPr>
              <a:t>当</a:t>
            </a:r>
            <a:r>
              <a:rPr lang="zh-CN" altLang="en-US" sz="2400" b="1" i="1" u="sng" dirty="0">
                <a:solidFill>
                  <a:srgbClr val="A50021"/>
                </a:solidFill>
                <a:latin typeface="Times New Roman" panose="02020603050405020304" pitchFamily="18" charset="0"/>
              </a:rPr>
              <a:t>晶粒平均尺寸为</a:t>
            </a:r>
            <a:r>
              <a:rPr lang="en-US" altLang="zh-CN" sz="2400" b="1" i="1" u="sng" dirty="0">
                <a:solidFill>
                  <a:srgbClr val="A50021"/>
                </a:solidFill>
                <a:latin typeface="Times New Roman" panose="02020603050405020304" pitchFamily="18" charset="0"/>
              </a:rPr>
              <a:t>1μm</a:t>
            </a:r>
            <a:r>
              <a:rPr lang="zh-CN" altLang="en-US" sz="2400" b="1" i="1" u="sng" dirty="0">
                <a:solidFill>
                  <a:srgbClr val="A50021"/>
                </a:solidFill>
                <a:latin typeface="Times New Roman" panose="02020603050405020304" pitchFamily="18" charset="0"/>
              </a:rPr>
              <a:t>时，晶界占多晶体总体积的</a:t>
            </a:r>
            <a:r>
              <a:rPr lang="en-US" altLang="zh-CN" sz="2400" b="1" i="1" u="sng" dirty="0">
                <a:solidFill>
                  <a:srgbClr val="A50021"/>
                </a:solidFill>
                <a:latin typeface="Times New Roman" panose="02020603050405020304" pitchFamily="18" charset="0"/>
              </a:rPr>
              <a:t>1/2</a:t>
            </a:r>
            <a:r>
              <a:rPr lang="zh-CN" altLang="en-US" sz="2400" b="1" i="1" u="sng" dirty="0">
                <a:solidFill>
                  <a:srgbClr val="A50021"/>
                </a:solidFill>
                <a:latin typeface="Times New Roman" panose="02020603050405020304" pitchFamily="18" charset="0"/>
              </a:rPr>
              <a:t>！</a:t>
            </a:r>
            <a:endParaRPr lang="zh-CN" altLang="en-US" sz="2400" b="1" i="1" u="sng" dirty="0">
              <a:solidFill>
                <a:srgbClr val="A50021"/>
              </a:solidFill>
              <a:latin typeface="Times New Roman" panose="02020603050405020304" pitchFamily="18" charset="0"/>
            </a:endParaRPr>
          </a:p>
        </p:txBody>
      </p:sp>
      <p:pic>
        <p:nvPicPr>
          <p:cNvPr id="9" name="Picture 3"/>
          <p:cNvPicPr>
            <a:picLocks noChangeAspect="1"/>
          </p:cNvPicPr>
          <p:nvPr/>
        </p:nvPicPr>
        <p:blipFill>
          <a:blip r:embed="rId3" cstate="print"/>
          <a:srcRect r="58258"/>
          <a:stretch>
            <a:fillRect/>
          </a:stretch>
        </p:blipFill>
        <p:spPr>
          <a:xfrm>
            <a:off x="2643174" y="571486"/>
            <a:ext cx="3285338" cy="3145331"/>
          </a:xfrm>
          <a:prstGeom prst="rect">
            <a:avLst/>
          </a:prstGeom>
          <a:no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0" name="AutoShape 3"/>
          <p:cNvSpPr>
            <a:spLocks noChangeArrowheads="1"/>
          </p:cNvSpPr>
          <p:nvPr/>
        </p:nvSpPr>
        <p:spPr bwMode="auto">
          <a:xfrm>
            <a:off x="571472" y="571486"/>
            <a:ext cx="3960813" cy="647701"/>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1、</a:t>
            </a:r>
            <a:r>
              <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固</a:t>
            </a: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体的表面力场</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1" name="Rectangle 4"/>
          <p:cNvSpPr/>
          <p:nvPr/>
        </p:nvSpPr>
        <p:spPr>
          <a:xfrm>
            <a:off x="142844" y="1285866"/>
            <a:ext cx="5572164" cy="3643338"/>
          </a:xfrm>
          <a:prstGeom prst="rect">
            <a:avLst/>
          </a:prstGeom>
          <a:noFill/>
          <a:ln w="9525">
            <a:noFill/>
          </a:ln>
        </p:spPr>
        <p:txBody>
          <a:bodyPr/>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stStyle>
          <a:p>
            <a:pPr marL="342900" lvl="0" indent="-342900" eaLnBrk="1" hangingPunct="1">
              <a:lnSpc>
                <a:spcPct val="130000"/>
              </a:lnSpc>
              <a:buNone/>
            </a:pPr>
            <a:r>
              <a:rPr lang="en-US" altLang="zh-CN" sz="2800" dirty="0">
                <a:latin typeface="楷体_GB2312" pitchFamily="49" charset="-122"/>
                <a:ea typeface="楷体_GB2312" pitchFamily="49" charset="-122"/>
              </a:rPr>
              <a:t>  </a:t>
            </a:r>
            <a:r>
              <a:rPr lang="zh-CN" altLang="en-US" sz="2800" dirty="0" smtClean="0">
                <a:latin typeface="楷体_GB2312" pitchFamily="49" charset="-122"/>
                <a:ea typeface="楷体_GB2312" pitchFamily="49" charset="-122"/>
              </a:rPr>
              <a:t>晶体</a:t>
            </a:r>
            <a:r>
              <a:rPr lang="zh-CN" altLang="en-US" sz="2800" dirty="0">
                <a:latin typeface="楷体_GB2312" pitchFamily="49" charset="-122"/>
                <a:ea typeface="楷体_GB2312" pitchFamily="49" charset="-122"/>
              </a:rPr>
              <a:t>中每个质点周围都存在着一个力场，在晶体内部，质点力场是对称的。但在固体表面，质点排列的周期重复性中断，使处于表面边界上的质点力场对称性破坏，表现出剩余的键力。</a:t>
            </a:r>
            <a:endParaRPr lang="zh-CN" altLang="en-US" sz="2800" dirty="0">
              <a:latin typeface="楷体_GB2312" pitchFamily="49" charset="-122"/>
              <a:ea typeface="楷体_GB2312" pitchFamily="49" charset="-122"/>
            </a:endParaRPr>
          </a:p>
        </p:txBody>
      </p:sp>
      <p:pic>
        <p:nvPicPr>
          <p:cNvPr id="13" name="Picture 6" descr="15"/>
          <p:cNvPicPr>
            <a:picLocks noChangeAspect="1"/>
          </p:cNvPicPr>
          <p:nvPr/>
        </p:nvPicPr>
        <p:blipFill>
          <a:blip r:embed="rId3" cstate="print"/>
          <a:stretch>
            <a:fillRect/>
          </a:stretch>
        </p:blipFill>
        <p:spPr>
          <a:xfrm>
            <a:off x="5929322" y="1643056"/>
            <a:ext cx="2590800" cy="2532062"/>
          </a:xfrm>
          <a:prstGeom prst="rect">
            <a:avLst/>
          </a:prstGeom>
          <a:noFill/>
          <a:ln w="9525">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AutoShape 2"/>
          <p:cNvSpPr>
            <a:spLocks noChangeArrowheads="1"/>
          </p:cNvSpPr>
          <p:nvPr/>
        </p:nvSpPr>
        <p:spPr bwMode="auto">
          <a:xfrm>
            <a:off x="357158" y="571486"/>
            <a:ext cx="4105275" cy="647701"/>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lang="en-US" altLang="en-US" sz="2800" b="1" dirty="0">
                <a:latin typeface="楷体_GB2312" pitchFamily="49" charset="-122"/>
                <a:ea typeface="楷体_GB2312" pitchFamily="49" charset="-122"/>
              </a:rPr>
              <a:t>2</a:t>
            </a:r>
            <a:r>
              <a:rPr kumimoji="0" lang="en-US" altLang="en-US" sz="28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r>
              <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固体的表面能</a:t>
            </a:r>
            <a:endPar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9" name="Rectangle 3"/>
          <p:cNvSpPr/>
          <p:nvPr/>
        </p:nvSpPr>
        <p:spPr>
          <a:xfrm>
            <a:off x="285720" y="3286130"/>
            <a:ext cx="8208962" cy="603250"/>
          </a:xfrm>
          <a:prstGeom prst="rect">
            <a:avLst/>
          </a:prstGeom>
          <a:noFill/>
          <a:ln w="38100">
            <a:noFill/>
          </a:ln>
        </p:spPr>
        <p:txBody>
          <a:bodyPr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140000"/>
              </a:lnSpc>
              <a:spcBef>
                <a:spcPct val="50000"/>
              </a:spcBef>
              <a:buFont typeface="Wingdings" panose="05000000000000000000" pitchFamily="2" charset="2"/>
            </a:pPr>
            <a:r>
              <a:rPr lang="zh-CN" altLang="en-US" sz="2400" b="1" dirty="0">
                <a:solidFill>
                  <a:srgbClr val="CC3300"/>
                </a:solidFill>
                <a:latin typeface="Times New Roman" panose="02020603050405020304" pitchFamily="18" charset="0"/>
                <a:ea typeface="楷体_GB2312" pitchFamily="49" charset="-122"/>
              </a:rPr>
              <a:t>表面偏聚</a:t>
            </a:r>
            <a:r>
              <a:rPr lang="zh-CN" altLang="en-US" sz="2400" b="1" dirty="0">
                <a:solidFill>
                  <a:srgbClr val="CC00FF"/>
                </a:solidFill>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溶质原子或杂质原子在表面上的富集。</a:t>
            </a:r>
            <a:endParaRPr lang="zh-CN" altLang="en-US" sz="2400" b="1" dirty="0">
              <a:latin typeface="Times New Roman" panose="02020603050405020304" pitchFamily="18" charset="0"/>
              <a:ea typeface="楷体_GB2312" pitchFamily="49" charset="-122"/>
            </a:endParaRPr>
          </a:p>
        </p:txBody>
      </p:sp>
      <p:sp>
        <p:nvSpPr>
          <p:cNvPr id="11" name="Rectangle 6"/>
          <p:cNvSpPr/>
          <p:nvPr/>
        </p:nvSpPr>
        <p:spPr>
          <a:xfrm>
            <a:off x="214282" y="1285867"/>
            <a:ext cx="8715436" cy="1497975"/>
          </a:xfrm>
          <a:prstGeom prst="rect">
            <a:avLst/>
          </a:prstGeom>
          <a:noFill/>
          <a:ln w="38100">
            <a:noFill/>
          </a:ln>
        </p:spPr>
        <p:txBody>
          <a:bodyPr wrap="squar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110000"/>
              </a:lnSpc>
              <a:spcBef>
                <a:spcPct val="50000"/>
              </a:spcBef>
              <a:buFont typeface="Wingdings" panose="05000000000000000000" pitchFamily="2" charset="2"/>
            </a:pPr>
            <a:r>
              <a:rPr lang="zh-CN" altLang="en-US" sz="2400" b="1" dirty="0">
                <a:solidFill>
                  <a:srgbClr val="FF0000"/>
                </a:solidFill>
                <a:latin typeface="Times New Roman" panose="02020603050405020304" pitchFamily="18" charset="0"/>
                <a:ea typeface="楷体_GB2312" pitchFamily="49" charset="-122"/>
              </a:rPr>
              <a:t>表面张力</a:t>
            </a:r>
            <a:r>
              <a:rPr lang="zh-CN" altLang="en-US" sz="2400" b="1" dirty="0">
                <a:latin typeface="Times New Roman" panose="02020603050405020304" pitchFamily="18" charset="0"/>
                <a:ea typeface="楷体_GB2312" pitchFamily="49" charset="-122"/>
              </a:rPr>
              <a:t>：作用于表面单位长度上与表面相切的力，单位是</a:t>
            </a:r>
            <a:r>
              <a:rPr lang="en-US" altLang="zh-CN" sz="2400" b="1" dirty="0">
                <a:latin typeface="Times New Roman" panose="02020603050405020304" pitchFamily="18" charset="0"/>
                <a:ea typeface="楷体_GB2312" pitchFamily="49" charset="-122"/>
              </a:rPr>
              <a:t>N/m</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a:p>
            <a:pPr eaLnBrk="1" hangingPunct="1">
              <a:lnSpc>
                <a:spcPct val="110000"/>
              </a:lnSpc>
              <a:spcBef>
                <a:spcPct val="50000"/>
              </a:spcBef>
              <a:buFont typeface="Wingdings" panose="05000000000000000000" pitchFamily="2" charset="2"/>
            </a:pPr>
            <a:r>
              <a:rPr lang="zh-CN" altLang="en-US" sz="2400" b="1" dirty="0">
                <a:solidFill>
                  <a:srgbClr val="FF0000"/>
                </a:solidFill>
                <a:latin typeface="Times New Roman" panose="02020603050405020304" pitchFamily="18" charset="0"/>
                <a:ea typeface="楷体_GB2312" pitchFamily="49" charset="-122"/>
              </a:rPr>
              <a:t>表面能</a:t>
            </a:r>
            <a:r>
              <a:rPr lang="zh-CN" altLang="en-US" sz="2400" b="1" dirty="0">
                <a:latin typeface="Times New Roman" panose="02020603050405020304" pitchFamily="18" charset="0"/>
                <a:ea typeface="楷体_GB2312" pitchFamily="49" charset="-122"/>
              </a:rPr>
              <a:t>：将表面增大一个单位面积所需要作的功称为比表面能，简称表面能，单位为 </a:t>
            </a:r>
            <a:r>
              <a:rPr lang="en-US" altLang="zh-CN" sz="2400" b="1" dirty="0">
                <a:solidFill>
                  <a:srgbClr val="000000"/>
                </a:solidFill>
                <a:latin typeface="Times New Roman" panose="02020603050405020304" pitchFamily="18" charset="0"/>
                <a:ea typeface="楷体_GB2312" pitchFamily="49" charset="-122"/>
              </a:rPr>
              <a:t>J/m</a:t>
            </a:r>
            <a:r>
              <a:rPr lang="en-US" altLang="zh-CN" sz="2400" b="1" baseline="30000" dirty="0">
                <a:solidFill>
                  <a:srgbClr val="000000"/>
                </a:solidFill>
                <a:latin typeface="Times New Roman" panose="02020603050405020304" pitchFamily="18" charset="0"/>
                <a:ea typeface="楷体_GB2312" pitchFamily="49" charset="-122"/>
              </a:rPr>
              <a:t>2</a:t>
            </a:r>
            <a:r>
              <a:rPr lang="en-US" altLang="zh-CN" sz="2400" b="1" dirty="0">
                <a:latin typeface="Times New Roman" panose="02020603050405020304" pitchFamily="18" charset="0"/>
                <a:ea typeface="楷体_GB2312" pitchFamily="49" charset="-122"/>
              </a:rPr>
              <a:t> </a:t>
            </a:r>
            <a:r>
              <a:rPr lang="zh-CN" altLang="en-US" sz="2400" b="1" dirty="0">
                <a:latin typeface="Times New Roman" panose="02020603050405020304" pitchFamily="18" charset="0"/>
                <a:ea typeface="楷体_GB2312" pitchFamily="49" charset="-122"/>
              </a:rPr>
              <a:t>，简化后为</a:t>
            </a:r>
            <a:r>
              <a:rPr lang="en-US" altLang="zh-CN" sz="2400" b="1" dirty="0">
                <a:latin typeface="Times New Roman" panose="02020603050405020304" pitchFamily="18" charset="0"/>
                <a:ea typeface="楷体_GB2312" pitchFamily="49" charset="-122"/>
              </a:rPr>
              <a:t>N/m</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3"/>
          <p:cNvSpPr>
            <a:spLocks noChangeArrowheads="1"/>
          </p:cNvSpPr>
          <p:nvPr/>
        </p:nvSpPr>
        <p:spPr bwMode="auto">
          <a:xfrm>
            <a:off x="642910" y="571486"/>
            <a:ext cx="2376488" cy="579438"/>
          </a:xfrm>
          <a:prstGeom prst="rect">
            <a:avLst/>
          </a:prstGeom>
          <a:gradFill rotWithShape="1">
            <a:gsLst>
              <a:gs pos="0">
                <a:srgbClr val="FF6600">
                  <a:gamma/>
                  <a:shade val="46275"/>
                  <a:invGamma/>
                </a:srgbClr>
              </a:gs>
              <a:gs pos="50000">
                <a:srgbClr val="FF6600">
                  <a:alpha val="49001"/>
                </a:srgbClr>
              </a:gs>
              <a:gs pos="100000">
                <a:srgbClr val="FF6600">
                  <a:gamma/>
                  <a:shade val="46275"/>
                  <a:invGamma/>
                </a:srgbClr>
              </a:gs>
            </a:gsLst>
            <a:lin ang="5400000" scaled="1"/>
          </a:gradFill>
          <a:ln>
            <a:noFill/>
          </a:ln>
          <a:effectLst/>
        </p:spPr>
        <p:txBody>
          <a:bodyPr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二、晶界</a:t>
            </a:r>
            <a:endParaRPr kumimoji="0" lang="zh-CN" altLang="en-US" sz="3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9" name="AutoShape 6"/>
          <p:cNvSpPr>
            <a:spLocks noChangeArrowheads="1"/>
          </p:cNvSpPr>
          <p:nvPr/>
        </p:nvSpPr>
        <p:spPr bwMode="auto">
          <a:xfrm>
            <a:off x="571472" y="1214428"/>
            <a:ext cx="4176713" cy="576262"/>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1</a:t>
            </a: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晶</a:t>
            </a: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界分类</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8" name="Text Box 2"/>
          <p:cNvSpPr txBox="1"/>
          <p:nvPr/>
        </p:nvSpPr>
        <p:spPr>
          <a:xfrm>
            <a:off x="714348" y="2000246"/>
            <a:ext cx="7704137" cy="1074737"/>
          </a:xfrm>
          <a:prstGeom prst="rect">
            <a:avLst/>
          </a:prstGeom>
          <a:noFill/>
          <a:ln w="9525">
            <a:noFill/>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90000"/>
              </a:lnSpc>
              <a:spcBef>
                <a:spcPct val="50000"/>
              </a:spcBef>
              <a:buNone/>
            </a:pPr>
            <a:r>
              <a:rPr lang="zh-CN" altLang="en-US" sz="2800" b="1" dirty="0">
                <a:latin typeface="楷体_GB2312" pitchFamily="49" charset="-122"/>
                <a:ea typeface="楷体_GB2312" pitchFamily="49" charset="-122"/>
              </a:rPr>
              <a:t>按两个晶粒之间位向差</a:t>
            </a:r>
            <a:r>
              <a:rPr lang="zh-CN" altLang="en-US" sz="2400" b="1" dirty="0">
                <a:latin typeface="楷体_GB2312" pitchFamily="49" charset="-122"/>
                <a:ea typeface="楷体_GB2312" pitchFamily="49" charset="-122"/>
              </a:rPr>
              <a:t>（</a:t>
            </a:r>
            <a:r>
              <a:rPr lang="el-GR" altLang="zh-CN" sz="2400" b="1" dirty="0">
                <a:latin typeface="Times New Roman" panose="02020603050405020304" pitchFamily="18" charset="0"/>
                <a:ea typeface="华文楷体" panose="02010600040101010101" pitchFamily="2" charset="-122"/>
              </a:rPr>
              <a:t>θ</a:t>
            </a:r>
            <a:r>
              <a:rPr lang="zh-CN" altLang="en-US" sz="24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的大小来分： </a:t>
            </a:r>
            <a:endParaRPr lang="zh-CN" altLang="en-US" sz="2800" b="1" dirty="0">
              <a:latin typeface="楷体_GB2312" pitchFamily="49" charset="-122"/>
              <a:ea typeface="楷体_GB2312" pitchFamily="49" charset="-122"/>
            </a:endParaRPr>
          </a:p>
          <a:p>
            <a:pPr eaLnBrk="1" hangingPunct="1">
              <a:lnSpc>
                <a:spcPct val="90000"/>
              </a:lnSpc>
              <a:spcBef>
                <a:spcPct val="50000"/>
              </a:spcBef>
              <a:buNone/>
            </a:pPr>
            <a:r>
              <a:rPr lang="zh-CN" altLang="en-US" sz="2800" b="1" dirty="0">
                <a:latin typeface="楷体_GB2312" pitchFamily="49" charset="-122"/>
                <a:ea typeface="楷体_GB2312" pitchFamily="49" charset="-122"/>
              </a:rPr>
              <a:t>  </a:t>
            </a:r>
            <a:endParaRPr lang="zh-CN" altLang="en-US" sz="2800" b="1" dirty="0">
              <a:latin typeface="楷体_GB2312" pitchFamily="49" charset="-122"/>
              <a:ea typeface="楷体_GB2312" pitchFamily="49" charset="-122"/>
            </a:endParaRPr>
          </a:p>
        </p:txBody>
      </p:sp>
      <p:sp>
        <p:nvSpPr>
          <p:cNvPr id="20" name="AutoShape 3"/>
          <p:cNvSpPr/>
          <p:nvPr/>
        </p:nvSpPr>
        <p:spPr>
          <a:xfrm>
            <a:off x="4818035" y="2790821"/>
            <a:ext cx="73025" cy="647700"/>
          </a:xfrm>
          <a:prstGeom prst="leftBrace">
            <a:avLst>
              <a:gd name="adj1" fmla="val 73913"/>
              <a:gd name="adj2" fmla="val 50000"/>
            </a:avLst>
          </a:prstGeom>
          <a:noFill/>
          <a:ln w="9525" cap="flat" cmpd="sng">
            <a:solidFill>
              <a:schemeClr val="tx1"/>
            </a:solidFill>
            <a:prstDash val="solid"/>
            <a:headEnd type="none" w="med" len="med"/>
            <a:tailEnd type="none" w="med" len="med"/>
          </a:ln>
        </p:spPr>
        <p:txBody>
          <a:bodyPr wrap="none" anchor="ctr" anchorCtr="0"/>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dirty="0">
              <a:latin typeface="Arial" panose="020B0604020202020204" pitchFamily="34" charset="0"/>
            </a:endParaRPr>
          </a:p>
        </p:txBody>
      </p:sp>
      <p:sp>
        <p:nvSpPr>
          <p:cNvPr id="21" name="Text Box 4"/>
          <p:cNvSpPr txBox="1">
            <a:spLocks noChangeArrowheads="1"/>
          </p:cNvSpPr>
          <p:nvPr/>
        </p:nvSpPr>
        <p:spPr bwMode="auto">
          <a:xfrm>
            <a:off x="4891060" y="2647946"/>
            <a:ext cx="2376488" cy="1004888"/>
          </a:xfrm>
          <a:prstGeom prst="rect">
            <a:avLst/>
          </a:prstGeom>
          <a:noFill/>
          <a:ln>
            <a:noFill/>
          </a:ln>
          <a:effectLst/>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R="0" defTabSz="914400" eaLnBrk="1" hangingPunct="1">
              <a:spcBef>
                <a:spcPct val="50000"/>
              </a:spcBef>
              <a:buClrTx/>
              <a:buSzTx/>
              <a:buFontTx/>
              <a:buNone/>
              <a:defRPr/>
            </a:pPr>
            <a:r>
              <a:rPr kumimoji="0" lang="zh-CN" altLang="en-US" sz="2400" kern="1200" cap="none" spc="0" normalizeH="0" baseline="0" noProof="0">
                <a:effectLst>
                  <a:outerShdw blurRad="38100" dist="38100" dir="2700000" algn="tl">
                    <a:srgbClr val="C0C0C0"/>
                  </a:outerShdw>
                </a:effectLst>
                <a:latin typeface="Garamond" panose="02020404030301010803" pitchFamily="18" charset="0"/>
                <a:ea typeface="宋体" panose="02010600030101010101" pitchFamily="2" charset="-122"/>
                <a:cs typeface="+mn-cs"/>
              </a:rPr>
              <a:t>倾斜晶界</a:t>
            </a:r>
            <a:endParaRPr kumimoji="0" lang="zh-CN" altLang="en-US" sz="2400" kern="1200" cap="none" spc="0" normalizeH="0" baseline="0" noProof="0">
              <a:effectLst>
                <a:outerShdw blurRad="38100" dist="38100" dir="2700000" algn="tl">
                  <a:srgbClr val="C0C0C0"/>
                </a:outerShdw>
              </a:effectLst>
              <a:latin typeface="Garamond" panose="02020404030301010803" pitchFamily="18" charset="0"/>
              <a:ea typeface="宋体" panose="02010600030101010101" pitchFamily="2" charset="-122"/>
              <a:cs typeface="+mn-cs"/>
            </a:endParaRPr>
          </a:p>
          <a:p>
            <a:pPr marR="0" defTabSz="914400" eaLnBrk="1" hangingPunct="1">
              <a:spcBef>
                <a:spcPct val="50000"/>
              </a:spcBef>
              <a:buClrTx/>
              <a:buSzTx/>
              <a:buFontTx/>
              <a:buNone/>
              <a:defRPr/>
            </a:pPr>
            <a:r>
              <a:rPr kumimoji="0" lang="zh-CN" altLang="en-US" sz="2400" kern="1200" cap="none" spc="0" normalizeH="0" baseline="0" noProof="0">
                <a:effectLst>
                  <a:outerShdw blurRad="38100" dist="38100" dir="2700000" algn="tl">
                    <a:srgbClr val="C0C0C0"/>
                  </a:outerShdw>
                </a:effectLst>
                <a:latin typeface="Garamond" panose="02020404030301010803" pitchFamily="18" charset="0"/>
                <a:ea typeface="宋体" panose="02010600030101010101" pitchFamily="2" charset="-122"/>
                <a:cs typeface="+mn-cs"/>
              </a:rPr>
              <a:t>扭转晶界</a:t>
            </a:r>
            <a:endParaRPr kumimoji="0" lang="zh-CN" altLang="en-US" sz="2400" kern="1200" cap="none" spc="0" normalizeH="0" baseline="0" noProof="0">
              <a:effectLst>
                <a:outerShdw blurRad="38100" dist="38100" dir="2700000" algn="tl">
                  <a:srgbClr val="C0C0C0"/>
                </a:outerShdw>
              </a:effectLst>
              <a:latin typeface="Garamond" panose="02020404030301010803" pitchFamily="18" charset="0"/>
              <a:ea typeface="宋体" panose="02010600030101010101" pitchFamily="2" charset="-122"/>
              <a:cs typeface="+mn-cs"/>
            </a:endParaRPr>
          </a:p>
        </p:txBody>
      </p:sp>
      <p:sp>
        <p:nvSpPr>
          <p:cNvPr id="22" name="Rectangle 7"/>
          <p:cNvSpPr>
            <a:spLocks noChangeArrowheads="1"/>
          </p:cNvSpPr>
          <p:nvPr/>
        </p:nvSpPr>
        <p:spPr bwMode="auto">
          <a:xfrm>
            <a:off x="6294410" y="2432046"/>
            <a:ext cx="2447925" cy="822325"/>
          </a:xfrm>
          <a:prstGeom prst="rect">
            <a:avLst/>
          </a:prstGeom>
          <a:noFill/>
          <a:ln>
            <a:noFill/>
          </a:ln>
          <a:effectLst/>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Garamond" panose="02020404030301010803" pitchFamily="18" charset="0"/>
                <a:ea typeface="宋体" panose="02010600030101010101" pitchFamily="2" charset="-122"/>
                <a:cs typeface="+mn-cs"/>
              </a:rPr>
              <a:t>对称</a:t>
            </a: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Garamond" panose="02020404030301010803"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Garamond" panose="02020404030301010803" pitchFamily="18" charset="0"/>
                <a:ea typeface="宋体" panose="02010600030101010101" pitchFamily="2" charset="-122"/>
                <a:cs typeface="+mn-cs"/>
              </a:rPr>
              <a:t>不对称</a:t>
            </a:r>
            <a:endParaRPr kumimoji="0" lang="zh-CN" altLang="en-US" sz="2400" b="0" i="0" u="none" strike="noStrike" kern="1200" cap="none" spc="0" normalizeH="0" baseline="0" noProof="0">
              <a:ln>
                <a:noFill/>
              </a:ln>
              <a:solidFill>
                <a:schemeClr val="tx1"/>
              </a:solidFill>
              <a:effectLst>
                <a:outerShdw blurRad="38100" dist="38100" dir="2700000" algn="tl">
                  <a:srgbClr val="C0C0C0"/>
                </a:outerShdw>
              </a:effectLst>
              <a:uLnTx/>
              <a:uFillTx/>
              <a:latin typeface="Garamond" panose="02020404030301010803" pitchFamily="18" charset="0"/>
              <a:ea typeface="宋体" panose="02010600030101010101" pitchFamily="2" charset="-122"/>
              <a:cs typeface="+mn-cs"/>
            </a:endParaRPr>
          </a:p>
        </p:txBody>
      </p:sp>
      <p:sp>
        <p:nvSpPr>
          <p:cNvPr id="23" name="AutoShape 8"/>
          <p:cNvSpPr/>
          <p:nvPr/>
        </p:nvSpPr>
        <p:spPr>
          <a:xfrm>
            <a:off x="6257898" y="2647946"/>
            <a:ext cx="71437" cy="431800"/>
          </a:xfrm>
          <a:prstGeom prst="leftBrace">
            <a:avLst>
              <a:gd name="adj1" fmla="val 50370"/>
              <a:gd name="adj2" fmla="val 50000"/>
            </a:avLst>
          </a:prstGeom>
          <a:noFill/>
          <a:ln w="9525" cap="flat" cmpd="sng">
            <a:solidFill>
              <a:schemeClr val="tx1"/>
            </a:solidFill>
            <a:prstDash val="solid"/>
            <a:headEnd type="none" w="med" len="med"/>
            <a:tailEnd type="none" w="med" len="med"/>
          </a:ln>
        </p:spPr>
        <p:txBody>
          <a:bodyPr wrap="none" anchor="ctr" anchorCtr="0"/>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endParaRPr lang="zh-CN" altLang="en-US" dirty="0">
              <a:latin typeface="Arial" panose="020B0604020202020204" pitchFamily="34" charset="0"/>
            </a:endParaRPr>
          </a:p>
        </p:txBody>
      </p:sp>
      <p:sp>
        <p:nvSpPr>
          <p:cNvPr id="24" name="Rectangle 9"/>
          <p:cNvSpPr/>
          <p:nvPr/>
        </p:nvSpPr>
        <p:spPr>
          <a:xfrm>
            <a:off x="282548" y="2025646"/>
            <a:ext cx="485775" cy="420687"/>
          </a:xfrm>
          <a:prstGeom prst="rect">
            <a:avLst/>
          </a:prstGeom>
          <a:noFill/>
          <a:ln w="38100">
            <a:noFill/>
          </a:ln>
        </p:spPr>
        <p:txBody>
          <a:bodyPr wrap="non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90000"/>
              </a:lnSpc>
              <a:spcBef>
                <a:spcPct val="50000"/>
              </a:spcBef>
              <a:buFont typeface="Wingdings" panose="05000000000000000000" pitchFamily="2" charset="2"/>
            </a:pPr>
            <a:r>
              <a:rPr lang="en-US" altLang="zh-CN" sz="2400" b="1" dirty="0">
                <a:solidFill>
                  <a:srgbClr val="0066CC"/>
                </a:solidFill>
                <a:latin typeface="Times New Roman" panose="02020603050405020304" pitchFamily="18" charset="0"/>
                <a:ea typeface="楷体_GB2312" pitchFamily="49" charset="-122"/>
              </a:rPr>
              <a:t>①</a:t>
            </a:r>
            <a:endParaRPr lang="en-US" altLang="zh-CN" sz="2600" b="1" dirty="0">
              <a:latin typeface="楷体_GB2312" pitchFamily="49" charset="-122"/>
              <a:ea typeface="楷体_GB2312" pitchFamily="49" charset="-122"/>
            </a:endParaRPr>
          </a:p>
        </p:txBody>
      </p:sp>
      <p:sp>
        <p:nvSpPr>
          <p:cNvPr id="25" name="Rectangle 10"/>
          <p:cNvSpPr>
            <a:spLocks noChangeArrowheads="1"/>
          </p:cNvSpPr>
          <p:nvPr/>
        </p:nvSpPr>
        <p:spPr bwMode="auto">
          <a:xfrm>
            <a:off x="1362048" y="2863846"/>
            <a:ext cx="4572000" cy="1673225"/>
          </a:xfrm>
          <a:prstGeom prst="rect">
            <a:avLst/>
          </a:prstGeom>
          <a:noFill/>
          <a:ln>
            <a:noFill/>
          </a:ln>
          <a:effectLst/>
        </p:spPr>
        <p:txBody>
          <a:bodyPr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90000"/>
              </a:lnSpc>
              <a:spcBef>
                <a:spcPct val="5000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小角度晶界</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(&lt;10</a:t>
            </a:r>
            <a:r>
              <a:rPr kumimoji="1" lang="en-US" altLang="zh-CN" sz="2800" b="1" i="0" u="none" strike="noStrike" kern="1200" cap="none" spc="0" normalizeH="0" baseline="3000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o</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a:t>
            </a:r>
            <a:endPar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90000"/>
              </a:lnSpc>
              <a:spcBef>
                <a:spcPct val="50000"/>
              </a:spcBef>
              <a:spcAft>
                <a:spcPct val="0"/>
              </a:spcAft>
              <a:buClrTx/>
              <a:buSzTx/>
              <a:buFontTx/>
              <a:buNone/>
              <a:defRPr/>
            </a:pPr>
            <a:endPar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90000"/>
              </a:lnSpc>
              <a:spcBef>
                <a:spcPct val="50000"/>
              </a:spcBef>
              <a:spcAft>
                <a:spcPct val="0"/>
              </a:spcAft>
              <a:buClrTx/>
              <a:buSzTx/>
              <a:buFontTx/>
              <a:buNone/>
              <a:defRPr/>
            </a:pPr>
            <a:r>
              <a:rPr kumimoji="1"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b.</a:t>
            </a:r>
            <a:r>
              <a:rPr kumimoji="1"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大角度晶界</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(&gt;10</a:t>
            </a:r>
            <a:r>
              <a:rPr kumimoji="1" lang="en-US" altLang="zh-CN" sz="2800" b="1" i="0" u="none" strike="noStrike" kern="1200" cap="none" spc="0" normalizeH="0" baseline="3000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o</a:t>
            </a:r>
            <a:r>
              <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a:t>
            </a:r>
            <a:endParaRPr kumimoji="1" lang="en-US" altLang="zh-CN" sz="28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2"/>
          <p:cNvSpPr>
            <a:spLocks noGrp="1"/>
          </p:cNvSpPr>
          <p:nvPr/>
        </p:nvSpPr>
        <p:spPr>
          <a:xfrm>
            <a:off x="285720" y="500048"/>
            <a:ext cx="8362950" cy="576263"/>
          </a:xfrm>
          <a:prstGeom prst="rect">
            <a:avLst/>
          </a:prstGeom>
          <a:noFill/>
          <a:ln w="9525">
            <a:noFill/>
          </a:ln>
        </p:spPr>
        <p:txBody>
          <a:bodyPr vert="horz" wrap="square" lIns="91440" tIns="45720" rIns="91440" bIns="45720" anchor="t" anchorCtr="0"/>
          <a:lstStyle>
            <a:lvl1pPr lvl="0">
              <a:buClr>
                <a:schemeClr val="accent1"/>
              </a:buClr>
              <a:buSzPct val="65000"/>
              <a:buFont typeface="Wingdings" panose="05000000000000000000" pitchFamily="2" charset="2"/>
              <a:defRPr sz="2600"/>
            </a:lvl1pPr>
            <a:lvl2pPr lvl="1">
              <a:buClr>
                <a:schemeClr val="accent2"/>
              </a:buClr>
              <a:buSzPct val="60000"/>
              <a:buFont typeface="Wingdings" panose="05000000000000000000" pitchFamily="2" charset="2"/>
              <a:defRPr sz="2200"/>
            </a:lvl2pPr>
            <a:lvl3pPr lvl="2">
              <a:buClr>
                <a:schemeClr val="accent1"/>
              </a:buClr>
              <a:buSzPct val="65000"/>
              <a:buFont typeface="Wingdings" panose="05000000000000000000" pitchFamily="2" charset="2"/>
              <a:defRPr sz="2000"/>
            </a:lvl3pPr>
            <a:lvl4pPr lvl="3">
              <a:buClr>
                <a:schemeClr val="accent2"/>
              </a:buClr>
              <a:buSzPct val="70000"/>
              <a:buFont typeface="Wingdings" panose="05000000000000000000" pitchFamily="2" charset="2"/>
              <a:defRPr sz="1800"/>
            </a:lvl4pPr>
            <a:lvl5pPr lvl="4">
              <a:buClr>
                <a:schemeClr val="accent1"/>
              </a:buClr>
              <a:buSzPct val="75000"/>
              <a:buFont typeface="Wingdings" panose="05000000000000000000" pitchFamily="2" charset="2"/>
              <a:defRPr sz="1800"/>
            </a:lvl5pPr>
          </a:lstStyle>
          <a:p>
            <a:pPr lvl="0" algn="just" eaLnBrk="1" hangingPunct="1">
              <a:buNone/>
            </a:pPr>
            <a:r>
              <a:rPr lang="en-US" altLang="zh-CN" sz="2400" b="1" dirty="0">
                <a:solidFill>
                  <a:srgbClr val="CC3300"/>
                </a:solidFill>
                <a:latin typeface="Times New Roman" panose="02020603050405020304" pitchFamily="18" charset="0"/>
              </a:rPr>
              <a:t>a </a:t>
            </a:r>
            <a:r>
              <a:rPr lang="zh-CN" altLang="en-US" sz="2400" b="1" dirty="0">
                <a:solidFill>
                  <a:srgbClr val="CC3300"/>
                </a:solidFill>
                <a:latin typeface="Times New Roman" panose="02020603050405020304" pitchFamily="18" charset="0"/>
                <a:ea typeface="仿宋_GB2312" pitchFamily="49" charset="-122"/>
              </a:rPr>
              <a:t>．小角度晶界</a:t>
            </a:r>
            <a:endParaRPr lang="zh-CN" altLang="en-US" sz="2100" dirty="0">
              <a:solidFill>
                <a:srgbClr val="FF9966"/>
              </a:solidFill>
              <a:latin typeface="仿宋_GB2312" pitchFamily="49" charset="-122"/>
              <a:ea typeface="仿宋_GB2312" pitchFamily="49" charset="-122"/>
            </a:endParaRPr>
          </a:p>
        </p:txBody>
      </p:sp>
      <p:pic>
        <p:nvPicPr>
          <p:cNvPr id="9" name="Object 3"/>
          <p:cNvPicPr>
            <a:picLocks noChangeAspect="1"/>
          </p:cNvPicPr>
          <p:nvPr/>
        </p:nvPicPr>
        <p:blipFill>
          <a:blip r:embed="rId3" cstate="print"/>
          <a:srcRect/>
          <a:stretch>
            <a:fillRect/>
          </a:stretch>
        </p:blipFill>
        <p:spPr>
          <a:xfrm>
            <a:off x="463550" y="916782"/>
            <a:ext cx="3984625" cy="4105275"/>
          </a:xfrm>
          <a:prstGeom prst="rect">
            <a:avLst/>
          </a:prstGeom>
          <a:noFill/>
          <a:ln w="38100">
            <a:noFill/>
            <a:miter/>
          </a:ln>
        </p:spPr>
      </p:pic>
      <p:pic>
        <p:nvPicPr>
          <p:cNvPr id="10" name="Picture 4" descr="7"/>
          <p:cNvPicPr>
            <a:picLocks noChangeAspect="1"/>
          </p:cNvPicPr>
          <p:nvPr/>
        </p:nvPicPr>
        <p:blipFill>
          <a:blip r:embed="rId4" cstate="print"/>
          <a:srcRect t="1196"/>
          <a:stretch>
            <a:fillRect/>
          </a:stretch>
        </p:blipFill>
        <p:spPr>
          <a:xfrm>
            <a:off x="4856162" y="1059657"/>
            <a:ext cx="3035300" cy="4032250"/>
          </a:xfrm>
          <a:prstGeom prst="rect">
            <a:avLst/>
          </a:prstGeom>
          <a:noFill/>
          <a:ln w="9525">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8" name="Picture 2" descr="未命名"/>
          <p:cNvPicPr>
            <a:picLocks noChangeAspect="1"/>
          </p:cNvPicPr>
          <p:nvPr/>
        </p:nvPicPr>
        <p:blipFill>
          <a:blip r:embed="rId3" cstate="print"/>
          <a:stretch>
            <a:fillRect/>
          </a:stretch>
        </p:blipFill>
        <p:spPr>
          <a:xfrm>
            <a:off x="142844" y="1285866"/>
            <a:ext cx="6183362" cy="3000396"/>
          </a:xfrm>
          <a:prstGeom prst="rect">
            <a:avLst/>
          </a:prstGeom>
          <a:noFill/>
          <a:ln w="9525">
            <a:noFill/>
          </a:ln>
        </p:spPr>
      </p:pic>
      <p:pic>
        <p:nvPicPr>
          <p:cNvPr id="9" name="Picture 3" descr="7"/>
          <p:cNvPicPr>
            <a:picLocks noChangeAspect="1"/>
          </p:cNvPicPr>
          <p:nvPr/>
        </p:nvPicPr>
        <p:blipFill>
          <a:blip r:embed="rId4" cstate="print"/>
          <a:srcRect b="18750"/>
          <a:stretch>
            <a:fillRect/>
          </a:stretch>
        </p:blipFill>
        <p:spPr>
          <a:xfrm>
            <a:off x="6357950" y="1571618"/>
            <a:ext cx="2580299" cy="2000264"/>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2"/>
          <p:cNvSpPr>
            <a:spLocks noGrp="1"/>
          </p:cNvSpPr>
          <p:nvPr/>
        </p:nvSpPr>
        <p:spPr>
          <a:xfrm>
            <a:off x="428596" y="642924"/>
            <a:ext cx="8229600" cy="1139825"/>
          </a:xfrm>
          <a:prstGeom prst="rect">
            <a:avLst/>
          </a:prstGeom>
          <a:noFill/>
          <a:ln w="9525">
            <a:noFill/>
          </a:ln>
        </p:spPr>
        <p:txBody>
          <a:bodyPr vert="horz" wrap="square" lIns="91440" tIns="45720" rIns="91440" bIns="45720" anchor="t" anchorCtr="0"/>
          <a:lstStyle>
            <a:lvl1pPr algn="l" rtl="0" fontAlgn="base">
              <a:spcBef>
                <a:spcPct val="0"/>
              </a:spcBef>
              <a:spcAft>
                <a:spcPct val="0"/>
              </a:spcAft>
              <a:defRPr sz="4200" kern="1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r>
              <a:rPr lang="en-US" altLang="zh-CN" sz="2400" b="1" dirty="0">
                <a:solidFill>
                  <a:srgbClr val="CC3300"/>
                </a:solidFill>
                <a:latin typeface="Times New Roman" panose="02020603050405020304" pitchFamily="18" charset="0"/>
                <a:ea typeface="仿宋_GB2312" pitchFamily="49" charset="-122"/>
              </a:rPr>
              <a:t>b </a:t>
            </a:r>
            <a:r>
              <a:rPr lang="zh-CN" altLang="en-US" sz="2400" b="1" dirty="0">
                <a:solidFill>
                  <a:srgbClr val="CC3300"/>
                </a:solidFill>
                <a:latin typeface="Times New Roman" panose="02020603050405020304" pitchFamily="18" charset="0"/>
                <a:ea typeface="仿宋_GB2312" pitchFamily="49" charset="-122"/>
              </a:rPr>
              <a:t>．大角度晶界</a:t>
            </a:r>
            <a:endParaRPr lang="zh-CN" altLang="en-US" sz="2400" b="1" dirty="0">
              <a:solidFill>
                <a:srgbClr val="CC3300"/>
              </a:solidFill>
              <a:latin typeface="Times New Roman" panose="02020603050405020304" pitchFamily="18" charset="0"/>
              <a:ea typeface="仿宋_GB2312" pitchFamily="49" charset="-122"/>
            </a:endParaRPr>
          </a:p>
        </p:txBody>
      </p:sp>
      <p:pic>
        <p:nvPicPr>
          <p:cNvPr id="9" name="Picture 3"/>
          <p:cNvPicPr>
            <a:picLocks noChangeAspect="1"/>
          </p:cNvPicPr>
          <p:nvPr/>
        </p:nvPicPr>
        <p:blipFill>
          <a:blip r:embed="rId3" cstate="print"/>
          <a:stretch>
            <a:fillRect/>
          </a:stretch>
        </p:blipFill>
        <p:spPr>
          <a:xfrm>
            <a:off x="1214414" y="1000114"/>
            <a:ext cx="3112277" cy="3429024"/>
          </a:xfrm>
          <a:prstGeom prst="rect">
            <a:avLst/>
          </a:prstGeom>
          <a:noFill/>
          <a:ln w="9525">
            <a:noFill/>
          </a:ln>
        </p:spPr>
      </p:pic>
      <p:sp>
        <p:nvSpPr>
          <p:cNvPr id="10" name="Text Box 4"/>
          <p:cNvSpPr txBox="1"/>
          <p:nvPr/>
        </p:nvSpPr>
        <p:spPr>
          <a:xfrm>
            <a:off x="857224" y="4429138"/>
            <a:ext cx="3905250" cy="457200"/>
          </a:xfrm>
          <a:prstGeom prst="rect">
            <a:avLst/>
          </a:prstGeom>
          <a:noFill/>
          <a:ln w="9525">
            <a:noFill/>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spcBef>
                <a:spcPct val="50000"/>
              </a:spcBef>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大角度晶界结构示意图</a:t>
            </a:r>
            <a:endParaRPr lang="zh-CN" altLang="en-US" sz="2400" b="1" dirty="0">
              <a:latin typeface="Times New Roman" panose="02020603050405020304" pitchFamily="18" charset="0"/>
            </a:endParaRPr>
          </a:p>
        </p:txBody>
      </p:sp>
      <p:sp>
        <p:nvSpPr>
          <p:cNvPr id="11" name="Rectangle 5"/>
          <p:cNvSpPr/>
          <p:nvPr/>
        </p:nvSpPr>
        <p:spPr>
          <a:xfrm>
            <a:off x="5143504" y="1928808"/>
            <a:ext cx="3000396" cy="1292662"/>
          </a:xfrm>
          <a:prstGeom prst="rect">
            <a:avLst/>
          </a:prstGeom>
          <a:noFill/>
          <a:ln w="25400">
            <a:noFill/>
          </a:ln>
        </p:spPr>
        <p:txBody>
          <a:bodyPr wrap="square" lIns="0" tIns="0" rIns="0" bIns="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r>
              <a:rPr lang="zh-CN" altLang="en-US" sz="2800" b="1" dirty="0" smtClean="0">
                <a:latin typeface="Times New Roman" panose="02020603050405020304" pitchFamily="18" charset="0"/>
              </a:rPr>
              <a:t>大</a:t>
            </a:r>
            <a:r>
              <a:rPr lang="zh-CN" altLang="en-US" sz="2800" b="1" dirty="0">
                <a:latin typeface="Times New Roman" panose="02020603050405020304" pitchFamily="18" charset="0"/>
              </a:rPr>
              <a:t>角度晶界原子排列比较紊乱，结构复杂。</a:t>
            </a:r>
            <a:endParaRPr lang="zh-CN" altLang="en-US" sz="2800" b="1" dirty="0">
              <a:latin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Text Box 2"/>
          <p:cNvSpPr txBox="1"/>
          <p:nvPr/>
        </p:nvSpPr>
        <p:spPr>
          <a:xfrm>
            <a:off x="642910" y="642924"/>
            <a:ext cx="7380287" cy="420687"/>
          </a:xfrm>
          <a:prstGeom prst="rect">
            <a:avLst/>
          </a:prstGeom>
          <a:noFill/>
          <a:ln w="9525">
            <a:noFill/>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90000"/>
              </a:lnSpc>
              <a:spcBef>
                <a:spcPct val="50000"/>
              </a:spcBef>
            </a:pPr>
            <a:r>
              <a:rPr lang="zh-CN" altLang="en-US" sz="2400" b="1" dirty="0">
                <a:latin typeface="Times New Roman" panose="02020603050405020304" pitchFamily="18" charset="0"/>
                <a:ea typeface="楷体_GB2312" pitchFamily="49" charset="-122"/>
              </a:rPr>
              <a:t>根据相界两边原子排列的连贯性来分：</a:t>
            </a:r>
            <a:endParaRPr lang="zh-CN" altLang="en-US" sz="2400" dirty="0">
              <a:latin typeface="Times New Roman" panose="02020603050405020304" pitchFamily="18" charset="0"/>
              <a:ea typeface="楷体_GB2312" pitchFamily="49" charset="-122"/>
            </a:endParaRPr>
          </a:p>
        </p:txBody>
      </p:sp>
      <p:sp>
        <p:nvSpPr>
          <p:cNvPr id="9" name="Rectangle 3"/>
          <p:cNvSpPr/>
          <p:nvPr/>
        </p:nvSpPr>
        <p:spPr>
          <a:xfrm>
            <a:off x="427010" y="1074724"/>
            <a:ext cx="8382000" cy="3743325"/>
          </a:xfrm>
          <a:prstGeom prst="rect">
            <a:avLst/>
          </a:prstGeom>
          <a:noFill/>
          <a:ln w="9525">
            <a:noFill/>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150000"/>
              </a:lnSpc>
              <a:spcBef>
                <a:spcPct val="50000"/>
              </a:spcBef>
            </a:pPr>
            <a:r>
              <a:rPr lang="en-US" altLang="zh-CN" sz="2400" b="1" dirty="0">
                <a:solidFill>
                  <a:srgbClr val="CC3300"/>
                </a:solidFill>
                <a:latin typeface="楷体_GB2312" pitchFamily="49" charset="-122"/>
                <a:ea typeface="楷体_GB2312" pitchFamily="49" charset="-122"/>
              </a:rPr>
              <a:t>a.</a:t>
            </a:r>
            <a:r>
              <a:rPr lang="zh-CN" altLang="en-US" sz="2400" b="1" dirty="0">
                <a:solidFill>
                  <a:srgbClr val="CC3300"/>
                </a:solidFill>
                <a:latin typeface="楷体_GB2312" pitchFamily="49" charset="-122"/>
                <a:ea typeface="楷体_GB2312" pitchFamily="49" charset="-122"/>
              </a:rPr>
              <a:t>共格晶界：</a:t>
            </a:r>
            <a:r>
              <a:rPr lang="zh-CN" altLang="en-US" sz="2400" b="1" dirty="0">
                <a:latin typeface="楷体_GB2312" pitchFamily="49" charset="-122"/>
                <a:ea typeface="楷体_GB2312" pitchFamily="49" charset="-122"/>
              </a:rPr>
              <a:t>界面两侧的晶体具有非常相似的结构和类似的取向，越过界面原子面是连续的。</a:t>
            </a:r>
            <a:endParaRPr lang="zh-CN" altLang="en-US" sz="2400" b="1" dirty="0">
              <a:latin typeface="楷体_GB2312" pitchFamily="49" charset="-122"/>
              <a:ea typeface="楷体_GB2312" pitchFamily="49" charset="-122"/>
            </a:endParaRPr>
          </a:p>
          <a:p>
            <a:pPr eaLnBrk="1" hangingPunct="1">
              <a:lnSpc>
                <a:spcPct val="150000"/>
              </a:lnSpc>
              <a:spcBef>
                <a:spcPct val="50000"/>
              </a:spcBef>
            </a:pPr>
            <a:r>
              <a:rPr lang="en-US" altLang="zh-CN" sz="2400" b="1" dirty="0">
                <a:solidFill>
                  <a:srgbClr val="CC3300"/>
                </a:solidFill>
                <a:latin typeface="楷体_GB2312" pitchFamily="49" charset="-122"/>
                <a:ea typeface="楷体_GB2312" pitchFamily="49" charset="-122"/>
              </a:rPr>
              <a:t>b.</a:t>
            </a:r>
            <a:r>
              <a:rPr lang="zh-CN" altLang="en-US" sz="2400" b="1" dirty="0">
                <a:solidFill>
                  <a:srgbClr val="CC3300"/>
                </a:solidFill>
                <a:latin typeface="楷体_GB2312" pitchFamily="49" charset="-122"/>
                <a:ea typeface="楷体_GB2312" pitchFamily="49" charset="-122"/>
              </a:rPr>
              <a:t>半共格晶界</a:t>
            </a:r>
            <a:r>
              <a:rPr lang="zh-CN" altLang="en-US" sz="2400" b="1" dirty="0">
                <a:latin typeface="楷体_GB2312" pitchFamily="49" charset="-122"/>
                <a:ea typeface="楷体_GB2312" pitchFamily="49" charset="-122"/>
              </a:rPr>
              <a:t>：晶面间距比较小的一个相发生应变，在界面位错线附近发生局部晶格畸变。</a:t>
            </a:r>
            <a:endParaRPr lang="zh-CN" altLang="en-US" sz="2400" b="1" dirty="0">
              <a:latin typeface="楷体_GB2312" pitchFamily="49" charset="-122"/>
              <a:ea typeface="楷体_GB2312" pitchFamily="49" charset="-122"/>
            </a:endParaRPr>
          </a:p>
          <a:p>
            <a:pPr eaLnBrk="1" hangingPunct="1">
              <a:lnSpc>
                <a:spcPct val="150000"/>
              </a:lnSpc>
              <a:spcBef>
                <a:spcPct val="50000"/>
              </a:spcBef>
            </a:pPr>
            <a:r>
              <a:rPr lang="en-US" altLang="zh-CN" sz="2400" b="1" dirty="0">
                <a:solidFill>
                  <a:srgbClr val="CC3300"/>
                </a:solidFill>
                <a:latin typeface="楷体_GB2312" pitchFamily="49" charset="-122"/>
                <a:ea typeface="楷体_GB2312" pitchFamily="49" charset="-122"/>
              </a:rPr>
              <a:t>c.</a:t>
            </a:r>
            <a:r>
              <a:rPr lang="zh-CN" altLang="en-US" sz="2400" b="1" dirty="0">
                <a:solidFill>
                  <a:srgbClr val="CC3300"/>
                </a:solidFill>
                <a:latin typeface="楷体_GB2312" pitchFamily="49" charset="-122"/>
                <a:ea typeface="楷体_GB2312" pitchFamily="49" charset="-122"/>
              </a:rPr>
              <a:t>非共格晶界：</a:t>
            </a:r>
            <a:r>
              <a:rPr lang="zh-CN" altLang="en-US" sz="2400" b="1" dirty="0">
                <a:latin typeface="楷体_GB2312" pitchFamily="49" charset="-122"/>
                <a:ea typeface="楷体_GB2312" pitchFamily="49" charset="-122"/>
              </a:rPr>
              <a:t>界面两侧结构相差很大且与相邻晶体间有畸变的原子排列。</a:t>
            </a:r>
            <a:endParaRPr lang="zh-CN" altLang="en-US" sz="2400" b="1" dirty="0">
              <a:latin typeface="楷体_GB2312" pitchFamily="49" charset="-122"/>
              <a:ea typeface="楷体_GB2312" pitchFamily="49" charset="-122"/>
            </a:endParaRPr>
          </a:p>
        </p:txBody>
      </p:sp>
      <p:sp>
        <p:nvSpPr>
          <p:cNvPr id="10" name="Rectangle 4"/>
          <p:cNvSpPr/>
          <p:nvPr/>
        </p:nvSpPr>
        <p:spPr>
          <a:xfrm>
            <a:off x="355572" y="714361"/>
            <a:ext cx="485775" cy="420688"/>
          </a:xfrm>
          <a:prstGeom prst="rect">
            <a:avLst/>
          </a:prstGeom>
          <a:noFill/>
          <a:ln w="19050">
            <a:noFill/>
          </a:ln>
        </p:spPr>
        <p:txBody>
          <a:bodyPr wrap="none"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90000"/>
              </a:lnSpc>
              <a:spcBef>
                <a:spcPct val="50000"/>
              </a:spcBef>
              <a:buFont typeface="Wingdings" panose="05000000000000000000" pitchFamily="2" charset="2"/>
            </a:pPr>
            <a:r>
              <a:rPr lang="en-US" altLang="en-US" sz="2400" b="1" dirty="0">
                <a:solidFill>
                  <a:srgbClr val="0099FF"/>
                </a:solidFill>
                <a:latin typeface="Times New Roman" panose="02020603050405020304" pitchFamily="18" charset="0"/>
                <a:ea typeface="楷体_GB2312" pitchFamily="49" charset="-122"/>
              </a:rPr>
              <a:t>②</a:t>
            </a:r>
            <a:endParaRPr lang="en-US" altLang="zh-CN" sz="2400" b="1" dirty="0">
              <a:solidFill>
                <a:srgbClr val="0099FF"/>
              </a:solidFill>
              <a:latin typeface="Times New Roman" panose="02020603050405020304" pitchFamily="18" charset="0"/>
              <a:ea typeface="楷体_GB2312" pitchFamily="49"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2"/>
          <p:cNvSpPr>
            <a:spLocks noGrp="1"/>
          </p:cNvSpPr>
          <p:nvPr/>
        </p:nvSpPr>
        <p:spPr>
          <a:xfrm>
            <a:off x="714348" y="500048"/>
            <a:ext cx="4427537" cy="539750"/>
          </a:xfrm>
          <a:prstGeom prst="rect">
            <a:avLst/>
          </a:prstGeom>
          <a:noFill/>
          <a:ln w="9525">
            <a:noFill/>
          </a:ln>
        </p:spPr>
        <p:txBody>
          <a:bodyPr vert="horz" wrap="square" lIns="91440" tIns="45720" rIns="91440" bIns="45720" anchor="t" anchorCtr="0"/>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lnSpc>
                <a:spcPct val="90000"/>
              </a:lnSpc>
              <a:buNone/>
            </a:pPr>
            <a:r>
              <a:rPr lang="en-US" altLang="zh-CN" sz="2100" b="1" baseline="30000" dirty="0">
                <a:solidFill>
                  <a:srgbClr val="FF0000"/>
                </a:solidFill>
              </a:rPr>
              <a:t>♣</a:t>
            </a:r>
            <a:r>
              <a:rPr lang="zh-CN" altLang="en-US" sz="2600" b="1" dirty="0">
                <a:solidFill>
                  <a:schemeClr val="accent2"/>
                </a:solidFill>
                <a:latin typeface="楷体_GB2312" pitchFamily="49" charset="-122"/>
                <a:ea typeface="楷体_GB2312" pitchFamily="49" charset="-122"/>
              </a:rPr>
              <a:t>亚晶界</a:t>
            </a:r>
            <a:r>
              <a:rPr lang="en-US" altLang="zh-CN" sz="2600" b="1" dirty="0">
                <a:latin typeface="楷体_GB2312" pitchFamily="49" charset="-122"/>
                <a:ea typeface="楷体_GB2312" pitchFamily="49" charset="-122"/>
              </a:rPr>
              <a:t>---</a:t>
            </a:r>
            <a:r>
              <a:rPr lang="en-US" altLang="zh-CN" sz="2000" b="1" dirty="0">
                <a:solidFill>
                  <a:srgbClr val="FF9966"/>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亚晶粒之间的界面</a:t>
            </a:r>
            <a:r>
              <a:rPr lang="zh-CN" altLang="en-US" sz="2000" dirty="0">
                <a:latin typeface="仿宋_GB2312" pitchFamily="49" charset="-122"/>
                <a:ea typeface="仿宋_GB2312" pitchFamily="49" charset="-122"/>
              </a:rPr>
              <a:t>   </a:t>
            </a:r>
            <a:endParaRPr lang="zh-CN" altLang="en-US" sz="2000" dirty="0">
              <a:latin typeface="仿宋_GB2312" pitchFamily="49" charset="-122"/>
              <a:ea typeface="仿宋_GB2312" pitchFamily="49" charset="-122"/>
            </a:endParaRPr>
          </a:p>
          <a:p>
            <a:pPr algn="just" eaLnBrk="1" hangingPunct="1">
              <a:lnSpc>
                <a:spcPct val="90000"/>
              </a:lnSpc>
              <a:buNone/>
            </a:pPr>
            <a:endParaRPr lang="en-US" altLang="zh-CN" sz="2000" dirty="0">
              <a:solidFill>
                <a:srgbClr val="FF9966"/>
              </a:solidFill>
              <a:latin typeface="仿宋_GB2312" pitchFamily="49" charset="-122"/>
              <a:ea typeface="仿宋_GB2312" pitchFamily="49" charset="-122"/>
            </a:endParaRPr>
          </a:p>
        </p:txBody>
      </p:sp>
      <p:pic>
        <p:nvPicPr>
          <p:cNvPr id="9" name="Picture 3" descr="7"/>
          <p:cNvPicPr>
            <a:picLocks noChangeAspect="1"/>
          </p:cNvPicPr>
          <p:nvPr/>
        </p:nvPicPr>
        <p:blipFill>
          <a:blip r:embed="rId3" cstate="print"/>
          <a:stretch>
            <a:fillRect/>
          </a:stretch>
        </p:blipFill>
        <p:spPr>
          <a:xfrm>
            <a:off x="5000628" y="1928808"/>
            <a:ext cx="2804649" cy="3071816"/>
          </a:xfrm>
          <a:prstGeom prst="rect">
            <a:avLst/>
          </a:prstGeom>
          <a:noFill/>
          <a:ln w="9525">
            <a:noFill/>
          </a:ln>
        </p:spPr>
      </p:pic>
      <p:pic>
        <p:nvPicPr>
          <p:cNvPr id="10" name="Picture 4" descr="6"/>
          <p:cNvPicPr>
            <a:picLocks noChangeAspect="1"/>
          </p:cNvPicPr>
          <p:nvPr/>
        </p:nvPicPr>
        <p:blipFill>
          <a:blip r:embed="rId4" cstate="print"/>
          <a:stretch>
            <a:fillRect/>
          </a:stretch>
        </p:blipFill>
        <p:spPr>
          <a:xfrm>
            <a:off x="857224" y="1857370"/>
            <a:ext cx="3117853" cy="3117853"/>
          </a:xfrm>
          <a:prstGeom prst="rect">
            <a:avLst/>
          </a:prstGeom>
          <a:noFill/>
          <a:ln w="9525">
            <a:noFill/>
          </a:ln>
        </p:spPr>
      </p:pic>
      <p:sp>
        <p:nvSpPr>
          <p:cNvPr id="11" name="Rectangle 6"/>
          <p:cNvSpPr/>
          <p:nvPr/>
        </p:nvSpPr>
        <p:spPr>
          <a:xfrm>
            <a:off x="785786" y="1000114"/>
            <a:ext cx="7416800" cy="876300"/>
          </a:xfrm>
          <a:prstGeom prst="rect">
            <a:avLst/>
          </a:prstGeom>
          <a:noFill/>
          <a:ln w="25400">
            <a:noFill/>
          </a:ln>
        </p:spPr>
        <p:txBody>
          <a:bodyPr lIns="0" tIns="0" rIns="0" bIns="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120000"/>
              </a:lnSpc>
              <a:buNone/>
            </a:pPr>
            <a:r>
              <a:rPr lang="zh-CN" altLang="en-US" sz="2400" b="1" dirty="0">
                <a:latin typeface="楷体_GB2312" pitchFamily="49" charset="-122"/>
                <a:ea typeface="楷体_GB2312" pitchFamily="49" charset="-122"/>
              </a:rPr>
              <a:t>亚晶粒：一个晶粒中若干个位向稍有差异的部分。</a:t>
            </a:r>
            <a:endParaRPr lang="zh-CN" altLang="en-US" sz="2400" b="1" dirty="0">
              <a:latin typeface="楷体_GB2312" pitchFamily="49" charset="-122"/>
              <a:ea typeface="楷体_GB2312" pitchFamily="49" charset="-122"/>
            </a:endParaRPr>
          </a:p>
          <a:p>
            <a:pPr eaLnBrk="1" hangingPunct="1">
              <a:lnSpc>
                <a:spcPct val="120000"/>
              </a:lnSpc>
              <a:buNone/>
            </a:pPr>
            <a:r>
              <a:rPr lang="zh-CN" altLang="en-US" sz="2400" b="1" dirty="0">
                <a:latin typeface="楷体_GB2312" pitchFamily="49" charset="-122"/>
                <a:ea typeface="楷体_GB2312" pitchFamily="49" charset="-122"/>
              </a:rPr>
              <a:t>亚晶界：相邻亚晶粒之 间的界面。位相差一般小于</a:t>
            </a:r>
            <a:r>
              <a:rPr lang="en-US" altLang="zh-CN" sz="2400" b="1" dirty="0">
                <a:latin typeface="楷体_GB2312" pitchFamily="49" charset="-122"/>
                <a:ea typeface="楷体_GB2312" pitchFamily="49" charset="-122"/>
              </a:rPr>
              <a:t>2</a:t>
            </a:r>
            <a:r>
              <a:rPr lang="en-US" altLang="zh-CN" sz="2400" b="1" dirty="0">
                <a:latin typeface="Arial" panose="020B0604020202020204" pitchFamily="34" charset="0"/>
                <a:ea typeface="楷体_GB2312" pitchFamily="49" charset="-122"/>
              </a:rPr>
              <a:t>º</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8" name="Picture 5" descr="Image2jpg"/>
          <p:cNvPicPr>
            <a:picLocks noChangeAspect="1"/>
          </p:cNvPicPr>
          <p:nvPr/>
        </p:nvPicPr>
        <p:blipFill>
          <a:blip r:embed="rId3" cstate="print"/>
          <a:srcRect l="5927" t="42680" r="65332" b="28067"/>
          <a:stretch>
            <a:fillRect/>
          </a:stretch>
        </p:blipFill>
        <p:spPr>
          <a:xfrm>
            <a:off x="6715140" y="928676"/>
            <a:ext cx="2052638" cy="1643062"/>
          </a:xfrm>
          <a:prstGeom prst="rect">
            <a:avLst/>
          </a:prstGeom>
          <a:noFill/>
          <a:ln w="9525">
            <a:noFill/>
          </a:ln>
        </p:spPr>
      </p:pic>
      <p:pic>
        <p:nvPicPr>
          <p:cNvPr id="9" name="Picture 6" descr="Image2jpg"/>
          <p:cNvPicPr>
            <a:picLocks noChangeAspect="1"/>
          </p:cNvPicPr>
          <p:nvPr/>
        </p:nvPicPr>
        <p:blipFill>
          <a:blip r:embed="rId3" cstate="print"/>
          <a:srcRect l="5927" t="7161" r="64499" b="60246"/>
          <a:stretch>
            <a:fillRect/>
          </a:stretch>
        </p:blipFill>
        <p:spPr>
          <a:xfrm>
            <a:off x="234965" y="1144576"/>
            <a:ext cx="2160588" cy="1871662"/>
          </a:xfrm>
          <a:prstGeom prst="rect">
            <a:avLst/>
          </a:prstGeom>
          <a:noFill/>
          <a:ln w="9525">
            <a:noFill/>
          </a:ln>
        </p:spPr>
      </p:pic>
      <p:grpSp>
        <p:nvGrpSpPr>
          <p:cNvPr id="10" name="Group 7"/>
          <p:cNvGrpSpPr/>
          <p:nvPr/>
        </p:nvGrpSpPr>
        <p:grpSpPr>
          <a:xfrm>
            <a:off x="2611453" y="1073140"/>
            <a:ext cx="3887788" cy="1651001"/>
            <a:chOff x="1701" y="2886"/>
            <a:chExt cx="2449" cy="1040"/>
          </a:xfrm>
        </p:grpSpPr>
        <p:pic>
          <p:nvPicPr>
            <p:cNvPr id="15" name="Picture 8" descr="Image2jpg"/>
            <p:cNvPicPr>
              <a:picLocks noChangeAspect="1"/>
            </p:cNvPicPr>
            <p:nvPr/>
          </p:nvPicPr>
          <p:blipFill>
            <a:blip r:embed="rId3" cstate="print"/>
            <a:srcRect l="37964" t="7161" r="35909" b="64738"/>
            <a:stretch>
              <a:fillRect/>
            </a:stretch>
          </p:blipFill>
          <p:spPr>
            <a:xfrm>
              <a:off x="1701" y="2886"/>
              <a:ext cx="1224" cy="1035"/>
            </a:xfrm>
            <a:prstGeom prst="rect">
              <a:avLst/>
            </a:prstGeom>
            <a:noFill/>
            <a:ln w="9525">
              <a:noFill/>
            </a:ln>
          </p:spPr>
        </p:pic>
        <p:pic>
          <p:nvPicPr>
            <p:cNvPr id="16" name="Picture 9" descr="Image2jpg"/>
            <p:cNvPicPr>
              <a:picLocks noChangeAspect="1"/>
            </p:cNvPicPr>
            <p:nvPr/>
          </p:nvPicPr>
          <p:blipFill>
            <a:blip r:embed="rId3" cstate="print"/>
            <a:srcRect l="70148" t="7161" r="3703" b="64622"/>
            <a:stretch>
              <a:fillRect/>
            </a:stretch>
          </p:blipFill>
          <p:spPr>
            <a:xfrm>
              <a:off x="2925" y="2886"/>
              <a:ext cx="1225" cy="1040"/>
            </a:xfrm>
            <a:prstGeom prst="rect">
              <a:avLst/>
            </a:prstGeom>
            <a:noFill/>
            <a:ln w="9525">
              <a:noFill/>
            </a:ln>
          </p:spPr>
        </p:pic>
      </p:grpSp>
      <p:pic>
        <p:nvPicPr>
          <p:cNvPr id="11" name="Picture 10" descr="Image2jpg"/>
          <p:cNvPicPr>
            <a:picLocks noChangeAspect="1"/>
          </p:cNvPicPr>
          <p:nvPr/>
        </p:nvPicPr>
        <p:blipFill>
          <a:blip r:embed="rId3" cstate="print"/>
          <a:srcRect l="80685" t="35378" r="14389" b="59416"/>
          <a:stretch>
            <a:fillRect/>
          </a:stretch>
        </p:blipFill>
        <p:spPr>
          <a:xfrm>
            <a:off x="7507303" y="2657463"/>
            <a:ext cx="431800" cy="358775"/>
          </a:xfrm>
          <a:prstGeom prst="rect">
            <a:avLst/>
          </a:prstGeom>
          <a:noFill/>
          <a:ln w="9525">
            <a:noFill/>
          </a:ln>
        </p:spPr>
      </p:pic>
      <p:pic>
        <p:nvPicPr>
          <p:cNvPr id="13" name="Picture 11" descr="Image2jpg"/>
          <p:cNvPicPr>
            <a:picLocks noChangeAspect="1"/>
          </p:cNvPicPr>
          <p:nvPr/>
        </p:nvPicPr>
        <p:blipFill>
          <a:blip r:embed="rId3" cstate="print"/>
          <a:srcRect l="37964" t="35262" r="34926" b="59416"/>
          <a:stretch>
            <a:fillRect/>
          </a:stretch>
        </p:blipFill>
        <p:spPr>
          <a:xfrm>
            <a:off x="3619515" y="2728901"/>
            <a:ext cx="1944688" cy="300037"/>
          </a:xfrm>
          <a:prstGeom prst="rect">
            <a:avLst/>
          </a:prstGeom>
          <a:noFill/>
          <a:ln w="9525">
            <a:noFill/>
          </a:ln>
        </p:spPr>
      </p:pic>
      <p:sp>
        <p:nvSpPr>
          <p:cNvPr id="23" name="矩形 22"/>
          <p:cNvSpPr/>
          <p:nvPr/>
        </p:nvSpPr>
        <p:spPr>
          <a:xfrm>
            <a:off x="500034" y="3286130"/>
            <a:ext cx="8572560" cy="523220"/>
          </a:xfrm>
          <a:prstGeom prst="rect">
            <a:avLst/>
          </a:prstGeom>
        </p:spPr>
        <p:txBody>
          <a:bodyPr wrap="square">
            <a:spAutoFit/>
          </a:bodyPr>
          <a:lstStyle/>
          <a:p>
            <a:r>
              <a:rPr lang="zh-CN" altLang="en-US" sz="2800" b="1" dirty="0" smtClean="0">
                <a:latin typeface="楷体_GB2312" pitchFamily="49" charset="-122"/>
                <a:ea typeface="楷体_GB2312" pitchFamily="49" charset="-122"/>
              </a:rPr>
              <a:t>共格晶界         半共格晶界         非共格晶界</a:t>
            </a:r>
            <a:endParaRPr lang="zh-CN" altLang="en-US" sz="2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13" name="Text Box 2"/>
          <p:cNvSpPr txBox="1"/>
          <p:nvPr/>
        </p:nvSpPr>
        <p:spPr>
          <a:xfrm>
            <a:off x="142844" y="1214428"/>
            <a:ext cx="8858280" cy="3600986"/>
          </a:xfrm>
          <a:prstGeom prst="rect">
            <a:avLst/>
          </a:prstGeom>
          <a:noFill/>
          <a:ln w="9525">
            <a:noFill/>
          </a:ln>
        </p:spPr>
        <p:txBody>
          <a:bodyPr wrap="square">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342900" indent="-342900" eaLnBrk="1" hangingPunct="1">
              <a:lnSpc>
                <a:spcPct val="130000"/>
              </a:lnSpc>
              <a:spcBef>
                <a:spcPct val="20000"/>
              </a:spcBef>
              <a:buClr>
                <a:schemeClr val="accent1"/>
              </a:buClr>
              <a:buSzPct val="65000"/>
              <a:buFont typeface="Wingdings" panose="05000000000000000000" pitchFamily="2" charset="2"/>
              <a:buNone/>
            </a:pPr>
            <a:r>
              <a:rPr lang="zh-CN" altLang="en-US" sz="2000" b="1" dirty="0">
                <a:latin typeface="楷体_GB2312" pitchFamily="49" charset="-122"/>
                <a:ea typeface="楷体_GB2312" pitchFamily="49" charset="-122"/>
              </a:rPr>
              <a:t>晶界具有一些不同于晶粒内部的特性。</a:t>
            </a:r>
            <a:endParaRPr lang="zh-CN" altLang="en-US" sz="2000" b="1" dirty="0">
              <a:latin typeface="楷体_GB2312" pitchFamily="49" charset="-122"/>
              <a:ea typeface="楷体_GB2312" pitchFamily="49" charset="-122"/>
            </a:endParaRPr>
          </a:p>
          <a:p>
            <a:pPr marL="342900" indent="-342900" eaLnBrk="1" hangingPunct="1">
              <a:lnSpc>
                <a:spcPct val="130000"/>
              </a:lnSpc>
              <a:spcBef>
                <a:spcPct val="20000"/>
              </a:spcBef>
              <a:buClr>
                <a:srgbClr val="0066CC"/>
              </a:buClr>
              <a:buSzPct val="90000"/>
              <a:buFont typeface="Wingdings" panose="05000000000000000000" pitchFamily="2" charset="2"/>
              <a:buAutoNum type="circleNumDbPlain"/>
            </a:pPr>
            <a:r>
              <a:rPr lang="zh-CN" altLang="en-US" sz="2000" b="1" dirty="0">
                <a:latin typeface="楷体_GB2312" pitchFamily="49" charset="-122"/>
                <a:ea typeface="楷体_GB2312" pitchFamily="49" charset="-122"/>
              </a:rPr>
              <a:t>界</a:t>
            </a:r>
            <a:r>
              <a:rPr lang="zh-CN" altLang="en-US" sz="2000" b="1" dirty="0">
                <a:latin typeface="Times New Roman" panose="02020603050405020304" pitchFamily="18" charset="0"/>
                <a:ea typeface="楷体_GB2312" pitchFamily="49" charset="-122"/>
              </a:rPr>
              <a:t>面</a:t>
            </a:r>
            <a:r>
              <a:rPr lang="zh-CN" altLang="en-US" sz="2000" b="1" dirty="0">
                <a:latin typeface="楷体_GB2312" pitchFamily="49" charset="-122"/>
                <a:ea typeface="楷体_GB2312" pitchFamily="49" charset="-122"/>
              </a:rPr>
              <a:t>上原子排列较晶粒内疏松，</a:t>
            </a:r>
            <a:r>
              <a:rPr lang="zh-CN" altLang="en-US" sz="2000" b="1" dirty="0" smtClean="0">
                <a:latin typeface="楷体_GB2312" pitchFamily="49" charset="-122"/>
                <a:ea typeface="楷体_GB2312" pitchFamily="49" charset="-122"/>
              </a:rPr>
              <a:t>因</a:t>
            </a:r>
            <a:endParaRPr lang="en-US" altLang="zh-CN" sz="2000" b="1" dirty="0" smtClean="0">
              <a:latin typeface="楷体_GB2312" pitchFamily="49" charset="-122"/>
              <a:ea typeface="楷体_GB2312" pitchFamily="49" charset="-122"/>
            </a:endParaRPr>
          </a:p>
          <a:p>
            <a:pPr marL="342900" indent="-342900" eaLnBrk="1" hangingPunct="1">
              <a:lnSpc>
                <a:spcPct val="130000"/>
              </a:lnSpc>
              <a:spcBef>
                <a:spcPct val="20000"/>
              </a:spcBef>
              <a:buClr>
                <a:srgbClr val="0066CC"/>
              </a:buClr>
              <a:buSzPct val="90000"/>
            </a:pPr>
            <a:r>
              <a:rPr lang="en-US" altLang="zh-CN" sz="2000" b="1" dirty="0" smtClean="0">
                <a:latin typeface="楷体_GB2312" pitchFamily="49" charset="-122"/>
                <a:ea typeface="楷体_GB2312" pitchFamily="49" charset="-122"/>
              </a:rPr>
              <a:t> </a:t>
            </a:r>
            <a:r>
              <a:rPr lang="en-US" altLang="zh-CN" sz="2000" b="1" dirty="0" smtClean="0">
                <a:latin typeface="楷体_GB2312" pitchFamily="49" charset="-122"/>
                <a:ea typeface="楷体_GB2312" pitchFamily="49" charset="-122"/>
              </a:rPr>
              <a:t>  </a:t>
            </a:r>
            <a:r>
              <a:rPr lang="zh-CN" altLang="en-US" sz="2000" b="1" dirty="0" smtClean="0">
                <a:latin typeface="楷体_GB2312" pitchFamily="49" charset="-122"/>
                <a:ea typeface="楷体_GB2312" pitchFamily="49" charset="-122"/>
              </a:rPr>
              <a:t>而</a:t>
            </a:r>
            <a:r>
              <a:rPr lang="zh-CN" altLang="en-US" sz="2000" b="1" dirty="0">
                <a:latin typeface="楷体_GB2312" pitchFamily="49" charset="-122"/>
                <a:ea typeface="楷体_GB2312" pitchFamily="49" charset="-122"/>
              </a:rPr>
              <a:t>界</a:t>
            </a:r>
            <a:r>
              <a:rPr lang="zh-CN" altLang="en-US" sz="2000" b="1" dirty="0">
                <a:latin typeface="Times New Roman" panose="02020603050405020304" pitchFamily="18" charset="0"/>
                <a:ea typeface="楷体_GB2312" pitchFamily="49" charset="-122"/>
              </a:rPr>
              <a:t>面</a:t>
            </a:r>
            <a:r>
              <a:rPr lang="zh-CN" altLang="en-US" sz="2000" b="1" dirty="0">
                <a:latin typeface="楷体_GB2312" pitchFamily="49" charset="-122"/>
                <a:ea typeface="楷体_GB2312" pitchFamily="49" charset="-122"/>
              </a:rPr>
              <a:t>易受腐蚀由于晶</a:t>
            </a:r>
            <a:r>
              <a:rPr lang="zh-CN" altLang="en-US" sz="2000" b="1" dirty="0">
                <a:latin typeface="Times New Roman" panose="02020603050405020304" pitchFamily="18" charset="0"/>
                <a:ea typeface="楷体_GB2312" pitchFamily="49" charset="-122"/>
              </a:rPr>
              <a:t>面</a:t>
            </a:r>
            <a:r>
              <a:rPr lang="zh-CN" altLang="en-US" sz="2000" b="1" dirty="0">
                <a:latin typeface="楷体_GB2312" pitchFamily="49" charset="-122"/>
                <a:ea typeface="楷体_GB2312" pitchFamily="49" charset="-122"/>
              </a:rPr>
              <a:t>上结构疏松</a:t>
            </a:r>
            <a:r>
              <a:rPr lang="zh-CN" altLang="en-US" sz="2000" b="1" dirty="0" smtClean="0">
                <a:latin typeface="楷体_GB2312" pitchFamily="49" charset="-122"/>
                <a:ea typeface="楷体_GB2312" pitchFamily="49" charset="-122"/>
              </a:rPr>
              <a:t>，</a:t>
            </a:r>
            <a:endParaRPr lang="en-US" altLang="zh-CN" sz="2000" b="1" dirty="0" smtClean="0">
              <a:latin typeface="楷体_GB2312" pitchFamily="49" charset="-122"/>
              <a:ea typeface="楷体_GB2312" pitchFamily="49" charset="-122"/>
            </a:endParaRPr>
          </a:p>
          <a:p>
            <a:pPr marL="342900" indent="-342900" eaLnBrk="1" hangingPunct="1">
              <a:lnSpc>
                <a:spcPct val="130000"/>
              </a:lnSpc>
              <a:spcBef>
                <a:spcPct val="20000"/>
              </a:spcBef>
              <a:buClr>
                <a:srgbClr val="0066CC"/>
              </a:buClr>
              <a:buSzPct val="90000"/>
            </a:pPr>
            <a:r>
              <a:rPr lang="en-US" altLang="zh-CN" sz="2000" b="1" dirty="0" smtClean="0">
                <a:latin typeface="楷体_GB2312" pitchFamily="49" charset="-122"/>
                <a:ea typeface="楷体_GB2312" pitchFamily="49" charset="-122"/>
              </a:rPr>
              <a:t> </a:t>
            </a:r>
            <a:r>
              <a:rPr lang="en-US" altLang="zh-CN" sz="2000" b="1" dirty="0" smtClean="0">
                <a:latin typeface="楷体_GB2312" pitchFamily="49" charset="-122"/>
                <a:ea typeface="楷体_GB2312" pitchFamily="49" charset="-122"/>
              </a:rPr>
              <a:t>  </a:t>
            </a:r>
            <a:r>
              <a:rPr lang="zh-CN" altLang="en-US" sz="2000" b="1" dirty="0" smtClean="0">
                <a:latin typeface="楷体_GB2312" pitchFamily="49" charset="-122"/>
                <a:ea typeface="楷体_GB2312" pitchFamily="49" charset="-122"/>
              </a:rPr>
              <a:t>在</a:t>
            </a:r>
            <a:r>
              <a:rPr lang="zh-CN" altLang="en-US" sz="2000" b="1" dirty="0">
                <a:latin typeface="楷体_GB2312" pitchFamily="49" charset="-122"/>
                <a:ea typeface="楷体_GB2312" pitchFamily="49" charset="-122"/>
              </a:rPr>
              <a:t>多晶体中，界</a:t>
            </a:r>
            <a:r>
              <a:rPr lang="zh-CN" altLang="en-US" sz="2000" b="1" dirty="0">
                <a:latin typeface="Times New Roman" panose="02020603050405020304" pitchFamily="18" charset="0"/>
                <a:ea typeface="楷体_GB2312" pitchFamily="49" charset="-122"/>
              </a:rPr>
              <a:t>面</a:t>
            </a:r>
            <a:r>
              <a:rPr lang="zh-CN" altLang="en-US" sz="2000" b="1" dirty="0">
                <a:latin typeface="楷体_GB2312" pitchFamily="49" charset="-122"/>
                <a:ea typeface="楷体_GB2312" pitchFamily="49" charset="-122"/>
              </a:rPr>
              <a:t>是原子（或离子）</a:t>
            </a:r>
            <a:r>
              <a:rPr lang="zh-CN" altLang="en-US" sz="2000" b="1" dirty="0">
                <a:solidFill>
                  <a:schemeClr val="tx2"/>
                </a:solidFill>
                <a:latin typeface="楷体_GB2312" pitchFamily="49" charset="-122"/>
                <a:ea typeface="楷体_GB2312" pitchFamily="49" charset="-122"/>
              </a:rPr>
              <a:t>快速扩散的通道</a:t>
            </a:r>
            <a:r>
              <a:rPr lang="zh-CN" altLang="en-US" sz="2000" b="1" dirty="0">
                <a:latin typeface="楷体_GB2312" pitchFamily="49" charset="-122"/>
                <a:ea typeface="楷体_GB2312" pitchFamily="49" charset="-122"/>
              </a:rPr>
              <a:t>，并易引起杂质原子（离子）</a:t>
            </a:r>
            <a:r>
              <a:rPr lang="zh-CN" altLang="en-US" sz="2000" b="1" dirty="0">
                <a:solidFill>
                  <a:schemeClr val="accent2"/>
                </a:solidFill>
                <a:latin typeface="楷体_GB2312" pitchFamily="49" charset="-122"/>
                <a:ea typeface="楷体_GB2312" pitchFamily="49" charset="-122"/>
              </a:rPr>
              <a:t>偏聚</a:t>
            </a:r>
            <a:r>
              <a:rPr lang="zh-CN" altLang="en-US" sz="2000" b="1" dirty="0">
                <a:latin typeface="楷体_GB2312" pitchFamily="49" charset="-122"/>
                <a:ea typeface="楷体_GB2312" pitchFamily="49" charset="-122"/>
              </a:rPr>
              <a:t>，同时也使界</a:t>
            </a:r>
            <a:r>
              <a:rPr lang="zh-CN" altLang="en-US" sz="2000" b="1" dirty="0">
                <a:latin typeface="Times New Roman" panose="02020603050405020304" pitchFamily="18" charset="0"/>
                <a:ea typeface="楷体_GB2312" pitchFamily="49" charset="-122"/>
              </a:rPr>
              <a:t>面</a:t>
            </a:r>
            <a:r>
              <a:rPr lang="zh-CN" altLang="en-US" sz="2000" b="1" dirty="0">
                <a:latin typeface="楷体_GB2312" pitchFamily="49" charset="-122"/>
                <a:ea typeface="楷体_GB2312" pitchFamily="49" charset="-122"/>
              </a:rPr>
              <a:t>处熔点低于晶粒；</a:t>
            </a:r>
            <a:endParaRPr lang="zh-CN" altLang="en-US" sz="2000" b="1" dirty="0">
              <a:latin typeface="楷体_GB2312" pitchFamily="49" charset="-122"/>
              <a:ea typeface="楷体_GB2312" pitchFamily="49" charset="-122"/>
            </a:endParaRPr>
          </a:p>
          <a:p>
            <a:pPr marL="457200" indent="-457200" eaLnBrk="1" hangingPunct="1">
              <a:lnSpc>
                <a:spcPct val="130000"/>
              </a:lnSpc>
              <a:spcBef>
                <a:spcPct val="20000"/>
              </a:spcBef>
              <a:buClr>
                <a:srgbClr val="0066CC"/>
              </a:buClr>
              <a:buSzPct val="90000"/>
              <a:buFont typeface="+mj-ea"/>
              <a:buAutoNum type="circleNumDbPlain" startAt="2"/>
            </a:pPr>
            <a:r>
              <a:rPr lang="zh-CN" altLang="en-US" sz="2000" b="1" dirty="0">
                <a:latin typeface="楷体_GB2312" pitchFamily="49" charset="-122"/>
                <a:ea typeface="楷体_GB2312" pitchFamily="49" charset="-122"/>
              </a:rPr>
              <a:t>界</a:t>
            </a:r>
            <a:r>
              <a:rPr lang="zh-CN" altLang="en-US" sz="2000" b="1" dirty="0">
                <a:latin typeface="Times New Roman" panose="02020603050405020304" pitchFamily="18" charset="0"/>
                <a:ea typeface="楷体_GB2312" pitchFamily="49" charset="-122"/>
              </a:rPr>
              <a:t>面</a:t>
            </a:r>
            <a:r>
              <a:rPr lang="zh-CN" altLang="en-US" sz="2000" b="1" dirty="0">
                <a:latin typeface="楷体_GB2312" pitchFamily="49" charset="-122"/>
                <a:ea typeface="楷体_GB2312" pitchFamily="49" charset="-122"/>
              </a:rPr>
              <a:t>上原子排列混乱，存在着许多空位、位错和键变形等缺陷，使之处于应力畸变状态，能阶较高，使得界</a:t>
            </a:r>
            <a:r>
              <a:rPr lang="zh-CN" altLang="en-US" sz="2000" b="1" dirty="0">
                <a:latin typeface="Times New Roman" panose="02020603050405020304" pitchFamily="18" charset="0"/>
                <a:ea typeface="楷体_GB2312" pitchFamily="49" charset="-122"/>
              </a:rPr>
              <a:t>面</a:t>
            </a:r>
            <a:r>
              <a:rPr lang="zh-CN" altLang="en-US" sz="2000" b="1" dirty="0">
                <a:latin typeface="楷体_GB2312" pitchFamily="49" charset="-122"/>
                <a:ea typeface="楷体_GB2312" pitchFamily="49" charset="-122"/>
              </a:rPr>
              <a:t>成为固态相变时</a:t>
            </a:r>
            <a:r>
              <a:rPr lang="zh-CN" altLang="en-US" sz="2000" b="1" dirty="0">
                <a:solidFill>
                  <a:schemeClr val="tx2"/>
                </a:solidFill>
                <a:latin typeface="楷体_GB2312" pitchFamily="49" charset="-122"/>
                <a:ea typeface="楷体_GB2312" pitchFamily="49" charset="-122"/>
              </a:rPr>
              <a:t>优先成核的区域</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marL="342900" indent="-342900" eaLnBrk="1" hangingPunct="1">
              <a:lnSpc>
                <a:spcPct val="130000"/>
              </a:lnSpc>
              <a:spcBef>
                <a:spcPct val="20000"/>
              </a:spcBef>
              <a:buClr>
                <a:srgbClr val="0066CC"/>
              </a:buClr>
              <a:buSzPct val="90000"/>
              <a:buFont typeface="Wingdings" panose="05000000000000000000" pitchFamily="2" charset="2"/>
              <a:buAutoNum type="circleNumDbPlain" startAt="2"/>
            </a:pPr>
            <a:r>
              <a:rPr lang="zh-CN" altLang="en-US" sz="2000" b="1" dirty="0">
                <a:latin typeface="楷体_GB2312" pitchFamily="49" charset="-122"/>
                <a:ea typeface="楷体_GB2312" pitchFamily="49" charset="-122"/>
              </a:rPr>
              <a:t>晶界对位错运动的阻碍作用</a:t>
            </a:r>
            <a:r>
              <a:rPr lang="en-US" altLang="zh-CN" sz="2000" b="1" dirty="0">
                <a:latin typeface="Arial" panose="020B0604020202020204" pitchFamily="34" charset="0"/>
                <a:ea typeface="楷体_GB2312" pitchFamily="49" charset="-122"/>
              </a:rPr>
              <a:t>——</a:t>
            </a:r>
            <a:r>
              <a:rPr lang="zh-CN" altLang="en-US" sz="2000" b="1" dirty="0">
                <a:solidFill>
                  <a:schemeClr val="tx2"/>
                </a:solidFill>
                <a:latin typeface="楷体_GB2312" pitchFamily="49" charset="-122"/>
                <a:ea typeface="楷体_GB2312" pitchFamily="49" charset="-122"/>
              </a:rPr>
              <a:t>细晶强化</a:t>
            </a:r>
            <a:endParaRPr lang="zh-CN" altLang="en-US" sz="2000" b="1" dirty="0">
              <a:solidFill>
                <a:schemeClr val="tx2"/>
              </a:solidFill>
              <a:latin typeface="楷体_GB2312" pitchFamily="49" charset="-122"/>
              <a:ea typeface="楷体_GB2312" pitchFamily="49" charset="-122"/>
            </a:endParaRPr>
          </a:p>
        </p:txBody>
      </p:sp>
      <p:sp>
        <p:nvSpPr>
          <p:cNvPr id="15" name="AutoShape 3"/>
          <p:cNvSpPr>
            <a:spLocks noChangeArrowheads="1"/>
          </p:cNvSpPr>
          <p:nvPr/>
        </p:nvSpPr>
        <p:spPr bwMode="auto">
          <a:xfrm>
            <a:off x="428596" y="571486"/>
            <a:ext cx="3455987" cy="576262"/>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2</a:t>
            </a: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晶界的特性</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pic>
        <p:nvPicPr>
          <p:cNvPr id="16" name="Picture 4" descr="4-14"/>
          <p:cNvPicPr>
            <a:picLocks noChangeAspect="1"/>
          </p:cNvPicPr>
          <p:nvPr/>
        </p:nvPicPr>
        <p:blipFill>
          <a:blip r:embed="rId3" cstate="print"/>
          <a:srcRect b="25124"/>
          <a:stretch>
            <a:fillRect/>
          </a:stretch>
        </p:blipFill>
        <p:spPr>
          <a:xfrm>
            <a:off x="5286380" y="714362"/>
            <a:ext cx="2480603" cy="1857388"/>
          </a:xfrm>
          <a:prstGeom prst="rect">
            <a:avLst/>
          </a:prstGeom>
          <a:noFill/>
          <a:ln w="9525">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2"/>
          <p:cNvSpPr/>
          <p:nvPr/>
        </p:nvSpPr>
        <p:spPr>
          <a:xfrm>
            <a:off x="285720" y="1142990"/>
            <a:ext cx="8496300" cy="931862"/>
          </a:xfrm>
          <a:prstGeom prst="rect">
            <a:avLst/>
          </a:prstGeom>
          <a:noFill/>
          <a:ln w="38100">
            <a:noFill/>
          </a:ln>
        </p:spPr>
        <p:txBody>
          <a:bodyPr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90000"/>
              </a:lnSpc>
              <a:spcBef>
                <a:spcPct val="50000"/>
              </a:spcBef>
              <a:buFont typeface="Wingdings" panose="05000000000000000000" pitchFamily="2" charset="2"/>
            </a:pPr>
            <a:r>
              <a:rPr lang="zh-CN" altLang="en-US" sz="2400" b="1" dirty="0">
                <a:solidFill>
                  <a:srgbClr val="CC3300"/>
                </a:solidFill>
                <a:latin typeface="Times New Roman" panose="02020603050405020304" pitchFamily="18" charset="0"/>
                <a:ea typeface="楷体_GB2312" pitchFamily="49" charset="-122"/>
              </a:rPr>
              <a:t>晶界偏聚</a:t>
            </a:r>
            <a:r>
              <a:rPr lang="zh-CN" altLang="en-US" sz="2400" b="1" dirty="0">
                <a:solidFill>
                  <a:srgbClr val="CC00FF"/>
                </a:solidFill>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溶质原子或杂质原子在晶界上的富集，也称内吸附。</a:t>
            </a:r>
            <a:endParaRPr lang="zh-CN" altLang="en-US" sz="2400" b="1" dirty="0">
              <a:latin typeface="Times New Roman" panose="02020603050405020304" pitchFamily="18" charset="0"/>
              <a:ea typeface="楷体_GB2312" pitchFamily="49" charset="-122"/>
            </a:endParaRPr>
          </a:p>
          <a:p>
            <a:pPr eaLnBrk="1" hangingPunct="1">
              <a:lnSpc>
                <a:spcPct val="90000"/>
              </a:lnSpc>
              <a:spcBef>
                <a:spcPct val="50000"/>
              </a:spcBef>
              <a:buFont typeface="Wingdings" panose="05000000000000000000" pitchFamily="2" charset="2"/>
            </a:pPr>
            <a:endParaRPr lang="en-US" altLang="zh-CN" sz="2400" b="1" dirty="0">
              <a:latin typeface="Times New Roman" panose="02020603050405020304" pitchFamily="18" charset="0"/>
              <a:ea typeface="楷体_GB2312" pitchFamily="49" charset="-122"/>
            </a:endParaRPr>
          </a:p>
        </p:txBody>
      </p:sp>
      <p:sp>
        <p:nvSpPr>
          <p:cNvPr id="9" name="AutoShape 3"/>
          <p:cNvSpPr>
            <a:spLocks noChangeArrowheads="1"/>
          </p:cNvSpPr>
          <p:nvPr/>
        </p:nvSpPr>
        <p:spPr bwMode="auto">
          <a:xfrm>
            <a:off x="500034" y="571486"/>
            <a:ext cx="3168650" cy="576264"/>
          </a:xfrm>
          <a:prstGeom prst="roundRect">
            <a:avLst>
              <a:gd name="adj" fmla="val 16667"/>
            </a:avLst>
          </a:prstGeom>
          <a:gradFill rotWithShape="1">
            <a:gsLst>
              <a:gs pos="0">
                <a:srgbClr val="FD69EB">
                  <a:gamma/>
                  <a:shade val="46275"/>
                  <a:invGamma/>
                </a:srgbClr>
              </a:gs>
              <a:gs pos="50000">
                <a:srgbClr val="FD69EB">
                  <a:alpha val="49001"/>
                </a:srgbClr>
              </a:gs>
              <a:gs pos="100000">
                <a:srgbClr val="FD69EB">
                  <a:gamma/>
                  <a:shade val="46275"/>
                  <a:invGamma/>
                </a:srgbClr>
              </a:gs>
            </a:gsLst>
            <a:lin ang="5400000" scaled="1"/>
          </a:gradFill>
          <a:ln>
            <a:noFill/>
          </a:ln>
          <a:effectLst/>
        </p:spPr>
        <p:txBody>
          <a:bodyPr wrap="none" lIns="92075" tIns="46038" rIns="92075" bIns="46038" anchor="ct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3</a:t>
            </a:r>
            <a:r>
              <a:rPr kumimoji="0" lang="en-US"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晶界偏聚</a:t>
            </a:r>
            <a:endParaRPr kumimoji="0" lang="zh-CN" altLang="en-US" sz="2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0" name="Rectangle 5"/>
          <p:cNvSpPr/>
          <p:nvPr/>
        </p:nvSpPr>
        <p:spPr>
          <a:xfrm>
            <a:off x="2428860" y="4000510"/>
            <a:ext cx="4102100" cy="915988"/>
          </a:xfrm>
          <a:prstGeom prst="rect">
            <a:avLst/>
          </a:prstGeom>
          <a:noFill/>
          <a:ln w="38100">
            <a:noFill/>
          </a:ln>
        </p:spPr>
        <p:txBody>
          <a:bodyPr wrap="none" lIns="90000" tIns="46800" rIns="90000" bIns="46800" anchor="ctr" anchorCtr="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algn="ctr" eaLnBrk="1" hangingPunct="1"/>
            <a:r>
              <a:rPr lang="en-US" altLang="zh-CN" dirty="0">
                <a:latin typeface="Arial" panose="020B0604020202020204" pitchFamily="34" charset="0"/>
              </a:rPr>
              <a:t>                                          </a:t>
            </a:r>
            <a:endParaRPr lang="en-US" altLang="zh-CN" dirty="0">
              <a:latin typeface="Arial" panose="020B0604020202020204" pitchFamily="34" charset="0"/>
            </a:endParaRPr>
          </a:p>
          <a:p>
            <a:pPr algn="ctr"/>
            <a:r>
              <a:rPr lang="zh-CN" altLang="en-US" b="1" baseline="30000" dirty="0">
                <a:latin typeface="宋体" panose="02010600030101010101" pitchFamily="2" charset="-122"/>
              </a:rPr>
              <a:t>　</a:t>
            </a:r>
            <a:r>
              <a:rPr lang="en-US" altLang="zh-CN" b="1" dirty="0">
                <a:latin typeface="宋体" panose="02010600030101010101" pitchFamily="2" charset="-122"/>
              </a:rPr>
              <a:t>Ce</a:t>
            </a:r>
            <a:r>
              <a:rPr lang="zh-CN" altLang="en-US" b="1" dirty="0">
                <a:latin typeface="宋体" panose="02010600030101010101" pitchFamily="2" charset="-122"/>
              </a:rPr>
              <a:t>在高速钢中的面分布</a:t>
            </a:r>
            <a:br>
              <a:rPr lang="zh-CN" altLang="en-US" b="1" dirty="0">
                <a:latin typeface="宋体" panose="02010600030101010101" pitchFamily="2" charset="-122"/>
              </a:rPr>
            </a:br>
            <a:r>
              <a:rPr lang="en-US" altLang="zh-CN" b="1" dirty="0">
                <a:latin typeface="宋体" panose="02010600030101010101" pitchFamily="2" charset="-122"/>
              </a:rPr>
              <a:t>(a) </a:t>
            </a:r>
            <a:r>
              <a:rPr lang="zh-CN" altLang="en-US" b="1" dirty="0">
                <a:latin typeface="宋体" panose="02010600030101010101" pitchFamily="2" charset="-122"/>
              </a:rPr>
              <a:t>背散射电子图像；</a:t>
            </a:r>
            <a:r>
              <a:rPr lang="en-US" altLang="zh-CN" b="1" dirty="0">
                <a:latin typeface="宋体" panose="02010600030101010101" pitchFamily="2" charset="-122"/>
              </a:rPr>
              <a:t>(b) Ce</a:t>
            </a:r>
            <a:r>
              <a:rPr lang="zh-CN" altLang="en-US" b="1" dirty="0">
                <a:latin typeface="宋体" panose="02010600030101010101" pitchFamily="2" charset="-122"/>
              </a:rPr>
              <a:t>的面分布</a:t>
            </a:r>
            <a:endParaRPr lang="zh-CN" altLang="en-US" b="1" dirty="0">
              <a:latin typeface="Arial" panose="020B0604020202020204" pitchFamily="34" charset="0"/>
            </a:endParaRPr>
          </a:p>
        </p:txBody>
      </p:sp>
      <p:pic>
        <p:nvPicPr>
          <p:cNvPr id="11" name="Picture 6"/>
          <p:cNvPicPr>
            <a:picLocks noChangeAspect="1"/>
          </p:cNvPicPr>
          <p:nvPr/>
        </p:nvPicPr>
        <p:blipFill>
          <a:blip r:embed="rId3" cstate="print"/>
          <a:stretch>
            <a:fillRect/>
          </a:stretch>
        </p:blipFill>
        <p:spPr>
          <a:xfrm>
            <a:off x="1643042" y="1714494"/>
            <a:ext cx="2663825" cy="2317750"/>
          </a:xfrm>
          <a:prstGeom prst="rect">
            <a:avLst/>
          </a:prstGeom>
          <a:noFill/>
          <a:ln w="9525">
            <a:noFill/>
          </a:ln>
        </p:spPr>
      </p:pic>
      <p:pic>
        <p:nvPicPr>
          <p:cNvPr id="13" name="Picture 7"/>
          <p:cNvPicPr>
            <a:picLocks noChangeAspect="1"/>
          </p:cNvPicPr>
          <p:nvPr/>
        </p:nvPicPr>
        <p:blipFill>
          <a:blip r:embed="rId4" cstate="print"/>
          <a:stretch>
            <a:fillRect/>
          </a:stretch>
        </p:blipFill>
        <p:spPr>
          <a:xfrm>
            <a:off x="4572000" y="1714494"/>
            <a:ext cx="2697162" cy="2387600"/>
          </a:xfrm>
          <a:prstGeom prst="rect">
            <a:avLst/>
          </a:prstGeom>
          <a:noFill/>
          <a:ln w="9525">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pic>
        <p:nvPicPr>
          <p:cNvPr id="8" name="Picture 5" descr="1-41"/>
          <p:cNvPicPr>
            <a:picLocks noChangeAspect="1"/>
          </p:cNvPicPr>
          <p:nvPr/>
        </p:nvPicPr>
        <p:blipFill>
          <a:blip r:embed="rId3" cstate="print"/>
          <a:srcRect r="27522"/>
          <a:stretch>
            <a:fillRect/>
          </a:stretch>
        </p:blipFill>
        <p:spPr>
          <a:xfrm>
            <a:off x="285720" y="1500180"/>
            <a:ext cx="3960813" cy="3567113"/>
          </a:xfrm>
          <a:prstGeom prst="rect">
            <a:avLst/>
          </a:prstGeom>
          <a:noFill/>
          <a:ln w="9525">
            <a:noFill/>
          </a:ln>
        </p:spPr>
      </p:pic>
      <p:sp>
        <p:nvSpPr>
          <p:cNvPr id="9" name="Rectangle 6"/>
          <p:cNvSpPr>
            <a:spLocks noChangeArrowheads="1"/>
          </p:cNvSpPr>
          <p:nvPr/>
        </p:nvSpPr>
        <p:spPr bwMode="auto">
          <a:xfrm>
            <a:off x="500034" y="571486"/>
            <a:ext cx="3168650" cy="579439"/>
          </a:xfrm>
          <a:prstGeom prst="rect">
            <a:avLst/>
          </a:prstGeom>
          <a:gradFill rotWithShape="1">
            <a:gsLst>
              <a:gs pos="0">
                <a:srgbClr val="FF6600">
                  <a:gamma/>
                  <a:shade val="46275"/>
                  <a:invGamma/>
                </a:srgbClr>
              </a:gs>
              <a:gs pos="50000">
                <a:srgbClr val="FF6600">
                  <a:alpha val="49001"/>
                </a:srgbClr>
              </a:gs>
              <a:gs pos="100000">
                <a:srgbClr val="FF6600">
                  <a:gamma/>
                  <a:shade val="46275"/>
                  <a:invGamma/>
                </a:srgbClr>
              </a:gs>
            </a:gsLst>
            <a:lin ang="5400000" scaled="1"/>
          </a:gradFill>
          <a:ln>
            <a:noFill/>
          </a:ln>
          <a:effectLst/>
        </p:spPr>
        <p:txBody>
          <a:bodyPr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三、堆垛层错</a:t>
            </a:r>
            <a:endParaRPr kumimoji="0" lang="zh-CN" altLang="en-US" sz="32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10" name="Rectangle 8"/>
          <p:cNvSpPr/>
          <p:nvPr/>
        </p:nvSpPr>
        <p:spPr>
          <a:xfrm>
            <a:off x="357158" y="1142990"/>
            <a:ext cx="8424862" cy="895350"/>
          </a:xfrm>
          <a:prstGeom prst="rect">
            <a:avLst/>
          </a:prstGeom>
          <a:noFill/>
          <a:ln w="19050">
            <a:noFill/>
          </a:ln>
        </p:spPr>
        <p:txBody>
          <a:bodyPr lIns="90000" tIns="46800" rIns="90000" bIns="46800">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110000"/>
              </a:lnSpc>
              <a:spcBef>
                <a:spcPct val="50000"/>
              </a:spcBef>
              <a:buFont typeface="Wingdings" panose="05000000000000000000" pitchFamily="2" charset="2"/>
            </a:pPr>
            <a:r>
              <a:rPr lang="zh-CN" altLang="en-US" sz="2400" b="1" dirty="0">
                <a:solidFill>
                  <a:srgbClr val="990000"/>
                </a:solidFill>
                <a:latin typeface="Arial" panose="020B0604020202020204" pitchFamily="34" charset="0"/>
              </a:rPr>
              <a:t>堆垛层错</a:t>
            </a:r>
            <a:r>
              <a:rPr lang="en-US" altLang="zh-CN" sz="2400" b="1" dirty="0">
                <a:solidFill>
                  <a:srgbClr val="000000"/>
                </a:solidFill>
                <a:latin typeface="Arial" panose="020B0604020202020204" pitchFamily="34" charset="0"/>
              </a:rPr>
              <a:t>(</a:t>
            </a:r>
            <a:r>
              <a:rPr lang="zh-CN" altLang="en-US" sz="2400" b="1" dirty="0">
                <a:solidFill>
                  <a:srgbClr val="000000"/>
                </a:solidFill>
                <a:latin typeface="Arial" panose="020B0604020202020204" pitchFamily="34" charset="0"/>
              </a:rPr>
              <a:t>以下简称层错</a:t>
            </a:r>
            <a:r>
              <a:rPr lang="en-US" altLang="zh-CN" sz="2400" b="1" dirty="0">
                <a:solidFill>
                  <a:srgbClr val="000000"/>
                </a:solidFill>
                <a:latin typeface="Arial" panose="020B0604020202020204" pitchFamily="34" charset="0"/>
              </a:rPr>
              <a:t>)</a:t>
            </a:r>
            <a:r>
              <a:rPr lang="zh-CN" altLang="en-US" sz="2400" b="1" dirty="0">
                <a:solidFill>
                  <a:srgbClr val="000000"/>
                </a:solidFill>
                <a:latin typeface="Arial" panose="020B0604020202020204" pitchFamily="34" charset="0"/>
              </a:rPr>
              <a:t>：指正常堆垛顺序中引入不正常顺序</a:t>
            </a:r>
            <a:br>
              <a:rPr lang="zh-CN" altLang="en-US" sz="2400" b="1" dirty="0">
                <a:solidFill>
                  <a:srgbClr val="000000"/>
                </a:solidFill>
                <a:latin typeface="Arial" panose="020B0604020202020204" pitchFamily="34" charset="0"/>
              </a:rPr>
            </a:br>
            <a:r>
              <a:rPr lang="zh-CN" altLang="en-US" sz="2400" b="1" dirty="0">
                <a:solidFill>
                  <a:srgbClr val="000000"/>
                </a:solidFill>
                <a:latin typeface="Arial" panose="020B0604020202020204" pitchFamily="34" charset="0"/>
              </a:rPr>
              <a:t>                                         堆垛的原子面而产生的一类面缺陷。</a:t>
            </a:r>
            <a:endParaRPr lang="zh-CN" altLang="en-US" sz="2400" b="1" dirty="0">
              <a:solidFill>
                <a:srgbClr val="000000"/>
              </a:solidFill>
              <a:latin typeface="Arial" panose="020B0604020202020204" pitchFamily="34" charset="0"/>
            </a:endParaRPr>
          </a:p>
        </p:txBody>
      </p:sp>
      <p:pic>
        <p:nvPicPr>
          <p:cNvPr id="11" name="Picture 9" descr="图3"/>
          <p:cNvPicPr>
            <a:picLocks noChangeAspect="1"/>
          </p:cNvPicPr>
          <p:nvPr/>
        </p:nvPicPr>
        <p:blipFill>
          <a:blip r:embed="rId4" cstate="print"/>
          <a:stretch>
            <a:fillRect/>
          </a:stretch>
        </p:blipFill>
        <p:spPr>
          <a:xfrm>
            <a:off x="4427538" y="2336007"/>
            <a:ext cx="4103687" cy="2605087"/>
          </a:xfrm>
          <a:prstGeom prst="rect">
            <a:avLst/>
          </a:prstGeom>
          <a:noFill/>
          <a:ln w="9525">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2"/>
          <p:cNvSpPr>
            <a:spLocks noGrp="1"/>
          </p:cNvSpPr>
          <p:nvPr/>
        </p:nvSpPr>
        <p:spPr>
          <a:xfrm>
            <a:off x="357158" y="4593415"/>
            <a:ext cx="8429684" cy="550085"/>
          </a:xfrm>
          <a:prstGeom prst="rect">
            <a:avLst/>
          </a:prstGeom>
          <a:noFill/>
          <a:ln w="9525">
            <a:noFill/>
          </a:ln>
        </p:spPr>
        <p:txBody>
          <a:bodyPr vert="horz" wrap="square" lIns="91440" tIns="45720" rIns="91440" bIns="45720" anchor="t" anchorCtr="0"/>
          <a:lstStyle>
            <a:lvl1pPr algn="l" rtl="0" fontAlgn="base">
              <a:spcBef>
                <a:spcPct val="0"/>
              </a:spcBef>
              <a:spcAft>
                <a:spcPct val="0"/>
              </a:spcAft>
              <a:defRPr sz="4200" kern="1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2pPr>
            <a:lvl3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3pPr>
            <a:lvl4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4pPr>
            <a:lvl5pPr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anose="02010600030101010101" pitchFamily="2" charset="-122"/>
              </a:defRPr>
            </a:lvl9pPr>
          </a:lstStyle>
          <a:p>
            <a:pPr eaLnBrk="1" hangingPunct="1"/>
            <a:r>
              <a:rPr lang="zh-CN" altLang="en-US" sz="2400" b="1" dirty="0"/>
              <a:t>图</a:t>
            </a:r>
            <a:r>
              <a:rPr lang="en-US" altLang="zh-CN" sz="2400" b="1" dirty="0"/>
              <a:t>2-20   </a:t>
            </a:r>
            <a:r>
              <a:rPr lang="zh-CN" altLang="en-US" sz="2400" b="1" dirty="0"/>
              <a:t>面心立方晶体中的抽出型层错</a:t>
            </a:r>
            <a:r>
              <a:rPr lang="en-US" altLang="zh-CN" sz="2400" b="1" dirty="0"/>
              <a:t>(a)  </a:t>
            </a:r>
            <a:r>
              <a:rPr lang="zh-CN" altLang="en-US" sz="2400" b="1" dirty="0" smtClean="0"/>
              <a:t>和</a:t>
            </a:r>
            <a:r>
              <a:rPr lang="zh-CN" altLang="en-US" sz="2400" b="1" dirty="0"/>
              <a:t>插入型层错</a:t>
            </a:r>
            <a:r>
              <a:rPr lang="en-US" altLang="zh-CN" sz="2400" b="1" dirty="0"/>
              <a:t>(b) </a:t>
            </a:r>
            <a:endParaRPr lang="en-US" altLang="zh-CN" sz="2400" b="1" dirty="0"/>
          </a:p>
        </p:txBody>
      </p:sp>
      <p:sp>
        <p:nvSpPr>
          <p:cNvPr id="9" name="Rectangle 3"/>
          <p:cNvSpPr/>
          <p:nvPr/>
        </p:nvSpPr>
        <p:spPr>
          <a:xfrm>
            <a:off x="285720" y="571487"/>
            <a:ext cx="8715436" cy="1357321"/>
          </a:xfrm>
          <a:prstGeom prst="rect">
            <a:avLst/>
          </a:prstGeom>
          <a:noFill/>
          <a:ln w="9525">
            <a:noFill/>
          </a:ln>
        </p:spPr>
        <p:txBody>
          <a:bodyPr/>
          <a:lstStyle>
            <a:lvl1pPr marL="342900" indent="-342900" algn="l" rtl="0" fontAlgn="base">
              <a:spcBef>
                <a:spcPct val="20000"/>
              </a:spcBef>
              <a:spcAft>
                <a:spcPct val="0"/>
              </a:spcAft>
              <a:buClr>
                <a:schemeClr val="accent1"/>
              </a:buClr>
              <a:buSzPct val="65000"/>
              <a:buFont typeface="Wingdings" panose="05000000000000000000" pitchFamily="2" charset="2"/>
              <a:buChar char="n"/>
              <a:defRPr sz="3000" kern="1200">
                <a:solidFill>
                  <a:schemeClr val="tx1"/>
                </a:solidFill>
                <a:latin typeface="+mn-lt"/>
                <a:ea typeface="+mn-ea"/>
                <a:cs typeface="+mn-cs"/>
              </a:defRPr>
            </a:lvl1pPr>
            <a:lvl2pPr marL="669925" indent="-325755" algn="l" rtl="0" fontAlgn="base">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1155" algn="l" rtl="0" fontAlgn="base">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6230" algn="l" rtl="0" fontAlgn="base">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480" indent="-339725" algn="l" rtl="0" fontAlgn="base">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stStyle>
          <a:p>
            <a:pPr marL="0" lvl="0" indent="0" eaLnBrk="1" hangingPunct="1">
              <a:lnSpc>
                <a:spcPct val="110000"/>
              </a:lnSpc>
              <a:buNone/>
            </a:pPr>
            <a:r>
              <a:rPr lang="en-US" altLang="zh-CN" sz="2400" b="1" dirty="0"/>
              <a:t>       </a:t>
            </a:r>
            <a:r>
              <a:rPr lang="zh-CN" altLang="en-US" sz="2400" b="1" dirty="0"/>
              <a:t>这种结构变化，并不改变层错处原子最近邻的关系</a:t>
            </a:r>
            <a:r>
              <a:rPr lang="en-US" altLang="zh-CN" sz="2400" b="1" dirty="0"/>
              <a:t>(</a:t>
            </a:r>
            <a:r>
              <a:rPr lang="zh-CN" altLang="en-US" sz="2400" b="1" dirty="0"/>
              <a:t>包括配位数、键长、键角</a:t>
            </a:r>
            <a:r>
              <a:rPr lang="en-US" altLang="zh-CN" sz="2400" b="1" dirty="0"/>
              <a:t>)</a:t>
            </a:r>
            <a:r>
              <a:rPr lang="zh-CN" altLang="en-US" sz="2400" b="1" dirty="0"/>
              <a:t>，只改变次邻近关系，几乎不产生畸变，所引起的畸变能很小。因而，层错是一种低能量的界面。</a:t>
            </a:r>
            <a:endParaRPr lang="zh-CN" altLang="en-US" sz="2400" b="1" dirty="0"/>
          </a:p>
        </p:txBody>
      </p:sp>
      <p:pic>
        <p:nvPicPr>
          <p:cNvPr id="10" name="Picture 5" descr="未标题-2 拷贝"/>
          <p:cNvPicPr>
            <a:picLocks noChangeAspect="1"/>
          </p:cNvPicPr>
          <p:nvPr/>
        </p:nvPicPr>
        <p:blipFill>
          <a:blip r:embed="rId3" cstate="print"/>
          <a:stretch>
            <a:fillRect/>
          </a:stretch>
        </p:blipFill>
        <p:spPr>
          <a:xfrm>
            <a:off x="857224" y="1857370"/>
            <a:ext cx="6783406" cy="2768080"/>
          </a:xfrm>
          <a:prstGeom prst="rect">
            <a:avLst/>
          </a:prstGeom>
          <a:noFill/>
          <a:ln w="9525">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63988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2——</a:t>
            </a:r>
            <a:r>
              <a:rPr lang="zh-CN" altLang="en-US" sz="2400" b="1" dirty="0" smtClean="0">
                <a:solidFill>
                  <a:srgbClr val="000000"/>
                </a:solidFill>
              </a:rPr>
              <a:t>晶体缺陷及其对材料性能的影响</a:t>
            </a:r>
            <a:endParaRPr lang="zh-CN" altLang="en-US" sz="2400" b="1" dirty="0">
              <a:solidFill>
                <a:srgbClr val="000000"/>
              </a:solidFill>
            </a:endParaRPr>
          </a:p>
        </p:txBody>
      </p:sp>
      <p:sp>
        <p:nvSpPr>
          <p:cNvPr id="8" name="Rectangle 2"/>
          <p:cNvSpPr>
            <a:spLocks noChangeArrowheads="1"/>
          </p:cNvSpPr>
          <p:nvPr/>
        </p:nvSpPr>
        <p:spPr bwMode="auto">
          <a:xfrm>
            <a:off x="571472" y="571486"/>
            <a:ext cx="5688014" cy="641349"/>
          </a:xfrm>
          <a:prstGeom prst="rect">
            <a:avLst/>
          </a:prstGeom>
          <a:gradFill rotWithShape="1">
            <a:gsLst>
              <a:gs pos="0">
                <a:srgbClr val="33CC33">
                  <a:gamma/>
                  <a:shade val="46275"/>
                  <a:invGamma/>
                </a:srgbClr>
              </a:gs>
              <a:gs pos="50000">
                <a:srgbClr val="33CC33">
                  <a:alpha val="49001"/>
                </a:srgbClr>
              </a:gs>
              <a:gs pos="100000">
                <a:srgbClr val="33CC33">
                  <a:gamma/>
                  <a:shade val="46275"/>
                  <a:invGamma/>
                </a:srgbClr>
              </a:gs>
            </a:gsLst>
            <a:lin ang="5400000" scaled="1"/>
          </a:gradFill>
          <a:ln>
            <a:noFill/>
          </a:ln>
          <a:effectLst/>
        </p:spPr>
        <p:txBody>
          <a:bodyPr anchor="ct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en-US" sz="36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楷体_GB2312" pitchFamily="49" charset="-122"/>
                <a:cs typeface="+mn-cs"/>
              </a:rPr>
              <a:t>体缺陷</a:t>
            </a:r>
            <a:r>
              <a:rPr kumimoji="0" lang="en-US" altLang="en-US" sz="36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 </a:t>
            </a:r>
            <a:r>
              <a:rPr kumimoji="0" lang="en-US" altLang="zh-CN" sz="3600" b="1"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volume defect</a:t>
            </a:r>
            <a:endParaRPr kumimoji="0" lang="en-US" altLang="zh-CN" sz="18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Text Box 3"/>
          <p:cNvSpPr txBox="1"/>
          <p:nvPr/>
        </p:nvSpPr>
        <p:spPr>
          <a:xfrm>
            <a:off x="714348" y="1500180"/>
            <a:ext cx="7543800" cy="3028950"/>
          </a:xfrm>
          <a:prstGeom prst="rect">
            <a:avLst/>
          </a:prstGeom>
          <a:solidFill>
            <a:schemeClr val="bg1"/>
          </a:solidFill>
          <a:ln w="9525" cap="flat" cmpd="sng">
            <a:solidFill>
              <a:schemeClr val="bg1"/>
            </a:solidFill>
            <a:prstDash val="solid"/>
            <a:miter/>
            <a:headEnd type="none" w="med" len="med"/>
            <a:tailEnd type="none" w="med" len="med"/>
          </a:ln>
        </p:spPr>
        <p:txBody>
          <a:bodyPr>
            <a:spAutoFit/>
          </a:bodyPr>
          <a:ls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eaLnBrk="1" hangingPunct="1">
              <a:lnSpc>
                <a:spcPct val="150000"/>
              </a:lnSpc>
              <a:spcBef>
                <a:spcPct val="50000"/>
              </a:spcBef>
            </a:pPr>
            <a:r>
              <a:rPr lang="en-US" altLang="zh-CN" sz="3200" b="1" dirty="0">
                <a:solidFill>
                  <a:srgbClr val="FF0000"/>
                </a:solidFill>
                <a:latin typeface="Times New Roman" panose="02020603050405020304" pitchFamily="18" charset="0"/>
              </a:rPr>
              <a:t>        </a:t>
            </a:r>
            <a:r>
              <a:rPr lang="zh-CN" altLang="en-US" sz="3200" b="1" dirty="0">
                <a:solidFill>
                  <a:srgbClr val="FF0000"/>
                </a:solidFill>
                <a:latin typeface="楷体_GB2312" pitchFamily="49" charset="-122"/>
                <a:ea typeface="楷体_GB2312" pitchFamily="49" charset="-122"/>
              </a:rPr>
              <a:t>体缺陷：</a:t>
            </a:r>
            <a:r>
              <a:rPr lang="zh-CN" altLang="en-US" sz="3200" b="1" dirty="0">
                <a:latin typeface="楷体_GB2312" pitchFamily="49" charset="-122"/>
                <a:ea typeface="楷体_GB2312" pitchFamily="49" charset="-122"/>
              </a:rPr>
              <a:t>由点缺陷或面缺陷造成在完整的晶格中可能存在着空洞或夹杂有包裹物等</a:t>
            </a:r>
            <a:r>
              <a:rPr lang="en-US" altLang="zh-CN" sz="3200" b="1" dirty="0">
                <a:latin typeface="楷体_GB2312" pitchFamily="49" charset="-122"/>
                <a:ea typeface="楷体_GB2312" pitchFamily="49" charset="-122"/>
              </a:rPr>
              <a:t>,</a:t>
            </a:r>
            <a:r>
              <a:rPr lang="zh-CN" altLang="en-US" sz="3200" b="1" dirty="0">
                <a:latin typeface="楷体_GB2312" pitchFamily="49" charset="-122"/>
                <a:ea typeface="楷体_GB2312" pitchFamily="49" charset="-122"/>
              </a:rPr>
              <a:t>使晶体内部的空间晶格结构整体上出现了一定形式的缺陷。</a:t>
            </a:r>
            <a:endParaRPr lang="zh-CN" altLang="en-US" sz="3200" b="1" dirty="0">
              <a:latin typeface="楷体_GB2312" pitchFamily="49" charset="-122"/>
              <a:ea typeface="楷体_GB2312" pitchFamily="49"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1026" name="Picture 2"/>
          <p:cNvPicPr>
            <a:picLocks noChangeAspect="1" noChangeArrowheads="1"/>
          </p:cNvPicPr>
          <p:nvPr/>
        </p:nvPicPr>
        <p:blipFill>
          <a:blip r:embed="rId3" cstate="print"/>
          <a:srcRect/>
          <a:stretch>
            <a:fillRect/>
          </a:stretch>
        </p:blipFill>
        <p:spPr bwMode="auto">
          <a:xfrm>
            <a:off x="971550" y="561975"/>
            <a:ext cx="6984365" cy="4581525"/>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2051" name="Picture 3"/>
          <p:cNvPicPr>
            <a:picLocks noChangeAspect="1" noChangeArrowheads="1"/>
          </p:cNvPicPr>
          <p:nvPr/>
        </p:nvPicPr>
        <p:blipFill>
          <a:blip r:embed="rId3" cstate="print"/>
          <a:srcRect/>
          <a:stretch>
            <a:fillRect/>
          </a:stretch>
        </p:blipFill>
        <p:spPr bwMode="auto">
          <a:xfrm>
            <a:off x="1475740" y="571500"/>
            <a:ext cx="5399405" cy="4466590"/>
          </a:xfrm>
          <a:prstGeom prst="rect">
            <a:avLst/>
          </a:prstGeom>
          <a:noFill/>
          <a:ln w="9525">
            <a:noFill/>
            <a:miter lim="800000"/>
            <a:headEnd/>
            <a:tailEnd/>
          </a:ln>
          <a:effec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3075" name="Picture 3"/>
          <p:cNvPicPr>
            <a:picLocks noChangeAspect="1" noChangeArrowheads="1"/>
          </p:cNvPicPr>
          <p:nvPr/>
        </p:nvPicPr>
        <p:blipFill>
          <a:blip r:embed="rId3" cstate="print"/>
          <a:srcRect/>
          <a:stretch>
            <a:fillRect/>
          </a:stretch>
        </p:blipFill>
        <p:spPr bwMode="auto">
          <a:xfrm>
            <a:off x="776605" y="571500"/>
            <a:ext cx="7386320" cy="4531995"/>
          </a:xfrm>
          <a:prstGeom prst="rect">
            <a:avLst/>
          </a:prstGeom>
          <a:noFill/>
          <a:ln w="9525">
            <a:noFill/>
            <a:miter lim="800000"/>
            <a:headEnd/>
            <a:tailEnd/>
          </a:ln>
          <a:effec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sp>
        <p:nvSpPr>
          <p:cNvPr id="166916" name="Text Box 4"/>
          <p:cNvSpPr txBox="1">
            <a:spLocks noChangeArrowheads="1"/>
          </p:cNvSpPr>
          <p:nvPr/>
        </p:nvSpPr>
        <p:spPr bwMode="auto">
          <a:xfrm>
            <a:off x="152400" y="4371658"/>
            <a:ext cx="8991600" cy="519112"/>
          </a:xfrm>
          <a:prstGeom prst="rect">
            <a:avLst/>
          </a:prstGeom>
          <a:solidFill>
            <a:srgbClr val="FFFF00"/>
          </a:solidFill>
          <a:ln w="9525">
            <a:noFill/>
            <a:miter lim="800000"/>
          </a:ln>
          <a:effectLst/>
        </p:spPr>
        <p:txBody>
          <a:bodyPr>
            <a:spAutoFit/>
          </a:bodyPr>
          <a:lstStyle/>
          <a:p>
            <a:pPr>
              <a:spcBef>
                <a:spcPct val="50000"/>
              </a:spcBef>
            </a:pPr>
            <a:r>
              <a:rPr kumimoji="1" lang="zh-CN" altLang="en-US" sz="2800" b="1">
                <a:latin typeface="宋体" panose="02010600030101010101" pitchFamily="2" charset="-122"/>
              </a:rPr>
              <a:t>晶向族</a:t>
            </a:r>
            <a:r>
              <a:rPr kumimoji="1" lang="en-US" altLang="zh-CN" sz="2800" b="1">
                <a:latin typeface="宋体" panose="02010600030101010101" pitchFamily="2" charset="-122"/>
              </a:rPr>
              <a:t>:</a:t>
            </a:r>
            <a:r>
              <a:rPr kumimoji="1" lang="zh-CN" altLang="en-US" sz="2800" b="1">
                <a:latin typeface="宋体" panose="02010600030101010101" pitchFamily="2" charset="-122"/>
              </a:rPr>
              <a:t>任意交换指数的位置和改变符号后的所有指数。</a:t>
            </a:r>
            <a:r>
              <a:rPr kumimoji="1" lang="zh-CN" altLang="en-US" sz="2800" b="1">
                <a:latin typeface="Times New Roman" panose="02020603050405020304" pitchFamily="18" charset="0"/>
              </a:rPr>
              <a:t> </a:t>
            </a:r>
            <a:endParaRPr kumimoji="1" lang="zh-CN" altLang="en-US" sz="2800" b="1">
              <a:latin typeface="Times New Roman" panose="02020603050405020304" pitchFamily="18" charset="0"/>
            </a:endParaRPr>
          </a:p>
        </p:txBody>
      </p:sp>
      <p:sp>
        <p:nvSpPr>
          <p:cNvPr id="166917" name="Rectangle 5"/>
          <p:cNvSpPr>
            <a:spLocks noChangeArrowheads="1"/>
          </p:cNvSpPr>
          <p:nvPr/>
        </p:nvSpPr>
        <p:spPr bwMode="auto">
          <a:xfrm>
            <a:off x="611505" y="571500"/>
            <a:ext cx="1439863" cy="519113"/>
          </a:xfrm>
          <a:prstGeom prst="rect">
            <a:avLst/>
          </a:prstGeom>
          <a:solidFill>
            <a:srgbClr val="FFFF66"/>
          </a:solidFill>
          <a:ln w="9525">
            <a:noFill/>
            <a:miter lim="800000"/>
          </a:ln>
          <a:effectLst/>
        </p:spPr>
        <p:txBody>
          <a:bodyPr wrap="none">
            <a:spAutoFit/>
          </a:bodyPr>
          <a:lstStyle/>
          <a:p>
            <a:r>
              <a:rPr kumimoji="1" lang="en-US" altLang="zh-CN" sz="2800" b="1">
                <a:solidFill>
                  <a:srgbClr val="660033"/>
                </a:solidFill>
                <a:latin typeface="宋体" panose="02010600030101010101" pitchFamily="2" charset="-122"/>
                <a:cs typeface="Times New Roman" panose="02020603050405020304" pitchFamily="18" charset="0"/>
              </a:rPr>
              <a:t>&lt;</a:t>
            </a:r>
            <a:r>
              <a:rPr kumimoji="1" lang="en-US" altLang="zh-CN" sz="2800" b="1">
                <a:solidFill>
                  <a:srgbClr val="660033"/>
                </a:solidFill>
                <a:latin typeface="宋体" panose="02010600030101010101" pitchFamily="2" charset="-122"/>
              </a:rPr>
              <a:t>111</a:t>
            </a:r>
            <a:r>
              <a:rPr kumimoji="1" lang="en-US" altLang="zh-CN" sz="2800" b="1">
                <a:solidFill>
                  <a:srgbClr val="660033"/>
                </a:solidFill>
                <a:latin typeface="宋体" panose="02010600030101010101" pitchFamily="2" charset="-122"/>
                <a:cs typeface="Times New Roman" panose="02020603050405020304" pitchFamily="18" charset="0"/>
              </a:rPr>
              <a:t>&gt;</a:t>
            </a:r>
            <a:r>
              <a:rPr kumimoji="1" lang="en-US" altLang="zh-CN" sz="2800" b="1">
                <a:solidFill>
                  <a:srgbClr val="660033"/>
                </a:solidFill>
                <a:latin typeface="宋体" panose="02010600030101010101" pitchFamily="2" charset="-122"/>
              </a:rPr>
              <a:t>=?</a:t>
            </a:r>
            <a:endParaRPr kumimoji="1" lang="en-US" altLang="zh-CN" sz="2800" b="1">
              <a:solidFill>
                <a:srgbClr val="660033"/>
              </a:solidFill>
              <a:latin typeface="宋体" panose="02010600030101010101" pitchFamily="2" charset="-122"/>
            </a:endParaRPr>
          </a:p>
        </p:txBody>
      </p:sp>
      <p:grpSp>
        <p:nvGrpSpPr>
          <p:cNvPr id="2" name="Group 12"/>
          <p:cNvGrpSpPr/>
          <p:nvPr/>
        </p:nvGrpSpPr>
        <p:grpSpPr bwMode="auto">
          <a:xfrm>
            <a:off x="7072313" y="1131893"/>
            <a:ext cx="1439863" cy="1095374"/>
            <a:chOff x="4455" y="512"/>
            <a:chExt cx="907" cy="690"/>
          </a:xfrm>
        </p:grpSpPr>
        <p:sp>
          <p:nvSpPr>
            <p:cNvPr id="166925" name="Rectangle 13"/>
            <p:cNvSpPr>
              <a:spLocks noChangeArrowheads="1"/>
            </p:cNvSpPr>
            <p:nvPr/>
          </p:nvSpPr>
          <p:spPr bwMode="auto">
            <a:xfrm>
              <a:off x="4455" y="512"/>
              <a:ext cx="907" cy="327"/>
            </a:xfrm>
            <a:prstGeom prst="rect">
              <a:avLst/>
            </a:prstGeom>
            <a:solidFill>
              <a:srgbClr val="FFFF00"/>
            </a:solidFill>
            <a:ln w="9525">
              <a:noFill/>
              <a:miter lim="800000"/>
            </a:ln>
            <a:effectLst/>
          </p:spPr>
          <p:txBody>
            <a:bodyPr wrap="none">
              <a:spAutoFit/>
            </a:bodyPr>
            <a:lstStyle/>
            <a:p>
              <a:r>
                <a:rPr kumimoji="1" lang="en-US" altLang="zh-CN" sz="2800" b="1">
                  <a:latin typeface="宋体" panose="02010600030101010101" pitchFamily="2" charset="-122"/>
                  <a:cs typeface="Times New Roman" panose="02020603050405020304" pitchFamily="18" charset="0"/>
                </a:rPr>
                <a:t>&lt;</a:t>
              </a:r>
              <a:r>
                <a:rPr kumimoji="1" lang="en-US" altLang="zh-CN" sz="2800" b="1">
                  <a:latin typeface="宋体" panose="02010600030101010101" pitchFamily="2" charset="-122"/>
                </a:rPr>
                <a:t>112</a:t>
              </a:r>
              <a:r>
                <a:rPr kumimoji="1" lang="en-US" altLang="zh-CN" sz="2800" b="1">
                  <a:latin typeface="宋体" panose="02010600030101010101" pitchFamily="2" charset="-122"/>
                  <a:cs typeface="Times New Roman" panose="02020603050405020304" pitchFamily="18" charset="0"/>
                </a:rPr>
                <a:t>&gt;</a:t>
              </a:r>
              <a:r>
                <a:rPr kumimoji="1" lang="en-US" altLang="zh-CN" sz="2800" b="1">
                  <a:latin typeface="宋体" panose="02010600030101010101" pitchFamily="2" charset="-122"/>
                </a:rPr>
                <a:t>=?</a:t>
              </a:r>
              <a:endParaRPr kumimoji="1" lang="en-US" altLang="zh-CN" sz="2800" b="1">
                <a:latin typeface="宋体" panose="02010600030101010101" pitchFamily="2" charset="-122"/>
              </a:endParaRPr>
            </a:p>
          </p:txBody>
        </p:sp>
        <p:sp>
          <p:nvSpPr>
            <p:cNvPr id="166926" name="Rectangle 14"/>
            <p:cNvSpPr>
              <a:spLocks noChangeArrowheads="1"/>
            </p:cNvSpPr>
            <p:nvPr/>
          </p:nvSpPr>
          <p:spPr bwMode="auto">
            <a:xfrm>
              <a:off x="4455" y="875"/>
              <a:ext cx="907" cy="327"/>
            </a:xfrm>
            <a:prstGeom prst="rect">
              <a:avLst/>
            </a:prstGeom>
            <a:solidFill>
              <a:srgbClr val="FFFF00"/>
            </a:solidFill>
            <a:ln w="9525">
              <a:noFill/>
              <a:miter lim="800000"/>
            </a:ln>
            <a:effectLst/>
          </p:spPr>
          <p:txBody>
            <a:bodyPr wrap="none">
              <a:spAutoFit/>
            </a:bodyPr>
            <a:lstStyle/>
            <a:p>
              <a:r>
                <a:rPr kumimoji="1" lang="en-US" altLang="zh-CN" sz="2800" b="1">
                  <a:latin typeface="宋体" panose="02010600030101010101" pitchFamily="2" charset="-122"/>
                  <a:cs typeface="Times New Roman" panose="02020603050405020304" pitchFamily="18" charset="0"/>
                </a:rPr>
                <a:t>&lt;</a:t>
              </a:r>
              <a:r>
                <a:rPr kumimoji="1" lang="en-US" altLang="zh-CN" sz="2800" b="1">
                  <a:latin typeface="宋体" panose="02010600030101010101" pitchFamily="2" charset="-122"/>
                </a:rPr>
                <a:t>123</a:t>
              </a:r>
              <a:r>
                <a:rPr kumimoji="1" lang="en-US" altLang="zh-CN" sz="2800" b="1">
                  <a:latin typeface="宋体" panose="02010600030101010101" pitchFamily="2" charset="-122"/>
                  <a:cs typeface="Times New Roman" panose="02020603050405020304" pitchFamily="18" charset="0"/>
                </a:rPr>
                <a:t>&gt;</a:t>
              </a:r>
              <a:r>
                <a:rPr kumimoji="1" lang="en-US" altLang="zh-CN" sz="2800" b="1">
                  <a:latin typeface="宋体" panose="02010600030101010101" pitchFamily="2" charset="-122"/>
                </a:rPr>
                <a:t>=?</a:t>
              </a:r>
              <a:endParaRPr kumimoji="1" lang="en-US" altLang="zh-CN" sz="2800" b="1">
                <a:latin typeface="宋体" panose="02010600030101010101" pitchFamily="2" charset="-122"/>
              </a:endParaRPr>
            </a:p>
          </p:txBody>
        </p:sp>
      </p:grpSp>
      <p:pic>
        <p:nvPicPr>
          <p:cNvPr id="166927" name="Picture 15"/>
          <p:cNvPicPr>
            <a:picLocks noChangeAspect="1" noChangeArrowheads="1"/>
          </p:cNvPicPr>
          <p:nvPr/>
        </p:nvPicPr>
        <p:blipFill>
          <a:blip r:embed="rId3" cstate="print"/>
          <a:srcRect/>
          <a:stretch>
            <a:fillRect/>
          </a:stretch>
        </p:blipFill>
        <p:spPr bwMode="auto">
          <a:xfrm>
            <a:off x="2514600" y="533400"/>
            <a:ext cx="3281045" cy="2856865"/>
          </a:xfrm>
          <a:prstGeom prst="rect">
            <a:avLst/>
          </a:prstGeom>
          <a:noFill/>
        </p:spPr>
      </p:pic>
      <p:pic>
        <p:nvPicPr>
          <p:cNvPr id="3" name="图片 2"/>
          <p:cNvPicPr>
            <a:picLocks noChangeAspect="1"/>
          </p:cNvPicPr>
          <p:nvPr/>
        </p:nvPicPr>
        <p:blipFill>
          <a:blip r:embed="rId4"/>
          <a:stretch>
            <a:fillRect/>
          </a:stretch>
        </p:blipFill>
        <p:spPr>
          <a:xfrm>
            <a:off x="1259840" y="3364230"/>
            <a:ext cx="6334125" cy="1000125"/>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2" name="Picture 2"/>
          <p:cNvPicPr>
            <a:picLocks noChangeAspect="1" noChangeArrowheads="1"/>
          </p:cNvPicPr>
          <p:nvPr/>
        </p:nvPicPr>
        <p:blipFill>
          <a:blip r:embed="rId3" cstate="print"/>
          <a:srcRect/>
          <a:stretch>
            <a:fillRect/>
          </a:stretch>
        </p:blipFill>
        <p:spPr bwMode="auto">
          <a:xfrm>
            <a:off x="899795" y="540385"/>
            <a:ext cx="6975475" cy="4615180"/>
          </a:xfrm>
          <a:prstGeom prst="rect">
            <a:avLst/>
          </a:prstGeom>
          <a:noFill/>
          <a:ln w="9525">
            <a:noFill/>
            <a:miter lim="800000"/>
            <a:headEnd/>
            <a:tailEnd/>
          </a:ln>
          <a:effec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6146" name="Picture 2"/>
          <p:cNvPicPr>
            <a:picLocks noChangeAspect="1" noChangeArrowheads="1"/>
          </p:cNvPicPr>
          <p:nvPr/>
        </p:nvPicPr>
        <p:blipFill>
          <a:blip r:embed="rId3" cstate="print"/>
          <a:srcRect/>
          <a:stretch>
            <a:fillRect/>
          </a:stretch>
        </p:blipFill>
        <p:spPr bwMode="auto">
          <a:xfrm>
            <a:off x="1115695" y="571500"/>
            <a:ext cx="6600190" cy="4531995"/>
          </a:xfrm>
          <a:prstGeom prst="rect">
            <a:avLst/>
          </a:prstGeom>
          <a:noFill/>
          <a:ln w="9525">
            <a:noFill/>
            <a:miter lim="800000"/>
            <a:headEnd/>
            <a:tailEnd/>
          </a:ln>
          <a:effectLst/>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7170" name="Picture 2"/>
          <p:cNvPicPr>
            <a:picLocks noChangeAspect="1" noChangeArrowheads="1"/>
          </p:cNvPicPr>
          <p:nvPr/>
        </p:nvPicPr>
        <p:blipFill>
          <a:blip r:embed="rId3" cstate="print"/>
          <a:srcRect/>
          <a:stretch>
            <a:fillRect/>
          </a:stretch>
        </p:blipFill>
        <p:spPr bwMode="auto">
          <a:xfrm>
            <a:off x="971550" y="555625"/>
            <a:ext cx="7108190" cy="4528185"/>
          </a:xfrm>
          <a:prstGeom prst="rect">
            <a:avLst/>
          </a:prstGeom>
          <a:noFill/>
          <a:ln w="9525">
            <a:noFill/>
            <a:miter lim="800000"/>
            <a:headEnd/>
            <a:tailEnd/>
          </a:ln>
          <a:effec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8194" name="Picture 2"/>
          <p:cNvPicPr>
            <a:picLocks noChangeAspect="1" noChangeArrowheads="1"/>
          </p:cNvPicPr>
          <p:nvPr/>
        </p:nvPicPr>
        <p:blipFill>
          <a:blip r:embed="rId3" cstate="print"/>
          <a:srcRect/>
          <a:stretch>
            <a:fillRect/>
          </a:stretch>
        </p:blipFill>
        <p:spPr bwMode="auto">
          <a:xfrm>
            <a:off x="1475740" y="627380"/>
            <a:ext cx="6195060" cy="4425950"/>
          </a:xfrm>
          <a:prstGeom prst="rect">
            <a:avLst/>
          </a:prstGeom>
          <a:noFill/>
          <a:ln w="9525">
            <a:noFill/>
            <a:miter lim="800000"/>
            <a:headEnd/>
            <a:tailEnd/>
          </a:ln>
          <a:effec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sp>
        <p:nvSpPr>
          <p:cNvPr id="8" name="Rectangle 4"/>
          <p:cNvSpPr>
            <a:spLocks noChangeArrowheads="1"/>
          </p:cNvSpPr>
          <p:nvPr/>
        </p:nvSpPr>
        <p:spPr bwMode="auto">
          <a:xfrm>
            <a:off x="899795" y="1153795"/>
            <a:ext cx="2225675" cy="579438"/>
          </a:xfrm>
          <a:prstGeom prst="rect">
            <a:avLst/>
          </a:prstGeom>
          <a:noFill/>
          <a:ln w="9525">
            <a:noFill/>
            <a:miter lim="800000"/>
          </a:ln>
          <a:effectLst/>
        </p:spPr>
        <p:txBody>
          <a:bodyPr wrap="none" anchor="ctr">
            <a:spAutoFit/>
          </a:bodyPr>
          <a:lstStyle/>
          <a:p>
            <a:r>
              <a:rPr lang="en-US" altLang="zh-CN" sz="3200" b="1" dirty="0">
                <a:solidFill>
                  <a:schemeClr val="hlink"/>
                </a:solidFill>
                <a:latin typeface="隶书" panose="02010509060101010101" pitchFamily="49" charset="-122"/>
                <a:ea typeface="隶书" panose="02010509060101010101" pitchFamily="49" charset="-122"/>
              </a:rPr>
              <a:t>1.</a:t>
            </a:r>
            <a:r>
              <a:rPr lang="zh-CN" altLang="en-US" sz="3200" b="1" dirty="0">
                <a:solidFill>
                  <a:schemeClr val="hlink"/>
                </a:solidFill>
                <a:latin typeface="隶书" panose="02010509060101010101" pitchFamily="49" charset="-122"/>
                <a:ea typeface="隶书" panose="02010509060101010101" pitchFamily="49" charset="-122"/>
              </a:rPr>
              <a:t>晶面间距</a:t>
            </a:r>
            <a:endParaRPr lang="zh-CN" altLang="en-US" sz="3200" dirty="0"/>
          </a:p>
        </p:txBody>
      </p:sp>
      <p:sp>
        <p:nvSpPr>
          <p:cNvPr id="9" name="Rectangle 5"/>
          <p:cNvSpPr>
            <a:spLocks noChangeArrowheads="1"/>
          </p:cNvSpPr>
          <p:nvPr/>
        </p:nvSpPr>
        <p:spPr bwMode="auto">
          <a:xfrm>
            <a:off x="899795" y="2226628"/>
            <a:ext cx="7543800" cy="1117600"/>
          </a:xfrm>
          <a:prstGeom prst="rect">
            <a:avLst/>
          </a:prstGeom>
          <a:noFill/>
          <a:ln w="9525">
            <a:noFill/>
            <a:miter lim="800000"/>
          </a:ln>
          <a:effectLst/>
        </p:spPr>
        <p:txBody>
          <a:bodyPr anchor="ctr">
            <a:spAutoFit/>
          </a:bodyPr>
          <a:lstStyle/>
          <a:p>
            <a:pPr>
              <a:lnSpc>
                <a:spcPct val="120000"/>
              </a:lnSpc>
              <a:spcBef>
                <a:spcPct val="20000"/>
              </a:spcBef>
            </a:pPr>
            <a:r>
              <a:rPr lang="zh-CN" altLang="en-US" sz="2800" b="1">
                <a:solidFill>
                  <a:srgbClr val="CC00CC"/>
                </a:solidFill>
                <a:latin typeface="楷体_GB2312" pitchFamily="49" charset="-122"/>
                <a:ea typeface="楷体_GB2312" pitchFamily="49" charset="-122"/>
              </a:rPr>
              <a:t>晶面间距</a:t>
            </a:r>
            <a:r>
              <a:rPr lang="en-US" altLang="zh-CN" sz="2800" b="1">
                <a:latin typeface="Arial" panose="020B0604020202020204"/>
                <a:ea typeface="楷体_GB2312" pitchFamily="49" charset="-122"/>
              </a:rPr>
              <a:t>——</a:t>
            </a:r>
            <a:r>
              <a:rPr lang="zh-CN" altLang="en-US" sz="2800" b="1">
                <a:latin typeface="楷体_GB2312" pitchFamily="49" charset="-122"/>
                <a:ea typeface="楷体_GB2312" pitchFamily="49" charset="-122"/>
              </a:rPr>
              <a:t>晶面指数为（</a:t>
            </a:r>
            <a:r>
              <a:rPr lang="en-US" altLang="zh-CN" sz="2800" b="1">
                <a:latin typeface="楷体_GB2312" pitchFamily="49" charset="-122"/>
                <a:ea typeface="楷体_GB2312" pitchFamily="49" charset="-122"/>
              </a:rPr>
              <a:t>hkl</a:t>
            </a:r>
            <a:r>
              <a:rPr lang="zh-CN" altLang="en-US" sz="2800" b="1">
                <a:latin typeface="楷体_GB2312" pitchFamily="49" charset="-122"/>
                <a:ea typeface="楷体_GB2312" pitchFamily="49" charset="-122"/>
              </a:rPr>
              <a:t>）的晶面相邻两个晶面之间距离，用</a:t>
            </a:r>
            <a:r>
              <a:rPr lang="en-US" altLang="zh-CN" sz="2800" b="1">
                <a:latin typeface="楷体_GB2312" pitchFamily="49" charset="-122"/>
                <a:ea typeface="楷体_GB2312" pitchFamily="49" charset="-122"/>
              </a:rPr>
              <a:t>d</a:t>
            </a:r>
            <a:r>
              <a:rPr lang="en-US" altLang="zh-CN" sz="2800" b="1" baseline="-25000">
                <a:latin typeface="楷体_GB2312" pitchFamily="49" charset="-122"/>
                <a:ea typeface="楷体_GB2312" pitchFamily="49" charset="-122"/>
              </a:rPr>
              <a:t>hkl</a:t>
            </a:r>
            <a:r>
              <a:rPr lang="zh-CN" altLang="en-US" sz="2800" b="1">
                <a:latin typeface="楷体_GB2312" pitchFamily="49" charset="-122"/>
                <a:ea typeface="楷体_GB2312" pitchFamily="49" charset="-122"/>
              </a:rPr>
              <a:t>表示。</a:t>
            </a:r>
            <a:endParaRPr lang="zh-CN" altLang="en-US" sz="2800" b="1">
              <a:latin typeface="楷体_GB2312" pitchFamily="49" charset="-122"/>
              <a:ea typeface="楷体_GB2312" pitchFamily="49" charset="-122"/>
            </a:endParaRPr>
          </a:p>
        </p:txBody>
      </p:sp>
      <p:sp>
        <p:nvSpPr>
          <p:cNvPr id="10" name="Rectangle 10"/>
          <p:cNvSpPr>
            <a:spLocks noChangeArrowheads="1"/>
          </p:cNvSpPr>
          <p:nvPr/>
        </p:nvSpPr>
        <p:spPr bwMode="auto">
          <a:xfrm>
            <a:off x="1835785" y="3507423"/>
            <a:ext cx="4849813" cy="519112"/>
          </a:xfrm>
          <a:prstGeom prst="rect">
            <a:avLst/>
          </a:prstGeom>
          <a:noFill/>
          <a:ln w="9525">
            <a:noFill/>
            <a:miter lim="800000"/>
          </a:ln>
          <a:effectLst/>
        </p:spPr>
        <p:txBody>
          <a:bodyPr wrap="none">
            <a:spAutoFit/>
          </a:bodyPr>
          <a:lstStyle/>
          <a:p>
            <a:r>
              <a:rPr lang="en-US" altLang="zh-CN" sz="2800" i="1">
                <a:effectLst>
                  <a:outerShdw blurRad="38100" dist="38100" dir="2700000" algn="tl">
                    <a:srgbClr val="C0C0C0"/>
                  </a:outerShdw>
                </a:effectLst>
              </a:rPr>
              <a:t>d(hkl)</a:t>
            </a:r>
            <a:r>
              <a:rPr lang="zh-CN" altLang="en-US" sz="2800" i="1">
                <a:effectLst>
                  <a:outerShdw blurRad="38100" dist="38100" dir="2700000" algn="tl">
                    <a:srgbClr val="C0C0C0"/>
                  </a:outerShdw>
                </a:effectLst>
              </a:rPr>
              <a:t>＝</a:t>
            </a:r>
            <a:r>
              <a:rPr lang="en-US" altLang="zh-CN" sz="2800" i="1">
                <a:effectLst>
                  <a:outerShdw blurRad="38100" dist="38100" dir="2700000" algn="tl">
                    <a:srgbClr val="C0C0C0"/>
                  </a:outerShdw>
                </a:effectLst>
              </a:rPr>
              <a:t>f(a,b,c  </a:t>
            </a:r>
            <a:r>
              <a:rPr lang="el-GR" altLang="zh-CN" sz="2800" i="1">
                <a:effectLst>
                  <a:outerShdw blurRad="38100" dist="38100" dir="2700000" algn="tl">
                    <a:srgbClr val="C0C0C0"/>
                  </a:outerShdw>
                </a:effectLst>
              </a:rPr>
              <a:t>α</a:t>
            </a:r>
            <a:r>
              <a:rPr lang="en-US" altLang="zh-CN" sz="2800" i="1">
                <a:effectLst>
                  <a:outerShdw blurRad="38100" dist="38100" dir="2700000" algn="tl">
                    <a:srgbClr val="C0C0C0"/>
                  </a:outerShdw>
                </a:effectLst>
              </a:rPr>
              <a:t>,</a:t>
            </a:r>
            <a:r>
              <a:rPr lang="el-GR" altLang="zh-CN" sz="2800" i="1">
                <a:effectLst>
                  <a:outerShdw blurRad="38100" dist="38100" dir="2700000" algn="tl">
                    <a:srgbClr val="C0C0C0"/>
                  </a:outerShdw>
                </a:effectLst>
              </a:rPr>
              <a:t>β</a:t>
            </a:r>
            <a:r>
              <a:rPr lang="en-US" altLang="zh-CN" sz="2800" i="1">
                <a:effectLst>
                  <a:outerShdw blurRad="38100" dist="38100" dir="2700000" algn="tl">
                    <a:srgbClr val="C0C0C0"/>
                  </a:outerShdw>
                </a:effectLst>
              </a:rPr>
              <a:t>,</a:t>
            </a:r>
            <a:r>
              <a:rPr lang="el-GR" altLang="zh-CN" sz="2800" i="1">
                <a:effectLst>
                  <a:outerShdw blurRad="38100" dist="38100" dir="2700000" algn="tl">
                    <a:srgbClr val="C0C0C0"/>
                  </a:outerShdw>
                </a:effectLst>
              </a:rPr>
              <a:t>γ</a:t>
            </a:r>
            <a:r>
              <a:rPr lang="en-US" altLang="zh-CN" sz="2800" i="1">
                <a:effectLst>
                  <a:outerShdw blurRad="38100" dist="38100" dir="2700000" algn="tl">
                    <a:srgbClr val="C0C0C0"/>
                  </a:outerShdw>
                </a:effectLst>
              </a:rPr>
              <a:t>  h,k,l)</a:t>
            </a:r>
            <a:endParaRPr lang="en-US" altLang="zh-CN" sz="2800" i="1">
              <a:effectLst>
                <a:outerShdw blurRad="38100" dist="38100" dir="2700000" algn="tl">
                  <a:srgbClr val="C0C0C0"/>
                </a:outerShdw>
              </a:effectLst>
            </a:endParaRPr>
          </a:p>
        </p:txBody>
      </p:sp>
      <p:sp>
        <p:nvSpPr>
          <p:cNvPr id="11" name="Text Box 11"/>
          <p:cNvSpPr txBox="1">
            <a:spLocks noChangeArrowheads="1"/>
          </p:cNvSpPr>
          <p:nvPr/>
        </p:nvSpPr>
        <p:spPr bwMode="auto">
          <a:xfrm>
            <a:off x="611505" y="554673"/>
            <a:ext cx="3856038" cy="579438"/>
          </a:xfrm>
          <a:prstGeom prst="rect">
            <a:avLst/>
          </a:prstGeom>
          <a:noFill/>
          <a:ln w="9525">
            <a:noFill/>
            <a:miter lim="800000"/>
          </a:ln>
          <a:effectLst/>
        </p:spPr>
        <p:txBody>
          <a:bodyPr wrap="none">
            <a:spAutoFit/>
          </a:bodyPr>
          <a:lstStyle/>
          <a:p>
            <a:r>
              <a:rPr lang="zh-CN" altLang="en-US" sz="3200" b="1" dirty="0">
                <a:solidFill>
                  <a:srgbClr val="FF9900"/>
                </a:solidFill>
                <a:ea typeface="黑体" panose="02010609060101010101" charset="-122"/>
              </a:rPr>
              <a:t>三、晶面间距和夹角</a:t>
            </a:r>
            <a:endParaRPr lang="zh-CN" altLang="en-US" sz="3200" b="1" dirty="0">
              <a:solidFill>
                <a:srgbClr val="FF9900"/>
              </a:solidFill>
              <a:ea typeface="黑体" panose="02010609060101010101" charset="-122"/>
            </a:endParaRPr>
          </a:p>
        </p:txBody>
      </p:sp>
      <p:sp>
        <p:nvSpPr>
          <p:cNvPr id="2" name="Rectangle 12"/>
          <p:cNvSpPr>
            <a:spLocks noChangeArrowheads="1"/>
          </p:cNvSpPr>
          <p:nvPr/>
        </p:nvSpPr>
        <p:spPr bwMode="auto">
          <a:xfrm>
            <a:off x="1331595" y="1707515"/>
            <a:ext cx="5394325" cy="519113"/>
          </a:xfrm>
          <a:prstGeom prst="rect">
            <a:avLst/>
          </a:prstGeom>
          <a:noFill/>
          <a:ln w="9525">
            <a:noFill/>
            <a:miter lim="800000"/>
          </a:ln>
          <a:effectLst/>
        </p:spPr>
        <p:txBody>
          <a:bodyPr wrap="none">
            <a:spAutoFit/>
          </a:bodyPr>
          <a:lstStyle/>
          <a:p>
            <a:r>
              <a:rPr lang="zh-CN" altLang="en-US" sz="2800" b="1" dirty="0"/>
              <a:t>由晶面指数还可求出面间距</a:t>
            </a:r>
            <a:r>
              <a:rPr lang="en-US" altLang="zh-CN" sz="2800" b="1" i="1" dirty="0" err="1"/>
              <a:t>d</a:t>
            </a:r>
            <a:r>
              <a:rPr lang="en-US" altLang="zh-CN" sz="2800" b="1" i="1" baseline="-25000" dirty="0" err="1"/>
              <a:t>hkl</a:t>
            </a:r>
            <a:r>
              <a:rPr lang="zh-CN" altLang="en-US" sz="2800" b="1" dirty="0"/>
              <a:t>。</a:t>
            </a:r>
            <a:endParaRPr lang="zh-CN" altLang="en-US" sz="2800" b="1"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sp>
        <p:nvSpPr>
          <p:cNvPr id="8" name="Text Box 6"/>
          <p:cNvSpPr txBox="1">
            <a:spLocks noChangeArrowheads="1"/>
          </p:cNvSpPr>
          <p:nvPr/>
        </p:nvSpPr>
        <p:spPr bwMode="auto">
          <a:xfrm>
            <a:off x="438150" y="742950"/>
            <a:ext cx="8491220" cy="1524635"/>
          </a:xfrm>
          <a:prstGeom prst="rect">
            <a:avLst/>
          </a:prstGeom>
          <a:solidFill>
            <a:srgbClr val="FFFFD9"/>
          </a:solidFill>
          <a:ln w="9525">
            <a:noFill/>
            <a:miter lim="800000"/>
          </a:ln>
          <a:effectLst/>
        </p:spPr>
        <p:txBody>
          <a:bodyPr>
            <a:noAutofit/>
          </a:bodyPr>
          <a:lstStyle/>
          <a:p>
            <a:pPr marL="457200" indent="-457200">
              <a:spcBef>
                <a:spcPct val="25000"/>
              </a:spcBef>
              <a:buSzPct val="150000"/>
              <a:buFontTx/>
              <a:buChar char="•"/>
            </a:pPr>
            <a:r>
              <a:rPr kumimoji="1" lang="zh-CN" altLang="en-US" sz="2000" b="1" dirty="0">
                <a:latin typeface="宋体" panose="02010600030101010101" pitchFamily="2" charset="-122"/>
              </a:rPr>
              <a:t>不同晶面族的晶面间距不相同。</a:t>
            </a:r>
            <a:endParaRPr kumimoji="1" lang="zh-CN" altLang="en-US" sz="2000" b="1" dirty="0">
              <a:latin typeface="宋体" panose="02010600030101010101" pitchFamily="2" charset="-122"/>
            </a:endParaRPr>
          </a:p>
          <a:p>
            <a:pPr marL="457200" indent="-457200">
              <a:spcBef>
                <a:spcPct val="25000"/>
              </a:spcBef>
              <a:buSzPct val="150000"/>
              <a:buFontTx/>
              <a:buChar char="•"/>
            </a:pPr>
            <a:r>
              <a:rPr kumimoji="1" lang="zh-CN" altLang="en-US" sz="2000" b="1" dirty="0">
                <a:latin typeface="宋体" panose="02010600030101010101" pitchFamily="2" charset="-122"/>
              </a:rPr>
              <a:t>同一晶面族的原子排列方式相同，晶面间的间距相同。</a:t>
            </a:r>
            <a:endParaRPr kumimoji="1" lang="zh-CN" altLang="en-US" sz="2000" b="1" dirty="0">
              <a:latin typeface="宋体" panose="02010600030101010101" pitchFamily="2" charset="-122"/>
            </a:endParaRPr>
          </a:p>
          <a:p>
            <a:pPr marL="457200" indent="-457200">
              <a:spcBef>
                <a:spcPct val="25000"/>
              </a:spcBef>
              <a:buSzPct val="150000"/>
              <a:buFontTx/>
              <a:buChar char="•"/>
            </a:pPr>
            <a:r>
              <a:rPr kumimoji="1" lang="zh-CN" altLang="en-US" sz="2000" b="1" dirty="0">
                <a:latin typeface="宋体" panose="02010600030101010101" pitchFamily="2" charset="-122"/>
              </a:rPr>
              <a:t>晶面间的面间距越大，该晶面上的原子排列越密集，否则越疏。 </a:t>
            </a:r>
            <a:endParaRPr kumimoji="1" lang="zh-CN" altLang="en-US" sz="2000" b="1" dirty="0">
              <a:latin typeface="宋体" panose="02010600030101010101" pitchFamily="2" charset="-122"/>
            </a:endParaRPr>
          </a:p>
          <a:p>
            <a:pPr marL="457200" indent="-457200">
              <a:spcBef>
                <a:spcPct val="25000"/>
              </a:spcBef>
              <a:buSzPct val="150000"/>
              <a:buFontTx/>
              <a:buChar char="•"/>
            </a:pPr>
            <a:r>
              <a:rPr kumimoji="1" lang="zh-CN" altLang="en-US" sz="2000" b="1" dirty="0">
                <a:latin typeface="宋体" panose="02010600030101010101" pitchFamily="2" charset="-122"/>
              </a:rPr>
              <a:t>低指数的晶面面间距较大，高指数的晶面间距则较小。</a:t>
            </a:r>
            <a:endParaRPr kumimoji="1" lang="zh-CN" altLang="en-US" sz="2000" b="1" dirty="0">
              <a:latin typeface="宋体" panose="02010600030101010101" pitchFamily="2" charset="-122"/>
            </a:endParaRPr>
          </a:p>
        </p:txBody>
      </p:sp>
      <p:pic>
        <p:nvPicPr>
          <p:cNvPr id="9" name="Picture 7"/>
          <p:cNvPicPr>
            <a:picLocks noChangeAspect="1" noChangeArrowheads="1"/>
          </p:cNvPicPr>
          <p:nvPr/>
        </p:nvPicPr>
        <p:blipFill>
          <a:blip r:embed="rId3" cstate="print"/>
          <a:srcRect/>
          <a:stretch>
            <a:fillRect/>
          </a:stretch>
        </p:blipFill>
        <p:spPr bwMode="auto">
          <a:xfrm>
            <a:off x="2411730" y="2267585"/>
            <a:ext cx="3742055" cy="2785110"/>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pic>
        <p:nvPicPr>
          <p:cNvPr id="8" name="Picture 4" descr="PPTAA"/>
          <p:cNvPicPr>
            <a:picLocks noChangeAspect="1" noChangeArrowheads="1"/>
          </p:cNvPicPr>
          <p:nvPr/>
        </p:nvPicPr>
        <p:blipFill>
          <a:blip r:embed="rId3" cstate="print"/>
          <a:srcRect/>
          <a:stretch>
            <a:fillRect/>
          </a:stretch>
        </p:blipFill>
        <p:spPr bwMode="auto">
          <a:xfrm>
            <a:off x="2238375" y="1132522"/>
            <a:ext cx="5105400" cy="3051175"/>
          </a:xfrm>
          <a:prstGeom prst="rect">
            <a:avLst/>
          </a:prstGeom>
          <a:noFill/>
          <a:ln w="9525">
            <a:noFill/>
            <a:miter lim="800000"/>
            <a:headEnd/>
            <a:tailEnd/>
          </a:ln>
          <a:effectLst/>
        </p:spPr>
      </p:pic>
      <p:sp>
        <p:nvSpPr>
          <p:cNvPr id="9" name="Rectangle 9"/>
          <p:cNvSpPr>
            <a:spLocks noChangeArrowheads="1"/>
          </p:cNvSpPr>
          <p:nvPr/>
        </p:nvSpPr>
        <p:spPr bwMode="auto">
          <a:xfrm>
            <a:off x="714375" y="532447"/>
            <a:ext cx="6477000" cy="433388"/>
          </a:xfrm>
          <a:prstGeom prst="rect">
            <a:avLst/>
          </a:prstGeom>
          <a:noFill/>
          <a:ln w="9525">
            <a:noFill/>
            <a:miter lim="800000"/>
          </a:ln>
          <a:effectLst/>
        </p:spPr>
        <p:txBody>
          <a:bodyPr anchor="ctr">
            <a:spAutoFit/>
          </a:bodyPr>
          <a:lstStyle/>
          <a:p>
            <a:pPr>
              <a:lnSpc>
                <a:spcPct val="80000"/>
              </a:lnSpc>
              <a:spcBef>
                <a:spcPct val="20000"/>
              </a:spcBef>
            </a:pPr>
            <a:r>
              <a:rPr lang="zh-CN" altLang="en-US" sz="2800" b="1" dirty="0">
                <a:latin typeface="楷体_GB2312" pitchFamily="49" charset="-122"/>
                <a:ea typeface="楷体_GB2312" pitchFamily="49" charset="-122"/>
              </a:rPr>
              <a:t>晶面间距可根据一些几何关系求得</a:t>
            </a:r>
            <a:endParaRPr lang="zh-CN" altLang="en-US" dirty="0"/>
          </a:p>
        </p:txBody>
      </p:sp>
      <p:sp>
        <p:nvSpPr>
          <p:cNvPr id="10" name="Rectangle 10"/>
          <p:cNvSpPr>
            <a:spLocks noChangeArrowheads="1"/>
          </p:cNvSpPr>
          <p:nvPr/>
        </p:nvSpPr>
        <p:spPr bwMode="auto">
          <a:xfrm>
            <a:off x="790575" y="4242435"/>
            <a:ext cx="7696200" cy="965200"/>
          </a:xfrm>
          <a:prstGeom prst="rect">
            <a:avLst/>
          </a:prstGeom>
          <a:noFill/>
          <a:ln w="9525">
            <a:noFill/>
            <a:miter lim="800000"/>
          </a:ln>
          <a:effectLst/>
        </p:spPr>
        <p:txBody>
          <a:bodyPr anchor="ctr">
            <a:spAutoFit/>
          </a:bodyPr>
          <a:lstStyle/>
          <a:p>
            <a:pPr>
              <a:lnSpc>
                <a:spcPct val="110000"/>
              </a:lnSpc>
              <a:spcBef>
                <a:spcPct val="20000"/>
              </a:spcBef>
            </a:pPr>
            <a:r>
              <a:rPr lang="en-US" altLang="zh-CN" sz="2600" b="1">
                <a:latin typeface="楷体_GB2312" pitchFamily="49" charset="-122"/>
                <a:ea typeface="楷体_GB2312" pitchFamily="49" charset="-122"/>
              </a:rPr>
              <a:t>h</a:t>
            </a:r>
            <a:r>
              <a:rPr lang="zh-CN" altLang="en-US" sz="2600" b="1">
                <a:latin typeface="楷体_GB2312" pitchFamily="49" charset="-122"/>
                <a:ea typeface="楷体_GB2312" pitchFamily="49" charset="-122"/>
              </a:rPr>
              <a:t>、</a:t>
            </a:r>
            <a:r>
              <a:rPr lang="en-US" altLang="zh-CN" sz="2600" b="1">
                <a:latin typeface="楷体_GB2312" pitchFamily="49" charset="-122"/>
                <a:ea typeface="楷体_GB2312" pitchFamily="49" charset="-122"/>
              </a:rPr>
              <a:t>k</a:t>
            </a:r>
            <a:r>
              <a:rPr lang="zh-CN" altLang="en-US" sz="2600" b="1">
                <a:latin typeface="楷体_GB2312" pitchFamily="49" charset="-122"/>
                <a:ea typeface="楷体_GB2312" pitchFamily="49" charset="-122"/>
              </a:rPr>
              <a:t>、</a:t>
            </a:r>
            <a:r>
              <a:rPr lang="en-US" altLang="zh-CN" sz="2600" b="1">
                <a:latin typeface="楷体_GB2312" pitchFamily="49" charset="-122"/>
                <a:ea typeface="楷体_GB2312" pitchFamily="49" charset="-122"/>
              </a:rPr>
              <a:t>l</a:t>
            </a:r>
            <a:r>
              <a:rPr lang="zh-CN" altLang="en-US" sz="2600" b="1">
                <a:latin typeface="楷体_GB2312" pitchFamily="49" charset="-122"/>
                <a:ea typeface="楷体_GB2312" pitchFamily="49" charset="-122"/>
              </a:rPr>
              <a:t>为晶面指数（</a:t>
            </a:r>
            <a:r>
              <a:rPr lang="en-US" altLang="zh-CN" sz="2600" b="1">
                <a:latin typeface="楷体_GB2312" pitchFamily="49" charset="-122"/>
                <a:ea typeface="楷体_GB2312" pitchFamily="49" charset="-122"/>
              </a:rPr>
              <a:t>hkl</a:t>
            </a:r>
            <a:r>
              <a:rPr lang="zh-CN" altLang="en-US" sz="2600" b="1">
                <a:latin typeface="楷体_GB2312" pitchFamily="49" charset="-122"/>
                <a:ea typeface="楷体_GB2312" pitchFamily="49" charset="-122"/>
              </a:rPr>
              <a:t>），</a:t>
            </a:r>
            <a:r>
              <a:rPr lang="en-US" altLang="zh-CN" sz="2600" b="1">
                <a:latin typeface="楷体_GB2312" pitchFamily="49" charset="-122"/>
                <a:ea typeface="楷体_GB2312" pitchFamily="49" charset="-122"/>
              </a:rPr>
              <a:t>a</a:t>
            </a:r>
            <a:r>
              <a:rPr lang="zh-CN" altLang="en-US" sz="2600" b="1">
                <a:latin typeface="楷体_GB2312" pitchFamily="49" charset="-122"/>
                <a:ea typeface="楷体_GB2312" pitchFamily="49" charset="-122"/>
              </a:rPr>
              <a:t>、</a:t>
            </a:r>
            <a:r>
              <a:rPr lang="en-US" altLang="zh-CN" sz="2600" b="1">
                <a:latin typeface="楷体_GB2312" pitchFamily="49" charset="-122"/>
                <a:ea typeface="楷体_GB2312" pitchFamily="49" charset="-122"/>
              </a:rPr>
              <a:t>b</a:t>
            </a:r>
            <a:r>
              <a:rPr lang="zh-CN" altLang="en-US" sz="2600" b="1">
                <a:latin typeface="楷体_GB2312" pitchFamily="49" charset="-122"/>
                <a:ea typeface="楷体_GB2312" pitchFamily="49" charset="-122"/>
              </a:rPr>
              <a:t>、</a:t>
            </a:r>
            <a:r>
              <a:rPr lang="en-US" altLang="zh-CN" sz="2600" b="1">
                <a:latin typeface="楷体_GB2312" pitchFamily="49" charset="-122"/>
                <a:ea typeface="楷体_GB2312" pitchFamily="49" charset="-122"/>
              </a:rPr>
              <a:t>c</a:t>
            </a:r>
            <a:r>
              <a:rPr lang="zh-CN" altLang="en-US" sz="2600" b="1">
                <a:latin typeface="楷体_GB2312" pitchFamily="49" charset="-122"/>
                <a:ea typeface="楷体_GB2312" pitchFamily="49" charset="-122"/>
              </a:rPr>
              <a:t>为点阵常数，</a:t>
            </a:r>
            <a:r>
              <a:rPr lang="en-US" altLang="zh-CN" sz="2600" b="1">
                <a:latin typeface="楷体_GB2312" pitchFamily="49" charset="-122"/>
                <a:ea typeface="楷体_GB2312" pitchFamily="49" charset="-122"/>
              </a:rPr>
              <a:t>α</a:t>
            </a:r>
            <a:r>
              <a:rPr lang="zh-CN" altLang="en-US" sz="2600" b="1">
                <a:latin typeface="楷体_GB2312" pitchFamily="49" charset="-122"/>
                <a:ea typeface="楷体_GB2312" pitchFamily="49" charset="-122"/>
              </a:rPr>
              <a:t>、</a:t>
            </a:r>
            <a:r>
              <a:rPr lang="en-US" altLang="zh-CN" sz="2600" b="1">
                <a:latin typeface="楷体_GB2312" pitchFamily="49" charset="-122"/>
                <a:ea typeface="楷体_GB2312" pitchFamily="49" charset="-122"/>
              </a:rPr>
              <a:t>β</a:t>
            </a:r>
            <a:r>
              <a:rPr lang="zh-CN" altLang="en-US" sz="2600" b="1">
                <a:latin typeface="楷体_GB2312" pitchFamily="49" charset="-122"/>
                <a:ea typeface="楷体_GB2312" pitchFamily="49" charset="-122"/>
              </a:rPr>
              <a:t>、</a:t>
            </a:r>
            <a:r>
              <a:rPr lang="en-US" altLang="zh-CN" sz="2600" b="1">
                <a:latin typeface="楷体_GB2312" pitchFamily="49" charset="-122"/>
                <a:ea typeface="楷体_GB2312" pitchFamily="49" charset="-122"/>
              </a:rPr>
              <a:t>γ</a:t>
            </a:r>
            <a:r>
              <a:rPr lang="zh-CN" altLang="en-US" sz="2600" b="1">
                <a:latin typeface="楷体_GB2312" pitchFamily="49" charset="-122"/>
                <a:ea typeface="楷体_GB2312" pitchFamily="49" charset="-122"/>
              </a:rPr>
              <a:t>为晶面法线方向与晶轴夹角。 </a:t>
            </a:r>
            <a:endParaRPr lang="zh-CN" altLang="en-US" sz="26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682418" cy="461665"/>
          </a:xfrm>
          <a:prstGeom prst="rect">
            <a:avLst/>
          </a:prstGeom>
        </p:spPr>
        <p:txBody>
          <a:bodyPr wrap="none">
            <a:spAutoFit/>
          </a:bodyPr>
          <a:lstStyle/>
          <a:p>
            <a:r>
              <a:rPr lang="zh-CN" altLang="en-US" sz="2400" b="1" dirty="0" smtClean="0">
                <a:solidFill>
                  <a:srgbClr val="000000"/>
                </a:solidFill>
              </a:rPr>
              <a:t>预备</a:t>
            </a:r>
            <a:r>
              <a:rPr lang="zh-CN" altLang="en-US" sz="2400" b="1" dirty="0" smtClean="0">
                <a:solidFill>
                  <a:srgbClr val="000000"/>
                </a:solidFill>
              </a:rPr>
              <a:t>知识</a:t>
            </a:r>
            <a:r>
              <a:rPr lang="en-US" altLang="zh-CN" sz="2400" b="1" dirty="0" smtClean="0">
                <a:solidFill>
                  <a:srgbClr val="000000"/>
                </a:solidFill>
              </a:rPr>
              <a:t>3</a:t>
            </a:r>
            <a:r>
              <a:rPr lang="en-US" altLang="zh-CN" sz="2400" b="1" dirty="0" smtClean="0">
                <a:solidFill>
                  <a:srgbClr val="000000"/>
                </a:solidFill>
              </a:rPr>
              <a:t>——</a:t>
            </a:r>
            <a:r>
              <a:rPr lang="zh-CN" altLang="en-US" sz="2400" b="1" dirty="0" smtClean="0">
                <a:solidFill>
                  <a:srgbClr val="000000"/>
                </a:solidFill>
              </a:rPr>
              <a:t>晶向与晶面</a:t>
            </a:r>
            <a:endParaRPr lang="zh-CN" altLang="en-US" sz="2400" b="1" dirty="0">
              <a:solidFill>
                <a:srgbClr val="000000"/>
              </a:solidFill>
            </a:endParaRPr>
          </a:p>
        </p:txBody>
      </p:sp>
      <p:sp>
        <p:nvSpPr>
          <p:cNvPr id="11" name="Rectangle 4"/>
          <p:cNvSpPr>
            <a:spLocks noChangeArrowheads="1"/>
          </p:cNvSpPr>
          <p:nvPr/>
        </p:nvSpPr>
        <p:spPr bwMode="auto">
          <a:xfrm>
            <a:off x="663575" y="542608"/>
            <a:ext cx="6240463" cy="427037"/>
          </a:xfrm>
          <a:prstGeom prst="rect">
            <a:avLst/>
          </a:prstGeom>
          <a:noFill/>
          <a:ln w="9525">
            <a:noFill/>
            <a:miter lim="800000"/>
          </a:ln>
          <a:effectLst/>
        </p:spPr>
        <p:txBody>
          <a:bodyPr wrap="none" lIns="0" tIns="0" rIns="0" bIns="0" anchor="ctr">
            <a:spAutoFit/>
          </a:bodyPr>
          <a:lstStyle/>
          <a:p>
            <a:r>
              <a:rPr lang="en-US" altLang="zh-CN" sz="2800" b="1">
                <a:effectLst>
                  <a:outerShdw blurRad="38100" dist="38100" dir="2700000" algn="tl">
                    <a:srgbClr val="C0C0C0"/>
                  </a:outerShdw>
                </a:effectLst>
              </a:rPr>
              <a:t>2. </a:t>
            </a:r>
            <a:r>
              <a:rPr lang="zh-CN" altLang="en-US" sz="2800" b="1">
                <a:effectLst>
                  <a:outerShdw blurRad="38100" dist="38100" dir="2700000" algn="tl">
                    <a:srgbClr val="C0C0C0"/>
                  </a:outerShdw>
                </a:effectLst>
              </a:rPr>
              <a:t>晶面（</a:t>
            </a:r>
            <a:r>
              <a:rPr lang="en-US" altLang="zh-CN" sz="2800" b="1" i="1">
                <a:effectLst>
                  <a:outerShdw blurRad="38100" dist="38100" dir="2700000" algn="tl">
                    <a:srgbClr val="C0C0C0"/>
                  </a:outerShdw>
                </a:effectLst>
              </a:rPr>
              <a:t>h</a:t>
            </a:r>
            <a:r>
              <a:rPr lang="en-US" altLang="zh-CN" sz="2800" b="1" baseline="-25000">
                <a:effectLst>
                  <a:outerShdw blurRad="38100" dist="38100" dir="2700000" algn="tl">
                    <a:srgbClr val="C0C0C0"/>
                  </a:outerShdw>
                </a:effectLst>
              </a:rPr>
              <a:t>1</a:t>
            </a:r>
            <a:r>
              <a:rPr lang="en-US" altLang="zh-CN" sz="2800" b="1" i="1">
                <a:effectLst>
                  <a:outerShdw blurRad="38100" dist="38100" dir="2700000" algn="tl">
                    <a:srgbClr val="C0C0C0"/>
                  </a:outerShdw>
                </a:effectLst>
              </a:rPr>
              <a:t>k</a:t>
            </a:r>
            <a:r>
              <a:rPr lang="en-US" altLang="zh-CN" sz="2800" b="1" baseline="-25000">
                <a:effectLst>
                  <a:outerShdw blurRad="38100" dist="38100" dir="2700000" algn="tl">
                    <a:srgbClr val="C0C0C0"/>
                  </a:outerShdw>
                </a:effectLst>
              </a:rPr>
              <a:t>1</a:t>
            </a:r>
            <a:r>
              <a:rPr lang="en-US" altLang="zh-CN" sz="2800" b="1" i="1">
                <a:effectLst>
                  <a:outerShdw blurRad="38100" dist="38100" dir="2700000" algn="tl">
                    <a:srgbClr val="C0C0C0"/>
                  </a:outerShdw>
                </a:effectLst>
              </a:rPr>
              <a:t>l</a:t>
            </a:r>
            <a:r>
              <a:rPr lang="en-US" altLang="zh-CN" sz="2800" b="1" baseline="-25000">
                <a:effectLst>
                  <a:outerShdw blurRad="38100" dist="38100" dir="2700000" algn="tl">
                    <a:srgbClr val="C0C0C0"/>
                  </a:outerShdw>
                </a:effectLst>
              </a:rPr>
              <a:t>1</a:t>
            </a:r>
            <a:r>
              <a:rPr lang="zh-CN" altLang="en-US" sz="2800" b="1">
                <a:effectLst>
                  <a:outerShdw blurRad="38100" dist="38100" dir="2700000" algn="tl">
                    <a:srgbClr val="C0C0C0"/>
                  </a:outerShdw>
                </a:effectLst>
              </a:rPr>
              <a:t>）和</a:t>
            </a:r>
            <a:r>
              <a:rPr lang="en-US" altLang="zh-CN" sz="2800" b="1">
                <a:effectLst>
                  <a:outerShdw blurRad="38100" dist="38100" dir="2700000" algn="tl">
                    <a:srgbClr val="C0C0C0"/>
                  </a:outerShdw>
                </a:effectLst>
              </a:rPr>
              <a:t>(</a:t>
            </a:r>
            <a:r>
              <a:rPr lang="en-US" altLang="zh-CN" sz="2800" b="1" i="1">
                <a:effectLst>
                  <a:outerShdw blurRad="38100" dist="38100" dir="2700000" algn="tl">
                    <a:srgbClr val="C0C0C0"/>
                  </a:outerShdw>
                </a:effectLst>
              </a:rPr>
              <a:t>h</a:t>
            </a:r>
            <a:r>
              <a:rPr lang="en-US" altLang="zh-CN" sz="2800" b="1" baseline="-25000">
                <a:effectLst>
                  <a:outerShdw blurRad="38100" dist="38100" dir="2700000" algn="tl">
                    <a:srgbClr val="C0C0C0"/>
                  </a:outerShdw>
                </a:effectLst>
              </a:rPr>
              <a:t>2</a:t>
            </a:r>
            <a:r>
              <a:rPr lang="en-US" altLang="zh-CN" sz="2800" b="1" i="1">
                <a:effectLst>
                  <a:outerShdw blurRad="38100" dist="38100" dir="2700000" algn="tl">
                    <a:srgbClr val="C0C0C0"/>
                  </a:outerShdw>
                </a:effectLst>
              </a:rPr>
              <a:t>k</a:t>
            </a:r>
            <a:r>
              <a:rPr lang="en-US" altLang="zh-CN" sz="2800" b="1" baseline="-25000">
                <a:effectLst>
                  <a:outerShdw blurRad="38100" dist="38100" dir="2700000" algn="tl">
                    <a:srgbClr val="C0C0C0"/>
                  </a:outerShdw>
                </a:effectLst>
              </a:rPr>
              <a:t>2</a:t>
            </a:r>
            <a:r>
              <a:rPr lang="en-US" altLang="zh-CN" sz="2800" b="1" i="1">
                <a:effectLst>
                  <a:outerShdw blurRad="38100" dist="38100" dir="2700000" algn="tl">
                    <a:srgbClr val="C0C0C0"/>
                  </a:outerShdw>
                </a:effectLst>
              </a:rPr>
              <a:t>l</a:t>
            </a:r>
            <a:r>
              <a:rPr lang="en-US" altLang="zh-CN" sz="2800" b="1" baseline="-25000">
                <a:effectLst>
                  <a:outerShdw blurRad="38100" dist="38100" dir="2700000" algn="tl">
                    <a:srgbClr val="C0C0C0"/>
                  </a:outerShdw>
                </a:effectLst>
              </a:rPr>
              <a:t>2</a:t>
            </a:r>
            <a:r>
              <a:rPr lang="en-US" altLang="zh-CN" sz="2800" b="1">
                <a:effectLst>
                  <a:outerShdw blurRad="38100" dist="38100" dir="2700000" algn="tl">
                    <a:srgbClr val="C0C0C0"/>
                  </a:outerShdw>
                </a:effectLst>
              </a:rPr>
              <a:t>) </a:t>
            </a:r>
            <a:r>
              <a:rPr lang="zh-CN" altLang="en-US" sz="2800" b="1">
                <a:effectLst>
                  <a:outerShdw blurRad="38100" dist="38100" dir="2700000" algn="tl">
                    <a:srgbClr val="C0C0C0"/>
                  </a:outerShdw>
                </a:effectLst>
              </a:rPr>
              <a:t>之间夹角</a:t>
            </a:r>
            <a:r>
              <a:rPr lang="en-US" altLang="zh-CN" sz="2800" b="1">
                <a:effectLst>
                  <a:outerShdw blurRad="38100" dist="38100" dir="2700000" algn="tl">
                    <a:srgbClr val="C0C0C0"/>
                  </a:outerShdw>
                </a:effectLst>
              </a:rPr>
              <a:t>θ</a:t>
            </a:r>
            <a:r>
              <a:rPr lang="en-US" altLang="zh-CN" sz="2800"/>
              <a:t> </a:t>
            </a:r>
            <a:endParaRPr lang="en-US" altLang="zh-CN" sz="2800"/>
          </a:p>
        </p:txBody>
      </p:sp>
      <p:pic>
        <p:nvPicPr>
          <p:cNvPr id="2" name="Picture 5" descr="PPTAF"/>
          <p:cNvPicPr>
            <a:picLocks noChangeAspect="1" noChangeArrowheads="1"/>
          </p:cNvPicPr>
          <p:nvPr/>
        </p:nvPicPr>
        <p:blipFill>
          <a:blip r:embed="rId3" cstate="print"/>
          <a:srcRect/>
          <a:stretch>
            <a:fillRect/>
          </a:stretch>
        </p:blipFill>
        <p:spPr bwMode="auto">
          <a:xfrm>
            <a:off x="714375" y="915035"/>
            <a:ext cx="7696200" cy="4029075"/>
          </a:xfrm>
          <a:prstGeom prst="rect">
            <a:avLst/>
          </a:prstGeom>
          <a:noFill/>
          <a:ln w="9525">
            <a:noFill/>
            <a:miter lim="800000"/>
            <a:headEnd/>
            <a:tailEnd/>
          </a:ln>
          <a:effec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3381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4——</a:t>
            </a:r>
            <a:r>
              <a:rPr lang="zh-CN" altLang="en-US" sz="2400" b="1" dirty="0" smtClean="0">
                <a:solidFill>
                  <a:srgbClr val="000000"/>
                </a:solidFill>
              </a:rPr>
              <a:t>铁碳相图</a:t>
            </a:r>
            <a:endParaRPr lang="zh-CN" altLang="en-US" sz="2400" b="1" dirty="0" smtClean="0">
              <a:solidFill>
                <a:srgbClr val="000000"/>
              </a:solidFill>
            </a:endParaRPr>
          </a:p>
        </p:txBody>
      </p:sp>
      <p:pic>
        <p:nvPicPr>
          <p:cNvPr id="150532" name="图片 125955" descr="旋转 mf1"/>
          <p:cNvPicPr>
            <a:picLocks noChangeAspect="1"/>
          </p:cNvPicPr>
          <p:nvPr/>
        </p:nvPicPr>
        <p:blipFill>
          <a:blip r:embed="rId3">
            <a:lum bright="-6000" contrast="24000"/>
          </a:blip>
          <a:stretch>
            <a:fillRect/>
          </a:stretch>
        </p:blipFill>
        <p:spPr>
          <a:xfrm rot="-60000">
            <a:off x="898525" y="636270"/>
            <a:ext cx="6807200" cy="4470400"/>
          </a:xfrm>
          <a:prstGeom prst="rect">
            <a:avLst/>
          </a:prstGeom>
          <a:noFill/>
          <a:ln w="9525">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3381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4——</a:t>
            </a:r>
            <a:r>
              <a:rPr lang="zh-CN" altLang="en-US" sz="2400" b="1" dirty="0" smtClean="0">
                <a:solidFill>
                  <a:srgbClr val="000000"/>
                </a:solidFill>
              </a:rPr>
              <a:t>铁碳相图</a:t>
            </a:r>
            <a:endParaRPr lang="zh-CN" altLang="en-US" sz="2400" b="1" dirty="0" smtClean="0">
              <a:solidFill>
                <a:srgbClr val="000000"/>
              </a:solidFill>
            </a:endParaRPr>
          </a:p>
        </p:txBody>
      </p:sp>
      <p:sp>
        <p:nvSpPr>
          <p:cNvPr id="149508" name="文本框 124931"/>
          <p:cNvSpPr txBox="1"/>
          <p:nvPr/>
        </p:nvSpPr>
        <p:spPr>
          <a:xfrm>
            <a:off x="395605" y="642620"/>
            <a:ext cx="8704580" cy="4441190"/>
          </a:xfrm>
          <a:prstGeom prst="rect">
            <a:avLst/>
          </a:prstGeom>
          <a:noFill/>
          <a:ln w="9525">
            <a:noFill/>
          </a:ln>
        </p:spPr>
        <p:txBody>
          <a:bodyPr>
            <a:noAutofit/>
          </a:bodyPr>
          <a:p>
            <a:pPr>
              <a:spcBef>
                <a:spcPct val="50000"/>
              </a:spcBef>
            </a:pPr>
            <a:r>
              <a:rPr lang="zh-CN" altLang="en-US" b="1" dirty="0">
                <a:latin typeface="Garamond" panose="02020404030301010803" pitchFamily="18" charset="0"/>
              </a:rPr>
              <a:t>一、铁碳合金的热处理组织及其性能</a:t>
            </a:r>
            <a:endParaRPr lang="zh-CN" altLang="en-US" b="1" dirty="0">
              <a:latin typeface="Garamond" panose="02020404030301010803" pitchFamily="18" charset="0"/>
            </a:endParaRPr>
          </a:p>
          <a:p>
            <a:pPr>
              <a:spcBef>
                <a:spcPct val="50000"/>
              </a:spcBef>
            </a:pPr>
            <a:r>
              <a:rPr lang="en-US" altLang="zh-CN" b="1" dirty="0">
                <a:latin typeface="Garamond" panose="02020404030301010803" pitchFamily="18" charset="0"/>
              </a:rPr>
              <a:t>1.</a:t>
            </a:r>
            <a:r>
              <a:rPr lang="zh-CN" altLang="en-US" b="1" dirty="0">
                <a:latin typeface="Garamond" panose="02020404030301010803" pitchFamily="18" charset="0"/>
              </a:rPr>
              <a:t>铁碳合金的平衡组织</a:t>
            </a:r>
            <a:endParaRPr lang="zh-CN" altLang="en-US" b="1" dirty="0">
              <a:latin typeface="Garamond" panose="02020404030301010803" pitchFamily="18" charset="0"/>
            </a:endParaRPr>
          </a:p>
          <a:p>
            <a:pPr>
              <a:lnSpc>
                <a:spcPct val="120000"/>
              </a:lnSpc>
            </a:pPr>
            <a:r>
              <a:rPr lang="zh-CN" altLang="en-US" dirty="0">
                <a:latin typeface="Garamond" panose="02020404030301010803" pitchFamily="18" charset="0"/>
              </a:rPr>
              <a:t>        铁碳合金平衡组织是指金属或合金在</a:t>
            </a:r>
            <a:r>
              <a:rPr lang="zh-CN" altLang="en-US" dirty="0">
                <a:solidFill>
                  <a:srgbClr val="0070C0"/>
                </a:solidFill>
                <a:latin typeface="Garamond" panose="02020404030301010803" pitchFamily="18" charset="0"/>
              </a:rPr>
              <a:t>极为缓慢</a:t>
            </a:r>
            <a:r>
              <a:rPr lang="zh-CN" altLang="en-US" dirty="0">
                <a:latin typeface="Garamond" panose="02020404030301010803" pitchFamily="18" charset="0"/>
              </a:rPr>
              <a:t>的冷却条件下（如退火处理）所得到的组织。</a:t>
            </a:r>
            <a:r>
              <a:rPr lang="en-US" altLang="zh-CN" dirty="0">
                <a:latin typeface="Garamond" panose="02020404030301010803" pitchFamily="18" charset="0"/>
              </a:rPr>
              <a:t>Fe-Fe3C</a:t>
            </a:r>
            <a:r>
              <a:rPr lang="zh-CN" altLang="en-US" dirty="0">
                <a:latin typeface="Garamond" panose="02020404030301010803" pitchFamily="18" charset="0"/>
              </a:rPr>
              <a:t>相图是研究碳钢和白口铸铁在平衡状态或接近平衡状态下显微组织的基础。根据</a:t>
            </a:r>
            <a:r>
              <a:rPr lang="en-US" altLang="zh-CN" dirty="0">
                <a:latin typeface="Garamond" panose="02020404030301010803" pitchFamily="18" charset="0"/>
              </a:rPr>
              <a:t>Fe-Fe3C</a:t>
            </a:r>
            <a:r>
              <a:rPr lang="zh-CN" altLang="en-US" dirty="0">
                <a:latin typeface="Garamond" panose="02020404030301010803" pitchFamily="18" charset="0"/>
              </a:rPr>
              <a:t>相图，含碳量小于</a:t>
            </a:r>
            <a:r>
              <a:rPr lang="en-US" altLang="zh-CN" dirty="0">
                <a:solidFill>
                  <a:srgbClr val="0070C0"/>
                </a:solidFill>
                <a:latin typeface="Garamond" panose="02020404030301010803" pitchFamily="18" charset="0"/>
              </a:rPr>
              <a:t>0.0218%</a:t>
            </a:r>
            <a:r>
              <a:rPr lang="zh-CN" altLang="en-US" dirty="0">
                <a:latin typeface="Garamond" panose="02020404030301010803" pitchFamily="18" charset="0"/>
              </a:rPr>
              <a:t>的铁碳合金称为</a:t>
            </a:r>
            <a:r>
              <a:rPr lang="zh-CN" altLang="en-US" dirty="0">
                <a:solidFill>
                  <a:srgbClr val="FF3300"/>
                </a:solidFill>
                <a:latin typeface="Garamond" panose="02020404030301010803" pitchFamily="18" charset="0"/>
              </a:rPr>
              <a:t>工业纯铁</a:t>
            </a:r>
            <a:r>
              <a:rPr lang="zh-CN" altLang="en-US" dirty="0">
                <a:latin typeface="Garamond" panose="02020404030301010803" pitchFamily="18" charset="0"/>
              </a:rPr>
              <a:t>，含碳量在</a:t>
            </a:r>
            <a:r>
              <a:rPr lang="en-US" altLang="zh-CN" dirty="0">
                <a:solidFill>
                  <a:srgbClr val="0070C0"/>
                </a:solidFill>
                <a:latin typeface="Garamond" panose="02020404030301010803" pitchFamily="18" charset="0"/>
              </a:rPr>
              <a:t>0.0218%~2.11%</a:t>
            </a:r>
            <a:r>
              <a:rPr lang="zh-CN" altLang="en-US" dirty="0">
                <a:latin typeface="Garamond" panose="02020404030301010803" pitchFamily="18" charset="0"/>
              </a:rPr>
              <a:t>的铁碳合金称为</a:t>
            </a:r>
            <a:r>
              <a:rPr lang="zh-CN" altLang="en-US" dirty="0">
                <a:solidFill>
                  <a:srgbClr val="FF3300"/>
                </a:solidFill>
                <a:latin typeface="Garamond" panose="02020404030301010803" pitchFamily="18" charset="0"/>
              </a:rPr>
              <a:t>碳钢</a:t>
            </a:r>
            <a:r>
              <a:rPr lang="zh-CN" altLang="en-US" dirty="0">
                <a:latin typeface="Garamond" panose="02020404030301010803" pitchFamily="18" charset="0"/>
              </a:rPr>
              <a:t>，含碳量</a:t>
            </a:r>
            <a:r>
              <a:rPr lang="zh-CN" altLang="en-US" dirty="0">
                <a:solidFill>
                  <a:srgbClr val="0070C0"/>
                </a:solidFill>
                <a:latin typeface="Garamond" panose="02020404030301010803" pitchFamily="18" charset="0"/>
              </a:rPr>
              <a:t>大于</a:t>
            </a:r>
            <a:r>
              <a:rPr lang="en-US" altLang="zh-CN" dirty="0">
                <a:solidFill>
                  <a:srgbClr val="0070C0"/>
                </a:solidFill>
                <a:latin typeface="Garamond" panose="02020404030301010803" pitchFamily="18" charset="0"/>
              </a:rPr>
              <a:t>2.11%</a:t>
            </a:r>
            <a:r>
              <a:rPr lang="zh-CN" altLang="en-US" dirty="0">
                <a:latin typeface="Garamond" panose="02020404030301010803" pitchFamily="18" charset="0"/>
              </a:rPr>
              <a:t>的合金称为</a:t>
            </a:r>
            <a:r>
              <a:rPr lang="zh-CN" altLang="en-US" dirty="0">
                <a:solidFill>
                  <a:srgbClr val="FF3300"/>
                </a:solidFill>
                <a:latin typeface="Garamond" panose="02020404030301010803" pitchFamily="18" charset="0"/>
              </a:rPr>
              <a:t>白口铸铁</a:t>
            </a:r>
            <a:r>
              <a:rPr lang="zh-CN" altLang="en-US" dirty="0">
                <a:latin typeface="Garamond" panose="02020404030301010803" pitchFamily="18" charset="0"/>
              </a:rPr>
              <a:t>。虽然这些合金在室温下的组成相都是铁素体和渗碳体，但由于各相的形态、数量和分布不同，它们的显微组织有很大差异。</a:t>
            </a:r>
            <a:endParaRPr lang="zh-CN" altLang="en-US" dirty="0">
              <a:latin typeface="Garamond" panose="02020404030301010803" pitchFamily="18" charset="0"/>
            </a:endParaRPr>
          </a:p>
          <a:p>
            <a:pPr>
              <a:lnSpc>
                <a:spcPct val="120000"/>
              </a:lnSpc>
              <a:buFont typeface="Wingdings" panose="05000000000000000000" pitchFamily="2" charset="2"/>
              <a:buChar char="Ø"/>
            </a:pPr>
            <a:r>
              <a:rPr lang="zh-CN" altLang="en-US" dirty="0">
                <a:latin typeface="Garamond" panose="02020404030301010803" pitchFamily="18" charset="0"/>
              </a:rPr>
              <a:t>工业纯铁的平衡组织</a:t>
            </a:r>
            <a:endParaRPr lang="zh-CN" altLang="en-US" dirty="0">
              <a:latin typeface="Garamond" panose="02020404030301010803" pitchFamily="18" charset="0"/>
            </a:endParaRPr>
          </a:p>
          <a:p>
            <a:pPr>
              <a:lnSpc>
                <a:spcPct val="120000"/>
              </a:lnSpc>
              <a:buFont typeface="Wingdings" panose="05000000000000000000" pitchFamily="2" charset="2"/>
            </a:pPr>
            <a:r>
              <a:rPr lang="zh-CN" altLang="en-US" dirty="0">
                <a:latin typeface="Garamond" panose="02020404030301010803" pitchFamily="18" charset="0"/>
              </a:rPr>
              <a:t>      工业纯铁含碳量小于</a:t>
            </a:r>
            <a:r>
              <a:rPr lang="en-US" altLang="zh-CN" dirty="0">
                <a:latin typeface="Garamond" panose="02020404030301010803" pitchFamily="18" charset="0"/>
              </a:rPr>
              <a:t>0.008%</a:t>
            </a:r>
            <a:r>
              <a:rPr lang="zh-CN" altLang="en-US" dirty="0">
                <a:latin typeface="Garamond" panose="02020404030301010803" pitchFamily="18" charset="0"/>
              </a:rPr>
              <a:t>时，其组织为单相铁素体。图中部分晶粒颜色较深，这是由于晶粒受腐蚀程度不同造成的。含碳量大于</a:t>
            </a:r>
            <a:r>
              <a:rPr lang="en-US" altLang="zh-CN" dirty="0">
                <a:latin typeface="Garamond" panose="02020404030301010803" pitchFamily="18" charset="0"/>
              </a:rPr>
              <a:t>0.008%</a:t>
            </a:r>
            <a:r>
              <a:rPr lang="zh-CN" altLang="en-US" dirty="0">
                <a:latin typeface="Garamond" panose="02020404030301010803" pitchFamily="18" charset="0"/>
              </a:rPr>
              <a:t>时，工业纯铁的组织为铁素体和极少量的三次渗碳体。三次渗碳体由铁素体析出，沿铁素体晶界呈片状分布。</a:t>
            </a:r>
            <a:endParaRPr lang="zh-CN" altLang="en-US" dirty="0">
              <a:latin typeface="Garamond" panose="02020404030301010803"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3381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4——</a:t>
            </a:r>
            <a:r>
              <a:rPr lang="zh-CN" altLang="en-US" sz="2400" b="1" dirty="0" smtClean="0">
                <a:solidFill>
                  <a:srgbClr val="000000"/>
                </a:solidFill>
              </a:rPr>
              <a:t>铁碳相图</a:t>
            </a:r>
            <a:endParaRPr lang="zh-CN" altLang="en-US" sz="2400" b="1" dirty="0" smtClean="0">
              <a:solidFill>
                <a:srgbClr val="000000"/>
              </a:solidFill>
            </a:endParaRPr>
          </a:p>
        </p:txBody>
      </p:sp>
      <p:grpSp>
        <p:nvGrpSpPr>
          <p:cNvPr id="57349" name="组合 126979"/>
          <p:cNvGrpSpPr/>
          <p:nvPr/>
        </p:nvGrpSpPr>
        <p:grpSpPr>
          <a:xfrm>
            <a:off x="4931728" y="1203325"/>
            <a:ext cx="4103687" cy="3527425"/>
            <a:chOff x="0" y="0"/>
            <a:chExt cx="2585" cy="2222"/>
          </a:xfrm>
        </p:grpSpPr>
        <p:pic>
          <p:nvPicPr>
            <p:cNvPr id="57353" name="图片 126980" descr="工业纯铁"/>
            <p:cNvPicPr>
              <a:picLocks noChangeAspect="1"/>
            </p:cNvPicPr>
            <p:nvPr/>
          </p:nvPicPr>
          <p:blipFill>
            <a:blip r:embed="rId3">
              <a:lum bright="12000"/>
            </a:blip>
            <a:stretch>
              <a:fillRect/>
            </a:stretch>
          </p:blipFill>
          <p:spPr>
            <a:xfrm>
              <a:off x="0" y="0"/>
              <a:ext cx="2585" cy="1938"/>
            </a:xfrm>
            <a:prstGeom prst="rect">
              <a:avLst/>
            </a:prstGeom>
            <a:noFill/>
            <a:ln w="9525">
              <a:noFill/>
            </a:ln>
          </p:spPr>
        </p:pic>
        <p:sp>
          <p:nvSpPr>
            <p:cNvPr id="57354" name="文本框 126981"/>
            <p:cNvSpPr txBox="1"/>
            <p:nvPr/>
          </p:nvSpPr>
          <p:spPr>
            <a:xfrm>
              <a:off x="454" y="1996"/>
              <a:ext cx="1724" cy="226"/>
            </a:xfrm>
            <a:prstGeom prst="rect">
              <a:avLst/>
            </a:prstGeom>
            <a:noFill/>
            <a:ln w="9525">
              <a:noFill/>
            </a:ln>
          </p:spPr>
          <p:txBody>
            <a:bodyPr/>
            <a:p>
              <a:pPr algn="just"/>
              <a:r>
                <a:rPr lang="en-US" altLang="zh-CN" sz="1600" dirty="0">
                  <a:latin typeface="Times New Roman" panose="02020603050405020304" pitchFamily="18" charset="0"/>
                </a:rPr>
                <a:t>        </a:t>
              </a:r>
              <a:r>
                <a:rPr lang="zh-CN" altLang="en-US" sz="1600" dirty="0">
                  <a:latin typeface="Times New Roman" panose="02020603050405020304" pitchFamily="18" charset="0"/>
                </a:rPr>
                <a:t>工业纯铁的平衡组织 </a:t>
              </a:r>
              <a:endParaRPr lang="zh-CN" altLang="en-US" sz="1600" dirty="0">
                <a:latin typeface="Garamond" panose="02020404030301010803" pitchFamily="18" charset="0"/>
              </a:endParaRPr>
            </a:p>
          </p:txBody>
        </p:sp>
      </p:grpSp>
      <p:sp>
        <p:nvSpPr>
          <p:cNvPr id="57350" name="文本框 126982"/>
          <p:cNvSpPr txBox="1"/>
          <p:nvPr/>
        </p:nvSpPr>
        <p:spPr>
          <a:xfrm>
            <a:off x="323850" y="981075"/>
            <a:ext cx="4514215" cy="4123055"/>
          </a:xfrm>
          <a:prstGeom prst="rect">
            <a:avLst/>
          </a:prstGeom>
          <a:noFill/>
          <a:ln w="9525">
            <a:noFill/>
          </a:ln>
        </p:spPr>
        <p:txBody>
          <a:bodyPr>
            <a:noAutofit/>
          </a:bodyPr>
          <a:p>
            <a:pPr>
              <a:spcBef>
                <a:spcPct val="50000"/>
              </a:spcBef>
              <a:buFont typeface="Wingdings" panose="05000000000000000000" pitchFamily="2" charset="2"/>
              <a:buChar char="Ø"/>
            </a:pPr>
            <a:r>
              <a:rPr lang="zh-CN" altLang="en-US" sz="2000" dirty="0">
                <a:latin typeface="Garamond" panose="02020404030301010803" pitchFamily="18" charset="0"/>
              </a:rPr>
              <a:t>碳钢的平衡组织</a:t>
            </a:r>
            <a:endParaRPr lang="zh-CN" altLang="en-US" sz="2000" dirty="0">
              <a:latin typeface="Garamond" panose="02020404030301010803" pitchFamily="18" charset="0"/>
            </a:endParaRPr>
          </a:p>
          <a:p>
            <a:pPr>
              <a:spcBef>
                <a:spcPct val="50000"/>
              </a:spcBef>
              <a:buFont typeface="Wingdings" panose="05000000000000000000" pitchFamily="2" charset="2"/>
            </a:pPr>
            <a:r>
              <a:rPr lang="zh-CN" altLang="en-US" sz="2000" dirty="0">
                <a:solidFill>
                  <a:srgbClr val="0070C0"/>
                </a:solidFill>
                <a:latin typeface="Garamond" panose="02020404030301010803" pitchFamily="18" charset="0"/>
              </a:rPr>
              <a:t>碳钢的分类及其组织</a:t>
            </a:r>
            <a:r>
              <a:rPr lang="zh-CN" altLang="en-US" sz="2000" dirty="0">
                <a:latin typeface="Garamond" panose="02020404030301010803" pitchFamily="18" charset="0"/>
              </a:rPr>
              <a:t>（依据碳含量）：</a:t>
            </a:r>
            <a:endParaRPr lang="zh-CN" altLang="en-US" sz="2000" dirty="0">
              <a:latin typeface="Garamond" panose="02020404030301010803" pitchFamily="18" charset="0"/>
            </a:endParaRPr>
          </a:p>
          <a:p>
            <a:pPr>
              <a:lnSpc>
                <a:spcPct val="120000"/>
              </a:lnSpc>
              <a:buFont typeface="Wingdings" panose="05000000000000000000" pitchFamily="2" charset="2"/>
            </a:pPr>
            <a:r>
              <a:rPr lang="zh-CN" altLang="en-US" sz="2000" dirty="0">
                <a:solidFill>
                  <a:srgbClr val="FF3300"/>
                </a:solidFill>
                <a:latin typeface="Garamond" panose="02020404030301010803" pitchFamily="18" charset="0"/>
              </a:rPr>
              <a:t>亚共析钢 ：</a:t>
            </a:r>
            <a:r>
              <a:rPr lang="en-US" altLang="zh-CN" sz="2000" dirty="0">
                <a:latin typeface="Garamond" panose="02020404030301010803" pitchFamily="18" charset="0"/>
              </a:rPr>
              <a:t>0.0218</a:t>
            </a:r>
            <a:r>
              <a:rPr lang="zh-CN" altLang="en-US" sz="2000" dirty="0">
                <a:latin typeface="Garamond" panose="02020404030301010803" pitchFamily="18" charset="0"/>
              </a:rPr>
              <a:t>％＜</a:t>
            </a:r>
            <a:r>
              <a:rPr lang="en-US" altLang="zh-CN" sz="2000" i="1" dirty="0">
                <a:latin typeface="Times New Roman" panose="02020603050405020304" pitchFamily="18" charset="0"/>
              </a:rPr>
              <a:t>w</a:t>
            </a:r>
            <a:r>
              <a:rPr lang="en-US" altLang="zh-CN" sz="2000" dirty="0">
                <a:latin typeface="Times New Roman" panose="02020603050405020304" pitchFamily="18" charset="0"/>
              </a:rPr>
              <a:t>C</a:t>
            </a:r>
            <a:r>
              <a:rPr lang="zh-CN" altLang="en-US" sz="2000" dirty="0">
                <a:latin typeface="Garamond" panose="02020404030301010803" pitchFamily="18" charset="0"/>
              </a:rPr>
              <a:t>＜</a:t>
            </a:r>
            <a:r>
              <a:rPr lang="en-US" altLang="zh-CN" sz="2000" dirty="0">
                <a:latin typeface="Garamond" panose="02020404030301010803" pitchFamily="18" charset="0"/>
              </a:rPr>
              <a:t>0.77</a:t>
            </a:r>
            <a:r>
              <a:rPr lang="zh-CN" altLang="en-US" sz="2000" dirty="0">
                <a:latin typeface="Garamond" panose="02020404030301010803" pitchFamily="18" charset="0"/>
              </a:rPr>
              <a:t>％ ，平衡组织为</a:t>
            </a:r>
            <a:r>
              <a:rPr lang="zh-CN" altLang="en-US" sz="2000" dirty="0">
                <a:solidFill>
                  <a:srgbClr val="FF3300"/>
                </a:solidFill>
                <a:latin typeface="Garamond" panose="02020404030301010803" pitchFamily="18" charset="0"/>
              </a:rPr>
              <a:t>铁素体</a:t>
            </a:r>
            <a:r>
              <a:rPr lang="en-US" altLang="zh-CN" sz="2000" dirty="0">
                <a:latin typeface="Garamond" panose="02020404030301010803" pitchFamily="18" charset="0"/>
              </a:rPr>
              <a:t>F</a:t>
            </a:r>
            <a:r>
              <a:rPr lang="zh-CN" altLang="en-US" sz="2000" dirty="0">
                <a:latin typeface="Garamond" panose="02020404030301010803" pitchFamily="18" charset="0"/>
              </a:rPr>
              <a:t>加</a:t>
            </a:r>
            <a:r>
              <a:rPr lang="zh-CN" altLang="en-US" sz="2000" dirty="0">
                <a:solidFill>
                  <a:srgbClr val="FF3300"/>
                </a:solidFill>
                <a:latin typeface="Garamond" panose="02020404030301010803" pitchFamily="18" charset="0"/>
              </a:rPr>
              <a:t>珠光体</a:t>
            </a:r>
            <a:r>
              <a:rPr lang="en-US" altLang="zh-CN" sz="2000" dirty="0">
                <a:latin typeface="Garamond" panose="02020404030301010803" pitchFamily="18" charset="0"/>
              </a:rPr>
              <a:t>P</a:t>
            </a:r>
            <a:r>
              <a:rPr lang="zh-CN" altLang="en-US" sz="2000" dirty="0">
                <a:latin typeface="Garamond" panose="02020404030301010803" pitchFamily="18" charset="0"/>
              </a:rPr>
              <a:t>。 其形态随碳含量的不同而有所不同。当碳含量较少的时候，组织为等轴铁素体基体与少量珠光体分布在</a:t>
            </a:r>
            <a:r>
              <a:rPr lang="zh-CN" altLang="en-US" sz="2000" dirty="0">
                <a:solidFill>
                  <a:srgbClr val="0070C0"/>
                </a:solidFill>
                <a:latin typeface="Garamond" panose="02020404030301010803" pitchFamily="18" charset="0"/>
              </a:rPr>
              <a:t>铁素体晶界上</a:t>
            </a:r>
            <a:r>
              <a:rPr lang="zh-CN" altLang="en-US" sz="2000" dirty="0">
                <a:latin typeface="Garamond" panose="02020404030301010803" pitchFamily="18" charset="0"/>
              </a:rPr>
              <a:t>或</a:t>
            </a:r>
            <a:r>
              <a:rPr lang="zh-CN" altLang="en-US" sz="2000" dirty="0">
                <a:solidFill>
                  <a:srgbClr val="0070C0"/>
                </a:solidFill>
                <a:latin typeface="Garamond" panose="02020404030301010803" pitchFamily="18" charset="0"/>
              </a:rPr>
              <a:t>三叉晶界上</a:t>
            </a:r>
            <a:r>
              <a:rPr lang="zh-CN" altLang="en-US" sz="2000" dirty="0">
                <a:latin typeface="Garamond" panose="02020404030301010803" pitchFamily="18" charset="0"/>
              </a:rPr>
              <a:t>呈不规则岛状。 当碳含量较高时，珠光体成为钢的基体，铁素体呈连续或断续的网络状围绕着珠光体分布。</a:t>
            </a:r>
            <a:endParaRPr lang="zh-CN" altLang="en-US" sz="2000" dirty="0">
              <a:latin typeface="Garamond" panose="02020404030301010803"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3381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4——</a:t>
            </a:r>
            <a:r>
              <a:rPr lang="zh-CN" altLang="en-US" sz="2400" b="1" dirty="0" smtClean="0">
                <a:solidFill>
                  <a:srgbClr val="000000"/>
                </a:solidFill>
              </a:rPr>
              <a:t>铁碳相图</a:t>
            </a:r>
            <a:endParaRPr lang="zh-CN" altLang="en-US" sz="2400" b="1" dirty="0" smtClean="0">
              <a:solidFill>
                <a:srgbClr val="000000"/>
              </a:solidFill>
            </a:endParaRPr>
          </a:p>
        </p:txBody>
      </p:sp>
      <p:sp>
        <p:nvSpPr>
          <p:cNvPr id="57351" name="文本框 126983"/>
          <p:cNvSpPr txBox="1"/>
          <p:nvPr/>
        </p:nvSpPr>
        <p:spPr>
          <a:xfrm>
            <a:off x="682943" y="642620"/>
            <a:ext cx="7993062" cy="749300"/>
          </a:xfrm>
          <a:prstGeom prst="rect">
            <a:avLst/>
          </a:prstGeom>
          <a:noFill/>
          <a:ln w="9525">
            <a:noFill/>
          </a:ln>
        </p:spPr>
        <p:txBody>
          <a:bodyPr>
            <a:spAutoFit/>
          </a:bodyPr>
          <a:p>
            <a:pPr>
              <a:lnSpc>
                <a:spcPct val="120000"/>
              </a:lnSpc>
            </a:pPr>
            <a:r>
              <a:rPr lang="zh-CN" altLang="en-US" dirty="0">
                <a:solidFill>
                  <a:srgbClr val="FF3300"/>
                </a:solidFill>
                <a:latin typeface="Garamond" panose="02020404030301010803" pitchFamily="18" charset="0"/>
              </a:rPr>
              <a:t>共析钢：</a:t>
            </a:r>
            <a:r>
              <a:rPr lang="en-US" altLang="zh-CN" i="1" dirty="0">
                <a:latin typeface="Garamond" panose="02020404030301010803" pitchFamily="18" charset="0"/>
              </a:rPr>
              <a:t>w</a:t>
            </a:r>
            <a:r>
              <a:rPr lang="en-US" altLang="zh-CN" dirty="0">
                <a:latin typeface="Garamond" panose="02020404030301010803" pitchFamily="18" charset="0"/>
              </a:rPr>
              <a:t>C</a:t>
            </a:r>
            <a:r>
              <a:rPr lang="zh-CN" altLang="en-US" dirty="0">
                <a:latin typeface="Garamond" panose="02020404030301010803" pitchFamily="18" charset="0"/>
              </a:rPr>
              <a:t>＝</a:t>
            </a:r>
            <a:r>
              <a:rPr lang="en-US" altLang="zh-CN" dirty="0">
                <a:latin typeface="Garamond" panose="02020404030301010803" pitchFamily="18" charset="0"/>
              </a:rPr>
              <a:t>0.77</a:t>
            </a:r>
            <a:r>
              <a:rPr lang="zh-CN" altLang="en-US" dirty="0">
                <a:latin typeface="Garamond" panose="02020404030301010803" pitchFamily="18" charset="0"/>
              </a:rPr>
              <a:t>％ ，平衡组织为铁素体与渗碳体的混合物，即珠光体</a:t>
            </a:r>
            <a:r>
              <a:rPr lang="en-US" altLang="zh-CN" dirty="0">
                <a:latin typeface="Garamond" panose="02020404030301010803" pitchFamily="18" charset="0"/>
              </a:rPr>
              <a:t>P </a:t>
            </a:r>
            <a:r>
              <a:rPr lang="zh-CN" altLang="en-US" dirty="0">
                <a:latin typeface="Garamond" panose="02020404030301010803" pitchFamily="18" charset="0"/>
              </a:rPr>
              <a:t>；在</a:t>
            </a:r>
            <a:r>
              <a:rPr lang="en-US" altLang="zh-CN" dirty="0">
                <a:latin typeface="Garamond" panose="02020404030301010803" pitchFamily="18" charset="0"/>
              </a:rPr>
              <a:t>727℃</a:t>
            </a:r>
            <a:r>
              <a:rPr lang="zh-CN" altLang="en-US" dirty="0">
                <a:latin typeface="Garamond" panose="02020404030301010803" pitchFamily="18" charset="0"/>
              </a:rPr>
              <a:t>以上的组织为奥氏体，冷至</a:t>
            </a:r>
            <a:r>
              <a:rPr lang="en-US" altLang="zh-CN" dirty="0">
                <a:latin typeface="Garamond" panose="02020404030301010803" pitchFamily="18" charset="0"/>
              </a:rPr>
              <a:t>727C</a:t>
            </a:r>
            <a:r>
              <a:rPr lang="zh-CN" altLang="en-US" dirty="0">
                <a:latin typeface="Garamond" panose="02020404030301010803" pitchFamily="18" charset="0"/>
              </a:rPr>
              <a:t>时发生共析反应：</a:t>
            </a:r>
            <a:endParaRPr lang="zh-CN" altLang="en-US" dirty="0">
              <a:latin typeface="Garamond" panose="02020404030301010803" pitchFamily="18" charset="0"/>
            </a:endParaRPr>
          </a:p>
        </p:txBody>
      </p:sp>
      <p:pic>
        <p:nvPicPr>
          <p:cNvPr id="3" name="图片 2"/>
          <p:cNvPicPr>
            <a:picLocks noChangeAspect="1"/>
          </p:cNvPicPr>
          <p:nvPr/>
        </p:nvPicPr>
        <p:blipFill>
          <a:blip r:embed="rId3"/>
          <a:stretch>
            <a:fillRect/>
          </a:stretch>
        </p:blipFill>
        <p:spPr>
          <a:xfrm>
            <a:off x="2483485" y="1348105"/>
            <a:ext cx="3657600" cy="533400"/>
          </a:xfrm>
          <a:prstGeom prst="rect">
            <a:avLst/>
          </a:prstGeom>
        </p:spPr>
      </p:pic>
      <p:grpSp>
        <p:nvGrpSpPr>
          <p:cNvPr id="151556" name="组合 128003"/>
          <p:cNvGrpSpPr/>
          <p:nvPr/>
        </p:nvGrpSpPr>
        <p:grpSpPr>
          <a:xfrm>
            <a:off x="1095693" y="2068195"/>
            <a:ext cx="6553200" cy="3130550"/>
            <a:chOff x="0" y="0"/>
            <a:chExt cx="4400" cy="2085"/>
          </a:xfrm>
        </p:grpSpPr>
        <p:grpSp>
          <p:nvGrpSpPr>
            <p:cNvPr id="151561" name="组合 128004"/>
            <p:cNvGrpSpPr>
              <a:grpSpLocks noChangeAspect="1"/>
            </p:cNvGrpSpPr>
            <p:nvPr/>
          </p:nvGrpSpPr>
          <p:grpSpPr>
            <a:xfrm>
              <a:off x="0" y="0"/>
              <a:ext cx="4400" cy="1588"/>
              <a:chOff x="0" y="0"/>
              <a:chExt cx="8301" cy="3061"/>
            </a:xfrm>
          </p:grpSpPr>
          <p:pic>
            <p:nvPicPr>
              <p:cNvPr id="151563" name="图片 128005" descr="501"/>
              <p:cNvPicPr>
                <a:picLocks noChangeAspect="1"/>
              </p:cNvPicPr>
              <p:nvPr/>
            </p:nvPicPr>
            <p:blipFill>
              <a:blip r:embed="rId4"/>
              <a:stretch>
                <a:fillRect/>
              </a:stretch>
            </p:blipFill>
            <p:spPr>
              <a:xfrm>
                <a:off x="0" y="1"/>
                <a:ext cx="4080" cy="3060"/>
              </a:xfrm>
              <a:prstGeom prst="rect">
                <a:avLst/>
              </a:prstGeom>
              <a:noFill/>
              <a:ln w="9525">
                <a:noFill/>
              </a:ln>
            </p:spPr>
          </p:pic>
          <p:pic>
            <p:nvPicPr>
              <p:cNvPr id="151564" name="图片 128006" descr="504B"/>
              <p:cNvPicPr>
                <a:picLocks noChangeAspect="1"/>
              </p:cNvPicPr>
              <p:nvPr/>
            </p:nvPicPr>
            <p:blipFill>
              <a:blip r:embed="rId5"/>
              <a:stretch>
                <a:fillRect/>
              </a:stretch>
            </p:blipFill>
            <p:spPr>
              <a:xfrm>
                <a:off x="4221" y="0"/>
                <a:ext cx="4080" cy="3060"/>
              </a:xfrm>
              <a:prstGeom prst="rect">
                <a:avLst/>
              </a:prstGeom>
              <a:noFill/>
              <a:ln w="9525">
                <a:noFill/>
              </a:ln>
            </p:spPr>
          </p:pic>
        </p:grpSp>
        <p:sp>
          <p:nvSpPr>
            <p:cNvPr id="151562" name="文本框 128007"/>
            <p:cNvSpPr txBox="1"/>
            <p:nvPr/>
          </p:nvSpPr>
          <p:spPr>
            <a:xfrm>
              <a:off x="591" y="1678"/>
              <a:ext cx="3220" cy="407"/>
            </a:xfrm>
            <a:prstGeom prst="rect">
              <a:avLst/>
            </a:prstGeom>
            <a:noFill/>
            <a:ln w="9525">
              <a:noFill/>
            </a:ln>
          </p:spPr>
          <p:txBody>
            <a:bodyPr>
              <a:spAutoFit/>
            </a:bodyPr>
            <a:p>
              <a:pPr algn="ctr"/>
              <a:r>
                <a:rPr lang="zh-CN" altLang="en-US" sz="1600" dirty="0">
                  <a:latin typeface="Garamond" panose="02020404030301010803" pitchFamily="18" charset="0"/>
                </a:rPr>
                <a:t>（</a:t>
              </a:r>
              <a:r>
                <a:rPr lang="en-US" altLang="zh-CN" sz="1600" dirty="0">
                  <a:latin typeface="Garamond" panose="02020404030301010803" pitchFamily="18" charset="0"/>
                </a:rPr>
                <a:t>a</a:t>
              </a:r>
              <a:r>
                <a:rPr lang="zh-CN" altLang="en-US" sz="1600" dirty="0">
                  <a:latin typeface="Garamond" panose="02020404030301010803" pitchFamily="18" charset="0"/>
                </a:rPr>
                <a:t>）</a:t>
              </a:r>
              <a:r>
                <a:rPr lang="en-US" altLang="zh-CN" sz="1600" dirty="0">
                  <a:latin typeface="Garamond" panose="02020404030301010803" pitchFamily="18" charset="0"/>
                </a:rPr>
                <a:t>15</a:t>
              </a:r>
              <a:r>
                <a:rPr lang="zh-CN" altLang="en-US" sz="1600" dirty="0">
                  <a:latin typeface="Garamond" panose="02020404030301010803" pitchFamily="18" charset="0"/>
                </a:rPr>
                <a:t>钢                                                             </a:t>
              </a:r>
              <a:r>
                <a:rPr lang="en-US" altLang="zh-CN" sz="1600" dirty="0">
                  <a:latin typeface="Garamond" panose="02020404030301010803" pitchFamily="18" charset="0"/>
                </a:rPr>
                <a:t>(b)45</a:t>
              </a:r>
              <a:r>
                <a:rPr lang="zh-CN" altLang="en-US" sz="1600" dirty="0">
                  <a:latin typeface="Garamond" panose="02020404030301010803" pitchFamily="18" charset="0"/>
                </a:rPr>
                <a:t>钢 </a:t>
              </a:r>
              <a:endParaRPr lang="zh-CN" altLang="en-US" sz="1600" dirty="0">
                <a:latin typeface="Garamond" panose="02020404030301010803" pitchFamily="18" charset="0"/>
              </a:endParaRPr>
            </a:p>
            <a:p>
              <a:r>
                <a:rPr lang="zh-CN" altLang="en-US" dirty="0">
                  <a:latin typeface="Garamond" panose="02020404030301010803" pitchFamily="18" charset="0"/>
                </a:rPr>
                <a:t>                        </a:t>
              </a:r>
              <a:r>
                <a:rPr lang="zh-CN" altLang="en-US" sz="1600" dirty="0">
                  <a:latin typeface="Garamond" panose="02020404030301010803" pitchFamily="18" charset="0"/>
                </a:rPr>
                <a:t>亚共析钢的平衡组织</a:t>
              </a:r>
              <a:endParaRPr lang="zh-CN" altLang="en-US" sz="1600" dirty="0">
                <a:latin typeface="Garamond" panose="02020404030301010803" pitchFamily="18" charset="0"/>
              </a:endParaRPr>
            </a:p>
          </p:txBody>
        </p:sp>
      </p:gr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3381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4——</a:t>
            </a:r>
            <a:r>
              <a:rPr lang="zh-CN" altLang="en-US" sz="2400" b="1" dirty="0" smtClean="0">
                <a:solidFill>
                  <a:srgbClr val="000000"/>
                </a:solidFill>
              </a:rPr>
              <a:t>铁碳相图</a:t>
            </a:r>
            <a:endParaRPr lang="zh-CN" altLang="en-US" sz="2400" b="1" dirty="0" smtClean="0">
              <a:solidFill>
                <a:srgbClr val="000000"/>
              </a:solidFill>
            </a:endParaRPr>
          </a:p>
        </p:txBody>
      </p:sp>
      <p:grpSp>
        <p:nvGrpSpPr>
          <p:cNvPr id="151557" name="组合 128008"/>
          <p:cNvGrpSpPr>
            <a:grpSpLocks noChangeAspect="1"/>
          </p:cNvGrpSpPr>
          <p:nvPr/>
        </p:nvGrpSpPr>
        <p:grpSpPr>
          <a:xfrm>
            <a:off x="1116013" y="1347470"/>
            <a:ext cx="6553200" cy="2447925"/>
            <a:chOff x="0" y="0"/>
            <a:chExt cx="8230" cy="3060"/>
          </a:xfrm>
        </p:grpSpPr>
        <p:pic>
          <p:nvPicPr>
            <p:cNvPr id="151559" name="图片 128009" descr="珠光体"/>
            <p:cNvPicPr>
              <a:picLocks noChangeAspect="1"/>
            </p:cNvPicPr>
            <p:nvPr/>
          </p:nvPicPr>
          <p:blipFill>
            <a:blip r:embed="rId3">
              <a:lum bright="12000" contrast="30000"/>
            </a:blip>
            <a:stretch>
              <a:fillRect/>
            </a:stretch>
          </p:blipFill>
          <p:spPr>
            <a:xfrm>
              <a:off x="0" y="2"/>
              <a:ext cx="4076" cy="3058"/>
            </a:xfrm>
            <a:prstGeom prst="rect">
              <a:avLst/>
            </a:prstGeom>
            <a:noFill/>
            <a:ln w="9525">
              <a:noFill/>
            </a:ln>
          </p:spPr>
        </p:pic>
        <p:pic>
          <p:nvPicPr>
            <p:cNvPr id="151560" name="图片 128010" descr="fig8-3"/>
            <p:cNvPicPr>
              <a:picLocks noChangeAspect="1"/>
            </p:cNvPicPr>
            <p:nvPr/>
          </p:nvPicPr>
          <p:blipFill>
            <a:blip r:embed="rId4">
              <a:lum contrast="12000"/>
            </a:blip>
            <a:stretch>
              <a:fillRect/>
            </a:stretch>
          </p:blipFill>
          <p:spPr>
            <a:xfrm>
              <a:off x="4299" y="0"/>
              <a:ext cx="3931" cy="3056"/>
            </a:xfrm>
            <a:prstGeom prst="rect">
              <a:avLst/>
            </a:prstGeom>
            <a:noFill/>
            <a:ln w="9525">
              <a:noFill/>
            </a:ln>
          </p:spPr>
        </p:pic>
      </p:grpSp>
      <p:sp>
        <p:nvSpPr>
          <p:cNvPr id="151558" name="文本框 128011"/>
          <p:cNvSpPr txBox="1"/>
          <p:nvPr/>
        </p:nvSpPr>
        <p:spPr>
          <a:xfrm>
            <a:off x="2484438" y="3868420"/>
            <a:ext cx="3960812" cy="366713"/>
          </a:xfrm>
          <a:prstGeom prst="rect">
            <a:avLst/>
          </a:prstGeom>
          <a:noFill/>
          <a:ln w="9525">
            <a:noFill/>
          </a:ln>
        </p:spPr>
        <p:txBody>
          <a:bodyPr>
            <a:spAutoFit/>
          </a:bodyPr>
          <a:p>
            <a:pPr>
              <a:spcBef>
                <a:spcPct val="50000"/>
              </a:spcBef>
            </a:pPr>
            <a:r>
              <a:rPr lang="en-US" altLang="zh-CN" sz="1600" dirty="0">
                <a:latin typeface="Garamond" panose="02020404030301010803" pitchFamily="18" charset="0"/>
              </a:rPr>
              <a:t>     </a:t>
            </a:r>
            <a:r>
              <a:rPr lang="zh-CN" altLang="en-US" sz="1600" dirty="0">
                <a:latin typeface="Garamond" panose="02020404030301010803" pitchFamily="18" charset="0"/>
              </a:rPr>
              <a:t>电子显微镜显微镜下的珠光体组织 </a:t>
            </a:r>
            <a:endParaRPr lang="zh-CN" altLang="en-US" dirty="0">
              <a:latin typeface="Garamond" panose="02020404030301010803"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3381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4——</a:t>
            </a:r>
            <a:r>
              <a:rPr lang="zh-CN" altLang="en-US" sz="2400" b="1" dirty="0" smtClean="0">
                <a:solidFill>
                  <a:srgbClr val="000000"/>
                </a:solidFill>
              </a:rPr>
              <a:t>铁碳相图</a:t>
            </a:r>
            <a:endParaRPr lang="zh-CN" altLang="en-US" sz="2400" b="1" dirty="0" smtClean="0">
              <a:solidFill>
                <a:srgbClr val="000000"/>
              </a:solidFill>
            </a:endParaRPr>
          </a:p>
        </p:txBody>
      </p:sp>
      <p:sp>
        <p:nvSpPr>
          <p:cNvPr id="152580" name="文本框 129027"/>
          <p:cNvSpPr txBox="1"/>
          <p:nvPr/>
        </p:nvSpPr>
        <p:spPr>
          <a:xfrm>
            <a:off x="395605" y="549275"/>
            <a:ext cx="4191635" cy="1498600"/>
          </a:xfrm>
          <a:prstGeom prst="rect">
            <a:avLst/>
          </a:prstGeom>
          <a:noFill/>
          <a:ln w="19050" cmpd="sng">
            <a:solidFill>
              <a:schemeClr val="accent1">
                <a:shade val="50000"/>
              </a:schemeClr>
            </a:solidFill>
            <a:prstDash val="sysDot"/>
          </a:ln>
        </p:spPr>
        <p:txBody>
          <a:bodyPr>
            <a:noAutofit/>
          </a:bodyPr>
          <a:p>
            <a:pPr>
              <a:lnSpc>
                <a:spcPct val="120000"/>
              </a:lnSpc>
            </a:pPr>
            <a:r>
              <a:rPr lang="zh-CN" altLang="en-US" dirty="0">
                <a:solidFill>
                  <a:srgbClr val="FF3300"/>
                </a:solidFill>
                <a:latin typeface="Garamond" panose="02020404030301010803" pitchFamily="18" charset="0"/>
              </a:rPr>
              <a:t>过共析钢 ：</a:t>
            </a:r>
            <a:r>
              <a:rPr lang="en-US" altLang="zh-CN" sz="2000" dirty="0">
                <a:latin typeface="Garamond" panose="02020404030301010803" pitchFamily="18" charset="0"/>
              </a:rPr>
              <a:t>0.77</a:t>
            </a:r>
            <a:r>
              <a:rPr lang="zh-CN" altLang="en-US" sz="2000" dirty="0">
                <a:latin typeface="Garamond" panose="02020404030301010803" pitchFamily="18" charset="0"/>
              </a:rPr>
              <a:t>％＜</a:t>
            </a:r>
            <a:r>
              <a:rPr lang="en-US" altLang="zh-CN" sz="2000" i="1" dirty="0">
                <a:latin typeface="Garamond" panose="02020404030301010803" pitchFamily="18" charset="0"/>
              </a:rPr>
              <a:t>w</a:t>
            </a:r>
            <a:r>
              <a:rPr lang="en-US" altLang="zh-CN" sz="2000" dirty="0">
                <a:latin typeface="Garamond" panose="02020404030301010803" pitchFamily="18" charset="0"/>
              </a:rPr>
              <a:t>C</a:t>
            </a:r>
            <a:r>
              <a:rPr lang="zh-CN" altLang="en-US" sz="2000" dirty="0">
                <a:latin typeface="Garamond" panose="02020404030301010803" pitchFamily="18" charset="0"/>
              </a:rPr>
              <a:t>＜</a:t>
            </a:r>
            <a:r>
              <a:rPr lang="en-US" altLang="zh-CN" sz="2000" dirty="0">
                <a:latin typeface="Garamond" panose="02020404030301010803" pitchFamily="18" charset="0"/>
              </a:rPr>
              <a:t>2.11</a:t>
            </a:r>
            <a:r>
              <a:rPr lang="zh-CN" altLang="en-US" sz="2000" dirty="0">
                <a:latin typeface="Garamond" panose="02020404030301010803" pitchFamily="18" charset="0"/>
              </a:rPr>
              <a:t>％，平衡组织为</a:t>
            </a:r>
            <a:r>
              <a:rPr lang="zh-CN" altLang="en-US" sz="2000"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珠光体</a:t>
            </a:r>
            <a:r>
              <a:rPr lang="zh-CN" altLang="en-US" sz="2000" dirty="0">
                <a:latin typeface="Garamond" panose="02020404030301010803" pitchFamily="18" charset="0"/>
              </a:rPr>
              <a:t>及</a:t>
            </a:r>
            <a:r>
              <a:rPr lang="zh-CN" altLang="en-US" sz="2000"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二次渗碳体，</a:t>
            </a:r>
            <a:r>
              <a:rPr lang="zh-CN" altLang="en-US" sz="2000" dirty="0">
                <a:latin typeface="Garamond" panose="02020404030301010803" pitchFamily="18" charset="0"/>
              </a:rPr>
              <a:t>二次渗碳体呈</a:t>
            </a:r>
            <a:r>
              <a:rPr lang="zh-CN" altLang="en-US" sz="2000"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网状</a:t>
            </a:r>
            <a:r>
              <a:rPr lang="zh-CN" altLang="en-US" sz="2000" dirty="0">
                <a:latin typeface="Garamond" panose="02020404030301010803" pitchFamily="18" charset="0"/>
              </a:rPr>
              <a:t>。含碳量愈高，渗碳体网愈多、愈完整。   </a:t>
            </a:r>
            <a:endParaRPr lang="zh-CN" altLang="en-US" sz="2000" dirty="0">
              <a:latin typeface="Garamond" panose="02020404030301010803" pitchFamily="18" charset="0"/>
            </a:endParaRPr>
          </a:p>
        </p:txBody>
      </p:sp>
      <p:pic>
        <p:nvPicPr>
          <p:cNvPr id="152582" name="图片 129029" descr="过共析钢"/>
          <p:cNvPicPr>
            <a:picLocks noChangeAspect="1"/>
          </p:cNvPicPr>
          <p:nvPr/>
        </p:nvPicPr>
        <p:blipFill>
          <a:blip r:embed="rId3">
            <a:lum bright="12000" contrast="12000"/>
          </a:blip>
          <a:stretch>
            <a:fillRect/>
          </a:stretch>
        </p:blipFill>
        <p:spPr>
          <a:xfrm>
            <a:off x="539115" y="2151380"/>
            <a:ext cx="3846195" cy="2885440"/>
          </a:xfrm>
          <a:prstGeom prst="rect">
            <a:avLst/>
          </a:prstGeom>
          <a:noFill/>
          <a:ln w="9525">
            <a:noFill/>
          </a:ln>
        </p:spPr>
      </p:pic>
      <p:sp>
        <p:nvSpPr>
          <p:cNvPr id="152584" name="文本框 129031"/>
          <p:cNvSpPr txBox="1"/>
          <p:nvPr/>
        </p:nvSpPr>
        <p:spPr>
          <a:xfrm>
            <a:off x="4969510" y="571500"/>
            <a:ext cx="3990340" cy="1470660"/>
          </a:xfrm>
          <a:prstGeom prst="rect">
            <a:avLst/>
          </a:prstGeom>
          <a:noFill/>
          <a:ln w="19050" cmpd="sng">
            <a:solidFill>
              <a:schemeClr val="accent1">
                <a:shade val="50000"/>
              </a:schemeClr>
            </a:solidFill>
            <a:prstDash val="sysDot"/>
          </a:ln>
        </p:spPr>
        <p:txBody>
          <a:bodyPr>
            <a:noAutofit/>
          </a:bodyPr>
          <a:p>
            <a:pPr>
              <a:spcBef>
                <a:spcPct val="50000"/>
              </a:spcBef>
              <a:buFont typeface="Wingdings" panose="05000000000000000000" pitchFamily="2" charset="2"/>
              <a:buChar char="Ø"/>
            </a:pPr>
            <a:r>
              <a:rPr lang="zh-CN" altLang="en-US" b="1" dirty="0">
                <a:latin typeface="Garamond" panose="02020404030301010803" pitchFamily="18" charset="0"/>
              </a:rPr>
              <a:t>白口铸铁的平衡组织</a:t>
            </a:r>
            <a:endParaRPr lang="zh-CN" altLang="en-US" b="1" dirty="0">
              <a:latin typeface="Garamond" panose="02020404030301010803" pitchFamily="18" charset="0"/>
            </a:endParaRPr>
          </a:p>
          <a:p>
            <a:pPr>
              <a:lnSpc>
                <a:spcPct val="120000"/>
              </a:lnSpc>
              <a:buFont typeface="Wingdings" panose="05000000000000000000" pitchFamily="2" charset="2"/>
            </a:pPr>
            <a:r>
              <a:rPr lang="zh-CN" altLang="en-US" dirty="0">
                <a:solidFill>
                  <a:srgbClr val="FF3300"/>
                </a:solidFill>
                <a:latin typeface="Garamond" panose="02020404030301010803" pitchFamily="18" charset="0"/>
              </a:rPr>
              <a:t>亚共晶白口铁：</a:t>
            </a:r>
            <a:r>
              <a:rPr lang="zh-CN" altLang="en-US" dirty="0">
                <a:latin typeface="Garamond" panose="02020404030301010803" pitchFamily="18" charset="0"/>
              </a:rPr>
              <a:t> </a:t>
            </a:r>
            <a:r>
              <a:rPr lang="en-US" altLang="zh-CN" dirty="0">
                <a:latin typeface="Garamond" panose="02020404030301010803" pitchFamily="18" charset="0"/>
              </a:rPr>
              <a:t>2.11</a:t>
            </a:r>
            <a:r>
              <a:rPr lang="zh-CN" altLang="en-US" dirty="0">
                <a:latin typeface="Garamond" panose="02020404030301010803" pitchFamily="18" charset="0"/>
              </a:rPr>
              <a:t>％＜</a:t>
            </a:r>
            <a:r>
              <a:rPr lang="en-US" altLang="zh-CN" i="1" dirty="0">
                <a:latin typeface="Garamond" panose="02020404030301010803" pitchFamily="18" charset="0"/>
              </a:rPr>
              <a:t>w</a:t>
            </a:r>
            <a:r>
              <a:rPr lang="en-US" altLang="zh-CN" dirty="0">
                <a:latin typeface="Garamond" panose="02020404030301010803" pitchFamily="18" charset="0"/>
              </a:rPr>
              <a:t>C</a:t>
            </a:r>
            <a:r>
              <a:rPr lang="zh-CN" altLang="en-US" dirty="0">
                <a:latin typeface="Garamond" panose="02020404030301010803" pitchFamily="18" charset="0"/>
              </a:rPr>
              <a:t>＜</a:t>
            </a:r>
            <a:r>
              <a:rPr lang="en-US" altLang="zh-CN" dirty="0">
                <a:latin typeface="Garamond" panose="02020404030301010803" pitchFamily="18" charset="0"/>
              </a:rPr>
              <a:t>4.3</a:t>
            </a:r>
            <a:r>
              <a:rPr lang="zh-CN" altLang="en-US" dirty="0">
                <a:latin typeface="Garamond" panose="02020404030301010803" pitchFamily="18" charset="0"/>
              </a:rPr>
              <a:t>％，平衡组织为奥氏体转变所得</a:t>
            </a:r>
            <a:r>
              <a:rPr lang="zh-CN"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二次渗碳体</a:t>
            </a:r>
            <a:r>
              <a:rPr lang="zh-CN" altLang="en-US" dirty="0">
                <a:latin typeface="Garamond" panose="02020404030301010803" pitchFamily="18" charset="0"/>
              </a:rPr>
              <a:t>加</a:t>
            </a:r>
            <a:r>
              <a:rPr lang="zh-CN"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珠光体</a:t>
            </a:r>
            <a:r>
              <a:rPr lang="zh-CN" altLang="en-US" dirty="0">
                <a:latin typeface="Garamond" panose="02020404030301010803" pitchFamily="18" charset="0"/>
              </a:rPr>
              <a:t>及</a:t>
            </a:r>
            <a:r>
              <a:rPr lang="zh-CN"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变态莱氏体</a:t>
            </a:r>
            <a:r>
              <a:rPr lang="zh-CN" altLang="en-US" dirty="0">
                <a:latin typeface="Garamond" panose="02020404030301010803" pitchFamily="18" charset="0"/>
              </a:rPr>
              <a:t> 。</a:t>
            </a:r>
            <a:endParaRPr lang="zh-CN" altLang="en-US" dirty="0">
              <a:latin typeface="Garamond" panose="02020404030301010803" pitchFamily="18" charset="0"/>
            </a:endParaRPr>
          </a:p>
        </p:txBody>
      </p:sp>
      <p:pic>
        <p:nvPicPr>
          <p:cNvPr id="152585" name="图片 129032" descr="551_m01"/>
          <p:cNvPicPr>
            <a:picLocks noChangeAspect="1"/>
          </p:cNvPicPr>
          <p:nvPr/>
        </p:nvPicPr>
        <p:blipFill>
          <a:blip r:embed="rId4"/>
          <a:stretch>
            <a:fillRect/>
          </a:stretch>
        </p:blipFill>
        <p:spPr>
          <a:xfrm>
            <a:off x="4969510" y="2151380"/>
            <a:ext cx="3846195" cy="2885440"/>
          </a:xfrm>
          <a:prstGeom prst="rect">
            <a:avLst/>
          </a:prstGeom>
          <a:noFill/>
          <a:ln w="9525">
            <a:noFill/>
          </a:ln>
        </p:spPr>
      </p:pic>
      <p:cxnSp>
        <p:nvCxnSpPr>
          <p:cNvPr id="2" name="直接连接符 1"/>
          <p:cNvCxnSpPr/>
          <p:nvPr/>
        </p:nvCxnSpPr>
        <p:spPr>
          <a:xfrm flipH="1">
            <a:off x="4697730" y="534035"/>
            <a:ext cx="11430" cy="4589145"/>
          </a:xfrm>
          <a:prstGeom prst="line">
            <a:avLst/>
          </a:prstGeom>
          <a:ln w="19050" cap="flat" cmpd="sng" algn="ctr">
            <a:solidFill>
              <a:schemeClr val="tx1"/>
            </a:solidFill>
            <a:prstDash val="dash"/>
          </a:ln>
        </p:spPr>
        <p:style>
          <a:lnRef idx="0">
            <a:schemeClr val="accent1"/>
          </a:lnRef>
          <a:fillRef idx="0">
            <a:srgbClr val="FFFFFF"/>
          </a:fillRef>
          <a:effectRef idx="0">
            <a:srgbClr val="FFFFFF"/>
          </a:effectRef>
          <a:fontRef idx="minor">
            <a:schemeClr val="tx1"/>
          </a:fontRef>
        </p:style>
      </p:cxn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1" cstate="print"/>
          <a:srcRect/>
          <a:stretch>
            <a:fillRect/>
          </a:stretch>
        </p:blipFill>
        <p:spPr bwMode="auto">
          <a:xfrm>
            <a:off x="0" y="0"/>
            <a:ext cx="663785" cy="642923"/>
          </a:xfrm>
          <a:prstGeom prst="rect">
            <a:avLst/>
          </a:prstGeom>
          <a:noFill/>
          <a:ln w="9525">
            <a:noFill/>
            <a:miter lim="800000"/>
            <a:headEnd/>
            <a:tailEnd/>
          </a:ln>
          <a:effectLst/>
        </p:spPr>
      </p:pic>
      <p:pic>
        <p:nvPicPr>
          <p:cNvPr id="12" name="图片 11" descr="5.jpg"/>
          <p:cNvPicPr>
            <a:picLocks noChangeAspect="1"/>
          </p:cNvPicPr>
          <p:nvPr/>
        </p:nvPicPr>
        <p:blipFill>
          <a:blip r:embed="rId2" cstate="print"/>
          <a:stretch>
            <a:fillRect/>
          </a:stretch>
        </p:blipFill>
        <p:spPr>
          <a:xfrm>
            <a:off x="7072330" y="71420"/>
            <a:ext cx="1857356" cy="422241"/>
          </a:xfrm>
          <a:prstGeom prst="rect">
            <a:avLst/>
          </a:prstGeom>
        </p:spPr>
      </p:pic>
      <p:cxnSp>
        <p:nvCxnSpPr>
          <p:cNvPr id="14" name="直接连接符 13"/>
          <p:cNvCxnSpPr/>
          <p:nvPr/>
        </p:nvCxnSpPr>
        <p:spPr>
          <a:xfrm>
            <a:off x="642910" y="500048"/>
            <a:ext cx="6429420" cy="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072330" y="500048"/>
            <a:ext cx="2071670" cy="0"/>
          </a:xfrm>
          <a:prstGeom prst="line">
            <a:avLst/>
          </a:prstGeom>
          <a:ln w="889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5143472" y="571486"/>
            <a:ext cx="4000528" cy="2286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5400" b="1" dirty="0" smtClean="0">
              <a:solidFill>
                <a:schemeClr val="tx1"/>
              </a:solidFill>
              <a:latin typeface="华文行楷" panose="02010800040101010101" pitchFamily="2" charset="-122"/>
              <a:ea typeface="华文行楷" panose="02010800040101010101" pitchFamily="2" charset="-122"/>
            </a:endParaRPr>
          </a:p>
          <a:p>
            <a:pPr algn="ctr"/>
            <a:endParaRPr lang="zh-CN" altLang="en-US" sz="5400" b="1" dirty="0">
              <a:solidFill>
                <a:schemeClr val="tx1"/>
              </a:solidFill>
              <a:latin typeface="隶书" panose="02010509060101010101" pitchFamily="49" charset="-122"/>
              <a:ea typeface="隶书" panose="02010509060101010101" pitchFamily="49" charset="-122"/>
            </a:endParaRPr>
          </a:p>
        </p:txBody>
      </p:sp>
      <p:sp>
        <p:nvSpPr>
          <p:cNvPr id="7" name="矩形 6"/>
          <p:cNvSpPr/>
          <p:nvPr/>
        </p:nvSpPr>
        <p:spPr>
          <a:xfrm>
            <a:off x="714348" y="71420"/>
            <a:ext cx="3338195" cy="460375"/>
          </a:xfrm>
          <a:prstGeom prst="rect">
            <a:avLst/>
          </a:prstGeom>
        </p:spPr>
        <p:txBody>
          <a:bodyPr wrap="none">
            <a:spAutoFit/>
          </a:bodyPr>
          <a:lstStyle/>
          <a:p>
            <a:r>
              <a:rPr lang="zh-CN" altLang="en-US" sz="2400" b="1" dirty="0" smtClean="0">
                <a:solidFill>
                  <a:srgbClr val="000000"/>
                </a:solidFill>
              </a:rPr>
              <a:t>预备知识</a:t>
            </a:r>
            <a:r>
              <a:rPr lang="en-US" altLang="zh-CN" sz="2400" b="1" dirty="0" smtClean="0">
                <a:solidFill>
                  <a:srgbClr val="000000"/>
                </a:solidFill>
              </a:rPr>
              <a:t>4——</a:t>
            </a:r>
            <a:r>
              <a:rPr lang="zh-CN" altLang="en-US" sz="2400" b="1" dirty="0" smtClean="0">
                <a:solidFill>
                  <a:srgbClr val="000000"/>
                </a:solidFill>
              </a:rPr>
              <a:t>铁碳相图</a:t>
            </a:r>
            <a:endParaRPr lang="zh-CN" altLang="en-US" sz="2400" b="1" dirty="0" smtClean="0">
              <a:solidFill>
                <a:srgbClr val="000000"/>
              </a:solidFill>
            </a:endParaRPr>
          </a:p>
        </p:txBody>
      </p:sp>
      <p:sp>
        <p:nvSpPr>
          <p:cNvPr id="58374" name="文本框 130052"/>
          <p:cNvSpPr txBox="1"/>
          <p:nvPr/>
        </p:nvSpPr>
        <p:spPr>
          <a:xfrm>
            <a:off x="642620" y="642620"/>
            <a:ext cx="4088765" cy="1562735"/>
          </a:xfrm>
          <a:prstGeom prst="rect">
            <a:avLst/>
          </a:prstGeom>
          <a:noFill/>
          <a:ln w="12700" cmpd="sng">
            <a:solidFill>
              <a:schemeClr val="accent1">
                <a:shade val="50000"/>
              </a:schemeClr>
            </a:solidFill>
            <a:prstDash val="sysDash"/>
          </a:ln>
        </p:spPr>
        <p:txBody>
          <a:bodyPr>
            <a:noAutofit/>
          </a:bodyPr>
          <a:p>
            <a:pPr>
              <a:lnSpc>
                <a:spcPct val="120000"/>
              </a:lnSpc>
            </a:pPr>
            <a:r>
              <a:rPr lang="zh-CN" altLang="en-US" dirty="0">
                <a:solidFill>
                  <a:srgbClr val="FF3300"/>
                </a:solidFill>
                <a:latin typeface="Garamond" panose="02020404030301010803" pitchFamily="18" charset="0"/>
              </a:rPr>
              <a:t>共晶白口铁：</a:t>
            </a:r>
            <a:r>
              <a:rPr lang="en-US" altLang="zh-CN" sz="2000" i="1" dirty="0">
                <a:latin typeface="Garamond" panose="02020404030301010803" pitchFamily="18" charset="0"/>
              </a:rPr>
              <a:t>w</a:t>
            </a:r>
            <a:r>
              <a:rPr lang="en-US" altLang="zh-CN" sz="2000" dirty="0">
                <a:latin typeface="Garamond" panose="02020404030301010803" pitchFamily="18" charset="0"/>
              </a:rPr>
              <a:t>C=4.3</a:t>
            </a:r>
            <a:r>
              <a:rPr lang="zh-CN" altLang="en-US" sz="2000" dirty="0">
                <a:latin typeface="Garamond" panose="02020404030301010803" pitchFamily="18" charset="0"/>
              </a:rPr>
              <a:t>％ ，室温平衡组织为奥氏体转变来的</a:t>
            </a:r>
            <a:r>
              <a:rPr lang="zh-CN" altLang="en-US" sz="2000"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二次渗碳体、珠光体</a:t>
            </a:r>
            <a:r>
              <a:rPr lang="zh-CN" altLang="en-US" sz="2000" dirty="0">
                <a:latin typeface="Garamond" panose="02020404030301010803" pitchFamily="18" charset="0"/>
              </a:rPr>
              <a:t>及</a:t>
            </a:r>
            <a:r>
              <a:rPr lang="zh-CN" altLang="en-US" sz="2000"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原共晶渗碳体 ，</a:t>
            </a:r>
            <a:r>
              <a:rPr lang="zh-CN" altLang="en-US" sz="2000" dirty="0">
                <a:latin typeface="Garamond" panose="02020404030301010803" pitchFamily="18" charset="0"/>
              </a:rPr>
              <a:t>即</a:t>
            </a:r>
            <a:r>
              <a:rPr lang="zh-CN" altLang="en-US" sz="2000"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变态菜氏体</a:t>
            </a:r>
            <a:r>
              <a:rPr lang="zh-CN" altLang="en-US" sz="2000" dirty="0">
                <a:latin typeface="Garamond" panose="02020404030301010803" pitchFamily="18" charset="0"/>
              </a:rPr>
              <a:t>。 </a:t>
            </a:r>
            <a:endParaRPr lang="zh-CN" altLang="en-US" sz="2000" dirty="0">
              <a:latin typeface="Garamond" panose="02020404030301010803" pitchFamily="18" charset="0"/>
            </a:endParaRPr>
          </a:p>
          <a:p>
            <a:endParaRPr lang="zh-CN" altLang="en-US" dirty="0">
              <a:solidFill>
                <a:srgbClr val="FF3300"/>
              </a:solidFill>
              <a:latin typeface="Garamond" panose="02020404030301010803" pitchFamily="18" charset="0"/>
            </a:endParaRPr>
          </a:p>
        </p:txBody>
      </p:sp>
      <p:pic>
        <p:nvPicPr>
          <p:cNvPr id="58373" name="图片 130051" descr="lst"/>
          <p:cNvPicPr>
            <a:picLocks noChangeAspect="1"/>
          </p:cNvPicPr>
          <p:nvPr/>
        </p:nvPicPr>
        <p:blipFill>
          <a:blip r:embed="rId3">
            <a:lum contrast="30000"/>
          </a:blip>
          <a:stretch>
            <a:fillRect/>
          </a:stretch>
        </p:blipFill>
        <p:spPr>
          <a:xfrm>
            <a:off x="1037590" y="2283460"/>
            <a:ext cx="2691765" cy="2712085"/>
          </a:xfrm>
          <a:prstGeom prst="rect">
            <a:avLst/>
          </a:prstGeom>
          <a:noFill/>
          <a:ln w="9525">
            <a:noFill/>
          </a:ln>
        </p:spPr>
      </p:pic>
      <p:sp>
        <p:nvSpPr>
          <p:cNvPr id="58376" name="文本框 130055"/>
          <p:cNvSpPr txBox="1"/>
          <p:nvPr/>
        </p:nvSpPr>
        <p:spPr>
          <a:xfrm>
            <a:off x="4859655" y="642620"/>
            <a:ext cx="3735705" cy="1563370"/>
          </a:xfrm>
          <a:prstGeom prst="rect">
            <a:avLst/>
          </a:prstGeom>
          <a:noFill/>
          <a:ln w="15875" cmpd="sng">
            <a:solidFill>
              <a:schemeClr val="accent1">
                <a:shade val="50000"/>
              </a:schemeClr>
            </a:solidFill>
            <a:prstDash val="sysDash"/>
          </a:ln>
        </p:spPr>
        <p:txBody>
          <a:bodyPr>
            <a:noAutofit/>
          </a:bodyPr>
          <a:p>
            <a:pPr>
              <a:lnSpc>
                <a:spcPct val="120000"/>
              </a:lnSpc>
            </a:pPr>
            <a:r>
              <a:rPr lang="zh-CN" altLang="en-US" dirty="0">
                <a:solidFill>
                  <a:srgbClr val="FF3300"/>
                </a:solidFill>
                <a:latin typeface="Garamond" panose="02020404030301010803" pitchFamily="18" charset="0"/>
              </a:rPr>
              <a:t>过共晶白口铁：</a:t>
            </a:r>
            <a:r>
              <a:rPr lang="en-US" altLang="zh-CN" dirty="0">
                <a:latin typeface="Garamond" panose="02020404030301010803" pitchFamily="18" charset="0"/>
              </a:rPr>
              <a:t>4.3</a:t>
            </a:r>
            <a:r>
              <a:rPr lang="zh-CN" altLang="en-US" dirty="0">
                <a:latin typeface="Garamond" panose="02020404030301010803" pitchFamily="18" charset="0"/>
              </a:rPr>
              <a:t>％</a:t>
            </a:r>
            <a:r>
              <a:rPr lang="en-US" altLang="zh-CN" dirty="0">
                <a:latin typeface="Garamond" panose="02020404030301010803" pitchFamily="18" charset="0"/>
              </a:rPr>
              <a:t>&lt;</a:t>
            </a:r>
            <a:r>
              <a:rPr lang="en-US" altLang="zh-CN" i="1" dirty="0">
                <a:latin typeface="Garamond" panose="02020404030301010803" pitchFamily="18" charset="0"/>
              </a:rPr>
              <a:t>w</a:t>
            </a:r>
            <a:r>
              <a:rPr lang="en-US" altLang="zh-CN" dirty="0">
                <a:latin typeface="Garamond" panose="02020404030301010803" pitchFamily="18" charset="0"/>
              </a:rPr>
              <a:t>C&lt;6.69</a:t>
            </a:r>
            <a:r>
              <a:rPr lang="zh-CN" altLang="en-US" dirty="0">
                <a:latin typeface="Garamond" panose="02020404030301010803" pitchFamily="18" charset="0"/>
              </a:rPr>
              <a:t>％ </a:t>
            </a:r>
            <a:r>
              <a:rPr lang="en-US" altLang="zh-CN" dirty="0">
                <a:latin typeface="Garamond" panose="02020404030301010803" pitchFamily="18" charset="0"/>
              </a:rPr>
              <a:t>,</a:t>
            </a:r>
            <a:r>
              <a:rPr lang="zh-CN" altLang="en-US" dirty="0">
                <a:latin typeface="Garamond" panose="02020404030301010803" pitchFamily="18" charset="0"/>
              </a:rPr>
              <a:t>室温平衡组织为</a:t>
            </a:r>
            <a:r>
              <a:rPr lang="zh-CN"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粗大片状</a:t>
            </a:r>
            <a:r>
              <a:rPr lang="zh-CN" altLang="en-US" dirty="0">
                <a:latin typeface="Garamond" panose="02020404030301010803" pitchFamily="18" charset="0"/>
              </a:rPr>
              <a:t>的</a:t>
            </a:r>
            <a:r>
              <a:rPr lang="zh-CN"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一次渗碳体</a:t>
            </a:r>
            <a:r>
              <a:rPr lang="zh-CN" altLang="en-US" dirty="0">
                <a:latin typeface="Garamond" panose="02020404030301010803" pitchFamily="18" charset="0"/>
              </a:rPr>
              <a:t>加</a:t>
            </a:r>
            <a:r>
              <a:rPr lang="zh-CN" altLang="en-US" dirty="0">
                <a:gradFill>
                  <a:gsLst>
                    <a:gs pos="50000">
                      <a:schemeClr val="accent1"/>
                    </a:gs>
                    <a:gs pos="0">
                      <a:schemeClr val="accent1">
                        <a:lumMod val="25000"/>
                        <a:lumOff val="75000"/>
                      </a:schemeClr>
                    </a:gs>
                    <a:gs pos="100000">
                      <a:schemeClr val="accent1">
                        <a:lumMod val="85000"/>
                      </a:schemeClr>
                    </a:gs>
                  </a:gsLst>
                  <a:lin ang="5400000" scaled="1"/>
                </a:gradFill>
                <a:latin typeface="Garamond" panose="02020404030301010803" pitchFamily="18" charset="0"/>
              </a:rPr>
              <a:t>变态莱氏体。</a:t>
            </a:r>
            <a:endParaRPr lang="zh-CN" altLang="en-US" dirty="0">
              <a:latin typeface="Garamond" panose="02020404030301010803" pitchFamily="18" charset="0"/>
            </a:endParaRPr>
          </a:p>
        </p:txBody>
      </p:sp>
      <p:pic>
        <p:nvPicPr>
          <p:cNvPr id="153604" name="图片 131075" descr="ggj"/>
          <p:cNvPicPr>
            <a:picLocks noChangeAspect="1"/>
          </p:cNvPicPr>
          <p:nvPr/>
        </p:nvPicPr>
        <p:blipFill>
          <a:blip r:embed="rId4">
            <a:lum bright="23999" contrast="12000"/>
          </a:blip>
          <a:stretch>
            <a:fillRect/>
          </a:stretch>
        </p:blipFill>
        <p:spPr>
          <a:xfrm>
            <a:off x="5363845" y="2211705"/>
            <a:ext cx="2756535" cy="2767965"/>
          </a:xfrm>
          <a:prstGeom prst="rect">
            <a:avLst/>
          </a:prstGeom>
          <a:noFill/>
          <a:ln w="9525">
            <a:noFill/>
          </a:ln>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sules">
  <a:themeElements>
    <a:clrScheme name="">
      <a:dk1>
        <a:srgbClr val="003366"/>
      </a:dk1>
      <a:lt1>
        <a:srgbClr val="FFFFFF"/>
      </a:lt1>
      <a:dk2>
        <a:srgbClr val="006666"/>
      </a:dk2>
      <a:lt2>
        <a:srgbClr val="666699"/>
      </a:lt2>
      <a:accent1>
        <a:srgbClr val="33CCCC"/>
      </a:accent1>
      <a:accent2>
        <a:srgbClr val="99CC99"/>
      </a:accent2>
      <a:accent3>
        <a:srgbClr val="FFFFFF"/>
      </a:accent3>
      <a:accent4>
        <a:srgbClr val="002A57"/>
      </a:accent4>
      <a:accent5>
        <a:srgbClr val="ADE2E2"/>
      </a:accent5>
      <a:accent6>
        <a:srgbClr val="89B789"/>
      </a:accent6>
      <a:hlink>
        <a:srgbClr val="003366"/>
      </a:hlink>
      <a:folHlink>
        <a:srgbClr val="CC99FF"/>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3366"/>
        </a:dk1>
        <a:lt1>
          <a:srgbClr val="FFFFFF"/>
        </a:lt1>
        <a:dk2>
          <a:srgbClr val="006666"/>
        </a:dk2>
        <a:lt2>
          <a:srgbClr val="666699"/>
        </a:lt2>
        <a:accent1>
          <a:srgbClr val="33CCCC"/>
        </a:accent1>
        <a:accent2>
          <a:srgbClr val="99CC99"/>
        </a:accent2>
        <a:accent3>
          <a:srgbClr val="FFFFFF"/>
        </a:accent3>
        <a:accent4>
          <a:srgbClr val="002A57"/>
        </a:accent4>
        <a:accent5>
          <a:srgbClr val="ADE2E2"/>
        </a:accent5>
        <a:accent6>
          <a:srgbClr val="89B789"/>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9B7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
        <a:dk1>
          <a:srgbClr val="FFFFFF"/>
        </a:dk1>
        <a:lt1>
          <a:srgbClr val="6699FF"/>
        </a:lt1>
        <a:dk2>
          <a:srgbClr val="FFFFFF"/>
        </a:dk2>
        <a:lt2>
          <a:srgbClr val="006699"/>
        </a:lt2>
        <a:accent1>
          <a:srgbClr val="33CCCC"/>
        </a:accent1>
        <a:accent2>
          <a:srgbClr val="006699"/>
        </a:accent2>
        <a:accent3>
          <a:srgbClr val="B9CAFF"/>
        </a:accent3>
        <a:accent4>
          <a:srgbClr val="DCDCDC"/>
        </a:accent4>
        <a:accent5>
          <a:srgbClr val="ADE2E2"/>
        </a:accent5>
        <a:accent6>
          <a:srgbClr val="005B89"/>
        </a:accent6>
        <a:hlink>
          <a:srgbClr val="99CC00"/>
        </a:hlink>
        <a:folHlink>
          <a:srgbClr val="FFFF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5B75B"/>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
        <a:dk1>
          <a:srgbClr val="FFFFFF"/>
        </a:dk1>
        <a:lt1>
          <a:srgbClr val="336699"/>
        </a:lt1>
        <a:dk2>
          <a:srgbClr val="FFFFEB"/>
        </a:dk2>
        <a:lt2>
          <a:srgbClr val="000066"/>
        </a:lt2>
        <a:accent1>
          <a:srgbClr val="99CCFF"/>
        </a:accent1>
        <a:accent2>
          <a:srgbClr val="9999FF"/>
        </a:accent2>
        <a:accent3>
          <a:srgbClr val="ADB9CA"/>
        </a:accent3>
        <a:accent4>
          <a:srgbClr val="DCDCDC"/>
        </a:accent4>
        <a:accent5>
          <a:srgbClr val="CAE2FF"/>
        </a:accent5>
        <a:accent6>
          <a:srgbClr val="8989E5"/>
        </a:accent6>
        <a:hlink>
          <a:srgbClr val="CCCCFF"/>
        </a:hlink>
        <a:folHlink>
          <a:srgbClr val="C68DFF"/>
        </a:folHlink>
      </a:clrScheme>
      <a:clrMap bg1="lt1" tx1="dk1" bg2="lt2" tx2="dk2" accent1="accent1" accent2="accent2" accent3="accent3" accent4="accent4" accent5="accent5" accent6="accent6" hlink="hlink" folHlink="folHlink"/>
    </a:extraClrScheme>
    <a:extraClrScheme>
      <a:clrScheme name="">
        <a:dk1>
          <a:srgbClr val="FFFFFF"/>
        </a:dk1>
        <a:lt1>
          <a:srgbClr val="006666"/>
        </a:lt1>
        <a:dk2>
          <a:srgbClr val="FFFFFF"/>
        </a:dk2>
        <a:lt2>
          <a:srgbClr val="808000"/>
        </a:lt2>
        <a:accent1>
          <a:srgbClr val="FFCC66"/>
        </a:accent1>
        <a:accent2>
          <a:srgbClr val="00ACA8"/>
        </a:accent2>
        <a:accent3>
          <a:srgbClr val="AAB9B9"/>
        </a:accent3>
        <a:accent4>
          <a:srgbClr val="DCDCDC"/>
        </a:accent4>
        <a:accent5>
          <a:srgbClr val="FFE2B9"/>
        </a:accent5>
        <a:accent6>
          <a:srgbClr val="009A96"/>
        </a:accent6>
        <a:hlink>
          <a:srgbClr val="CCCC00"/>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660033"/>
        </a:lt1>
        <a:dk2>
          <a:srgbClr val="FFFFFF"/>
        </a:dk2>
        <a:lt2>
          <a:srgbClr val="FFFFCC"/>
        </a:lt2>
        <a:accent1>
          <a:srgbClr val="FF9900"/>
        </a:accent1>
        <a:accent2>
          <a:srgbClr val="CC3300"/>
        </a:accent2>
        <a:accent3>
          <a:srgbClr val="B9AAAD"/>
        </a:accent3>
        <a:accent4>
          <a:srgbClr val="DCDCDC"/>
        </a:accent4>
        <a:accent5>
          <a:srgbClr val="FFCAAA"/>
        </a:accent5>
        <a:accent6>
          <a:srgbClr val="B72D00"/>
        </a:accent6>
        <a:hlink>
          <a:srgbClr val="FFCC00"/>
        </a:hlink>
        <a:folHlink>
          <a:srgbClr val="FFCC99"/>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FFFFFF"/>
        </a:dk2>
        <a:lt2>
          <a:srgbClr val="FF0000"/>
        </a:lt2>
        <a:accent1>
          <a:srgbClr val="FFCC00"/>
        </a:accent1>
        <a:accent2>
          <a:srgbClr val="CC3300"/>
        </a:accent2>
        <a:accent3>
          <a:srgbClr val="AAAAAA"/>
        </a:accent3>
        <a:accent4>
          <a:srgbClr val="DCDCDC"/>
        </a:accent4>
        <a:accent5>
          <a:srgbClr val="FFE2AA"/>
        </a:accent5>
        <a:accent6>
          <a:srgbClr val="B72D00"/>
        </a:accent6>
        <a:hlink>
          <a:srgbClr val="FF6600"/>
        </a:hlink>
        <a:folHlink>
          <a:srgbClr val="FF7C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12467</Words>
  <Application>WPS 演示</Application>
  <PresentationFormat>全屏显示(16:9)</PresentationFormat>
  <Paragraphs>1408</Paragraphs>
  <Slides>112</Slides>
  <Notes>0</Notes>
  <HiddenSlides>0</HiddenSlides>
  <MMClips>0</MMClips>
  <ScaleCrop>false</ScaleCrop>
  <HeadingPairs>
    <vt:vector size="8" baseType="variant">
      <vt:variant>
        <vt:lpstr>已用的字体</vt:lpstr>
      </vt:variant>
      <vt:variant>
        <vt:i4>21</vt:i4>
      </vt:variant>
      <vt:variant>
        <vt:lpstr>主题</vt:lpstr>
      </vt:variant>
      <vt:variant>
        <vt:i4>2</vt:i4>
      </vt:variant>
      <vt:variant>
        <vt:lpstr>嵌入 OLE 服务器</vt:lpstr>
      </vt:variant>
      <vt:variant>
        <vt:i4>5</vt:i4>
      </vt:variant>
      <vt:variant>
        <vt:lpstr>幻灯片标题</vt:lpstr>
      </vt:variant>
      <vt:variant>
        <vt:i4>112</vt:i4>
      </vt:variant>
    </vt:vector>
  </HeadingPairs>
  <TitlesOfParts>
    <vt:vector size="140" baseType="lpstr">
      <vt:lpstr>Arial</vt:lpstr>
      <vt:lpstr>宋体</vt:lpstr>
      <vt:lpstr>Wingdings</vt:lpstr>
      <vt:lpstr>Times New Roman</vt:lpstr>
      <vt:lpstr>华文行楷</vt:lpstr>
      <vt:lpstr>隶书</vt:lpstr>
      <vt:lpstr>黑体</vt:lpstr>
      <vt:lpstr>Calibri</vt:lpstr>
      <vt:lpstr>Times New Roman</vt:lpstr>
      <vt:lpstr>微软雅黑</vt:lpstr>
      <vt:lpstr>Arial Unicode MS</vt:lpstr>
      <vt:lpstr>Symbol</vt:lpstr>
      <vt:lpstr>楷体_GB2312</vt:lpstr>
      <vt:lpstr>新宋体</vt:lpstr>
      <vt:lpstr>楷体_GB2312</vt:lpstr>
      <vt:lpstr>Century</vt:lpstr>
      <vt:lpstr>Garamond</vt:lpstr>
      <vt:lpstr>仿宋_GB2312</vt:lpstr>
      <vt:lpstr>华文楷体</vt:lpstr>
      <vt:lpstr>仿宋</vt:lpstr>
      <vt:lpstr>Arial</vt:lpstr>
      <vt:lpstr>Office 主题</vt:lpstr>
      <vt:lpstr>Capsules</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密排六方结构 (hcp)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xt256.com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xt256.com</dc:creator>
  <cp:lastModifiedBy>马峰</cp:lastModifiedBy>
  <cp:revision>147</cp:revision>
  <dcterms:created xsi:type="dcterms:W3CDTF">2025-04-29T05:58:00Z</dcterms:created>
  <dcterms:modified xsi:type="dcterms:W3CDTF">2025-11-03T06:48:48Z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60FCECD73F2842E4B051A781B94583BC_12</vt:lpwstr>
  </property>
  <property fmtid="{D5CDD505-2E9C-101B-9397-08002B2CF9AE}" pid="3" name="KSOProductBuildVer">
    <vt:lpwstr>2052-12.1.0.23542</vt:lpwstr>
  </property>
</Properties>
</file>